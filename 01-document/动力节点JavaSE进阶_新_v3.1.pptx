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193"/>
  </p:handoutMasterIdLst>
  <p:sldIdLst>
    <p:sldId id="274" r:id="rId3"/>
    <p:sldId id="273" r:id="rId4"/>
    <p:sldId id="298" r:id="rId6"/>
    <p:sldId id="2514" r:id="rId7"/>
    <p:sldId id="2515" r:id="rId8"/>
    <p:sldId id="2516" r:id="rId9"/>
    <p:sldId id="2773" r:id="rId10"/>
    <p:sldId id="2774" r:id="rId11"/>
    <p:sldId id="2518" r:id="rId12"/>
    <p:sldId id="2775" r:id="rId13"/>
    <p:sldId id="2777" r:id="rId14"/>
    <p:sldId id="2778" r:id="rId15"/>
    <p:sldId id="2779" r:id="rId16"/>
    <p:sldId id="2780" r:id="rId17"/>
    <p:sldId id="2529" r:id="rId18"/>
    <p:sldId id="2530" r:id="rId19"/>
    <p:sldId id="2531" r:id="rId20"/>
    <p:sldId id="2532" r:id="rId21"/>
    <p:sldId id="2781" r:id="rId22"/>
    <p:sldId id="2782" r:id="rId23"/>
    <p:sldId id="2776" r:id="rId24"/>
    <p:sldId id="2533" r:id="rId25"/>
    <p:sldId id="2553" r:id="rId26"/>
    <p:sldId id="2554" r:id="rId27"/>
    <p:sldId id="2555" r:id="rId28"/>
    <p:sldId id="2556" r:id="rId29"/>
    <p:sldId id="2557" r:id="rId30"/>
    <p:sldId id="2559" r:id="rId31"/>
    <p:sldId id="2560" r:id="rId32"/>
    <p:sldId id="2565" r:id="rId33"/>
    <p:sldId id="2566" r:id="rId34"/>
    <p:sldId id="2571" r:id="rId35"/>
    <p:sldId id="2573" r:id="rId36"/>
    <p:sldId id="2574" r:id="rId37"/>
    <p:sldId id="2575" r:id="rId38"/>
    <p:sldId id="2562" r:id="rId39"/>
    <p:sldId id="2576" r:id="rId40"/>
    <p:sldId id="2577" r:id="rId41"/>
    <p:sldId id="2578" r:id="rId42"/>
    <p:sldId id="2579" r:id="rId43"/>
    <p:sldId id="2580" r:id="rId44"/>
    <p:sldId id="2581" r:id="rId45"/>
    <p:sldId id="2582" r:id="rId46"/>
    <p:sldId id="2564" r:id="rId47"/>
    <p:sldId id="2561" r:id="rId48"/>
    <p:sldId id="2583" r:id="rId49"/>
    <p:sldId id="2584" r:id="rId50"/>
    <p:sldId id="2585" r:id="rId51"/>
    <p:sldId id="2586" r:id="rId52"/>
    <p:sldId id="2587" r:id="rId53"/>
    <p:sldId id="2588" r:id="rId54"/>
    <p:sldId id="2592" r:id="rId55"/>
    <p:sldId id="2593" r:id="rId56"/>
    <p:sldId id="2589" r:id="rId57"/>
    <p:sldId id="2594" r:id="rId58"/>
    <p:sldId id="2595" r:id="rId59"/>
    <p:sldId id="2596" r:id="rId60"/>
    <p:sldId id="2783" r:id="rId61"/>
    <p:sldId id="2597" r:id="rId62"/>
    <p:sldId id="2598" r:id="rId63"/>
    <p:sldId id="2599" r:id="rId64"/>
    <p:sldId id="2978" r:id="rId65"/>
    <p:sldId id="2979" r:id="rId66"/>
    <p:sldId id="2601" r:id="rId67"/>
    <p:sldId id="2590" r:id="rId68"/>
    <p:sldId id="2602" r:id="rId69"/>
    <p:sldId id="2603" r:id="rId70"/>
    <p:sldId id="2980" r:id="rId71"/>
    <p:sldId id="2604" r:id="rId72"/>
    <p:sldId id="2591" r:id="rId73"/>
    <p:sldId id="2605" r:id="rId74"/>
    <p:sldId id="2607" r:id="rId75"/>
    <p:sldId id="2606" r:id="rId76"/>
    <p:sldId id="2608" r:id="rId77"/>
    <p:sldId id="2609" r:id="rId78"/>
    <p:sldId id="2610" r:id="rId79"/>
    <p:sldId id="2614" r:id="rId80"/>
    <p:sldId id="2615" r:id="rId81"/>
    <p:sldId id="2981" r:id="rId82"/>
    <p:sldId id="2982" r:id="rId83"/>
    <p:sldId id="2623" r:id="rId84"/>
    <p:sldId id="2611" r:id="rId85"/>
    <p:sldId id="2624" r:id="rId86"/>
    <p:sldId id="2625" r:id="rId87"/>
    <p:sldId id="2631" r:id="rId88"/>
    <p:sldId id="2612" r:id="rId89"/>
    <p:sldId id="2632" r:id="rId90"/>
    <p:sldId id="2633" r:id="rId91"/>
    <p:sldId id="2984" r:id="rId92"/>
    <p:sldId id="2636" r:id="rId93"/>
    <p:sldId id="2613" r:id="rId94"/>
    <p:sldId id="2637" r:id="rId95"/>
    <p:sldId id="2638" r:id="rId96"/>
    <p:sldId id="2639" r:id="rId97"/>
    <p:sldId id="2640" r:id="rId98"/>
    <p:sldId id="2641" r:id="rId99"/>
    <p:sldId id="2642" r:id="rId100"/>
    <p:sldId id="2643" r:id="rId101"/>
    <p:sldId id="2644" r:id="rId102"/>
    <p:sldId id="2645" r:id="rId103"/>
    <p:sldId id="2646" r:id="rId104"/>
    <p:sldId id="2647" r:id="rId105"/>
    <p:sldId id="2651" r:id="rId106"/>
    <p:sldId id="2652" r:id="rId107"/>
    <p:sldId id="2653" r:id="rId108"/>
    <p:sldId id="2654" r:id="rId109"/>
    <p:sldId id="2655" r:id="rId110"/>
    <p:sldId id="2656" r:id="rId111"/>
    <p:sldId id="2657" r:id="rId112"/>
    <p:sldId id="2658" r:id="rId113"/>
    <p:sldId id="2659" r:id="rId114"/>
    <p:sldId id="2648" r:id="rId115"/>
    <p:sldId id="2660" r:id="rId116"/>
    <p:sldId id="2661" r:id="rId117"/>
    <p:sldId id="2662" r:id="rId118"/>
    <p:sldId id="2663" r:id="rId119"/>
    <p:sldId id="2664" r:id="rId120"/>
    <p:sldId id="2665" r:id="rId121"/>
    <p:sldId id="2666" r:id="rId122"/>
    <p:sldId id="2649" r:id="rId123"/>
    <p:sldId id="2667" r:id="rId124"/>
    <p:sldId id="2668" r:id="rId125"/>
    <p:sldId id="2669" r:id="rId126"/>
    <p:sldId id="2670" r:id="rId127"/>
    <p:sldId id="2671" r:id="rId128"/>
    <p:sldId id="2672" r:id="rId129"/>
    <p:sldId id="2673" r:id="rId130"/>
    <p:sldId id="2650" r:id="rId131"/>
    <p:sldId id="2674" r:id="rId132"/>
    <p:sldId id="2675" r:id="rId133"/>
    <p:sldId id="2676" r:id="rId134"/>
    <p:sldId id="2678" r:id="rId135"/>
    <p:sldId id="2679" r:id="rId136"/>
    <p:sldId id="2680" r:id="rId137"/>
    <p:sldId id="2681" r:id="rId138"/>
    <p:sldId id="2682" r:id="rId139"/>
    <p:sldId id="2684" r:id="rId140"/>
    <p:sldId id="2685" r:id="rId141"/>
    <p:sldId id="2686" r:id="rId142"/>
    <p:sldId id="2687" r:id="rId143"/>
    <p:sldId id="2691" r:id="rId144"/>
    <p:sldId id="2695" r:id="rId145"/>
    <p:sldId id="2696" r:id="rId146"/>
    <p:sldId id="2697" r:id="rId147"/>
    <p:sldId id="2698" r:id="rId148"/>
    <p:sldId id="2699" r:id="rId149"/>
    <p:sldId id="2700" r:id="rId150"/>
    <p:sldId id="2688" r:id="rId151"/>
    <p:sldId id="2692" r:id="rId152"/>
    <p:sldId id="2701" r:id="rId153"/>
    <p:sldId id="2702" r:id="rId154"/>
    <p:sldId id="2703" r:id="rId155"/>
    <p:sldId id="2704" r:id="rId156"/>
    <p:sldId id="2690" r:id="rId157"/>
    <p:sldId id="2694" r:id="rId158"/>
    <p:sldId id="2711" r:id="rId159"/>
    <p:sldId id="2714" r:id="rId160"/>
    <p:sldId id="2715" r:id="rId161"/>
    <p:sldId id="2719" r:id="rId162"/>
    <p:sldId id="2723" r:id="rId163"/>
    <p:sldId id="3113" r:id="rId164"/>
    <p:sldId id="3114" r:id="rId165"/>
    <p:sldId id="3115" r:id="rId166"/>
    <p:sldId id="2716" r:id="rId167"/>
    <p:sldId id="3116" r:id="rId168"/>
    <p:sldId id="2726" r:id="rId169"/>
    <p:sldId id="3117" r:id="rId170"/>
    <p:sldId id="2717" r:id="rId171"/>
    <p:sldId id="2741" r:id="rId172"/>
    <p:sldId id="2722" r:id="rId173"/>
    <p:sldId id="2744" r:id="rId174"/>
    <p:sldId id="2746" r:id="rId175"/>
    <p:sldId id="3119" r:id="rId176"/>
    <p:sldId id="2750" r:id="rId177"/>
    <p:sldId id="3118" r:id="rId178"/>
    <p:sldId id="2762" r:id="rId179"/>
    <p:sldId id="2756" r:id="rId180"/>
    <p:sldId id="2760" r:id="rId181"/>
    <p:sldId id="3121" r:id="rId182"/>
    <p:sldId id="3122" r:id="rId183"/>
    <p:sldId id="3123" r:id="rId184"/>
    <p:sldId id="3127" r:id="rId185"/>
    <p:sldId id="3124" r:id="rId186"/>
    <p:sldId id="3125" r:id="rId187"/>
    <p:sldId id="2764" r:id="rId188"/>
    <p:sldId id="2767" r:id="rId189"/>
    <p:sldId id="2768" r:id="rId190"/>
    <p:sldId id="2769" r:id="rId191"/>
    <p:sldId id="258" r:id="rId192"/>
  </p:sldIdLst>
  <p:sldSz cx="12192000" cy="6858000"/>
  <p:notesSz cx="7103745" cy="10234295"/>
  <p:custDataLst>
    <p:tags r:id="rId19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35" userDrawn="1">
          <p15:clr>
            <a:srgbClr val="A4A3A4"/>
          </p15:clr>
        </p15:guide>
        <p15:guide id="2" pos="392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ED7D31"/>
    <a:srgbClr val="002562"/>
    <a:srgbClr val="01255A"/>
    <a:srgbClr val="002358"/>
    <a:srgbClr val="001D52"/>
    <a:srgbClr val="B2B2B2"/>
    <a:srgbClr val="202020"/>
    <a:srgbClr val="323232"/>
    <a:srgbClr val="CC33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265" autoAdjust="0"/>
    <p:restoredTop sz="94660"/>
  </p:normalViewPr>
  <p:slideViewPr>
    <p:cSldViewPr snapToGrid="0" showGuides="1">
      <p:cViewPr varScale="1">
        <p:scale>
          <a:sx n="116" d="100"/>
          <a:sy n="116" d="100"/>
        </p:scale>
        <p:origin x="608" y="192"/>
      </p:cViewPr>
      <p:guideLst>
        <p:guide orient="horz" pos="2335"/>
        <p:guide pos="3922"/>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7" Type="http://schemas.openxmlformats.org/officeDocument/2006/relationships/tags" Target="tags/tag669.xml"/><Relationship Id="rId196" Type="http://schemas.openxmlformats.org/officeDocument/2006/relationships/tableStyles" Target="tableStyles.xml"/><Relationship Id="rId195" Type="http://schemas.openxmlformats.org/officeDocument/2006/relationships/viewProps" Target="viewProps.xml"/><Relationship Id="rId194" Type="http://schemas.openxmlformats.org/officeDocument/2006/relationships/presProps" Target="presProps.xml"/><Relationship Id="rId193" Type="http://schemas.openxmlformats.org/officeDocument/2006/relationships/handoutMaster" Target="handoutMasters/handoutMaster1.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6.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image" Target="../media/image3.png"/><Relationship Id="rId5" Type="http://schemas.openxmlformats.org/officeDocument/2006/relationships/tags" Target="../tags/tag3.xml"/><Relationship Id="rId4" Type="http://schemas.openxmlformats.org/officeDocument/2006/relationships/image" Target="../media/image2.png"/><Relationship Id="rId3" Type="http://schemas.openxmlformats.org/officeDocument/2006/relationships/tags" Target="../tags/tag2.xml"/><Relationship Id="rId2" Type="http://schemas.openxmlformats.org/officeDocument/2006/relationships/tags" Target="../tags/tag1.xml"/><Relationship Id="rId11" Type="http://schemas.openxmlformats.org/officeDocument/2006/relationships/slideLayout" Target="../slideLayouts/slideLayout1.xml"/><Relationship Id="rId10" Type="http://schemas.openxmlformats.org/officeDocument/2006/relationships/tags" Target="../tags/tag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7" Type="http://schemas.openxmlformats.org/officeDocument/2006/relationships/notesSlide" Target="../notesSlides/notesSlide1.xml"/><Relationship Id="rId26" Type="http://schemas.openxmlformats.org/officeDocument/2006/relationships/slideLayout" Target="../slideLayouts/slideLayout2.xml"/><Relationship Id="rId25" Type="http://schemas.openxmlformats.org/officeDocument/2006/relationships/tags" Target="../tags/tag31.xml"/><Relationship Id="rId24" Type="http://schemas.openxmlformats.org/officeDocument/2006/relationships/tags" Target="../tags/tag30.xml"/><Relationship Id="rId23" Type="http://schemas.openxmlformats.org/officeDocument/2006/relationships/tags" Target="../tags/tag29.xml"/><Relationship Id="rId22" Type="http://schemas.openxmlformats.org/officeDocument/2006/relationships/image" Target="../media/image3.png"/><Relationship Id="rId21" Type="http://schemas.openxmlformats.org/officeDocument/2006/relationships/tags" Target="../tags/tag28.xml"/><Relationship Id="rId20" Type="http://schemas.openxmlformats.org/officeDocument/2006/relationships/tags" Target="../tags/tag27.xml"/><Relationship Id="rId2" Type="http://schemas.openxmlformats.org/officeDocument/2006/relationships/tags" Target="../tags/tag9.xml"/><Relationship Id="rId19" Type="http://schemas.openxmlformats.org/officeDocument/2006/relationships/tags" Target="../tags/tag26.xml"/><Relationship Id="rId18" Type="http://schemas.openxmlformats.org/officeDocument/2006/relationships/tags" Target="../tags/tag25.xml"/><Relationship Id="rId17" Type="http://schemas.openxmlformats.org/officeDocument/2006/relationships/tags" Target="../tags/tag24.xml"/><Relationship Id="rId16" Type="http://schemas.openxmlformats.org/officeDocument/2006/relationships/tags" Target="../tags/tag23.xml"/><Relationship Id="rId15" Type="http://schemas.openxmlformats.org/officeDocument/2006/relationships/tags" Target="../tags/tag22.xml"/><Relationship Id="rId14" Type="http://schemas.openxmlformats.org/officeDocument/2006/relationships/tags" Target="../tags/tag21.xml"/><Relationship Id="rId13" Type="http://schemas.openxmlformats.org/officeDocument/2006/relationships/tags" Target="../tags/tag20.xml"/><Relationship Id="rId12" Type="http://schemas.openxmlformats.org/officeDocument/2006/relationships/tags" Target="../tags/tag19.xml"/><Relationship Id="rId11" Type="http://schemas.openxmlformats.org/officeDocument/2006/relationships/tags" Target="../tags/tag18.xml"/><Relationship Id="rId10" Type="http://schemas.openxmlformats.org/officeDocument/2006/relationships/tags" Target="../tags/tag17.xml"/><Relationship Id="rId1" Type="http://schemas.openxmlformats.org/officeDocument/2006/relationships/tags" Target="../tags/tag8.xml"/></Relationships>
</file>

<file path=ppt/slides/_rels/slide3.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7" Type="http://schemas.openxmlformats.org/officeDocument/2006/relationships/notesSlide" Target="../notesSlides/notesSlide2.xml"/><Relationship Id="rId26" Type="http://schemas.openxmlformats.org/officeDocument/2006/relationships/slideLayout" Target="../slideLayouts/slideLayout2.xml"/><Relationship Id="rId25" Type="http://schemas.openxmlformats.org/officeDocument/2006/relationships/tags" Target="../tags/tag55.xml"/><Relationship Id="rId24" Type="http://schemas.openxmlformats.org/officeDocument/2006/relationships/tags" Target="../tags/tag54.xml"/><Relationship Id="rId23" Type="http://schemas.openxmlformats.org/officeDocument/2006/relationships/tags" Target="../tags/tag53.xml"/><Relationship Id="rId22" Type="http://schemas.openxmlformats.org/officeDocument/2006/relationships/image" Target="../media/image3.png"/><Relationship Id="rId21" Type="http://schemas.openxmlformats.org/officeDocument/2006/relationships/tags" Target="../tags/tag52.xml"/><Relationship Id="rId20" Type="http://schemas.openxmlformats.org/officeDocument/2006/relationships/tags" Target="../tags/tag51.xml"/><Relationship Id="rId2" Type="http://schemas.openxmlformats.org/officeDocument/2006/relationships/tags" Target="../tags/tag33.xml"/><Relationship Id="rId19" Type="http://schemas.openxmlformats.org/officeDocument/2006/relationships/tags" Target="../tags/tag50.xml"/><Relationship Id="rId18" Type="http://schemas.openxmlformats.org/officeDocument/2006/relationships/tags" Target="../tags/tag49.xml"/><Relationship Id="rId17" Type="http://schemas.openxmlformats.org/officeDocument/2006/relationships/tags" Target="../tags/tag48.xml"/><Relationship Id="rId16" Type="http://schemas.openxmlformats.org/officeDocument/2006/relationships/tags" Target="../tags/tag47.xml"/><Relationship Id="rId15" Type="http://schemas.openxmlformats.org/officeDocument/2006/relationships/tags" Target="../tags/tag46.xml"/><Relationship Id="rId14" Type="http://schemas.openxmlformats.org/officeDocument/2006/relationships/tags" Target="../tags/tag45.xml"/><Relationship Id="rId13" Type="http://schemas.openxmlformats.org/officeDocument/2006/relationships/tags" Target="../tags/tag44.xml"/><Relationship Id="rId12" Type="http://schemas.openxmlformats.org/officeDocument/2006/relationships/tags" Target="../tags/tag43.xml"/><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tags" Target="../tags/tag32.xml"/></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2.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image" Target="../media/image3.png"/><Relationship Id="rId1" Type="http://schemas.openxmlformats.org/officeDocument/2006/relationships/tags" Target="../tags/tag56.xml"/></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image" Target="../media/image3.png"/><Relationship Id="rId2" Type="http://schemas.openxmlformats.org/officeDocument/2006/relationships/tags" Target="../tags/tag60.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88.xml"/><Relationship Id="rId4" Type="http://schemas.openxmlformats.org/officeDocument/2006/relationships/image" Target="../media/image3.png"/><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image" Target="../media/image3.png"/><Relationship Id="rId2" Type="http://schemas.openxmlformats.org/officeDocument/2006/relationships/tags" Target="../tags/tag92.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s>
</file>

<file path=ppt/slides/_rels/slide2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14.xml"/><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image" Target="../media/image3.png"/><Relationship Id="rId2" Type="http://schemas.openxmlformats.org/officeDocument/2006/relationships/tags" Target="../tags/tag111.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image" Target="../media/image3.png"/><Relationship Id="rId2" Type="http://schemas.openxmlformats.org/officeDocument/2006/relationships/tags" Target="../tags/tag118.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tags" Target="../tags/tag122.xml"/></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tags" Target="../tags/tag128.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tags" Target="../tags/tag131.xml"/></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2.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image" Target="../media/image3.png"/><Relationship Id="rId1" Type="http://schemas.openxmlformats.org/officeDocument/2006/relationships/tags" Target="../tags/tag134.xml"/></Relationships>
</file>

<file path=ppt/slides/_rels/slide2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41.xml"/><Relationship Id="rId5" Type="http://schemas.openxmlformats.org/officeDocument/2006/relationships/tags" Target="../tags/tag140.xml"/><Relationship Id="rId4" Type="http://schemas.openxmlformats.org/officeDocument/2006/relationships/tags" Target="../tags/tag139.xml"/><Relationship Id="rId3" Type="http://schemas.openxmlformats.org/officeDocument/2006/relationships/image" Target="../media/image3.png"/><Relationship Id="rId2" Type="http://schemas.openxmlformats.org/officeDocument/2006/relationships/tags" Target="../tags/tag138.xml"/><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tags" Target="../tags/tag154.xml"/></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5.png"/><Relationship Id="rId4" Type="http://schemas.openxmlformats.org/officeDocument/2006/relationships/image" Target="../media/image3.png"/><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tags" Target="../tags/tag157.xml"/></Relationships>
</file>

<file path=ppt/slides/_rels/slide3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image" Target="../media/image3.png"/><Relationship Id="rId2" Type="http://schemas.openxmlformats.org/officeDocument/2006/relationships/tags" Target="../tags/tag160.xml"/><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69.xml"/><Relationship Id="rId2" Type="http://schemas.openxmlformats.org/officeDocument/2006/relationships/tags" Target="../tags/tag168.xml"/><Relationship Id="rId1" Type="http://schemas.openxmlformats.org/officeDocument/2006/relationships/tags" Target="../tags/tag167.xml"/></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tags" Target="../tags/tag173.xml"/></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tags" Target="../tags/tag176.xml"/></Relationships>
</file>

<file path=ppt/slides/_rels/slide4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81.xml"/><Relationship Id="rId2" Type="http://schemas.openxmlformats.org/officeDocument/2006/relationships/tags" Target="../tags/tag180.xml"/><Relationship Id="rId1" Type="http://schemas.openxmlformats.org/officeDocument/2006/relationships/tags" Target="../tags/tag179.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84.xml"/><Relationship Id="rId2" Type="http://schemas.openxmlformats.org/officeDocument/2006/relationships/tags" Target="../tags/tag183.xml"/><Relationship Id="rId1" Type="http://schemas.openxmlformats.org/officeDocument/2006/relationships/tags" Target="../tags/tag182.xml"/></Relationships>
</file>

<file path=ppt/slides/_rels/slide44.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88.xml"/><Relationship Id="rId5" Type="http://schemas.openxmlformats.org/officeDocument/2006/relationships/tags" Target="../tags/tag187.xml"/><Relationship Id="rId4" Type="http://schemas.openxmlformats.org/officeDocument/2006/relationships/tags" Target="../tags/tag186.xml"/><Relationship Id="rId3" Type="http://schemas.openxmlformats.org/officeDocument/2006/relationships/image" Target="../media/image3.png"/><Relationship Id="rId2" Type="http://schemas.openxmlformats.org/officeDocument/2006/relationships/tags" Target="../tags/tag185.xml"/><Relationship Id="rId1" Type="http://schemas.openxmlformats.org/officeDocument/2006/relationships/image" Target="../media/image1.png"/></Relationships>
</file>

<file path=ppt/slides/_rels/slide4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s>
</file>

<file path=ppt/slides/_rels/slide4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tags" Target="../tags/tag201.xml"/></Relationships>
</file>

<file path=ppt/slides/_rels/slide50.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2.xml"/><Relationship Id="rId5" Type="http://schemas.openxmlformats.org/officeDocument/2006/relationships/tags" Target="../tags/tag207.xml"/><Relationship Id="rId4" Type="http://schemas.openxmlformats.org/officeDocument/2006/relationships/tags" Target="../tags/tag206.xml"/><Relationship Id="rId3" Type="http://schemas.openxmlformats.org/officeDocument/2006/relationships/tags" Target="../tags/tag205.xml"/><Relationship Id="rId2" Type="http://schemas.openxmlformats.org/officeDocument/2006/relationships/image" Target="../media/image3.png"/><Relationship Id="rId1" Type="http://schemas.openxmlformats.org/officeDocument/2006/relationships/tags" Target="../tags/tag204.xml"/></Relationships>
</file>

<file path=ppt/slides/_rels/slide5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211.xml"/><Relationship Id="rId5" Type="http://schemas.openxmlformats.org/officeDocument/2006/relationships/tags" Target="../tags/tag210.xml"/><Relationship Id="rId4" Type="http://schemas.openxmlformats.org/officeDocument/2006/relationships/tags" Target="../tags/tag209.xml"/><Relationship Id="rId3" Type="http://schemas.openxmlformats.org/officeDocument/2006/relationships/image" Target="../media/image3.png"/><Relationship Id="rId2" Type="http://schemas.openxmlformats.org/officeDocument/2006/relationships/tags" Target="../tags/tag208.xml"/><Relationship Id="rId1" Type="http://schemas.openxmlformats.org/officeDocument/2006/relationships/image" Target="../media/image1.png"/></Relationships>
</file>

<file path=ppt/slides/_rels/slide52.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215.xml"/><Relationship Id="rId4" Type="http://schemas.openxmlformats.org/officeDocument/2006/relationships/image" Target="../media/image3.png"/><Relationship Id="rId3" Type="http://schemas.openxmlformats.org/officeDocument/2006/relationships/tags" Target="../tags/tag214.xml"/><Relationship Id="rId2" Type="http://schemas.openxmlformats.org/officeDocument/2006/relationships/tags" Target="../tags/tag213.xml"/><Relationship Id="rId1" Type="http://schemas.openxmlformats.org/officeDocument/2006/relationships/tags" Target="../tags/tag212.xml"/></Relationships>
</file>

<file path=ppt/slides/_rels/slide5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tags" Target="../tags/tag216.xml"/></Relationships>
</file>

<file path=ppt/slides/_rels/slide54.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222.xml"/><Relationship Id="rId5" Type="http://schemas.openxmlformats.org/officeDocument/2006/relationships/tags" Target="../tags/tag221.xml"/><Relationship Id="rId4" Type="http://schemas.openxmlformats.org/officeDocument/2006/relationships/tags" Target="../tags/tag220.xml"/><Relationship Id="rId3" Type="http://schemas.openxmlformats.org/officeDocument/2006/relationships/image" Target="../media/image3.png"/><Relationship Id="rId2" Type="http://schemas.openxmlformats.org/officeDocument/2006/relationships/tags" Target="../tags/tag219.xml"/><Relationship Id="rId1" Type="http://schemas.openxmlformats.org/officeDocument/2006/relationships/image" Target="../media/image1.png"/></Relationships>
</file>

<file path=ppt/slides/_rels/slide55.xml.rels><?xml version="1.0" encoding="UTF-8" standalone="yes"?>
<Relationships xmlns="http://schemas.openxmlformats.org/package/2006/relationships"><Relationship Id="rId7" Type="http://schemas.openxmlformats.org/officeDocument/2006/relationships/slideLayout" Target="../slideLayouts/slideLayout10.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 Id="rId3" Type="http://schemas.openxmlformats.org/officeDocument/2006/relationships/tags" Target="../tags/tag225.xml"/><Relationship Id="rId2" Type="http://schemas.openxmlformats.org/officeDocument/2006/relationships/tags" Target="../tags/tag224.xml"/><Relationship Id="rId1" Type="http://schemas.openxmlformats.org/officeDocument/2006/relationships/tags" Target="../tags/tag223.xml"/></Relationships>
</file>

<file path=ppt/slides/_rels/slide5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28.xml"/><Relationship Id="rId2" Type="http://schemas.openxmlformats.org/officeDocument/2006/relationships/tags" Target="../tags/tag227.xml"/><Relationship Id="rId1" Type="http://schemas.openxmlformats.org/officeDocument/2006/relationships/tags" Target="../tags/tag226.xml"/></Relationships>
</file>

<file path=ppt/slides/_rels/slide57.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232.xml"/><Relationship Id="rId4" Type="http://schemas.openxmlformats.org/officeDocument/2006/relationships/image" Target="../media/image3.png"/><Relationship Id="rId3" Type="http://schemas.openxmlformats.org/officeDocument/2006/relationships/tags" Target="../tags/tag231.xml"/><Relationship Id="rId2" Type="http://schemas.openxmlformats.org/officeDocument/2006/relationships/tags" Target="../tags/tag230.xml"/><Relationship Id="rId1" Type="http://schemas.openxmlformats.org/officeDocument/2006/relationships/tags" Target="../tags/tag229.xml"/></Relationships>
</file>

<file path=ppt/slides/_rels/slide58.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236.xml"/><Relationship Id="rId4" Type="http://schemas.openxmlformats.org/officeDocument/2006/relationships/image" Target="../media/image3.png"/><Relationship Id="rId3" Type="http://schemas.openxmlformats.org/officeDocument/2006/relationships/tags" Target="../tags/tag235.xml"/><Relationship Id="rId2" Type="http://schemas.openxmlformats.org/officeDocument/2006/relationships/tags" Target="../tags/tag234.xml"/><Relationship Id="rId1" Type="http://schemas.openxmlformats.org/officeDocument/2006/relationships/tags" Target="../tags/tag233.xml"/></Relationships>
</file>

<file path=ppt/slides/_rels/slide59.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240.xml"/><Relationship Id="rId4" Type="http://schemas.openxmlformats.org/officeDocument/2006/relationships/image" Target="../media/image3.png"/><Relationship Id="rId3" Type="http://schemas.openxmlformats.org/officeDocument/2006/relationships/tags" Target="../tags/tag239.xml"/><Relationship Id="rId2" Type="http://schemas.openxmlformats.org/officeDocument/2006/relationships/tags" Target="../tags/tag238.xml"/><Relationship Id="rId1" Type="http://schemas.openxmlformats.org/officeDocument/2006/relationships/tags" Target="../tags/tag237.xml"/></Relationships>
</file>

<file path=ppt/slides/_rels/slide6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43.xml"/><Relationship Id="rId2" Type="http://schemas.openxmlformats.org/officeDocument/2006/relationships/tags" Target="../tags/tag242.xml"/><Relationship Id="rId1" Type="http://schemas.openxmlformats.org/officeDocument/2006/relationships/tags" Target="../tags/tag241.xml"/></Relationships>
</file>

<file path=ppt/slides/_rels/slide6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46.xml"/><Relationship Id="rId2" Type="http://schemas.openxmlformats.org/officeDocument/2006/relationships/tags" Target="../tags/tag245.xml"/><Relationship Id="rId1" Type="http://schemas.openxmlformats.org/officeDocument/2006/relationships/tags" Target="../tags/tag244.xml"/></Relationships>
</file>

<file path=ppt/slides/_rels/slide62.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250.xml"/><Relationship Id="rId4" Type="http://schemas.openxmlformats.org/officeDocument/2006/relationships/image" Target="../media/image3.png"/><Relationship Id="rId3" Type="http://schemas.openxmlformats.org/officeDocument/2006/relationships/tags" Target="../tags/tag249.xml"/><Relationship Id="rId2" Type="http://schemas.openxmlformats.org/officeDocument/2006/relationships/tags" Target="../tags/tag248.xml"/><Relationship Id="rId1" Type="http://schemas.openxmlformats.org/officeDocument/2006/relationships/tags" Target="../tags/tag247.xml"/></Relationships>
</file>

<file path=ppt/slides/_rels/slide63.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254.xml"/><Relationship Id="rId4" Type="http://schemas.openxmlformats.org/officeDocument/2006/relationships/image" Target="../media/image3.png"/><Relationship Id="rId3" Type="http://schemas.openxmlformats.org/officeDocument/2006/relationships/tags" Target="../tags/tag253.xml"/><Relationship Id="rId2" Type="http://schemas.openxmlformats.org/officeDocument/2006/relationships/tags" Target="../tags/tag252.xml"/><Relationship Id="rId1" Type="http://schemas.openxmlformats.org/officeDocument/2006/relationships/tags" Target="../tags/tag251.xml"/></Relationships>
</file>

<file path=ppt/slides/_rels/slide6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57.xml"/><Relationship Id="rId2" Type="http://schemas.openxmlformats.org/officeDocument/2006/relationships/tags" Target="../tags/tag256.xml"/><Relationship Id="rId1" Type="http://schemas.openxmlformats.org/officeDocument/2006/relationships/tags" Target="../tags/tag255.xml"/></Relationships>
</file>

<file path=ppt/slides/_rels/slide6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261.xml"/><Relationship Id="rId5" Type="http://schemas.openxmlformats.org/officeDocument/2006/relationships/tags" Target="../tags/tag260.xml"/><Relationship Id="rId4" Type="http://schemas.openxmlformats.org/officeDocument/2006/relationships/tags" Target="../tags/tag259.xml"/><Relationship Id="rId3" Type="http://schemas.openxmlformats.org/officeDocument/2006/relationships/image" Target="../media/image3.png"/><Relationship Id="rId2" Type="http://schemas.openxmlformats.org/officeDocument/2006/relationships/tags" Target="../tags/tag258.xml"/><Relationship Id="rId1" Type="http://schemas.openxmlformats.org/officeDocument/2006/relationships/image" Target="../media/image1.png"/></Relationships>
</file>

<file path=ppt/slides/_rels/slide6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64.xml"/><Relationship Id="rId2" Type="http://schemas.openxmlformats.org/officeDocument/2006/relationships/tags" Target="../tags/tag263.xml"/><Relationship Id="rId1" Type="http://schemas.openxmlformats.org/officeDocument/2006/relationships/tags" Target="../tags/tag262.xml"/></Relationships>
</file>

<file path=ppt/slides/_rels/slide67.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268.xml"/><Relationship Id="rId4" Type="http://schemas.openxmlformats.org/officeDocument/2006/relationships/image" Target="../media/image3.png"/><Relationship Id="rId3" Type="http://schemas.openxmlformats.org/officeDocument/2006/relationships/tags" Target="../tags/tag267.xml"/><Relationship Id="rId2" Type="http://schemas.openxmlformats.org/officeDocument/2006/relationships/tags" Target="../tags/tag266.xml"/><Relationship Id="rId1" Type="http://schemas.openxmlformats.org/officeDocument/2006/relationships/tags" Target="../tags/tag265.xml"/></Relationships>
</file>

<file path=ppt/slides/_rels/slide68.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272.xml"/><Relationship Id="rId4" Type="http://schemas.openxmlformats.org/officeDocument/2006/relationships/image" Target="../media/image3.png"/><Relationship Id="rId3" Type="http://schemas.openxmlformats.org/officeDocument/2006/relationships/tags" Target="../tags/tag271.xml"/><Relationship Id="rId2" Type="http://schemas.openxmlformats.org/officeDocument/2006/relationships/tags" Target="../tags/tag270.xml"/><Relationship Id="rId1" Type="http://schemas.openxmlformats.org/officeDocument/2006/relationships/tags" Target="../tags/tag269.xml"/></Relationships>
</file>

<file path=ppt/slides/_rels/slide6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75.xml"/><Relationship Id="rId2" Type="http://schemas.openxmlformats.org/officeDocument/2006/relationships/tags" Target="../tags/tag274.xml"/><Relationship Id="rId1" Type="http://schemas.openxmlformats.org/officeDocument/2006/relationships/tags" Target="../tags/tag273.xml"/></Relationships>
</file>

<file path=ppt/slides/_rels/slide70.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279.xml"/><Relationship Id="rId5" Type="http://schemas.openxmlformats.org/officeDocument/2006/relationships/tags" Target="../tags/tag278.xml"/><Relationship Id="rId4" Type="http://schemas.openxmlformats.org/officeDocument/2006/relationships/tags" Target="../tags/tag277.xml"/><Relationship Id="rId3" Type="http://schemas.openxmlformats.org/officeDocument/2006/relationships/image" Target="../media/image3.png"/><Relationship Id="rId2" Type="http://schemas.openxmlformats.org/officeDocument/2006/relationships/tags" Target="../tags/tag276.xml"/><Relationship Id="rId1" Type="http://schemas.openxmlformats.org/officeDocument/2006/relationships/image" Target="../media/image1.png"/></Relationships>
</file>

<file path=ppt/slides/_rels/slide71.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283.xml"/><Relationship Id="rId4" Type="http://schemas.openxmlformats.org/officeDocument/2006/relationships/image" Target="../media/image3.png"/><Relationship Id="rId3" Type="http://schemas.openxmlformats.org/officeDocument/2006/relationships/tags" Target="../tags/tag282.xml"/><Relationship Id="rId2" Type="http://schemas.openxmlformats.org/officeDocument/2006/relationships/tags" Target="../tags/tag281.xml"/><Relationship Id="rId1" Type="http://schemas.openxmlformats.org/officeDocument/2006/relationships/tags" Target="../tags/tag280.xml"/></Relationships>
</file>

<file path=ppt/slides/_rels/slide7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86.xml"/><Relationship Id="rId2" Type="http://schemas.openxmlformats.org/officeDocument/2006/relationships/tags" Target="../tags/tag285.xml"/><Relationship Id="rId1" Type="http://schemas.openxmlformats.org/officeDocument/2006/relationships/tags" Target="../tags/tag284.xml"/></Relationships>
</file>

<file path=ppt/slides/_rels/slide73.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290.xml"/><Relationship Id="rId4" Type="http://schemas.openxmlformats.org/officeDocument/2006/relationships/image" Target="../media/image3.png"/><Relationship Id="rId3" Type="http://schemas.openxmlformats.org/officeDocument/2006/relationships/tags" Target="../tags/tag289.xml"/><Relationship Id="rId2" Type="http://schemas.openxmlformats.org/officeDocument/2006/relationships/tags" Target="../tags/tag288.xml"/><Relationship Id="rId1" Type="http://schemas.openxmlformats.org/officeDocument/2006/relationships/tags" Target="../tags/tag287.xml"/></Relationships>
</file>

<file path=ppt/slides/_rels/slide7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93.xml"/><Relationship Id="rId2" Type="http://schemas.openxmlformats.org/officeDocument/2006/relationships/tags" Target="../tags/tag292.xml"/><Relationship Id="rId1" Type="http://schemas.openxmlformats.org/officeDocument/2006/relationships/tags" Target="../tags/tag291.xml"/></Relationships>
</file>

<file path=ppt/slides/_rels/slide75.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2.xml"/><Relationship Id="rId5" Type="http://schemas.openxmlformats.org/officeDocument/2006/relationships/tags" Target="../tags/tag297.xml"/><Relationship Id="rId4" Type="http://schemas.openxmlformats.org/officeDocument/2006/relationships/tags" Target="../tags/tag296.xml"/><Relationship Id="rId3" Type="http://schemas.openxmlformats.org/officeDocument/2006/relationships/tags" Target="../tags/tag295.xml"/><Relationship Id="rId2" Type="http://schemas.openxmlformats.org/officeDocument/2006/relationships/image" Target="../media/image3.png"/><Relationship Id="rId1" Type="http://schemas.openxmlformats.org/officeDocument/2006/relationships/tags" Target="../tags/tag294.xml"/></Relationships>
</file>

<file path=ppt/slides/_rels/slide7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301.xml"/><Relationship Id="rId5" Type="http://schemas.openxmlformats.org/officeDocument/2006/relationships/tags" Target="../tags/tag300.xml"/><Relationship Id="rId4" Type="http://schemas.openxmlformats.org/officeDocument/2006/relationships/tags" Target="../tags/tag299.xml"/><Relationship Id="rId3" Type="http://schemas.openxmlformats.org/officeDocument/2006/relationships/image" Target="../media/image3.png"/><Relationship Id="rId2" Type="http://schemas.openxmlformats.org/officeDocument/2006/relationships/tags" Target="../tags/tag298.xml"/><Relationship Id="rId1" Type="http://schemas.openxmlformats.org/officeDocument/2006/relationships/image" Target="../media/image1.png"/></Relationships>
</file>

<file path=ppt/slides/_rels/slide7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04.xml"/><Relationship Id="rId2" Type="http://schemas.openxmlformats.org/officeDocument/2006/relationships/tags" Target="../tags/tag303.xml"/><Relationship Id="rId1" Type="http://schemas.openxmlformats.org/officeDocument/2006/relationships/tags" Target="../tags/tag302.xml"/></Relationships>
</file>

<file path=ppt/slides/_rels/slide78.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8.png"/><Relationship Id="rId4" Type="http://schemas.openxmlformats.org/officeDocument/2006/relationships/image" Target="../media/image3.png"/><Relationship Id="rId3" Type="http://schemas.openxmlformats.org/officeDocument/2006/relationships/tags" Target="../tags/tag307.xml"/><Relationship Id="rId2" Type="http://schemas.openxmlformats.org/officeDocument/2006/relationships/tags" Target="../tags/tag306.xml"/><Relationship Id="rId1" Type="http://schemas.openxmlformats.org/officeDocument/2006/relationships/tags" Target="../tags/tag305.xml"/></Relationships>
</file>

<file path=ppt/slides/_rels/slide79.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311.xml"/><Relationship Id="rId4" Type="http://schemas.openxmlformats.org/officeDocument/2006/relationships/image" Target="../media/image3.png"/><Relationship Id="rId3" Type="http://schemas.openxmlformats.org/officeDocument/2006/relationships/tags" Target="../tags/tag310.xml"/><Relationship Id="rId2" Type="http://schemas.openxmlformats.org/officeDocument/2006/relationships/tags" Target="../tags/tag309.xml"/><Relationship Id="rId1" Type="http://schemas.openxmlformats.org/officeDocument/2006/relationships/tags" Target="../tags/tag308.xml"/></Relationships>
</file>

<file path=ppt/slides/_rels/slide80.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315.xml"/><Relationship Id="rId4" Type="http://schemas.openxmlformats.org/officeDocument/2006/relationships/image" Target="../media/image3.png"/><Relationship Id="rId3" Type="http://schemas.openxmlformats.org/officeDocument/2006/relationships/tags" Target="../tags/tag314.xml"/><Relationship Id="rId2" Type="http://schemas.openxmlformats.org/officeDocument/2006/relationships/tags" Target="../tags/tag313.xml"/><Relationship Id="rId1" Type="http://schemas.openxmlformats.org/officeDocument/2006/relationships/tags" Target="../tags/tag312.xml"/></Relationships>
</file>

<file path=ppt/slides/_rels/slide8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18.xml"/><Relationship Id="rId2" Type="http://schemas.openxmlformats.org/officeDocument/2006/relationships/tags" Target="../tags/tag317.xml"/><Relationship Id="rId1" Type="http://schemas.openxmlformats.org/officeDocument/2006/relationships/tags" Target="../tags/tag316.xml"/></Relationships>
</file>

<file path=ppt/slides/_rels/slide82.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322.xml"/><Relationship Id="rId5" Type="http://schemas.openxmlformats.org/officeDocument/2006/relationships/tags" Target="../tags/tag321.xml"/><Relationship Id="rId4" Type="http://schemas.openxmlformats.org/officeDocument/2006/relationships/tags" Target="../tags/tag320.xml"/><Relationship Id="rId3" Type="http://schemas.openxmlformats.org/officeDocument/2006/relationships/image" Target="../media/image3.png"/><Relationship Id="rId2" Type="http://schemas.openxmlformats.org/officeDocument/2006/relationships/tags" Target="../tags/tag319.xml"/><Relationship Id="rId1" Type="http://schemas.openxmlformats.org/officeDocument/2006/relationships/image" Target="../media/image1.png"/></Relationships>
</file>

<file path=ppt/slides/_rels/slide8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25.xml"/><Relationship Id="rId2" Type="http://schemas.openxmlformats.org/officeDocument/2006/relationships/tags" Target="../tags/tag324.xml"/><Relationship Id="rId1" Type="http://schemas.openxmlformats.org/officeDocument/2006/relationships/tags" Target="../tags/tag323.xml"/></Relationships>
</file>

<file path=ppt/slides/_rels/slide8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28.xml"/><Relationship Id="rId2" Type="http://schemas.openxmlformats.org/officeDocument/2006/relationships/tags" Target="../tags/tag327.xml"/><Relationship Id="rId1" Type="http://schemas.openxmlformats.org/officeDocument/2006/relationships/tags" Target="../tags/tag326.xml"/></Relationships>
</file>

<file path=ppt/slides/_rels/slide8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31.xml"/><Relationship Id="rId2" Type="http://schemas.openxmlformats.org/officeDocument/2006/relationships/tags" Target="../tags/tag330.xml"/><Relationship Id="rId1" Type="http://schemas.openxmlformats.org/officeDocument/2006/relationships/tags" Target="../tags/tag329.xml"/></Relationships>
</file>

<file path=ppt/slides/_rels/slide8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335.xml"/><Relationship Id="rId5" Type="http://schemas.openxmlformats.org/officeDocument/2006/relationships/tags" Target="../tags/tag334.xml"/><Relationship Id="rId4" Type="http://schemas.openxmlformats.org/officeDocument/2006/relationships/tags" Target="../tags/tag333.xml"/><Relationship Id="rId3" Type="http://schemas.openxmlformats.org/officeDocument/2006/relationships/image" Target="../media/image3.png"/><Relationship Id="rId2" Type="http://schemas.openxmlformats.org/officeDocument/2006/relationships/tags" Target="../tags/tag332.xml"/><Relationship Id="rId1" Type="http://schemas.openxmlformats.org/officeDocument/2006/relationships/image" Target="../media/image1.png"/></Relationships>
</file>

<file path=ppt/slides/_rels/slide8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38.xml"/><Relationship Id="rId2" Type="http://schemas.openxmlformats.org/officeDocument/2006/relationships/tags" Target="../tags/tag337.xml"/><Relationship Id="rId1" Type="http://schemas.openxmlformats.org/officeDocument/2006/relationships/tags" Target="../tags/tag336.xml"/></Relationships>
</file>

<file path=ppt/slides/_rels/slide88.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9.png"/><Relationship Id="rId4" Type="http://schemas.openxmlformats.org/officeDocument/2006/relationships/image" Target="../media/image3.png"/><Relationship Id="rId3" Type="http://schemas.openxmlformats.org/officeDocument/2006/relationships/tags" Target="../tags/tag341.xml"/><Relationship Id="rId2" Type="http://schemas.openxmlformats.org/officeDocument/2006/relationships/tags" Target="../tags/tag340.xml"/><Relationship Id="rId1" Type="http://schemas.openxmlformats.org/officeDocument/2006/relationships/tags" Target="../tags/tag339.xml"/></Relationships>
</file>

<file path=ppt/slides/_rels/slide89.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345.xml"/><Relationship Id="rId4" Type="http://schemas.openxmlformats.org/officeDocument/2006/relationships/image" Target="../media/image3.png"/><Relationship Id="rId3" Type="http://schemas.openxmlformats.org/officeDocument/2006/relationships/tags" Target="../tags/tag344.xml"/><Relationship Id="rId2" Type="http://schemas.openxmlformats.org/officeDocument/2006/relationships/tags" Target="../tags/tag343.xml"/><Relationship Id="rId1" Type="http://schemas.openxmlformats.org/officeDocument/2006/relationships/tags" Target="../tags/tag342.xml"/></Relationships>
</file>

<file path=ppt/slides/_rels/slide9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48.xml"/><Relationship Id="rId2" Type="http://schemas.openxmlformats.org/officeDocument/2006/relationships/tags" Target="../tags/tag347.xml"/><Relationship Id="rId1" Type="http://schemas.openxmlformats.org/officeDocument/2006/relationships/tags" Target="../tags/tag346.xml"/></Relationships>
</file>

<file path=ppt/slides/_rels/slide9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352.xml"/><Relationship Id="rId5" Type="http://schemas.openxmlformats.org/officeDocument/2006/relationships/tags" Target="../tags/tag351.xml"/><Relationship Id="rId4" Type="http://schemas.openxmlformats.org/officeDocument/2006/relationships/tags" Target="../tags/tag350.xml"/><Relationship Id="rId3" Type="http://schemas.openxmlformats.org/officeDocument/2006/relationships/image" Target="../media/image3.png"/><Relationship Id="rId2" Type="http://schemas.openxmlformats.org/officeDocument/2006/relationships/tags" Target="../tags/tag349.xml"/><Relationship Id="rId1" Type="http://schemas.openxmlformats.org/officeDocument/2006/relationships/image" Target="../media/image1.png"/></Relationships>
</file>

<file path=ppt/slides/_rels/slide92.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10.png"/><Relationship Id="rId4" Type="http://schemas.openxmlformats.org/officeDocument/2006/relationships/image" Target="../media/image3.png"/><Relationship Id="rId3" Type="http://schemas.openxmlformats.org/officeDocument/2006/relationships/tags" Target="../tags/tag355.xml"/><Relationship Id="rId2" Type="http://schemas.openxmlformats.org/officeDocument/2006/relationships/tags" Target="../tags/tag354.xml"/><Relationship Id="rId1" Type="http://schemas.openxmlformats.org/officeDocument/2006/relationships/tags" Target="../tags/tag353.xml"/></Relationships>
</file>

<file path=ppt/slides/_rels/slide9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58.xml"/><Relationship Id="rId2" Type="http://schemas.openxmlformats.org/officeDocument/2006/relationships/tags" Target="../tags/tag357.xml"/><Relationship Id="rId1" Type="http://schemas.openxmlformats.org/officeDocument/2006/relationships/tags" Target="../tags/tag356.xml"/></Relationships>
</file>

<file path=ppt/slides/_rels/slide9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61.xml"/><Relationship Id="rId2" Type="http://schemas.openxmlformats.org/officeDocument/2006/relationships/tags" Target="../tags/tag360.xml"/><Relationship Id="rId1" Type="http://schemas.openxmlformats.org/officeDocument/2006/relationships/tags" Target="../tags/tag359.xml"/></Relationships>
</file>

<file path=ppt/slides/_rels/slide9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64.xml"/><Relationship Id="rId2" Type="http://schemas.openxmlformats.org/officeDocument/2006/relationships/tags" Target="../tags/tag363.xml"/><Relationship Id="rId1" Type="http://schemas.openxmlformats.org/officeDocument/2006/relationships/tags" Target="../tags/tag362.xml"/></Relationships>
</file>

<file path=ppt/slides/_rels/slide9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67.xml"/><Relationship Id="rId2" Type="http://schemas.openxmlformats.org/officeDocument/2006/relationships/tags" Target="../tags/tag366.xml"/><Relationship Id="rId1" Type="http://schemas.openxmlformats.org/officeDocument/2006/relationships/tags" Target="../tags/tag365.xml"/></Relationships>
</file>

<file path=ppt/slides/_rels/slide9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70.xml"/><Relationship Id="rId2" Type="http://schemas.openxmlformats.org/officeDocument/2006/relationships/tags" Target="../tags/tag369.xml"/><Relationship Id="rId1" Type="http://schemas.openxmlformats.org/officeDocument/2006/relationships/tags" Target="../tags/tag368.xml"/></Relationships>
</file>

<file path=ppt/slides/_rels/slide9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73.xml"/><Relationship Id="rId2" Type="http://schemas.openxmlformats.org/officeDocument/2006/relationships/tags" Target="../tags/tag372.xml"/><Relationship Id="rId1" Type="http://schemas.openxmlformats.org/officeDocument/2006/relationships/tags" Target="../tags/tag371.xml"/></Relationships>
</file>

<file path=ppt/slides/_rels/slide9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76.xml"/><Relationship Id="rId2" Type="http://schemas.openxmlformats.org/officeDocument/2006/relationships/tags" Target="../tags/tag375.xml"/><Relationship Id="rId1" Type="http://schemas.openxmlformats.org/officeDocument/2006/relationships/tags" Target="../tags/tag374.xml"/></Relationships>
</file>

<file path=ppt/slides/_rels/slide10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79.xml"/><Relationship Id="rId2" Type="http://schemas.openxmlformats.org/officeDocument/2006/relationships/tags" Target="../tags/tag378.xml"/><Relationship Id="rId1" Type="http://schemas.openxmlformats.org/officeDocument/2006/relationships/tags" Target="../tags/tag377.xml"/></Relationships>
</file>

<file path=ppt/slides/_rels/slide101.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2.xml"/><Relationship Id="rId5" Type="http://schemas.openxmlformats.org/officeDocument/2006/relationships/tags" Target="../tags/tag383.xml"/><Relationship Id="rId4" Type="http://schemas.openxmlformats.org/officeDocument/2006/relationships/tags" Target="../tags/tag382.xml"/><Relationship Id="rId3" Type="http://schemas.openxmlformats.org/officeDocument/2006/relationships/tags" Target="../tags/tag381.xml"/><Relationship Id="rId2" Type="http://schemas.openxmlformats.org/officeDocument/2006/relationships/image" Target="../media/image3.png"/><Relationship Id="rId1" Type="http://schemas.openxmlformats.org/officeDocument/2006/relationships/tags" Target="../tags/tag380.xml"/></Relationships>
</file>

<file path=ppt/slides/_rels/slide102.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387.xml"/><Relationship Id="rId5" Type="http://schemas.openxmlformats.org/officeDocument/2006/relationships/tags" Target="../tags/tag386.xml"/><Relationship Id="rId4" Type="http://schemas.openxmlformats.org/officeDocument/2006/relationships/tags" Target="../tags/tag385.xml"/><Relationship Id="rId3" Type="http://schemas.openxmlformats.org/officeDocument/2006/relationships/image" Target="../media/image3.png"/><Relationship Id="rId2" Type="http://schemas.openxmlformats.org/officeDocument/2006/relationships/tags" Target="../tags/tag384.xml"/><Relationship Id="rId1" Type="http://schemas.openxmlformats.org/officeDocument/2006/relationships/image" Target="../media/image1.png"/></Relationships>
</file>

<file path=ppt/slides/_rels/slide103.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11.png"/><Relationship Id="rId4" Type="http://schemas.openxmlformats.org/officeDocument/2006/relationships/image" Target="../media/image3.png"/><Relationship Id="rId3" Type="http://schemas.openxmlformats.org/officeDocument/2006/relationships/tags" Target="../tags/tag390.xml"/><Relationship Id="rId2" Type="http://schemas.openxmlformats.org/officeDocument/2006/relationships/tags" Target="../tags/tag389.xml"/><Relationship Id="rId1" Type="http://schemas.openxmlformats.org/officeDocument/2006/relationships/tags" Target="../tags/tag388.xml"/></Relationships>
</file>

<file path=ppt/slides/_rels/slide10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93.xml"/><Relationship Id="rId2" Type="http://schemas.openxmlformats.org/officeDocument/2006/relationships/tags" Target="../tags/tag392.xml"/><Relationship Id="rId1" Type="http://schemas.openxmlformats.org/officeDocument/2006/relationships/tags" Target="../tags/tag391.xml"/></Relationships>
</file>

<file path=ppt/slides/_rels/slide10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96.xml"/><Relationship Id="rId2" Type="http://schemas.openxmlformats.org/officeDocument/2006/relationships/tags" Target="../tags/tag395.xml"/><Relationship Id="rId1" Type="http://schemas.openxmlformats.org/officeDocument/2006/relationships/tags" Target="../tags/tag394.xml"/></Relationships>
</file>

<file path=ppt/slides/_rels/slide10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99.xml"/><Relationship Id="rId2" Type="http://schemas.openxmlformats.org/officeDocument/2006/relationships/tags" Target="../tags/tag398.xml"/><Relationship Id="rId1" Type="http://schemas.openxmlformats.org/officeDocument/2006/relationships/tags" Target="../tags/tag397.xml"/></Relationships>
</file>

<file path=ppt/slides/_rels/slide10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02.xml"/><Relationship Id="rId2" Type="http://schemas.openxmlformats.org/officeDocument/2006/relationships/tags" Target="../tags/tag401.xml"/><Relationship Id="rId1" Type="http://schemas.openxmlformats.org/officeDocument/2006/relationships/tags" Target="../tags/tag400.xml"/></Relationships>
</file>

<file path=ppt/slides/_rels/slide10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05.xml"/><Relationship Id="rId2" Type="http://schemas.openxmlformats.org/officeDocument/2006/relationships/tags" Target="../tags/tag404.xml"/><Relationship Id="rId1" Type="http://schemas.openxmlformats.org/officeDocument/2006/relationships/tags" Target="../tags/tag403.xml"/></Relationships>
</file>

<file path=ppt/slides/_rels/slide10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08.xml"/><Relationship Id="rId2" Type="http://schemas.openxmlformats.org/officeDocument/2006/relationships/tags" Target="../tags/tag407.xml"/><Relationship Id="rId1" Type="http://schemas.openxmlformats.org/officeDocument/2006/relationships/tags" Target="../tags/tag406.xml"/></Relationships>
</file>

<file path=ppt/slides/_rels/slide11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11.xml"/><Relationship Id="rId2" Type="http://schemas.openxmlformats.org/officeDocument/2006/relationships/tags" Target="../tags/tag410.xml"/><Relationship Id="rId1" Type="http://schemas.openxmlformats.org/officeDocument/2006/relationships/tags" Target="../tags/tag409.xml"/></Relationships>
</file>

<file path=ppt/slides/_rels/slide11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14.xml"/><Relationship Id="rId2" Type="http://schemas.openxmlformats.org/officeDocument/2006/relationships/tags" Target="../tags/tag413.xml"/><Relationship Id="rId1" Type="http://schemas.openxmlformats.org/officeDocument/2006/relationships/tags" Target="../tags/tag412.xml"/></Relationships>
</file>

<file path=ppt/slides/_rels/slide112.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418.xml"/><Relationship Id="rId5" Type="http://schemas.openxmlformats.org/officeDocument/2006/relationships/tags" Target="../tags/tag417.xml"/><Relationship Id="rId4" Type="http://schemas.openxmlformats.org/officeDocument/2006/relationships/tags" Target="../tags/tag416.xml"/><Relationship Id="rId3" Type="http://schemas.openxmlformats.org/officeDocument/2006/relationships/image" Target="../media/image3.png"/><Relationship Id="rId2" Type="http://schemas.openxmlformats.org/officeDocument/2006/relationships/tags" Target="../tags/tag415.xml"/><Relationship Id="rId1" Type="http://schemas.openxmlformats.org/officeDocument/2006/relationships/image" Target="../media/image1.png"/></Relationships>
</file>

<file path=ppt/slides/_rels/slide113.xml.rels><?xml version="1.0" encoding="UTF-8" standalone="yes"?>
<Relationships xmlns="http://schemas.openxmlformats.org/package/2006/relationships"><Relationship Id="rId7" Type="http://schemas.openxmlformats.org/officeDocument/2006/relationships/slideLayout" Target="../slideLayouts/slideLayout10.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3.png"/><Relationship Id="rId3" Type="http://schemas.openxmlformats.org/officeDocument/2006/relationships/tags" Target="../tags/tag421.xml"/><Relationship Id="rId2" Type="http://schemas.openxmlformats.org/officeDocument/2006/relationships/tags" Target="../tags/tag420.xml"/><Relationship Id="rId1" Type="http://schemas.openxmlformats.org/officeDocument/2006/relationships/tags" Target="../tags/tag419.xml"/></Relationships>
</file>

<file path=ppt/slides/_rels/slide11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24.xml"/><Relationship Id="rId2" Type="http://schemas.openxmlformats.org/officeDocument/2006/relationships/tags" Target="../tags/tag423.xml"/><Relationship Id="rId1" Type="http://schemas.openxmlformats.org/officeDocument/2006/relationships/tags" Target="../tags/tag422.xml"/></Relationships>
</file>

<file path=ppt/slides/_rels/slide11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27.xml"/><Relationship Id="rId2" Type="http://schemas.openxmlformats.org/officeDocument/2006/relationships/tags" Target="../tags/tag426.xml"/><Relationship Id="rId1" Type="http://schemas.openxmlformats.org/officeDocument/2006/relationships/tags" Target="../tags/tag425.xml"/></Relationships>
</file>

<file path=ppt/slides/_rels/slide11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30.xml"/><Relationship Id="rId2" Type="http://schemas.openxmlformats.org/officeDocument/2006/relationships/tags" Target="../tags/tag429.xml"/><Relationship Id="rId1" Type="http://schemas.openxmlformats.org/officeDocument/2006/relationships/tags" Target="../tags/tag428.xml"/></Relationships>
</file>

<file path=ppt/slides/_rels/slide11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33.xml"/><Relationship Id="rId2" Type="http://schemas.openxmlformats.org/officeDocument/2006/relationships/tags" Target="../tags/tag432.xml"/><Relationship Id="rId1" Type="http://schemas.openxmlformats.org/officeDocument/2006/relationships/tags" Target="../tags/tag431.xml"/></Relationships>
</file>

<file path=ppt/slides/_rels/slide11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36.xml"/><Relationship Id="rId2" Type="http://schemas.openxmlformats.org/officeDocument/2006/relationships/tags" Target="../tags/tag435.xml"/><Relationship Id="rId1" Type="http://schemas.openxmlformats.org/officeDocument/2006/relationships/tags" Target="../tags/tag434.xml"/></Relationships>
</file>

<file path=ppt/slides/_rels/slide11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39.xml"/><Relationship Id="rId2" Type="http://schemas.openxmlformats.org/officeDocument/2006/relationships/tags" Target="../tags/tag438.xml"/><Relationship Id="rId1" Type="http://schemas.openxmlformats.org/officeDocument/2006/relationships/tags" Target="../tags/tag437.xml"/></Relationships>
</file>

<file path=ppt/slides/_rels/slide120.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443.xml"/><Relationship Id="rId5" Type="http://schemas.openxmlformats.org/officeDocument/2006/relationships/tags" Target="../tags/tag442.xml"/><Relationship Id="rId4" Type="http://schemas.openxmlformats.org/officeDocument/2006/relationships/tags" Target="../tags/tag441.xml"/><Relationship Id="rId3" Type="http://schemas.openxmlformats.org/officeDocument/2006/relationships/image" Target="../media/image3.png"/><Relationship Id="rId2" Type="http://schemas.openxmlformats.org/officeDocument/2006/relationships/tags" Target="../tags/tag440.xml"/><Relationship Id="rId1" Type="http://schemas.openxmlformats.org/officeDocument/2006/relationships/image" Target="../media/image1.png"/></Relationships>
</file>

<file path=ppt/slides/_rels/slide121.xml.rels><?xml version="1.0" encoding="UTF-8" standalone="yes"?>
<Relationships xmlns="http://schemas.openxmlformats.org/package/2006/relationships"><Relationship Id="rId7" Type="http://schemas.openxmlformats.org/officeDocument/2006/relationships/slideLayout" Target="../slideLayouts/slideLayout10.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3.png"/><Relationship Id="rId3" Type="http://schemas.openxmlformats.org/officeDocument/2006/relationships/tags" Target="../tags/tag446.xml"/><Relationship Id="rId2" Type="http://schemas.openxmlformats.org/officeDocument/2006/relationships/tags" Target="../tags/tag445.xml"/><Relationship Id="rId1" Type="http://schemas.openxmlformats.org/officeDocument/2006/relationships/tags" Target="../tags/tag444.xml"/></Relationships>
</file>

<file path=ppt/slides/_rels/slide12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49.xml"/><Relationship Id="rId2" Type="http://schemas.openxmlformats.org/officeDocument/2006/relationships/tags" Target="../tags/tag448.xml"/><Relationship Id="rId1" Type="http://schemas.openxmlformats.org/officeDocument/2006/relationships/tags" Target="../tags/tag447.xml"/></Relationships>
</file>

<file path=ppt/slides/_rels/slide12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52.xml"/><Relationship Id="rId2" Type="http://schemas.openxmlformats.org/officeDocument/2006/relationships/tags" Target="../tags/tag451.xml"/><Relationship Id="rId1" Type="http://schemas.openxmlformats.org/officeDocument/2006/relationships/tags" Target="../tags/tag450.xml"/></Relationships>
</file>

<file path=ppt/slides/_rels/slide12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55.xml"/><Relationship Id="rId2" Type="http://schemas.openxmlformats.org/officeDocument/2006/relationships/tags" Target="../tags/tag454.xml"/><Relationship Id="rId1" Type="http://schemas.openxmlformats.org/officeDocument/2006/relationships/tags" Target="../tags/tag453.xml"/></Relationships>
</file>

<file path=ppt/slides/_rels/slide12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58.xml"/><Relationship Id="rId2" Type="http://schemas.openxmlformats.org/officeDocument/2006/relationships/tags" Target="../tags/tag457.xml"/><Relationship Id="rId1" Type="http://schemas.openxmlformats.org/officeDocument/2006/relationships/tags" Target="../tags/tag456.xml"/></Relationships>
</file>

<file path=ppt/slides/_rels/slide12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61.xml"/><Relationship Id="rId2" Type="http://schemas.openxmlformats.org/officeDocument/2006/relationships/tags" Target="../tags/tag460.xml"/><Relationship Id="rId1" Type="http://schemas.openxmlformats.org/officeDocument/2006/relationships/tags" Target="../tags/tag459.xml"/></Relationships>
</file>

<file path=ppt/slides/_rels/slide12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64.xml"/><Relationship Id="rId2" Type="http://schemas.openxmlformats.org/officeDocument/2006/relationships/tags" Target="../tags/tag463.xml"/><Relationship Id="rId1" Type="http://schemas.openxmlformats.org/officeDocument/2006/relationships/tags" Target="../tags/tag462.xml"/></Relationships>
</file>

<file path=ppt/slides/_rels/slide128.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468.xml"/><Relationship Id="rId5" Type="http://schemas.openxmlformats.org/officeDocument/2006/relationships/tags" Target="../tags/tag467.xml"/><Relationship Id="rId4" Type="http://schemas.openxmlformats.org/officeDocument/2006/relationships/tags" Target="../tags/tag466.xml"/><Relationship Id="rId3" Type="http://schemas.openxmlformats.org/officeDocument/2006/relationships/image" Target="../media/image3.png"/><Relationship Id="rId2" Type="http://schemas.openxmlformats.org/officeDocument/2006/relationships/tags" Target="../tags/tag465.xml"/><Relationship Id="rId1" Type="http://schemas.openxmlformats.org/officeDocument/2006/relationships/image" Target="../media/image1.png"/></Relationships>
</file>

<file path=ppt/slides/_rels/slide12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71.xml"/><Relationship Id="rId2" Type="http://schemas.openxmlformats.org/officeDocument/2006/relationships/tags" Target="../tags/tag470.xml"/><Relationship Id="rId1" Type="http://schemas.openxmlformats.org/officeDocument/2006/relationships/tags" Target="../tags/tag469.xml"/></Relationships>
</file>

<file path=ppt/slides/_rels/slide13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74.xml"/><Relationship Id="rId2" Type="http://schemas.openxmlformats.org/officeDocument/2006/relationships/tags" Target="../tags/tag473.xml"/><Relationship Id="rId1" Type="http://schemas.openxmlformats.org/officeDocument/2006/relationships/tags" Target="../tags/tag472.xml"/></Relationships>
</file>

<file path=ppt/slides/_rels/slide13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77.xml"/><Relationship Id="rId2" Type="http://schemas.openxmlformats.org/officeDocument/2006/relationships/tags" Target="../tags/tag476.xml"/><Relationship Id="rId1" Type="http://schemas.openxmlformats.org/officeDocument/2006/relationships/tags" Target="../tags/tag475.xml"/></Relationships>
</file>

<file path=ppt/slides/_rels/slide13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80.xml"/><Relationship Id="rId2" Type="http://schemas.openxmlformats.org/officeDocument/2006/relationships/tags" Target="../tags/tag479.xml"/><Relationship Id="rId1" Type="http://schemas.openxmlformats.org/officeDocument/2006/relationships/tags" Target="../tags/tag478.xml"/></Relationships>
</file>

<file path=ppt/slides/_rels/slide13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83.xml"/><Relationship Id="rId2" Type="http://schemas.openxmlformats.org/officeDocument/2006/relationships/tags" Target="../tags/tag482.xml"/><Relationship Id="rId1" Type="http://schemas.openxmlformats.org/officeDocument/2006/relationships/tags" Target="../tags/tag481.xml"/></Relationships>
</file>

<file path=ppt/slides/_rels/slide13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86.xml"/><Relationship Id="rId2" Type="http://schemas.openxmlformats.org/officeDocument/2006/relationships/tags" Target="../tags/tag485.xml"/><Relationship Id="rId1" Type="http://schemas.openxmlformats.org/officeDocument/2006/relationships/tags" Target="../tags/tag484.xml"/></Relationships>
</file>

<file path=ppt/slides/_rels/slide13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89.xml"/><Relationship Id="rId2" Type="http://schemas.openxmlformats.org/officeDocument/2006/relationships/tags" Target="../tags/tag488.xml"/><Relationship Id="rId1" Type="http://schemas.openxmlformats.org/officeDocument/2006/relationships/tags" Target="../tags/tag487.xml"/></Relationships>
</file>

<file path=ppt/slides/_rels/slide13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92.xml"/><Relationship Id="rId2" Type="http://schemas.openxmlformats.org/officeDocument/2006/relationships/tags" Target="../tags/tag491.xml"/><Relationship Id="rId1" Type="http://schemas.openxmlformats.org/officeDocument/2006/relationships/tags" Target="../tags/tag490.xml"/></Relationships>
</file>

<file path=ppt/slides/_rels/slide13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95.xml"/><Relationship Id="rId2" Type="http://schemas.openxmlformats.org/officeDocument/2006/relationships/tags" Target="../tags/tag494.xml"/><Relationship Id="rId1" Type="http://schemas.openxmlformats.org/officeDocument/2006/relationships/tags" Target="../tags/tag493.xml"/></Relationships>
</file>

<file path=ppt/slides/_rels/slide13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98.xml"/><Relationship Id="rId2" Type="http://schemas.openxmlformats.org/officeDocument/2006/relationships/tags" Target="../tags/tag497.xml"/><Relationship Id="rId1" Type="http://schemas.openxmlformats.org/officeDocument/2006/relationships/tags" Target="../tags/tag496.xml"/></Relationships>
</file>

<file path=ppt/slides/_rels/slide139.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2.xml"/><Relationship Id="rId5" Type="http://schemas.openxmlformats.org/officeDocument/2006/relationships/tags" Target="../tags/tag502.xml"/><Relationship Id="rId4" Type="http://schemas.openxmlformats.org/officeDocument/2006/relationships/tags" Target="../tags/tag501.xml"/><Relationship Id="rId3" Type="http://schemas.openxmlformats.org/officeDocument/2006/relationships/tags" Target="../tags/tag500.xml"/><Relationship Id="rId2" Type="http://schemas.openxmlformats.org/officeDocument/2006/relationships/image" Target="../media/image3.png"/><Relationship Id="rId1" Type="http://schemas.openxmlformats.org/officeDocument/2006/relationships/tags" Target="../tags/tag499.xml"/></Relationships>
</file>

<file path=ppt/slides/_rels/slide140.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506.xml"/><Relationship Id="rId5" Type="http://schemas.openxmlformats.org/officeDocument/2006/relationships/tags" Target="../tags/tag505.xml"/><Relationship Id="rId4" Type="http://schemas.openxmlformats.org/officeDocument/2006/relationships/tags" Target="../tags/tag504.xml"/><Relationship Id="rId3" Type="http://schemas.openxmlformats.org/officeDocument/2006/relationships/image" Target="../media/image3.png"/><Relationship Id="rId2" Type="http://schemas.openxmlformats.org/officeDocument/2006/relationships/tags" Target="../tags/tag503.xml"/><Relationship Id="rId1" Type="http://schemas.openxmlformats.org/officeDocument/2006/relationships/image" Target="../media/image1.png"/></Relationships>
</file>

<file path=ppt/slides/_rels/slide14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09.xml"/><Relationship Id="rId2" Type="http://schemas.openxmlformats.org/officeDocument/2006/relationships/tags" Target="../tags/tag508.xml"/><Relationship Id="rId1" Type="http://schemas.openxmlformats.org/officeDocument/2006/relationships/tags" Target="../tags/tag507.xml"/></Relationships>
</file>

<file path=ppt/slides/_rels/slide14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12.xml"/><Relationship Id="rId2" Type="http://schemas.openxmlformats.org/officeDocument/2006/relationships/tags" Target="../tags/tag511.xml"/><Relationship Id="rId1" Type="http://schemas.openxmlformats.org/officeDocument/2006/relationships/tags" Target="../tags/tag510.xml"/></Relationships>
</file>

<file path=ppt/slides/_rels/slide14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15.xml"/><Relationship Id="rId2" Type="http://schemas.openxmlformats.org/officeDocument/2006/relationships/tags" Target="../tags/tag514.xml"/><Relationship Id="rId1" Type="http://schemas.openxmlformats.org/officeDocument/2006/relationships/tags" Target="../tags/tag513.xml"/></Relationships>
</file>

<file path=ppt/slides/_rels/slide14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18.xml"/><Relationship Id="rId2" Type="http://schemas.openxmlformats.org/officeDocument/2006/relationships/tags" Target="../tags/tag517.xml"/><Relationship Id="rId1" Type="http://schemas.openxmlformats.org/officeDocument/2006/relationships/tags" Target="../tags/tag516.xml"/></Relationships>
</file>

<file path=ppt/slides/_rels/slide14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21.xml"/><Relationship Id="rId2" Type="http://schemas.openxmlformats.org/officeDocument/2006/relationships/tags" Target="../tags/tag520.xml"/><Relationship Id="rId1" Type="http://schemas.openxmlformats.org/officeDocument/2006/relationships/tags" Target="../tags/tag519.xml"/></Relationships>
</file>

<file path=ppt/slides/_rels/slide14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24.xml"/><Relationship Id="rId2" Type="http://schemas.openxmlformats.org/officeDocument/2006/relationships/tags" Target="../tags/tag523.xml"/><Relationship Id="rId1" Type="http://schemas.openxmlformats.org/officeDocument/2006/relationships/tags" Target="../tags/tag522.xml"/></Relationships>
</file>

<file path=ppt/slides/_rels/slide14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27.xml"/><Relationship Id="rId2" Type="http://schemas.openxmlformats.org/officeDocument/2006/relationships/tags" Target="../tags/tag526.xml"/><Relationship Id="rId1" Type="http://schemas.openxmlformats.org/officeDocument/2006/relationships/tags" Target="../tags/tag525.xml"/></Relationships>
</file>

<file path=ppt/slides/_rels/slide148.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531.xml"/><Relationship Id="rId5" Type="http://schemas.openxmlformats.org/officeDocument/2006/relationships/tags" Target="../tags/tag530.xml"/><Relationship Id="rId4" Type="http://schemas.openxmlformats.org/officeDocument/2006/relationships/tags" Target="../tags/tag529.xml"/><Relationship Id="rId3" Type="http://schemas.openxmlformats.org/officeDocument/2006/relationships/image" Target="../media/image3.png"/><Relationship Id="rId2" Type="http://schemas.openxmlformats.org/officeDocument/2006/relationships/tags" Target="../tags/tag528.xml"/><Relationship Id="rId1" Type="http://schemas.openxmlformats.org/officeDocument/2006/relationships/image" Target="../media/image1.png"/></Relationships>
</file>

<file path=ppt/slides/_rels/slide14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34.xml"/><Relationship Id="rId2" Type="http://schemas.openxmlformats.org/officeDocument/2006/relationships/tags" Target="../tags/tag533.xml"/><Relationship Id="rId1" Type="http://schemas.openxmlformats.org/officeDocument/2006/relationships/tags" Target="../tags/tag532.xml"/></Relationships>
</file>

<file path=ppt/slides/_rels/slide15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37.xml"/><Relationship Id="rId2" Type="http://schemas.openxmlformats.org/officeDocument/2006/relationships/tags" Target="../tags/tag536.xml"/><Relationship Id="rId1" Type="http://schemas.openxmlformats.org/officeDocument/2006/relationships/tags" Target="../tags/tag535.xml"/></Relationships>
</file>

<file path=ppt/slides/_rels/slide15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40.xml"/><Relationship Id="rId2" Type="http://schemas.openxmlformats.org/officeDocument/2006/relationships/tags" Target="../tags/tag539.xml"/><Relationship Id="rId1" Type="http://schemas.openxmlformats.org/officeDocument/2006/relationships/tags" Target="../tags/tag538.xml"/></Relationships>
</file>

<file path=ppt/slides/_rels/slide15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43.xml"/><Relationship Id="rId2" Type="http://schemas.openxmlformats.org/officeDocument/2006/relationships/tags" Target="../tags/tag542.xml"/><Relationship Id="rId1" Type="http://schemas.openxmlformats.org/officeDocument/2006/relationships/tags" Target="../tags/tag541.xml"/></Relationships>
</file>

<file path=ppt/slides/_rels/slide15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46.xml"/><Relationship Id="rId2" Type="http://schemas.openxmlformats.org/officeDocument/2006/relationships/tags" Target="../tags/tag545.xml"/><Relationship Id="rId1" Type="http://schemas.openxmlformats.org/officeDocument/2006/relationships/tags" Target="../tags/tag544.xml"/></Relationships>
</file>

<file path=ppt/slides/_rels/slide154.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550.xml"/><Relationship Id="rId5" Type="http://schemas.openxmlformats.org/officeDocument/2006/relationships/tags" Target="../tags/tag549.xml"/><Relationship Id="rId4" Type="http://schemas.openxmlformats.org/officeDocument/2006/relationships/tags" Target="../tags/tag548.xml"/><Relationship Id="rId3" Type="http://schemas.openxmlformats.org/officeDocument/2006/relationships/image" Target="../media/image3.png"/><Relationship Id="rId2" Type="http://schemas.openxmlformats.org/officeDocument/2006/relationships/tags" Target="../tags/tag547.xml"/><Relationship Id="rId1" Type="http://schemas.openxmlformats.org/officeDocument/2006/relationships/image" Target="../media/image1.png"/></Relationships>
</file>

<file path=ppt/slides/_rels/slide15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53.xml"/><Relationship Id="rId2" Type="http://schemas.openxmlformats.org/officeDocument/2006/relationships/tags" Target="../tags/tag552.xml"/><Relationship Id="rId1" Type="http://schemas.openxmlformats.org/officeDocument/2006/relationships/tags" Target="../tags/tag551.xml"/></Relationships>
</file>

<file path=ppt/slides/_rels/slide15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56.xml"/><Relationship Id="rId2" Type="http://schemas.openxmlformats.org/officeDocument/2006/relationships/tags" Target="../tags/tag555.xml"/><Relationship Id="rId1" Type="http://schemas.openxmlformats.org/officeDocument/2006/relationships/tags" Target="../tags/tag554.xml"/></Relationships>
</file>

<file path=ppt/slides/_rels/slide157.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xml"/><Relationship Id="rId5" Type="http://schemas.openxmlformats.org/officeDocument/2006/relationships/tags" Target="../tags/tag560.xml"/><Relationship Id="rId4" Type="http://schemas.openxmlformats.org/officeDocument/2006/relationships/tags" Target="../tags/tag559.xml"/><Relationship Id="rId3" Type="http://schemas.openxmlformats.org/officeDocument/2006/relationships/tags" Target="../tags/tag558.xml"/><Relationship Id="rId2" Type="http://schemas.openxmlformats.org/officeDocument/2006/relationships/image" Target="../media/image3.png"/><Relationship Id="rId1" Type="http://schemas.openxmlformats.org/officeDocument/2006/relationships/tags" Target="../tags/tag557.xml"/></Relationships>
</file>

<file path=ppt/slides/_rels/slide158.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564.xml"/><Relationship Id="rId5" Type="http://schemas.openxmlformats.org/officeDocument/2006/relationships/tags" Target="../tags/tag563.xml"/><Relationship Id="rId4" Type="http://schemas.openxmlformats.org/officeDocument/2006/relationships/tags" Target="../tags/tag562.xml"/><Relationship Id="rId3" Type="http://schemas.openxmlformats.org/officeDocument/2006/relationships/image" Target="../media/image3.png"/><Relationship Id="rId2" Type="http://schemas.openxmlformats.org/officeDocument/2006/relationships/tags" Target="../tags/tag561.xml"/><Relationship Id="rId1" Type="http://schemas.openxmlformats.org/officeDocument/2006/relationships/image" Target="../media/image1.png"/></Relationships>
</file>

<file path=ppt/slides/_rels/slide159.xml.rels><?xml version="1.0" encoding="UTF-8" standalone="yes"?>
<Relationships xmlns="http://schemas.openxmlformats.org/package/2006/relationships"><Relationship Id="rId7" Type="http://schemas.openxmlformats.org/officeDocument/2006/relationships/slideLayout" Target="../slideLayouts/slideLayout10.xml"/><Relationship Id="rId6" Type="http://schemas.openxmlformats.org/officeDocument/2006/relationships/image" Target="../media/image16.jpeg"/><Relationship Id="rId5" Type="http://schemas.openxmlformats.org/officeDocument/2006/relationships/tags" Target="../tags/tag568.xml"/><Relationship Id="rId4" Type="http://schemas.openxmlformats.org/officeDocument/2006/relationships/image" Target="../media/image3.png"/><Relationship Id="rId3" Type="http://schemas.openxmlformats.org/officeDocument/2006/relationships/tags" Target="../tags/tag567.xml"/><Relationship Id="rId2" Type="http://schemas.openxmlformats.org/officeDocument/2006/relationships/tags" Target="../tags/tag566.xml"/><Relationship Id="rId1" Type="http://schemas.openxmlformats.org/officeDocument/2006/relationships/tags" Target="../tags/tag565.xml"/></Relationships>
</file>

<file path=ppt/slides/_rels/slide160.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17.png"/><Relationship Id="rId4" Type="http://schemas.openxmlformats.org/officeDocument/2006/relationships/image" Target="../media/image3.png"/><Relationship Id="rId3" Type="http://schemas.openxmlformats.org/officeDocument/2006/relationships/tags" Target="../tags/tag571.xml"/><Relationship Id="rId2" Type="http://schemas.openxmlformats.org/officeDocument/2006/relationships/tags" Target="../tags/tag570.xml"/><Relationship Id="rId1" Type="http://schemas.openxmlformats.org/officeDocument/2006/relationships/tags" Target="../tags/tag569.xml"/></Relationships>
</file>

<file path=ppt/slides/_rels/slide161.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18.png"/><Relationship Id="rId4" Type="http://schemas.openxmlformats.org/officeDocument/2006/relationships/image" Target="../media/image3.png"/><Relationship Id="rId3" Type="http://schemas.openxmlformats.org/officeDocument/2006/relationships/tags" Target="../tags/tag574.xml"/><Relationship Id="rId2" Type="http://schemas.openxmlformats.org/officeDocument/2006/relationships/tags" Target="../tags/tag573.xml"/><Relationship Id="rId1" Type="http://schemas.openxmlformats.org/officeDocument/2006/relationships/tags" Target="../tags/tag572.xml"/></Relationships>
</file>

<file path=ppt/slides/_rels/slide16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77.xml"/><Relationship Id="rId2" Type="http://schemas.openxmlformats.org/officeDocument/2006/relationships/tags" Target="../tags/tag576.xml"/><Relationship Id="rId1" Type="http://schemas.openxmlformats.org/officeDocument/2006/relationships/tags" Target="../tags/tag575.xml"/></Relationships>
</file>

<file path=ppt/slides/_rels/slide16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80.xml"/><Relationship Id="rId2" Type="http://schemas.openxmlformats.org/officeDocument/2006/relationships/tags" Target="../tags/tag579.xml"/><Relationship Id="rId1" Type="http://schemas.openxmlformats.org/officeDocument/2006/relationships/tags" Target="../tags/tag578.xml"/></Relationships>
</file>

<file path=ppt/slides/_rels/slide164.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584.xml"/><Relationship Id="rId5" Type="http://schemas.openxmlformats.org/officeDocument/2006/relationships/tags" Target="../tags/tag583.xml"/><Relationship Id="rId4" Type="http://schemas.openxmlformats.org/officeDocument/2006/relationships/tags" Target="../tags/tag582.xml"/><Relationship Id="rId3" Type="http://schemas.openxmlformats.org/officeDocument/2006/relationships/image" Target="../media/image3.png"/><Relationship Id="rId2" Type="http://schemas.openxmlformats.org/officeDocument/2006/relationships/tags" Target="../tags/tag581.xml"/><Relationship Id="rId1" Type="http://schemas.openxmlformats.org/officeDocument/2006/relationships/image" Target="../media/image1.png"/></Relationships>
</file>

<file path=ppt/slides/_rels/slide16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87.xml"/><Relationship Id="rId2" Type="http://schemas.openxmlformats.org/officeDocument/2006/relationships/tags" Target="../tags/tag586.xml"/><Relationship Id="rId1" Type="http://schemas.openxmlformats.org/officeDocument/2006/relationships/tags" Target="../tags/tag585.xml"/></Relationships>
</file>

<file path=ppt/slides/_rels/slide166.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19.png"/><Relationship Id="rId4" Type="http://schemas.openxmlformats.org/officeDocument/2006/relationships/image" Target="../media/image3.png"/><Relationship Id="rId3" Type="http://schemas.openxmlformats.org/officeDocument/2006/relationships/tags" Target="../tags/tag590.xml"/><Relationship Id="rId2" Type="http://schemas.openxmlformats.org/officeDocument/2006/relationships/tags" Target="../tags/tag589.xml"/><Relationship Id="rId1" Type="http://schemas.openxmlformats.org/officeDocument/2006/relationships/tags" Target="../tags/tag588.xml"/></Relationships>
</file>

<file path=ppt/slides/_rels/slide16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93.xml"/><Relationship Id="rId2" Type="http://schemas.openxmlformats.org/officeDocument/2006/relationships/tags" Target="../tags/tag592.xml"/><Relationship Id="rId1" Type="http://schemas.openxmlformats.org/officeDocument/2006/relationships/tags" Target="../tags/tag591.xml"/></Relationships>
</file>

<file path=ppt/slides/_rels/slide168.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597.xml"/><Relationship Id="rId5" Type="http://schemas.openxmlformats.org/officeDocument/2006/relationships/tags" Target="../tags/tag596.xml"/><Relationship Id="rId4" Type="http://schemas.openxmlformats.org/officeDocument/2006/relationships/tags" Target="../tags/tag595.xml"/><Relationship Id="rId3" Type="http://schemas.openxmlformats.org/officeDocument/2006/relationships/image" Target="../media/image3.png"/><Relationship Id="rId2" Type="http://schemas.openxmlformats.org/officeDocument/2006/relationships/tags" Target="../tags/tag594.xml"/><Relationship Id="rId1" Type="http://schemas.openxmlformats.org/officeDocument/2006/relationships/image" Target="../media/image1.png"/></Relationships>
</file>

<file path=ppt/slides/_rels/slide16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00.xml"/><Relationship Id="rId2" Type="http://schemas.openxmlformats.org/officeDocument/2006/relationships/tags" Target="../tags/tag599.xml"/><Relationship Id="rId1" Type="http://schemas.openxmlformats.org/officeDocument/2006/relationships/tags" Target="../tags/tag598.xml"/></Relationships>
</file>

<file path=ppt/slides/_rels/slide17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03.xml"/><Relationship Id="rId2" Type="http://schemas.openxmlformats.org/officeDocument/2006/relationships/tags" Target="../tags/tag602.xml"/><Relationship Id="rId1" Type="http://schemas.openxmlformats.org/officeDocument/2006/relationships/tags" Target="../tags/tag601.xml"/></Relationships>
</file>

<file path=ppt/slides/_rels/slide171.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20.png"/><Relationship Id="rId4" Type="http://schemas.openxmlformats.org/officeDocument/2006/relationships/image" Target="../media/image3.png"/><Relationship Id="rId3" Type="http://schemas.openxmlformats.org/officeDocument/2006/relationships/tags" Target="../tags/tag606.xml"/><Relationship Id="rId2" Type="http://schemas.openxmlformats.org/officeDocument/2006/relationships/tags" Target="../tags/tag605.xml"/><Relationship Id="rId1" Type="http://schemas.openxmlformats.org/officeDocument/2006/relationships/tags" Target="../tags/tag604.xml"/></Relationships>
</file>

<file path=ppt/slides/_rels/slide17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09.xml"/><Relationship Id="rId2" Type="http://schemas.openxmlformats.org/officeDocument/2006/relationships/tags" Target="../tags/tag608.xml"/><Relationship Id="rId1" Type="http://schemas.openxmlformats.org/officeDocument/2006/relationships/tags" Target="../tags/tag607.xml"/></Relationships>
</file>

<file path=ppt/slides/_rels/slide17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12.xml"/><Relationship Id="rId2" Type="http://schemas.openxmlformats.org/officeDocument/2006/relationships/tags" Target="../tags/tag611.xml"/><Relationship Id="rId1" Type="http://schemas.openxmlformats.org/officeDocument/2006/relationships/tags" Target="../tags/tag610.xml"/></Relationships>
</file>

<file path=ppt/slides/_rels/slide17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15.xml"/><Relationship Id="rId2" Type="http://schemas.openxmlformats.org/officeDocument/2006/relationships/tags" Target="../tags/tag614.xml"/><Relationship Id="rId1" Type="http://schemas.openxmlformats.org/officeDocument/2006/relationships/tags" Target="../tags/tag613.xml"/></Relationships>
</file>

<file path=ppt/slides/_rels/slide17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18.xml"/><Relationship Id="rId2" Type="http://schemas.openxmlformats.org/officeDocument/2006/relationships/tags" Target="../tags/tag617.xml"/><Relationship Id="rId1" Type="http://schemas.openxmlformats.org/officeDocument/2006/relationships/tags" Target="../tags/tag616.xml"/></Relationships>
</file>

<file path=ppt/slides/_rels/slide17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622.xml"/><Relationship Id="rId5" Type="http://schemas.openxmlformats.org/officeDocument/2006/relationships/tags" Target="../tags/tag621.xml"/><Relationship Id="rId4" Type="http://schemas.openxmlformats.org/officeDocument/2006/relationships/tags" Target="../tags/tag620.xml"/><Relationship Id="rId3" Type="http://schemas.openxmlformats.org/officeDocument/2006/relationships/image" Target="../media/image3.png"/><Relationship Id="rId2" Type="http://schemas.openxmlformats.org/officeDocument/2006/relationships/tags" Target="../tags/tag619.xml"/><Relationship Id="rId1" Type="http://schemas.openxmlformats.org/officeDocument/2006/relationships/image" Target="../media/image1.png"/></Relationships>
</file>

<file path=ppt/slides/_rels/slide17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25.xml"/><Relationship Id="rId2" Type="http://schemas.openxmlformats.org/officeDocument/2006/relationships/tags" Target="../tags/tag624.xml"/><Relationship Id="rId1" Type="http://schemas.openxmlformats.org/officeDocument/2006/relationships/tags" Target="../tags/tag623.xml"/></Relationships>
</file>

<file path=ppt/slides/_rels/slide17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28.xml"/><Relationship Id="rId2" Type="http://schemas.openxmlformats.org/officeDocument/2006/relationships/tags" Target="../tags/tag627.xml"/><Relationship Id="rId1" Type="http://schemas.openxmlformats.org/officeDocument/2006/relationships/tags" Target="../tags/tag626.xml"/></Relationships>
</file>

<file path=ppt/slides/_rels/slide17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31.xml"/><Relationship Id="rId2" Type="http://schemas.openxmlformats.org/officeDocument/2006/relationships/tags" Target="../tags/tag630.xml"/><Relationship Id="rId1" Type="http://schemas.openxmlformats.org/officeDocument/2006/relationships/tags" Target="../tags/tag629.xml"/></Relationships>
</file>

<file path=ppt/slides/_rels/slide180.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21.png"/><Relationship Id="rId4" Type="http://schemas.openxmlformats.org/officeDocument/2006/relationships/image" Target="../media/image3.png"/><Relationship Id="rId3" Type="http://schemas.openxmlformats.org/officeDocument/2006/relationships/tags" Target="../tags/tag634.xml"/><Relationship Id="rId2" Type="http://schemas.openxmlformats.org/officeDocument/2006/relationships/tags" Target="../tags/tag633.xml"/><Relationship Id="rId1" Type="http://schemas.openxmlformats.org/officeDocument/2006/relationships/tags" Target="../tags/tag632.xml"/></Relationships>
</file>

<file path=ppt/slides/_rels/slide18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37.xml"/><Relationship Id="rId2" Type="http://schemas.openxmlformats.org/officeDocument/2006/relationships/tags" Target="../tags/tag636.xml"/><Relationship Id="rId1" Type="http://schemas.openxmlformats.org/officeDocument/2006/relationships/tags" Target="../tags/tag635.xml"/></Relationships>
</file>

<file path=ppt/slides/_rels/slide182.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641.xml"/><Relationship Id="rId5" Type="http://schemas.openxmlformats.org/officeDocument/2006/relationships/tags" Target="../tags/tag640.xml"/><Relationship Id="rId4" Type="http://schemas.openxmlformats.org/officeDocument/2006/relationships/tags" Target="../tags/tag639.xml"/><Relationship Id="rId3" Type="http://schemas.openxmlformats.org/officeDocument/2006/relationships/image" Target="../media/image3.png"/><Relationship Id="rId2" Type="http://schemas.openxmlformats.org/officeDocument/2006/relationships/tags" Target="../tags/tag638.xml"/><Relationship Id="rId1" Type="http://schemas.openxmlformats.org/officeDocument/2006/relationships/image" Target="../media/image1.png"/></Relationships>
</file>

<file path=ppt/slides/_rels/slide18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44.xml"/><Relationship Id="rId2" Type="http://schemas.openxmlformats.org/officeDocument/2006/relationships/tags" Target="../tags/tag643.xml"/><Relationship Id="rId1" Type="http://schemas.openxmlformats.org/officeDocument/2006/relationships/tags" Target="../tags/tag642.xml"/></Relationships>
</file>

<file path=ppt/slides/_rels/slide18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47.xml"/><Relationship Id="rId2" Type="http://schemas.openxmlformats.org/officeDocument/2006/relationships/tags" Target="../tags/tag646.xml"/><Relationship Id="rId1" Type="http://schemas.openxmlformats.org/officeDocument/2006/relationships/tags" Target="../tags/tag645.xml"/></Relationships>
</file>

<file path=ppt/slides/_rels/slide18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651.xml"/><Relationship Id="rId5" Type="http://schemas.openxmlformats.org/officeDocument/2006/relationships/tags" Target="../tags/tag650.xml"/><Relationship Id="rId4" Type="http://schemas.openxmlformats.org/officeDocument/2006/relationships/tags" Target="../tags/tag649.xml"/><Relationship Id="rId3" Type="http://schemas.openxmlformats.org/officeDocument/2006/relationships/image" Target="../media/image3.png"/><Relationship Id="rId2" Type="http://schemas.openxmlformats.org/officeDocument/2006/relationships/tags" Target="../tags/tag648.xml"/><Relationship Id="rId1" Type="http://schemas.openxmlformats.org/officeDocument/2006/relationships/image" Target="../media/image1.png"/></Relationships>
</file>

<file path=ppt/slides/_rels/slide18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54.xml"/><Relationship Id="rId2" Type="http://schemas.openxmlformats.org/officeDocument/2006/relationships/tags" Target="../tags/tag653.xml"/><Relationship Id="rId1" Type="http://schemas.openxmlformats.org/officeDocument/2006/relationships/tags" Target="../tags/tag652.xml"/></Relationships>
</file>

<file path=ppt/slides/_rels/slide18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57.xml"/><Relationship Id="rId2" Type="http://schemas.openxmlformats.org/officeDocument/2006/relationships/tags" Target="../tags/tag656.xml"/><Relationship Id="rId1" Type="http://schemas.openxmlformats.org/officeDocument/2006/relationships/tags" Target="../tags/tag655.xml"/></Relationships>
</file>

<file path=ppt/slides/_rels/slide18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60.xml"/><Relationship Id="rId2" Type="http://schemas.openxmlformats.org/officeDocument/2006/relationships/tags" Target="../tags/tag659.xml"/><Relationship Id="rId1" Type="http://schemas.openxmlformats.org/officeDocument/2006/relationships/tags" Target="../tags/tag658.xml"/></Relationships>
</file>

<file path=ppt/slides/_rels/slide189.xml.rels><?xml version="1.0" encoding="UTF-8" standalone="yes"?>
<Relationships xmlns="http://schemas.openxmlformats.org/package/2006/relationships"><Relationship Id="rId9" Type="http://schemas.openxmlformats.org/officeDocument/2006/relationships/tags" Target="../tags/tag668.xml"/><Relationship Id="rId8" Type="http://schemas.openxmlformats.org/officeDocument/2006/relationships/image" Target="../media/image2.png"/><Relationship Id="rId7" Type="http://schemas.openxmlformats.org/officeDocument/2006/relationships/tags" Target="../tags/tag667.xml"/><Relationship Id="rId6" Type="http://schemas.openxmlformats.org/officeDocument/2006/relationships/tags" Target="../tags/tag666.xml"/><Relationship Id="rId5" Type="http://schemas.openxmlformats.org/officeDocument/2006/relationships/tags" Target="../tags/tag665.xml"/><Relationship Id="rId4" Type="http://schemas.openxmlformats.org/officeDocument/2006/relationships/tags" Target="../tags/tag664.xml"/><Relationship Id="rId3" Type="http://schemas.openxmlformats.org/officeDocument/2006/relationships/tags" Target="../tags/tag663.xml"/><Relationship Id="rId2" Type="http://schemas.openxmlformats.org/officeDocument/2006/relationships/tags" Target="../tags/tag662.xml"/><Relationship Id="rId10" Type="http://schemas.openxmlformats.org/officeDocument/2006/relationships/slideLayout" Target="../slideLayouts/slideLayout1.xml"/><Relationship Id="rId1" Type="http://schemas.openxmlformats.org/officeDocument/2006/relationships/tags" Target="../tags/tag6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flipH="1">
            <a:off x="-22225" y="-1270"/>
            <a:ext cx="8779726" cy="6858000"/>
            <a:chOff x="5374" y="0"/>
            <a:chExt cx="13826" cy="10800"/>
          </a:xfrm>
        </p:grpSpPr>
        <p:sp>
          <p:nvSpPr>
            <p:cNvPr id="9" name="任意多边形 8"/>
            <p:cNvSpPr/>
            <p:nvPr/>
          </p:nvSpPr>
          <p:spPr>
            <a:xfrm flipH="1">
              <a:off x="5374" y="0"/>
              <a:ext cx="12808" cy="10800"/>
            </a:xfrm>
            <a:custGeom>
              <a:avLst/>
              <a:gdLst>
                <a:gd name="connsiteX0" fmla="*/ 1274956 w 8132956"/>
                <a:gd name="connsiteY0" fmla="*/ 0 h 6858000"/>
                <a:gd name="connsiteX1" fmla="*/ 0 w 8132956"/>
                <a:gd name="connsiteY1" fmla="*/ 0 h 6858000"/>
                <a:gd name="connsiteX2" fmla="*/ 0 w 8132956"/>
                <a:gd name="connsiteY2" fmla="*/ 6858000 h 6858000"/>
                <a:gd name="connsiteX3" fmla="*/ 8132956 w 813295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32956" h="6858000">
                  <a:moveTo>
                    <a:pt x="1274956" y="0"/>
                  </a:moveTo>
                  <a:lnTo>
                    <a:pt x="0" y="0"/>
                  </a:lnTo>
                  <a:lnTo>
                    <a:pt x="0" y="6858000"/>
                  </a:lnTo>
                  <a:lnTo>
                    <a:pt x="8132956" y="68580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nvSpPr>
          <p:spPr>
            <a:xfrm flipH="1">
              <a:off x="6392" y="0"/>
              <a:ext cx="12808" cy="10800"/>
            </a:xfrm>
            <a:custGeom>
              <a:avLst/>
              <a:gdLst>
                <a:gd name="connsiteX0" fmla="*/ 1274956 w 8132956"/>
                <a:gd name="connsiteY0" fmla="*/ 0 h 6858000"/>
                <a:gd name="connsiteX1" fmla="*/ 0 w 8132956"/>
                <a:gd name="connsiteY1" fmla="*/ 0 h 6858000"/>
                <a:gd name="connsiteX2" fmla="*/ 0 w 8132956"/>
                <a:gd name="connsiteY2" fmla="*/ 6858000 h 6858000"/>
                <a:gd name="connsiteX3" fmla="*/ 8132956 w 813295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32956" h="6858000">
                  <a:moveTo>
                    <a:pt x="1274956" y="0"/>
                  </a:moveTo>
                  <a:lnTo>
                    <a:pt x="0" y="0"/>
                  </a:lnTo>
                  <a:lnTo>
                    <a:pt x="0" y="6858000"/>
                  </a:lnTo>
                  <a:lnTo>
                    <a:pt x="8132956"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flipH="1">
              <a:off x="12012" y="3612"/>
              <a:ext cx="7188" cy="7188"/>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2164" y="2083"/>
              <a:ext cx="5002" cy="4970"/>
            </a:xfrm>
            <a:prstGeom prst="ellipse">
              <a:avLst/>
            </a:prstGeom>
            <a:solidFill>
              <a:schemeClr val="bg1"/>
            </a:solidFill>
            <a:ln w="22225" cap="flat" cmpd="sng" algn="ctr">
              <a:noFill/>
              <a:prstDash val="solid"/>
              <a:miter lim="800000"/>
            </a:ln>
            <a:effectLst>
              <a:outerShdw blurRad="939800" dist="266700" sx="99000" sy="99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ea typeface="思源黑体 CN Medium" panose="020B0600000000000000" pitchFamily="34" charset="-122"/>
                <a:sym typeface="思源黑体 CN Medium" panose="020B0600000000000000" pitchFamily="34" charset="-122"/>
              </a:endParaRPr>
            </a:p>
          </p:txBody>
        </p:sp>
        <p:sp>
          <p:nvSpPr>
            <p:cNvPr id="14" name="椭圆 13"/>
            <p:cNvSpPr/>
            <p:nvPr/>
          </p:nvSpPr>
          <p:spPr>
            <a:xfrm>
              <a:off x="12330" y="2282"/>
              <a:ext cx="4662" cy="4600"/>
            </a:xfrm>
            <a:prstGeom prst="ellipse">
              <a:avLst/>
            </a:prstGeom>
            <a:noFill/>
            <a:ln>
              <a:solidFill>
                <a:srgbClr val="2C3173">
                  <a:alpha val="32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1459B"/>
                </a:solidFill>
              </a:endParaRPr>
            </a:p>
          </p:txBody>
        </p:sp>
        <p:grpSp>
          <p:nvGrpSpPr>
            <p:cNvPr id="51" name="组合 50"/>
            <p:cNvGrpSpPr/>
            <p:nvPr/>
          </p:nvGrpSpPr>
          <p:grpSpPr>
            <a:xfrm>
              <a:off x="16992" y="9260"/>
              <a:ext cx="923" cy="386"/>
              <a:chOff x="8225" y="1632"/>
              <a:chExt cx="923" cy="386"/>
            </a:xfrm>
            <a:solidFill>
              <a:srgbClr val="ED7D31"/>
            </a:solidFill>
          </p:grpSpPr>
          <p:grpSp>
            <p:nvGrpSpPr>
              <p:cNvPr id="52" name="组合 51"/>
              <p:cNvGrpSpPr/>
              <p:nvPr/>
            </p:nvGrpSpPr>
            <p:grpSpPr>
              <a:xfrm>
                <a:off x="8225" y="1632"/>
                <a:ext cx="416" cy="387"/>
                <a:chOff x="4218240" y="1782762"/>
                <a:chExt cx="525790" cy="489777"/>
              </a:xfrm>
              <a:grpFill/>
            </p:grpSpPr>
            <p:sp>
              <p:nvSpPr>
                <p:cNvPr id="53" name="椭圆 52"/>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2" name="组合 61"/>
              <p:cNvGrpSpPr/>
              <p:nvPr/>
            </p:nvGrpSpPr>
            <p:grpSpPr>
              <a:xfrm>
                <a:off x="8732" y="1632"/>
                <a:ext cx="416" cy="387"/>
                <a:chOff x="4218240" y="1782762"/>
                <a:chExt cx="525790" cy="489777"/>
              </a:xfrm>
              <a:grpFill/>
            </p:grpSpPr>
            <p:sp>
              <p:nvSpPr>
                <p:cNvPr id="63" name="椭圆 62"/>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pic>
        <p:nvPicPr>
          <p:cNvPr id="17" name="图片 16"/>
          <p:cNvPicPr>
            <a:picLocks noChangeAspect="1"/>
          </p:cNvPicPr>
          <p:nvPr/>
        </p:nvPicPr>
        <p:blipFill>
          <a:blip r:embed="rId1"/>
          <a:stretch>
            <a:fillRect/>
          </a:stretch>
        </p:blipFill>
        <p:spPr>
          <a:xfrm>
            <a:off x="5083810" y="5756275"/>
            <a:ext cx="7391400" cy="1781175"/>
          </a:xfrm>
          <a:prstGeom prst="rect">
            <a:avLst/>
          </a:prstGeom>
        </p:spPr>
      </p:pic>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PA-文本框 88"/>
          <p:cNvSpPr txBox="1"/>
          <p:nvPr>
            <p:custDataLst>
              <p:tags r:id="rId2"/>
            </p:custDataLst>
          </p:nvPr>
        </p:nvSpPr>
        <p:spPr>
          <a:xfrm>
            <a:off x="5602605" y="2630170"/>
            <a:ext cx="5172075" cy="830580"/>
          </a:xfrm>
          <a:prstGeom prst="rect">
            <a:avLst/>
          </a:prstGeom>
          <a:noFill/>
        </p:spPr>
        <p:txBody>
          <a:bodyPr wrap="square" lIns="0" tIns="0" rIns="0" bIns="0" rtlCol="0">
            <a:spAutoFit/>
          </a:bodyPr>
          <a:lstStyle/>
          <a:p>
            <a:pPr marL="0" marR="0" lvl="0" indent="0" algn="r" defTabSz="914400" rtl="0" eaLnBrk="1" fontAlgn="auto" latinLnBrk="0" hangingPunct="0">
              <a:lnSpc>
                <a:spcPct val="150000"/>
              </a:lnSpc>
              <a:spcBef>
                <a:spcPts val="0"/>
              </a:spcBef>
              <a:spcAft>
                <a:spcPts val="0"/>
              </a:spcAft>
              <a:buClrTx/>
              <a:buSzTx/>
              <a:buFontTx/>
              <a:buNone/>
              <a:defRPr/>
            </a:pPr>
            <a:r>
              <a:rPr kumimoji="0" lang="en-US" altLang="zh-CN" sz="3600" b="0" i="0" u="none" strike="noStrike" kern="1200" cap="none" spc="0" normalizeH="0" baseline="0" noProof="0" dirty="0" err="1">
                <a:ln>
                  <a:noFill/>
                </a:ln>
                <a:effectLst/>
                <a:uLnTx/>
                <a:uFillTx/>
                <a:latin typeface="黑体" panose="02010609060101010101" charset="-122"/>
                <a:ea typeface="黑体" panose="02010609060101010101" charset="-122"/>
                <a:cs typeface="+mn-ea"/>
                <a:sym typeface="+mn-lt"/>
              </a:rPr>
              <a:t>JavaSE </a:t>
            </a:r>
            <a:r>
              <a:rPr kumimoji="0" lang="zh-CN" altLang="en-US" sz="3600" b="0" i="0" u="none" strike="noStrike" kern="1200" cap="none" spc="0" normalizeH="0" baseline="0" noProof="0" dirty="0" err="1">
                <a:ln>
                  <a:noFill/>
                </a:ln>
                <a:effectLst/>
                <a:uLnTx/>
                <a:uFillTx/>
                <a:latin typeface="黑体" panose="02010609060101010101" charset="-122"/>
                <a:ea typeface="黑体" panose="02010609060101010101" charset="-122"/>
                <a:cs typeface="+mn-ea"/>
                <a:sym typeface="+mn-lt"/>
              </a:rPr>
              <a:t>进</a:t>
            </a:r>
            <a:r>
              <a:rPr kumimoji="0" lang="en-US" altLang="zh-CN" sz="3600" b="0" i="0" u="none" strike="noStrike" kern="1200" cap="none" spc="0" normalizeH="0" baseline="0" noProof="0" dirty="0" err="1">
                <a:ln>
                  <a:noFill/>
                </a:ln>
                <a:effectLst/>
                <a:uLnTx/>
                <a:uFillTx/>
                <a:latin typeface="黑体" panose="02010609060101010101" charset="-122"/>
                <a:ea typeface="黑体" panose="02010609060101010101" charset="-122"/>
                <a:cs typeface="+mn-ea"/>
                <a:sym typeface="+mn-lt"/>
              </a:rPr>
              <a:t> </a:t>
            </a:r>
            <a:r>
              <a:rPr kumimoji="0" lang="zh-CN" altLang="en-US" sz="3600" b="0" i="0" u="none" strike="noStrike" kern="1200" cap="none" spc="0" normalizeH="0" baseline="0" noProof="0" dirty="0" err="1">
                <a:ln>
                  <a:noFill/>
                </a:ln>
                <a:effectLst/>
                <a:uLnTx/>
                <a:uFillTx/>
                <a:latin typeface="黑体" panose="02010609060101010101" charset="-122"/>
                <a:ea typeface="黑体" panose="02010609060101010101" charset="-122"/>
                <a:cs typeface="+mn-ea"/>
                <a:sym typeface="+mn-lt"/>
              </a:rPr>
              <a:t>阶</a:t>
            </a:r>
            <a:r>
              <a:rPr kumimoji="0" lang="en-US" altLang="zh-CN" sz="3600" b="0" i="0" u="none" strike="noStrike" kern="1200" cap="none" spc="0" normalizeH="0" baseline="0" noProof="0" dirty="0" err="1">
                <a:ln>
                  <a:noFill/>
                </a:ln>
                <a:effectLst/>
                <a:uLnTx/>
                <a:uFillTx/>
                <a:latin typeface="黑体" panose="02010609060101010101" charset="-122"/>
                <a:ea typeface="黑体" panose="02010609060101010101" charset="-122"/>
                <a:cs typeface="+mn-ea"/>
                <a:sym typeface="+mn-lt"/>
              </a:rPr>
              <a:t> </a:t>
            </a:r>
            <a:r>
              <a:rPr kumimoji="0" lang="zh-CN" altLang="en-US" sz="3600" b="0" i="0" u="none" strike="noStrike" kern="1200" cap="none" spc="0" normalizeH="0" baseline="0" noProof="0" dirty="0" err="1">
                <a:ln>
                  <a:noFill/>
                </a:ln>
                <a:effectLst/>
                <a:uLnTx/>
                <a:uFillTx/>
                <a:latin typeface="黑体" panose="02010609060101010101" charset="-122"/>
                <a:ea typeface="黑体" panose="02010609060101010101" charset="-122"/>
                <a:cs typeface="+mn-ea"/>
                <a:sym typeface="+mn-lt"/>
              </a:rPr>
              <a:t>课</a:t>
            </a:r>
            <a:r>
              <a:rPr kumimoji="0" lang="en-US" altLang="zh-CN" sz="3600" b="0" i="0" u="none" strike="noStrike" kern="1200" cap="none" spc="0" normalizeH="0" baseline="0" noProof="0" dirty="0" err="1">
                <a:ln>
                  <a:noFill/>
                </a:ln>
                <a:effectLst/>
                <a:uLnTx/>
                <a:uFillTx/>
                <a:latin typeface="黑体" panose="02010609060101010101" charset="-122"/>
                <a:ea typeface="黑体" panose="02010609060101010101" charset="-122"/>
                <a:cs typeface="+mn-ea"/>
                <a:sym typeface="+mn-lt"/>
              </a:rPr>
              <a:t> </a:t>
            </a:r>
            <a:r>
              <a:rPr kumimoji="0" lang="zh-CN" altLang="en-US" sz="3600" b="0" i="0" u="none" strike="noStrike" kern="1200" cap="none" spc="0" normalizeH="0" baseline="0" noProof="0" dirty="0" err="1">
                <a:ln>
                  <a:noFill/>
                </a:ln>
                <a:effectLst/>
                <a:uLnTx/>
                <a:uFillTx/>
                <a:latin typeface="黑体" panose="02010609060101010101" charset="-122"/>
                <a:ea typeface="黑体" panose="02010609060101010101" charset="-122"/>
                <a:cs typeface="+mn-ea"/>
                <a:sym typeface="+mn-lt"/>
              </a:rPr>
              <a:t>程</a:t>
            </a:r>
            <a:endParaRPr kumimoji="0" lang="zh-CN" altLang="en-US" sz="3600" b="0" i="0" u="none" strike="noStrike" kern="1200" cap="none" spc="0" normalizeH="0" baseline="0" noProof="0" dirty="0" err="1">
              <a:ln>
                <a:noFill/>
              </a:ln>
              <a:effectLst/>
              <a:uLnTx/>
              <a:uFillTx/>
              <a:latin typeface="黑体" panose="02010609060101010101" charset="-122"/>
              <a:ea typeface="黑体" panose="02010609060101010101" charset="-122"/>
              <a:cs typeface="+mn-ea"/>
              <a:sym typeface="+mn-lt"/>
            </a:endParaRPr>
          </a:p>
        </p:txBody>
      </p: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pic>
        <p:nvPicPr>
          <p:cNvPr id="16" name="图片 15"/>
          <p:cNvPicPr>
            <a:picLocks noChangeAspect="1"/>
          </p:cNvPicPr>
          <p:nvPr>
            <p:custDataLst>
              <p:tags r:id="rId3"/>
            </p:custDataLst>
          </p:nvPr>
        </p:nvPicPr>
        <p:blipFill>
          <a:blip r:embed="rId4"/>
          <a:stretch>
            <a:fillRect/>
          </a:stretch>
        </p:blipFill>
        <p:spPr>
          <a:xfrm>
            <a:off x="1883410" y="2059305"/>
            <a:ext cx="1823720" cy="1708150"/>
          </a:xfrm>
          <a:prstGeom prst="rect">
            <a:avLst/>
          </a:prstGeom>
        </p:spPr>
      </p:pic>
      <p:pic>
        <p:nvPicPr>
          <p:cNvPr id="3" name="图片 2" descr="5d0495981e06a4beefc1a7ac3c41024d"/>
          <p:cNvPicPr>
            <a:picLocks noChangeAspect="1"/>
          </p:cNvPicPr>
          <p:nvPr>
            <p:custDataLst>
              <p:tags r:id="rId5"/>
            </p:custDataLst>
          </p:nvPr>
        </p:nvPicPr>
        <p:blipFill>
          <a:blip r:embed="rId6"/>
          <a:srcRect l="30319"/>
          <a:stretch>
            <a:fillRect/>
          </a:stretch>
        </p:blipFill>
        <p:spPr>
          <a:xfrm>
            <a:off x="8416925" y="0"/>
            <a:ext cx="5876925" cy="1679575"/>
          </a:xfrm>
          <a:prstGeom prst="rect">
            <a:avLst/>
          </a:prstGeom>
        </p:spPr>
      </p:pic>
      <p:grpSp>
        <p:nvGrpSpPr>
          <p:cNvPr id="43" name="组合 42"/>
          <p:cNvGrpSpPr/>
          <p:nvPr/>
        </p:nvGrpSpPr>
        <p:grpSpPr>
          <a:xfrm>
            <a:off x="9162793" y="4072729"/>
            <a:ext cx="482600" cy="145415"/>
            <a:chOff x="1339" y="8078"/>
            <a:chExt cx="760" cy="229"/>
          </a:xfrm>
        </p:grpSpPr>
        <p:sp>
          <p:nvSpPr>
            <p:cNvPr id="44" name="椭圆 43"/>
            <p:cNvSpPr/>
            <p:nvPr>
              <p:custDataLst>
                <p:tags r:id="rId7"/>
              </p:custDataLst>
            </p:nvPr>
          </p:nvSpPr>
          <p:spPr>
            <a:xfrm rot="16200000">
              <a:off x="1339" y="8127"/>
              <a:ext cx="140" cy="140"/>
            </a:xfrm>
            <a:prstGeom prst="ellipse">
              <a:avLst/>
            </a:prstGeom>
            <a:solidFill>
              <a:srgbClr val="00256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sp>
          <p:nvSpPr>
            <p:cNvPr id="45" name="椭圆 44"/>
            <p:cNvSpPr/>
            <p:nvPr>
              <p:custDataLst>
                <p:tags r:id="rId8"/>
              </p:custDataLst>
            </p:nvPr>
          </p:nvSpPr>
          <p:spPr>
            <a:xfrm rot="16200000">
              <a:off x="1959" y="8127"/>
              <a:ext cx="140" cy="140"/>
            </a:xfrm>
            <a:prstGeom prst="ellipse">
              <a:avLst/>
            </a:prstGeom>
            <a:solidFill>
              <a:srgbClr val="00256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sp>
          <p:nvSpPr>
            <p:cNvPr id="46" name="椭圆 45"/>
            <p:cNvSpPr/>
            <p:nvPr>
              <p:custDataLst>
                <p:tags r:id="rId9"/>
              </p:custDataLst>
            </p:nvPr>
          </p:nvSpPr>
          <p:spPr>
            <a:xfrm rot="16200000">
              <a:off x="1609" y="8078"/>
              <a:ext cx="229" cy="229"/>
            </a:xfrm>
            <a:prstGeom prst="ellipse">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grpSp>
      <p:sp>
        <p:nvSpPr>
          <p:cNvPr id="2" name="文本框 1"/>
          <p:cNvSpPr txBox="1"/>
          <p:nvPr/>
        </p:nvSpPr>
        <p:spPr>
          <a:xfrm>
            <a:off x="9862185" y="5688965"/>
            <a:ext cx="4064000" cy="368300"/>
          </a:xfrm>
          <a:prstGeom prst="rect">
            <a:avLst/>
          </a:prstGeom>
          <a:noFill/>
        </p:spPr>
        <p:txBody>
          <a:bodyPr wrap="square" rtlCol="0">
            <a:spAutoFit/>
          </a:bodyPr>
          <a:p>
            <a:r>
              <a:rPr lang="zh-CN" altLang="en-US">
                <a:solidFill>
                  <a:schemeClr val="bg1">
                    <a:lumMod val="75000"/>
                  </a:schemeClr>
                </a:solidFill>
              </a:rPr>
              <a:t>讲师</a:t>
            </a:r>
            <a:r>
              <a:rPr lang="en-US" altLang="zh-CN">
                <a:solidFill>
                  <a:schemeClr val="bg1">
                    <a:lumMod val="75000"/>
                  </a:schemeClr>
                </a:solidFill>
              </a:rPr>
              <a:t>-</a:t>
            </a:r>
            <a:r>
              <a:rPr lang="zh-CN" altLang="en-US">
                <a:solidFill>
                  <a:schemeClr val="bg1">
                    <a:lumMod val="75000"/>
                  </a:schemeClr>
                </a:solidFill>
              </a:rPr>
              <a:t>羽飞扬</a:t>
            </a:r>
            <a:endParaRPr lang="zh-CN" altLang="en-US">
              <a:solidFill>
                <a:schemeClr val="bg1">
                  <a:lumMod val="75000"/>
                </a:schemeClr>
              </a:solidFill>
            </a:endParaRPr>
          </a:p>
        </p:txBody>
      </p:sp>
      <p:sp>
        <p:nvSpPr>
          <p:cNvPr id="18" name="图形"/>
          <p:cNvSpPr/>
          <p:nvPr/>
        </p:nvSpPr>
        <p:spPr>
          <a:xfrm>
            <a:off x="10619740" y="4664205"/>
            <a:ext cx="311948" cy="311948"/>
          </a:xfrm>
          <a:prstGeom prst="rect">
            <a:avLst/>
          </a:prstGeom>
          <a:solidFill>
            <a:srgbClr val="012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黑体 CN Light" panose="020B0300000000000000" pitchFamily="34" charset="-122"/>
            </a:endParaRPr>
          </a:p>
        </p:txBody>
      </p:sp>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flipH="1">
            <a:off x="10724254" y="481938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ustDataLst>
      <p:tags r:id="rId10"/>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grpSp>
        <p:nvGrpSpPr>
          <p:cNvPr id="63" name="组合 62"/>
          <p:cNvGrpSpPr/>
          <p:nvPr>
            <p:custDataLst>
              <p:tags r:id="rId1"/>
            </p:custDataLst>
          </p:nvPr>
        </p:nvGrpSpPr>
        <p:grpSpPr>
          <a:xfrm>
            <a:off x="976125" y="2537605"/>
            <a:ext cx="10108667" cy="3155928"/>
            <a:chOff x="1037721" y="2414315"/>
            <a:chExt cx="10108667" cy="3155928"/>
          </a:xfrm>
        </p:grpSpPr>
        <p:cxnSp>
          <p:nvCxnSpPr>
            <p:cNvPr id="4" name="直接连接符 3"/>
            <p:cNvCxnSpPr/>
            <p:nvPr>
              <p:custDataLst>
                <p:tags r:id="rId2"/>
              </p:custDataLst>
            </p:nvPr>
          </p:nvCxnSpPr>
          <p:spPr>
            <a:xfrm>
              <a:off x="9042935"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custDataLst>
                <p:tags r:id="rId3"/>
              </p:custDataLst>
            </p:nvPr>
          </p:nvCxnSpPr>
          <p:spPr>
            <a:xfrm>
              <a:off x="6092053"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3141171"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í$ļíḋê"/>
            <p:cNvSpPr/>
            <p:nvPr>
              <p:custDataLst>
                <p:tags r:id="rId5"/>
              </p:custDataLst>
            </p:nvPr>
          </p:nvSpPr>
          <p:spPr bwMode="auto">
            <a:xfrm rot="5400000">
              <a:off x="1642872" y="3566356"/>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3" name="í$ļîdè"/>
            <p:cNvSpPr/>
            <p:nvPr>
              <p:custDataLst>
                <p:tags r:id="rId6"/>
              </p:custDataLst>
            </p:nvPr>
          </p:nvSpPr>
          <p:spPr bwMode="auto">
            <a:xfrm rot="5400000">
              <a:off x="4593754" y="3552984"/>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5" name="ïṥliḋè"/>
            <p:cNvSpPr/>
            <p:nvPr>
              <p:custDataLst>
                <p:tags r:id="rId7"/>
              </p:custDataLst>
            </p:nvPr>
          </p:nvSpPr>
          <p:spPr bwMode="auto">
            <a:xfrm rot="5400000">
              <a:off x="7544636" y="3566357"/>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7" name="iṩḻîḓé"/>
            <p:cNvSpPr/>
            <p:nvPr>
              <p:custDataLst>
                <p:tags r:id="rId8"/>
              </p:custDataLst>
            </p:nvPr>
          </p:nvSpPr>
          <p:spPr bwMode="auto">
            <a:xfrm rot="5400000">
              <a:off x="10495520" y="3551413"/>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grpSp>
      <p:sp>
        <p:nvSpPr>
          <p:cNvPr id="38" name="矩形 37"/>
          <p:cNvSpPr/>
          <p:nvPr>
            <p:custDataLst>
              <p:tags r:id="rId9"/>
            </p:custDataLst>
          </p:nvPr>
        </p:nvSpPr>
        <p:spPr>
          <a:xfrm>
            <a:off x="234315" y="4769485"/>
            <a:ext cx="292798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sz="2400" dirty="0" smtClean="0">
                <a:solidFill>
                  <a:srgbClr val="000000"/>
                </a:solidFill>
                <a:ea typeface="宋体" panose="02010600030101010101" pitchFamily="2" charset="-122"/>
                <a:sym typeface="+mn-ea"/>
              </a:rPr>
              <a:t>数组与</a:t>
            </a:r>
            <a:r>
              <a:rPr lang="zh-CN" sz="2400" dirty="0" smtClean="0">
                <a:solidFill>
                  <a:srgbClr val="000000"/>
                </a:solidFill>
                <a:ea typeface="宋体" panose="02010600030101010101" pitchFamily="2" charset="-122"/>
                <a:sym typeface="+mn-ea"/>
              </a:rPr>
              <a:t>枚举</a:t>
            </a:r>
            <a:endParaRPr kumimoji="0" lang="zh-CN"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2" name="文本框 41"/>
          <p:cNvSpPr txBox="1"/>
          <p:nvPr>
            <p:custDataLst>
              <p:tags r:id="rId10"/>
            </p:custDataLst>
          </p:nvPr>
        </p:nvSpPr>
        <p:spPr>
          <a:xfrm>
            <a:off x="767715" y="5229726"/>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67" name="矩形 66"/>
          <p:cNvSpPr/>
          <p:nvPr>
            <p:custDataLst>
              <p:tags r:id="rId11"/>
            </p:custDataLst>
          </p:nvPr>
        </p:nvSpPr>
        <p:spPr>
          <a:xfrm>
            <a:off x="3079750" y="4763770"/>
            <a:ext cx="295084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rgbClr val="000000"/>
                </a:solidFill>
                <a:ea typeface="宋体" panose="02010600030101010101" pitchFamily="2" charset="-122"/>
                <a:sym typeface="+mn-ea"/>
              </a:rPr>
              <a:t>异</a:t>
            </a:r>
            <a:r>
              <a:rPr lang="en-US" altLang="zh-CN" sz="2400" dirty="0" smtClean="0">
                <a:solidFill>
                  <a:srgbClr val="000000"/>
                </a:solidFill>
                <a:ea typeface="宋体" panose="02010600030101010101" pitchFamily="2" charset="-122"/>
                <a:sym typeface="+mn-ea"/>
              </a:rPr>
              <a:t>	</a:t>
            </a:r>
            <a:r>
              <a:rPr lang="zh-CN" altLang="en-US" sz="2400" dirty="0" smtClean="0">
                <a:solidFill>
                  <a:srgbClr val="000000"/>
                </a:solidFill>
                <a:ea typeface="宋体" panose="02010600030101010101" pitchFamily="2" charset="-122"/>
                <a:sym typeface="+mn-ea"/>
              </a:rPr>
              <a:t>常</a:t>
            </a:r>
            <a:endParaRPr kumimoji="0" lang="zh-CN"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0" name="文本框 69"/>
          <p:cNvSpPr txBox="1"/>
          <p:nvPr>
            <p:custDataLst>
              <p:tags r:id="rId12"/>
            </p:custDataLst>
          </p:nvPr>
        </p:nvSpPr>
        <p:spPr>
          <a:xfrm>
            <a:off x="3694854" y="5223877"/>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73" name="矩形 72"/>
          <p:cNvSpPr/>
          <p:nvPr>
            <p:custDataLst>
              <p:tags r:id="rId13"/>
            </p:custDataLst>
          </p:nvPr>
        </p:nvSpPr>
        <p:spPr>
          <a:xfrm>
            <a:off x="6031230" y="4763770"/>
            <a:ext cx="309816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rgbClr val="000000"/>
                </a:solidFill>
                <a:ea typeface="宋体" panose="02010600030101010101" pitchFamily="2" charset="-122"/>
                <a:sym typeface="+mn-ea"/>
              </a:rPr>
              <a:t>使用基础</a:t>
            </a:r>
            <a:r>
              <a:rPr lang="en-US" altLang="zh-CN" sz="2400" dirty="0" smtClean="0">
                <a:solidFill>
                  <a:srgbClr val="000000"/>
                </a:solidFill>
                <a:ea typeface="宋体" panose="02010600030101010101" pitchFamily="2" charset="-122"/>
                <a:sym typeface="+mn-ea"/>
              </a:rPr>
              <a:t>API</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4" name="矩形 73"/>
          <p:cNvSpPr/>
          <p:nvPr>
            <p:custDataLst>
              <p:tags r:id="rId14"/>
            </p:custDataLst>
          </p:nvPr>
        </p:nvSpPr>
        <p:spPr>
          <a:xfrm>
            <a:off x="8981440" y="4802505"/>
            <a:ext cx="291973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sz="2400" dirty="0" smtClean="0">
                <a:solidFill>
                  <a:srgbClr val="000000"/>
                </a:solidFill>
                <a:ea typeface="宋体" panose="02010600030101010101" pitchFamily="2" charset="-122"/>
                <a:sym typeface="+mn-ea"/>
              </a:rPr>
              <a:t>集合与泛型</a:t>
            </a:r>
            <a:endParaRPr kumimoji="0" lang="en-US" altLang="zh-CN" sz="2400" b="0" i="0" u="none" strike="noStrike" kern="1200" cap="none" spc="0" normalizeH="0" baseline="0" noProof="0" dirty="0" smtClean="0">
              <a:ln>
                <a:noFill/>
              </a:ln>
              <a:solidFill>
                <a:srgbClr val="000000"/>
              </a:solidFill>
              <a:effectLst/>
              <a:uLnTx/>
              <a:uFillTx/>
              <a:latin typeface="思源黑体 CN Bold" panose="020B0800000000000000" pitchFamily="34" charset="-122"/>
              <a:ea typeface="宋体" panose="02010600030101010101" pitchFamily="2" charset="-122"/>
              <a:sym typeface="+mn-ea"/>
            </a:endParaRPr>
          </a:p>
        </p:txBody>
      </p:sp>
      <p:sp>
        <p:nvSpPr>
          <p:cNvPr id="75" name="文本框 74"/>
          <p:cNvSpPr txBox="1"/>
          <p:nvPr>
            <p:custDataLst>
              <p:tags r:id="rId15"/>
            </p:custDataLst>
          </p:nvPr>
        </p:nvSpPr>
        <p:spPr>
          <a:xfrm>
            <a:off x="6660544" y="5223877"/>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76" name="文本框 75"/>
          <p:cNvSpPr txBox="1"/>
          <p:nvPr>
            <p:custDataLst>
              <p:tags r:id="rId16"/>
            </p:custDataLst>
          </p:nvPr>
        </p:nvSpPr>
        <p:spPr>
          <a:xfrm>
            <a:off x="9550254" y="5262979"/>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77" name="矩形 76"/>
          <p:cNvSpPr/>
          <p:nvPr/>
        </p:nvSpPr>
        <p:spPr>
          <a:xfrm>
            <a:off x="4562112" y="934197"/>
            <a:ext cx="1888642" cy="1015663"/>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目录</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8" name="文本框 77"/>
          <p:cNvSpPr txBox="1"/>
          <p:nvPr/>
        </p:nvSpPr>
        <p:spPr>
          <a:xfrm>
            <a:off x="6546191" y="1149303"/>
            <a:ext cx="2435347" cy="584775"/>
          </a:xfrm>
          <a:prstGeom prst="rect">
            <a:avLst/>
          </a:prstGeom>
          <a:noFill/>
          <a:ln>
            <a:noFill/>
          </a:ln>
          <a:effectLst/>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noProof="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CONTENTS</a:t>
            </a:r>
            <a:endParaRPr kumimoji="0" lang="en-US" altLang="zh-CN" sz="3200" b="1" i="0" u="none" strike="noStrike" kern="1200" cap="none" spc="0" normalizeH="0" noProof="0" dirty="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8" name="矩形 47"/>
          <p:cNvSpPr/>
          <p:nvPr>
            <p:custDataLst>
              <p:tags r:id="rId17"/>
            </p:custDataLst>
          </p:nvPr>
        </p:nvSpPr>
        <p:spPr>
          <a:xfrm>
            <a:off x="954799" y="2985340"/>
            <a:ext cx="1299736" cy="104644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9" name="矩形 48"/>
          <p:cNvSpPr/>
          <p:nvPr>
            <p:custDataLst>
              <p:tags r:id="rId18"/>
            </p:custDataLst>
          </p:nvPr>
        </p:nvSpPr>
        <p:spPr>
          <a:xfrm>
            <a:off x="3887918" y="2983717"/>
            <a:ext cx="1299736" cy="104644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0" name="矩形 49"/>
          <p:cNvSpPr/>
          <p:nvPr>
            <p:custDataLst>
              <p:tags r:id="rId19"/>
            </p:custDataLst>
          </p:nvPr>
        </p:nvSpPr>
        <p:spPr>
          <a:xfrm>
            <a:off x="6851938" y="3019115"/>
            <a:ext cx="1299736" cy="104644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1" name="矩形 50"/>
          <p:cNvSpPr/>
          <p:nvPr>
            <p:custDataLst>
              <p:tags r:id="rId20"/>
            </p:custDataLst>
          </p:nvPr>
        </p:nvSpPr>
        <p:spPr>
          <a:xfrm>
            <a:off x="9785057" y="3017492"/>
            <a:ext cx="1299736" cy="104644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6" name="图片 5" descr="5d0495981e06a4beefc1a7ac3c41024d"/>
          <p:cNvPicPr>
            <a:picLocks noChangeAspect="1"/>
          </p:cNvPicPr>
          <p:nvPr>
            <p:custDataLst>
              <p:tags r:id="rId21"/>
            </p:custDataLst>
          </p:nvPr>
        </p:nvPicPr>
        <p:blipFill>
          <a:blip r:embed="rId2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23"/>
            </p:custDataLst>
          </p:nvPr>
        </p:nvPicPr>
        <p:blipFill>
          <a:blip r:embed="rId22"/>
          <a:srcRect l="30697"/>
          <a:stretch>
            <a:fillRect/>
          </a:stretch>
        </p:blipFill>
        <p:spPr>
          <a:xfrm>
            <a:off x="8673465" y="-348615"/>
            <a:ext cx="5215255" cy="1497965"/>
          </a:xfrm>
          <a:prstGeom prst="rect">
            <a:avLst/>
          </a:prstGeom>
        </p:spPr>
      </p:pic>
      <p:sp>
        <p:nvSpPr>
          <p:cNvPr id="24" name="直角三角形 23"/>
          <p:cNvSpPr/>
          <p:nvPr>
            <p:custDataLst>
              <p:tags r:id="rId2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2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38" grpId="0"/>
      <p:bldP spid="38" grpId="1"/>
      <p:bldP spid="42" grpId="0"/>
      <p:bldP spid="67" grpId="0"/>
      <p:bldP spid="67" grpId="1"/>
      <p:bldP spid="70" grpId="0"/>
      <p:bldP spid="73" grpId="0"/>
      <p:bldP spid="73" grpId="1"/>
      <p:bldP spid="74" grpId="0"/>
      <p:bldP spid="74" grpId="1"/>
      <p:bldP spid="75" grpId="0"/>
      <p:bldP spid="76" grpId="0"/>
      <p:bldP spid="77" grpId="0"/>
      <p:bldP spid="77" grpId="1" bldLvl="0" animBg="1"/>
      <p:bldP spid="78" grpId="0"/>
      <p:bldP spid="78" grpId="1" bldLvl="0" animBg="1"/>
      <p:bldP spid="48" grpId="0"/>
      <p:bldP spid="48" grpId="1" bldLvl="0" animBg="1"/>
      <p:bldP spid="49" grpId="0"/>
      <p:bldP spid="49" grpId="1" bldLvl="0" animBg="1"/>
      <p:bldP spid="50" grpId="0"/>
      <p:bldP spid="50" grpId="1" bldLvl="0" animBg="1"/>
      <p:bldP spid="51" grpId="0"/>
      <p:bldP spid="51" grpId="1"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grpSp>
        <p:nvGrpSpPr>
          <p:cNvPr id="63" name="组合 62"/>
          <p:cNvGrpSpPr/>
          <p:nvPr>
            <p:custDataLst>
              <p:tags r:id="rId1"/>
            </p:custDataLst>
          </p:nvPr>
        </p:nvGrpSpPr>
        <p:grpSpPr>
          <a:xfrm>
            <a:off x="976125" y="2537605"/>
            <a:ext cx="10108667" cy="3155928"/>
            <a:chOff x="1037721" y="2414315"/>
            <a:chExt cx="10108667" cy="3155928"/>
          </a:xfrm>
        </p:grpSpPr>
        <p:cxnSp>
          <p:nvCxnSpPr>
            <p:cNvPr id="4" name="直接连接符 3"/>
            <p:cNvCxnSpPr/>
            <p:nvPr>
              <p:custDataLst>
                <p:tags r:id="rId2"/>
              </p:custDataLst>
            </p:nvPr>
          </p:nvCxnSpPr>
          <p:spPr>
            <a:xfrm>
              <a:off x="9042935"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custDataLst>
                <p:tags r:id="rId3"/>
              </p:custDataLst>
            </p:nvPr>
          </p:nvCxnSpPr>
          <p:spPr>
            <a:xfrm>
              <a:off x="6092053"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3141171"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í$ļíḋê"/>
            <p:cNvSpPr/>
            <p:nvPr>
              <p:custDataLst>
                <p:tags r:id="rId5"/>
              </p:custDataLst>
            </p:nvPr>
          </p:nvSpPr>
          <p:spPr bwMode="auto">
            <a:xfrm rot="5400000">
              <a:off x="1642872" y="3566356"/>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3" name="í$ļîdè"/>
            <p:cNvSpPr/>
            <p:nvPr>
              <p:custDataLst>
                <p:tags r:id="rId6"/>
              </p:custDataLst>
            </p:nvPr>
          </p:nvSpPr>
          <p:spPr bwMode="auto">
            <a:xfrm rot="5400000">
              <a:off x="4593754" y="3552984"/>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5" name="ïṥliḋè"/>
            <p:cNvSpPr/>
            <p:nvPr>
              <p:custDataLst>
                <p:tags r:id="rId7"/>
              </p:custDataLst>
            </p:nvPr>
          </p:nvSpPr>
          <p:spPr bwMode="auto">
            <a:xfrm rot="5400000">
              <a:off x="7544636" y="3566357"/>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7" name="iṩḻîḓé"/>
            <p:cNvSpPr/>
            <p:nvPr>
              <p:custDataLst>
                <p:tags r:id="rId8"/>
              </p:custDataLst>
            </p:nvPr>
          </p:nvSpPr>
          <p:spPr bwMode="auto">
            <a:xfrm rot="5400000">
              <a:off x="10495520" y="3551413"/>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grpSp>
      <p:sp>
        <p:nvSpPr>
          <p:cNvPr id="38" name="矩形 37"/>
          <p:cNvSpPr/>
          <p:nvPr>
            <p:custDataLst>
              <p:tags r:id="rId9"/>
            </p:custDataLst>
          </p:nvPr>
        </p:nvSpPr>
        <p:spPr>
          <a:xfrm>
            <a:off x="405765" y="4769485"/>
            <a:ext cx="232346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noProof="0" dirty="0" smtClean="0">
                <a:ln>
                  <a:noFill/>
                </a:ln>
                <a:solidFill>
                  <a:srgbClr val="000000"/>
                </a:solidFill>
                <a:effectLst/>
                <a:uLnTx/>
                <a:uFillTx/>
                <a:latin typeface="思源黑体 CN Bold" panose="020B0800000000000000" pitchFamily="34" charset="-122"/>
                <a:ea typeface="宋体" panose="02010600030101010101" pitchFamily="2" charset="-122"/>
                <a:sym typeface="+mn-ea"/>
              </a:rPr>
              <a:t>I/O</a:t>
            </a:r>
            <a:r>
              <a:rPr lang="zh-CN" altLang="en-US" sz="2400" noProof="0" dirty="0" smtClean="0">
                <a:ln>
                  <a:noFill/>
                </a:ln>
                <a:solidFill>
                  <a:srgbClr val="000000"/>
                </a:solidFill>
                <a:effectLst/>
                <a:uLnTx/>
                <a:uFillTx/>
                <a:latin typeface="思源黑体 CN Bold" panose="020B0800000000000000" pitchFamily="34" charset="-122"/>
                <a:ea typeface="宋体" panose="02010600030101010101" pitchFamily="2" charset="-122"/>
                <a:sym typeface="+mn-ea"/>
              </a:rPr>
              <a:t>数据访问</a:t>
            </a:r>
            <a:endParaRPr kumimoji="0" lang="zh-CN"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2" name="文本框 41"/>
          <p:cNvSpPr txBox="1"/>
          <p:nvPr>
            <p:custDataLst>
              <p:tags r:id="rId10"/>
            </p:custDataLst>
          </p:nvPr>
        </p:nvSpPr>
        <p:spPr>
          <a:xfrm>
            <a:off x="767715" y="5229726"/>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67" name="矩形 66"/>
          <p:cNvSpPr/>
          <p:nvPr>
            <p:custDataLst>
              <p:tags r:id="rId11"/>
            </p:custDataLst>
          </p:nvPr>
        </p:nvSpPr>
        <p:spPr>
          <a:xfrm>
            <a:off x="3316362" y="4763502"/>
            <a:ext cx="249110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rgbClr val="000000"/>
                </a:solidFill>
                <a:ea typeface="宋体" panose="02010600030101010101" pitchFamily="2" charset="-122"/>
                <a:sym typeface="+mn-ea"/>
              </a:rPr>
              <a:t>文件与控制台</a:t>
            </a:r>
            <a:endParaRPr kumimoji="0" lang="zh-CN" altLang="en-US" sz="2400" b="0" i="0" u="none" strike="noStrike" kern="1200" cap="none" spc="0" normalizeH="0" baseline="0" noProof="0" dirty="0" smtClean="0">
              <a:ln>
                <a:noFill/>
              </a:ln>
              <a:solidFill>
                <a:srgbClr val="000000"/>
              </a:solidFill>
              <a:effectLst/>
              <a:uLnTx/>
              <a:uFillTx/>
              <a:latin typeface="思源黑体 CN Bold" panose="020B0800000000000000" pitchFamily="34" charset="-122"/>
              <a:ea typeface="宋体" panose="02010600030101010101" pitchFamily="2" charset="-122"/>
              <a:sym typeface="+mn-ea"/>
            </a:endParaRPr>
          </a:p>
        </p:txBody>
      </p:sp>
      <p:sp>
        <p:nvSpPr>
          <p:cNvPr id="70" name="文本框 69"/>
          <p:cNvSpPr txBox="1"/>
          <p:nvPr>
            <p:custDataLst>
              <p:tags r:id="rId12"/>
            </p:custDataLst>
          </p:nvPr>
        </p:nvSpPr>
        <p:spPr>
          <a:xfrm>
            <a:off x="3694854" y="5223877"/>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73" name="矩形 72"/>
          <p:cNvSpPr/>
          <p:nvPr>
            <p:custDataLst>
              <p:tags r:id="rId13"/>
            </p:custDataLst>
          </p:nvPr>
        </p:nvSpPr>
        <p:spPr>
          <a:xfrm>
            <a:off x="5949315" y="4763770"/>
            <a:ext cx="3131185" cy="460375"/>
          </a:xfrm>
          <a:prstGeom prst="rect">
            <a:avLst/>
          </a:prstGeom>
          <a:noFill/>
        </p:spPr>
        <p:txBody>
          <a:bodyPr wrap="square" rtlCol="0">
            <a:spAutoFit/>
          </a:bodyPr>
          <a:lstStyle/>
          <a:p>
            <a:pPr marL="0" marR="0" lvl="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rgbClr val="000000"/>
                </a:solidFill>
                <a:ea typeface="宋体" panose="02010600030101010101" pitchFamily="2" charset="-122"/>
                <a:sym typeface="思源黑体 CN Light" panose="020B0300000000000000" pitchFamily="34" charset="-122"/>
              </a:rPr>
              <a:t>创建和使用线程</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4" name="矩形 73"/>
          <p:cNvSpPr/>
          <p:nvPr>
            <p:custDataLst>
              <p:tags r:id="rId14"/>
            </p:custDataLst>
          </p:nvPr>
        </p:nvSpPr>
        <p:spPr>
          <a:xfrm>
            <a:off x="8980805" y="4716780"/>
            <a:ext cx="2779395" cy="460375"/>
          </a:xfrm>
          <a:prstGeom prst="rect">
            <a:avLst/>
          </a:prstGeom>
          <a:noFill/>
        </p:spPr>
        <p:txBody>
          <a:bodyPr wrap="square" rtlCol="0">
            <a:spAutoFit/>
          </a:bodyPr>
          <a:lstStyle/>
          <a:p>
            <a:pPr marL="0" marR="0" lvl="0" algn="ctr" defTabSz="914400" rtl="0" eaLnBrk="1" fontAlgn="auto" latinLnBrk="0" hangingPunct="1">
              <a:lnSpc>
                <a:spcPct val="100000"/>
              </a:lnSpc>
              <a:spcBef>
                <a:spcPts val="0"/>
              </a:spcBef>
              <a:spcAft>
                <a:spcPts val="0"/>
              </a:spcAft>
              <a:buClrTx/>
              <a:buSzTx/>
              <a:buFontTx/>
              <a:buNone/>
              <a:defRPr/>
            </a:pPr>
            <a:r>
              <a:rPr lang="en-US" altLang="zh-CN" sz="2400" dirty="0" smtClean="0">
                <a:solidFill>
                  <a:srgbClr val="000000"/>
                </a:solidFill>
                <a:ea typeface="宋体" panose="02010600030101010101" pitchFamily="2" charset="-122"/>
                <a:sym typeface="+mn-ea"/>
              </a:rPr>
              <a:t>--------</a:t>
            </a:r>
            <a:endParaRPr kumimoji="0" lang="en-US" altLang="zh-CN" sz="2400" b="0" i="0" u="none" strike="noStrike" kern="1200" cap="none" spc="0" normalizeH="0" baseline="0" dirty="0" smtClean="0">
              <a:solidFill>
                <a:srgbClr val="000000"/>
              </a:solidFill>
              <a:ea typeface="宋体" panose="02010600030101010101" pitchFamily="2" charset="-122"/>
              <a:sym typeface="+mn-ea"/>
            </a:endParaRPr>
          </a:p>
        </p:txBody>
      </p:sp>
      <p:sp>
        <p:nvSpPr>
          <p:cNvPr id="75" name="文本框 74"/>
          <p:cNvSpPr txBox="1"/>
          <p:nvPr>
            <p:custDataLst>
              <p:tags r:id="rId15"/>
            </p:custDataLst>
          </p:nvPr>
        </p:nvSpPr>
        <p:spPr>
          <a:xfrm>
            <a:off x="6660544" y="5223877"/>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76" name="文本框 75"/>
          <p:cNvSpPr txBox="1"/>
          <p:nvPr>
            <p:custDataLst>
              <p:tags r:id="rId16"/>
            </p:custDataLst>
          </p:nvPr>
        </p:nvSpPr>
        <p:spPr>
          <a:xfrm>
            <a:off x="9550254" y="5262979"/>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77" name="矩形 76"/>
          <p:cNvSpPr/>
          <p:nvPr/>
        </p:nvSpPr>
        <p:spPr>
          <a:xfrm>
            <a:off x="4562112" y="934197"/>
            <a:ext cx="1888642" cy="1015663"/>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目录</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8" name="文本框 77"/>
          <p:cNvSpPr txBox="1"/>
          <p:nvPr/>
        </p:nvSpPr>
        <p:spPr>
          <a:xfrm>
            <a:off x="6546191" y="1149303"/>
            <a:ext cx="2435347" cy="584775"/>
          </a:xfrm>
          <a:prstGeom prst="rect">
            <a:avLst/>
          </a:prstGeom>
          <a:noFill/>
          <a:ln>
            <a:noFill/>
          </a:ln>
          <a:effectLst/>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noProof="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CONTENTS</a:t>
            </a:r>
            <a:endParaRPr kumimoji="0" lang="en-US" altLang="zh-CN" sz="3200" b="1" i="0" u="none" strike="noStrike" kern="1200" cap="none" spc="0" normalizeH="0" noProof="0" dirty="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8" name="矩形 47"/>
          <p:cNvSpPr/>
          <p:nvPr>
            <p:custDataLst>
              <p:tags r:id="rId17"/>
            </p:custDataLst>
          </p:nvPr>
        </p:nvSpPr>
        <p:spPr>
          <a:xfrm>
            <a:off x="954799" y="2985340"/>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9" name="矩形 48"/>
          <p:cNvSpPr/>
          <p:nvPr>
            <p:custDataLst>
              <p:tags r:id="rId18"/>
            </p:custDataLst>
          </p:nvPr>
        </p:nvSpPr>
        <p:spPr>
          <a:xfrm>
            <a:off x="3887918" y="2983717"/>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0" name="矩形 49"/>
          <p:cNvSpPr/>
          <p:nvPr>
            <p:custDataLst>
              <p:tags r:id="rId19"/>
            </p:custDataLst>
          </p:nvPr>
        </p:nvSpPr>
        <p:spPr>
          <a:xfrm>
            <a:off x="6851938" y="3019115"/>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1" name="矩形 50"/>
          <p:cNvSpPr/>
          <p:nvPr>
            <p:custDataLst>
              <p:tags r:id="rId20"/>
            </p:custDataLst>
          </p:nvPr>
        </p:nvSpPr>
        <p:spPr>
          <a:xfrm>
            <a:off x="9785057" y="3017492"/>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6" name="图片 5" descr="5d0495981e06a4beefc1a7ac3c41024d"/>
          <p:cNvPicPr>
            <a:picLocks noChangeAspect="1"/>
          </p:cNvPicPr>
          <p:nvPr>
            <p:custDataLst>
              <p:tags r:id="rId21"/>
            </p:custDataLst>
          </p:nvPr>
        </p:nvPicPr>
        <p:blipFill>
          <a:blip r:embed="rId2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23"/>
            </p:custDataLst>
          </p:nvPr>
        </p:nvPicPr>
        <p:blipFill>
          <a:blip r:embed="rId22"/>
          <a:srcRect l="30697"/>
          <a:stretch>
            <a:fillRect/>
          </a:stretch>
        </p:blipFill>
        <p:spPr>
          <a:xfrm>
            <a:off x="8673465" y="-348615"/>
            <a:ext cx="5215255" cy="1497965"/>
          </a:xfrm>
          <a:prstGeom prst="rect">
            <a:avLst/>
          </a:prstGeom>
        </p:spPr>
      </p:pic>
      <p:sp>
        <p:nvSpPr>
          <p:cNvPr id="24" name="直角三角形 23"/>
          <p:cNvSpPr/>
          <p:nvPr>
            <p:custDataLst>
              <p:tags r:id="rId2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2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38" grpId="0"/>
      <p:bldP spid="38" grpId="1"/>
      <p:bldP spid="42" grpId="0"/>
      <p:bldP spid="67" grpId="0"/>
      <p:bldP spid="67" grpId="1"/>
      <p:bldP spid="70" grpId="0"/>
      <p:bldP spid="73" grpId="0"/>
      <p:bldP spid="73" grpId="1"/>
      <p:bldP spid="74" grpId="0"/>
      <p:bldP spid="74" grpId="1"/>
      <p:bldP spid="75" grpId="0"/>
      <p:bldP spid="76" grpId="0"/>
      <p:bldP spid="77" grpId="0"/>
      <p:bldP spid="77" grpId="1" bldLvl="0" animBg="1"/>
      <p:bldP spid="78" grpId="0"/>
      <p:bldP spid="78" grpId="1" bldLvl="0" animBg="1"/>
      <p:bldP spid="48" grpId="0"/>
      <p:bldP spid="48" grpId="1" bldLvl="0" animBg="1"/>
      <p:bldP spid="49" grpId="0"/>
      <p:bldP spid="49" grpId="1" bldLvl="0" animBg="1"/>
      <p:bldP spid="50" grpId="0"/>
      <p:bldP spid="50" grpId="1" bldLvl="0" animBg="1"/>
      <p:bldP spid="51" grpId="0"/>
      <p:bldP spid="51" grpId="1"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pic>
        <p:nvPicPr>
          <p:cNvPr id="6" name="图片 5" descr="5d0495981e06a4beefc1a7ac3c41024d"/>
          <p:cNvPicPr>
            <a:picLocks noChangeAspect="1"/>
          </p:cNvPicPr>
          <p:nvPr>
            <p:custDataLst>
              <p:tags r:id="rId1"/>
            </p:custDataLst>
          </p:nvPr>
        </p:nvPicPr>
        <p:blipFill>
          <a:blip r:embed="rId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3"/>
            </p:custDataLst>
          </p:nvPr>
        </p:nvPicPr>
        <p:blipFill>
          <a:blip r:embed="rId2"/>
          <a:srcRect l="30697"/>
          <a:stretch>
            <a:fillRect/>
          </a:stretch>
        </p:blipFill>
        <p:spPr>
          <a:xfrm>
            <a:off x="8673465" y="-348615"/>
            <a:ext cx="5215255" cy="1497965"/>
          </a:xfrm>
          <a:prstGeom prst="rect">
            <a:avLst/>
          </a:prstGeom>
        </p:spPr>
      </p:pic>
      <p:sp>
        <p:nvSpPr>
          <p:cNvPr id="24" name="直角三角形 23"/>
          <p:cNvSpPr/>
          <p:nvPr>
            <p:custDataLst>
              <p:tags r:id="rId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4209415" y="1847215"/>
            <a:ext cx="0" cy="315595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765675" y="2294890"/>
            <a:ext cx="3369310" cy="460375"/>
          </a:xfrm>
          <a:prstGeom prst="rect">
            <a:avLst/>
          </a:prstGeom>
          <a:noFill/>
        </p:spPr>
        <p:txBody>
          <a:bodyPr wrap="square" rtlCol="0">
            <a:spAutoFit/>
          </a:bodyPr>
          <a:lstStyle/>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1.</a:t>
            </a:r>
            <a:r>
              <a:rPr lang="zh-CN" altLang="en-US" sz="2400" dirty="0">
                <a:ea typeface="宋体" panose="02010600030101010101" pitchFamily="2" charset="-122"/>
                <a:sym typeface="+mn-ea"/>
              </a:rPr>
              <a:t>声明和使用数组</a:t>
            </a: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p:txBody>
      </p:sp>
      <p:sp>
        <p:nvSpPr>
          <p:cNvPr id="25" name="矩形 24"/>
          <p:cNvSpPr/>
          <p:nvPr/>
        </p:nvSpPr>
        <p:spPr>
          <a:xfrm>
            <a:off x="1167765" y="2648585"/>
            <a:ext cx="2912110" cy="1383665"/>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第一章</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sz="2400" dirty="0" smtClean="0">
                <a:solidFill>
                  <a:srgbClr val="000000"/>
                </a:solidFill>
                <a:ea typeface="宋体" panose="02010600030101010101" pitchFamily="2" charset="-122"/>
                <a:sym typeface="+mn-ea"/>
              </a:rPr>
              <a:t>数</a:t>
            </a:r>
            <a:r>
              <a:rPr lang="en-US" altLang="zh-CN" sz="2400" dirty="0" smtClean="0">
                <a:solidFill>
                  <a:srgbClr val="000000"/>
                </a:solidFill>
                <a:ea typeface="宋体" panose="02010600030101010101" pitchFamily="2" charset="-122"/>
                <a:sym typeface="+mn-ea"/>
              </a:rPr>
              <a:t> </a:t>
            </a:r>
            <a:r>
              <a:rPr lang="zh-CN" sz="2400" dirty="0" smtClean="0">
                <a:solidFill>
                  <a:srgbClr val="000000"/>
                </a:solidFill>
                <a:ea typeface="宋体" panose="02010600030101010101" pitchFamily="2" charset="-122"/>
                <a:sym typeface="+mn-ea"/>
              </a:rPr>
              <a:t>组</a:t>
            </a:r>
            <a:r>
              <a:rPr lang="en-US" altLang="zh-CN" sz="2400" dirty="0" smtClean="0">
                <a:solidFill>
                  <a:srgbClr val="000000"/>
                </a:solidFill>
                <a:ea typeface="宋体" panose="02010600030101010101" pitchFamily="2" charset="-122"/>
                <a:sym typeface="+mn-ea"/>
              </a:rPr>
              <a:t> </a:t>
            </a:r>
            <a:r>
              <a:rPr lang="zh-CN" sz="2400" dirty="0" smtClean="0">
                <a:solidFill>
                  <a:srgbClr val="000000"/>
                </a:solidFill>
                <a:ea typeface="宋体" panose="02010600030101010101" pitchFamily="2" charset="-122"/>
                <a:sym typeface="+mn-ea"/>
              </a:rPr>
              <a:t>与</a:t>
            </a:r>
            <a:r>
              <a:rPr lang="en-US" altLang="zh-CN" sz="2400" dirty="0" smtClean="0">
                <a:solidFill>
                  <a:srgbClr val="000000"/>
                </a:solidFill>
                <a:ea typeface="宋体" panose="02010600030101010101" pitchFamily="2" charset="-122"/>
                <a:sym typeface="+mn-ea"/>
              </a:rPr>
              <a:t> </a:t>
            </a:r>
            <a:r>
              <a:rPr lang="zh-CN" sz="2400" dirty="0" smtClean="0">
                <a:solidFill>
                  <a:srgbClr val="000000"/>
                </a:solidFill>
                <a:ea typeface="宋体" panose="02010600030101010101" pitchFamily="2" charset="-122"/>
                <a:sym typeface="+mn-ea"/>
              </a:rPr>
              <a:t>枚</a:t>
            </a:r>
            <a:r>
              <a:rPr lang="en-US" altLang="zh-CN" sz="2400" dirty="0" smtClean="0">
                <a:solidFill>
                  <a:srgbClr val="000000"/>
                </a:solidFill>
                <a:ea typeface="宋体" panose="02010600030101010101" pitchFamily="2" charset="-122"/>
                <a:sym typeface="+mn-ea"/>
              </a:rPr>
              <a:t> </a:t>
            </a:r>
            <a:r>
              <a:rPr lang="zh-CN" sz="2400" dirty="0" smtClean="0">
                <a:solidFill>
                  <a:srgbClr val="000000"/>
                </a:solidFill>
                <a:ea typeface="宋体" panose="02010600030101010101" pitchFamily="2" charset="-122"/>
                <a:sym typeface="+mn-ea"/>
              </a:rPr>
              <a:t>举</a:t>
            </a:r>
            <a:endParaRPr kumimoji="0" lang="zh-CN" altLang="en-US" sz="2400" b="1" i="0" u="none" strike="noStrike" kern="1200" cap="none" spc="300" normalizeH="0" baseline="0" noProof="0" dirty="0" smtClean="0">
              <a:ln>
                <a:noFill/>
              </a:ln>
              <a:solidFill>
                <a:srgbClr val="002060"/>
              </a:solidFill>
              <a:effectLst/>
              <a:uLnTx/>
              <a:uFillTx/>
              <a:latin typeface="Arial" panose="020B0604020202020204" pitchFamily="34" charset="0"/>
              <a:ea typeface="宋体" panose="02010600030101010101" pitchFamily="2" charset="-122"/>
              <a:sym typeface="+mn-ea"/>
            </a:endParaRPr>
          </a:p>
        </p:txBody>
      </p:sp>
      <p:sp>
        <p:nvSpPr>
          <p:cNvPr id="37" name="矩形 36"/>
          <p:cNvSpPr/>
          <p:nvPr/>
        </p:nvSpPr>
        <p:spPr>
          <a:xfrm>
            <a:off x="4792345" y="2994660"/>
            <a:ext cx="3907155" cy="460375"/>
          </a:xfrm>
          <a:prstGeom prst="rect">
            <a:avLst/>
          </a:prstGeom>
          <a:noFill/>
        </p:spPr>
        <p:txBody>
          <a:bodyPr wrap="square" rtlCol="0">
            <a:spAutoFit/>
          </a:bodyPr>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solidFill>
                  <a:srgbClr val="ED7D31"/>
                </a:solidFill>
                <a:effectLst/>
                <a:uLnTx/>
                <a:uFillTx/>
                <a:latin typeface="+mj-ea"/>
                <a:ea typeface="+mj-ea"/>
                <a:cs typeface="+mj-ea"/>
                <a:sym typeface="思源黑体 CN Light" panose="020B0300000000000000" pitchFamily="34" charset="-122"/>
              </a:rPr>
              <a:t>2.</a:t>
            </a:r>
            <a:r>
              <a:rPr lang="zh-CN" altLang="en-US" sz="2400" dirty="0">
                <a:solidFill>
                  <a:srgbClr val="ED7D31"/>
                </a:solidFill>
                <a:ea typeface="宋体" panose="02010600030101010101" pitchFamily="2" charset="-122"/>
                <a:sym typeface="+mn-ea"/>
              </a:rPr>
              <a:t>使用多维数组</a:t>
            </a:r>
            <a:endParaRPr kumimoji="0" lang="zh-CN" altLang="en-US" sz="2400" b="0" i="0" u="none" strike="noStrike" kern="1200" cap="none" spc="0" normalizeH="0" baseline="0" noProof="0" dirty="0">
              <a:ln>
                <a:noFill/>
              </a:ln>
              <a:solidFill>
                <a:srgbClr val="ED7D31"/>
              </a:solidFill>
              <a:effectLst/>
              <a:uLnTx/>
              <a:uFillTx/>
              <a:latin typeface="+mj-ea"/>
              <a:ea typeface="宋体" panose="02010600030101010101" pitchFamily="2" charset="-122"/>
              <a:cs typeface="+mj-ea"/>
              <a:sym typeface="+mn-ea"/>
            </a:endParaRPr>
          </a:p>
        </p:txBody>
      </p:sp>
      <p:sp>
        <p:nvSpPr>
          <p:cNvPr id="7" name="矩形 6"/>
          <p:cNvSpPr/>
          <p:nvPr/>
        </p:nvSpPr>
        <p:spPr>
          <a:xfrm>
            <a:off x="4839970" y="3707130"/>
            <a:ext cx="3369310" cy="460375"/>
          </a:xfrm>
          <a:prstGeom prst="rect">
            <a:avLst/>
          </a:prstGeom>
          <a:noFill/>
        </p:spPr>
        <p:txBody>
          <a:bodyPr wrap="square" rtlCol="0">
            <a:spAutoFit/>
          </a:bodyPr>
          <a:lstStyle/>
          <a:p>
            <a:pPr lvl="0" algn="l">
              <a:spcBef>
                <a:spcPts val="0"/>
              </a:spcBef>
              <a:spcAft>
                <a:spcPts val="0"/>
              </a:spcAft>
              <a:buClrTx/>
              <a:buSzTx/>
              <a:buFont typeface="+mj-lt"/>
              <a:defRPr/>
            </a:pPr>
            <a:r>
              <a:rPr lang="en-US" altLang="zh-CN" sz="2400" noProof="0" dirty="0">
                <a:ln>
                  <a:noFill/>
                </a:ln>
                <a:effectLst/>
                <a:uLnTx/>
                <a:uFillTx/>
                <a:latin typeface="+mj-ea"/>
                <a:ea typeface="+mj-ea"/>
                <a:cs typeface="+mj-ea"/>
                <a:sym typeface="思源黑体 CN Light" panose="020B0300000000000000" pitchFamily="34" charset="-122"/>
              </a:rPr>
              <a:t>3.</a:t>
            </a:r>
            <a:r>
              <a:rPr lang="en-US" altLang="zh-CN" sz="2400" noProof="0" dirty="0">
                <a:ln>
                  <a:noFill/>
                </a:ln>
                <a:effectLst/>
                <a:uLnTx/>
                <a:uFillTx/>
                <a:latin typeface="+mj-ea"/>
                <a:ea typeface="+mj-ea"/>
                <a:cs typeface="+mj-ea"/>
                <a:sym typeface="思源黑体 CN Light" panose="020B0300000000000000" pitchFamily="34" charset="-122"/>
              </a:rPr>
              <a:t>枚举</a:t>
            </a:r>
            <a:endParaRPr lang="en-US" altLang="zh-CN" sz="2400" noProof="0" dirty="0">
              <a:ln>
                <a:noFill/>
              </a:ln>
              <a:effectLst/>
              <a:uLnTx/>
              <a:uFillTx/>
              <a:latin typeface="+mj-ea"/>
              <a:ea typeface="+mj-ea"/>
              <a:cs typeface="+mj-ea"/>
              <a:sym typeface="思源黑体 CN Light" panose="020B03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25" grpId="0"/>
      <p:bldP spid="25" grpId="1" bldLvl="0" animBg="1"/>
      <p:bldP spid="37" grpId="0"/>
      <p:bldP spid="37"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141730" y="3137535"/>
            <a:ext cx="981202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第一节 </a:t>
            </a:r>
            <a:r>
              <a:rPr lang="zh-CN" altLang="en-US" sz="6665" dirty="0">
                <a:solidFill>
                  <a:schemeClr val="bg1"/>
                </a:solidFill>
                <a:latin typeface="Arial" panose="020B0604020202020204" pitchFamily="34" charset="0"/>
                <a:ea typeface="宋体" panose="02010600030101010101" pitchFamily="2" charset="-122"/>
                <a:sym typeface="+mn-ea"/>
              </a:rPr>
              <a:t>声明和使用数组</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数组的创建和访问</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lnSpcReduction="10000"/>
          </a:bodyPr>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数组也叫容器，存放一组(任意多个)相同类型的数据</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数组的语法格式：</a:t>
            </a:r>
            <a:endParaRPr lang="zh-CN" altLang="en-US" dirty="0">
              <a:ea typeface="宋体" panose="02010600030101010101" pitchFamily="2" charset="-122"/>
              <a:sym typeface="+mn-ea"/>
            </a:endParaRPr>
          </a:p>
          <a:p>
            <a:pPr marL="0" indent="0" eaLnBrk="1" hangingPunct="1">
              <a:lnSpc>
                <a:spcPct val="140000"/>
              </a:lnSpc>
              <a:buClr>
                <a:srgbClr val="ED7D31"/>
              </a:buClr>
              <a:buFont typeface="+mj-lt"/>
              <a:buNone/>
            </a:pPr>
            <a:r>
              <a:rPr lang="en-US" altLang="zh-CN" dirty="0">
                <a:ea typeface="宋体" panose="02010600030101010101" pitchFamily="2" charset="-122"/>
                <a:sym typeface="+mn-ea"/>
              </a:rPr>
              <a:t>     </a:t>
            </a:r>
            <a:r>
              <a:rPr lang="en-US" altLang="zh-CN" sz="2000" dirty="0">
                <a:solidFill>
                  <a:srgbClr val="ED7D31"/>
                </a:solidFill>
                <a:ea typeface="宋体" panose="02010600030101010101" pitchFamily="2" charset="-122"/>
                <a:sym typeface="+mn-ea"/>
              </a:rPr>
              <a:t> </a:t>
            </a:r>
            <a:r>
              <a:rPr altLang="en-US" sz="2000" dirty="0">
                <a:solidFill>
                  <a:srgbClr val="ED7D31"/>
                </a:solidFill>
                <a:ea typeface="宋体" panose="02010600030101010101" pitchFamily="2" charset="-122"/>
                <a:sym typeface="+mn-ea"/>
              </a:rPr>
              <a:t>数据类型[] 数组名称 = new 数据类型[长度];</a:t>
            </a:r>
            <a:endParaRPr altLang="en-US" sz="2000" dirty="0">
              <a:solidFill>
                <a:srgbClr val="ED7D31"/>
              </a:solidFill>
              <a:ea typeface="宋体" panose="02010600030101010101" pitchFamily="2" charset="-122"/>
              <a:sym typeface="+mn-ea"/>
            </a:endParaRPr>
          </a:p>
          <a:p>
            <a:pPr marL="0" indent="457200" eaLnBrk="1" hangingPunct="1">
              <a:lnSpc>
                <a:spcPct val="140000"/>
              </a:lnSpc>
              <a:buClr>
                <a:srgbClr val="ED7D31"/>
              </a:buClr>
              <a:buFont typeface="+mj-lt"/>
              <a:buNone/>
            </a:pPr>
            <a:r>
              <a:rPr altLang="en-US" sz="2000" dirty="0">
                <a:solidFill>
                  <a:srgbClr val="ED7D31"/>
                </a:solidFill>
                <a:ea typeface="宋体" panose="02010600030101010101" pitchFamily="2" charset="-122"/>
                <a:sym typeface="+mn-ea"/>
              </a:rPr>
              <a:t>数据类型 数组名称[] = new 数据类型[长度];</a:t>
            </a:r>
            <a:endParaRPr altLang="en-US" sz="2000" dirty="0">
              <a:solidFill>
                <a:srgbClr val="ED7D31"/>
              </a:solidFill>
              <a:ea typeface="宋体" panose="02010600030101010101" pitchFamily="2" charset="-122"/>
              <a:sym typeface="+mn-ea"/>
            </a:endParaRPr>
          </a:p>
          <a:p>
            <a:pPr marL="0" indent="457200" eaLnBrk="1" hangingPunct="1">
              <a:lnSpc>
                <a:spcPct val="140000"/>
              </a:lnSpc>
              <a:buClr>
                <a:srgbClr val="ED7D31"/>
              </a:buClr>
              <a:buFont typeface="+mj-lt"/>
              <a:buNone/>
            </a:pPr>
            <a:r>
              <a:rPr altLang="en-US" sz="2000" dirty="0">
                <a:solidFill>
                  <a:srgbClr val="ED7D31"/>
                </a:solidFill>
                <a:ea typeface="宋体" panose="02010600030101010101" pitchFamily="2" charset="-122"/>
                <a:sym typeface="+mn-ea"/>
              </a:rPr>
              <a:t>注意：1.建议[]编写在数据类型后面，因为数组也属于引用</a:t>
            </a:r>
            <a:r>
              <a:rPr lang="zh-CN" sz="2000" dirty="0">
                <a:solidFill>
                  <a:srgbClr val="ED7D31"/>
                </a:solidFill>
                <a:ea typeface="宋体" panose="02010600030101010101" pitchFamily="2" charset="-122"/>
                <a:sym typeface="+mn-ea"/>
              </a:rPr>
              <a:t>（对象）</a:t>
            </a:r>
            <a:r>
              <a:rPr altLang="en-US" sz="2000" dirty="0">
                <a:solidFill>
                  <a:srgbClr val="ED7D31"/>
                </a:solidFill>
                <a:ea typeface="宋体" panose="02010600030101010101" pitchFamily="2" charset="-122"/>
                <a:sym typeface="+mn-ea"/>
              </a:rPr>
              <a:t>数据类型</a:t>
            </a:r>
            <a:endParaRPr altLang="en-US" sz="2000" dirty="0">
              <a:solidFill>
                <a:srgbClr val="ED7D31"/>
              </a:solidFill>
              <a:ea typeface="宋体" panose="02010600030101010101" pitchFamily="2" charset="-122"/>
              <a:sym typeface="+mn-ea"/>
            </a:endParaRPr>
          </a:p>
          <a:p>
            <a:pPr marL="457200" indent="-457200" eaLnBrk="1" hangingPunct="1">
              <a:lnSpc>
                <a:spcPct val="140000"/>
              </a:lnSpc>
              <a:buClr>
                <a:srgbClr val="ED7D31"/>
              </a:buClr>
              <a:buFont typeface="+mj-lt"/>
              <a:buAutoNum type="arabicPeriod" startAt="3"/>
            </a:pPr>
            <a:r>
              <a:rPr lang="zh-CN" altLang="en-US" dirty="0">
                <a:ea typeface="宋体" panose="02010600030101010101" pitchFamily="2" charset="-122"/>
                <a:sym typeface="+mn-ea"/>
              </a:rPr>
              <a:t>访问数组的元素</a:t>
            </a:r>
            <a:endParaRPr lang="zh-CN" altLang="en-US" dirty="0">
              <a:solidFill>
                <a:srgbClr val="002060"/>
              </a:solidFill>
              <a:ea typeface="宋体" panose="02010600030101010101" pitchFamily="2" charset="-122"/>
            </a:endParaRPr>
          </a:p>
          <a:p>
            <a:pPr marL="704850" lvl="1" indent="-361950">
              <a:lnSpc>
                <a:spcPct val="140000"/>
              </a:lnSpc>
              <a:buFont typeface="Times"/>
              <a:buNone/>
            </a:pPr>
            <a:r>
              <a:rPr dirty="0">
                <a:solidFill>
                  <a:srgbClr val="ED7D31"/>
                </a:solidFill>
                <a:ea typeface="宋体" panose="02010600030101010101" pitchFamily="2" charset="-122"/>
                <a:sym typeface="+mn-ea"/>
              </a:rPr>
              <a:t>当数组定义好以后，系统会给数组中的每个元素指定索引值(下标)，通过索引值(下标)来访问数组中的每个元素，语法格式：数组名[下标]</a:t>
            </a:r>
            <a:endParaRPr dirty="0">
              <a:solidFill>
                <a:srgbClr val="ED7D31"/>
              </a:solidFill>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数组的创建和访问</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lnSpcReduction="10000"/>
          </a:bodyPr>
          <a:p>
            <a:pPr marL="457200" lvl="1" indent="-457200" algn="l" eaLnBrk="1" hangingPunct="1">
              <a:lnSpc>
                <a:spcPct val="140000"/>
              </a:lnSpc>
              <a:spcBef>
                <a:spcPts val="1000"/>
              </a:spcBef>
              <a:buClr>
                <a:srgbClr val="ED7D31"/>
              </a:buClr>
              <a:buSzTx/>
              <a:buFont typeface="+mj-lt"/>
              <a:buAutoNum type="arabicPeriod"/>
            </a:pPr>
            <a:r>
              <a:rPr lang="zh-CN" altLang="en-US" sz="2400" dirty="0">
                <a:ea typeface="宋体" panose="02010600030101010101" pitchFamily="2" charset="-122"/>
                <a:sym typeface="+mn-ea"/>
              </a:rPr>
              <a:t>数组下标从0开始；比如：有10个元素，下标也就是从0—9</a:t>
            </a:r>
            <a:endParaRPr lang="zh-CN" altLang="en-US" sz="2400" dirty="0">
              <a:ea typeface="宋体" panose="02010600030101010101" pitchFamily="2" charset="-122"/>
              <a:sym typeface="+mn-ea"/>
            </a:endParaRPr>
          </a:p>
          <a:p>
            <a:pPr marL="457200" lvl="1" indent="-457200" algn="l" eaLnBrk="1" hangingPunct="1">
              <a:lnSpc>
                <a:spcPct val="140000"/>
              </a:lnSpc>
              <a:spcBef>
                <a:spcPts val="1000"/>
              </a:spcBef>
              <a:buClr>
                <a:srgbClr val="ED7D31"/>
              </a:buClr>
              <a:buSzTx/>
              <a:buFont typeface="+mj-lt"/>
              <a:buAutoNum type="arabicPeriod"/>
            </a:pPr>
            <a:r>
              <a:rPr lang="zh-CN" altLang="en-US" sz="2400" dirty="0">
                <a:ea typeface="宋体" panose="02010600030101010101" pitchFamily="2" charset="-122"/>
                <a:sym typeface="+mn-ea"/>
              </a:rPr>
              <a:t>当数组定义好以后，系统会给数组中的每个元素默认初始化，数据类型不同默认值也不同，具体如下：</a:t>
            </a:r>
            <a:endParaRPr lang="zh-CN" altLang="en-US" sz="2400" dirty="0">
              <a:ea typeface="宋体" panose="02010600030101010101" pitchFamily="2" charset="-122"/>
              <a:sym typeface="+mn-ea"/>
            </a:endParaRPr>
          </a:p>
          <a:p>
            <a:pPr marL="914400" lvl="2" indent="-457200" algn="l" eaLnBrk="1" hangingPunct="1">
              <a:lnSpc>
                <a:spcPct val="140000"/>
              </a:lnSpc>
              <a:spcBef>
                <a:spcPts val="1000"/>
              </a:spcBef>
              <a:buClr>
                <a:srgbClr val="ED7D31"/>
              </a:buClr>
              <a:buSzTx/>
              <a:buFont typeface="+mj-lt"/>
              <a:buAutoNum type="arabicPeriod"/>
            </a:pPr>
            <a:r>
              <a:rPr lang="zh-CN" altLang="en-US" dirty="0">
                <a:ea typeface="宋体" panose="02010600030101010101" pitchFamily="2" charset="-122"/>
                <a:sym typeface="+mn-ea"/>
              </a:rPr>
              <a:t>整数类型默认值为0</a:t>
            </a:r>
            <a:endParaRPr lang="zh-CN" altLang="en-US" dirty="0">
              <a:ea typeface="宋体" panose="02010600030101010101" pitchFamily="2" charset="-122"/>
              <a:sym typeface="+mn-ea"/>
            </a:endParaRPr>
          </a:p>
          <a:p>
            <a:pPr marL="914400" lvl="2" indent="-457200" algn="l" eaLnBrk="1" hangingPunct="1">
              <a:lnSpc>
                <a:spcPct val="140000"/>
              </a:lnSpc>
              <a:spcBef>
                <a:spcPts val="1000"/>
              </a:spcBef>
              <a:buClr>
                <a:srgbClr val="ED7D31"/>
              </a:buClr>
              <a:buSzTx/>
              <a:buFont typeface="+mj-lt"/>
              <a:buAutoNum type="arabicPeriod"/>
            </a:pPr>
            <a:r>
              <a:rPr lang="zh-CN" altLang="en-US" dirty="0">
                <a:ea typeface="宋体" panose="02010600030101010101" pitchFamily="2" charset="-122"/>
                <a:sym typeface="+mn-ea"/>
              </a:rPr>
              <a:t>浮点类型默认值为0.0</a:t>
            </a:r>
            <a:endParaRPr lang="zh-CN" altLang="en-US" dirty="0">
              <a:ea typeface="宋体" panose="02010600030101010101" pitchFamily="2" charset="-122"/>
              <a:sym typeface="+mn-ea"/>
            </a:endParaRPr>
          </a:p>
          <a:p>
            <a:pPr marL="914400" lvl="2" indent="-457200" algn="l" eaLnBrk="1" hangingPunct="1">
              <a:lnSpc>
                <a:spcPct val="140000"/>
              </a:lnSpc>
              <a:spcBef>
                <a:spcPts val="1000"/>
              </a:spcBef>
              <a:buClr>
                <a:srgbClr val="ED7D31"/>
              </a:buClr>
              <a:buSzTx/>
              <a:buFont typeface="+mj-lt"/>
              <a:buAutoNum type="arabicPeriod"/>
            </a:pPr>
            <a:r>
              <a:rPr lang="zh-CN" altLang="en-US" dirty="0">
                <a:ea typeface="宋体" panose="02010600030101010101" pitchFamily="2" charset="-122"/>
                <a:sym typeface="+mn-ea"/>
              </a:rPr>
              <a:t>字符类型默认值为\u0000</a:t>
            </a:r>
            <a:endParaRPr lang="zh-CN" altLang="en-US" dirty="0">
              <a:ea typeface="宋体" panose="02010600030101010101" pitchFamily="2" charset="-122"/>
              <a:sym typeface="+mn-ea"/>
            </a:endParaRPr>
          </a:p>
          <a:p>
            <a:pPr marL="914400" lvl="2" indent="-457200" algn="l" eaLnBrk="1" hangingPunct="1">
              <a:lnSpc>
                <a:spcPct val="140000"/>
              </a:lnSpc>
              <a:spcBef>
                <a:spcPts val="1000"/>
              </a:spcBef>
              <a:buClr>
                <a:srgbClr val="ED7D31"/>
              </a:buClr>
              <a:buSzTx/>
              <a:buFont typeface="+mj-lt"/>
              <a:buAutoNum type="arabicPeriod"/>
            </a:pPr>
            <a:r>
              <a:rPr lang="zh-CN" altLang="en-US" dirty="0">
                <a:ea typeface="宋体" panose="02010600030101010101" pitchFamily="2" charset="-122"/>
                <a:sym typeface="+mn-ea"/>
              </a:rPr>
              <a:t>布尔类型默认值为false</a:t>
            </a:r>
            <a:endParaRPr lang="zh-CN" altLang="en-US" dirty="0">
              <a:ea typeface="宋体" panose="02010600030101010101" pitchFamily="2" charset="-122"/>
              <a:sym typeface="+mn-ea"/>
            </a:endParaRPr>
          </a:p>
          <a:p>
            <a:pPr marL="914400" lvl="2" indent="-457200" algn="l" eaLnBrk="1" hangingPunct="1">
              <a:lnSpc>
                <a:spcPct val="140000"/>
              </a:lnSpc>
              <a:spcBef>
                <a:spcPts val="1000"/>
              </a:spcBef>
              <a:buClr>
                <a:srgbClr val="ED7D31"/>
              </a:buClr>
              <a:buSzTx/>
              <a:buFont typeface="+mj-lt"/>
              <a:buAutoNum type="arabicPeriod"/>
            </a:pPr>
            <a:r>
              <a:rPr lang="zh-CN" altLang="en-US" dirty="0">
                <a:ea typeface="宋体" panose="02010600030101010101" pitchFamily="2" charset="-122"/>
                <a:sym typeface="+mn-ea"/>
              </a:rPr>
              <a:t>所有引用数据类型默认值为null</a:t>
            </a:r>
            <a:endParaRPr lang="zh-CN" altLang="en-US"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数组的循环访问和静态初始化</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fontScale="60000"/>
          </a:bodyPr>
          <a:p>
            <a:pPr marL="457200" lvl="1" indent="-457200" algn="l" eaLnBrk="1" hangingPunct="1">
              <a:lnSpc>
                <a:spcPct val="140000"/>
              </a:lnSpc>
              <a:spcBef>
                <a:spcPts val="1000"/>
              </a:spcBef>
              <a:buClr>
                <a:srgbClr val="ED7D31"/>
              </a:buClr>
              <a:buSzTx/>
              <a:buFont typeface="+mj-lt"/>
              <a:buAutoNum type="arabicPeriod"/>
            </a:pPr>
            <a:r>
              <a:rPr lang="zh-CN" altLang="en-US" sz="2400" dirty="0">
                <a:ea typeface="宋体" panose="02010600030101010101" pitchFamily="2" charset="-122"/>
                <a:sym typeface="+mn-ea"/>
              </a:rPr>
              <a:t>数组访问的两种循环方式</a:t>
            </a:r>
            <a:endParaRPr lang="zh-CN" altLang="en-US" sz="2400" dirty="0">
              <a:ea typeface="宋体" panose="02010600030101010101" pitchFamily="2" charset="-122"/>
              <a:sym typeface="+mn-ea"/>
            </a:endParaRPr>
          </a:p>
          <a:p>
            <a:pPr marL="914400" lvl="2" indent="-457200" algn="l" eaLnBrk="1" hangingPunct="1">
              <a:lnSpc>
                <a:spcPct val="140000"/>
              </a:lnSpc>
              <a:spcBef>
                <a:spcPts val="1000"/>
              </a:spcBef>
              <a:buClr>
                <a:srgbClr val="ED7D31"/>
              </a:buClr>
              <a:buSzTx/>
              <a:buFont typeface="+mj-lt"/>
              <a:buAutoNum type="arabicPeriod"/>
            </a:pPr>
            <a:r>
              <a:rPr lang="zh-CN" altLang="en-US" sz="2160" dirty="0">
                <a:ea typeface="宋体" panose="02010600030101010101" pitchFamily="2" charset="-122"/>
                <a:sym typeface="+mn-ea"/>
              </a:rPr>
              <a:t>普通</a:t>
            </a:r>
            <a:r>
              <a:rPr lang="en-US" altLang="zh-CN" sz="2160" dirty="0">
                <a:ea typeface="宋体" panose="02010600030101010101" pitchFamily="2" charset="-122"/>
                <a:sym typeface="+mn-ea"/>
              </a:rPr>
              <a:t>for</a:t>
            </a:r>
            <a:endParaRPr lang="en-US" altLang="zh-CN" sz="2160" dirty="0">
              <a:ea typeface="宋体" panose="02010600030101010101" pitchFamily="2" charset="-122"/>
              <a:sym typeface="+mn-ea"/>
            </a:endParaRPr>
          </a:p>
          <a:p>
            <a:pPr marL="914400" lvl="2" indent="-457200" algn="l" eaLnBrk="1" hangingPunct="1">
              <a:lnSpc>
                <a:spcPct val="140000"/>
              </a:lnSpc>
              <a:spcBef>
                <a:spcPts val="1000"/>
              </a:spcBef>
              <a:buClr>
                <a:srgbClr val="ED7D31"/>
              </a:buClr>
              <a:buSzTx/>
              <a:buFont typeface="+mj-lt"/>
              <a:buAutoNum type="arabicPeriod"/>
            </a:pPr>
            <a:r>
              <a:rPr lang="zh-CN" altLang="en-US" sz="2160" dirty="0">
                <a:ea typeface="宋体" panose="02010600030101010101" pitchFamily="2" charset="-122"/>
                <a:sym typeface="+mn-ea"/>
              </a:rPr>
              <a:t>增强</a:t>
            </a:r>
            <a:r>
              <a:rPr lang="en-US" altLang="zh-CN" sz="2160" dirty="0">
                <a:ea typeface="宋体" panose="02010600030101010101" pitchFamily="2" charset="-122"/>
                <a:sym typeface="+mn-ea"/>
              </a:rPr>
              <a:t>for</a:t>
            </a:r>
            <a:endParaRPr lang="zh-CN" altLang="en-US" sz="2160"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startAt="2"/>
            </a:pPr>
            <a:r>
              <a:rPr lang="en-US" altLang="zh-CN" dirty="0">
                <a:ea typeface="宋体" panose="02010600030101010101" pitchFamily="2" charset="-122"/>
                <a:sym typeface="+mn-ea"/>
              </a:rPr>
              <a:t>在声明数组的同时为其赋值,称为静态初始化</a:t>
            </a:r>
            <a:endParaRPr lang="en-US" altLang="zh-CN"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startAt="2"/>
            </a:pPr>
            <a:r>
              <a:rPr lang="en-US" altLang="zh-CN" dirty="0">
                <a:ea typeface="宋体" panose="02010600030101010101" pitchFamily="2" charset="-122"/>
                <a:sym typeface="+mn-ea"/>
              </a:rPr>
              <a:t>当数组是静态初始化时，必须不能</a:t>
            </a:r>
            <a:r>
              <a:rPr lang="en-US" altLang="zh-CN" dirty="0">
                <a:solidFill>
                  <a:srgbClr val="FF0000"/>
                </a:solidFill>
                <a:ea typeface="宋体" panose="02010600030101010101" pitchFamily="2" charset="-122"/>
                <a:sym typeface="+mn-ea"/>
              </a:rPr>
              <a:t>指定</a:t>
            </a:r>
            <a:r>
              <a:rPr lang="en-US" altLang="zh-CN" dirty="0">
                <a:ea typeface="宋体" panose="02010600030101010101" pitchFamily="2" charset="-122"/>
                <a:sym typeface="+mn-ea"/>
              </a:rPr>
              <a:t>数组的</a:t>
            </a:r>
            <a:r>
              <a:rPr lang="en-US" altLang="zh-CN" dirty="0">
                <a:solidFill>
                  <a:srgbClr val="FF0000"/>
                </a:solidFill>
                <a:ea typeface="宋体" panose="02010600030101010101" pitchFamily="2" charset="-122"/>
                <a:sym typeface="+mn-ea"/>
              </a:rPr>
              <a:t>长度</a:t>
            </a:r>
            <a:r>
              <a:rPr lang="en-US" altLang="zh-CN" dirty="0">
                <a:ea typeface="宋体" panose="02010600030101010101" pitchFamily="2" charset="-122"/>
                <a:sym typeface="+mn-ea"/>
              </a:rPr>
              <a:t>；通过值的个数来确定数组的长度，因此使用数组名.length获取</a:t>
            </a:r>
            <a:endParaRPr lang="en-US" altLang="zh-CN" dirty="0">
              <a:ea typeface="宋体" panose="02010600030101010101" pitchFamily="2" charset="-122"/>
              <a:sym typeface="+mn-ea"/>
            </a:endParaRPr>
          </a:p>
          <a:p>
            <a:pPr marL="457200" indent="-457200" algn="l" eaLnBrk="1" hangingPunct="1">
              <a:lnSpc>
                <a:spcPct val="150000"/>
              </a:lnSpc>
              <a:buClr>
                <a:srgbClr val="ED7D31"/>
              </a:buClr>
              <a:buSzTx/>
              <a:buFont typeface="+mj-lt"/>
              <a:buAutoNum type="arabicPeriod" startAt="2"/>
            </a:pPr>
            <a:r>
              <a:rPr lang="en-US" altLang="zh-CN" dirty="0">
                <a:ea typeface="宋体" panose="02010600030101010101" pitchFamily="2" charset="-122"/>
                <a:sym typeface="+mn-ea"/>
              </a:rPr>
              <a:t>可以使用静态初始化来声明和初始化数组</a:t>
            </a:r>
            <a:endParaRPr lang="en-US" altLang="zh-CN" dirty="0">
              <a:ea typeface="宋体" panose="02010600030101010101" pitchFamily="2" charset="-122"/>
            </a:endParaRPr>
          </a:p>
          <a:p>
            <a:pPr marL="361950" indent="-361950" eaLnBrk="1" hangingPunct="1">
              <a:lnSpc>
                <a:spcPct val="150000"/>
              </a:lnSpc>
            </a:pPr>
            <a:r>
              <a:rPr lang="zh-CN" altLang="en-US" dirty="0">
                <a:solidFill>
                  <a:srgbClr val="002060"/>
                </a:solidFill>
                <a:ea typeface="宋体" panose="02010600030101010101" pitchFamily="2" charset="-122"/>
                <a:sym typeface="+mn-ea"/>
              </a:rPr>
              <a:t>例如：</a:t>
            </a:r>
            <a:r>
              <a:rPr lang="pt-BR" altLang="en-US" dirty="0">
                <a:solidFill>
                  <a:srgbClr val="002060"/>
                </a:solidFill>
                <a:ea typeface="宋体" panose="02010600030101010101" pitchFamily="2" charset="-122"/>
                <a:sym typeface="+mn-ea"/>
              </a:rPr>
              <a:t>int[] num = {3, 8, 6, 40, 1234};</a:t>
            </a:r>
            <a:endParaRPr lang="pt-BR" altLang="en-US" dirty="0">
              <a:solidFill>
                <a:srgbClr val="002060"/>
              </a:solidFill>
              <a:ea typeface="宋体" panose="02010600030101010101" pitchFamily="2" charset="-122"/>
            </a:endParaRPr>
          </a:p>
          <a:p>
            <a:pPr marL="361950" indent="-361950" eaLnBrk="1" hangingPunct="1">
              <a:lnSpc>
                <a:spcPct val="150000"/>
              </a:lnSpc>
              <a:buFont typeface="Times"/>
              <a:buNone/>
            </a:pPr>
            <a:r>
              <a:rPr lang="pt-BR" altLang="en-US" dirty="0">
                <a:solidFill>
                  <a:srgbClr val="002060"/>
                </a:solidFill>
                <a:ea typeface="宋体" panose="02010600030101010101" pitchFamily="2" charset="-122"/>
                <a:sym typeface="+mn-ea"/>
              </a:rPr>
              <a:t>	    </a:t>
            </a:r>
            <a:r>
              <a:rPr lang="zh-CN" altLang="en-US" dirty="0">
                <a:solidFill>
                  <a:srgbClr val="002060"/>
                </a:solidFill>
                <a:ea typeface="宋体" panose="02010600030101010101" pitchFamily="2" charset="-122"/>
                <a:sym typeface="+mn-ea"/>
              </a:rPr>
              <a:t>或：</a:t>
            </a:r>
            <a:r>
              <a:rPr lang="pt-BR" altLang="en-US" dirty="0">
                <a:solidFill>
                  <a:srgbClr val="002060"/>
                </a:solidFill>
                <a:ea typeface="宋体" panose="02010600030101010101" pitchFamily="2" charset="-122"/>
                <a:sym typeface="+mn-ea"/>
              </a:rPr>
              <a:t>int[] num = new int[]{3, 8, 6, 40, 1234};</a:t>
            </a:r>
            <a:endParaRPr lang="zh-CN" altLang="en-US"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练习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a:bodyPr>
          <a:p>
            <a:pPr marL="457200" indent="-457200" eaLnBrk="1" hangingPunct="1">
              <a:lnSpc>
                <a:spcPct val="130000"/>
              </a:lnSpc>
              <a:buClr>
                <a:srgbClr val="ED7D31"/>
              </a:buClr>
              <a:buFont typeface="+mj-lt"/>
              <a:buAutoNum type="arabicPeriod"/>
            </a:pPr>
            <a:r>
              <a:rPr lang="zh-CN" altLang="en-US" sz="2000" dirty="0">
                <a:ea typeface="宋体" panose="02010600030101010101" pitchFamily="2" charset="-122"/>
                <a:sym typeface="+mn-ea"/>
              </a:rPr>
              <a:t>动态数组 存储10个数，使用普通for和增强for输出</a:t>
            </a:r>
            <a:endParaRPr lang="zh-CN" altLang="en-US" sz="2000"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zh-CN" altLang="en-US" sz="2000" dirty="0">
                <a:ea typeface="宋体" panose="02010600030101010101" pitchFamily="2" charset="-122"/>
                <a:sym typeface="+mn-ea"/>
              </a:rPr>
              <a:t>静态数组，存储{1,6,2,4,3,0}，使用普通for和增强for输出</a:t>
            </a:r>
            <a:endParaRPr lang="zh-CN" altLang="en-US" sz="2000"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zh-CN" altLang="en-US" sz="2000" dirty="0">
                <a:ea typeface="宋体" panose="02010600030101010101" pitchFamily="2" charset="-122"/>
                <a:sym typeface="+mn-ea"/>
              </a:rPr>
              <a:t>定义一个数组，存储 6个元素，针对数组元素 进行升序排序 （从小到大）</a:t>
            </a:r>
            <a:endParaRPr lang="zh-CN" altLang="en-US" sz="2000"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zh-CN" altLang="en-US" sz="2000" dirty="0">
                <a:ea typeface="宋体" panose="02010600030101010101" pitchFamily="2" charset="-122"/>
                <a:sym typeface="+mn-ea"/>
              </a:rPr>
              <a:t>把上课代码敲一遍</a:t>
            </a:r>
            <a:endParaRPr lang="zh-CN" altLang="en-US" sz="2000"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数组扩容</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816610" y="1083310"/>
            <a:ext cx="9527540" cy="5085715"/>
          </a:xfrm>
        </p:spPr>
        <p:txBody>
          <a:bodyPr>
            <a:noAutofit/>
          </a:bodyPr>
          <a:p>
            <a:pPr marL="457200" lvl="1" indent="-457200" algn="l" eaLnBrk="1" hangingPunct="1">
              <a:lnSpc>
                <a:spcPct val="140000"/>
              </a:lnSpc>
              <a:spcBef>
                <a:spcPts val="1000"/>
              </a:spcBef>
              <a:buClr>
                <a:srgbClr val="ED7D31"/>
              </a:buClr>
              <a:buSzTx/>
              <a:buFont typeface="+mj-lt"/>
              <a:buAutoNum type="arabicPeriod"/>
            </a:pPr>
            <a:r>
              <a:rPr lang="zh-CN" altLang="en-US" sz="1600" dirty="0">
                <a:ea typeface="宋体" panose="02010600030101010101" pitchFamily="2" charset="-122"/>
                <a:sym typeface="+mn-ea"/>
              </a:rPr>
              <a:t>当数组已满的时候，如果还要向数组中存储更多的数据时就需要数组扩容也就是：定义一个更大的数组，将原来数组中的内容复制到更大的数组中进行存储</a:t>
            </a:r>
            <a:endParaRPr lang="zh-CN" altLang="en-US" sz="1600"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startAt="2"/>
            </a:pPr>
            <a:r>
              <a:rPr lang="zh-CN" altLang="en-US" sz="1600" dirty="0">
                <a:ea typeface="宋体" panose="02010600030101010101" pitchFamily="2" charset="-122"/>
                <a:sym typeface="+mn-ea"/>
              </a:rPr>
              <a:t>扩容方式一：。。。</a:t>
            </a:r>
            <a:endParaRPr lang="zh-CN" altLang="en-US" sz="1600"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startAt="3"/>
            </a:pPr>
            <a:r>
              <a:rPr lang="zh-CN" altLang="en-US" sz="1600" dirty="0">
                <a:ea typeface="宋体" panose="02010600030101010101" pitchFamily="2" charset="-122"/>
                <a:sym typeface="+mn-ea"/>
              </a:rPr>
              <a:t>扩容方式二：</a:t>
            </a:r>
            <a:endParaRPr lang="zh-CN" altLang="en-US" sz="1600" dirty="0">
              <a:ea typeface="宋体" panose="02010600030101010101" pitchFamily="2" charset="-122"/>
              <a:sym typeface="+mn-ea"/>
            </a:endParaRPr>
          </a:p>
          <a:p>
            <a:pPr marL="914400" lvl="1" indent="-457200" eaLnBrk="1" hangingPunct="1">
              <a:lnSpc>
                <a:spcPct val="150000"/>
              </a:lnSpc>
              <a:buClr>
                <a:srgbClr val="ED7D31"/>
              </a:buClr>
              <a:buFont typeface="+mj-lt"/>
              <a:buAutoNum type="arabicPeriod" startAt="2"/>
            </a:pPr>
            <a:r>
              <a:rPr lang="zh-CN" altLang="en-US" sz="1400" dirty="0">
                <a:ea typeface="宋体" panose="02010600030101010101" pitchFamily="2" charset="-122"/>
                <a:sym typeface="+mn-ea"/>
              </a:rPr>
              <a:t>System.arraycopy(Object src,  int  srcPos, Object dest, int destPos,int length);</a:t>
            </a:r>
            <a:endParaRPr lang="zh-CN" altLang="en-US" sz="1400" dirty="0">
              <a:ea typeface="宋体" panose="02010600030101010101" pitchFamily="2" charset="-122"/>
              <a:sym typeface="+mn-ea"/>
            </a:endParaRPr>
          </a:p>
          <a:p>
            <a:pPr marL="914400" lvl="1" indent="-457200" eaLnBrk="1" hangingPunct="1">
              <a:lnSpc>
                <a:spcPct val="150000"/>
              </a:lnSpc>
              <a:buClr>
                <a:srgbClr val="ED7D31"/>
              </a:buClr>
              <a:buFont typeface="+mj-lt"/>
              <a:buAutoNum type="arabicPeriod" startAt="2"/>
            </a:pPr>
            <a:r>
              <a:rPr lang="zh-CN" altLang="en-US" sz="1400" dirty="0">
                <a:ea typeface="宋体" panose="02010600030101010101" pitchFamily="2" charset="-122"/>
                <a:sym typeface="+mn-ea"/>
              </a:rPr>
              <a:t>        src -- 原数组名</a:t>
            </a:r>
            <a:endParaRPr lang="zh-CN" altLang="en-US" sz="1400" dirty="0">
              <a:ea typeface="宋体" panose="02010600030101010101" pitchFamily="2" charset="-122"/>
              <a:sym typeface="+mn-ea"/>
            </a:endParaRPr>
          </a:p>
          <a:p>
            <a:pPr marL="914400" lvl="1" indent="-457200" eaLnBrk="1" hangingPunct="1">
              <a:lnSpc>
                <a:spcPct val="150000"/>
              </a:lnSpc>
              <a:buClr>
                <a:srgbClr val="ED7D31"/>
              </a:buClr>
              <a:buFont typeface="+mj-lt"/>
              <a:buAutoNum type="arabicPeriod" startAt="2"/>
            </a:pPr>
            <a:r>
              <a:rPr lang="zh-CN" altLang="en-US" sz="1400" dirty="0">
                <a:ea typeface="宋体" panose="02010600030101010101" pitchFamily="2" charset="-122"/>
                <a:sym typeface="+mn-ea"/>
              </a:rPr>
              <a:t>        srcPos-- 原数组起始位置</a:t>
            </a:r>
            <a:endParaRPr lang="zh-CN" altLang="en-US" sz="1400" dirty="0">
              <a:ea typeface="宋体" panose="02010600030101010101" pitchFamily="2" charset="-122"/>
              <a:sym typeface="+mn-ea"/>
            </a:endParaRPr>
          </a:p>
          <a:p>
            <a:pPr marL="914400" lvl="1" indent="-457200" eaLnBrk="1" hangingPunct="1">
              <a:lnSpc>
                <a:spcPct val="150000"/>
              </a:lnSpc>
              <a:buClr>
                <a:srgbClr val="ED7D31"/>
              </a:buClr>
              <a:buFont typeface="+mj-lt"/>
              <a:buAutoNum type="arabicPeriod" startAt="2"/>
            </a:pPr>
            <a:r>
              <a:rPr lang="zh-CN" altLang="en-US" sz="1400" dirty="0">
                <a:ea typeface="宋体" panose="02010600030101010101" pitchFamily="2" charset="-122"/>
                <a:sym typeface="+mn-ea"/>
              </a:rPr>
              <a:t>        dest-- 新数组名</a:t>
            </a:r>
            <a:endParaRPr lang="zh-CN" altLang="en-US" sz="1400" dirty="0">
              <a:ea typeface="宋体" panose="02010600030101010101" pitchFamily="2" charset="-122"/>
              <a:sym typeface="+mn-ea"/>
            </a:endParaRPr>
          </a:p>
          <a:p>
            <a:pPr marL="914400" lvl="1" indent="-457200" eaLnBrk="1" hangingPunct="1">
              <a:lnSpc>
                <a:spcPct val="150000"/>
              </a:lnSpc>
              <a:buClr>
                <a:srgbClr val="ED7D31"/>
              </a:buClr>
              <a:buFont typeface="+mj-lt"/>
              <a:buAutoNum type="arabicPeriod" startAt="2"/>
            </a:pPr>
            <a:r>
              <a:rPr lang="zh-CN" altLang="en-US" sz="1400" dirty="0">
                <a:ea typeface="宋体" panose="02010600030101010101" pitchFamily="2" charset="-122"/>
                <a:sym typeface="+mn-ea"/>
              </a:rPr>
              <a:t>        destPos-- 新数组起始位置</a:t>
            </a:r>
            <a:endParaRPr lang="zh-CN" altLang="en-US" sz="1400" dirty="0">
              <a:ea typeface="宋体" panose="02010600030101010101" pitchFamily="2" charset="-122"/>
              <a:sym typeface="+mn-ea"/>
            </a:endParaRPr>
          </a:p>
          <a:p>
            <a:pPr marL="914400" lvl="1" indent="-457200" eaLnBrk="1" hangingPunct="1">
              <a:lnSpc>
                <a:spcPct val="150000"/>
              </a:lnSpc>
              <a:buClr>
                <a:srgbClr val="ED7D31"/>
              </a:buClr>
              <a:buFont typeface="+mj-lt"/>
              <a:buAutoNum type="arabicPeriod" startAt="2"/>
            </a:pPr>
            <a:r>
              <a:rPr lang="zh-CN" altLang="en-US" sz="1400" dirty="0">
                <a:ea typeface="宋体" panose="02010600030101010101" pitchFamily="2" charset="-122"/>
                <a:sym typeface="+mn-ea"/>
              </a:rPr>
              <a:t>        length-- 赋值元素的个数</a:t>
            </a:r>
            <a:endParaRPr lang="zh-CN" altLang="en-US" sz="1400" dirty="0">
              <a:ea typeface="宋体" panose="02010600030101010101" pitchFamily="2" charset="-122"/>
              <a:sym typeface="+mn-ea"/>
            </a:endParaRPr>
          </a:p>
          <a:p>
            <a:pPr marL="457200" lvl="1" indent="-457200" algn="l" eaLnBrk="1" hangingPunct="1">
              <a:lnSpc>
                <a:spcPct val="150000"/>
              </a:lnSpc>
              <a:spcBef>
                <a:spcPts val="1000"/>
              </a:spcBef>
              <a:buClr>
                <a:srgbClr val="ED7D31"/>
              </a:buClr>
              <a:buSzTx/>
              <a:buFont typeface="+mj-lt"/>
              <a:buAutoNum type="arabicPeriod" startAt="4"/>
            </a:pPr>
            <a:r>
              <a:rPr lang="zh-CN" altLang="en-US" sz="1600" dirty="0">
                <a:ea typeface="宋体" panose="02010600030101010101" pitchFamily="2" charset="-122"/>
                <a:sym typeface="+mn-ea"/>
              </a:rPr>
              <a:t>扩容方式三：</a:t>
            </a:r>
            <a:endParaRPr lang="zh-CN" altLang="en-US" sz="1600" dirty="0">
              <a:ea typeface="宋体" panose="02010600030101010101" pitchFamily="2" charset="-122"/>
              <a:sym typeface="+mn-ea"/>
            </a:endParaRPr>
          </a:p>
          <a:p>
            <a:pPr marL="914400" lvl="1" indent="-457200" eaLnBrk="1" hangingPunct="1">
              <a:lnSpc>
                <a:spcPct val="150000"/>
              </a:lnSpc>
              <a:buClr>
                <a:srgbClr val="ED7D31"/>
              </a:buClr>
              <a:buFont typeface="+mj-lt"/>
              <a:buAutoNum type="arabicPeriod"/>
            </a:pPr>
            <a:r>
              <a:rPr lang="zh-CN" altLang="en-US" sz="1400" dirty="0">
                <a:ea typeface="宋体" panose="02010600030101010101" pitchFamily="2" charset="-122"/>
                <a:sym typeface="+mn-ea"/>
              </a:rPr>
              <a:t>Arrays.copyOf(原数组名, 新数组长度)</a:t>
            </a:r>
            <a:endParaRPr lang="zh-CN" altLang="en-US" sz="1400"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数组的特点</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816610" y="1083310"/>
            <a:ext cx="9527540" cy="5085715"/>
          </a:xfrm>
        </p:spPr>
        <p:txBody>
          <a:bodyPr>
            <a:noAutofit/>
          </a:bodyPr>
          <a:p>
            <a:pPr marL="457200" lvl="1" indent="-457200" algn="l" eaLnBrk="1" hangingPunct="1">
              <a:lnSpc>
                <a:spcPct val="140000"/>
              </a:lnSpc>
              <a:spcBef>
                <a:spcPts val="1000"/>
              </a:spcBef>
              <a:buClr>
                <a:srgbClr val="ED7D31"/>
              </a:buClr>
              <a:buSzTx/>
              <a:buFont typeface="+mj-lt"/>
              <a:buAutoNum type="arabicPeriod"/>
            </a:pPr>
            <a:r>
              <a:rPr lang="zh-CN" altLang="en-US" sz="1600" dirty="0">
                <a:ea typeface="宋体" panose="02010600030101010101" pitchFamily="2" charset="-122"/>
                <a:sym typeface="+mn-ea"/>
              </a:rPr>
              <a:t>数组在内存中开辟一串连续的存储空间，也就是</a:t>
            </a:r>
            <a:r>
              <a:rPr lang="zh-CN" altLang="en-US" sz="1600" dirty="0">
                <a:solidFill>
                  <a:srgbClr val="FF0000"/>
                </a:solidFill>
                <a:ea typeface="宋体" panose="02010600030101010101" pitchFamily="2" charset="-122"/>
                <a:sym typeface="+mn-ea"/>
              </a:rPr>
              <a:t>数组一般是按顺序存储，中间没有空白的</a:t>
            </a:r>
            <a:r>
              <a:rPr lang="zh-CN" altLang="en-US" sz="1600" dirty="0">
                <a:ea typeface="宋体" panose="02010600030101010101" pitchFamily="2" charset="-122"/>
                <a:sym typeface="+mn-ea"/>
              </a:rPr>
              <a:t>，通过下标快速访问数组中的元素</a:t>
            </a:r>
            <a:endParaRPr lang="zh-CN" altLang="en-US" sz="1600"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startAt="3"/>
            </a:pPr>
            <a:r>
              <a:rPr lang="zh-CN" altLang="en-US" sz="1600" dirty="0">
                <a:ea typeface="宋体" panose="02010600030101010101" pitchFamily="2" charset="-122"/>
                <a:sym typeface="+mn-ea"/>
              </a:rPr>
              <a:t>数组缺点：当对数组进行插入/删除操作时效率低。插入元素时，可能需要扩容数组，也就是需要复制和移动大量的元素，因此</a:t>
            </a:r>
            <a:r>
              <a:rPr lang="zh-CN" altLang="en-US" sz="1600" dirty="0">
                <a:solidFill>
                  <a:srgbClr val="FF0000"/>
                </a:solidFill>
                <a:ea typeface="宋体" panose="02010600030101010101" pitchFamily="2" charset="-122"/>
                <a:sym typeface="+mn-ea"/>
              </a:rPr>
              <a:t>数组适合用于访问为主，很少进行添加或删除操作</a:t>
            </a:r>
            <a:r>
              <a:rPr lang="zh-CN" altLang="en-US" sz="1600" dirty="0">
                <a:ea typeface="宋体" panose="02010600030101010101" pitchFamily="2" charset="-122"/>
                <a:sym typeface="+mn-ea"/>
              </a:rPr>
              <a:t>。</a:t>
            </a:r>
            <a:endParaRPr lang="zh-CN" altLang="en-US" sz="1600"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startAt="3"/>
            </a:pPr>
            <a:endParaRPr lang="zh-CN" altLang="en-US" sz="1400"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数组的操作</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816610" y="1083310"/>
            <a:ext cx="9527540" cy="5085715"/>
          </a:xfrm>
        </p:spPr>
        <p:txBody>
          <a:bodyPr>
            <a:noAutofit/>
          </a:bodyPr>
          <a:p>
            <a:pPr marL="457200" indent="-457200" eaLnBrk="1" hangingPunct="1">
              <a:lnSpc>
                <a:spcPct val="150000"/>
              </a:lnSpc>
              <a:buClr>
                <a:srgbClr val="ED7D31"/>
              </a:buClr>
              <a:buFont typeface="+mj-lt"/>
              <a:buAutoNum type="arabicPeriod"/>
            </a:pPr>
            <a:r>
              <a:rPr lang="zh-CN" altLang="en-US" sz="1400" dirty="0">
                <a:ea typeface="宋体" panose="02010600030101010101" pitchFamily="2" charset="-122"/>
                <a:sym typeface="+mn-ea"/>
              </a:rPr>
              <a:t>向数组添加</a:t>
            </a:r>
            <a:r>
              <a:rPr lang="en-US" altLang="zh-CN" sz="1400" dirty="0">
                <a:ea typeface="宋体" panose="02010600030101010101" pitchFamily="2" charset="-122"/>
                <a:sym typeface="+mn-ea"/>
              </a:rPr>
              <a:t>/</a:t>
            </a:r>
            <a:r>
              <a:rPr lang="zh-CN" altLang="en-US" sz="1400" dirty="0">
                <a:ea typeface="宋体" panose="02010600030101010101" pitchFamily="2" charset="-122"/>
                <a:sym typeface="+mn-ea"/>
              </a:rPr>
              <a:t>删除元素</a:t>
            </a:r>
            <a:endParaRPr lang="zh-CN" altLang="en-US" sz="1400"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a:pPr>
            <a:r>
              <a:rPr lang="zh-CN" altLang="en-US" sz="1400" dirty="0">
                <a:ea typeface="宋体" panose="02010600030101010101" pitchFamily="2" charset="-122"/>
                <a:sym typeface="+mn-ea"/>
              </a:rPr>
              <a:t>可变参数</a:t>
            </a:r>
            <a:endParaRPr lang="zh-CN" altLang="en-US" sz="1400"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a:pPr>
            <a:r>
              <a:rPr lang="en-US" altLang="zh-CN" sz="1400" dirty="0">
                <a:ea typeface="宋体" panose="02010600030101010101" pitchFamily="2" charset="-122"/>
                <a:sym typeface="+mn-ea"/>
              </a:rPr>
              <a:t>main</a:t>
            </a:r>
            <a:r>
              <a:rPr lang="zh-CN" altLang="en-US" sz="1400" dirty="0">
                <a:ea typeface="宋体" panose="02010600030101010101" pitchFamily="2" charset="-122"/>
                <a:sym typeface="+mn-ea"/>
              </a:rPr>
              <a:t>方法的</a:t>
            </a:r>
            <a:r>
              <a:rPr lang="en-US" altLang="zh-CN" sz="1400" dirty="0">
                <a:ea typeface="宋体" panose="02010600030101010101" pitchFamily="2" charset="-122"/>
                <a:sym typeface="+mn-ea"/>
              </a:rPr>
              <a:t>args</a:t>
            </a:r>
            <a:endParaRPr lang="en-US" altLang="zh-CN" sz="1400"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a:pPr>
            <a:r>
              <a:rPr lang="zh-CN" altLang="en-US" sz="1400" dirty="0">
                <a:ea typeface="宋体" panose="02010600030101010101" pitchFamily="2" charset="-122"/>
                <a:sym typeface="+mn-ea"/>
              </a:rPr>
              <a:t>算法：</a:t>
            </a:r>
            <a:endParaRPr lang="zh-CN" altLang="en-US" sz="1400" dirty="0">
              <a:ea typeface="宋体" panose="02010600030101010101" pitchFamily="2" charset="-122"/>
              <a:sym typeface="+mn-ea"/>
            </a:endParaRPr>
          </a:p>
          <a:p>
            <a:pPr marL="914400" lvl="1" indent="-457200" eaLnBrk="1" hangingPunct="1">
              <a:lnSpc>
                <a:spcPct val="150000"/>
              </a:lnSpc>
              <a:buClr>
                <a:srgbClr val="ED7D31"/>
              </a:buClr>
              <a:buFont typeface="+mj-lt"/>
              <a:buAutoNum type="arabicPeriod"/>
            </a:pPr>
            <a:r>
              <a:rPr lang="zh-CN" altLang="en-US" sz="1165" dirty="0">
                <a:ea typeface="宋体" panose="02010600030101010101" pitchFamily="2" charset="-122"/>
                <a:sym typeface="+mn-ea"/>
              </a:rPr>
              <a:t>冒泡，选择，</a:t>
            </a:r>
            <a:endParaRPr lang="zh-CN" altLang="en-US" sz="1165" dirty="0">
              <a:ea typeface="宋体" panose="02010600030101010101" pitchFamily="2" charset="-122"/>
              <a:sym typeface="+mn-ea"/>
            </a:endParaRPr>
          </a:p>
          <a:p>
            <a:pPr marL="914400" lvl="1" indent="-457200" eaLnBrk="1" hangingPunct="1">
              <a:lnSpc>
                <a:spcPct val="150000"/>
              </a:lnSpc>
              <a:buClr>
                <a:srgbClr val="ED7D31"/>
              </a:buClr>
              <a:buFont typeface="+mj-lt"/>
              <a:buAutoNum type="arabicPeriod"/>
            </a:pPr>
            <a:r>
              <a:rPr lang="zh-CN" altLang="en-US" sz="1165" dirty="0">
                <a:ea typeface="宋体" panose="02010600030101010101" pitchFamily="2" charset="-122"/>
                <a:sym typeface="+mn-ea"/>
              </a:rPr>
              <a:t>二分查找（两种方式）</a:t>
            </a:r>
            <a:endParaRPr lang="zh-CN" altLang="en-US" sz="1165"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a:pPr>
            <a:endParaRPr lang="zh-CN" altLang="en-US" sz="1400"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a:pPr>
            <a:endParaRPr lang="zh-CN" altLang="en-US" sz="1400"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a:pPr>
            <a:endParaRPr lang="zh-CN" altLang="en-US" sz="1400"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数组的工具类与常用方法</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graphicFrame>
        <p:nvGraphicFramePr>
          <p:cNvPr id="8" name="表格 7"/>
          <p:cNvGraphicFramePr/>
          <p:nvPr>
            <p:custDataLst>
              <p:tags r:id="rId5"/>
            </p:custDataLst>
          </p:nvPr>
        </p:nvGraphicFramePr>
        <p:xfrm>
          <a:off x="930275" y="1160145"/>
          <a:ext cx="9963785" cy="4418330"/>
        </p:xfrm>
        <a:graphic>
          <a:graphicData uri="http://schemas.openxmlformats.org/drawingml/2006/table">
            <a:tbl>
              <a:tblPr/>
              <a:tblGrid>
                <a:gridCol w="3503295"/>
                <a:gridCol w="6460490"/>
              </a:tblGrid>
              <a:tr h="302260">
                <a:tc>
                  <a:txBody>
                    <a:bodyPr/>
                    <a:p>
                      <a:pPr indent="0" algn="ctr">
                        <a:buNone/>
                      </a:pPr>
                      <a:r>
                        <a:rPr lang="en-US" sz="1800" b="1">
                          <a:solidFill>
                            <a:srgbClr val="333333"/>
                          </a:solidFill>
                          <a:latin typeface="Open Sans" panose="020B0606030504020204" charset="-122"/>
                          <a:sym typeface="+mn-ea"/>
                        </a:rPr>
                        <a:t>方法名</a:t>
                      </a:r>
                      <a:endParaRPr lang="en-US" sz="1800" b="1">
                        <a:solidFill>
                          <a:srgbClr val="333333"/>
                        </a:solidFill>
                        <a:latin typeface="Open Sans" panose="020B0606030504020204" charset="-122"/>
                        <a:sym typeface="+mn-ea"/>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92D050"/>
                    </a:solidFill>
                  </a:tcPr>
                </a:tc>
                <a:tc>
                  <a:txBody>
                    <a:bodyPr/>
                    <a:p>
                      <a:pPr indent="0" algn="ctr">
                        <a:buNone/>
                      </a:pPr>
                      <a:r>
                        <a:rPr lang="zh-CN" sz="1800" b="1">
                          <a:solidFill>
                            <a:srgbClr val="333333"/>
                          </a:solidFill>
                          <a:latin typeface="Arial" panose="020B0604020202020204" pitchFamily="34" charset="0"/>
                          <a:ea typeface="Open Sans" panose="020B0606030504020204" charset="-122"/>
                        </a:rPr>
                        <a:t>描述</a:t>
                      </a:r>
                      <a:endParaRPr lang="zh-CN" altLang="en-US" sz="1800" b="1">
                        <a:solidFill>
                          <a:srgbClr val="333333"/>
                        </a:solidFill>
                        <a:latin typeface="Arial" panose="020B0604020202020204" pitchFamily="34" charset="0"/>
                        <a:ea typeface="Open Sans" panose="020B0606030504020204"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92D050"/>
                    </a:solidFill>
                  </a:tcPr>
                </a:tc>
              </a:tr>
              <a:tr h="29400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public static String toString(int[] a)</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sz="1200" b="0" i="0">
                          <a:solidFill>
                            <a:srgbClr val="000000"/>
                          </a:solidFill>
                          <a:latin typeface="宋体" panose="02010600030101010101" pitchFamily="2" charset="-122"/>
                          <a:ea typeface="宋体" panose="02010600030101010101" pitchFamily="2" charset="-122"/>
                        </a:rPr>
                        <a:t>将数组转换为字符串拼接</a:t>
                      </a:r>
                      <a:endParaRPr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public static int[] copyOf(int[] original, int newLength)</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将数组扩容</a:t>
                      </a:r>
                      <a:r>
                        <a:rPr lang="zh-CN" altLang="en-US" sz="1200" b="0" i="0">
                          <a:solidFill>
                            <a:srgbClr val="000000"/>
                          </a:solidFill>
                          <a:latin typeface="宋体" panose="02010600030101010101" pitchFamily="2" charset="-122"/>
                          <a:ea typeface="宋体" panose="02010600030101010101" pitchFamily="2" charset="-122"/>
                        </a:rPr>
                        <a:t>（original : 第一个参数需要扩容的数组，length：第二个参数，复制的长度）</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r>
              <a:tr h="29400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public static int[] copyOfRange(int[] original, int from, int to) </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200" b="0" i="0">
                          <a:solidFill>
                            <a:srgbClr val="000000"/>
                          </a:solidFill>
                          <a:latin typeface="宋体" panose="02010600030101010101" pitchFamily="2" charset="-122"/>
                          <a:ea typeface="宋体" panose="02010600030101010101" pitchFamily="2" charset="-122"/>
                        </a:rPr>
                        <a:t>将数组扩容到某个范围（original：第一个参数为要拷贝的数组对象，from：第二个参数为拷贝的开始位置（包含）to：第三个参数为拷贝的结束位置（不包含））</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public static void sort(int[] a) </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 数组</a:t>
                      </a:r>
                      <a:r>
                        <a:rPr lang="zh-CN" altLang="en-US" sz="1200" b="0" i="0">
                          <a:solidFill>
                            <a:srgbClr val="000000"/>
                          </a:solidFill>
                          <a:latin typeface="宋体" panose="02010600030101010101" pitchFamily="2" charset="-122"/>
                          <a:ea typeface="宋体" panose="02010600030101010101" pitchFamily="2" charset="-122"/>
                        </a:rPr>
                        <a:t>升序</a:t>
                      </a:r>
                      <a:r>
                        <a:rPr lang="en-US" altLang="zh-CN" sz="1200" b="0" i="0">
                          <a:solidFill>
                            <a:srgbClr val="000000"/>
                          </a:solidFill>
                          <a:latin typeface="宋体" panose="02010600030101010101" pitchFamily="2" charset="-122"/>
                          <a:ea typeface="宋体" panose="02010600030101010101" pitchFamily="2" charset="-122"/>
                        </a:rPr>
                        <a:t>排序</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public static int binarySearch(int[] a, int key)</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数组的查找</a:t>
                      </a:r>
                      <a:r>
                        <a:rPr lang="zh-CN" altLang="en-US" sz="1200" b="0" i="0">
                          <a:solidFill>
                            <a:srgbClr val="000000"/>
                          </a:solidFill>
                          <a:latin typeface="宋体" panose="02010600030101010101" pitchFamily="2" charset="-122"/>
                          <a:ea typeface="宋体" panose="02010600030101010101" pitchFamily="2" charset="-122"/>
                        </a:rPr>
                        <a:t>（</a:t>
                      </a:r>
                      <a:r>
                        <a:rPr lang="en-US" altLang="zh-CN" sz="1200">
                          <a:solidFill>
                            <a:srgbClr val="000000"/>
                          </a:solidFill>
                          <a:latin typeface="宋体" panose="02010600030101010101" pitchFamily="2" charset="-122"/>
                          <a:ea typeface="宋体" panose="02010600030101010101" pitchFamily="2" charset="-122"/>
                          <a:sym typeface="+mn-ea"/>
                        </a:rPr>
                        <a:t> a </a:t>
                      </a:r>
                      <a:r>
                        <a:rPr lang="zh-CN" altLang="en-US" sz="1200" b="0" i="0">
                          <a:solidFill>
                            <a:srgbClr val="000000"/>
                          </a:solidFill>
                          <a:latin typeface="宋体" panose="02010600030101010101" pitchFamily="2" charset="-122"/>
                          <a:ea typeface="宋体" panose="02010600030101010101" pitchFamily="2" charset="-122"/>
                        </a:rPr>
                        <a:t>要搜索的数组，</a:t>
                      </a:r>
                      <a:r>
                        <a:rPr lang="en-US" altLang="zh-CN" sz="1200">
                          <a:solidFill>
                            <a:srgbClr val="000000"/>
                          </a:solidFill>
                          <a:latin typeface="宋体" panose="02010600030101010101" pitchFamily="2" charset="-122"/>
                          <a:ea typeface="宋体" panose="02010600030101010101" pitchFamily="2" charset="-122"/>
                          <a:sym typeface="+mn-ea"/>
                        </a:rPr>
                        <a:t> key</a:t>
                      </a:r>
                      <a:r>
                        <a:rPr lang="zh-CN" altLang="en-US" sz="1200" b="0" i="0">
                          <a:solidFill>
                            <a:srgbClr val="000000"/>
                          </a:solidFill>
                          <a:latin typeface="宋体" panose="02010600030101010101" pitchFamily="2" charset="-122"/>
                          <a:ea typeface="宋体" panose="02010600030101010101" pitchFamily="2" charset="-122"/>
                        </a:rPr>
                        <a:t>要查找的值）</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public static void fill(int[] a, int val)</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200" b="0" i="0">
                          <a:solidFill>
                            <a:srgbClr val="000000"/>
                          </a:solidFill>
                          <a:latin typeface="宋体" panose="02010600030101010101" pitchFamily="2" charset="-122"/>
                          <a:ea typeface="宋体" panose="02010600030101010101" pitchFamily="2" charset="-122"/>
                        </a:rPr>
                        <a:t>想数组填充数据（a : 被填充的数组</a:t>
                      </a:r>
                      <a:r>
                        <a:rPr lang="en-US" altLang="zh-CN" sz="1200" b="0" i="0">
                          <a:solidFill>
                            <a:srgbClr val="000000"/>
                          </a:solidFill>
                          <a:latin typeface="宋体" panose="02010600030101010101" pitchFamily="2" charset="-122"/>
                          <a:ea typeface="宋体" panose="02010600030101010101" pitchFamily="2" charset="-122"/>
                        </a:rPr>
                        <a:t> </a:t>
                      </a:r>
                      <a:r>
                        <a:rPr lang="zh-CN" altLang="en-US" sz="1200" b="0" i="0">
                          <a:solidFill>
                            <a:srgbClr val="000000"/>
                          </a:solidFill>
                          <a:latin typeface="宋体" panose="02010600030101010101" pitchFamily="2" charset="-122"/>
                          <a:ea typeface="宋体" panose="02010600030101010101" pitchFamily="2" charset="-122"/>
                        </a:rPr>
                        <a:t>，</a:t>
                      </a:r>
                      <a:r>
                        <a:rPr lang="en-US" altLang="zh-CN" sz="1200" b="0" i="0">
                          <a:solidFill>
                            <a:srgbClr val="000000"/>
                          </a:solidFill>
                          <a:latin typeface="宋体" panose="02010600030101010101" pitchFamily="2" charset="-122"/>
                          <a:ea typeface="宋体" panose="02010600030101010101" pitchFamily="2" charset="-122"/>
                        </a:rPr>
                        <a:t>val：填充的</a:t>
                      </a:r>
                      <a:r>
                        <a:rPr lang="zh-CN" altLang="en-US" sz="1200" b="0" i="0">
                          <a:solidFill>
                            <a:srgbClr val="000000"/>
                          </a:solidFill>
                          <a:latin typeface="宋体" panose="02010600030101010101" pitchFamily="2" charset="-122"/>
                          <a:ea typeface="宋体" panose="02010600030101010101" pitchFamily="2" charset="-122"/>
                        </a:rPr>
                        <a:t>数据）</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对象数组及排序</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816610" y="1083310"/>
            <a:ext cx="9527540" cy="5085715"/>
          </a:xfrm>
        </p:spPr>
        <p:txBody>
          <a:bodyPr>
            <a:noAutofit/>
          </a:bodyPr>
          <a:p>
            <a:pPr marL="457200" lvl="1" indent="-457200" algn="l" eaLnBrk="1" hangingPunct="1">
              <a:lnSpc>
                <a:spcPct val="140000"/>
              </a:lnSpc>
              <a:spcBef>
                <a:spcPts val="1000"/>
              </a:spcBef>
              <a:buClr>
                <a:srgbClr val="ED7D31"/>
              </a:buClr>
              <a:buSzTx/>
              <a:buFont typeface="+mj-lt"/>
              <a:buAutoNum type="arabicPeriod"/>
            </a:pPr>
            <a:r>
              <a:rPr lang="zh-CN" altLang="en-US" sz="1400" dirty="0">
                <a:ea typeface="宋体" panose="02010600030101010101" pitchFamily="2" charset="-122"/>
                <a:sym typeface="+mn-ea"/>
              </a:rPr>
              <a:t>对象数组</a:t>
            </a:r>
            <a:endParaRPr lang="zh-CN" altLang="en-US" sz="1400" dirty="0">
              <a:ea typeface="宋体" panose="02010600030101010101" pitchFamily="2" charset="-122"/>
              <a:sym typeface="+mn-ea"/>
            </a:endParaRPr>
          </a:p>
          <a:p>
            <a:pPr marL="914400" lvl="2" indent="-457200" algn="l" eaLnBrk="1" hangingPunct="1">
              <a:lnSpc>
                <a:spcPct val="140000"/>
              </a:lnSpc>
              <a:spcBef>
                <a:spcPts val="1000"/>
              </a:spcBef>
              <a:buClr>
                <a:srgbClr val="ED7D31"/>
              </a:buClr>
              <a:buSzTx/>
              <a:buFont typeface="+mj-lt"/>
              <a:buAutoNum type="arabicPeriod"/>
            </a:pPr>
            <a:r>
              <a:rPr lang="zh-CN" altLang="en-US" sz="1260" dirty="0">
                <a:ea typeface="宋体" panose="02010600030101010101" pitchFamily="2" charset="-122"/>
                <a:sym typeface="+mn-ea"/>
              </a:rPr>
              <a:t>如果存储指定个数的对象时，则可以使用对象数组完成</a:t>
            </a:r>
            <a:endParaRPr lang="zh-CN" altLang="en-US" sz="1260" dirty="0">
              <a:ea typeface="宋体" panose="02010600030101010101" pitchFamily="2" charset="-122"/>
              <a:sym typeface="+mn-ea"/>
            </a:endParaRPr>
          </a:p>
          <a:p>
            <a:pPr marL="914400" lvl="2" indent="-457200" algn="l" eaLnBrk="1" hangingPunct="1">
              <a:lnSpc>
                <a:spcPct val="140000"/>
              </a:lnSpc>
              <a:spcBef>
                <a:spcPts val="1000"/>
              </a:spcBef>
              <a:buClr>
                <a:srgbClr val="ED7D31"/>
              </a:buClr>
              <a:buSzTx/>
              <a:buFont typeface="+mj-lt"/>
              <a:buAutoNum type="arabicPeriod"/>
            </a:pPr>
            <a:r>
              <a:rPr lang="zh-CN" altLang="en-US" sz="1260" dirty="0">
                <a:ea typeface="宋体" panose="02010600030101010101" pitchFamily="2" charset="-122"/>
                <a:sym typeface="+mn-ea"/>
              </a:rPr>
              <a:t>其实对象数组中的每个元素存放的是对象的地址值(对象的引用)，如果没有存储则数组中的每个元素是默认值为null</a:t>
            </a:r>
            <a:endParaRPr lang="zh-CN" altLang="en-US" sz="1260" dirty="0">
              <a:ea typeface="宋体" panose="02010600030101010101" pitchFamily="2" charset="-122"/>
              <a:sym typeface="+mn-ea"/>
            </a:endParaRPr>
          </a:p>
          <a:p>
            <a:pPr marL="457200" lvl="1" indent="-457200" algn="l" eaLnBrk="1" hangingPunct="1">
              <a:lnSpc>
                <a:spcPct val="140000"/>
              </a:lnSpc>
              <a:spcBef>
                <a:spcPts val="1000"/>
              </a:spcBef>
              <a:buClr>
                <a:srgbClr val="ED7D31"/>
              </a:buClr>
              <a:buSzTx/>
              <a:buFont typeface="+mj-lt"/>
              <a:buAutoNum type="arabicPeriod"/>
            </a:pPr>
            <a:r>
              <a:rPr lang="zh-CN" altLang="en-US" sz="1400" dirty="0">
                <a:ea typeface="宋体" panose="02010600030101010101" pitchFamily="2" charset="-122"/>
                <a:sym typeface="+mn-ea"/>
              </a:rPr>
              <a:t>对象数组的排序</a:t>
            </a:r>
            <a:endParaRPr lang="zh-CN" altLang="en-US" sz="1400" dirty="0">
              <a:ea typeface="宋体" panose="02010600030101010101" pitchFamily="2" charset="-122"/>
              <a:sym typeface="+mn-ea"/>
            </a:endParaRPr>
          </a:p>
          <a:p>
            <a:pPr marL="914400" lvl="2" indent="-457200" algn="l" eaLnBrk="1" hangingPunct="1">
              <a:lnSpc>
                <a:spcPct val="140000"/>
              </a:lnSpc>
              <a:spcBef>
                <a:spcPts val="1000"/>
              </a:spcBef>
              <a:buClr>
                <a:srgbClr val="ED7D31"/>
              </a:buClr>
              <a:buSzTx/>
              <a:buFont typeface="+mj-lt"/>
              <a:buAutoNum type="arabicPeriod"/>
            </a:pPr>
            <a:r>
              <a:rPr lang="zh-CN" altLang="en-US" sz="1260" dirty="0">
                <a:ea typeface="宋体" panose="02010600030101010101" pitchFamily="2" charset="-122"/>
                <a:sym typeface="+mn-ea"/>
              </a:rPr>
              <a:t> implements Comparable</a:t>
            </a:r>
            <a:r>
              <a:rPr lang="en-US" altLang="zh-CN" sz="1260" dirty="0">
                <a:ea typeface="宋体" panose="02010600030101010101" pitchFamily="2" charset="-122"/>
                <a:sym typeface="+mn-ea"/>
              </a:rPr>
              <a:t>  </a:t>
            </a:r>
            <a:endParaRPr lang="en-US" altLang="zh-CN" sz="1260" dirty="0">
              <a:ea typeface="宋体" panose="02010600030101010101" pitchFamily="2" charset="-122"/>
              <a:sym typeface="+mn-ea"/>
            </a:endParaRPr>
          </a:p>
          <a:p>
            <a:pPr marL="914400" lvl="2" indent="-457200" algn="l" eaLnBrk="1" hangingPunct="1">
              <a:lnSpc>
                <a:spcPct val="140000"/>
              </a:lnSpc>
              <a:spcBef>
                <a:spcPts val="1000"/>
              </a:spcBef>
              <a:buClr>
                <a:srgbClr val="ED7D31"/>
              </a:buClr>
              <a:buSzTx/>
              <a:buFont typeface="+mj-lt"/>
              <a:buAutoNum type="arabicPeriod"/>
            </a:pPr>
            <a:r>
              <a:rPr lang="en-US" altLang="zh-CN" sz="1260" dirty="0">
                <a:ea typeface="宋体" panose="02010600030101010101" pitchFamily="2" charset="-122"/>
                <a:sym typeface="+mn-ea"/>
              </a:rPr>
              <a:t>Comparator </a:t>
            </a:r>
            <a:r>
              <a:rPr lang="zh-CN" altLang="en-US" sz="1260" dirty="0">
                <a:ea typeface="宋体" panose="02010600030101010101" pitchFamily="2" charset="-122"/>
                <a:sym typeface="+mn-ea"/>
              </a:rPr>
              <a:t>可以改变类的比较规则</a:t>
            </a:r>
            <a:endParaRPr lang="zh-CN" altLang="en-US" sz="1260" dirty="0">
              <a:ea typeface="宋体" panose="02010600030101010101" pitchFamily="2" charset="-122"/>
              <a:sym typeface="+mn-ea"/>
            </a:endParaRPr>
          </a:p>
          <a:p>
            <a:pPr marL="914400" lvl="2" indent="-457200" algn="l" eaLnBrk="1" hangingPunct="1">
              <a:lnSpc>
                <a:spcPct val="140000"/>
              </a:lnSpc>
              <a:spcBef>
                <a:spcPts val="1000"/>
              </a:spcBef>
              <a:buClr>
                <a:srgbClr val="ED7D31"/>
              </a:buClr>
              <a:buSzTx/>
              <a:buFont typeface="+mj-lt"/>
              <a:buAutoNum type="arabicPeriod"/>
            </a:pPr>
            <a:r>
              <a:rPr lang="zh-CN" altLang="en-US" sz="1260" dirty="0">
                <a:ea typeface="宋体" panose="02010600030101010101" pitchFamily="2" charset="-122"/>
                <a:sym typeface="+mn-ea"/>
              </a:rPr>
              <a:t>多字段排序</a:t>
            </a:r>
            <a:endParaRPr lang="zh-CN" altLang="en-US" sz="1260" dirty="0">
              <a:ea typeface="宋体" panose="02010600030101010101" pitchFamily="2" charset="-122"/>
              <a:sym typeface="+mn-ea"/>
            </a:endParaRPr>
          </a:p>
          <a:p>
            <a:pPr marL="914400" lvl="2" indent="-457200" algn="l" eaLnBrk="1" hangingPunct="1">
              <a:lnSpc>
                <a:spcPct val="140000"/>
              </a:lnSpc>
              <a:spcBef>
                <a:spcPts val="1000"/>
              </a:spcBef>
              <a:buClr>
                <a:srgbClr val="ED7D31"/>
              </a:buClr>
              <a:buSzTx/>
              <a:buFont typeface="+mj-lt"/>
              <a:buAutoNum type="arabicPeriod"/>
            </a:pPr>
            <a:r>
              <a:rPr lang="zh-CN" altLang="en-US" sz="1260" dirty="0">
                <a:ea typeface="宋体" panose="02010600030101010101" pitchFamily="2" charset="-122"/>
                <a:sym typeface="+mn-ea"/>
              </a:rPr>
              <a:t>改变</a:t>
            </a:r>
            <a:r>
              <a:rPr lang="en-US" altLang="zh-CN" sz="1260" dirty="0">
                <a:ea typeface="宋体" panose="02010600030101010101" pitchFamily="2" charset="-122"/>
                <a:sym typeface="+mn-ea"/>
              </a:rPr>
              <a:t>jdk</a:t>
            </a:r>
            <a:r>
              <a:rPr lang="zh-CN" altLang="en-US" sz="1260" dirty="0">
                <a:ea typeface="宋体" panose="02010600030101010101" pitchFamily="2" charset="-122"/>
                <a:sym typeface="+mn-ea"/>
              </a:rPr>
              <a:t>类的比较规则（</a:t>
            </a:r>
            <a:r>
              <a:rPr lang="en-US" altLang="zh-CN" sz="1260" dirty="0">
                <a:ea typeface="宋体" panose="02010600030101010101" pitchFamily="2" charset="-122"/>
                <a:sym typeface="+mn-ea"/>
              </a:rPr>
              <a:t>String</a:t>
            </a:r>
            <a:r>
              <a:rPr lang="zh-CN" altLang="en-US" sz="1260" dirty="0">
                <a:ea typeface="宋体" panose="02010600030101010101" pitchFamily="2" charset="-122"/>
                <a:sym typeface="+mn-ea"/>
              </a:rPr>
              <a:t>）</a:t>
            </a:r>
            <a:endParaRPr lang="zh-CN" altLang="en-US" sz="1260"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2120900" y="3137219"/>
            <a:ext cx="741680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第二节 </a:t>
            </a:r>
            <a:r>
              <a:rPr lang="zh-CN" altLang="en-US" sz="6665" dirty="0">
                <a:solidFill>
                  <a:schemeClr val="bg1"/>
                </a:solidFill>
                <a:latin typeface="Arial" panose="020B0604020202020204" pitchFamily="34" charset="0"/>
                <a:ea typeface="宋体" panose="02010600030101010101" pitchFamily="2" charset="-122"/>
                <a:sym typeface="+mn-ea"/>
              </a:rPr>
              <a:t>使用多维数组</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多维数组</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a:bodyPr>
          <a:p>
            <a:pPr marL="457200" indent="-457200" eaLnBrk="1" hangingPunct="1">
              <a:lnSpc>
                <a:spcPct val="120000"/>
              </a:lnSpc>
              <a:buClr>
                <a:srgbClr val="ED7D31"/>
              </a:buClr>
              <a:buFont typeface="+mj-lt"/>
              <a:buAutoNum type="arabicPeriod"/>
            </a:pPr>
            <a:r>
              <a:rPr lang="zh-CN" altLang="en-US" dirty="0">
                <a:ea typeface="宋体" panose="02010600030101010101" pitchFamily="2" charset="-122"/>
                <a:sym typeface="+mn-ea"/>
              </a:rPr>
              <a:t>除了声明和使用一维数组外，还可以声明和使用多维数组。最常见的二维数组如下：</a:t>
            </a:r>
            <a:endParaRPr lang="zh-CN" altLang="en-US" dirty="0">
              <a:ea typeface="宋体" panose="02010600030101010101" pitchFamily="2" charset="-122"/>
              <a:sym typeface="+mn-ea"/>
            </a:endParaRPr>
          </a:p>
          <a:p>
            <a:pPr marL="0" indent="0" eaLnBrk="1" hangingPunct="1">
              <a:lnSpc>
                <a:spcPct val="120000"/>
              </a:lnSpc>
              <a:buNone/>
            </a:pPr>
            <a:r>
              <a:rPr lang="en-US" altLang="zh-CN" dirty="0">
                <a:ea typeface="宋体" panose="02010600030101010101" pitchFamily="2" charset="-122"/>
                <a:sym typeface="+mn-ea"/>
              </a:rPr>
              <a:t>    </a:t>
            </a:r>
            <a:r>
              <a:rPr lang="zh-CN" altLang="en-US" sz="2000" dirty="0">
                <a:solidFill>
                  <a:srgbClr val="002060"/>
                </a:solidFill>
                <a:ea typeface="宋体" panose="02010600030101010101" pitchFamily="2" charset="-122"/>
                <a:sym typeface="+mn-ea"/>
              </a:rPr>
              <a:t>例如，声明一个</a:t>
            </a:r>
            <a:r>
              <a:rPr lang="en-US" sz="2000" dirty="0" err="1">
                <a:solidFill>
                  <a:srgbClr val="002060"/>
                </a:solidFill>
                <a:ea typeface="宋体" panose="02010600030101010101" pitchFamily="2" charset="-122"/>
                <a:sym typeface="+mn-ea"/>
              </a:rPr>
              <a:t>int</a:t>
            </a:r>
            <a:r>
              <a:rPr lang="zh-CN" altLang="en-US" sz="2000" dirty="0">
                <a:solidFill>
                  <a:srgbClr val="002060"/>
                </a:solidFill>
                <a:ea typeface="宋体" panose="02010600030101010101" pitchFamily="2" charset="-122"/>
                <a:sym typeface="+mn-ea"/>
              </a:rPr>
              <a:t>类型的</a:t>
            </a:r>
            <a:r>
              <a:rPr lang="en-US" sz="2000" dirty="0">
                <a:solidFill>
                  <a:srgbClr val="002060"/>
                </a:solidFill>
                <a:ea typeface="宋体" panose="02010600030101010101" pitchFamily="2" charset="-122"/>
                <a:sym typeface="+mn-ea"/>
              </a:rPr>
              <a:t>3</a:t>
            </a:r>
            <a:r>
              <a:rPr lang="zh-CN" altLang="en-US" sz="2000" dirty="0">
                <a:solidFill>
                  <a:srgbClr val="002060"/>
                </a:solidFill>
                <a:ea typeface="宋体" panose="02010600030101010101" pitchFamily="2" charset="-122"/>
                <a:sym typeface="+mn-ea"/>
              </a:rPr>
              <a:t>行</a:t>
            </a:r>
            <a:r>
              <a:rPr lang="en-US" sz="2000" dirty="0">
                <a:solidFill>
                  <a:srgbClr val="002060"/>
                </a:solidFill>
                <a:ea typeface="宋体" panose="02010600030101010101" pitchFamily="2" charset="-122"/>
                <a:sym typeface="+mn-ea"/>
              </a:rPr>
              <a:t>5</a:t>
            </a:r>
            <a:r>
              <a:rPr lang="zh-CN" altLang="en-US" sz="2000" dirty="0">
                <a:solidFill>
                  <a:srgbClr val="002060"/>
                </a:solidFill>
                <a:ea typeface="宋体" panose="02010600030101010101" pitchFamily="2" charset="-122"/>
                <a:sym typeface="+mn-ea"/>
              </a:rPr>
              <a:t>列的二维数组：</a:t>
            </a:r>
            <a:endParaRPr lang="zh-CN" altLang="en-US" sz="2000" dirty="0">
              <a:solidFill>
                <a:srgbClr val="002060"/>
              </a:solidFill>
              <a:ea typeface="宋体" panose="02010600030101010101" pitchFamily="2" charset="-122"/>
            </a:endParaRPr>
          </a:p>
          <a:p>
            <a:pPr marL="361950" indent="-361950" eaLnBrk="1" hangingPunct="1">
              <a:lnSpc>
                <a:spcPct val="120000"/>
              </a:lnSpc>
              <a:buFont typeface="Times"/>
              <a:buNone/>
            </a:pPr>
            <a:r>
              <a:rPr lang="zh-CN" altLang="en-US" sz="2000" dirty="0">
                <a:solidFill>
                  <a:srgbClr val="002060"/>
                </a:solidFill>
                <a:ea typeface="宋体" panose="02010600030101010101" pitchFamily="2" charset="-122"/>
                <a:sym typeface="+mn-ea"/>
              </a:rPr>
              <a:t>	</a:t>
            </a:r>
            <a:r>
              <a:rPr lang="en-US" sz="2000" dirty="0" err="1">
                <a:solidFill>
                  <a:srgbClr val="002060"/>
                </a:solidFill>
                <a:ea typeface="宋体" panose="02010600030101010101" pitchFamily="2" charset="-122"/>
                <a:sym typeface="+mn-ea"/>
              </a:rPr>
              <a:t>int</a:t>
            </a:r>
            <a:r>
              <a:rPr lang="en-US" sz="2000" dirty="0">
                <a:solidFill>
                  <a:srgbClr val="002060"/>
                </a:solidFill>
                <a:ea typeface="宋体" panose="02010600030101010101" pitchFamily="2" charset="-122"/>
                <a:sym typeface="+mn-ea"/>
              </a:rPr>
              <a:t>[][] </a:t>
            </a:r>
            <a:r>
              <a:rPr lang="en-US" sz="2000" dirty="0" err="1">
                <a:solidFill>
                  <a:srgbClr val="002060"/>
                </a:solidFill>
                <a:ea typeface="宋体" panose="02010600030101010101" pitchFamily="2" charset="-122"/>
                <a:sym typeface="+mn-ea"/>
              </a:rPr>
              <a:t>nums</a:t>
            </a:r>
            <a:r>
              <a:rPr lang="en-US" sz="2000" dirty="0">
                <a:solidFill>
                  <a:srgbClr val="002060"/>
                </a:solidFill>
                <a:ea typeface="宋体" panose="02010600030101010101" pitchFamily="2" charset="-122"/>
                <a:sym typeface="+mn-ea"/>
              </a:rPr>
              <a:t> = new </a:t>
            </a:r>
            <a:r>
              <a:rPr lang="en-US" sz="2000" dirty="0" err="1">
                <a:solidFill>
                  <a:srgbClr val="002060"/>
                </a:solidFill>
                <a:ea typeface="宋体" panose="02010600030101010101" pitchFamily="2" charset="-122"/>
                <a:sym typeface="+mn-ea"/>
              </a:rPr>
              <a:t>int</a:t>
            </a:r>
            <a:r>
              <a:rPr lang="en-US" sz="2000" dirty="0">
                <a:solidFill>
                  <a:srgbClr val="002060"/>
                </a:solidFill>
                <a:ea typeface="宋体" panose="02010600030101010101" pitchFamily="2" charset="-122"/>
                <a:sym typeface="+mn-ea"/>
              </a:rPr>
              <a:t>[3][5];</a:t>
            </a:r>
            <a:endParaRPr lang="zh-CN" altLang="en-US" sz="2000" dirty="0">
              <a:solidFill>
                <a:srgbClr val="002060"/>
              </a:solidFill>
              <a:ea typeface="宋体" panose="02010600030101010101" pitchFamily="2" charset="-122"/>
            </a:endParaRPr>
          </a:p>
          <a:p>
            <a:pPr marL="457200" indent="-457200" algn="l" eaLnBrk="1" hangingPunct="1">
              <a:lnSpc>
                <a:spcPct val="120000"/>
              </a:lnSpc>
              <a:buClr>
                <a:srgbClr val="ED7D31"/>
              </a:buClr>
              <a:buSzTx/>
              <a:buFont typeface="+mj-lt"/>
              <a:buAutoNum type="arabicPeriod" startAt="2"/>
            </a:pPr>
            <a:r>
              <a:rPr lang="zh-CN" altLang="en-US" dirty="0">
                <a:ea typeface="宋体" panose="02010600030101010101" pitchFamily="2" charset="-122"/>
                <a:sym typeface="+mn-ea"/>
              </a:rPr>
              <a:t>多维数组的简单初始化：</a:t>
            </a:r>
            <a:endParaRPr lang="zh-CN" altLang="en-US" dirty="0">
              <a:ea typeface="宋体" panose="02010600030101010101" pitchFamily="2" charset="-122"/>
            </a:endParaRPr>
          </a:p>
          <a:p>
            <a:pPr marL="361950" indent="0" eaLnBrk="1" hangingPunct="1">
              <a:lnSpc>
                <a:spcPct val="120000"/>
              </a:lnSpc>
              <a:buFont typeface="Times"/>
              <a:buNone/>
            </a:pPr>
            <a:r>
              <a:rPr lang="en-US" sz="2000" dirty="0" err="1">
                <a:solidFill>
                  <a:srgbClr val="002060"/>
                </a:solidFill>
                <a:ea typeface="宋体" panose="02010600030101010101" pitchFamily="2" charset="-122"/>
                <a:sym typeface="+mn-ea"/>
              </a:rPr>
              <a:t>int</a:t>
            </a:r>
            <a:r>
              <a:rPr lang="en-US" sz="2000" dirty="0">
                <a:solidFill>
                  <a:srgbClr val="002060"/>
                </a:solidFill>
                <a:ea typeface="宋体" panose="02010600030101010101" pitchFamily="2" charset="-122"/>
                <a:sym typeface="+mn-ea"/>
              </a:rPr>
              <a:t>[][] </a:t>
            </a:r>
            <a:r>
              <a:rPr lang="en-US" sz="2000" dirty="0" err="1">
                <a:solidFill>
                  <a:srgbClr val="002060"/>
                </a:solidFill>
                <a:ea typeface="宋体" panose="02010600030101010101" pitchFamily="2" charset="-122"/>
                <a:sym typeface="+mn-ea"/>
              </a:rPr>
              <a:t>nums</a:t>
            </a:r>
            <a:r>
              <a:rPr lang="en-US" sz="2000" dirty="0">
                <a:solidFill>
                  <a:srgbClr val="002060"/>
                </a:solidFill>
                <a:ea typeface="宋体" panose="02010600030101010101" pitchFamily="2" charset="-122"/>
                <a:sym typeface="+mn-ea"/>
              </a:rPr>
              <a:t> = {{1,2,3}, {4,5,6}, {7,8,9}};</a:t>
            </a:r>
            <a:endParaRPr lang="en-US" sz="2000" dirty="0">
              <a:solidFill>
                <a:srgbClr val="002060"/>
              </a:solidFill>
              <a:ea typeface="宋体" panose="02010600030101010101" pitchFamily="2" charset="-122"/>
            </a:endParaRPr>
          </a:p>
          <a:p>
            <a:pPr marL="361950" indent="-361950" eaLnBrk="1" hangingPunct="1">
              <a:lnSpc>
                <a:spcPct val="120000"/>
              </a:lnSpc>
              <a:buFont typeface="Times"/>
              <a:buNone/>
            </a:pPr>
            <a:r>
              <a:rPr lang="en-US" sz="2000" dirty="0">
                <a:solidFill>
                  <a:srgbClr val="002060"/>
                </a:solidFill>
                <a:ea typeface="宋体" panose="02010600030101010101" pitchFamily="2" charset="-122"/>
                <a:sym typeface="+mn-ea"/>
              </a:rPr>
              <a:t>	</a:t>
            </a:r>
            <a:r>
              <a:rPr lang="zh-CN" altLang="en-US" sz="2000" dirty="0">
                <a:solidFill>
                  <a:srgbClr val="002060"/>
                </a:solidFill>
                <a:ea typeface="宋体" panose="02010600030101010101" pitchFamily="2" charset="-122"/>
                <a:sym typeface="+mn-ea"/>
              </a:rPr>
              <a:t>或</a:t>
            </a:r>
            <a:endParaRPr lang="zh-CN" altLang="en-US" sz="2000" dirty="0">
              <a:solidFill>
                <a:srgbClr val="002060"/>
              </a:solidFill>
              <a:ea typeface="宋体" panose="02010600030101010101" pitchFamily="2" charset="-122"/>
            </a:endParaRPr>
          </a:p>
          <a:p>
            <a:pPr marL="361950" indent="-361950" eaLnBrk="1" hangingPunct="1">
              <a:lnSpc>
                <a:spcPct val="120000"/>
              </a:lnSpc>
              <a:buFont typeface="Times"/>
              <a:buNone/>
            </a:pPr>
            <a:r>
              <a:rPr lang="zh-CN" altLang="en-US" sz="2000" dirty="0">
                <a:solidFill>
                  <a:srgbClr val="002060"/>
                </a:solidFill>
                <a:ea typeface="宋体" panose="02010600030101010101" pitchFamily="2" charset="-122"/>
                <a:sym typeface="+mn-ea"/>
              </a:rPr>
              <a:t>	</a:t>
            </a:r>
            <a:r>
              <a:rPr lang="en-US" sz="2000" dirty="0" err="1">
                <a:solidFill>
                  <a:srgbClr val="002060"/>
                </a:solidFill>
                <a:ea typeface="宋体" panose="02010600030101010101" pitchFamily="2" charset="-122"/>
                <a:sym typeface="+mn-ea"/>
              </a:rPr>
              <a:t>int</a:t>
            </a:r>
            <a:r>
              <a:rPr lang="en-US" sz="2000" dirty="0">
                <a:solidFill>
                  <a:srgbClr val="002060"/>
                </a:solidFill>
                <a:ea typeface="宋体" panose="02010600030101010101" pitchFamily="2" charset="-122"/>
                <a:sym typeface="+mn-ea"/>
              </a:rPr>
              <a:t>[][] </a:t>
            </a:r>
            <a:r>
              <a:rPr lang="en-US" sz="2000" dirty="0" err="1">
                <a:solidFill>
                  <a:srgbClr val="002060"/>
                </a:solidFill>
                <a:ea typeface="宋体" panose="02010600030101010101" pitchFamily="2" charset="-122"/>
                <a:sym typeface="+mn-ea"/>
              </a:rPr>
              <a:t>nums</a:t>
            </a:r>
            <a:r>
              <a:rPr lang="en-US" sz="2000" dirty="0">
                <a:solidFill>
                  <a:srgbClr val="002060"/>
                </a:solidFill>
                <a:ea typeface="宋体" panose="02010600030101010101" pitchFamily="2" charset="-122"/>
                <a:sym typeface="+mn-ea"/>
              </a:rPr>
              <a:t> = new </a:t>
            </a:r>
            <a:r>
              <a:rPr lang="en-US" sz="2000" dirty="0" err="1">
                <a:solidFill>
                  <a:srgbClr val="002060"/>
                </a:solidFill>
                <a:ea typeface="宋体" panose="02010600030101010101" pitchFamily="2" charset="-122"/>
                <a:sym typeface="+mn-ea"/>
              </a:rPr>
              <a:t>int</a:t>
            </a:r>
            <a:r>
              <a:rPr lang="en-US" sz="2000" dirty="0">
                <a:solidFill>
                  <a:srgbClr val="002060"/>
                </a:solidFill>
                <a:ea typeface="宋体" panose="02010600030101010101" pitchFamily="2" charset="-122"/>
                <a:sym typeface="+mn-ea"/>
              </a:rPr>
              <a:t>[][]{{1,2,3}, {4,5,6}, {7,8,9}};</a:t>
            </a:r>
            <a:endParaRPr lang="en-US" sz="2000" dirty="0">
              <a:solidFill>
                <a:srgbClr val="002060"/>
              </a:solidFill>
              <a:ea typeface="宋体" panose="02010600030101010101" pitchFamily="2" charset="-122"/>
            </a:endParaRPr>
          </a:p>
          <a:p>
            <a:pPr marL="0" indent="0" eaLnBrk="1" hangingPunct="1">
              <a:lnSpc>
                <a:spcPct val="12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TestArray1</a:t>
            </a:r>
            <a:r>
              <a:rPr lang="zh-CN" altLang="en-US" sz="240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45763" name="内容占位符 2"/>
          <p:cNvSpPr>
            <a:spLocks noGrp="1"/>
          </p:cNvSpPr>
          <p:nvPr>
            <p:ph idx="4294967295"/>
          </p:nvPr>
        </p:nvSpPr>
        <p:spPr>
          <a:xfrm>
            <a:off x="1080427" y="908707"/>
            <a:ext cx="7537450" cy="5040312"/>
          </a:xfrm>
        </p:spPr>
        <p:txBody>
          <a:bodyPr/>
          <a:lstStyle/>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public class TestArray01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public static void main(String[] args)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 二维数组</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  一个数组包含另一个数组</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int [] array01 = {1,2,3};</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int [] array02 = {4,5,6};</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int [][] array = {array01,array02};</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for (int i = 0; i &lt; array.length; i++)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int[] ints = array[i];</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for (int j = 0; j &lt; ints.length; j++)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int anInt = ints[j];</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System.out.print(anInt + "\t");</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System.out.println();</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TestArray2</a:t>
            </a:r>
            <a:r>
              <a:rPr lang="zh-CN" altLang="en-US" sz="240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46787" name="内容占位符 2"/>
          <p:cNvSpPr>
            <a:spLocks noGrp="1"/>
          </p:cNvSpPr>
          <p:nvPr>
            <p:ph idx="4294967295"/>
          </p:nvPr>
        </p:nvSpPr>
        <p:spPr>
          <a:xfrm>
            <a:off x="928662" y="1428736"/>
            <a:ext cx="7537450" cy="5040312"/>
          </a:xfrm>
        </p:spPr>
        <p:txBody>
          <a:bodyPr/>
          <a:lstStyle/>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public class TestArray02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public static void main(String[] args)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 二维数组</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  一个数组包含另一个数组</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int [][] array = {{1,2,3},{4,5,6}};</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for (int i = 0; i &lt; array.length; i++)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int[] ints = array[i];</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for (int j = 0; j &lt; ints.length; j++)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int anInt = ints[j];</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System.out.print(anInt + "\t");</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System.out.println();</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TestArray3</a:t>
            </a:r>
            <a:r>
              <a:rPr lang="zh-CN" altLang="en-US" sz="240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46787" name="内容占位符 2"/>
          <p:cNvSpPr>
            <a:spLocks noGrp="1"/>
          </p:cNvSpPr>
          <p:nvPr>
            <p:ph idx="4294967295"/>
          </p:nvPr>
        </p:nvSpPr>
        <p:spPr>
          <a:xfrm>
            <a:off x="928662" y="1428736"/>
            <a:ext cx="7537450" cy="5040312"/>
          </a:xfrm>
        </p:spPr>
        <p:txBody>
          <a:bodyPr/>
          <a:lstStyle/>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public class TestArray03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public static void main(String[] args)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 二维数组</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  一个数组包含另一个数组</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int [][] array = new int[][]{{1,2,3},{4,5,6}};</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for (int i = 0; i &lt; array.length; i++)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int[] ints = array[i];</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for (int j = 0; j &lt; ints.length; j++)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int anInt = ints[j];</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System.out.print(anInt + "\t");</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System.out.println();</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TestArray4</a:t>
            </a:r>
            <a:r>
              <a:rPr lang="zh-CN" altLang="en-US" sz="240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46787" name="内容占位符 2"/>
          <p:cNvSpPr>
            <a:spLocks noGrp="1"/>
          </p:cNvSpPr>
          <p:nvPr>
            <p:ph idx="4294967295"/>
          </p:nvPr>
        </p:nvSpPr>
        <p:spPr>
          <a:xfrm>
            <a:off x="928662" y="996936"/>
            <a:ext cx="7537450" cy="5040312"/>
          </a:xfrm>
        </p:spPr>
        <p:txBody>
          <a:bodyPr>
            <a:normAutofit lnSpcReduction="20000"/>
          </a:bodyPr>
          <a:lstStyle/>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public class TestArray04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public static void main(String[] args)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 二维数组</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  一个数组包含另一个数组</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int [][] array = new int[2][3];//2行，3列，行必须要赋值</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array[0][0] = 1;</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array[0][1] = 2;</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array[0][2] = 3;</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array[1][0] = 4;</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array[1][1] = 5;</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array[1][2] = 6;</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for (int i = 0; i &lt; array.length; i++)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int[] ints = array[i];</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for (int j = 0; j &lt; ints.length; j++)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int anInt = ints[j];</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System.out.print(anInt + "\t");</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System.out.println();</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141730" y="3137535"/>
            <a:ext cx="9812020" cy="860425"/>
          </a:xfrm>
        </p:spPr>
        <p:txBody>
          <a:bodyPr anchor="b">
            <a:normAutofit fontScale="90000"/>
          </a:bodyPr>
          <a:p>
            <a:pPr algn="ctr"/>
            <a:r>
              <a:rPr lang="en-US" altLang="zh-CN" sz="6665" dirty="0">
                <a:solidFill>
                  <a:schemeClr val="bg1"/>
                </a:solidFill>
                <a:latin typeface="Arial" panose="020B0604020202020204" pitchFamily="34" charset="0"/>
                <a:ea typeface="宋体" panose="02010600030101010101" pitchFamily="2" charset="-122"/>
              </a:rPr>
              <a:t>--------------------</a:t>
            </a:r>
            <a:endParaRPr lang="en-US" altLang="zh-CN"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fontScale="80000"/>
          </a:bodyPr>
          <a:p>
            <a:pPr marL="457200" indent="-457200" eaLnBrk="1" hangingPunct="1">
              <a:lnSpc>
                <a:spcPct val="190000"/>
              </a:lnSpc>
              <a:buClr>
                <a:srgbClr val="ED7D31"/>
              </a:buClr>
              <a:buFont typeface="+mj-lt"/>
              <a:buAutoNum type="arabicPeriod"/>
            </a:pPr>
            <a:r>
              <a:rPr lang="zh-CN" altLang="en-US" sz="2000" dirty="0">
                <a:ea typeface="宋体" panose="02010600030101010101" pitchFamily="2" charset="-122"/>
                <a:sym typeface="+mn-ea"/>
              </a:rPr>
              <a:t>使用简单形式创建</a:t>
            </a:r>
            <a:r>
              <a:rPr lang="en-US" sz="2000" dirty="0">
                <a:ea typeface="宋体" panose="02010600030101010101" pitchFamily="2" charset="-122"/>
                <a:sym typeface="+mn-ea"/>
              </a:rPr>
              <a:t>3</a:t>
            </a:r>
            <a:r>
              <a:rPr lang="zh-CN" altLang="en-US" sz="2000" dirty="0">
                <a:ea typeface="宋体" panose="02010600030101010101" pitchFamily="2" charset="-122"/>
                <a:sym typeface="+mn-ea"/>
              </a:rPr>
              <a:t>行</a:t>
            </a:r>
            <a:r>
              <a:rPr lang="en-US" sz="2000" dirty="0">
                <a:ea typeface="宋体" panose="02010600030101010101" pitchFamily="2" charset="-122"/>
                <a:sym typeface="+mn-ea"/>
              </a:rPr>
              <a:t>5</a:t>
            </a:r>
            <a:r>
              <a:rPr lang="zh-CN" altLang="en-US" sz="2000" dirty="0">
                <a:ea typeface="宋体" panose="02010600030101010101" pitchFamily="2" charset="-122"/>
                <a:sym typeface="+mn-ea"/>
              </a:rPr>
              <a:t>列的二维</a:t>
            </a:r>
            <a:r>
              <a:rPr lang="en-US" sz="2000" dirty="0">
                <a:ea typeface="宋体" panose="02010600030101010101" pitchFamily="2" charset="-122"/>
                <a:sym typeface="+mn-ea"/>
              </a:rPr>
              <a:t>String</a:t>
            </a:r>
            <a:r>
              <a:rPr lang="zh-CN" altLang="en-US" sz="2000" dirty="0">
                <a:ea typeface="宋体" panose="02010600030101010101" pitchFamily="2" charset="-122"/>
                <a:sym typeface="+mn-ea"/>
              </a:rPr>
              <a:t>数组，值分别为</a:t>
            </a:r>
            <a:r>
              <a:rPr lang="en-US" sz="2000" dirty="0">
                <a:ea typeface="宋体" panose="02010600030101010101" pitchFamily="2" charset="-122"/>
                <a:sym typeface="+mn-ea"/>
              </a:rPr>
              <a:t>{1a,1b,1c,1d,1f}</a:t>
            </a:r>
            <a:r>
              <a:rPr lang="zh-CN" altLang="en-US" sz="2000" dirty="0">
                <a:ea typeface="宋体" panose="02010600030101010101" pitchFamily="2" charset="-122"/>
                <a:sym typeface="+mn-ea"/>
              </a:rPr>
              <a:t>、</a:t>
            </a:r>
            <a:r>
              <a:rPr lang="en-US" sz="2000" dirty="0">
                <a:ea typeface="宋体" panose="02010600030101010101" pitchFamily="2" charset="-122"/>
                <a:sym typeface="+mn-ea"/>
              </a:rPr>
              <a:t>{2g,2h,2i,2j,2k}</a:t>
            </a:r>
            <a:r>
              <a:rPr lang="zh-CN" altLang="en-US" sz="2000" dirty="0">
                <a:ea typeface="宋体" panose="02010600030101010101" pitchFamily="2" charset="-122"/>
                <a:sym typeface="+mn-ea"/>
              </a:rPr>
              <a:t>、</a:t>
            </a:r>
            <a:r>
              <a:rPr lang="en-US" sz="2000" dirty="0">
                <a:ea typeface="宋体" panose="02010600030101010101" pitchFamily="2" charset="-122"/>
                <a:sym typeface="+mn-ea"/>
              </a:rPr>
              <a:t>{3m,3n,3o,3p,3q} </a:t>
            </a:r>
            <a:r>
              <a:rPr lang="zh-CN" altLang="en-US" sz="2000" dirty="0">
                <a:ea typeface="宋体" panose="02010600030101010101" pitchFamily="2" charset="-122"/>
                <a:sym typeface="+mn-ea"/>
              </a:rPr>
              <a:t>；</a:t>
            </a:r>
            <a:endParaRPr lang="zh-CN" altLang="en-US" sz="2000" dirty="0">
              <a:ea typeface="宋体" panose="02010600030101010101" pitchFamily="2" charset="-122"/>
              <a:sym typeface="+mn-ea"/>
            </a:endParaRPr>
          </a:p>
          <a:p>
            <a:pPr marL="457200" indent="-457200" eaLnBrk="1" hangingPunct="1">
              <a:lnSpc>
                <a:spcPct val="190000"/>
              </a:lnSpc>
              <a:buClr>
                <a:srgbClr val="ED7D31"/>
              </a:buClr>
              <a:buFont typeface="+mj-lt"/>
              <a:buAutoNum type="arabicPeriod"/>
            </a:pPr>
            <a:r>
              <a:rPr lang="zh-CN" altLang="en-US" sz="2000" dirty="0">
                <a:ea typeface="宋体" panose="02010600030101010101" pitchFamily="2" charset="-122"/>
                <a:sym typeface="+mn-ea"/>
              </a:rPr>
              <a:t>使用</a:t>
            </a:r>
            <a:r>
              <a:rPr lang="en-US" sz="2000" dirty="0">
                <a:ea typeface="宋体" panose="02010600030101010101" pitchFamily="2" charset="-122"/>
                <a:sym typeface="+mn-ea"/>
              </a:rPr>
              <a:t>for</a:t>
            </a:r>
            <a:r>
              <a:rPr lang="zh-CN" altLang="en-US" sz="2000" dirty="0">
                <a:ea typeface="宋体" panose="02010600030101010101" pitchFamily="2" charset="-122"/>
                <a:sym typeface="+mn-ea"/>
              </a:rPr>
              <a:t>循环遍历数组，为第</a:t>
            </a:r>
            <a:r>
              <a:rPr lang="en-US" sz="2000" dirty="0">
                <a:ea typeface="宋体" panose="02010600030101010101" pitchFamily="2" charset="-122"/>
                <a:sym typeface="+mn-ea"/>
              </a:rPr>
              <a:t>1</a:t>
            </a:r>
            <a:r>
              <a:rPr lang="zh-CN" altLang="en-US" sz="2000" dirty="0">
                <a:ea typeface="宋体" panose="02010600030101010101" pitchFamily="2" charset="-122"/>
                <a:sym typeface="+mn-ea"/>
              </a:rPr>
              <a:t>行的所有列加上“</a:t>
            </a:r>
            <a:r>
              <a:rPr lang="en-US" sz="2000" dirty="0">
                <a:ea typeface="宋体" panose="02010600030101010101" pitchFamily="2" charset="-122"/>
                <a:sym typeface="+mn-ea"/>
              </a:rPr>
              <a:t>row1:”</a:t>
            </a:r>
            <a:r>
              <a:rPr lang="zh-CN" altLang="en-US" sz="2000" dirty="0">
                <a:ea typeface="宋体" panose="02010600030101010101" pitchFamily="2" charset="-122"/>
                <a:sym typeface="+mn-ea"/>
              </a:rPr>
              <a:t>前缀，为第</a:t>
            </a:r>
            <a:r>
              <a:rPr lang="en-US" sz="2000" dirty="0">
                <a:ea typeface="宋体" panose="02010600030101010101" pitchFamily="2" charset="-122"/>
                <a:sym typeface="+mn-ea"/>
              </a:rPr>
              <a:t>2</a:t>
            </a:r>
            <a:r>
              <a:rPr lang="zh-CN" altLang="en-US" sz="2000" dirty="0">
                <a:ea typeface="宋体" panose="02010600030101010101" pitchFamily="2" charset="-122"/>
                <a:sym typeface="+mn-ea"/>
              </a:rPr>
              <a:t>行的所有列加上“</a:t>
            </a:r>
            <a:r>
              <a:rPr lang="en-US" sz="2000" dirty="0">
                <a:ea typeface="宋体" panose="02010600030101010101" pitchFamily="2" charset="-122"/>
                <a:sym typeface="+mn-ea"/>
              </a:rPr>
              <a:t>row2:”</a:t>
            </a:r>
            <a:r>
              <a:rPr lang="zh-CN" altLang="en-US" sz="2000" dirty="0">
                <a:ea typeface="宋体" panose="02010600030101010101" pitchFamily="2" charset="-122"/>
                <a:sym typeface="+mn-ea"/>
              </a:rPr>
              <a:t>前缀，为第</a:t>
            </a:r>
            <a:r>
              <a:rPr lang="en-US" sz="2000" dirty="0">
                <a:ea typeface="宋体" panose="02010600030101010101" pitchFamily="2" charset="-122"/>
                <a:sym typeface="+mn-ea"/>
              </a:rPr>
              <a:t>3</a:t>
            </a:r>
            <a:r>
              <a:rPr lang="zh-CN" altLang="en-US" sz="2000" dirty="0">
                <a:ea typeface="宋体" panose="02010600030101010101" pitchFamily="2" charset="-122"/>
                <a:sym typeface="+mn-ea"/>
              </a:rPr>
              <a:t>行的所有列加上“</a:t>
            </a:r>
            <a:r>
              <a:rPr lang="en-US" sz="2000" dirty="0">
                <a:ea typeface="宋体" panose="02010600030101010101" pitchFamily="2" charset="-122"/>
                <a:sym typeface="+mn-ea"/>
              </a:rPr>
              <a:t>row3:”</a:t>
            </a:r>
            <a:r>
              <a:rPr lang="zh-CN" altLang="en-US" sz="2000" dirty="0">
                <a:ea typeface="宋体" panose="02010600030101010101" pitchFamily="2" charset="-122"/>
                <a:sym typeface="+mn-ea"/>
              </a:rPr>
              <a:t>前缀</a:t>
            </a:r>
            <a:r>
              <a:rPr lang="en-US" altLang="zh-CN" sz="2000" dirty="0">
                <a:ea typeface="宋体" panose="02010600030101010101" pitchFamily="2" charset="-122"/>
                <a:sym typeface="+mn-ea"/>
              </a:rPr>
              <a:t>, </a:t>
            </a:r>
            <a:r>
              <a:rPr lang="zh-CN" altLang="en-US" sz="2000" dirty="0">
                <a:ea typeface="宋体" panose="02010600030101010101" pitchFamily="2" charset="-122"/>
                <a:sym typeface="+mn-ea"/>
              </a:rPr>
              <a:t>效果：</a:t>
            </a:r>
            <a:endParaRPr lang="zh-CN" altLang="en-US" sz="2000" dirty="0">
              <a:ea typeface="宋体" panose="02010600030101010101" pitchFamily="2" charset="-122"/>
              <a:sym typeface="+mn-ea"/>
            </a:endParaRPr>
          </a:p>
          <a:p>
            <a:pPr marL="457200" lvl="1" indent="457200" eaLnBrk="1" hangingPunct="1">
              <a:lnSpc>
                <a:spcPct val="190000"/>
              </a:lnSpc>
              <a:buClr>
                <a:srgbClr val="ED7D31"/>
              </a:buClr>
              <a:buFont typeface="+mj-lt"/>
              <a:buNone/>
            </a:pPr>
            <a:r>
              <a:rPr lang="zh-CN" altLang="en-US" sz="2000" dirty="0">
                <a:ea typeface="宋体" panose="02010600030101010101" pitchFamily="2" charset="-122"/>
                <a:sym typeface="+mn-ea"/>
              </a:rPr>
              <a:t> row1:1a	row1:1b	row1:1c	row1:1d	row1:1f	</a:t>
            </a:r>
            <a:endParaRPr lang="zh-CN" altLang="en-US" sz="2000" dirty="0">
              <a:ea typeface="宋体" panose="02010600030101010101" pitchFamily="2" charset="-122"/>
              <a:sym typeface="+mn-ea"/>
            </a:endParaRPr>
          </a:p>
          <a:p>
            <a:pPr marL="457200" lvl="1" indent="457200" eaLnBrk="1" hangingPunct="1">
              <a:lnSpc>
                <a:spcPct val="190000"/>
              </a:lnSpc>
              <a:buClr>
                <a:srgbClr val="ED7D31"/>
              </a:buClr>
              <a:buFont typeface="+mj-lt"/>
              <a:buNone/>
            </a:pPr>
            <a:r>
              <a:rPr lang="zh-CN" altLang="en-US" sz="2000" dirty="0">
                <a:ea typeface="宋体" panose="02010600030101010101" pitchFamily="2" charset="-122"/>
                <a:sym typeface="+mn-ea"/>
              </a:rPr>
              <a:t> row2:2g	row2:2h	row2:2i	row2:2j	row2:2k	</a:t>
            </a:r>
            <a:endParaRPr lang="zh-CN" altLang="en-US" sz="2000" dirty="0">
              <a:ea typeface="宋体" panose="02010600030101010101" pitchFamily="2" charset="-122"/>
              <a:sym typeface="+mn-ea"/>
            </a:endParaRPr>
          </a:p>
          <a:p>
            <a:pPr marL="457200" lvl="1" indent="457200" eaLnBrk="1" hangingPunct="1">
              <a:lnSpc>
                <a:spcPct val="190000"/>
              </a:lnSpc>
              <a:buClr>
                <a:srgbClr val="ED7D31"/>
              </a:buClr>
              <a:buFont typeface="+mj-lt"/>
              <a:buNone/>
            </a:pPr>
            <a:r>
              <a:rPr lang="zh-CN" altLang="en-US" sz="2000" dirty="0">
                <a:ea typeface="宋体" panose="02010600030101010101" pitchFamily="2" charset="-122"/>
                <a:sym typeface="+mn-ea"/>
              </a:rPr>
              <a:t> row3:3m	row3:3n	row3:3o	row3:3p	row3:3q	</a:t>
            </a:r>
            <a:endParaRPr lang="zh-CN" altLang="en-US" sz="2000" dirty="0">
              <a:ea typeface="宋体" panose="02010600030101010101" pitchFamily="2" charset="-122"/>
              <a:sym typeface="+mn-ea"/>
            </a:endParaRPr>
          </a:p>
          <a:p>
            <a:pPr marL="457200" indent="-457200" algn="l" eaLnBrk="1" hangingPunct="1">
              <a:lnSpc>
                <a:spcPct val="190000"/>
              </a:lnSpc>
              <a:buClr>
                <a:srgbClr val="ED7D31"/>
              </a:buClr>
              <a:buSzTx/>
              <a:buFont typeface="+mj-lt"/>
              <a:buAutoNum type="arabicPeriod" startAt="3"/>
            </a:pPr>
            <a:r>
              <a:rPr lang="zh-CN" altLang="en-US" sz="2000" dirty="0">
                <a:ea typeface="宋体" panose="02010600030101010101" pitchFamily="2" charset="-122"/>
                <a:sym typeface="+mn-ea"/>
              </a:rPr>
              <a:t>使用增强型for循环遍历并打印数组。</a:t>
            </a:r>
            <a:endParaRPr lang="zh-CN" altLang="en-US" sz="2000" dirty="0">
              <a:ea typeface="宋体" panose="02010600030101010101" pitchFamily="2" charset="-122"/>
            </a:endParaRPr>
          </a:p>
          <a:p>
            <a:pPr marL="0" indent="0" eaLnBrk="1" hangingPunct="1">
              <a:lnSpc>
                <a:spcPct val="190000"/>
              </a:lnSpc>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0" y="3137535"/>
            <a:ext cx="1230503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第三节 枚举</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枚</a:t>
            </a:r>
            <a:r>
              <a:rPr lang="en-US" altLang="zh-CN" sz="2400" smtClean="0">
                <a:ea typeface="宋体" panose="02010600030101010101" pitchFamily="2" charset="-122"/>
                <a:sym typeface="+mn-ea"/>
              </a:rPr>
              <a:t> </a:t>
            </a:r>
            <a:r>
              <a:rPr lang="zh-CN" altLang="en-US" sz="2400" smtClean="0">
                <a:ea typeface="宋体" panose="02010600030101010101" pitchFamily="2" charset="-122"/>
                <a:sym typeface="+mn-ea"/>
              </a:rPr>
              <a:t>举</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816610" y="1160145"/>
            <a:ext cx="10069195" cy="5031105"/>
          </a:xfrm>
        </p:spPr>
        <p:txBody>
          <a:bodyPr>
            <a:normAutofit/>
          </a:bodyPr>
          <a:p>
            <a:pPr marL="457200" indent="-457200" algn="l" eaLnBrk="1" hangingPunct="1">
              <a:lnSpc>
                <a:spcPct val="160000"/>
              </a:lnSpc>
              <a:buClr>
                <a:srgbClr val="ED7D31"/>
              </a:buClr>
              <a:buSzTx/>
              <a:buFont typeface="+mj-lt"/>
              <a:buAutoNum type="arabicPeriod"/>
            </a:pPr>
            <a:r>
              <a:rPr lang="zh-CN" altLang="en-US" sz="2000" smtClean="0">
                <a:ea typeface="宋体" panose="02010600030101010101" pitchFamily="2" charset="-122"/>
                <a:sym typeface="+mn-ea"/>
              </a:rPr>
              <a:t>枚举是一种特殊的Java类，用来定义有限数量的可穷举数据集。</a:t>
            </a:r>
            <a:endParaRPr lang="zh-CN" altLang="en-US" sz="2000" smtClean="0">
              <a:ea typeface="宋体" panose="02010600030101010101" pitchFamily="2" charset="-122"/>
            </a:endParaRPr>
          </a:p>
          <a:p>
            <a:pPr marL="457200" lvl="1" indent="0" algn="l">
              <a:lnSpc>
                <a:spcPct val="160000"/>
              </a:lnSpc>
              <a:buClr>
                <a:srgbClr val="ED7D31"/>
              </a:buClr>
              <a:buSzTx/>
              <a:buFont typeface="+mj-lt"/>
              <a:buNone/>
            </a:pPr>
            <a:r>
              <a:rPr lang="zh-CN" altLang="en-US" sz="1665" smtClean="0">
                <a:ea typeface="宋体" panose="02010600030101010101" pitchFamily="2" charset="-122"/>
                <a:sym typeface="+mn-ea"/>
              </a:rPr>
              <a:t>例如：</a:t>
            </a:r>
            <a:endParaRPr lang="zh-CN" altLang="en-US" sz="1665" smtClean="0">
              <a:ea typeface="宋体" panose="02010600030101010101" pitchFamily="2" charset="-122"/>
            </a:endParaRPr>
          </a:p>
          <a:p>
            <a:pPr marL="704850" lvl="1" indent="-255905">
              <a:buFont typeface="Times"/>
              <a:buNone/>
              <a:defRPr/>
            </a:pPr>
            <a:r>
              <a:rPr lang="en-US" altLang="zh-CN" sz="2000" dirty="0" smtClean="0">
                <a:solidFill>
                  <a:srgbClr val="ED7D31"/>
                </a:solidFill>
                <a:ea typeface="宋体" panose="02010600030101010101" pitchFamily="2" charset="-122"/>
                <a:sym typeface="+mn-ea"/>
              </a:rPr>
              <a:t>public </a:t>
            </a:r>
            <a:r>
              <a:rPr lang="en-US" altLang="zh-CN" sz="2000" dirty="0" err="1" smtClean="0">
                <a:solidFill>
                  <a:srgbClr val="FF0000"/>
                </a:solidFill>
                <a:ea typeface="宋体" panose="02010600030101010101" pitchFamily="2" charset="-122"/>
                <a:sym typeface="+mn-ea"/>
              </a:rPr>
              <a:t>enum</a:t>
            </a:r>
            <a:r>
              <a:rPr lang="en-US" altLang="zh-CN" sz="2000" dirty="0" smtClean="0">
                <a:solidFill>
                  <a:srgbClr val="FF0000"/>
                </a:solidFill>
                <a:ea typeface="宋体" panose="02010600030101010101" pitchFamily="2" charset="-122"/>
                <a:sym typeface="+mn-ea"/>
              </a:rPr>
              <a:t> </a:t>
            </a:r>
            <a:r>
              <a:rPr lang="en-US" altLang="zh-CN" sz="2000" dirty="0" err="1" smtClean="0">
                <a:solidFill>
                  <a:srgbClr val="ED7D31"/>
                </a:solidFill>
                <a:ea typeface="宋体" panose="02010600030101010101" pitchFamily="2" charset="-122"/>
                <a:sym typeface="+mn-ea"/>
              </a:rPr>
              <a:t>TrafficSignal</a:t>
            </a:r>
            <a:r>
              <a:rPr lang="en-US" altLang="zh-CN" sz="2000" dirty="0" smtClean="0">
                <a:solidFill>
                  <a:srgbClr val="ED7D31"/>
                </a:solidFill>
                <a:ea typeface="宋体" panose="02010600030101010101" pitchFamily="2" charset="-122"/>
                <a:sym typeface="+mn-ea"/>
              </a:rPr>
              <a:t> {</a:t>
            </a:r>
            <a:endParaRPr lang="en-US" altLang="zh-CN" sz="2000" dirty="0" smtClean="0">
              <a:solidFill>
                <a:srgbClr val="ED7D31"/>
              </a:solidFill>
              <a:ea typeface="宋体" panose="02010600030101010101" pitchFamily="2" charset="-122"/>
            </a:endParaRPr>
          </a:p>
          <a:p>
            <a:pPr marL="704850" lvl="1" indent="-255905">
              <a:buFont typeface="Times"/>
              <a:buNone/>
              <a:defRPr/>
            </a:pPr>
            <a:r>
              <a:rPr lang="en-US" altLang="zh-CN" sz="2000" dirty="0" smtClean="0">
                <a:solidFill>
                  <a:srgbClr val="ED7D31"/>
                </a:solidFill>
                <a:ea typeface="宋体" panose="02010600030101010101" pitchFamily="2" charset="-122"/>
                <a:sym typeface="+mn-ea"/>
              </a:rPr>
              <a:t>    STOP, CAUTION, GO</a:t>
            </a:r>
            <a:endParaRPr lang="en-US" altLang="zh-CN" sz="2000" dirty="0" smtClean="0">
              <a:solidFill>
                <a:srgbClr val="ED7D31"/>
              </a:solidFill>
              <a:ea typeface="宋体" panose="02010600030101010101" pitchFamily="2" charset="-122"/>
            </a:endParaRPr>
          </a:p>
          <a:p>
            <a:pPr marL="704850" lvl="1" indent="-255905">
              <a:buFont typeface="Times"/>
              <a:buNone/>
              <a:defRPr/>
            </a:pPr>
            <a:r>
              <a:rPr lang="en-US" altLang="zh-CN" sz="2000" dirty="0" smtClean="0">
                <a:solidFill>
                  <a:srgbClr val="ED7D31"/>
                </a:solidFill>
                <a:ea typeface="宋体" panose="02010600030101010101" pitchFamily="2" charset="-122"/>
                <a:sym typeface="+mn-ea"/>
              </a:rPr>
              <a:t>}</a:t>
            </a:r>
            <a:endParaRPr lang="en-US" altLang="zh-CN" sz="2000" dirty="0" smtClean="0">
              <a:solidFill>
                <a:srgbClr val="ED7D31"/>
              </a:solidFill>
              <a:ea typeface="宋体" panose="02010600030101010101" pitchFamily="2" charset="-122"/>
            </a:endParaRPr>
          </a:p>
          <a:p>
            <a:pPr marL="704850" indent="-255905">
              <a:buFont typeface="Times"/>
              <a:buNone/>
              <a:defRPr/>
            </a:pPr>
            <a:r>
              <a:rPr lang="zh-CN" altLang="en-US" sz="2000" dirty="0" smtClean="0">
                <a:ea typeface="宋体" panose="02010600030101010101" pitchFamily="2" charset="-122"/>
                <a:sym typeface="+mn-ea"/>
              </a:rPr>
              <a:t>该示例可使用的枚举值如下：</a:t>
            </a:r>
            <a:endParaRPr lang="en-US" altLang="zh-CN" sz="2000" dirty="0" smtClean="0">
              <a:ea typeface="宋体" panose="02010600030101010101" pitchFamily="2" charset="-122"/>
            </a:endParaRPr>
          </a:p>
          <a:p>
            <a:pPr marL="704850" lvl="1" indent="-255905">
              <a:defRPr/>
            </a:pPr>
            <a:r>
              <a:rPr lang="en-US" altLang="zh-CN" sz="2000" dirty="0" err="1" smtClean="0">
                <a:solidFill>
                  <a:srgbClr val="ED7D31"/>
                </a:solidFill>
                <a:ea typeface="宋体" panose="02010600030101010101" pitchFamily="2" charset="-122"/>
                <a:sym typeface="+mn-ea"/>
              </a:rPr>
              <a:t>TrafficSignal.STOP</a:t>
            </a:r>
            <a:endParaRPr lang="en-US" altLang="zh-CN" sz="2000" dirty="0" smtClean="0">
              <a:solidFill>
                <a:srgbClr val="ED7D31"/>
              </a:solidFill>
              <a:ea typeface="宋体" panose="02010600030101010101" pitchFamily="2" charset="-122"/>
            </a:endParaRPr>
          </a:p>
          <a:p>
            <a:pPr marL="704850" lvl="1" indent="-255905">
              <a:defRPr/>
            </a:pPr>
            <a:r>
              <a:rPr lang="en-US" altLang="zh-CN" sz="2000" dirty="0" err="1" smtClean="0">
                <a:solidFill>
                  <a:srgbClr val="ED7D31"/>
                </a:solidFill>
                <a:ea typeface="宋体" panose="02010600030101010101" pitchFamily="2" charset="-122"/>
                <a:sym typeface="+mn-ea"/>
              </a:rPr>
              <a:t>TrafficSignal.CAUTION</a:t>
            </a:r>
            <a:endParaRPr lang="en-US" altLang="zh-CN" sz="2000" dirty="0" smtClean="0">
              <a:solidFill>
                <a:srgbClr val="ED7D31"/>
              </a:solidFill>
              <a:ea typeface="宋体" panose="02010600030101010101" pitchFamily="2" charset="-122"/>
            </a:endParaRPr>
          </a:p>
          <a:p>
            <a:pPr marL="704850" lvl="1" indent="-255905">
              <a:defRPr/>
            </a:pPr>
            <a:r>
              <a:rPr lang="en-US" altLang="zh-CN" sz="2000" dirty="0" err="1" smtClean="0">
                <a:solidFill>
                  <a:srgbClr val="ED7D31"/>
                </a:solidFill>
                <a:ea typeface="宋体" panose="02010600030101010101" pitchFamily="2" charset="-122"/>
                <a:sym typeface="+mn-ea"/>
              </a:rPr>
              <a:t>TrafficSignal.GO</a:t>
            </a:r>
            <a:endParaRPr lang="en-US" altLang="zh-CN" sz="2000" dirty="0" err="1" smtClean="0">
              <a:solidFill>
                <a:srgbClr val="ED7D31"/>
              </a:solidFill>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TrafficSignal 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900113" y="1327169"/>
            <a:ext cx="7537450" cy="4816475"/>
          </a:xfrm>
        </p:spPr>
        <p:txBody>
          <a:bodyPr>
            <a:normAutofit/>
          </a:bodyPr>
          <a:p>
            <a:pPr marL="361950" indent="-361950" eaLnBrk="1" hangingPunct="1">
              <a:buFont typeface="Times"/>
              <a:buNone/>
              <a:defRPr/>
            </a:pPr>
            <a:r>
              <a:rPr lang="en-US" altLang="zh-CN" sz="2500" dirty="0" smtClean="0">
                <a:solidFill>
                  <a:srgbClr val="002060"/>
                </a:solidFill>
                <a:ea typeface="宋体" panose="02010600030101010101" pitchFamily="2" charset="-122"/>
                <a:cs typeface="+mn-lt"/>
              </a:rPr>
              <a:t>1  public </a:t>
            </a:r>
            <a:r>
              <a:rPr lang="en-US" altLang="zh-CN" sz="2500" dirty="0" err="1" smtClean="0">
                <a:solidFill>
                  <a:srgbClr val="FF0000"/>
                </a:solidFill>
                <a:ea typeface="宋体" panose="02010600030101010101" pitchFamily="2" charset="-122"/>
                <a:cs typeface="+mn-lt"/>
              </a:rPr>
              <a:t>enum</a:t>
            </a:r>
            <a:r>
              <a:rPr lang="en-US" altLang="zh-CN" sz="2500" dirty="0" smtClean="0">
                <a:solidFill>
                  <a:srgbClr val="FF0000"/>
                </a:solidFill>
                <a:ea typeface="宋体" panose="02010600030101010101" pitchFamily="2" charset="-122"/>
                <a:cs typeface="+mn-lt"/>
              </a:rPr>
              <a:t> </a:t>
            </a:r>
            <a:r>
              <a:rPr lang="en-US" altLang="zh-CN" sz="2500" dirty="0" err="1" smtClean="0">
                <a:solidFill>
                  <a:srgbClr val="002060"/>
                </a:solidFill>
                <a:ea typeface="宋体" panose="02010600030101010101" pitchFamily="2" charset="-122"/>
                <a:cs typeface="+mn-lt"/>
              </a:rPr>
              <a:t>TrafficSignal</a:t>
            </a:r>
            <a:r>
              <a:rPr lang="en-US" altLang="zh-CN" sz="2500" dirty="0" smtClean="0">
                <a:solidFill>
                  <a:srgbClr val="002060"/>
                </a:solidFill>
                <a:ea typeface="宋体" panose="02010600030101010101" pitchFamily="2" charset="-122"/>
                <a:cs typeface="+mn-lt"/>
              </a:rPr>
              <a:t> {</a:t>
            </a:r>
            <a:endParaRPr lang="en-US" altLang="zh-CN" sz="2500" dirty="0" smtClean="0">
              <a:solidFill>
                <a:srgbClr val="002060"/>
              </a:solidFill>
              <a:ea typeface="宋体" panose="02010600030101010101" pitchFamily="2" charset="-122"/>
              <a:cs typeface="+mn-lt"/>
            </a:endParaRPr>
          </a:p>
          <a:p>
            <a:pPr marL="361950" indent="-361950" eaLnBrk="1" hangingPunct="1">
              <a:buFont typeface="Times"/>
              <a:buNone/>
              <a:defRPr/>
            </a:pPr>
            <a:r>
              <a:rPr lang="en-US" altLang="zh-CN" sz="2500" dirty="0" smtClean="0">
                <a:solidFill>
                  <a:srgbClr val="002060"/>
                </a:solidFill>
                <a:ea typeface="宋体" panose="02010600030101010101" pitchFamily="2" charset="-122"/>
                <a:cs typeface="+mn-lt"/>
              </a:rPr>
              <a:t>2      STOP, CAUTION, GO</a:t>
            </a:r>
            <a:endParaRPr lang="en-US" altLang="zh-CN" sz="2500" dirty="0" smtClean="0">
              <a:solidFill>
                <a:srgbClr val="002060"/>
              </a:solidFill>
              <a:ea typeface="宋体" panose="02010600030101010101" pitchFamily="2" charset="-122"/>
              <a:cs typeface="+mn-lt"/>
            </a:endParaRPr>
          </a:p>
          <a:p>
            <a:pPr marL="361950" indent="-361950" eaLnBrk="1" hangingPunct="1">
              <a:buFont typeface="Times"/>
              <a:buNone/>
              <a:defRPr/>
            </a:pPr>
            <a:r>
              <a:rPr lang="en-US" altLang="zh-CN" sz="2500" dirty="0" smtClean="0">
                <a:solidFill>
                  <a:srgbClr val="002060"/>
                </a:solidFill>
                <a:ea typeface="宋体" panose="02010600030101010101" pitchFamily="2" charset="-122"/>
                <a:cs typeface="+mn-lt"/>
              </a:rPr>
              <a:t>3  }</a:t>
            </a:r>
            <a:endParaRPr lang="en-US" altLang="zh-CN" sz="25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TestEnum类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987108" y="1160166"/>
            <a:ext cx="7537450" cy="5040312"/>
          </a:xfrm>
        </p:spPr>
        <p:txBody>
          <a:bodyPr>
            <a:noAutofit/>
          </a:bodyPr>
          <a:p>
            <a:pPr marL="361950" indent="-361950" eaLnBrk="1" hangingPunct="1">
              <a:spcBef>
                <a:spcPts val="0"/>
              </a:spcBef>
              <a:buFont typeface="Times"/>
              <a:buNone/>
              <a:defRPr/>
            </a:pPr>
            <a:r>
              <a:rPr lang="en-US" altLang="zh-CN" sz="2000" dirty="0" smtClean="0">
                <a:solidFill>
                  <a:srgbClr val="002060"/>
                </a:solidFill>
                <a:ea typeface="宋体" panose="02010600030101010101" pitchFamily="2" charset="-122"/>
                <a:cs typeface="+mn-lt"/>
              </a:rPr>
              <a:t>1  public class </a:t>
            </a:r>
            <a:r>
              <a:rPr lang="en-US" altLang="zh-CN" sz="2000" dirty="0" err="1" smtClean="0">
                <a:solidFill>
                  <a:srgbClr val="002060"/>
                </a:solidFill>
                <a:ea typeface="宋体" panose="02010600030101010101" pitchFamily="2" charset="-122"/>
                <a:cs typeface="+mn-lt"/>
              </a:rPr>
              <a:t>TestEnum</a:t>
            </a:r>
            <a:r>
              <a:rPr lang="en-US" altLang="zh-CN" sz="2000" dirty="0" smtClean="0">
                <a:solidFill>
                  <a:srgbClr val="002060"/>
                </a:solidFill>
                <a:ea typeface="宋体" panose="02010600030101010101" pitchFamily="2" charset="-122"/>
                <a:cs typeface="+mn-lt"/>
              </a:rPr>
              <a:t> {</a:t>
            </a:r>
            <a:endParaRPr lang="en-US" altLang="zh-CN" sz="2000" dirty="0" smtClean="0">
              <a:solidFill>
                <a:srgbClr val="002060"/>
              </a:solidFill>
              <a:ea typeface="宋体" panose="02010600030101010101" pitchFamily="2" charset="-122"/>
              <a:cs typeface="+mn-lt"/>
            </a:endParaRPr>
          </a:p>
          <a:p>
            <a:pPr marL="361950" indent="-361950" eaLnBrk="1" hangingPunct="1">
              <a:spcBef>
                <a:spcPts val="0"/>
              </a:spcBef>
              <a:buFont typeface="Times"/>
              <a:buNone/>
              <a:defRPr/>
            </a:pPr>
            <a:r>
              <a:rPr lang="en-US" altLang="zh-CN" sz="2000" dirty="0" smtClean="0">
                <a:solidFill>
                  <a:srgbClr val="002060"/>
                </a:solidFill>
                <a:ea typeface="宋体" panose="02010600030101010101" pitchFamily="2" charset="-122"/>
                <a:cs typeface="+mn-lt"/>
              </a:rPr>
              <a:t>2      public static void main(String[] </a:t>
            </a:r>
            <a:r>
              <a:rPr lang="en-US" altLang="zh-CN" sz="2000" dirty="0" err="1" smtClean="0">
                <a:solidFill>
                  <a:srgbClr val="002060"/>
                </a:solidFill>
                <a:ea typeface="宋体" panose="02010600030101010101" pitchFamily="2" charset="-122"/>
                <a:cs typeface="+mn-lt"/>
              </a:rPr>
              <a:t>args</a:t>
            </a:r>
            <a:r>
              <a:rPr lang="en-US" altLang="zh-CN" sz="2000" dirty="0" smtClean="0">
                <a:solidFill>
                  <a:srgbClr val="002060"/>
                </a:solidFill>
                <a:ea typeface="宋体" panose="02010600030101010101" pitchFamily="2" charset="-122"/>
                <a:cs typeface="+mn-lt"/>
              </a:rPr>
              <a:t>) {</a:t>
            </a:r>
            <a:endParaRPr lang="en-US" altLang="zh-CN" sz="2000" dirty="0" smtClean="0">
              <a:solidFill>
                <a:srgbClr val="002060"/>
              </a:solidFill>
              <a:ea typeface="宋体" panose="02010600030101010101" pitchFamily="2" charset="-122"/>
              <a:cs typeface="+mn-lt"/>
            </a:endParaRPr>
          </a:p>
          <a:p>
            <a:pPr marL="361950" indent="-361950" eaLnBrk="1" hangingPunct="1">
              <a:spcBef>
                <a:spcPts val="0"/>
              </a:spcBef>
              <a:buFont typeface="Times"/>
              <a:buNone/>
              <a:defRPr/>
            </a:pPr>
            <a:r>
              <a:rPr lang="en-US" altLang="zh-CN" sz="2000" dirty="0" smtClean="0">
                <a:solidFill>
                  <a:srgbClr val="002060"/>
                </a:solidFill>
                <a:ea typeface="宋体" panose="02010600030101010101" pitchFamily="2" charset="-122"/>
                <a:cs typeface="+mn-lt"/>
              </a:rPr>
              <a:t>3          </a:t>
            </a:r>
            <a:r>
              <a:rPr lang="en-US" altLang="zh-CN" sz="2000" dirty="0" err="1" smtClean="0">
                <a:solidFill>
                  <a:srgbClr val="002060"/>
                </a:solidFill>
                <a:ea typeface="宋体" panose="02010600030101010101" pitchFamily="2" charset="-122"/>
                <a:cs typeface="+mn-lt"/>
              </a:rPr>
              <a:t>TrafficSignal</a:t>
            </a:r>
            <a:r>
              <a:rPr lang="en-US" altLang="zh-CN" sz="2000" dirty="0" smtClean="0">
                <a:solidFill>
                  <a:srgbClr val="002060"/>
                </a:solidFill>
                <a:ea typeface="宋体" panose="02010600030101010101" pitchFamily="2" charset="-122"/>
                <a:cs typeface="+mn-lt"/>
              </a:rPr>
              <a:t>[] signal = </a:t>
            </a:r>
            <a:r>
              <a:rPr lang="en-US" altLang="zh-CN" sz="2000" dirty="0" err="1" smtClean="0">
                <a:solidFill>
                  <a:srgbClr val="002060"/>
                </a:solidFill>
                <a:ea typeface="宋体" panose="02010600030101010101" pitchFamily="2" charset="-122"/>
                <a:cs typeface="+mn-lt"/>
              </a:rPr>
              <a:t>TrafficSignal.values</a:t>
            </a:r>
            <a:r>
              <a:rPr lang="en-US" altLang="zh-CN" sz="2000" dirty="0" smtClean="0">
                <a:solidFill>
                  <a:srgbClr val="002060"/>
                </a:solidFill>
                <a:ea typeface="宋体" panose="02010600030101010101" pitchFamily="2" charset="-122"/>
                <a:cs typeface="+mn-lt"/>
              </a:rPr>
              <a:t>();</a:t>
            </a:r>
            <a:endParaRPr lang="en-US" altLang="zh-CN" sz="2000" dirty="0" smtClean="0">
              <a:solidFill>
                <a:srgbClr val="002060"/>
              </a:solidFill>
              <a:ea typeface="宋体" panose="02010600030101010101" pitchFamily="2" charset="-122"/>
              <a:cs typeface="+mn-lt"/>
            </a:endParaRPr>
          </a:p>
          <a:p>
            <a:pPr marL="361950" indent="-361950" eaLnBrk="1" hangingPunct="1">
              <a:spcBef>
                <a:spcPts val="0"/>
              </a:spcBef>
              <a:buFont typeface="Times"/>
              <a:buNone/>
              <a:defRPr/>
            </a:pPr>
            <a:r>
              <a:rPr lang="en-US" altLang="zh-CN" sz="2000" dirty="0" smtClean="0">
                <a:solidFill>
                  <a:srgbClr val="002060"/>
                </a:solidFill>
                <a:ea typeface="宋体" panose="02010600030101010101" pitchFamily="2" charset="-122"/>
                <a:cs typeface="+mn-lt"/>
              </a:rPr>
              <a:t>4  </a:t>
            </a:r>
            <a:endParaRPr lang="en-US" altLang="zh-CN" sz="2000" dirty="0" smtClean="0">
              <a:solidFill>
                <a:srgbClr val="002060"/>
              </a:solidFill>
              <a:ea typeface="宋体" panose="02010600030101010101" pitchFamily="2" charset="-122"/>
              <a:cs typeface="+mn-lt"/>
            </a:endParaRPr>
          </a:p>
          <a:p>
            <a:pPr marL="361950" indent="-361950" eaLnBrk="1" hangingPunct="1">
              <a:spcBef>
                <a:spcPts val="0"/>
              </a:spcBef>
              <a:buFont typeface="Times"/>
              <a:buNone/>
              <a:defRPr/>
            </a:pPr>
            <a:r>
              <a:rPr lang="en-US" altLang="zh-CN" sz="2000" dirty="0" smtClean="0">
                <a:solidFill>
                  <a:srgbClr val="002060"/>
                </a:solidFill>
                <a:ea typeface="宋体" panose="02010600030101010101" pitchFamily="2" charset="-122"/>
                <a:cs typeface="+mn-lt"/>
              </a:rPr>
              <a:t>5          for (</a:t>
            </a:r>
            <a:r>
              <a:rPr lang="en-US" altLang="zh-CN" sz="2000" dirty="0" err="1" smtClean="0">
                <a:solidFill>
                  <a:srgbClr val="002060"/>
                </a:solidFill>
                <a:ea typeface="宋体" panose="02010600030101010101" pitchFamily="2" charset="-122"/>
                <a:cs typeface="+mn-lt"/>
              </a:rPr>
              <a:t>TrafficSignal</a:t>
            </a:r>
            <a:r>
              <a:rPr lang="en-US" altLang="zh-CN" sz="2000" dirty="0" smtClean="0">
                <a:solidFill>
                  <a:srgbClr val="002060"/>
                </a:solidFill>
                <a:ea typeface="宋体" panose="02010600030101010101" pitchFamily="2" charset="-122"/>
                <a:cs typeface="+mn-lt"/>
              </a:rPr>
              <a:t> t : signal) {</a:t>
            </a:r>
            <a:endParaRPr lang="en-US" altLang="zh-CN" sz="2000" dirty="0" smtClean="0">
              <a:solidFill>
                <a:srgbClr val="002060"/>
              </a:solidFill>
              <a:ea typeface="宋体" panose="02010600030101010101" pitchFamily="2" charset="-122"/>
              <a:cs typeface="+mn-lt"/>
            </a:endParaRPr>
          </a:p>
          <a:p>
            <a:pPr marL="361950" indent="-361950" eaLnBrk="1" hangingPunct="1">
              <a:spcBef>
                <a:spcPts val="0"/>
              </a:spcBef>
              <a:buFont typeface="Times"/>
              <a:buNone/>
              <a:defRPr/>
            </a:pPr>
            <a:r>
              <a:rPr lang="en-US" altLang="zh-CN" sz="2000" dirty="0" smtClean="0">
                <a:solidFill>
                  <a:srgbClr val="002060"/>
                </a:solidFill>
                <a:ea typeface="宋体" panose="02010600030101010101" pitchFamily="2" charset="-122"/>
                <a:cs typeface="+mn-lt"/>
              </a:rPr>
              <a:t>6              </a:t>
            </a:r>
            <a:r>
              <a:rPr lang="en-US" altLang="zh-CN" sz="2000" dirty="0" err="1" smtClean="0">
                <a:solidFill>
                  <a:srgbClr val="002060"/>
                </a:solidFill>
                <a:ea typeface="宋体" panose="02010600030101010101" pitchFamily="2" charset="-122"/>
                <a:cs typeface="+mn-lt"/>
              </a:rPr>
              <a:t>System.out.println</a:t>
            </a:r>
            <a:r>
              <a:rPr lang="en-US" altLang="zh-CN" sz="2000" dirty="0" smtClean="0">
                <a:solidFill>
                  <a:srgbClr val="002060"/>
                </a:solidFill>
                <a:ea typeface="宋体" panose="02010600030101010101" pitchFamily="2" charset="-122"/>
                <a:cs typeface="+mn-lt"/>
              </a:rPr>
              <a:t>(t);</a:t>
            </a:r>
            <a:endParaRPr lang="en-US" altLang="zh-CN" sz="2000" dirty="0" smtClean="0">
              <a:solidFill>
                <a:srgbClr val="002060"/>
              </a:solidFill>
              <a:ea typeface="宋体" panose="02010600030101010101" pitchFamily="2" charset="-122"/>
              <a:cs typeface="+mn-lt"/>
            </a:endParaRPr>
          </a:p>
          <a:p>
            <a:pPr marL="361950" indent="-361950" eaLnBrk="1" hangingPunct="1">
              <a:spcBef>
                <a:spcPts val="0"/>
              </a:spcBef>
              <a:buFont typeface="Times"/>
              <a:buNone/>
              <a:defRPr/>
            </a:pPr>
            <a:r>
              <a:rPr lang="en-US" altLang="zh-CN" sz="2000" dirty="0" smtClean="0">
                <a:solidFill>
                  <a:srgbClr val="002060"/>
                </a:solidFill>
                <a:ea typeface="宋体" panose="02010600030101010101" pitchFamily="2" charset="-122"/>
                <a:cs typeface="+mn-lt"/>
              </a:rPr>
              <a:t>7          }</a:t>
            </a:r>
            <a:endParaRPr lang="en-US" altLang="zh-CN" sz="2000" dirty="0" smtClean="0">
              <a:solidFill>
                <a:srgbClr val="002060"/>
              </a:solidFill>
              <a:ea typeface="宋体" panose="02010600030101010101" pitchFamily="2" charset="-122"/>
              <a:cs typeface="+mn-lt"/>
            </a:endParaRPr>
          </a:p>
          <a:p>
            <a:pPr marL="361950" indent="-361950" eaLnBrk="1" hangingPunct="1">
              <a:spcBef>
                <a:spcPts val="0"/>
              </a:spcBef>
              <a:buFont typeface="Times"/>
              <a:buNone/>
              <a:defRPr/>
            </a:pPr>
            <a:r>
              <a:rPr lang="en-US" altLang="zh-CN" sz="2000" dirty="0" smtClean="0">
                <a:solidFill>
                  <a:srgbClr val="002060"/>
                </a:solidFill>
                <a:ea typeface="宋体" panose="02010600030101010101" pitchFamily="2" charset="-122"/>
                <a:cs typeface="+mn-lt"/>
              </a:rPr>
              <a:t>8          </a:t>
            </a:r>
            <a:r>
              <a:rPr lang="en-US" altLang="zh-CN" sz="2000" dirty="0" err="1" smtClean="0">
                <a:solidFill>
                  <a:srgbClr val="002060"/>
                </a:solidFill>
                <a:ea typeface="宋体" panose="02010600030101010101" pitchFamily="2" charset="-122"/>
                <a:cs typeface="+mn-lt"/>
              </a:rPr>
              <a:t>System.out.println</a:t>
            </a:r>
            <a:r>
              <a:rPr lang="en-US" altLang="zh-CN" sz="2000" dirty="0" smtClean="0">
                <a:solidFill>
                  <a:srgbClr val="002060"/>
                </a:solidFill>
                <a:ea typeface="宋体" panose="02010600030101010101" pitchFamily="2" charset="-122"/>
                <a:cs typeface="+mn-lt"/>
              </a:rPr>
              <a:t>("-----------------");</a:t>
            </a:r>
            <a:endParaRPr lang="en-US" altLang="zh-CN" sz="2000" dirty="0" smtClean="0">
              <a:solidFill>
                <a:srgbClr val="002060"/>
              </a:solidFill>
              <a:ea typeface="宋体" panose="02010600030101010101" pitchFamily="2" charset="-122"/>
              <a:cs typeface="+mn-lt"/>
            </a:endParaRPr>
          </a:p>
          <a:p>
            <a:pPr marL="361950" indent="-361950" eaLnBrk="1" hangingPunct="1">
              <a:spcBef>
                <a:spcPts val="0"/>
              </a:spcBef>
              <a:buFont typeface="Times"/>
              <a:buNone/>
              <a:defRPr/>
            </a:pPr>
            <a:r>
              <a:rPr lang="en-US" altLang="zh-CN" sz="2000" dirty="0" smtClean="0">
                <a:solidFill>
                  <a:srgbClr val="002060"/>
                </a:solidFill>
                <a:ea typeface="宋体" panose="02010600030101010101" pitchFamily="2" charset="-122"/>
                <a:cs typeface="+mn-lt"/>
              </a:rPr>
              <a:t>9          </a:t>
            </a:r>
            <a:r>
              <a:rPr lang="en-US" altLang="zh-CN" sz="2000" dirty="0" err="1" smtClean="0">
                <a:solidFill>
                  <a:srgbClr val="002060"/>
                </a:solidFill>
                <a:ea typeface="宋体" panose="02010600030101010101" pitchFamily="2" charset="-122"/>
                <a:cs typeface="+mn-lt"/>
              </a:rPr>
              <a:t>TrafficSignal</a:t>
            </a:r>
            <a:r>
              <a:rPr lang="en-US" altLang="zh-CN" sz="2000" dirty="0" smtClean="0">
                <a:solidFill>
                  <a:srgbClr val="002060"/>
                </a:solidFill>
                <a:ea typeface="宋体" panose="02010600030101010101" pitchFamily="2" charset="-122"/>
                <a:cs typeface="+mn-lt"/>
              </a:rPr>
              <a:t> t = signal[1];</a:t>
            </a:r>
            <a:endParaRPr lang="en-US" altLang="zh-CN" sz="2000" dirty="0" smtClean="0">
              <a:solidFill>
                <a:srgbClr val="002060"/>
              </a:solidFill>
              <a:ea typeface="宋体" panose="02010600030101010101" pitchFamily="2" charset="-122"/>
              <a:cs typeface="+mn-lt"/>
            </a:endParaRPr>
          </a:p>
          <a:p>
            <a:pPr marL="361950" indent="-361950" eaLnBrk="1" hangingPunct="1">
              <a:spcBef>
                <a:spcPts val="0"/>
              </a:spcBef>
              <a:buFont typeface="Times"/>
              <a:buNone/>
              <a:defRPr/>
            </a:pPr>
            <a:r>
              <a:rPr lang="en-US" altLang="zh-CN" sz="2000" dirty="0" smtClean="0">
                <a:solidFill>
                  <a:srgbClr val="002060"/>
                </a:solidFill>
                <a:ea typeface="宋体" panose="02010600030101010101" pitchFamily="2" charset="-122"/>
                <a:cs typeface="+mn-lt"/>
              </a:rPr>
              <a:t>10         switch (t) {</a:t>
            </a:r>
            <a:endParaRPr lang="en-US" altLang="zh-CN" sz="2000" dirty="0" smtClean="0">
              <a:solidFill>
                <a:srgbClr val="002060"/>
              </a:solidFill>
              <a:ea typeface="宋体" panose="02010600030101010101" pitchFamily="2" charset="-122"/>
              <a:cs typeface="+mn-lt"/>
            </a:endParaRPr>
          </a:p>
          <a:p>
            <a:pPr marL="361950" indent="-361950" eaLnBrk="1" hangingPunct="1">
              <a:spcBef>
                <a:spcPts val="0"/>
              </a:spcBef>
              <a:buFont typeface="Times"/>
              <a:buNone/>
              <a:defRPr/>
            </a:pPr>
            <a:r>
              <a:rPr lang="en-US" altLang="zh-CN" sz="2000" dirty="0" smtClean="0">
                <a:solidFill>
                  <a:srgbClr val="002060"/>
                </a:solidFill>
                <a:ea typeface="宋体" panose="02010600030101010101" pitchFamily="2" charset="-122"/>
                <a:cs typeface="+mn-lt"/>
              </a:rPr>
              <a:t>11             case STOP   :</a:t>
            </a:r>
            <a:r>
              <a:rPr lang="en-US" altLang="zh-CN" sz="2000" dirty="0" err="1" smtClean="0">
                <a:solidFill>
                  <a:srgbClr val="002060"/>
                </a:solidFill>
                <a:ea typeface="宋体" panose="02010600030101010101" pitchFamily="2" charset="-122"/>
                <a:cs typeface="+mn-lt"/>
              </a:rPr>
              <a:t>System.out.println</a:t>
            </a:r>
            <a:r>
              <a:rPr lang="en-US" altLang="zh-CN" sz="2000" dirty="0" smtClean="0">
                <a:solidFill>
                  <a:srgbClr val="002060"/>
                </a:solidFill>
                <a:ea typeface="宋体" panose="02010600030101010101" pitchFamily="2" charset="-122"/>
                <a:cs typeface="+mn-lt"/>
              </a:rPr>
              <a:t>("red");</a:t>
            </a:r>
            <a:endParaRPr lang="en-US" altLang="zh-CN" sz="2000" dirty="0" smtClean="0">
              <a:solidFill>
                <a:srgbClr val="002060"/>
              </a:solidFill>
              <a:ea typeface="宋体" panose="02010600030101010101" pitchFamily="2" charset="-122"/>
              <a:cs typeface="+mn-lt"/>
            </a:endParaRPr>
          </a:p>
          <a:p>
            <a:pPr marL="361950" indent="-361950" eaLnBrk="1" hangingPunct="1">
              <a:spcBef>
                <a:spcPts val="0"/>
              </a:spcBef>
              <a:buFont typeface="Times"/>
              <a:buNone/>
              <a:defRPr/>
            </a:pPr>
            <a:r>
              <a:rPr lang="en-US" altLang="zh-CN" sz="2000" dirty="0" smtClean="0">
                <a:solidFill>
                  <a:srgbClr val="002060"/>
                </a:solidFill>
                <a:ea typeface="宋体" panose="02010600030101010101" pitchFamily="2" charset="-122"/>
                <a:cs typeface="+mn-lt"/>
              </a:rPr>
              <a:t>12                          break;</a:t>
            </a:r>
            <a:endParaRPr lang="en-US" altLang="zh-CN" sz="2000" dirty="0" smtClean="0">
              <a:solidFill>
                <a:srgbClr val="002060"/>
              </a:solidFill>
              <a:ea typeface="宋体" panose="02010600030101010101" pitchFamily="2" charset="-122"/>
              <a:cs typeface="+mn-lt"/>
            </a:endParaRPr>
          </a:p>
          <a:p>
            <a:pPr marL="361950" indent="-361950" eaLnBrk="1" hangingPunct="1">
              <a:spcBef>
                <a:spcPts val="0"/>
              </a:spcBef>
              <a:buFont typeface="Times"/>
              <a:buNone/>
              <a:defRPr/>
            </a:pPr>
            <a:r>
              <a:rPr lang="en-US" altLang="zh-CN" sz="2000" dirty="0" smtClean="0">
                <a:solidFill>
                  <a:srgbClr val="002060"/>
                </a:solidFill>
                <a:ea typeface="宋体" panose="02010600030101010101" pitchFamily="2" charset="-122"/>
                <a:cs typeface="+mn-lt"/>
              </a:rPr>
              <a:t>13             case </a:t>
            </a:r>
            <a:r>
              <a:rPr lang="en-US" altLang="zh-CN" sz="2000" dirty="0" err="1" smtClean="0">
                <a:solidFill>
                  <a:srgbClr val="002060"/>
                </a:solidFill>
                <a:ea typeface="宋体" panose="02010600030101010101" pitchFamily="2" charset="-122"/>
                <a:cs typeface="+mn-lt"/>
              </a:rPr>
              <a:t>CAUTION:System.out.println</a:t>
            </a:r>
            <a:r>
              <a:rPr lang="en-US" altLang="zh-CN" sz="2000" dirty="0" smtClean="0">
                <a:solidFill>
                  <a:srgbClr val="002060"/>
                </a:solidFill>
                <a:ea typeface="宋体" panose="02010600030101010101" pitchFamily="2" charset="-122"/>
                <a:cs typeface="+mn-lt"/>
              </a:rPr>
              <a:t>("yellow");</a:t>
            </a:r>
            <a:endParaRPr lang="en-US" altLang="zh-CN" sz="2000" dirty="0" smtClean="0">
              <a:solidFill>
                <a:srgbClr val="002060"/>
              </a:solidFill>
              <a:ea typeface="宋体" panose="02010600030101010101" pitchFamily="2" charset="-122"/>
              <a:cs typeface="+mn-lt"/>
            </a:endParaRPr>
          </a:p>
          <a:p>
            <a:pPr marL="361950" indent="-361950" eaLnBrk="1" hangingPunct="1">
              <a:spcBef>
                <a:spcPts val="0"/>
              </a:spcBef>
              <a:buFont typeface="Times"/>
              <a:buNone/>
              <a:defRPr/>
            </a:pPr>
            <a:r>
              <a:rPr lang="en-US" altLang="zh-CN" sz="2000" dirty="0" smtClean="0">
                <a:solidFill>
                  <a:srgbClr val="002060"/>
                </a:solidFill>
                <a:ea typeface="宋体" panose="02010600030101010101" pitchFamily="2" charset="-122"/>
                <a:cs typeface="+mn-lt"/>
              </a:rPr>
              <a:t>14                          break;</a:t>
            </a:r>
            <a:endParaRPr lang="en-US" altLang="zh-CN" sz="2000" dirty="0" smtClean="0">
              <a:solidFill>
                <a:srgbClr val="002060"/>
              </a:solidFill>
              <a:ea typeface="宋体" panose="02010600030101010101" pitchFamily="2" charset="-122"/>
              <a:cs typeface="+mn-lt"/>
            </a:endParaRPr>
          </a:p>
          <a:p>
            <a:pPr marL="361950" indent="-361950" eaLnBrk="1" hangingPunct="1">
              <a:spcBef>
                <a:spcPts val="0"/>
              </a:spcBef>
              <a:buFont typeface="Times"/>
              <a:buNone/>
              <a:defRPr/>
            </a:pPr>
            <a:r>
              <a:rPr lang="en-US" altLang="zh-CN" sz="2000" dirty="0" smtClean="0">
                <a:solidFill>
                  <a:srgbClr val="002060"/>
                </a:solidFill>
                <a:ea typeface="宋体" panose="02010600030101010101" pitchFamily="2" charset="-122"/>
                <a:cs typeface="+mn-lt"/>
              </a:rPr>
              <a:t>15             case GO     :</a:t>
            </a:r>
            <a:r>
              <a:rPr lang="en-US" altLang="zh-CN" sz="2000" dirty="0" err="1" smtClean="0">
                <a:solidFill>
                  <a:srgbClr val="002060"/>
                </a:solidFill>
                <a:ea typeface="宋体" panose="02010600030101010101" pitchFamily="2" charset="-122"/>
                <a:cs typeface="+mn-lt"/>
              </a:rPr>
              <a:t>System.out.println</a:t>
            </a:r>
            <a:r>
              <a:rPr lang="en-US" altLang="zh-CN" sz="2000" dirty="0" smtClean="0">
                <a:solidFill>
                  <a:srgbClr val="002060"/>
                </a:solidFill>
                <a:ea typeface="宋体" panose="02010600030101010101" pitchFamily="2" charset="-122"/>
                <a:cs typeface="+mn-lt"/>
              </a:rPr>
              <a:t>("green");</a:t>
            </a:r>
            <a:endParaRPr lang="en-US" altLang="zh-CN" sz="2000" dirty="0" smtClean="0">
              <a:solidFill>
                <a:srgbClr val="002060"/>
              </a:solidFill>
              <a:ea typeface="宋体" panose="02010600030101010101" pitchFamily="2" charset="-122"/>
              <a:cs typeface="+mn-lt"/>
            </a:endParaRPr>
          </a:p>
          <a:p>
            <a:pPr marL="361950" indent="-361950" eaLnBrk="1" hangingPunct="1">
              <a:spcBef>
                <a:spcPts val="0"/>
              </a:spcBef>
              <a:buFont typeface="Times"/>
              <a:buNone/>
              <a:defRPr/>
            </a:pPr>
            <a:r>
              <a:rPr lang="en-US" altLang="zh-CN" sz="2000" dirty="0" smtClean="0">
                <a:solidFill>
                  <a:srgbClr val="002060"/>
                </a:solidFill>
                <a:ea typeface="宋体" panose="02010600030101010101" pitchFamily="2" charset="-122"/>
                <a:cs typeface="+mn-lt"/>
              </a:rPr>
              <a:t>16                          break;</a:t>
            </a:r>
            <a:endParaRPr lang="en-US" altLang="zh-CN" sz="2000" dirty="0" smtClean="0">
              <a:solidFill>
                <a:srgbClr val="002060"/>
              </a:solidFill>
              <a:ea typeface="宋体" panose="02010600030101010101" pitchFamily="2" charset="-122"/>
              <a:cs typeface="+mn-lt"/>
            </a:endParaRPr>
          </a:p>
          <a:p>
            <a:pPr marL="361950" indent="-361950" eaLnBrk="1" hangingPunct="1">
              <a:spcBef>
                <a:spcPts val="0"/>
              </a:spcBef>
              <a:buFont typeface="Times"/>
              <a:buNone/>
              <a:defRPr/>
            </a:pPr>
            <a:r>
              <a:rPr lang="en-US" altLang="zh-CN" sz="2000" dirty="0" smtClean="0">
                <a:solidFill>
                  <a:srgbClr val="002060"/>
                </a:solidFill>
                <a:ea typeface="宋体" panose="02010600030101010101" pitchFamily="2" charset="-122"/>
                <a:cs typeface="+mn-lt"/>
              </a:rPr>
              <a:t>17         }</a:t>
            </a:r>
            <a:endParaRPr lang="en-US" altLang="zh-CN" sz="2000" dirty="0" smtClean="0">
              <a:solidFill>
                <a:srgbClr val="002060"/>
              </a:solidFill>
              <a:ea typeface="宋体" panose="02010600030101010101" pitchFamily="2" charset="-122"/>
              <a:cs typeface="+mn-lt"/>
            </a:endParaRPr>
          </a:p>
          <a:p>
            <a:pPr marL="361950" indent="-361950" eaLnBrk="1" hangingPunct="1">
              <a:spcBef>
                <a:spcPts val="0"/>
              </a:spcBef>
              <a:buFont typeface="Times"/>
              <a:buNone/>
              <a:defRPr/>
            </a:pPr>
            <a:r>
              <a:rPr lang="en-US" altLang="zh-CN" sz="2000" dirty="0" smtClean="0">
                <a:solidFill>
                  <a:srgbClr val="002060"/>
                </a:solidFill>
                <a:ea typeface="宋体" panose="02010600030101010101" pitchFamily="2" charset="-122"/>
                <a:cs typeface="+mn-lt"/>
              </a:rPr>
              <a:t>18     }</a:t>
            </a:r>
            <a:endParaRPr lang="en-US" altLang="zh-CN" sz="2000" dirty="0" smtClean="0">
              <a:solidFill>
                <a:srgbClr val="002060"/>
              </a:solidFill>
              <a:ea typeface="宋体" panose="02010600030101010101" pitchFamily="2" charset="-122"/>
              <a:cs typeface="+mn-lt"/>
            </a:endParaRPr>
          </a:p>
          <a:p>
            <a:pPr marL="361950" indent="-361950" eaLnBrk="1" hangingPunct="1">
              <a:spcBef>
                <a:spcPts val="0"/>
              </a:spcBef>
              <a:buFont typeface="Times"/>
              <a:buNone/>
              <a:defRPr/>
            </a:pPr>
            <a:r>
              <a:rPr lang="en-US" altLang="zh-CN" sz="2000" dirty="0" smtClean="0">
                <a:solidFill>
                  <a:srgbClr val="002060"/>
                </a:solidFill>
                <a:ea typeface="宋体" panose="02010600030101010101" pitchFamily="2" charset="-122"/>
                <a:cs typeface="+mn-lt"/>
              </a:rPr>
              <a:t>19 }</a:t>
            </a:r>
            <a:endParaRPr lang="en-US" altLang="zh-CN" sz="20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816610" y="1160145"/>
            <a:ext cx="10069195" cy="5031105"/>
          </a:xfrm>
        </p:spPr>
        <p:txBody>
          <a:bodyPr>
            <a:normAutofit/>
          </a:bodyPr>
          <a:p>
            <a:pPr marL="457200" indent="-457200" algn="l" eaLnBrk="1" hangingPunct="1">
              <a:lnSpc>
                <a:spcPct val="160000"/>
              </a:lnSpc>
              <a:buClr>
                <a:srgbClr val="ED7D31"/>
              </a:buClr>
              <a:buSzTx/>
              <a:buFont typeface="+mj-lt"/>
              <a:buAutoNum type="arabicPeriod"/>
            </a:pPr>
            <a:r>
              <a:rPr lang="zh-CN" altLang="en-US" sz="2000" smtClean="0">
                <a:ea typeface="宋体" panose="02010600030101010101" pitchFamily="2" charset="-122"/>
                <a:sym typeface="+mn-ea"/>
              </a:rPr>
              <a:t>声明</a:t>
            </a:r>
            <a:r>
              <a:rPr lang="en-US" altLang="zh-CN" sz="2000" smtClean="0">
                <a:ea typeface="宋体" panose="02010600030101010101" pitchFamily="2" charset="-122"/>
                <a:sym typeface="+mn-ea"/>
              </a:rPr>
              <a:t>Week</a:t>
            </a:r>
            <a:r>
              <a:rPr lang="zh-CN" altLang="en-US" sz="2000" smtClean="0">
                <a:ea typeface="宋体" panose="02010600030101010101" pitchFamily="2" charset="-122"/>
                <a:sym typeface="+mn-ea"/>
              </a:rPr>
              <a:t>枚举类，其中包含星期一至星期日的定义；</a:t>
            </a:r>
            <a:endParaRPr lang="zh-CN" altLang="en-US" sz="2000" smtClean="0">
              <a:ea typeface="宋体" panose="02010600030101010101" pitchFamily="2" charset="-122"/>
              <a:sym typeface="+mn-ea"/>
            </a:endParaRPr>
          </a:p>
          <a:p>
            <a:pPr marL="457200" indent="-457200" algn="l" eaLnBrk="1" hangingPunct="1">
              <a:lnSpc>
                <a:spcPct val="160000"/>
              </a:lnSpc>
              <a:buClr>
                <a:srgbClr val="ED7D31"/>
              </a:buClr>
              <a:buSzTx/>
              <a:buFont typeface="+mj-lt"/>
              <a:buAutoNum type="arabicPeriod"/>
            </a:pPr>
            <a:r>
              <a:rPr lang="zh-CN" altLang="en-US" sz="2000" smtClean="0">
                <a:ea typeface="宋体" panose="02010600030101010101" pitchFamily="2" charset="-122"/>
                <a:sym typeface="+mn-ea"/>
              </a:rPr>
              <a:t>在</a:t>
            </a:r>
            <a:r>
              <a:rPr lang="en-US" altLang="zh-CN" sz="2000" smtClean="0">
                <a:ea typeface="宋体" panose="02010600030101010101" pitchFamily="2" charset="-122"/>
                <a:sym typeface="+mn-ea"/>
              </a:rPr>
              <a:t>TestWeek</a:t>
            </a:r>
            <a:r>
              <a:rPr lang="zh-CN" altLang="en-US" sz="2000" smtClean="0">
                <a:ea typeface="宋体" panose="02010600030101010101" pitchFamily="2" charset="-122"/>
                <a:sym typeface="+mn-ea"/>
              </a:rPr>
              <a:t>类中声明方法中</a:t>
            </a:r>
            <a:r>
              <a:rPr lang="en-US" altLang="zh-CN" sz="2000" smtClean="0">
                <a:ea typeface="宋体" panose="02010600030101010101" pitchFamily="2" charset="-122"/>
                <a:sym typeface="+mn-ea"/>
              </a:rPr>
              <a:t>printWeek(Week week)</a:t>
            </a:r>
            <a:r>
              <a:rPr lang="zh-CN" altLang="en-US" sz="2000" smtClean="0">
                <a:ea typeface="宋体" panose="02010600030101010101" pitchFamily="2" charset="-122"/>
                <a:sym typeface="+mn-ea"/>
              </a:rPr>
              <a:t>，根据参数值打印相应的中文星期字符串。</a:t>
            </a:r>
            <a:endParaRPr lang="zh-CN" altLang="en-US" sz="2000" smtClean="0">
              <a:ea typeface="宋体" panose="02010600030101010101" pitchFamily="2" charset="-122"/>
              <a:sym typeface="+mn-ea"/>
            </a:endParaRPr>
          </a:p>
          <a:p>
            <a:pPr marL="457200" indent="-457200" algn="l" eaLnBrk="1" hangingPunct="1">
              <a:lnSpc>
                <a:spcPct val="160000"/>
              </a:lnSpc>
              <a:buClr>
                <a:srgbClr val="ED7D31"/>
              </a:buClr>
              <a:buSzTx/>
              <a:buFont typeface="+mj-lt"/>
              <a:buAutoNum type="arabicPeriod"/>
            </a:pPr>
            <a:r>
              <a:rPr lang="zh-CN" altLang="en-US" sz="2000" smtClean="0">
                <a:ea typeface="宋体" panose="02010600030101010101" pitchFamily="2" charset="-122"/>
                <a:sym typeface="+mn-ea"/>
              </a:rPr>
              <a:t>在</a:t>
            </a:r>
            <a:r>
              <a:rPr lang="en-US" altLang="zh-CN" sz="2000" smtClean="0">
                <a:ea typeface="宋体" panose="02010600030101010101" pitchFamily="2" charset="-122"/>
                <a:sym typeface="+mn-ea"/>
              </a:rPr>
              <a:t>main</a:t>
            </a:r>
            <a:r>
              <a:rPr lang="zh-CN" altLang="en-US" sz="2000" smtClean="0">
                <a:ea typeface="宋体" panose="02010600030101010101" pitchFamily="2" charset="-122"/>
                <a:sym typeface="+mn-ea"/>
              </a:rPr>
              <a:t>方法中从命令行接收一个</a:t>
            </a:r>
            <a:r>
              <a:rPr lang="en-US" altLang="zh-CN" sz="2000" smtClean="0">
                <a:ea typeface="宋体" panose="02010600030101010101" pitchFamily="2" charset="-122"/>
                <a:sym typeface="+mn-ea"/>
              </a:rPr>
              <a:t>1-7</a:t>
            </a:r>
            <a:r>
              <a:rPr lang="zh-CN" altLang="en-US" sz="2000" smtClean="0">
                <a:ea typeface="宋体" panose="02010600030101010101" pitchFamily="2" charset="-122"/>
                <a:sym typeface="+mn-ea"/>
              </a:rPr>
              <a:t>的整数</a:t>
            </a:r>
            <a:r>
              <a:rPr lang="en-US" altLang="zh-CN" sz="2000" smtClean="0">
                <a:ea typeface="宋体" panose="02010600030101010101" pitchFamily="2" charset="-122"/>
                <a:sym typeface="+mn-ea"/>
              </a:rPr>
              <a:t>(</a:t>
            </a:r>
            <a:r>
              <a:rPr lang="zh-CN" altLang="en-US" sz="2000" smtClean="0">
                <a:ea typeface="宋体" panose="02010600030101010101" pitchFamily="2" charset="-122"/>
                <a:sym typeface="+mn-ea"/>
              </a:rPr>
              <a:t>使用</a:t>
            </a:r>
            <a:r>
              <a:rPr lang="en-US" altLang="zh-CN" sz="2000" smtClean="0">
                <a:ea typeface="宋体" panose="02010600030101010101" pitchFamily="2" charset="-122"/>
                <a:sym typeface="+mn-ea"/>
              </a:rPr>
              <a:t>Integer.parseInt</a:t>
            </a:r>
            <a:r>
              <a:rPr lang="zh-CN" altLang="en-US" sz="2000" smtClean="0">
                <a:ea typeface="宋体" panose="02010600030101010101" pitchFamily="2" charset="-122"/>
                <a:sym typeface="+mn-ea"/>
              </a:rPr>
              <a:t>方法转换</a:t>
            </a:r>
            <a:r>
              <a:rPr lang="en-US" altLang="zh-CN" sz="2000" smtClean="0">
                <a:ea typeface="宋体" panose="02010600030101010101" pitchFamily="2" charset="-122"/>
                <a:sym typeface="+mn-ea"/>
              </a:rPr>
              <a:t>)</a:t>
            </a:r>
            <a:r>
              <a:rPr lang="zh-CN" altLang="en-US" sz="2000" smtClean="0">
                <a:ea typeface="宋体" panose="02010600030101010101" pitchFamily="2" charset="-122"/>
                <a:sym typeface="+mn-ea"/>
              </a:rPr>
              <a:t>，分别代表星期一至星期日，打印该值对应的枚举值，然后以此枚举值调用</a:t>
            </a:r>
            <a:r>
              <a:rPr lang="en-US" altLang="zh-CN" sz="2000" smtClean="0">
                <a:ea typeface="宋体" panose="02010600030101010101" pitchFamily="2" charset="-122"/>
                <a:sym typeface="+mn-ea"/>
              </a:rPr>
              <a:t>printWeek</a:t>
            </a:r>
            <a:r>
              <a:rPr lang="zh-CN" altLang="en-US" sz="2000" smtClean="0">
                <a:ea typeface="宋体" panose="02010600030101010101" pitchFamily="2" charset="-122"/>
                <a:sym typeface="+mn-ea"/>
              </a:rPr>
              <a:t>方法，输出中文星期。</a:t>
            </a:r>
            <a:endParaRPr lang="en-US" altLang="zh-CN" sz="2000" dirty="0" err="1" smtClean="0">
              <a:solidFill>
                <a:srgbClr val="ED7D31"/>
              </a:solidFill>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pic>
        <p:nvPicPr>
          <p:cNvPr id="6" name="图片 5" descr="5d0495981e06a4beefc1a7ac3c41024d"/>
          <p:cNvPicPr>
            <a:picLocks noChangeAspect="1"/>
          </p:cNvPicPr>
          <p:nvPr>
            <p:custDataLst>
              <p:tags r:id="rId1"/>
            </p:custDataLst>
          </p:nvPr>
        </p:nvPicPr>
        <p:blipFill>
          <a:blip r:embed="rId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3"/>
            </p:custDataLst>
          </p:nvPr>
        </p:nvPicPr>
        <p:blipFill>
          <a:blip r:embed="rId2"/>
          <a:srcRect l="30697"/>
          <a:stretch>
            <a:fillRect/>
          </a:stretch>
        </p:blipFill>
        <p:spPr>
          <a:xfrm>
            <a:off x="8673465" y="-348615"/>
            <a:ext cx="5215255" cy="1497965"/>
          </a:xfrm>
          <a:prstGeom prst="rect">
            <a:avLst/>
          </a:prstGeom>
        </p:spPr>
      </p:pic>
      <p:sp>
        <p:nvSpPr>
          <p:cNvPr id="24" name="直角三角形 23"/>
          <p:cNvSpPr/>
          <p:nvPr>
            <p:custDataLst>
              <p:tags r:id="rId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4209415" y="1847215"/>
            <a:ext cx="0" cy="315595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765675" y="2294890"/>
            <a:ext cx="3369310" cy="460375"/>
          </a:xfrm>
          <a:prstGeom prst="rect">
            <a:avLst/>
          </a:prstGeom>
          <a:noFill/>
        </p:spPr>
        <p:txBody>
          <a:bodyPr wrap="square" rtlCol="0">
            <a:spAutoFit/>
          </a:bodyPr>
          <a:lstStyle/>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1.</a:t>
            </a:r>
            <a:r>
              <a:rPr lang="zh-CN" altLang="en-US" sz="2400" dirty="0" smtClean="0">
                <a:ea typeface="宋体" panose="02010600030101010101" pitchFamily="2" charset="-122"/>
                <a:sym typeface="+mn-ea"/>
              </a:rPr>
              <a:t>异常的原理</a:t>
            </a: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p:txBody>
      </p:sp>
      <p:sp>
        <p:nvSpPr>
          <p:cNvPr id="25" name="矩形 24"/>
          <p:cNvSpPr/>
          <p:nvPr/>
        </p:nvSpPr>
        <p:spPr>
          <a:xfrm>
            <a:off x="1167765" y="2648585"/>
            <a:ext cx="2912110" cy="1383665"/>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第二章</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smtClean="0">
                <a:latin typeface="Arial" panose="020B0604020202020204" pitchFamily="34" charset="0"/>
                <a:ea typeface="宋体" panose="02010600030101010101" pitchFamily="2" charset="-122"/>
                <a:sym typeface="+mn-ea"/>
              </a:rPr>
              <a:t>异  </a:t>
            </a:r>
            <a:r>
              <a:rPr lang="en-US" altLang="zh-CN" sz="2400" b="1" dirty="0" smtClean="0">
                <a:latin typeface="Arial" panose="020B0604020202020204" pitchFamily="34" charset="0"/>
                <a:ea typeface="宋体" panose="02010600030101010101" pitchFamily="2" charset="-122"/>
                <a:sym typeface="+mn-ea"/>
              </a:rPr>
              <a:t>        </a:t>
            </a:r>
            <a:r>
              <a:rPr lang="zh-CN" altLang="en-US" sz="2400" b="1" dirty="0" smtClean="0">
                <a:latin typeface="Arial" panose="020B0604020202020204" pitchFamily="34" charset="0"/>
                <a:ea typeface="宋体" panose="02010600030101010101" pitchFamily="2" charset="-122"/>
                <a:sym typeface="+mn-ea"/>
              </a:rPr>
              <a:t>常</a:t>
            </a:r>
            <a:endParaRPr kumimoji="0" lang="zh-CN" altLang="en-US" sz="2400" b="1" i="0" u="none" strike="noStrike" kern="1200" cap="none" spc="300" normalizeH="0" baseline="0" noProof="0" dirty="0" smtClean="0">
              <a:ln>
                <a:noFill/>
              </a:ln>
              <a:solidFill>
                <a:srgbClr val="002060"/>
              </a:solidFill>
              <a:effectLst/>
              <a:uLnTx/>
              <a:uFillTx/>
              <a:latin typeface="Arial" panose="020B0604020202020204" pitchFamily="34" charset="0"/>
              <a:ea typeface="宋体" panose="02010600030101010101" pitchFamily="2" charset="-122"/>
              <a:sym typeface="+mn-ea"/>
            </a:endParaRPr>
          </a:p>
        </p:txBody>
      </p:sp>
      <p:sp>
        <p:nvSpPr>
          <p:cNvPr id="37" name="矩形 36"/>
          <p:cNvSpPr/>
          <p:nvPr/>
        </p:nvSpPr>
        <p:spPr>
          <a:xfrm>
            <a:off x="4792345" y="2994660"/>
            <a:ext cx="3907155" cy="460375"/>
          </a:xfrm>
          <a:prstGeom prst="rect">
            <a:avLst/>
          </a:prstGeom>
          <a:noFill/>
        </p:spPr>
        <p:txBody>
          <a:bodyPr wrap="square" rtlCol="0">
            <a:spAutoFit/>
          </a:bodyPr>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solidFill>
                  <a:srgbClr val="ED7D31"/>
                </a:solidFill>
                <a:effectLst/>
                <a:uLnTx/>
                <a:uFillTx/>
                <a:latin typeface="+mj-ea"/>
                <a:ea typeface="+mj-ea"/>
                <a:cs typeface="+mj-ea"/>
                <a:sym typeface="思源黑体 CN Light" panose="020B0300000000000000" pitchFamily="34" charset="-122"/>
              </a:rPr>
              <a:t>2.</a:t>
            </a:r>
            <a:r>
              <a:rPr lang="zh-CN" altLang="en-US" sz="2400" dirty="0" smtClean="0">
                <a:solidFill>
                  <a:srgbClr val="ED7D31"/>
                </a:solidFill>
                <a:ea typeface="宋体" panose="02010600030101010101" pitchFamily="2" charset="-122"/>
                <a:sym typeface="+mn-ea"/>
              </a:rPr>
              <a:t>异常处理的三种方式</a:t>
            </a:r>
            <a:endParaRPr kumimoji="0" lang="zh-CN" altLang="en-US" sz="2400" b="0" i="0" u="none" strike="noStrike" kern="1200" cap="none" spc="0" normalizeH="0" baseline="0" noProof="0" dirty="0" smtClean="0">
              <a:ln>
                <a:noFill/>
              </a:ln>
              <a:solidFill>
                <a:srgbClr val="ED7D31"/>
              </a:solidFill>
              <a:effectLst/>
              <a:uLnTx/>
              <a:uFillTx/>
              <a:latin typeface="+mj-ea"/>
              <a:ea typeface="宋体" panose="02010600030101010101" pitchFamily="2" charset="-122"/>
              <a:cs typeface="+mj-ea"/>
              <a:sym typeface="+mn-ea"/>
            </a:endParaRPr>
          </a:p>
        </p:txBody>
      </p:sp>
      <p:sp>
        <p:nvSpPr>
          <p:cNvPr id="7" name="矩形 6"/>
          <p:cNvSpPr/>
          <p:nvPr/>
        </p:nvSpPr>
        <p:spPr>
          <a:xfrm>
            <a:off x="4839970" y="3707130"/>
            <a:ext cx="3369310" cy="460375"/>
          </a:xfrm>
          <a:prstGeom prst="rect">
            <a:avLst/>
          </a:prstGeom>
          <a:noFill/>
        </p:spPr>
        <p:txBody>
          <a:bodyPr wrap="square" rtlCol="0">
            <a:spAutoFit/>
          </a:bodyPr>
          <a:lstStyle/>
          <a:p>
            <a:pPr marL="361950" indent="-361950" eaLnBrk="1" hangingPunct="1"/>
            <a:r>
              <a:rPr lang="en-US" altLang="zh-CN" sz="2400" noProof="0" dirty="0">
                <a:ln>
                  <a:noFill/>
                </a:ln>
                <a:effectLst/>
                <a:uLnTx/>
                <a:uFillTx/>
                <a:latin typeface="+mj-ea"/>
                <a:ea typeface="+mj-ea"/>
                <a:cs typeface="+mj-ea"/>
                <a:sym typeface="思源黑体 CN Light" panose="020B0300000000000000" pitchFamily="34" charset="-122"/>
              </a:rPr>
              <a:t>3.</a:t>
            </a:r>
            <a:r>
              <a:rPr lang="zh-CN" altLang="en-US" sz="2400" dirty="0" smtClean="0">
                <a:ea typeface="宋体" panose="02010600030101010101" pitchFamily="2" charset="-122"/>
                <a:sym typeface="+mn-ea"/>
              </a:rPr>
              <a:t>自定义异常</a:t>
            </a:r>
            <a:endParaRPr lang="en-US" altLang="zh-CN" sz="2400" noProof="0" dirty="0">
              <a:ln>
                <a:noFill/>
              </a:ln>
              <a:effectLst/>
              <a:uLnTx/>
              <a:uFillTx/>
              <a:latin typeface="+mj-ea"/>
              <a:ea typeface="+mj-ea"/>
              <a:cs typeface="+mj-ea"/>
              <a:sym typeface="思源黑体 CN Light" panose="020B03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25" grpId="0"/>
      <p:bldP spid="25" grpId="1" bldLvl="0" animBg="1"/>
      <p:bldP spid="37" grpId="0"/>
      <p:bldP spid="37"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141730" y="3137535"/>
            <a:ext cx="981202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第一节 </a:t>
            </a:r>
            <a:r>
              <a:rPr lang="zh-CN" altLang="en-US" sz="6665" dirty="0">
                <a:solidFill>
                  <a:schemeClr val="bg1"/>
                </a:solidFill>
                <a:latin typeface="Arial" panose="020B0604020202020204" pitchFamily="34" charset="0"/>
                <a:ea typeface="宋体" panose="02010600030101010101" pitchFamily="2" charset="-122"/>
                <a:sym typeface="+mn-ea"/>
              </a:rPr>
              <a:t>异常的原理</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异常的理解</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a:bodyPr>
          <a:p>
            <a:pPr marL="457200" indent="-457200" algn="l">
              <a:lnSpc>
                <a:spcPct val="140000"/>
              </a:lnSpc>
              <a:buClr>
                <a:srgbClr val="ED7D31"/>
              </a:buClr>
              <a:buSzTx/>
              <a:buFont typeface="+mj-lt"/>
              <a:buAutoNum type="arabicPeriod"/>
            </a:pPr>
            <a:r>
              <a:rPr lang="zh-CN" altLang="en-US" dirty="0">
                <a:ea typeface="宋体" panose="02010600030101010101" pitchFamily="2" charset="-122"/>
                <a:sym typeface="+mn-ea"/>
              </a:rPr>
              <a:t>异常是什么：</a:t>
            </a:r>
            <a:endParaRPr lang="zh-CN" altLang="en-US" dirty="0">
              <a:ea typeface="宋体" panose="02010600030101010101" pitchFamily="2" charset="-122"/>
              <a:sym typeface="+mn-ea"/>
            </a:endParaRPr>
          </a:p>
          <a:p>
            <a:pPr lvl="1" algn="l">
              <a:lnSpc>
                <a:spcPct val="140000"/>
              </a:lnSpc>
              <a:buClr>
                <a:srgbClr val="ED7D31"/>
              </a:buClr>
              <a:buSzTx/>
            </a:pPr>
            <a:r>
              <a:rPr lang="zh-CN" altLang="en-US" dirty="0">
                <a:ea typeface="宋体" panose="02010600030101010101" pitchFamily="2" charset="-122"/>
                <a:sym typeface="+mn-ea"/>
              </a:rPr>
              <a:t>异常是在程序运行的过程中，发生的错误</a:t>
            </a:r>
            <a:endParaRPr lang="zh-CN" altLang="en-US" dirty="0">
              <a:ea typeface="宋体" panose="02010600030101010101" pitchFamily="2" charset="-122"/>
            </a:endParaRPr>
          </a:p>
          <a:p>
            <a:pPr lvl="1" algn="l">
              <a:lnSpc>
                <a:spcPct val="140000"/>
              </a:lnSpc>
              <a:buClr>
                <a:srgbClr val="ED7D31"/>
              </a:buClr>
              <a:buSzTx/>
              <a:buFont typeface="Arial" panose="020B0604020202020204" pitchFamily="34" charset="0"/>
              <a:buChar char="•"/>
            </a:pPr>
            <a:r>
              <a:rPr lang="zh-CN" altLang="en-US" dirty="0">
                <a:ea typeface="宋体" panose="02010600030101010101" pitchFamily="2" charset="-122"/>
                <a:sym typeface="+mn-ea"/>
              </a:rPr>
              <a:t>例如：比如写了一个方法，除数为0，再比如我们正在执行文件下载（文件服务器断网了）等。</a:t>
            </a:r>
            <a:endParaRPr lang="zh-CN" altLang="en-US" dirty="0">
              <a:ea typeface="宋体" panose="02010600030101010101" pitchFamily="2" charset="-122"/>
            </a:endParaRPr>
          </a:p>
          <a:p>
            <a:pPr marL="457200" indent="-457200" algn="l">
              <a:lnSpc>
                <a:spcPct val="140000"/>
              </a:lnSpc>
              <a:buClr>
                <a:srgbClr val="ED7D31"/>
              </a:buClr>
              <a:buSzTx/>
              <a:buFont typeface="+mj-lt"/>
              <a:buAutoNum type="arabicPeriod"/>
            </a:pPr>
            <a:r>
              <a:rPr lang="zh-CN" altLang="en-US" dirty="0">
                <a:ea typeface="宋体" panose="02010600030101010101" pitchFamily="2" charset="-122"/>
                <a:sym typeface="+mn-ea"/>
              </a:rPr>
              <a:t>异常处理：</a:t>
            </a:r>
            <a:endParaRPr lang="zh-CN" altLang="en-US" dirty="0">
              <a:ea typeface="宋体" panose="02010600030101010101" pitchFamily="2" charset="-122"/>
              <a:sym typeface="+mn-ea"/>
            </a:endParaRPr>
          </a:p>
          <a:p>
            <a:pPr lvl="1" algn="l">
              <a:lnSpc>
                <a:spcPct val="140000"/>
              </a:lnSpc>
              <a:buClr>
                <a:srgbClr val="ED7D31"/>
              </a:buClr>
              <a:buSzTx/>
              <a:buFont typeface="Arial" panose="020B0604020202020204" pitchFamily="34" charset="0"/>
              <a:buChar char="•"/>
            </a:pPr>
            <a:r>
              <a:rPr lang="zh-CN" altLang="en-US" dirty="0">
                <a:ea typeface="宋体" panose="02010600030101010101" pitchFamily="2" charset="-122"/>
                <a:sym typeface="+mn-ea"/>
              </a:rPr>
              <a:t>异常处理就是当程序在执行的过程中发生异常的时候，对异常</a:t>
            </a:r>
            <a:r>
              <a:rPr lang="zh-CN" altLang="en-US" dirty="0">
                <a:ea typeface="宋体" panose="02010600030101010101" pitchFamily="2" charset="-122"/>
                <a:sym typeface="+mn-ea"/>
              </a:rPr>
              <a:t>进行</a:t>
            </a:r>
            <a:r>
              <a:rPr lang="zh-CN" altLang="en-US" dirty="0">
                <a:ea typeface="宋体" panose="02010600030101010101" pitchFamily="2" charset="-122"/>
                <a:sym typeface="+mn-ea"/>
              </a:rPr>
              <a:t>处理，做好错误标记，让程序可以继续执行，不至于让程序</a:t>
            </a:r>
            <a:r>
              <a:rPr lang="zh-CN" altLang="en-US" dirty="0">
                <a:ea typeface="宋体" panose="02010600030101010101" pitchFamily="2" charset="-122"/>
                <a:sym typeface="+mn-ea"/>
              </a:rPr>
              <a:t>直接</a:t>
            </a:r>
            <a:r>
              <a:rPr lang="zh-CN" altLang="en-US" dirty="0">
                <a:ea typeface="宋体" panose="02010600030101010101" pitchFamily="2" charset="-122"/>
                <a:sym typeface="+mn-ea"/>
              </a:rPr>
              <a:t>崩溃的一种机制</a:t>
            </a:r>
            <a:endParaRPr lang="zh-CN" altLang="en-US" dirty="0">
              <a:ea typeface="宋体" panose="02010600030101010101" pitchFamily="2" charset="-122"/>
            </a:endParaRPr>
          </a:p>
          <a:p>
            <a:pPr marL="457200" indent="-457200" algn="l">
              <a:lnSpc>
                <a:spcPct val="140000"/>
              </a:lnSpc>
              <a:buClr>
                <a:srgbClr val="ED7D31"/>
              </a:buClr>
              <a:buSzTx/>
              <a:buFont typeface="+mj-lt"/>
              <a:buAutoNum type="arabicPeriod"/>
            </a:pPr>
            <a:r>
              <a:rPr lang="zh-CN" altLang="en-US" dirty="0">
                <a:ea typeface="宋体" panose="02010600030101010101" pitchFamily="2" charset="-122"/>
                <a:sym typeface="+mn-ea"/>
              </a:rPr>
              <a:t>不同的异常对象中封装了相应的错误信息</a:t>
            </a:r>
            <a:endParaRPr lang="zh-CN" altLang="en-US"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en-US" altLang="zh-CN" sz="2400" dirty="0" smtClean="0">
                <a:solidFill>
                  <a:srgbClr val="002060"/>
                </a:solidFill>
                <a:ea typeface="宋体" panose="02010600030101010101" pitchFamily="2" charset="-122"/>
                <a:cs typeface="+mn-lt"/>
                <a:sym typeface="+mn-ea"/>
              </a:rPr>
              <a:t>TestExcetion01 </a:t>
            </a:r>
            <a:r>
              <a:rPr lang="en-US" altLang="zh-CN" sz="2400" smtClean="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900430" y="945515"/>
            <a:ext cx="9466580" cy="5572760"/>
          </a:xfrm>
        </p:spPr>
        <p:txBody>
          <a:bodyPr>
            <a:noAutofit/>
          </a:bodyPr>
          <a:p>
            <a:pPr marL="361950" indent="-361950" eaLnBrk="1" hangingPunct="1">
              <a:spcBef>
                <a:spcPts val="0"/>
              </a:spcBef>
              <a:buFont typeface="+mj-lt"/>
              <a:buAutoNum type="arabicPeriod"/>
              <a:defRPr/>
            </a:pPr>
            <a:endParaRPr lang="en-US" altLang="zh-CN"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dirty="0" smtClean="0">
                <a:solidFill>
                  <a:srgbClr val="002060"/>
                </a:solidFill>
                <a:ea typeface="宋体" panose="02010600030101010101" pitchFamily="2" charset="-122"/>
                <a:cs typeface="+mn-lt"/>
              </a:rPr>
              <a:t>public class TestExcetion01 {</a:t>
            </a:r>
            <a:endParaRPr lang="en-US" altLang="zh-CN"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dirty="0" smtClean="0">
                <a:solidFill>
                  <a:srgbClr val="002060"/>
                </a:solidFill>
                <a:ea typeface="宋体" panose="02010600030101010101" pitchFamily="2" charset="-122"/>
                <a:cs typeface="+mn-lt"/>
              </a:rPr>
              <a:t>    public static void main(String[] args) {</a:t>
            </a:r>
            <a:endParaRPr lang="en-US" altLang="zh-CN"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dirty="0" smtClean="0">
                <a:solidFill>
                  <a:srgbClr val="002060"/>
                </a:solidFill>
                <a:ea typeface="宋体" panose="02010600030101010101" pitchFamily="2" charset="-122"/>
                <a:cs typeface="+mn-lt"/>
              </a:rPr>
              <a:t>        </a:t>
            </a:r>
            <a:endParaRPr lang="en-US" altLang="zh-CN"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dirty="0" smtClean="0">
                <a:solidFill>
                  <a:srgbClr val="002060"/>
                </a:solidFill>
                <a:ea typeface="宋体" panose="02010600030101010101" pitchFamily="2" charset="-122"/>
                <a:cs typeface="+mn-lt"/>
              </a:rPr>
              <a:t>       </a:t>
            </a:r>
            <a:r>
              <a:rPr lang="en-US" altLang="zh-CN" dirty="0" smtClean="0">
                <a:solidFill>
                  <a:srgbClr val="FF0000"/>
                </a:solidFill>
                <a:ea typeface="宋体" panose="02010600030101010101" pitchFamily="2" charset="-122"/>
                <a:cs typeface="+mn-lt"/>
              </a:rPr>
              <a:t> int z = div(5,0)</a:t>
            </a:r>
            <a:r>
              <a:rPr lang="en-US" altLang="zh-CN" dirty="0" smtClean="0">
                <a:solidFill>
                  <a:srgbClr val="002060"/>
                </a:solidFill>
                <a:ea typeface="宋体" panose="02010600030101010101" pitchFamily="2" charset="-122"/>
                <a:cs typeface="+mn-lt"/>
              </a:rPr>
              <a:t>;//出现了异常程序不再继续执行，直接终止</a:t>
            </a:r>
            <a:endParaRPr lang="en-US" altLang="zh-CN"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dirty="0" smtClean="0">
                <a:solidFill>
                  <a:srgbClr val="002060"/>
                </a:solidFill>
                <a:ea typeface="宋体" panose="02010600030101010101" pitchFamily="2" charset="-122"/>
                <a:cs typeface="+mn-lt"/>
              </a:rPr>
              <a:t>       </a:t>
            </a:r>
            <a:r>
              <a:rPr lang="en-US" altLang="zh-CN" dirty="0" smtClean="0">
                <a:solidFill>
                  <a:srgbClr val="7030A0"/>
                </a:solidFill>
                <a:ea typeface="宋体" panose="02010600030101010101" pitchFamily="2" charset="-122"/>
                <a:cs typeface="+mn-lt"/>
              </a:rPr>
              <a:t> System.out.println("==不会输出==除数不能0====");</a:t>
            </a:r>
            <a:endParaRPr lang="en-US" altLang="zh-CN" dirty="0" smtClean="0">
              <a:solidFill>
                <a:srgbClr val="7030A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dirty="0" smtClean="0">
                <a:solidFill>
                  <a:srgbClr val="002060"/>
                </a:solidFill>
                <a:ea typeface="宋体" panose="02010600030101010101" pitchFamily="2" charset="-122"/>
                <a:cs typeface="+mn-lt"/>
              </a:rPr>
              <a:t>    }</a:t>
            </a:r>
            <a:endParaRPr lang="en-US" altLang="zh-CN"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endParaRPr lang="en-US" altLang="zh-CN"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endParaRPr lang="en-US" altLang="zh-CN"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dirty="0" smtClean="0">
                <a:solidFill>
                  <a:srgbClr val="002060"/>
                </a:solidFill>
                <a:ea typeface="宋体" panose="02010600030101010101" pitchFamily="2" charset="-122"/>
                <a:cs typeface="+mn-lt"/>
              </a:rPr>
              <a:t>    public  static  int div(int x,int y ){</a:t>
            </a:r>
            <a:endParaRPr lang="en-US" altLang="zh-CN"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dirty="0" smtClean="0">
                <a:solidFill>
                  <a:srgbClr val="002060"/>
                </a:solidFill>
                <a:ea typeface="宋体" panose="02010600030101010101" pitchFamily="2" charset="-122"/>
                <a:cs typeface="+mn-lt"/>
              </a:rPr>
              <a:t>        int z = x / y;</a:t>
            </a:r>
            <a:endParaRPr lang="en-US" altLang="zh-CN"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dirty="0" smtClean="0">
                <a:solidFill>
                  <a:srgbClr val="002060"/>
                </a:solidFill>
                <a:ea typeface="宋体" panose="02010600030101010101" pitchFamily="2" charset="-122"/>
                <a:cs typeface="+mn-lt"/>
              </a:rPr>
              <a:t>       return z;</a:t>
            </a:r>
            <a:endParaRPr lang="en-US" altLang="zh-CN"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dirty="0" smtClean="0">
                <a:solidFill>
                  <a:srgbClr val="002060"/>
                </a:solidFill>
                <a:ea typeface="宋体" panose="02010600030101010101" pitchFamily="2" charset="-122"/>
                <a:cs typeface="+mn-lt"/>
              </a:rPr>
              <a:t>    }</a:t>
            </a:r>
            <a:endParaRPr lang="en-US" altLang="zh-CN"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dirty="0" smtClean="0">
                <a:solidFill>
                  <a:srgbClr val="002060"/>
                </a:solidFill>
                <a:ea typeface="宋体" panose="02010600030101010101" pitchFamily="2" charset="-122"/>
                <a:cs typeface="+mn-lt"/>
              </a:rPr>
              <a:t>}</a:t>
            </a:r>
            <a:endParaRPr lang="en-US" altLang="zh-CN"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异常的堆栈式抛出机制</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191492" name="Picture 2" descr="19-02"/>
          <p:cNvPicPr>
            <a:picLocks noChangeAspect="1" noChangeArrowheads="1"/>
          </p:cNvPicPr>
          <p:nvPr/>
        </p:nvPicPr>
        <p:blipFill>
          <a:blip r:embed="rId5"/>
          <a:srcRect/>
          <a:stretch>
            <a:fillRect/>
          </a:stretch>
        </p:blipFill>
        <p:spPr bwMode="auto">
          <a:xfrm>
            <a:off x="1187450" y="1675765"/>
            <a:ext cx="8039735" cy="364109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练习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795520"/>
          </a:xfrm>
        </p:spPr>
        <p:txBody>
          <a:bodyPr>
            <a:normAutofit fontScale="70000"/>
          </a:bodyPr>
          <a:p>
            <a:pPr marL="457200" indent="-457200" algn="l" eaLnBrk="1" hangingPunct="1">
              <a:lnSpc>
                <a:spcPct val="140000"/>
              </a:lnSpc>
              <a:buClr>
                <a:srgbClr val="ED7D31"/>
              </a:buClr>
              <a:buSzTx/>
              <a:buFont typeface="+mj-lt"/>
              <a:buAutoNum type="arabicPeriod"/>
            </a:pPr>
            <a:r>
              <a:rPr lang="zh-CN" altLang="en-US" sz="2400" dirty="0">
                <a:ea typeface="宋体" panose="02010600030101010101" pitchFamily="2" charset="-122"/>
                <a:sym typeface="+mn-ea"/>
              </a:rPr>
              <a:t>编写TestException类，在控制台中接收两个整型参数，并用第一个数除以第二个数（不为零），打印结果。</a:t>
            </a:r>
            <a:endParaRPr lang="zh-CN" altLang="en-US" sz="2400" dirty="0">
              <a:ea typeface="宋体" panose="02010600030101010101" pitchFamily="2" charset="-122"/>
            </a:endParaRPr>
          </a:p>
          <a:p>
            <a:pPr marL="457200" indent="-457200" algn="l" eaLnBrk="1" hangingPunct="1">
              <a:lnSpc>
                <a:spcPct val="140000"/>
              </a:lnSpc>
              <a:buClr>
                <a:srgbClr val="ED7D31"/>
              </a:buClr>
              <a:buSzTx/>
              <a:buFont typeface="+mj-lt"/>
              <a:buAutoNum type="arabicPeriod"/>
            </a:pPr>
            <a:r>
              <a:rPr lang="zh-CN" altLang="en-US" sz="2400" dirty="0">
                <a:ea typeface="宋体" panose="02010600030101010101" pitchFamily="2" charset="-122"/>
                <a:sym typeface="+mn-ea"/>
              </a:rPr>
              <a:t>在两数相除的下一行输出</a:t>
            </a:r>
            <a:r>
              <a:rPr lang="en-US" altLang="zh-CN" sz="2400" dirty="0">
                <a:ea typeface="宋体" panose="02010600030101010101" pitchFamily="2" charset="-122"/>
                <a:sym typeface="+mn-ea"/>
              </a:rPr>
              <a:t>“</a:t>
            </a:r>
            <a:r>
              <a:rPr lang="zh-CN" altLang="en-US" sz="2400" dirty="0">
                <a:ea typeface="宋体" panose="02010600030101010101" pitchFamily="2" charset="-122"/>
                <a:sym typeface="+mn-ea"/>
              </a:rPr>
              <a:t>测试除数为零是否输出</a:t>
            </a:r>
            <a:r>
              <a:rPr lang="en-US" altLang="zh-CN" sz="2400" dirty="0">
                <a:ea typeface="宋体" panose="02010600030101010101" pitchFamily="2" charset="-122"/>
                <a:sym typeface="+mn-ea"/>
              </a:rPr>
              <a:t>”</a:t>
            </a:r>
            <a:r>
              <a:rPr lang="zh-CN" altLang="en-US" sz="2400" dirty="0">
                <a:ea typeface="宋体" panose="02010600030101010101" pitchFamily="2" charset="-122"/>
                <a:sym typeface="+mn-ea"/>
              </a:rPr>
              <a:t>；</a:t>
            </a:r>
            <a:endParaRPr lang="zh-CN" altLang="en-US" sz="2400" dirty="0">
              <a:ea typeface="宋体" panose="02010600030101010101" pitchFamily="2" charset="-122"/>
              <a:sym typeface="+mn-ea"/>
            </a:endParaRPr>
          </a:p>
          <a:p>
            <a:pPr marL="457200" indent="-457200" algn="l" eaLnBrk="1" hangingPunct="1">
              <a:lnSpc>
                <a:spcPct val="140000"/>
              </a:lnSpc>
              <a:buClr>
                <a:srgbClr val="ED7D31"/>
              </a:buClr>
              <a:buSzTx/>
              <a:buFont typeface="+mj-lt"/>
              <a:buAutoNum type="arabicPeriod"/>
            </a:pPr>
            <a:r>
              <a:rPr lang="zh-CN" altLang="en-US" sz="2400" dirty="0">
                <a:ea typeface="宋体" panose="02010600030101010101" pitchFamily="2" charset="-122"/>
                <a:sym typeface="+mn-ea"/>
              </a:rPr>
              <a:t>测试如下：</a:t>
            </a:r>
            <a:r>
              <a:rPr lang="en-US" altLang="zh-CN" sz="2400" dirty="0">
                <a:ea typeface="宋体" panose="02010600030101010101" pitchFamily="2" charset="-122"/>
                <a:sym typeface="+mn-ea"/>
              </a:rPr>
              <a:t> </a:t>
            </a:r>
            <a:endParaRPr lang="zh-CN" altLang="en-US" sz="2400" dirty="0">
              <a:ea typeface="宋体" panose="02010600030101010101" pitchFamily="2" charset="-122"/>
            </a:endParaRPr>
          </a:p>
          <a:p>
            <a:pPr marL="914400" lvl="2" indent="-457200" algn="l" eaLnBrk="1" hangingPunct="1">
              <a:lnSpc>
                <a:spcPct val="140000"/>
              </a:lnSpc>
              <a:spcBef>
                <a:spcPts val="1000"/>
              </a:spcBef>
              <a:buClr>
                <a:srgbClr val="ED7D31"/>
              </a:buClr>
              <a:buSzTx/>
              <a:buFont typeface="+mj-lt"/>
              <a:buAutoNum type="arabicPeriod"/>
            </a:pPr>
            <a:r>
              <a:rPr lang="zh-CN" altLang="en-US" sz="2160" dirty="0">
                <a:ea typeface="宋体" panose="02010600030101010101" pitchFamily="2" charset="-122"/>
                <a:sym typeface="+mn-ea"/>
              </a:rPr>
              <a:t>其中第一个数不为</a:t>
            </a:r>
            <a:r>
              <a:rPr lang="en-US" altLang="zh-CN" sz="2160" dirty="0">
                <a:ea typeface="宋体" panose="02010600030101010101" pitchFamily="2" charset="-122"/>
                <a:sym typeface="+mn-ea"/>
              </a:rPr>
              <a:t>0</a:t>
            </a:r>
            <a:endParaRPr lang="en-US" altLang="zh-CN" sz="2160" dirty="0">
              <a:ea typeface="宋体" panose="02010600030101010101" pitchFamily="2" charset="-122"/>
              <a:sym typeface="+mn-ea"/>
            </a:endParaRPr>
          </a:p>
          <a:p>
            <a:pPr marL="914400" lvl="2" indent="-457200" algn="l" eaLnBrk="1" hangingPunct="1">
              <a:lnSpc>
                <a:spcPct val="140000"/>
              </a:lnSpc>
              <a:spcBef>
                <a:spcPts val="1000"/>
              </a:spcBef>
              <a:buClr>
                <a:srgbClr val="ED7D31"/>
              </a:buClr>
              <a:buSzTx/>
              <a:buFont typeface="+mj-lt"/>
              <a:buAutoNum type="arabicPeriod"/>
            </a:pPr>
            <a:r>
              <a:rPr lang="zh-CN" altLang="en-US" sz="2160" dirty="0">
                <a:ea typeface="宋体" panose="02010600030101010101" pitchFamily="2" charset="-122"/>
                <a:sym typeface="+mn-ea"/>
              </a:rPr>
              <a:t>第二个参数为0</a:t>
            </a:r>
            <a:endParaRPr lang="zh-CN" altLang="en-US" sz="2160" dirty="0">
              <a:ea typeface="宋体" panose="02010600030101010101" pitchFamily="2" charset="-122"/>
              <a:sym typeface="+mn-ea"/>
            </a:endParaRPr>
          </a:p>
          <a:p>
            <a:pPr marL="457200" lvl="2" indent="0" algn="l" eaLnBrk="1" hangingPunct="1">
              <a:lnSpc>
                <a:spcPct val="140000"/>
              </a:lnSpc>
              <a:spcBef>
                <a:spcPts val="1000"/>
              </a:spcBef>
              <a:buClr>
                <a:srgbClr val="ED7D31"/>
              </a:buClr>
              <a:buSzTx/>
              <a:buFont typeface="+mj-lt"/>
              <a:buNone/>
            </a:pPr>
            <a:r>
              <a:rPr lang="zh-CN" altLang="en-US" sz="2160" dirty="0">
                <a:ea typeface="宋体" panose="02010600030101010101" pitchFamily="2" charset="-122"/>
              </a:rPr>
              <a:t>备注：获得控制台输入语句</a:t>
            </a:r>
            <a:endParaRPr lang="zh-CN" altLang="en-US" sz="2160" dirty="0">
              <a:ea typeface="宋体" panose="02010600030101010101" pitchFamily="2" charset="-122"/>
            </a:endParaRPr>
          </a:p>
          <a:p>
            <a:pPr marL="457200" lvl="2" indent="0" algn="l" eaLnBrk="1" hangingPunct="1">
              <a:lnSpc>
                <a:spcPct val="140000"/>
              </a:lnSpc>
              <a:spcBef>
                <a:spcPts val="1000"/>
              </a:spcBef>
              <a:buClr>
                <a:srgbClr val="ED7D31"/>
              </a:buClr>
              <a:buSzTx/>
              <a:buFont typeface="+mj-lt"/>
              <a:buNone/>
            </a:pPr>
            <a:r>
              <a:rPr lang="zh-CN" altLang="en-US" sz="2160" dirty="0">
                <a:ea typeface="宋体" panose="02010600030101010101" pitchFamily="2" charset="-122"/>
              </a:rPr>
              <a:t> </a:t>
            </a:r>
            <a:r>
              <a:rPr lang="en-US" altLang="zh-CN" sz="2160" dirty="0">
                <a:ea typeface="宋体" panose="02010600030101010101" pitchFamily="2" charset="-122"/>
              </a:rPr>
              <a:t>      </a:t>
            </a:r>
            <a:r>
              <a:rPr lang="zh-CN" altLang="en-US" sz="2160" dirty="0">
                <a:ea typeface="宋体" panose="02010600030101010101" pitchFamily="2" charset="-122"/>
              </a:rPr>
              <a:t> Scanner scanner = new Scanner(System.in);</a:t>
            </a:r>
            <a:endParaRPr lang="zh-CN" altLang="en-US" sz="2160" dirty="0">
              <a:ea typeface="宋体" panose="02010600030101010101" pitchFamily="2" charset="-122"/>
            </a:endParaRPr>
          </a:p>
          <a:p>
            <a:pPr marL="457200" lvl="2" indent="0" algn="l" eaLnBrk="1" hangingPunct="1">
              <a:lnSpc>
                <a:spcPct val="140000"/>
              </a:lnSpc>
              <a:spcBef>
                <a:spcPts val="1000"/>
              </a:spcBef>
              <a:buClr>
                <a:srgbClr val="ED7D31"/>
              </a:buClr>
              <a:buSzTx/>
              <a:buFont typeface="+mj-lt"/>
              <a:buNone/>
            </a:pPr>
            <a:r>
              <a:rPr lang="zh-CN" altLang="en-US" sz="2160" dirty="0">
                <a:ea typeface="宋体" panose="02010600030101010101" pitchFamily="2" charset="-122"/>
              </a:rPr>
              <a:t>        int x = scanner.nextInt();</a:t>
            </a:r>
            <a:endParaRPr lang="zh-CN" altLang="en-US" sz="2160" dirty="0">
              <a:ea typeface="宋体" panose="02010600030101010101" pitchFamily="2" charset="-122"/>
            </a:endParaRPr>
          </a:p>
          <a:p>
            <a:pPr marL="457200" lvl="2" indent="0" algn="l" eaLnBrk="1" hangingPunct="1">
              <a:lnSpc>
                <a:spcPct val="140000"/>
              </a:lnSpc>
              <a:spcBef>
                <a:spcPts val="1000"/>
              </a:spcBef>
              <a:buClr>
                <a:srgbClr val="ED7D31"/>
              </a:buClr>
              <a:buSzTx/>
              <a:buFont typeface="+mj-lt"/>
              <a:buNone/>
            </a:pPr>
            <a:r>
              <a:rPr lang="zh-CN" altLang="en-US" sz="2160" dirty="0">
                <a:ea typeface="宋体" panose="02010600030101010101" pitchFamily="2" charset="-122"/>
              </a:rPr>
              <a:t>        int y = scanner.nextInt();</a:t>
            </a:r>
            <a:endParaRPr lang="zh-CN" altLang="en-US"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异常的理解</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a:bodyPr>
          <a:p>
            <a:pPr marL="457200" indent="-457200" algn="l">
              <a:lnSpc>
                <a:spcPct val="140000"/>
              </a:lnSpc>
              <a:buClr>
                <a:srgbClr val="ED7D31"/>
              </a:buClr>
              <a:buSzTx/>
              <a:buFont typeface="+mj-lt"/>
              <a:buAutoNum type="arabicPeriod"/>
            </a:pPr>
            <a:r>
              <a:rPr lang="zh-CN" altLang="en-US" sz="2400" dirty="0">
                <a:ea typeface="宋体" panose="02010600030101010101" pitchFamily="2" charset="-122"/>
                <a:sym typeface="+mn-ea"/>
              </a:rPr>
              <a:t>Java语言提供了两大类异常：</a:t>
            </a:r>
            <a:endParaRPr lang="zh-CN" altLang="en-US" sz="2400" dirty="0">
              <a:ea typeface="宋体" panose="02010600030101010101" pitchFamily="2" charset="-122"/>
            </a:endParaRPr>
          </a:p>
          <a:p>
            <a:pPr lvl="1" algn="l">
              <a:lnSpc>
                <a:spcPct val="140000"/>
              </a:lnSpc>
              <a:buClr>
                <a:srgbClr val="ED7D31"/>
              </a:buClr>
              <a:buSzTx/>
            </a:pPr>
            <a:r>
              <a:rPr lang="zh-CN" altLang="en-US" sz="2000" dirty="0">
                <a:ea typeface="宋体" panose="02010600030101010101" pitchFamily="2" charset="-122"/>
                <a:sym typeface="+mn-ea"/>
              </a:rPr>
              <a:t>受检异常</a:t>
            </a:r>
            <a:endParaRPr lang="zh-CN" altLang="en-US" sz="2000" dirty="0">
              <a:ea typeface="宋体" panose="02010600030101010101" pitchFamily="2" charset="-122"/>
            </a:endParaRPr>
          </a:p>
          <a:p>
            <a:pPr lvl="1" algn="l">
              <a:lnSpc>
                <a:spcPct val="140000"/>
              </a:lnSpc>
              <a:buClr>
                <a:srgbClr val="ED7D31"/>
              </a:buClr>
              <a:buSzTx/>
            </a:pPr>
            <a:r>
              <a:rPr lang="zh-CN" altLang="en-US" sz="2000" dirty="0">
                <a:ea typeface="宋体" panose="02010600030101010101" pitchFamily="2" charset="-122"/>
                <a:sym typeface="+mn-ea"/>
              </a:rPr>
              <a:t>非受检异常</a:t>
            </a:r>
            <a:endParaRPr lang="zh-CN" altLang="en-US" sz="2000" dirty="0">
              <a:ea typeface="宋体" panose="02010600030101010101" pitchFamily="2" charset="-122"/>
            </a:endParaRPr>
          </a:p>
          <a:p>
            <a:pPr marL="457200" indent="-457200" algn="l">
              <a:lnSpc>
                <a:spcPct val="140000"/>
              </a:lnSpc>
              <a:buClr>
                <a:srgbClr val="ED7D31"/>
              </a:buClr>
              <a:buSzTx/>
              <a:buFont typeface="+mj-lt"/>
              <a:buAutoNum type="arabicPeriod" startAt="2"/>
            </a:pPr>
            <a:r>
              <a:rPr lang="zh-CN" altLang="en-US" sz="2400" dirty="0">
                <a:ea typeface="宋体" panose="02010600030101010101" pitchFamily="2" charset="-122"/>
                <a:sym typeface="+mn-ea"/>
              </a:rPr>
              <a:t>受检异常是指程序中必须接受检查和处理的异常，由Exception 类为代表。</a:t>
            </a:r>
            <a:endParaRPr lang="zh-CN" altLang="en-US" sz="2400" dirty="0">
              <a:ea typeface="宋体" panose="02010600030101010101" pitchFamily="2" charset="-122"/>
            </a:endParaRPr>
          </a:p>
          <a:p>
            <a:pPr marL="457200" indent="-457200" algn="l">
              <a:lnSpc>
                <a:spcPct val="140000"/>
              </a:lnSpc>
              <a:buClr>
                <a:srgbClr val="ED7D31"/>
              </a:buClr>
              <a:buSzTx/>
              <a:buFont typeface="+mj-lt"/>
              <a:buAutoNum type="arabicPeriod" startAt="2"/>
            </a:pPr>
            <a:r>
              <a:rPr lang="zh-CN" altLang="en-US" sz="2400" dirty="0">
                <a:ea typeface="宋体" panose="02010600030101010101" pitchFamily="2" charset="-122"/>
                <a:sym typeface="+mn-ea"/>
              </a:rPr>
              <a:t>非受检异常是程序中可以不接受检查和处理，或致命性错误的异常，由RuntimeException类或Error类为代表。</a:t>
            </a:r>
            <a:endParaRPr lang="zh-CN" altLang="en-US"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异常的体系结构</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194564" name="Picture 2" descr="19-01"/>
          <p:cNvPicPr>
            <a:picLocks noChangeAspect="1" noChangeArrowheads="1"/>
          </p:cNvPicPr>
          <p:nvPr/>
        </p:nvPicPr>
        <p:blipFill>
          <a:blip r:embed="rId5"/>
          <a:srcRect/>
          <a:stretch>
            <a:fillRect/>
          </a:stretch>
        </p:blipFill>
        <p:spPr bwMode="auto">
          <a:xfrm>
            <a:off x="1335405" y="1160145"/>
            <a:ext cx="8067040" cy="4832985"/>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141730" y="3137535"/>
            <a:ext cx="981202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第二节 </a:t>
            </a:r>
            <a:r>
              <a:rPr lang="zh-CN" altLang="en-US" sz="6665" dirty="0">
                <a:solidFill>
                  <a:schemeClr val="bg1"/>
                </a:solidFill>
                <a:latin typeface="Arial" panose="020B0604020202020204" pitchFamily="34" charset="0"/>
                <a:ea typeface="宋体" panose="02010600030101010101" pitchFamily="2" charset="-122"/>
                <a:sym typeface="+mn-ea"/>
              </a:rPr>
              <a:t>异常处理的三种方式</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对异常的处理</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lnSpcReduction="20000"/>
          </a:bodyPr>
          <a:p>
            <a:pPr marL="457200" indent="-457200" algn="l">
              <a:lnSpc>
                <a:spcPct val="140000"/>
              </a:lnSpc>
              <a:buClr>
                <a:srgbClr val="ED7D31"/>
              </a:buClr>
              <a:buSzTx/>
              <a:buFont typeface="+mj-lt"/>
              <a:buAutoNum type="arabicPeriod"/>
            </a:pPr>
            <a:r>
              <a:rPr lang="zh-CN" altLang="en-US" sz="2400" dirty="0">
                <a:ea typeface="宋体" panose="02010600030101010101" pitchFamily="2" charset="-122"/>
                <a:sym typeface="+mn-ea"/>
              </a:rPr>
              <a:t>通常有三种处理方式：</a:t>
            </a:r>
            <a:endParaRPr lang="zh-CN" altLang="en-US" sz="2400" dirty="0">
              <a:ea typeface="宋体" panose="02010600030101010101" pitchFamily="2" charset="-122"/>
            </a:endParaRPr>
          </a:p>
          <a:p>
            <a:pPr lvl="1" algn="l">
              <a:lnSpc>
                <a:spcPct val="140000"/>
              </a:lnSpc>
              <a:buClr>
                <a:srgbClr val="ED7D31"/>
              </a:buClr>
              <a:buSzTx/>
            </a:pPr>
            <a:r>
              <a:rPr lang="zh-CN" altLang="en-US" dirty="0">
                <a:ea typeface="宋体" panose="02010600030101010101" pitchFamily="2" charset="-122"/>
                <a:sym typeface="+mn-ea"/>
              </a:rPr>
              <a:t>捕获（使用try-catch-finally语句）</a:t>
            </a:r>
            <a:endParaRPr lang="zh-CN" altLang="en-US" dirty="0">
              <a:ea typeface="宋体" panose="02010600030101010101" pitchFamily="2" charset="-122"/>
            </a:endParaRPr>
          </a:p>
          <a:p>
            <a:pPr lvl="1" algn="l">
              <a:lnSpc>
                <a:spcPct val="140000"/>
              </a:lnSpc>
              <a:buClr>
                <a:srgbClr val="ED7D31"/>
              </a:buClr>
              <a:buSzTx/>
            </a:pPr>
            <a:r>
              <a:rPr lang="zh-CN" altLang="en-US" dirty="0">
                <a:ea typeface="宋体" panose="02010600030101010101" pitchFamily="2" charset="-122"/>
                <a:sym typeface="+mn-ea"/>
              </a:rPr>
              <a:t>直接抛出（方法声明）</a:t>
            </a:r>
            <a:endParaRPr lang="zh-CN" altLang="en-US" dirty="0">
              <a:ea typeface="宋体" panose="02010600030101010101" pitchFamily="2" charset="-122"/>
            </a:endParaRPr>
          </a:p>
          <a:p>
            <a:pPr lvl="1" algn="l">
              <a:lnSpc>
                <a:spcPct val="140000"/>
              </a:lnSpc>
              <a:buClr>
                <a:srgbClr val="ED7D31"/>
              </a:buClr>
              <a:buSzTx/>
            </a:pPr>
            <a:r>
              <a:rPr lang="zh-CN" altLang="en-US" dirty="0">
                <a:ea typeface="宋体" panose="02010600030101010101" pitchFamily="2" charset="-122"/>
                <a:sym typeface="+mn-ea"/>
              </a:rPr>
              <a:t>捕获再抛出</a:t>
            </a:r>
            <a:endParaRPr lang="zh-CN" altLang="en-US" dirty="0">
              <a:ea typeface="宋体" panose="02010600030101010101" pitchFamily="2" charset="-122"/>
            </a:endParaRPr>
          </a:p>
          <a:p>
            <a:pPr marL="457200" indent="-457200" algn="l">
              <a:lnSpc>
                <a:spcPct val="140000"/>
              </a:lnSpc>
              <a:buClr>
                <a:srgbClr val="ED7D31"/>
              </a:buClr>
              <a:buSzTx/>
              <a:buFont typeface="+mj-lt"/>
              <a:buAutoNum type="arabicPeriod" startAt="2"/>
            </a:pPr>
            <a:r>
              <a:rPr lang="zh-CN" altLang="en-US" dirty="0">
                <a:ea typeface="宋体" panose="02010600030101010101" pitchFamily="2" charset="-122"/>
                <a:sym typeface="+mn-ea"/>
              </a:rPr>
              <a:t>以上处理方式适用于Exception类型的受检异常和RuntimeException类型的非受检异常。</a:t>
            </a:r>
            <a:endParaRPr lang="zh-CN" altLang="en-US" dirty="0">
              <a:ea typeface="宋体" panose="02010600030101010101" pitchFamily="2" charset="-122"/>
            </a:endParaRPr>
          </a:p>
          <a:p>
            <a:pPr marL="457200" indent="-457200" algn="l">
              <a:lnSpc>
                <a:spcPct val="140000"/>
              </a:lnSpc>
              <a:buClr>
                <a:srgbClr val="ED7D31"/>
              </a:buClr>
              <a:buSzTx/>
              <a:buFont typeface="+mj-lt"/>
              <a:buAutoNum type="arabicPeriod" startAt="2"/>
            </a:pPr>
            <a:r>
              <a:rPr lang="zh-CN" altLang="en-US" dirty="0">
                <a:ea typeface="宋体" panose="02010600030101010101" pitchFamily="2" charset="-122"/>
                <a:sym typeface="+mn-ea"/>
              </a:rPr>
              <a:t>受检异常必须由程序显式处理</a:t>
            </a:r>
            <a:endParaRPr lang="zh-CN" altLang="en-US"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marL="0" lvl="1" eaLnBrk="1" hangingPunct="1"/>
            <a:r>
              <a:rPr lang="zh-CN" altLang="en-US" sz="2400" dirty="0">
                <a:ea typeface="宋体" panose="02010600030101010101" pitchFamily="2" charset="-122"/>
                <a:sym typeface="+mn-ea"/>
              </a:rPr>
              <a:t>方式一</a:t>
            </a:r>
            <a:r>
              <a:rPr lang="en-US" altLang="zh-CN" sz="2400" dirty="0">
                <a:ea typeface="宋体" panose="02010600030101010101" pitchFamily="2" charset="-122"/>
                <a:sym typeface="+mn-ea"/>
              </a:rPr>
              <a:t>:</a:t>
            </a:r>
            <a:r>
              <a:rPr lang="zh-CN" altLang="en-US" sz="2400" dirty="0">
                <a:ea typeface="宋体" panose="02010600030101010101" pitchFamily="2" charset="-122"/>
                <a:sym typeface="+mn-ea"/>
              </a:rPr>
              <a:t>捕获（使用try-catch-finally语句）</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111885"/>
            <a:ext cx="10244455" cy="5200015"/>
          </a:xfrm>
        </p:spPr>
        <p:txBody>
          <a:bodyPr>
            <a:normAutofit fontScale="80000"/>
          </a:bodyPr>
          <a:p>
            <a:pPr marL="457200" indent="-457200" algn="l" eaLnBrk="1" hangingPunct="1">
              <a:lnSpc>
                <a:spcPct val="140000"/>
              </a:lnSpc>
              <a:buClr>
                <a:srgbClr val="ED7D31"/>
              </a:buClr>
              <a:buSzTx/>
              <a:buFont typeface="+mj-lt"/>
              <a:buAutoNum type="arabicPeriod"/>
            </a:pPr>
            <a:r>
              <a:rPr lang="zh-CN" altLang="en-US" dirty="0">
                <a:ea typeface="宋体" panose="02010600030101010101" pitchFamily="2" charset="-122"/>
                <a:sym typeface="+mn-ea"/>
              </a:rPr>
              <a:t>可使用try…catch…finally语句捕获异常，避免程序不正常终止</a:t>
            </a:r>
            <a:endParaRPr lang="zh-CN" altLang="en-US" dirty="0">
              <a:ea typeface="宋体" panose="02010600030101010101" pitchFamily="2" charset="-122"/>
            </a:endParaRPr>
          </a:p>
          <a:p>
            <a:pPr marL="457200" indent="-457200" algn="l" eaLnBrk="1" hangingPunct="1">
              <a:lnSpc>
                <a:spcPct val="140000"/>
              </a:lnSpc>
              <a:buClr>
                <a:srgbClr val="ED7D31"/>
              </a:buClr>
              <a:buSzTx/>
              <a:buFont typeface="+mj-lt"/>
              <a:buAutoNum type="arabicPeriod"/>
            </a:pPr>
            <a:r>
              <a:rPr lang="zh-CN" altLang="en-US" dirty="0">
                <a:ea typeface="宋体" panose="02010600030101010101" pitchFamily="2" charset="-122"/>
                <a:sym typeface="+mn-ea"/>
              </a:rPr>
              <a:t>语法：</a:t>
            </a:r>
            <a:endParaRPr lang="zh-CN" altLang="en-US" dirty="0">
              <a:ea typeface="宋体" panose="02010600030101010101" pitchFamily="2" charset="-122"/>
            </a:endParaRPr>
          </a:p>
          <a:p>
            <a:pPr marL="361950" indent="-361950" eaLnBrk="1" hangingPunct="1">
              <a:buFont typeface="Times" pitchFamily="18" charset="0"/>
              <a:buNone/>
              <a:defRPr/>
            </a:pPr>
            <a:r>
              <a:rPr lang="en-US" altLang="zh-CN" dirty="0" smtClean="0">
                <a:latin typeface="+mj-lt"/>
                <a:ea typeface="宋体" panose="02010600030101010101" pitchFamily="2" charset="-122"/>
                <a:sym typeface="+mn-ea"/>
              </a:rPr>
              <a:t>	try {</a:t>
            </a:r>
            <a:endParaRPr lang="en-US" altLang="zh-CN" dirty="0" smtClean="0">
              <a:latin typeface="+mj-lt"/>
              <a:ea typeface="宋体" panose="02010600030101010101" pitchFamily="2" charset="-122"/>
            </a:endParaRPr>
          </a:p>
          <a:p>
            <a:pPr marL="361950" indent="-361950" eaLnBrk="1" hangingPunct="1">
              <a:buFont typeface="Times" pitchFamily="18" charset="0"/>
              <a:buNone/>
              <a:defRPr/>
            </a:pPr>
            <a:r>
              <a:rPr lang="en-US" altLang="zh-CN" dirty="0" smtClean="0">
                <a:latin typeface="+mj-lt"/>
                <a:ea typeface="宋体" panose="02010600030101010101" pitchFamily="2" charset="-122"/>
                <a:sym typeface="+mn-ea"/>
              </a:rPr>
              <a:t>		……</a:t>
            </a:r>
            <a:endParaRPr lang="en-US" altLang="zh-CN" dirty="0" smtClean="0">
              <a:latin typeface="+mj-lt"/>
              <a:ea typeface="宋体" panose="02010600030101010101" pitchFamily="2" charset="-122"/>
            </a:endParaRPr>
          </a:p>
          <a:p>
            <a:pPr marL="361950" indent="-361950" eaLnBrk="1" hangingPunct="1">
              <a:buFont typeface="Times" pitchFamily="18" charset="0"/>
              <a:buNone/>
              <a:defRPr/>
            </a:pPr>
            <a:r>
              <a:rPr lang="en-US" altLang="zh-CN" dirty="0" smtClean="0">
                <a:latin typeface="+mj-lt"/>
                <a:ea typeface="宋体" panose="02010600030101010101" pitchFamily="2" charset="-122"/>
                <a:sym typeface="+mn-ea"/>
              </a:rPr>
              <a:t>	} [catch (&lt;</a:t>
            </a:r>
            <a:r>
              <a:rPr lang="en-US" altLang="zh-CN" dirty="0" err="1" smtClean="0">
                <a:latin typeface="+mj-lt"/>
                <a:ea typeface="宋体" panose="02010600030101010101" pitchFamily="2" charset="-122"/>
                <a:sym typeface="+mn-ea"/>
              </a:rPr>
              <a:t>异常类型</a:t>
            </a:r>
            <a:r>
              <a:rPr lang="en-US" altLang="zh-CN" dirty="0" smtClean="0">
                <a:latin typeface="+mj-lt"/>
                <a:ea typeface="宋体" panose="02010600030101010101" pitchFamily="2" charset="-122"/>
                <a:sym typeface="+mn-ea"/>
              </a:rPr>
              <a:t>&gt;  &lt;</a:t>
            </a:r>
            <a:r>
              <a:rPr lang="en-US" altLang="zh-CN" dirty="0" err="1" smtClean="0">
                <a:latin typeface="+mj-lt"/>
                <a:ea typeface="宋体" panose="02010600030101010101" pitchFamily="2" charset="-122"/>
                <a:sym typeface="+mn-ea"/>
              </a:rPr>
              <a:t>异常引用变量</a:t>
            </a:r>
            <a:r>
              <a:rPr lang="en-US" altLang="zh-CN" dirty="0" smtClean="0">
                <a:latin typeface="+mj-lt"/>
                <a:ea typeface="宋体" panose="02010600030101010101" pitchFamily="2" charset="-122"/>
                <a:sym typeface="+mn-ea"/>
              </a:rPr>
              <a:t>&gt;) {</a:t>
            </a:r>
            <a:endParaRPr lang="en-US" altLang="zh-CN" dirty="0" smtClean="0">
              <a:latin typeface="+mj-lt"/>
              <a:ea typeface="宋体" panose="02010600030101010101" pitchFamily="2" charset="-122"/>
            </a:endParaRPr>
          </a:p>
          <a:p>
            <a:pPr marL="361950" indent="-361950" eaLnBrk="1" hangingPunct="1">
              <a:buFont typeface="Times" pitchFamily="18" charset="0"/>
              <a:buNone/>
              <a:defRPr/>
            </a:pPr>
            <a:r>
              <a:rPr lang="en-US" altLang="zh-CN" dirty="0" smtClean="0">
                <a:latin typeface="+mj-lt"/>
                <a:ea typeface="宋体" panose="02010600030101010101" pitchFamily="2" charset="-122"/>
                <a:sym typeface="+mn-ea"/>
              </a:rPr>
              <a:t>		……</a:t>
            </a:r>
            <a:endParaRPr lang="en-US" altLang="zh-CN" dirty="0" smtClean="0">
              <a:latin typeface="+mj-lt"/>
              <a:ea typeface="宋体" panose="02010600030101010101" pitchFamily="2" charset="-122"/>
            </a:endParaRPr>
          </a:p>
          <a:p>
            <a:pPr marL="361950" indent="-361950" eaLnBrk="1" hangingPunct="1">
              <a:buFont typeface="Times" pitchFamily="18" charset="0"/>
              <a:buNone/>
              <a:defRPr/>
            </a:pPr>
            <a:r>
              <a:rPr lang="en-US" altLang="zh-CN" dirty="0" smtClean="0">
                <a:latin typeface="+mj-lt"/>
                <a:ea typeface="宋体" panose="02010600030101010101" pitchFamily="2" charset="-122"/>
                <a:sym typeface="+mn-ea"/>
              </a:rPr>
              <a:t>	} ]*  [finally {</a:t>
            </a:r>
            <a:endParaRPr lang="en-US" altLang="zh-CN" dirty="0" smtClean="0">
              <a:latin typeface="+mj-lt"/>
              <a:ea typeface="宋体" panose="02010600030101010101" pitchFamily="2" charset="-122"/>
            </a:endParaRPr>
          </a:p>
          <a:p>
            <a:pPr marL="361950" indent="-361950" eaLnBrk="1" hangingPunct="1">
              <a:buFont typeface="Times" pitchFamily="18" charset="0"/>
              <a:buNone/>
              <a:defRPr/>
            </a:pPr>
            <a:r>
              <a:rPr lang="en-US" altLang="zh-CN" dirty="0" smtClean="0">
                <a:latin typeface="+mj-lt"/>
                <a:ea typeface="宋体" panose="02010600030101010101" pitchFamily="2" charset="-122"/>
                <a:sym typeface="+mn-ea"/>
              </a:rPr>
              <a:t>		……</a:t>
            </a:r>
            <a:endParaRPr lang="en-US" altLang="zh-CN" dirty="0" smtClean="0">
              <a:latin typeface="+mj-lt"/>
              <a:ea typeface="宋体" panose="02010600030101010101" pitchFamily="2" charset="-122"/>
            </a:endParaRPr>
          </a:p>
          <a:p>
            <a:pPr marL="361950" indent="-361950" eaLnBrk="1" hangingPunct="1">
              <a:buFont typeface="Times" pitchFamily="18" charset="0"/>
              <a:buNone/>
              <a:defRPr/>
            </a:pPr>
            <a:r>
              <a:rPr lang="en-US" altLang="zh-CN" dirty="0" smtClean="0">
                <a:latin typeface="+mj-lt"/>
                <a:ea typeface="宋体" panose="02010600030101010101" pitchFamily="2" charset="-122"/>
                <a:sym typeface="+mn-ea"/>
              </a:rPr>
              <a:t>	}]</a:t>
            </a:r>
            <a:endParaRPr lang="en-US" altLang="zh-CN" dirty="0" smtClean="0">
              <a:latin typeface="+mj-lt"/>
              <a:ea typeface="宋体" panose="02010600030101010101" pitchFamily="2" charset="-122"/>
            </a:endParaRPr>
          </a:p>
          <a:p>
            <a:pPr marL="457200" indent="-457200" algn="l" eaLnBrk="1" hangingPunct="1">
              <a:lnSpc>
                <a:spcPct val="140000"/>
              </a:lnSpc>
              <a:buClr>
                <a:srgbClr val="ED7D31"/>
              </a:buClr>
              <a:buSzTx/>
              <a:buFont typeface="+mj-lt"/>
              <a:buAutoNum type="arabicPeriod" startAt="3"/>
            </a:pPr>
            <a:r>
              <a:rPr lang="zh-CN" altLang="en-US" dirty="0">
                <a:ea typeface="宋体" panose="02010600030101010101" pitchFamily="2" charset="-122"/>
                <a:sym typeface="+mn-ea"/>
              </a:rPr>
              <a:t>可使用多个catch子句捕获多个异常</a:t>
            </a:r>
            <a:endParaRPr lang="zh-CN" altLang="en-US" dirty="0">
              <a:ea typeface="宋体" panose="02010600030101010101" pitchFamily="2" charset="-122"/>
            </a:endParaRPr>
          </a:p>
          <a:p>
            <a:pPr marL="457200" indent="-457200" algn="l" eaLnBrk="1" hangingPunct="1">
              <a:lnSpc>
                <a:spcPct val="140000"/>
              </a:lnSpc>
              <a:buClr>
                <a:srgbClr val="ED7D31"/>
              </a:buClr>
              <a:buSzTx/>
              <a:buFont typeface="+mj-lt"/>
              <a:buAutoNum type="arabicPeriod" startAt="3"/>
            </a:pPr>
            <a:r>
              <a:rPr lang="zh-CN" altLang="en-US" dirty="0">
                <a:ea typeface="宋体" panose="02010600030101010101" pitchFamily="2" charset="-122"/>
                <a:sym typeface="+mn-ea"/>
              </a:rPr>
              <a:t>getMessage()方法可返回异常对象中的错误信息</a:t>
            </a:r>
            <a:endParaRPr lang="zh-CN" altLang="en-US"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en-US" altLang="zh-CN" sz="2400" dirty="0" smtClean="0">
                <a:solidFill>
                  <a:srgbClr val="FF0000"/>
                </a:solidFill>
                <a:ea typeface="宋体" panose="02010600030101010101" pitchFamily="2" charset="-122"/>
                <a:cs typeface="+mn-lt"/>
                <a:sym typeface="+mn-ea"/>
              </a:rPr>
              <a:t>try -catch...finally</a:t>
            </a:r>
            <a:endParaRPr lang="zh-CN" altLang="en-US" sz="2400" b="1" spc="300" dirty="0" smtClean="0">
              <a:solidFill>
                <a:srgbClr val="FF0000"/>
              </a:solidFill>
              <a:latin typeface="思源黑体 CN Bold" panose="020B0800000000000000" pitchFamily="34" charset="-122"/>
              <a:ea typeface="宋体" panose="02010600030101010101" pitchFamily="2" charset="-122"/>
              <a:cs typeface="+mn-lt"/>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907415" y="710565"/>
            <a:ext cx="9466580" cy="5572760"/>
          </a:xfrm>
        </p:spPr>
        <p:txBody>
          <a:bodyPr>
            <a:noAutofit/>
          </a:bodyPr>
          <a:p>
            <a:pPr marL="0" indent="0" eaLnBrk="1" hangingPunct="1">
              <a:spcBef>
                <a:spcPts val="0"/>
              </a:spcBef>
              <a:buFont typeface="+mj-lt"/>
              <a:buNone/>
              <a:defRPr/>
            </a:pP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public class TestExcetion05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public static void main(String[] args)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int z = div(new String[]{"A","0"});</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public static int div (String [] sArray){</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int z = 0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r>
              <a:rPr lang="en-US" altLang="zh-CN" sz="1800" dirty="0" smtClean="0">
                <a:solidFill>
                  <a:srgbClr val="FF0000"/>
                </a:solidFill>
                <a:ea typeface="宋体" panose="02010600030101010101" pitchFamily="2" charset="-122"/>
                <a:cs typeface="+mn-lt"/>
              </a:rPr>
              <a:t>try </a:t>
            </a:r>
            <a:r>
              <a:rPr lang="en-US" altLang="zh-CN" sz="1800" dirty="0" smtClean="0">
                <a:solidFill>
                  <a:srgbClr val="002060"/>
                </a:solidFill>
                <a:ea typeface="宋体" panose="02010600030101010101" pitchFamily="2" charset="-122"/>
                <a:cs typeface="+mn-lt"/>
              </a:rPr>
              <a:t>{</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//拿到数组的第一个元素</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int x = Integer.parseInt(sArray[0]);</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int y = Integer.parseInt(sArray[1]);</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z = x / y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r>
              <a:rPr lang="en-US" altLang="zh-CN" sz="1800" dirty="0" smtClean="0">
                <a:solidFill>
                  <a:srgbClr val="FF0000"/>
                </a:solidFill>
                <a:ea typeface="宋体" panose="02010600030101010101" pitchFamily="2" charset="-122"/>
                <a:cs typeface="+mn-lt"/>
              </a:rPr>
              <a:t>catch </a:t>
            </a:r>
            <a:r>
              <a:rPr lang="en-US" altLang="zh-CN" sz="1800" dirty="0" smtClean="0">
                <a:solidFill>
                  <a:srgbClr val="002060"/>
                </a:solidFill>
                <a:ea typeface="宋体" panose="02010600030101010101" pitchFamily="2" charset="-122"/>
                <a:cs typeface="+mn-lt"/>
              </a:rPr>
              <a:t>(NumberFormatException e){</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System.out.println("数据类型转换异常");</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r>
              <a:rPr lang="en-US" altLang="zh-CN" sz="1800" dirty="0" smtClean="0">
                <a:solidFill>
                  <a:srgbClr val="FF0000"/>
                </a:solidFill>
                <a:ea typeface="宋体" panose="02010600030101010101" pitchFamily="2" charset="-122"/>
                <a:cs typeface="+mn-lt"/>
              </a:rPr>
              <a:t>catch</a:t>
            </a:r>
            <a:r>
              <a:rPr lang="en-US" altLang="zh-CN" sz="1800" dirty="0" smtClean="0">
                <a:solidFill>
                  <a:srgbClr val="002060"/>
                </a:solidFill>
                <a:ea typeface="宋体" panose="02010600030101010101" pitchFamily="2" charset="-122"/>
                <a:cs typeface="+mn-lt"/>
              </a:rPr>
              <a:t>(ArithmeticException e){</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System.out.println("除数不能为0");</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r>
              <a:rPr lang="en-US" altLang="zh-CN" sz="1800" dirty="0" smtClean="0">
                <a:solidFill>
                  <a:srgbClr val="FF0000"/>
                </a:solidFill>
                <a:ea typeface="宋体" panose="02010600030101010101" pitchFamily="2" charset="-122"/>
                <a:cs typeface="+mn-lt"/>
              </a:rPr>
              <a:t>finally </a:t>
            </a:r>
            <a:r>
              <a:rPr lang="en-US" altLang="zh-CN" sz="1800" dirty="0" smtClean="0">
                <a:solidFill>
                  <a:srgbClr val="002060"/>
                </a:solidFill>
                <a:ea typeface="宋体" panose="02010600030101010101" pitchFamily="2" charset="-122"/>
                <a:cs typeface="+mn-lt"/>
              </a:rPr>
              <a:t>{</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System.out.println("一般情况下，非jvm终止的情况，finally都会被执行");</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return z;</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a:t>
            </a:r>
            <a:endParaRPr lang="en-US" altLang="zh-CN" sz="18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marL="0" lvl="1" eaLnBrk="1" hangingPunct="1"/>
            <a:r>
              <a:rPr lang="zh-CN" altLang="en-US" sz="2400" dirty="0">
                <a:ea typeface="宋体" panose="02010600030101010101" pitchFamily="2" charset="-122"/>
                <a:sym typeface="+mn-ea"/>
              </a:rPr>
              <a:t>方式二</a:t>
            </a:r>
            <a:r>
              <a:rPr lang="en-US" altLang="zh-CN" sz="2400" dirty="0">
                <a:ea typeface="宋体" panose="02010600030101010101" pitchFamily="2" charset="-122"/>
                <a:sym typeface="+mn-ea"/>
              </a:rPr>
              <a:t>:</a:t>
            </a:r>
            <a:r>
              <a:rPr lang="zh-CN" altLang="en-US" sz="2400" dirty="0">
                <a:ea typeface="宋体" panose="02010600030101010101" pitchFamily="2" charset="-122"/>
                <a:sym typeface="+mn-ea"/>
              </a:rPr>
              <a:t>主动抛出</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111885"/>
            <a:ext cx="10244455" cy="5200015"/>
          </a:xfrm>
        </p:spPr>
        <p:txBody>
          <a:bodyPr>
            <a:normAutofit/>
          </a:bodyPr>
          <a:p>
            <a:pPr marL="457200" indent="-457200" algn="l" eaLnBrk="1" hangingPunct="1">
              <a:lnSpc>
                <a:spcPct val="140000"/>
              </a:lnSpc>
              <a:buClr>
                <a:srgbClr val="ED7D31"/>
              </a:buClr>
              <a:buSzTx/>
              <a:buFont typeface="+mj-lt"/>
              <a:buAutoNum type="arabicPeriod"/>
            </a:pPr>
            <a:r>
              <a:rPr lang="zh-CN" altLang="en-US" dirty="0">
                <a:ea typeface="宋体" panose="02010600030101010101" pitchFamily="2" charset="-122"/>
                <a:sym typeface="+mn-ea"/>
              </a:rPr>
              <a:t>throw语句可用来从方法中主动抛出指定异常对象</a:t>
            </a:r>
            <a:endParaRPr lang="zh-CN" altLang="en-US" dirty="0">
              <a:ea typeface="宋体" panose="02010600030101010101" pitchFamily="2" charset="-122"/>
            </a:endParaRPr>
          </a:p>
          <a:p>
            <a:pPr marL="457200" indent="-457200" algn="l">
              <a:lnSpc>
                <a:spcPct val="140000"/>
              </a:lnSpc>
              <a:buClr>
                <a:srgbClr val="ED7D31"/>
              </a:buClr>
              <a:buSzTx/>
              <a:buFont typeface="+mj-lt"/>
              <a:buAutoNum type="arabicPeriod"/>
            </a:pPr>
            <a:r>
              <a:rPr lang="zh-CN" altLang="en-US" dirty="0">
                <a:ea typeface="宋体" panose="02010600030101010101" pitchFamily="2" charset="-122"/>
                <a:sym typeface="+mn-ea"/>
              </a:rPr>
              <a:t>可以主动抛出RuntimeException及其子类的异常对象。</a:t>
            </a:r>
            <a:endParaRPr lang="zh-CN" altLang="en-US" dirty="0">
              <a:ea typeface="宋体" panose="02010600030101010101" pitchFamily="2" charset="-122"/>
              <a:sym typeface="+mn-ea"/>
            </a:endParaRPr>
          </a:p>
          <a:p>
            <a:pPr marL="0" indent="0" algn="l">
              <a:lnSpc>
                <a:spcPct val="140000"/>
              </a:lnSpc>
              <a:buClr>
                <a:srgbClr val="ED7D31"/>
              </a:buClr>
              <a:buSzTx/>
              <a:buFont typeface="+mj-lt"/>
              <a:buNone/>
            </a:pPr>
            <a:r>
              <a:rPr lang="en-US" altLang="zh-CN" dirty="0">
                <a:ea typeface="宋体" panose="02010600030101010101" pitchFamily="2" charset="-122"/>
                <a:sym typeface="+mn-ea"/>
              </a:rPr>
              <a:t>    </a:t>
            </a:r>
            <a:r>
              <a:rPr lang="zh-CN" altLang="en-US" dirty="0">
                <a:ea typeface="宋体" panose="02010600030101010101" pitchFamily="2" charset="-122"/>
                <a:sym typeface="+mn-ea"/>
              </a:rPr>
              <a:t>例如：</a:t>
            </a:r>
            <a:endParaRPr lang="zh-CN" altLang="en-US" dirty="0">
              <a:ea typeface="宋体" panose="02010600030101010101" pitchFamily="2" charset="-122"/>
            </a:endParaRPr>
          </a:p>
          <a:p>
            <a:pPr marL="0" indent="0" algn="l">
              <a:lnSpc>
                <a:spcPct val="140000"/>
              </a:lnSpc>
              <a:buClr>
                <a:srgbClr val="ED7D31"/>
              </a:buClr>
              <a:buSzTx/>
              <a:buFont typeface="+mj-lt"/>
              <a:buNone/>
            </a:pPr>
            <a:r>
              <a:rPr lang="en-US" altLang="zh-CN" dirty="0">
                <a:ea typeface="宋体" panose="02010600030101010101" pitchFamily="2" charset="-122"/>
                <a:sym typeface="+mn-ea"/>
              </a:rPr>
              <a:t>           </a:t>
            </a:r>
            <a:r>
              <a:rPr lang="zh-CN" altLang="en-US" dirty="0">
                <a:ea typeface="宋体" panose="02010600030101010101" pitchFamily="2" charset="-122"/>
                <a:sym typeface="+mn-ea"/>
              </a:rPr>
              <a:t>throw new RuntimeException("Could not connect");</a:t>
            </a:r>
            <a:endParaRPr lang="zh-CN" altLang="en-US" dirty="0">
              <a:ea typeface="宋体" panose="02010600030101010101" pitchFamily="2" charset="-122"/>
            </a:endParaRPr>
          </a:p>
          <a:p>
            <a:pPr marL="457200" indent="-457200" algn="l">
              <a:lnSpc>
                <a:spcPct val="140000"/>
              </a:lnSpc>
              <a:buClr>
                <a:srgbClr val="ED7D31"/>
              </a:buClr>
              <a:buSzTx/>
              <a:buFont typeface="+mj-lt"/>
              <a:buAutoNum type="arabicPeriod" startAt="3"/>
            </a:pPr>
            <a:r>
              <a:rPr lang="zh-CN" altLang="en-US" dirty="0">
                <a:ea typeface="宋体" panose="02010600030101010101" pitchFamily="2" charset="-122"/>
                <a:sym typeface="+mn-ea"/>
              </a:rPr>
              <a:t>throw语句执行后，方法返回（相当于执行了return语句）</a:t>
            </a:r>
            <a:endParaRPr lang="zh-CN" altLang="en-US" dirty="0">
              <a:ea typeface="宋体" panose="02010600030101010101" pitchFamily="2" charset="-122"/>
            </a:endParaRPr>
          </a:p>
          <a:p>
            <a:pPr marL="457200" indent="-457200" algn="l">
              <a:lnSpc>
                <a:spcPct val="140000"/>
              </a:lnSpc>
              <a:buClr>
                <a:srgbClr val="ED7D31"/>
              </a:buClr>
              <a:buSzTx/>
              <a:buFont typeface="+mj-lt"/>
              <a:buAutoNum type="arabicPeriod" startAt="3"/>
            </a:pPr>
            <a:r>
              <a:rPr lang="zh-CN" altLang="en-US" dirty="0">
                <a:ea typeface="宋体" panose="02010600030101010101" pitchFamily="2" charset="-122"/>
                <a:sym typeface="+mn-ea"/>
              </a:rPr>
              <a:t>异常对象的printStackTrace()方法可打印输出方法调用的栈踪迹</a:t>
            </a:r>
            <a:endParaRPr lang="zh-CN" altLang="en-US"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en-US" altLang="zh-CN" sz="2400" dirty="0" smtClean="0">
                <a:solidFill>
                  <a:srgbClr val="FF0000"/>
                </a:solidFill>
                <a:ea typeface="宋体" panose="02010600030101010101" pitchFamily="2" charset="-122"/>
                <a:cs typeface="+mn-lt"/>
                <a:sym typeface="+mn-ea"/>
              </a:rPr>
              <a:t>throw </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907415" y="710565"/>
            <a:ext cx="9466580" cy="5572760"/>
          </a:xfrm>
        </p:spPr>
        <p:txBody>
          <a:bodyPr>
            <a:noAutofit/>
          </a:bodyPr>
          <a:p>
            <a:pPr marL="0" indent="0" eaLnBrk="1" hangingPunct="1">
              <a:spcBef>
                <a:spcPts val="0"/>
              </a:spcBef>
              <a:buFont typeface="+mj-lt"/>
              <a:buNone/>
              <a:defRPr/>
            </a:pP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public class TestExcetion10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public static void main(String[] args)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try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int z = div(3,0);</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System.out.println(z);</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 catch (Exception e)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System.out.println(e.getMessage());</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e.printStackTrace();</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System.out.println("=======");</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public static  int div(int x, int y){</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if (y == 0)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//抛出异常</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r>
              <a:rPr lang="en-US" altLang="zh-CN" sz="1800" dirty="0" smtClean="0">
                <a:solidFill>
                  <a:srgbClr val="FF0000"/>
                </a:solidFill>
                <a:ea typeface="宋体" panose="02010600030101010101" pitchFamily="2" charset="-122"/>
                <a:cs typeface="+mn-lt"/>
              </a:rPr>
              <a:t>throw new ArithmeticException("除数不能为0");</a:t>
            </a:r>
            <a:endParaRPr lang="en-US" altLang="zh-CN" sz="1800" dirty="0" smtClean="0">
              <a:solidFill>
                <a:srgbClr val="FF000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System.out.println("出现异常我不会输出");</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int z = x / y;</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return z;</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a:t>
            </a:r>
            <a:endParaRPr lang="en-US" altLang="zh-CN" sz="18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marL="0" lvl="1" eaLnBrk="1" hangingPunct="1"/>
            <a:r>
              <a:rPr lang="zh-CN" altLang="en-US" sz="2400" dirty="0">
                <a:ea typeface="宋体" panose="02010600030101010101" pitchFamily="2" charset="-122"/>
                <a:sym typeface="+mn-ea"/>
              </a:rPr>
              <a:t>方式三</a:t>
            </a:r>
            <a:r>
              <a:rPr lang="en-US" altLang="zh-CN" sz="2400" dirty="0">
                <a:ea typeface="宋体" panose="02010600030101010101" pitchFamily="2" charset="-122"/>
                <a:sym typeface="+mn-ea"/>
              </a:rPr>
              <a:t>:</a:t>
            </a:r>
            <a:r>
              <a:rPr lang="zh-CN" altLang="en-US" sz="2400" dirty="0">
                <a:ea typeface="宋体" panose="02010600030101010101" pitchFamily="2" charset="-122"/>
                <a:sym typeface="+mn-ea"/>
              </a:rPr>
              <a:t>捕获并抛出</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111885"/>
            <a:ext cx="10244455" cy="5200015"/>
          </a:xfrm>
        </p:spPr>
        <p:txBody>
          <a:bodyPr>
            <a:normAutofit/>
          </a:bodyPr>
          <a:p>
            <a:pPr marL="457200" indent="-457200" algn="l" eaLnBrk="1" hangingPunct="1">
              <a:lnSpc>
                <a:spcPct val="140000"/>
              </a:lnSpc>
              <a:buClr>
                <a:srgbClr val="ED7D31"/>
              </a:buClr>
              <a:buSzTx/>
              <a:buFont typeface="+mj-lt"/>
              <a:buAutoNum type="arabicPeriod"/>
            </a:pPr>
            <a:r>
              <a:rPr lang="zh-CN" altLang="en-US" dirty="0">
                <a:ea typeface="宋体" panose="02010600030101010101" pitchFamily="2" charset="-122"/>
                <a:sym typeface="+mn-ea"/>
              </a:rPr>
              <a:t>thro</a:t>
            </a:r>
            <a:r>
              <a:rPr lang="en-US" altLang="zh-CN" dirty="0">
                <a:ea typeface="宋体" panose="02010600030101010101" pitchFamily="2" charset="-122"/>
                <a:sym typeface="+mn-ea"/>
              </a:rPr>
              <a:t>ws</a:t>
            </a:r>
            <a:r>
              <a:rPr lang="zh-CN" altLang="en-US" dirty="0">
                <a:ea typeface="宋体" panose="02010600030101010101" pitchFamily="2" charset="-122"/>
                <a:sym typeface="+mn-ea"/>
              </a:rPr>
              <a:t>在实际的工作中使用并不是特别多了解即可</a:t>
            </a:r>
            <a:endParaRPr lang="zh-CN" altLang="en-US" dirty="0">
              <a:ea typeface="宋体" panose="02010600030101010101" pitchFamily="2" charset="-122"/>
            </a:endParaRPr>
          </a:p>
          <a:p>
            <a:pPr marL="457200" indent="-457200" algn="l">
              <a:lnSpc>
                <a:spcPct val="140000"/>
              </a:lnSpc>
              <a:buClr>
                <a:srgbClr val="ED7D31"/>
              </a:buClr>
              <a:buSzTx/>
              <a:buFont typeface="+mj-lt"/>
              <a:buAutoNum type="arabicPeriod"/>
            </a:pPr>
            <a:r>
              <a:rPr lang="zh-CN" altLang="en-US" dirty="0">
                <a:ea typeface="宋体" panose="02010600030101010101" pitchFamily="2" charset="-122"/>
                <a:sym typeface="+mn-ea"/>
              </a:rPr>
              <a:t>一般都用于我遇到了异常不知道如何处理，可以把系统异常封装为模块异常，方便后续出问题了调错</a:t>
            </a:r>
            <a:endParaRPr lang="zh-CN" altLang="en-US" dirty="0">
              <a:ea typeface="宋体" panose="02010600030101010101" pitchFamily="2" charset="-122"/>
              <a:sym typeface="+mn-ea"/>
            </a:endParaRPr>
          </a:p>
          <a:p>
            <a:pPr marL="0" indent="0" algn="l">
              <a:lnSpc>
                <a:spcPct val="140000"/>
              </a:lnSpc>
              <a:buClr>
                <a:srgbClr val="ED7D31"/>
              </a:buClr>
              <a:buSzTx/>
              <a:buFont typeface="+mj-lt"/>
              <a:buNone/>
            </a:pPr>
            <a:endParaRPr lang="zh-CN" altLang="en-US"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en-US" altLang="zh-CN" sz="2400" dirty="0" smtClean="0">
                <a:solidFill>
                  <a:srgbClr val="FF0000"/>
                </a:solidFill>
                <a:ea typeface="宋体" panose="02010600030101010101" pitchFamily="2" charset="-122"/>
                <a:cs typeface="+mn-lt"/>
                <a:sym typeface="+mn-ea"/>
              </a:rPr>
              <a:t>throws </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907415" y="710565"/>
            <a:ext cx="10637520" cy="5572760"/>
          </a:xfrm>
        </p:spPr>
        <p:txBody>
          <a:bodyPr>
            <a:noAutofit/>
          </a:bodyPr>
          <a:p>
            <a:pPr marL="0" indent="0" eaLnBrk="1" hangingPunct="1">
              <a:spcBef>
                <a:spcPts val="0"/>
              </a:spcBef>
              <a:buFont typeface="+mj-lt"/>
              <a:buNone/>
              <a:defRPr/>
            </a:pP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public class TestExcetion11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public static void main(String[] args)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try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int z = div(3,0);</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System.out.println(z);</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 catch (DivByZeroException e)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System.out.println(e.getMessage());</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e.printStackTrace();</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public static  int div1(int x, int y)</a:t>
            </a:r>
            <a:r>
              <a:rPr lang="en-US" altLang="zh-CN" sz="1800" dirty="0" smtClean="0">
                <a:solidFill>
                  <a:srgbClr val="FF0000"/>
                </a:solidFill>
                <a:ea typeface="宋体" panose="02010600030101010101" pitchFamily="2" charset="-122"/>
                <a:cs typeface="+mn-lt"/>
              </a:rPr>
              <a:t> throws DivByZeroException</a:t>
            </a:r>
            <a:r>
              <a:rPr lang="en-US" altLang="zh-CN" sz="1800" dirty="0" smtClean="0">
                <a:solidFill>
                  <a:srgbClr val="002060"/>
                </a:solidFill>
                <a:ea typeface="宋体" panose="02010600030101010101" pitchFamily="2" charset="-122"/>
                <a:cs typeface="+mn-lt"/>
              </a:rPr>
              <a:t>{//向调用者抛出异常</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int z = 0;</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try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z = x / y;</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}catch (ArithmeticException e)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r>
              <a:rPr lang="en-US" altLang="zh-CN" sz="2000" dirty="0" smtClean="0">
                <a:solidFill>
                  <a:srgbClr val="FF0000"/>
                </a:solidFill>
                <a:ea typeface="宋体" panose="02010600030101010101" pitchFamily="2" charset="-122"/>
                <a:cs typeface="+mn-lt"/>
              </a:rPr>
              <a:t>throw new DivByZeroException("被除数为0",e);</a:t>
            </a:r>
            <a:r>
              <a:rPr lang="en-US" altLang="zh-CN" sz="2000" dirty="0" smtClean="0">
                <a:ea typeface="宋体" panose="02010600030101010101" pitchFamily="2" charset="-122"/>
                <a:cs typeface="+mn-lt"/>
              </a:rPr>
              <a:t>//</a:t>
            </a:r>
            <a:r>
              <a:rPr lang="zh-CN" altLang="en-US" sz="2000" dirty="0" smtClean="0">
                <a:ea typeface="宋体" panose="02010600030101010101" pitchFamily="2" charset="-122"/>
                <a:cs typeface="+mn-lt"/>
              </a:rPr>
              <a:t>把系统异常封装为自定义异常</a:t>
            </a:r>
            <a:r>
              <a:rPr lang="en-US" altLang="zh-CN" dirty="0" smtClean="0">
                <a:solidFill>
                  <a:srgbClr val="002060"/>
                </a:solidFill>
                <a:ea typeface="宋体" panose="02010600030101010101" pitchFamily="2" charset="-122"/>
                <a:cs typeface="+mn-lt"/>
              </a:rPr>
              <a:t>     </a:t>
            </a:r>
            <a:endParaRPr lang="en-US" altLang="zh-CN"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return z;</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a:t>
            </a:r>
            <a:endParaRPr lang="en-US" altLang="zh-CN" sz="18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141730" y="3137535"/>
            <a:ext cx="981202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第三节 </a:t>
            </a:r>
            <a:r>
              <a:rPr lang="zh-CN" altLang="en-US" sz="6665" dirty="0">
                <a:solidFill>
                  <a:schemeClr val="bg1"/>
                </a:solidFill>
                <a:latin typeface="Arial" panose="020B0604020202020204" pitchFamily="34" charset="0"/>
                <a:ea typeface="宋体" panose="02010600030101010101" pitchFamily="2" charset="-122"/>
                <a:sym typeface="+mn-ea"/>
              </a:rPr>
              <a:t>自定义异常</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自定义异常</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lnSpcReduction="10000"/>
          </a:bodyPr>
          <a:p>
            <a:pPr eaLnBrk="1" hangingPunct="1">
              <a:lnSpc>
                <a:spcPct val="140000"/>
              </a:lnSpc>
              <a:buClr>
                <a:srgbClr val="ED7D31"/>
              </a:buClr>
              <a:buFont typeface="Wingdings" panose="05000000000000000000" charset="0"/>
              <a:buChar char="Ø"/>
            </a:pPr>
            <a:r>
              <a:rPr lang="en-US" altLang="zh-CN" sz="2400" dirty="0">
                <a:ea typeface="宋体" panose="02010600030101010101" pitchFamily="2" charset="-122"/>
                <a:sym typeface="+mn-ea"/>
              </a:rPr>
              <a:t> </a:t>
            </a:r>
            <a:r>
              <a:rPr lang="zh-CN" altLang="en-US" sz="2400" dirty="0">
                <a:ea typeface="宋体" panose="02010600030101010101" pitchFamily="2" charset="-122"/>
                <a:sym typeface="+mn-ea"/>
              </a:rPr>
              <a:t>自定义异常的优势：</a:t>
            </a:r>
            <a:endParaRPr lang="zh-CN" altLang="en-US" sz="2400" dirty="0">
              <a:ea typeface="宋体" panose="02010600030101010101" pitchFamily="2" charset="-122"/>
              <a:sym typeface="+mn-ea"/>
            </a:endParaRPr>
          </a:p>
          <a:p>
            <a:pPr marL="914400" lvl="1" indent="-457200" eaLnBrk="1" hangingPunct="1">
              <a:lnSpc>
                <a:spcPct val="140000"/>
              </a:lnSpc>
              <a:buClr>
                <a:srgbClr val="ED7D31"/>
              </a:buClr>
              <a:buFont typeface="+mj-ea"/>
              <a:buAutoNum type="circleNumDbPlain"/>
            </a:pPr>
            <a:r>
              <a:rPr lang="zh-CN" altLang="en-US" dirty="0">
                <a:ea typeface="宋体" panose="02010600030101010101" pitchFamily="2" charset="-122"/>
                <a:sym typeface="+mn-ea"/>
              </a:rPr>
              <a:t>更好地描述异常情况：</a:t>
            </a:r>
            <a:endParaRPr lang="zh-CN" altLang="en-US" dirty="0">
              <a:ea typeface="宋体" panose="02010600030101010101" pitchFamily="2" charset="-122"/>
              <a:sym typeface="+mn-ea"/>
            </a:endParaRPr>
          </a:p>
          <a:p>
            <a:pPr lvl="2" eaLnBrk="1" hangingPunct="1">
              <a:lnSpc>
                <a:spcPct val="140000"/>
              </a:lnSpc>
              <a:buClr>
                <a:srgbClr val="ED7D31"/>
              </a:buClr>
              <a:buFont typeface="Arial" panose="020B0604020202020204" pitchFamily="34" charset="0"/>
              <a:buChar char="•"/>
            </a:pPr>
            <a:r>
              <a:rPr lang="zh-CN" altLang="en-US" dirty="0">
                <a:ea typeface="宋体" panose="02010600030101010101" pitchFamily="2" charset="-122"/>
                <a:sym typeface="+mn-ea"/>
              </a:rPr>
              <a:t>通过自定义异常，我们可以为特定的异常情况提供更准确和详细的描述，使得异常处理更加精确和可读性更高。</a:t>
            </a:r>
            <a:endParaRPr lang="zh-CN" altLang="en-US" dirty="0">
              <a:ea typeface="宋体" panose="02010600030101010101" pitchFamily="2" charset="-122"/>
              <a:sym typeface="+mn-ea"/>
            </a:endParaRPr>
          </a:p>
          <a:p>
            <a:pPr marL="914400" lvl="1" indent="-457200" eaLnBrk="1" hangingPunct="1">
              <a:lnSpc>
                <a:spcPct val="140000"/>
              </a:lnSpc>
              <a:buClr>
                <a:srgbClr val="ED7D31"/>
              </a:buClr>
              <a:buFont typeface="+mj-ea"/>
              <a:buAutoNum type="circleNumDbPlain"/>
            </a:pPr>
            <a:r>
              <a:rPr lang="zh-CN" altLang="en-US" dirty="0">
                <a:ea typeface="宋体" panose="02010600030101010101" pitchFamily="2" charset="-122"/>
                <a:sym typeface="+mn-ea"/>
              </a:rPr>
              <a:t>更好地区分异常类型：</a:t>
            </a:r>
            <a:endParaRPr lang="zh-CN" altLang="en-US" dirty="0">
              <a:ea typeface="宋体" panose="02010600030101010101" pitchFamily="2" charset="-122"/>
              <a:sym typeface="+mn-ea"/>
            </a:endParaRPr>
          </a:p>
          <a:p>
            <a:pPr lvl="2" eaLnBrk="1" hangingPunct="1">
              <a:lnSpc>
                <a:spcPct val="140000"/>
              </a:lnSpc>
              <a:buClr>
                <a:srgbClr val="ED7D31"/>
              </a:buClr>
              <a:buFont typeface="Arial" panose="020B0604020202020204" pitchFamily="34" charset="0"/>
              <a:buChar char="•"/>
            </a:pPr>
            <a:r>
              <a:rPr lang="zh-CN" altLang="en-US" dirty="0">
                <a:ea typeface="宋体" panose="02010600030101010101" pitchFamily="2" charset="-122"/>
                <a:sym typeface="+mn-ea"/>
              </a:rPr>
              <a:t>自定义异常可以帮助我们区分不同的异常类型，根据不同的异常类型做出不同的处理，提高程序健壮性和可维护性。</a:t>
            </a:r>
            <a:endParaRPr lang="zh-CN" altLang="en-US" dirty="0">
              <a:ea typeface="宋体" panose="02010600030101010101" pitchFamily="2" charset="-122"/>
              <a:sym typeface="+mn-ea"/>
            </a:endParaRPr>
          </a:p>
          <a:p>
            <a:pPr marL="914400" lvl="1" indent="-457200" eaLnBrk="1" hangingPunct="1">
              <a:lnSpc>
                <a:spcPct val="140000"/>
              </a:lnSpc>
              <a:buClr>
                <a:srgbClr val="ED7D31"/>
              </a:buClr>
              <a:buFont typeface="+mj-ea"/>
              <a:buAutoNum type="circleNumDbPlain"/>
            </a:pPr>
            <a:r>
              <a:rPr lang="zh-CN" altLang="en-US" dirty="0">
                <a:ea typeface="宋体" panose="02010600030101010101" pitchFamily="2" charset="-122"/>
                <a:sym typeface="+mn-ea"/>
              </a:rPr>
              <a:t>更好地封装异常信息：</a:t>
            </a:r>
            <a:endParaRPr lang="zh-CN" altLang="en-US" dirty="0">
              <a:ea typeface="宋体" panose="02010600030101010101" pitchFamily="2" charset="-122"/>
              <a:sym typeface="+mn-ea"/>
            </a:endParaRPr>
          </a:p>
          <a:p>
            <a:pPr lvl="2" eaLnBrk="1" hangingPunct="1">
              <a:lnSpc>
                <a:spcPct val="140000"/>
              </a:lnSpc>
              <a:buClr>
                <a:srgbClr val="ED7D31"/>
              </a:buClr>
              <a:buFont typeface="Arial" panose="020B0604020202020204" pitchFamily="34" charset="0"/>
              <a:buChar char="•"/>
            </a:pPr>
            <a:r>
              <a:rPr lang="zh-CN" altLang="en-US" dirty="0">
                <a:ea typeface="宋体" panose="02010600030101010101" pitchFamily="2" charset="-122"/>
                <a:sym typeface="+mn-ea"/>
              </a:rPr>
              <a:t>自定义异常可以封装一些额外的信息，如错误码、错误消息等，方便调用方更好地理解和处理异常。</a:t>
            </a:r>
            <a:endParaRPr lang="zh-CN" altLang="en-US"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smtClean="0">
                <a:ea typeface="宋体" panose="02010600030101010101" pitchFamily="2" charset="-122"/>
                <a:sym typeface="+mn-ea"/>
              </a:rPr>
              <a:t>自定义异常</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907415" y="710565"/>
            <a:ext cx="10637520" cy="5572760"/>
          </a:xfrm>
        </p:spPr>
        <p:txBody>
          <a:bodyPr>
            <a:noAutofit/>
          </a:bodyPr>
          <a:p>
            <a:pPr marL="0" indent="0" eaLnBrk="1" hangingPunct="1">
              <a:spcBef>
                <a:spcPts val="0"/>
              </a:spcBef>
              <a:buFont typeface="+mj-lt"/>
              <a:buNone/>
              <a:defRPr/>
            </a:pPr>
            <a:r>
              <a:rPr lang="en-US" altLang="zh-CN" sz="900" dirty="0" smtClean="0">
                <a:solidFill>
                  <a:srgbClr val="002060"/>
                </a:solidFill>
                <a:ea typeface="宋体" panose="02010600030101010101" pitchFamily="2" charset="-122"/>
                <a:cs typeface="+mn-lt"/>
              </a:rPr>
              <a:t>public class TestExcetion11 {</a:t>
            </a:r>
            <a:endParaRPr lang="en-US" altLang="zh-CN" sz="9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900" dirty="0" smtClean="0">
                <a:solidFill>
                  <a:srgbClr val="002060"/>
                </a:solidFill>
                <a:ea typeface="宋体" panose="02010600030101010101" pitchFamily="2" charset="-122"/>
                <a:cs typeface="+mn-lt"/>
              </a:rPr>
              <a:t>    public static void main(String[] args) {</a:t>
            </a:r>
            <a:endParaRPr lang="en-US" altLang="zh-CN" sz="9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900" dirty="0" smtClean="0">
                <a:solidFill>
                  <a:srgbClr val="002060"/>
                </a:solidFill>
                <a:ea typeface="宋体" panose="02010600030101010101" pitchFamily="2" charset="-122"/>
                <a:cs typeface="+mn-lt"/>
              </a:rPr>
              <a:t>        try {</a:t>
            </a:r>
            <a:endParaRPr lang="en-US" altLang="zh-CN" sz="9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900" dirty="0" smtClean="0">
                <a:solidFill>
                  <a:srgbClr val="002060"/>
                </a:solidFill>
                <a:ea typeface="宋体" panose="02010600030101010101" pitchFamily="2" charset="-122"/>
                <a:cs typeface="+mn-lt"/>
              </a:rPr>
              <a:t>            int z = div(3,0);</a:t>
            </a:r>
            <a:endParaRPr lang="en-US" altLang="zh-CN" sz="9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900" dirty="0" smtClean="0">
                <a:solidFill>
                  <a:srgbClr val="002060"/>
                </a:solidFill>
                <a:ea typeface="宋体" panose="02010600030101010101" pitchFamily="2" charset="-122"/>
                <a:cs typeface="+mn-lt"/>
              </a:rPr>
              <a:t>            System.out.println(z);</a:t>
            </a:r>
            <a:endParaRPr lang="en-US" altLang="zh-CN" sz="9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900" dirty="0" smtClean="0">
                <a:solidFill>
                  <a:srgbClr val="002060"/>
                </a:solidFill>
                <a:ea typeface="宋体" panose="02010600030101010101" pitchFamily="2" charset="-122"/>
                <a:cs typeface="+mn-lt"/>
              </a:rPr>
              <a:t>        } catch (DivByZeroException e) {</a:t>
            </a:r>
            <a:endParaRPr lang="en-US" altLang="zh-CN" sz="9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900" dirty="0" smtClean="0">
                <a:solidFill>
                  <a:srgbClr val="002060"/>
                </a:solidFill>
                <a:ea typeface="宋体" panose="02010600030101010101" pitchFamily="2" charset="-122"/>
                <a:cs typeface="+mn-lt"/>
              </a:rPr>
              <a:t>            System.out.println(e.getMessage());</a:t>
            </a:r>
            <a:endParaRPr lang="en-US" altLang="zh-CN" sz="9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900" dirty="0" smtClean="0">
                <a:solidFill>
                  <a:srgbClr val="002060"/>
                </a:solidFill>
                <a:ea typeface="宋体" panose="02010600030101010101" pitchFamily="2" charset="-122"/>
                <a:cs typeface="+mn-lt"/>
              </a:rPr>
              <a:t>            e.printStackTrace();</a:t>
            </a:r>
            <a:endParaRPr lang="en-US" altLang="zh-CN" sz="9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900" dirty="0" smtClean="0">
                <a:solidFill>
                  <a:srgbClr val="002060"/>
                </a:solidFill>
                <a:ea typeface="宋体" panose="02010600030101010101" pitchFamily="2" charset="-122"/>
                <a:cs typeface="+mn-lt"/>
              </a:rPr>
              <a:t>        }</a:t>
            </a:r>
            <a:endParaRPr lang="en-US" altLang="zh-CN" sz="9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900" dirty="0" smtClean="0">
                <a:solidFill>
                  <a:srgbClr val="002060"/>
                </a:solidFill>
                <a:ea typeface="宋体" panose="02010600030101010101" pitchFamily="2" charset="-122"/>
                <a:cs typeface="+mn-lt"/>
              </a:rPr>
              <a:t>    }</a:t>
            </a:r>
            <a:endParaRPr lang="en-US" altLang="zh-CN" sz="9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900" dirty="0" smtClean="0">
                <a:solidFill>
                  <a:srgbClr val="002060"/>
                </a:solidFill>
                <a:ea typeface="宋体" panose="02010600030101010101" pitchFamily="2" charset="-122"/>
                <a:cs typeface="+mn-lt"/>
              </a:rPr>
              <a:t>    public static  int div(int x, int y) throws DivByZeroException{//向调用者抛出异常</a:t>
            </a:r>
            <a:endParaRPr lang="en-US" altLang="zh-CN" sz="9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900" dirty="0" smtClean="0">
                <a:solidFill>
                  <a:srgbClr val="002060"/>
                </a:solidFill>
                <a:ea typeface="宋体" panose="02010600030101010101" pitchFamily="2" charset="-122"/>
                <a:cs typeface="+mn-lt"/>
              </a:rPr>
              <a:t>        if (y == 0) {</a:t>
            </a:r>
            <a:endParaRPr lang="en-US" altLang="zh-CN" sz="9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900" dirty="0" smtClean="0">
                <a:solidFill>
                  <a:srgbClr val="002060"/>
                </a:solidFill>
                <a:ea typeface="宋体" panose="02010600030101010101" pitchFamily="2" charset="-122"/>
                <a:cs typeface="+mn-lt"/>
              </a:rPr>
              <a:t>            //抛出异常</a:t>
            </a:r>
            <a:endParaRPr lang="en-US" altLang="zh-CN" sz="9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900" dirty="0" smtClean="0">
                <a:solidFill>
                  <a:srgbClr val="002060"/>
                </a:solidFill>
                <a:ea typeface="宋体" panose="02010600030101010101" pitchFamily="2" charset="-122"/>
                <a:cs typeface="+mn-lt"/>
              </a:rPr>
              <a:t>            throw new DivByZeroException("被除数为0");//创建一个异常对象，告诉虚拟机</a:t>
            </a:r>
            <a:endParaRPr lang="en-US" altLang="zh-CN" sz="9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900" dirty="0" smtClean="0">
                <a:solidFill>
                  <a:srgbClr val="002060"/>
                </a:solidFill>
                <a:ea typeface="宋体" panose="02010600030101010101" pitchFamily="2" charset="-122"/>
                <a:cs typeface="+mn-lt"/>
              </a:rPr>
              <a:t>        }</a:t>
            </a:r>
            <a:endParaRPr lang="en-US" altLang="zh-CN" sz="9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900" dirty="0" smtClean="0">
                <a:solidFill>
                  <a:srgbClr val="002060"/>
                </a:solidFill>
                <a:ea typeface="宋体" panose="02010600030101010101" pitchFamily="2" charset="-122"/>
                <a:cs typeface="+mn-lt"/>
              </a:rPr>
              <a:t>        System.out.println("出现异常我不会输出");</a:t>
            </a:r>
            <a:endParaRPr lang="en-US" altLang="zh-CN" sz="9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900" dirty="0" smtClean="0">
                <a:solidFill>
                  <a:srgbClr val="002060"/>
                </a:solidFill>
                <a:ea typeface="宋体" panose="02010600030101010101" pitchFamily="2" charset="-122"/>
                <a:cs typeface="+mn-lt"/>
              </a:rPr>
              <a:t>        int z = x / y;</a:t>
            </a:r>
            <a:endParaRPr lang="en-US" altLang="zh-CN" sz="9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900" dirty="0" smtClean="0">
                <a:solidFill>
                  <a:srgbClr val="002060"/>
                </a:solidFill>
                <a:ea typeface="宋体" panose="02010600030101010101" pitchFamily="2" charset="-122"/>
                <a:cs typeface="+mn-lt"/>
              </a:rPr>
              <a:t>        return z;</a:t>
            </a:r>
            <a:endParaRPr lang="en-US" altLang="zh-CN" sz="9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900" dirty="0" smtClean="0">
                <a:solidFill>
                  <a:srgbClr val="002060"/>
                </a:solidFill>
                <a:ea typeface="宋体" panose="02010600030101010101" pitchFamily="2" charset="-122"/>
                <a:cs typeface="+mn-lt"/>
              </a:rPr>
              <a:t>    }</a:t>
            </a:r>
            <a:endParaRPr lang="en-US" altLang="zh-CN" sz="9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900" dirty="0" smtClean="0">
                <a:solidFill>
                  <a:srgbClr val="002060"/>
                </a:solidFill>
                <a:ea typeface="宋体" panose="02010600030101010101" pitchFamily="2" charset="-122"/>
                <a:cs typeface="+mn-lt"/>
              </a:rPr>
              <a:t>}</a:t>
            </a:r>
            <a:endParaRPr lang="en-US" altLang="zh-CN" sz="18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class </a:t>
            </a:r>
            <a:r>
              <a:rPr lang="en-US" altLang="zh-CN" sz="1600" dirty="0" smtClean="0">
                <a:solidFill>
                  <a:srgbClr val="FF0000"/>
                </a:solidFill>
                <a:ea typeface="宋体" panose="02010600030101010101" pitchFamily="2" charset="-122"/>
                <a:cs typeface="+mn-lt"/>
              </a:rPr>
              <a:t>DivByZeroException extends Exception</a:t>
            </a:r>
            <a:r>
              <a:rPr lang="en-US" altLang="zh-CN" sz="1600" dirty="0" smtClean="0">
                <a:solidFill>
                  <a:srgbClr val="002060"/>
                </a:solidFill>
                <a:ea typeface="宋体" panose="02010600030101010101" pitchFamily="2" charset="-122"/>
                <a:cs typeface="+mn-lt"/>
              </a:rPr>
              <a:t>{</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    public DivByZeroException() {</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    }</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    public DivByZeroException(String message) {</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        super(message);</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    }</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    public DivByZeroException(String message, Throwable cause) {</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        super(message, cause);</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    }</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    public DivByZeroException(Throwable cause) {</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        super(cause);</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    }</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a:t>
            </a:r>
            <a:endParaRPr lang="en-US" altLang="zh-CN" sz="16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练习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795520"/>
          </a:xfrm>
        </p:spPr>
        <p:txBody>
          <a:bodyPr>
            <a:normAutofit/>
          </a:bodyPr>
          <a:p>
            <a:pPr marL="457200" indent="-457200" algn="l" eaLnBrk="1" hangingPunct="1">
              <a:lnSpc>
                <a:spcPct val="140000"/>
              </a:lnSpc>
              <a:buClr>
                <a:srgbClr val="ED7D31"/>
              </a:buClr>
              <a:buSzTx/>
              <a:buFont typeface="+mj-lt"/>
              <a:buAutoNum type="arabicPeriod"/>
            </a:pPr>
            <a:r>
              <a:rPr lang="zh-CN" altLang="en-US" sz="2400" dirty="0">
                <a:ea typeface="宋体" panose="02010600030101010101" pitchFamily="2" charset="-122"/>
                <a:sym typeface="+mn-ea"/>
              </a:rPr>
              <a:t>声明受检异常类IlleagalNumberException，用来表示无效数字异常</a:t>
            </a:r>
            <a:endParaRPr lang="zh-CN" altLang="en-US" sz="2400" dirty="0">
              <a:ea typeface="宋体" panose="02010600030101010101" pitchFamily="2" charset="-122"/>
            </a:endParaRPr>
          </a:p>
          <a:p>
            <a:pPr marL="457200" indent="-457200" algn="l" eaLnBrk="1" hangingPunct="1">
              <a:lnSpc>
                <a:spcPct val="140000"/>
              </a:lnSpc>
              <a:buClr>
                <a:srgbClr val="ED7D31"/>
              </a:buClr>
              <a:buSzTx/>
              <a:buFont typeface="+mj-lt"/>
              <a:buAutoNum type="arabicPeriod"/>
            </a:pPr>
            <a:r>
              <a:rPr lang="zh-CN" altLang="en-US" sz="2400" dirty="0">
                <a:ea typeface="宋体" panose="02010600030101010101" pitchFamily="2" charset="-122"/>
                <a:sym typeface="+mn-ea"/>
              </a:rPr>
              <a:t>在TestException类中声明int divide(int m, int n)方法，该方法可抛出IlleagalNumberException异常。</a:t>
            </a:r>
            <a:endParaRPr lang="zh-CN" altLang="en-US" sz="2400" dirty="0">
              <a:ea typeface="宋体" panose="02010600030101010101" pitchFamily="2" charset="-122"/>
            </a:endParaRPr>
          </a:p>
          <a:p>
            <a:pPr marL="914400" lvl="2" indent="-457200" algn="l" eaLnBrk="1" hangingPunct="1">
              <a:lnSpc>
                <a:spcPct val="140000"/>
              </a:lnSpc>
              <a:spcBef>
                <a:spcPts val="1000"/>
              </a:spcBef>
              <a:buClr>
                <a:srgbClr val="ED7D31"/>
              </a:buClr>
              <a:buSzTx/>
              <a:buFont typeface="+mj-lt"/>
              <a:buAutoNum type="arabicPeriod"/>
            </a:pPr>
            <a:r>
              <a:rPr lang="zh-CN" altLang="en-US" sz="2160" dirty="0">
                <a:ea typeface="宋体" panose="02010600030101010101" pitchFamily="2" charset="-122"/>
                <a:sym typeface="+mn-ea"/>
              </a:rPr>
              <a:t>方法的两个参数分别为被除数和除数，返回值为商</a:t>
            </a:r>
            <a:endParaRPr lang="zh-CN" altLang="en-US" sz="2160" dirty="0">
              <a:ea typeface="宋体" panose="02010600030101010101" pitchFamily="2" charset="-122"/>
            </a:endParaRPr>
          </a:p>
          <a:p>
            <a:pPr marL="914400" lvl="2" indent="-457200" algn="l" eaLnBrk="1" hangingPunct="1">
              <a:lnSpc>
                <a:spcPct val="140000"/>
              </a:lnSpc>
              <a:spcBef>
                <a:spcPts val="1000"/>
              </a:spcBef>
              <a:buClr>
                <a:srgbClr val="ED7D31"/>
              </a:buClr>
              <a:buSzTx/>
              <a:buFont typeface="+mj-lt"/>
              <a:buAutoNum type="arabicPeriod"/>
            </a:pPr>
            <a:r>
              <a:rPr lang="zh-CN" altLang="en-US" sz="2160" dirty="0">
                <a:ea typeface="宋体" panose="02010600030101010101" pitchFamily="2" charset="-122"/>
                <a:sym typeface="+mn-ea"/>
              </a:rPr>
              <a:t>如果除数为0，则方法抛出IlleagalNumberException异常</a:t>
            </a:r>
            <a:endParaRPr lang="zh-CN" altLang="en-US" sz="2160" dirty="0">
              <a:ea typeface="宋体" panose="02010600030101010101" pitchFamily="2" charset="-122"/>
            </a:endParaRPr>
          </a:p>
          <a:p>
            <a:pPr marL="457200" indent="-457200" algn="l" eaLnBrk="1" hangingPunct="1">
              <a:lnSpc>
                <a:spcPct val="140000"/>
              </a:lnSpc>
              <a:buClr>
                <a:srgbClr val="ED7D31"/>
              </a:buClr>
              <a:buSzTx/>
              <a:buFont typeface="+mj-lt"/>
              <a:buAutoNum type="arabicPeriod"/>
            </a:pPr>
            <a:r>
              <a:rPr lang="zh-CN" altLang="en-US" sz="2400" dirty="0">
                <a:ea typeface="宋体" panose="02010600030101010101" pitchFamily="2" charset="-122"/>
                <a:sym typeface="+mn-ea"/>
              </a:rPr>
              <a:t>在</a:t>
            </a:r>
            <a:r>
              <a:rPr lang="zh-CN" altLang="en-US" dirty="0">
                <a:ea typeface="宋体" panose="02010600030101010101" pitchFamily="2" charset="-122"/>
                <a:sym typeface="+mn-ea"/>
              </a:rPr>
              <a:t>TestException类的</a:t>
            </a:r>
            <a:r>
              <a:rPr lang="zh-CN" altLang="en-US" sz="2400" dirty="0">
                <a:ea typeface="宋体" panose="02010600030101010101" pitchFamily="2" charset="-122"/>
                <a:sym typeface="+mn-ea"/>
              </a:rPr>
              <a:t>main方法中调用divide方法计算商值打印输出，并捕获可能出现的异常。</a:t>
            </a:r>
            <a:endParaRPr lang="zh-CN" altLang="en-US"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方法重写中的异常</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a:bodyPr>
          <a:p>
            <a:pPr eaLnBrk="1" hangingPunct="1">
              <a:lnSpc>
                <a:spcPct val="140000"/>
              </a:lnSpc>
              <a:buClr>
                <a:srgbClr val="ED7D31"/>
              </a:buClr>
              <a:buFont typeface="Wingdings" panose="05000000000000000000" charset="0"/>
              <a:buChar char="Ø"/>
            </a:pPr>
            <a:r>
              <a:rPr lang="en-US" altLang="zh-CN" sz="2400" dirty="0">
                <a:ea typeface="宋体" panose="02010600030101010101" pitchFamily="2" charset="-122"/>
                <a:sym typeface="+mn-ea"/>
              </a:rPr>
              <a:t> </a:t>
            </a:r>
            <a:r>
              <a:rPr lang="zh-CN" altLang="en-US" sz="2400" dirty="0">
                <a:ea typeface="宋体" panose="02010600030101010101" pitchFamily="2" charset="-122"/>
                <a:sym typeface="+mn-ea"/>
              </a:rPr>
              <a:t>子类声明的异常范围不能超过父类声明范围：</a:t>
            </a:r>
            <a:endParaRPr lang="zh-CN" altLang="en-US" sz="2400" dirty="0">
              <a:ea typeface="宋体" panose="02010600030101010101" pitchFamily="2" charset="-122"/>
              <a:sym typeface="+mn-ea"/>
            </a:endParaRPr>
          </a:p>
          <a:p>
            <a:pPr marL="914400" lvl="1" indent="-457200" eaLnBrk="1" hangingPunct="1">
              <a:lnSpc>
                <a:spcPct val="140000"/>
              </a:lnSpc>
              <a:buClr>
                <a:srgbClr val="ED7D31"/>
              </a:buClr>
              <a:buFont typeface="+mj-ea"/>
              <a:buAutoNum type="circleNumDbPlain"/>
            </a:pPr>
            <a:r>
              <a:rPr lang="zh-CN" altLang="en-US" dirty="0">
                <a:ea typeface="宋体" panose="02010600030101010101" pitchFamily="2" charset="-122"/>
                <a:sym typeface="+mn-ea"/>
              </a:rPr>
              <a:t>如果父类方法没有声明异常，则子类重写方法也不能声明异常。</a:t>
            </a:r>
            <a:endParaRPr lang="zh-CN" altLang="en-US" dirty="0">
              <a:ea typeface="宋体" panose="02010600030101010101" pitchFamily="2" charset="-122"/>
              <a:sym typeface="+mn-ea"/>
            </a:endParaRPr>
          </a:p>
          <a:p>
            <a:pPr marL="914400" lvl="1" indent="-457200" eaLnBrk="1" hangingPunct="1">
              <a:lnSpc>
                <a:spcPct val="140000"/>
              </a:lnSpc>
              <a:buClr>
                <a:srgbClr val="ED7D31"/>
              </a:buClr>
              <a:buFont typeface="+mj-ea"/>
              <a:buAutoNum type="circleNumDbPlain"/>
            </a:pPr>
            <a:r>
              <a:rPr lang="zh-CN" altLang="en-US" dirty="0">
                <a:ea typeface="宋体" panose="02010600030101010101" pitchFamily="2" charset="-122"/>
                <a:sym typeface="+mn-ea"/>
              </a:rPr>
              <a:t>如果父类抛出一个异常，那么子类只能声明父类的异常或该异常的子类。</a:t>
            </a:r>
            <a:endParaRPr lang="zh-CN" altLang="en-US" dirty="0">
              <a:ea typeface="宋体" panose="02010600030101010101" pitchFamily="2" charset="-122"/>
              <a:sym typeface="+mn-ea"/>
            </a:endParaRPr>
          </a:p>
          <a:p>
            <a:pPr marL="914400" lvl="1" indent="-457200" eaLnBrk="1" hangingPunct="1">
              <a:lnSpc>
                <a:spcPct val="140000"/>
              </a:lnSpc>
              <a:buClr>
                <a:srgbClr val="ED7D31"/>
              </a:buClr>
              <a:buFont typeface="+mj-ea"/>
              <a:buAutoNum type="circleNumDbPlain"/>
            </a:pPr>
            <a:endParaRPr lang="zh-CN" altLang="en-US"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方法重写中的异常</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907415" y="710565"/>
            <a:ext cx="10637520" cy="5572760"/>
          </a:xfrm>
        </p:spPr>
        <p:txBody>
          <a:bodyPr>
            <a:noAutofit/>
          </a:bodyPr>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public class Parent {</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    void eat(){};</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class Child extends Parent{</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    @Override</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  </a:t>
            </a:r>
            <a:r>
              <a:rPr lang="en-US" altLang="zh-CN" sz="1600" dirty="0" smtClean="0">
                <a:solidFill>
                  <a:srgbClr val="FF0000"/>
                </a:solidFill>
                <a:ea typeface="宋体" panose="02010600030101010101" pitchFamily="2" charset="-122"/>
                <a:cs typeface="+mn-lt"/>
              </a:rPr>
              <a:t>  void eat() throws Exception{}//编译错误</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public class Parent {</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    void eat() throws Exception{};</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class Child extends Parent{</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    @Override</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   </a:t>
            </a:r>
            <a:r>
              <a:rPr lang="en-US" altLang="zh-CN" sz="1600" dirty="0" smtClean="0">
                <a:solidFill>
                  <a:srgbClr val="FF0000"/>
                </a:solidFill>
                <a:ea typeface="宋体" panose="02010600030101010101" pitchFamily="2" charset="-122"/>
                <a:cs typeface="+mn-lt"/>
              </a:rPr>
              <a:t> void eat() throws RuntimeException{}//编译</a:t>
            </a:r>
            <a:r>
              <a:rPr lang="zh-CN" altLang="en-US" sz="1600" dirty="0" smtClean="0">
                <a:solidFill>
                  <a:srgbClr val="FF0000"/>
                </a:solidFill>
                <a:ea typeface="宋体" panose="02010600030101010101" pitchFamily="2" charset="-122"/>
                <a:cs typeface="+mn-lt"/>
              </a:rPr>
              <a:t>正确</a:t>
            </a:r>
            <a:r>
              <a:rPr lang="en-US" altLang="zh-CN" sz="1600" dirty="0" smtClean="0">
                <a:solidFill>
                  <a:srgbClr val="FF0000"/>
                </a:solidFill>
                <a:ea typeface="宋体" panose="02010600030101010101" pitchFamily="2" charset="-122"/>
                <a:cs typeface="+mn-lt"/>
              </a:rPr>
              <a:t>,</a:t>
            </a:r>
            <a:r>
              <a:rPr lang="zh-CN" altLang="en-US" sz="1600" dirty="0" smtClean="0">
                <a:solidFill>
                  <a:srgbClr val="FF0000"/>
                </a:solidFill>
                <a:ea typeface="宋体" panose="02010600030101010101" pitchFamily="2" charset="-122"/>
                <a:cs typeface="+mn-lt"/>
              </a:rPr>
              <a:t>因为</a:t>
            </a:r>
            <a:r>
              <a:rPr lang="en-US" altLang="zh-CN" sz="1600" dirty="0" smtClean="0">
                <a:solidFill>
                  <a:srgbClr val="FF0000"/>
                </a:solidFill>
                <a:ea typeface="宋体" panose="02010600030101010101" pitchFamily="2" charset="-122"/>
                <a:cs typeface="+mn-lt"/>
                <a:sym typeface="+mn-ea"/>
              </a:rPr>
              <a:t>RuntimeException </a:t>
            </a:r>
            <a:r>
              <a:rPr lang="zh-CN" altLang="en-US" sz="1600" dirty="0" smtClean="0">
                <a:solidFill>
                  <a:srgbClr val="FF0000"/>
                </a:solidFill>
                <a:ea typeface="宋体" panose="02010600030101010101" pitchFamily="2" charset="-122"/>
                <a:cs typeface="+mn-lt"/>
                <a:sym typeface="+mn-ea"/>
              </a:rPr>
              <a:t>是</a:t>
            </a:r>
            <a:r>
              <a:rPr lang="en-US" altLang="zh-CN" sz="1600" dirty="0" smtClean="0">
                <a:solidFill>
                  <a:srgbClr val="FF0000"/>
                </a:solidFill>
                <a:ea typeface="宋体" panose="02010600030101010101" pitchFamily="2" charset="-122"/>
                <a:cs typeface="+mn-lt"/>
                <a:sym typeface="+mn-ea"/>
              </a:rPr>
              <a:t>Exception</a:t>
            </a:r>
            <a:r>
              <a:rPr lang="zh-CN" altLang="en-US" sz="1600" dirty="0" smtClean="0">
                <a:solidFill>
                  <a:srgbClr val="FF0000"/>
                </a:solidFill>
                <a:ea typeface="宋体" panose="02010600030101010101" pitchFamily="2" charset="-122"/>
                <a:cs typeface="+mn-lt"/>
                <a:sym typeface="+mn-ea"/>
              </a:rPr>
              <a:t>的子类</a:t>
            </a:r>
            <a:endParaRPr lang="zh-CN" altLang="en-US" sz="1600" dirty="0" smtClean="0">
              <a:solidFill>
                <a:srgbClr val="FF0000"/>
              </a:solidFill>
              <a:ea typeface="宋体" panose="02010600030101010101" pitchFamily="2" charset="-122"/>
              <a:cs typeface="+mn-lt"/>
            </a:endParaRPr>
          </a:p>
          <a:p>
            <a:pPr marL="0" indent="0" eaLnBrk="1" hangingPunct="1">
              <a:spcBef>
                <a:spcPts val="0"/>
              </a:spcBef>
              <a:buFont typeface="+mj-lt"/>
              <a:buNone/>
              <a:defRPr/>
            </a:pPr>
            <a:endParaRPr lang="zh-CN" altLang="en-US" sz="1600" dirty="0" smtClean="0">
              <a:solidFill>
                <a:srgbClr val="FF0000"/>
              </a:solidFill>
              <a:ea typeface="宋体" panose="02010600030101010101" pitchFamily="2" charset="-122"/>
              <a:cs typeface="+mn-lt"/>
            </a:endParaRPr>
          </a:p>
          <a:p>
            <a:pPr marL="0" indent="0" eaLnBrk="1" hangingPunct="1">
              <a:spcBef>
                <a:spcPts val="0"/>
              </a:spcBef>
              <a:buFont typeface="+mj-lt"/>
              <a:buNone/>
              <a:defRPr/>
            </a:pPr>
            <a:r>
              <a:rPr lang="en-US" altLang="zh-CN" sz="1600" dirty="0" smtClean="0">
                <a:solidFill>
                  <a:srgbClr val="002060"/>
                </a:solidFill>
                <a:ea typeface="宋体" panose="02010600030101010101" pitchFamily="2" charset="-122"/>
                <a:cs typeface="+mn-lt"/>
              </a:rPr>
              <a:t>}</a:t>
            </a:r>
            <a:endParaRPr lang="en-US" altLang="zh-CN" sz="16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pic>
        <p:nvPicPr>
          <p:cNvPr id="6" name="图片 5" descr="5d0495981e06a4beefc1a7ac3c41024d"/>
          <p:cNvPicPr>
            <a:picLocks noChangeAspect="1"/>
          </p:cNvPicPr>
          <p:nvPr>
            <p:custDataLst>
              <p:tags r:id="rId1"/>
            </p:custDataLst>
          </p:nvPr>
        </p:nvPicPr>
        <p:blipFill>
          <a:blip r:embed="rId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3"/>
            </p:custDataLst>
          </p:nvPr>
        </p:nvPicPr>
        <p:blipFill>
          <a:blip r:embed="rId2"/>
          <a:srcRect l="30697"/>
          <a:stretch>
            <a:fillRect/>
          </a:stretch>
        </p:blipFill>
        <p:spPr>
          <a:xfrm>
            <a:off x="8673465" y="-348615"/>
            <a:ext cx="5215255" cy="1497965"/>
          </a:xfrm>
          <a:prstGeom prst="rect">
            <a:avLst/>
          </a:prstGeom>
        </p:spPr>
      </p:pic>
      <p:sp>
        <p:nvSpPr>
          <p:cNvPr id="24" name="直角三角形 23"/>
          <p:cNvSpPr/>
          <p:nvPr>
            <p:custDataLst>
              <p:tags r:id="rId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4209415" y="1847215"/>
            <a:ext cx="0" cy="315595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765675" y="2294890"/>
            <a:ext cx="3369310" cy="460375"/>
          </a:xfrm>
          <a:prstGeom prst="rect">
            <a:avLst/>
          </a:prstGeom>
          <a:noFill/>
        </p:spPr>
        <p:txBody>
          <a:bodyPr wrap="square" rtlCol="0">
            <a:spAutoFit/>
          </a:bodyPr>
          <a:lstStyle/>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1.</a:t>
            </a:r>
            <a:r>
              <a:rPr lang="zh-CN" altLang="en-US" sz="2400" dirty="0" smtClean="0">
                <a:ea typeface="宋体" panose="02010600030101010101" pitchFamily="2" charset="-122"/>
                <a:sym typeface="+mn-ea"/>
              </a:rPr>
              <a:t>基本类型与包装类</a:t>
            </a: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p:txBody>
      </p:sp>
      <p:sp>
        <p:nvSpPr>
          <p:cNvPr id="25" name="矩形 24"/>
          <p:cNvSpPr/>
          <p:nvPr/>
        </p:nvSpPr>
        <p:spPr>
          <a:xfrm>
            <a:off x="1167765" y="2648585"/>
            <a:ext cx="2912110" cy="1383665"/>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第三章</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sz="2400" b="1" dirty="0" smtClean="0">
                <a:latin typeface="Arial" panose="020B0604020202020204" pitchFamily="34" charset="0"/>
                <a:ea typeface="宋体" panose="02010600030101010101" pitchFamily="2" charset="-122"/>
                <a:sym typeface="+mn-ea"/>
              </a:rPr>
              <a:t>使用基础</a:t>
            </a:r>
            <a:r>
              <a:rPr lang="en-US" altLang="zh-CN" sz="2400" b="1" dirty="0" smtClean="0">
                <a:latin typeface="Arial" panose="020B0604020202020204" pitchFamily="34" charset="0"/>
                <a:ea typeface="宋体" panose="02010600030101010101" pitchFamily="2" charset="-122"/>
                <a:sym typeface="+mn-ea"/>
              </a:rPr>
              <a:t>API</a:t>
            </a:r>
            <a:endParaRPr kumimoji="0" lang="en-US" altLang="zh-CN" sz="2400" b="1" i="0" u="none" strike="noStrike" kern="1200" cap="none" spc="300" normalizeH="0" baseline="0" noProof="0" dirty="0" smtClean="0">
              <a:ln>
                <a:noFill/>
              </a:ln>
              <a:solidFill>
                <a:srgbClr val="002060"/>
              </a:solidFill>
              <a:effectLst/>
              <a:uLnTx/>
              <a:uFillTx/>
              <a:latin typeface="Arial" panose="020B0604020202020204" pitchFamily="34" charset="0"/>
              <a:ea typeface="宋体" panose="02010600030101010101" pitchFamily="2" charset="-122"/>
              <a:sym typeface="+mn-ea"/>
            </a:endParaRPr>
          </a:p>
        </p:txBody>
      </p:sp>
      <p:sp>
        <p:nvSpPr>
          <p:cNvPr id="37" name="矩形 36"/>
          <p:cNvSpPr/>
          <p:nvPr/>
        </p:nvSpPr>
        <p:spPr>
          <a:xfrm>
            <a:off x="4792345" y="2994660"/>
            <a:ext cx="3907155" cy="460375"/>
          </a:xfrm>
          <a:prstGeom prst="rect">
            <a:avLst/>
          </a:prstGeom>
          <a:noFill/>
        </p:spPr>
        <p:txBody>
          <a:bodyPr wrap="square" rtlCol="0">
            <a:spAutoFit/>
          </a:bodyPr>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solidFill>
                  <a:srgbClr val="ED7D31"/>
                </a:solidFill>
                <a:effectLst/>
                <a:uLnTx/>
                <a:uFillTx/>
                <a:latin typeface="+mj-ea"/>
                <a:ea typeface="+mj-ea"/>
                <a:cs typeface="+mj-ea"/>
                <a:sym typeface="思源黑体 CN Light" panose="020B0300000000000000" pitchFamily="34" charset="-122"/>
              </a:rPr>
              <a:t>2.String</a:t>
            </a:r>
            <a:r>
              <a:rPr kumimoji="0" lang="zh-CN" altLang="en-US" sz="2400" b="0" i="0" u="none" strike="noStrike" kern="1200" cap="none" spc="0" normalizeH="0" baseline="0" noProof="0" dirty="0">
                <a:ln>
                  <a:noFill/>
                </a:ln>
                <a:solidFill>
                  <a:srgbClr val="ED7D31"/>
                </a:solidFill>
                <a:effectLst/>
                <a:uLnTx/>
                <a:uFillTx/>
                <a:latin typeface="+mj-ea"/>
                <a:ea typeface="+mj-ea"/>
                <a:cs typeface="+mj-ea"/>
                <a:sym typeface="思源黑体 CN Light" panose="020B0300000000000000" pitchFamily="34" charset="-122"/>
              </a:rPr>
              <a:t>相关类</a:t>
            </a:r>
            <a:endParaRPr kumimoji="0" lang="zh-CN" altLang="en-US" sz="2400" b="0" i="0" u="none" strike="noStrike" kern="1200" cap="none" spc="0" normalizeH="0" baseline="0" noProof="0" dirty="0" smtClean="0">
              <a:ln>
                <a:noFill/>
              </a:ln>
              <a:solidFill>
                <a:srgbClr val="ED7D31"/>
              </a:solidFill>
              <a:effectLst/>
              <a:uLnTx/>
              <a:uFillTx/>
              <a:latin typeface="+mj-ea"/>
              <a:ea typeface="+mj-ea"/>
              <a:cs typeface="+mj-ea"/>
              <a:sym typeface="思源黑体 CN Light" panose="020B0300000000000000" pitchFamily="34" charset="-122"/>
            </a:endParaRPr>
          </a:p>
        </p:txBody>
      </p:sp>
      <p:sp>
        <p:nvSpPr>
          <p:cNvPr id="7" name="矩形 6"/>
          <p:cNvSpPr/>
          <p:nvPr/>
        </p:nvSpPr>
        <p:spPr>
          <a:xfrm>
            <a:off x="4839970" y="3707130"/>
            <a:ext cx="3369310" cy="460375"/>
          </a:xfrm>
          <a:prstGeom prst="rect">
            <a:avLst/>
          </a:prstGeom>
          <a:noFill/>
        </p:spPr>
        <p:txBody>
          <a:bodyPr wrap="square" rtlCol="0">
            <a:spAutoFit/>
          </a:bodyPr>
          <a:lstStyle/>
          <a:p>
            <a:pPr marL="361950" indent="-361950" eaLnBrk="1" hangingPunct="1"/>
            <a:r>
              <a:rPr lang="en-US" altLang="zh-CN" sz="2400" noProof="0" dirty="0">
                <a:ln>
                  <a:noFill/>
                </a:ln>
                <a:effectLst/>
                <a:uLnTx/>
                <a:uFillTx/>
                <a:latin typeface="+mj-ea"/>
                <a:ea typeface="+mj-ea"/>
                <a:cs typeface="+mj-ea"/>
                <a:sym typeface="思源黑体 CN Light" panose="020B0300000000000000" pitchFamily="34" charset="-122"/>
              </a:rPr>
              <a:t>3.</a:t>
            </a:r>
            <a:r>
              <a:rPr lang="zh-CN" altLang="en-US" sz="2400" dirty="0" smtClean="0">
                <a:ea typeface="宋体" panose="02010600030101010101" pitchFamily="2" charset="-122"/>
                <a:sym typeface="+mn-ea"/>
              </a:rPr>
              <a:t>日期处理相关类</a:t>
            </a:r>
            <a:endParaRPr lang="en-US" altLang="zh-CN" sz="2400" noProof="0" dirty="0">
              <a:ln>
                <a:noFill/>
              </a:ln>
              <a:effectLst/>
              <a:uLnTx/>
              <a:uFillTx/>
              <a:latin typeface="+mj-ea"/>
              <a:ea typeface="+mj-ea"/>
              <a:cs typeface="+mj-ea"/>
              <a:sym typeface="思源黑体 CN Light" panose="020B0300000000000000" pitchFamily="34" charset="-122"/>
            </a:endParaRPr>
          </a:p>
        </p:txBody>
      </p:sp>
      <p:sp>
        <p:nvSpPr>
          <p:cNvPr id="4" name="矩形 3"/>
          <p:cNvSpPr/>
          <p:nvPr/>
        </p:nvSpPr>
        <p:spPr>
          <a:xfrm>
            <a:off x="4832350" y="4504690"/>
            <a:ext cx="3369310" cy="460375"/>
          </a:xfrm>
          <a:prstGeom prst="rect">
            <a:avLst/>
          </a:prstGeom>
          <a:noFill/>
        </p:spPr>
        <p:txBody>
          <a:bodyPr wrap="square" rtlCol="0">
            <a:spAutoFit/>
          </a:bodyPr>
          <a:p>
            <a:pPr marL="361950" indent="-361950" eaLnBrk="1" hangingPunct="1"/>
            <a:r>
              <a:rPr lang="en-US" altLang="zh-CN" sz="2400" noProof="0" dirty="0">
                <a:ln>
                  <a:noFill/>
                </a:ln>
                <a:effectLst/>
                <a:uLnTx/>
                <a:uFillTx/>
                <a:latin typeface="+mj-ea"/>
                <a:ea typeface="+mj-ea"/>
                <a:cs typeface="+mj-ea"/>
                <a:sym typeface="思源黑体 CN Light" panose="020B0300000000000000" pitchFamily="34" charset="-122"/>
              </a:rPr>
              <a:t>4.</a:t>
            </a:r>
            <a:r>
              <a:rPr lang="zh-CN" altLang="en-US" sz="2400" noProof="0" dirty="0">
                <a:ln>
                  <a:noFill/>
                </a:ln>
                <a:effectLst/>
                <a:uLnTx/>
                <a:uFillTx/>
                <a:latin typeface="+mj-ea"/>
                <a:ea typeface="+mj-ea"/>
                <a:cs typeface="+mj-ea"/>
                <a:sym typeface="思源黑体 CN Light" panose="020B0300000000000000" pitchFamily="34" charset="-122"/>
              </a:rPr>
              <a:t>工具类</a:t>
            </a:r>
            <a:endParaRPr lang="zh-CN" altLang="en-US" sz="2400" noProof="0" dirty="0">
              <a:ln>
                <a:noFill/>
              </a:ln>
              <a:effectLst/>
              <a:uLnTx/>
              <a:uFillTx/>
              <a:latin typeface="+mj-ea"/>
              <a:ea typeface="+mj-ea"/>
              <a:cs typeface="+mj-ea"/>
              <a:sym typeface="思源黑体 CN Light" panose="020B03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25" grpId="0"/>
      <p:bldP spid="25" grpId="1" bldLvl="0" animBg="1"/>
      <p:bldP spid="37" grpId="0"/>
      <p:bldP spid="37" grpId="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141730" y="3137535"/>
            <a:ext cx="981202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第一节 </a:t>
            </a:r>
            <a:r>
              <a:rPr lang="zh-CN" altLang="en-US" sz="6665" dirty="0">
                <a:solidFill>
                  <a:schemeClr val="bg1"/>
                </a:solidFill>
                <a:latin typeface="Arial" panose="020B0604020202020204" pitchFamily="34" charset="0"/>
                <a:ea typeface="宋体" panose="02010600030101010101" pitchFamily="2" charset="-122"/>
                <a:sym typeface="+mn-ea"/>
              </a:rPr>
              <a:t>基本类型与包装类</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marL="0" lvl="1" eaLnBrk="1" hangingPunct="1"/>
            <a:r>
              <a:rPr sz="2400" dirty="0">
                <a:ea typeface="宋体" panose="02010600030101010101" pitchFamily="2" charset="-122"/>
                <a:sym typeface="+mn-ea"/>
              </a:rPr>
              <a:t>包装类(Wrapper Class)</a:t>
            </a:r>
            <a:endParaRPr sz="2400" dirty="0">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R="0" indent="0" algn="ctr" defTabSz="914400" fontAlgn="auto">
              <a:lnSpc>
                <a:spcPct val="100000"/>
              </a:lnSpc>
              <a:spcBef>
                <a:spcPts val="0"/>
              </a:spcBef>
              <a:spcAft>
                <a:spcPts val="0"/>
              </a:spcAft>
              <a:buClrTx/>
              <a:buSzTx/>
              <a:buFontTx/>
              <a:buNone/>
              <a:defRPr/>
            </a:pPr>
            <a:r>
              <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111885"/>
            <a:ext cx="10244455" cy="5200015"/>
          </a:xfrm>
        </p:spPr>
        <p:txBody>
          <a:bodyPr>
            <a:normAutofit/>
          </a:bodyPr>
          <a:p>
            <a:pPr marL="457200" indent="-457200" algn="l" eaLnBrk="1" hangingPunct="1">
              <a:lnSpc>
                <a:spcPct val="140000"/>
              </a:lnSpc>
              <a:buClr>
                <a:srgbClr val="ED7D31"/>
              </a:buClr>
              <a:buSzTx/>
              <a:buFont typeface="+mj-lt"/>
              <a:buAutoNum type="arabicPeriod"/>
            </a:pPr>
            <a:r>
              <a:rPr lang="zh-CN" altLang="en-US" sz="1800" dirty="0">
                <a:ea typeface="宋体" panose="02010600030101010101" pitchFamily="2" charset="-122"/>
              </a:rPr>
              <a:t>在</a:t>
            </a:r>
            <a:r>
              <a:rPr lang="en-US" altLang="zh-CN" sz="1800" dirty="0">
                <a:ea typeface="宋体" panose="02010600030101010101" pitchFamily="2" charset="-122"/>
              </a:rPr>
              <a:t>Java</a:t>
            </a:r>
            <a:r>
              <a:rPr lang="zh-CN" altLang="en-US" sz="1800" dirty="0">
                <a:ea typeface="宋体" panose="02010600030101010101" pitchFamily="2" charset="-122"/>
              </a:rPr>
              <a:t>数据类型设计中，有基本数据类型，但是基本类型功能比较单一，所以</a:t>
            </a:r>
            <a:r>
              <a:rPr lang="en-US" altLang="zh-CN" sz="1800" dirty="0">
                <a:ea typeface="宋体" panose="02010600030101010101" pitchFamily="2" charset="-122"/>
              </a:rPr>
              <a:t>Java</a:t>
            </a:r>
            <a:r>
              <a:rPr lang="zh-CN" altLang="en-US" sz="1800" dirty="0">
                <a:ea typeface="宋体" panose="02010600030101010101" pitchFamily="2" charset="-122"/>
              </a:rPr>
              <a:t>为了弥补基本类型的不足，又为每个基础类型设计了一个包装类</a:t>
            </a:r>
            <a:endParaRPr lang="zh-CN" altLang="en-US" sz="1800" dirty="0">
              <a:ea typeface="宋体" panose="02010600030101010101" pitchFamily="2" charset="-122"/>
            </a:endParaRPr>
          </a:p>
          <a:p>
            <a:pPr marL="457200" indent="-457200" algn="l">
              <a:lnSpc>
                <a:spcPct val="140000"/>
              </a:lnSpc>
              <a:buClr>
                <a:srgbClr val="ED7D31"/>
              </a:buClr>
              <a:buSzTx/>
              <a:buFont typeface="+mj-lt"/>
              <a:buAutoNum type="arabicPeriod"/>
            </a:pPr>
            <a:r>
              <a:rPr lang="zh-CN" altLang="en-US" sz="1800" dirty="0">
                <a:ea typeface="宋体" panose="02010600030101010101" pitchFamily="2" charset="-122"/>
                <a:sym typeface="+mn-ea"/>
              </a:rPr>
              <a:t>包装类均位于java.lang包中，以下是包装类和基本数据类型的对应关系：</a:t>
            </a:r>
            <a:endParaRPr lang="zh-CN" altLang="en-US" sz="1800" dirty="0">
              <a:ea typeface="宋体" panose="02010600030101010101" pitchFamily="2" charset="-122"/>
              <a:sym typeface="+mn-ea"/>
            </a:endParaRPr>
          </a:p>
          <a:p>
            <a:pPr marL="0" indent="0" algn="l">
              <a:lnSpc>
                <a:spcPct val="140000"/>
              </a:lnSpc>
              <a:buClr>
                <a:srgbClr val="ED7D31"/>
              </a:buClr>
              <a:buSzTx/>
              <a:buFont typeface="+mj-lt"/>
              <a:buNone/>
            </a:pPr>
            <a:r>
              <a:rPr lang="en-US" altLang="zh-CN" sz="1800" dirty="0">
                <a:ea typeface="宋体" panose="02010600030101010101" pitchFamily="2" charset="-122"/>
                <a:sym typeface="+mn-ea"/>
              </a:rPr>
              <a:t>    </a:t>
            </a:r>
            <a:endParaRPr lang="en-US" altLang="zh-CN" sz="1800" dirty="0">
              <a:ea typeface="宋体" panose="02010600030101010101" pitchFamily="2" charset="-122"/>
              <a:sym typeface="+mn-ea"/>
            </a:endParaRPr>
          </a:p>
        </p:txBody>
      </p:sp>
      <p:graphicFrame>
        <p:nvGraphicFramePr>
          <p:cNvPr id="8" name="表格 7"/>
          <p:cNvGraphicFramePr/>
          <p:nvPr>
            <p:custDataLst>
              <p:tags r:id="rId5"/>
            </p:custDataLst>
          </p:nvPr>
        </p:nvGraphicFramePr>
        <p:xfrm>
          <a:off x="1545590" y="2656205"/>
          <a:ext cx="8233410" cy="3411855"/>
        </p:xfrm>
        <a:graphic>
          <a:graphicData uri="http://schemas.openxmlformats.org/drawingml/2006/table">
            <a:tbl>
              <a:tblPr/>
              <a:tblGrid>
                <a:gridCol w="3185795"/>
                <a:gridCol w="5047615"/>
              </a:tblGrid>
              <a:tr h="379095">
                <a:tc>
                  <a:txBody>
                    <a:bodyPr/>
                    <a:p>
                      <a:pPr indent="0">
                        <a:buNone/>
                      </a:pPr>
                      <a:r>
                        <a:rPr lang="zh-CN" sz="1200" b="1">
                          <a:solidFill>
                            <a:srgbClr val="000000"/>
                          </a:solidFill>
                          <a:latin typeface="Arial" panose="020B0604020202020204" pitchFamily="34" charset="0"/>
                          <a:ea typeface="等线" panose="02010600030101010101" charset="-122"/>
                        </a:rPr>
                        <a:t>基本数据类型</a:t>
                      </a:r>
                      <a:endParaRPr lang="en-US" altLang="en-US" sz="1200" b="1">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70AD47"/>
                    </a:solidFill>
                  </a:tcPr>
                </a:tc>
                <a:tc>
                  <a:txBody>
                    <a:bodyPr/>
                    <a:p>
                      <a:pPr indent="0">
                        <a:buNone/>
                      </a:pPr>
                      <a:r>
                        <a:rPr lang="zh-CN" sz="1200" b="1">
                          <a:solidFill>
                            <a:srgbClr val="000000"/>
                          </a:solidFill>
                          <a:latin typeface="Arial" panose="020B0604020202020204" pitchFamily="34" charset="0"/>
                          <a:ea typeface="等线" panose="02010600030101010101" charset="-122"/>
                        </a:rPr>
                        <a:t>包装类</a:t>
                      </a:r>
                      <a:endParaRPr lang="en-US" altLang="en-US" sz="1200" b="1">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70AD47"/>
                    </a:solidFill>
                  </a:tcPr>
                </a:tc>
              </a:tr>
              <a:tr h="379095">
                <a:tc>
                  <a:txBody>
                    <a:bodyPr/>
                    <a:p>
                      <a:pPr indent="0">
                        <a:buNone/>
                      </a:pPr>
                      <a:r>
                        <a:rPr lang="en-US" sz="1200" b="0">
                          <a:solidFill>
                            <a:srgbClr val="000000"/>
                          </a:solidFill>
                          <a:latin typeface="等线" panose="02010600030101010101" charset="-122"/>
                        </a:rPr>
                        <a:t>byte</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noFill/>
                  </a:tcPr>
                </a:tc>
                <a:tc>
                  <a:txBody>
                    <a:bodyPr/>
                    <a:p>
                      <a:pPr indent="0">
                        <a:buNone/>
                      </a:pPr>
                      <a:r>
                        <a:rPr lang="en-US" sz="1200" b="0">
                          <a:solidFill>
                            <a:srgbClr val="000000"/>
                          </a:solidFill>
                          <a:latin typeface="等线" panose="02010600030101010101" charset="-122"/>
                        </a:rPr>
                        <a:t>java.lang.Byte</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noFill/>
                  </a:tcPr>
                </a:tc>
              </a:tr>
              <a:tr h="379095">
                <a:tc>
                  <a:txBody>
                    <a:bodyPr/>
                    <a:p>
                      <a:pPr indent="0">
                        <a:buNone/>
                      </a:pPr>
                      <a:r>
                        <a:rPr lang="en-US" sz="1200" b="0">
                          <a:solidFill>
                            <a:srgbClr val="000000"/>
                          </a:solidFill>
                          <a:latin typeface="等线" panose="02010600030101010101" charset="-122"/>
                        </a:rPr>
                        <a:t>short</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c>
                  <a:txBody>
                    <a:bodyPr/>
                    <a:p>
                      <a:pPr indent="0">
                        <a:buNone/>
                      </a:pPr>
                      <a:r>
                        <a:rPr lang="en-US" sz="1200" b="0">
                          <a:solidFill>
                            <a:srgbClr val="000000"/>
                          </a:solidFill>
                          <a:latin typeface="等线" panose="02010600030101010101" charset="-122"/>
                        </a:rPr>
                        <a:t>java.lang.Short</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r>
              <a:tr h="379095">
                <a:tc>
                  <a:txBody>
                    <a:bodyPr/>
                    <a:p>
                      <a:pPr indent="0">
                        <a:buNone/>
                      </a:pPr>
                      <a:r>
                        <a:rPr lang="en-US" sz="1200" b="0">
                          <a:solidFill>
                            <a:srgbClr val="000000"/>
                          </a:solidFill>
                          <a:latin typeface="等线" panose="02010600030101010101" charset="-122"/>
                        </a:rPr>
                        <a:t>int</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noFill/>
                  </a:tcPr>
                </a:tc>
                <a:tc>
                  <a:txBody>
                    <a:bodyPr/>
                    <a:p>
                      <a:pPr indent="0">
                        <a:buNone/>
                      </a:pPr>
                      <a:r>
                        <a:rPr lang="en-US" sz="1200" b="0">
                          <a:solidFill>
                            <a:srgbClr val="000000"/>
                          </a:solidFill>
                          <a:latin typeface="等线" panose="02010600030101010101" charset="-122"/>
                        </a:rPr>
                        <a:t>java.lang.</a:t>
                      </a:r>
                      <a:r>
                        <a:rPr lang="en-US" sz="1200" b="1">
                          <a:solidFill>
                            <a:srgbClr val="FF0000"/>
                          </a:solidFill>
                          <a:latin typeface="等线" panose="02010600030101010101" charset="-122"/>
                        </a:rPr>
                        <a:t>Integer</a:t>
                      </a:r>
                      <a:endParaRPr lang="en-US" altLang="en-US" sz="1200" b="1">
                        <a:solidFill>
                          <a:srgbClr val="FF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noFill/>
                  </a:tcPr>
                </a:tc>
              </a:tr>
              <a:tr h="379095">
                <a:tc>
                  <a:txBody>
                    <a:bodyPr/>
                    <a:p>
                      <a:pPr indent="0">
                        <a:buNone/>
                      </a:pPr>
                      <a:r>
                        <a:rPr lang="en-US" sz="1200" b="0">
                          <a:solidFill>
                            <a:srgbClr val="000000"/>
                          </a:solidFill>
                          <a:latin typeface="等线" panose="02010600030101010101" charset="-122"/>
                        </a:rPr>
                        <a:t>long</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c>
                  <a:txBody>
                    <a:bodyPr/>
                    <a:p>
                      <a:pPr indent="0">
                        <a:buNone/>
                      </a:pPr>
                      <a:r>
                        <a:rPr lang="en-US" sz="1200" b="0">
                          <a:solidFill>
                            <a:srgbClr val="000000"/>
                          </a:solidFill>
                          <a:latin typeface="等线" panose="02010600030101010101" charset="-122"/>
                        </a:rPr>
                        <a:t>java.lang.Long</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r>
              <a:tr h="379095">
                <a:tc>
                  <a:txBody>
                    <a:bodyPr/>
                    <a:p>
                      <a:pPr indent="0">
                        <a:buNone/>
                      </a:pPr>
                      <a:r>
                        <a:rPr lang="en-US" sz="1200" b="0">
                          <a:solidFill>
                            <a:srgbClr val="000000"/>
                          </a:solidFill>
                          <a:latin typeface="等线" panose="02010600030101010101" charset="-122"/>
                        </a:rPr>
                        <a:t>float</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noFill/>
                  </a:tcPr>
                </a:tc>
                <a:tc>
                  <a:txBody>
                    <a:bodyPr/>
                    <a:p>
                      <a:pPr indent="0">
                        <a:buNone/>
                      </a:pPr>
                      <a:r>
                        <a:rPr lang="en-US" sz="1200" b="0">
                          <a:solidFill>
                            <a:srgbClr val="000000"/>
                          </a:solidFill>
                          <a:latin typeface="等线" panose="02010600030101010101" charset="-122"/>
                        </a:rPr>
                        <a:t>java.lang.Float</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noFill/>
                  </a:tcPr>
                </a:tc>
              </a:tr>
              <a:tr h="379095">
                <a:tc>
                  <a:txBody>
                    <a:bodyPr/>
                    <a:p>
                      <a:pPr indent="0">
                        <a:buNone/>
                      </a:pPr>
                      <a:r>
                        <a:rPr lang="en-US" sz="1200" b="0">
                          <a:solidFill>
                            <a:srgbClr val="000000"/>
                          </a:solidFill>
                          <a:latin typeface="等线" panose="02010600030101010101" charset="-122"/>
                        </a:rPr>
                        <a:t>double</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c>
                  <a:txBody>
                    <a:bodyPr/>
                    <a:p>
                      <a:pPr indent="0">
                        <a:buNone/>
                      </a:pPr>
                      <a:r>
                        <a:rPr lang="en-US" sz="1200" b="0">
                          <a:solidFill>
                            <a:srgbClr val="000000"/>
                          </a:solidFill>
                          <a:latin typeface="等线" panose="02010600030101010101" charset="-122"/>
                        </a:rPr>
                        <a:t>java.lang.Double</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r>
              <a:tr h="379095">
                <a:tc>
                  <a:txBody>
                    <a:bodyPr/>
                    <a:p>
                      <a:pPr indent="0">
                        <a:buNone/>
                      </a:pPr>
                      <a:r>
                        <a:rPr lang="en-US" sz="1200" b="0">
                          <a:solidFill>
                            <a:srgbClr val="000000"/>
                          </a:solidFill>
                          <a:latin typeface="等线" panose="02010600030101010101" charset="-122"/>
                        </a:rPr>
                        <a:t>boolean</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noFill/>
                  </a:tcPr>
                </a:tc>
                <a:tc>
                  <a:txBody>
                    <a:bodyPr/>
                    <a:p>
                      <a:pPr indent="0">
                        <a:buNone/>
                      </a:pPr>
                      <a:r>
                        <a:rPr lang="en-US" sz="1200" b="0">
                          <a:solidFill>
                            <a:srgbClr val="000000"/>
                          </a:solidFill>
                          <a:latin typeface="等线" panose="02010600030101010101" charset="-122"/>
                        </a:rPr>
                        <a:t>java.lang.Boolean</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noFill/>
                  </a:tcPr>
                </a:tc>
              </a:tr>
              <a:tr h="379095">
                <a:tc>
                  <a:txBody>
                    <a:bodyPr/>
                    <a:p>
                      <a:pPr indent="0">
                        <a:buNone/>
                      </a:pPr>
                      <a:r>
                        <a:rPr lang="en-US" sz="1200" b="0">
                          <a:solidFill>
                            <a:srgbClr val="000000"/>
                          </a:solidFill>
                          <a:latin typeface="等线" panose="02010600030101010101" charset="-122"/>
                        </a:rPr>
                        <a:t>char</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c>
                  <a:txBody>
                    <a:bodyPr/>
                    <a:p>
                      <a:pPr indent="0">
                        <a:buNone/>
                      </a:pPr>
                      <a:r>
                        <a:rPr lang="en-US" sz="1200" b="0">
                          <a:solidFill>
                            <a:srgbClr val="000000"/>
                          </a:solidFill>
                          <a:latin typeface="等线" panose="02010600030101010101" charset="-122"/>
                        </a:rPr>
                        <a:t>java.lang.</a:t>
                      </a:r>
                      <a:r>
                        <a:rPr lang="en-US" sz="1200" b="1">
                          <a:solidFill>
                            <a:srgbClr val="FF0000"/>
                          </a:solidFill>
                          <a:latin typeface="等线" panose="02010600030101010101" charset="-122"/>
                        </a:rPr>
                        <a:t>Character</a:t>
                      </a:r>
                      <a:endParaRPr lang="en-US" altLang="en-US" sz="1200" b="1">
                        <a:solidFill>
                          <a:srgbClr val="FF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marL="0" lvl="1" eaLnBrk="1" hangingPunct="1"/>
            <a:r>
              <a:rPr lang="zh-CN" altLang="en-US" sz="2400" dirty="0" smtClean="0">
                <a:latin typeface="+mj-lt"/>
                <a:ea typeface="宋体" panose="02010600030101010101" pitchFamily="2" charset="-122"/>
                <a:sym typeface="+mn-ea"/>
              </a:rPr>
              <a:t>基本类型和包装（</a:t>
            </a:r>
            <a:r>
              <a:rPr lang="en-US" altLang="zh-CN" sz="2400" dirty="0" smtClean="0">
                <a:latin typeface="宋体" panose="02010600030101010101" pitchFamily="2" charset="-122"/>
                <a:ea typeface="宋体" panose="02010600030101010101" pitchFamily="2" charset="-122"/>
                <a:sym typeface="+mn-ea"/>
              </a:rPr>
              <a:t>W</a:t>
            </a:r>
            <a:r>
              <a:rPr lang="zh-CN" altLang="en-US" sz="2400" dirty="0" smtClean="0">
                <a:latin typeface="宋体" panose="02010600030101010101" pitchFamily="2" charset="-122"/>
                <a:ea typeface="宋体" panose="02010600030101010101" pitchFamily="2" charset="-122"/>
                <a:sym typeface="+mn-ea"/>
              </a:rPr>
              <a:t>rapper</a:t>
            </a:r>
            <a:r>
              <a:rPr lang="zh-CN" altLang="en-US" sz="2400" dirty="0" smtClean="0">
                <a:latin typeface="+mj-lt"/>
                <a:ea typeface="宋体" panose="02010600030101010101" pitchFamily="2" charset="-122"/>
                <a:sym typeface="+mn-ea"/>
              </a:rPr>
              <a:t>）类</a:t>
            </a:r>
            <a:endParaRPr lang="en-US" altLang="zh-CN" sz="2400" dirty="0" smtClean="0">
              <a:latin typeface="+mj-lt"/>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R="0" indent="0" algn="ctr" defTabSz="914400" fontAlgn="auto">
              <a:lnSpc>
                <a:spcPct val="100000"/>
              </a:lnSpc>
              <a:spcBef>
                <a:spcPts val="0"/>
              </a:spcBef>
              <a:spcAft>
                <a:spcPts val="0"/>
              </a:spcAft>
              <a:buClrTx/>
              <a:buSzTx/>
              <a:buFontTx/>
              <a:buNone/>
              <a:defRPr/>
            </a:pPr>
            <a:r>
              <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08050" y="927735"/>
            <a:ext cx="10244455" cy="5200015"/>
          </a:xfrm>
        </p:spPr>
        <p:txBody>
          <a:bodyPr>
            <a:noAutofit/>
          </a:bodyPr>
          <a:p>
            <a:pPr marL="457200" indent="-457200" algn="l" eaLnBrk="1" hangingPunct="1">
              <a:lnSpc>
                <a:spcPct val="140000"/>
              </a:lnSpc>
              <a:buClr>
                <a:srgbClr val="ED7D31"/>
              </a:buClr>
              <a:buSzTx/>
              <a:buFont typeface="+mj-lt"/>
              <a:buAutoNum type="arabicPeriod"/>
            </a:pPr>
            <a:r>
              <a:rPr lang="zh-CN" altLang="en-US" sz="1600" dirty="0" smtClean="0">
                <a:latin typeface="+mj-lt"/>
                <a:ea typeface="宋体" panose="02010600030101010101" pitchFamily="2" charset="-122"/>
                <a:sym typeface="+mn-ea"/>
              </a:rPr>
              <a:t>可以将数据在基本类型和包装类之间进行转换</a:t>
            </a:r>
            <a:endParaRPr lang="zh-CN" altLang="en-US" sz="1600" dirty="0" smtClean="0">
              <a:latin typeface="+mj-lt"/>
              <a:ea typeface="宋体" panose="02010600030101010101" pitchFamily="2" charset="-122"/>
              <a:sym typeface="+mn-ea"/>
            </a:endParaRPr>
          </a:p>
          <a:p>
            <a:pPr marL="914400" lvl="1" indent="-457200" algn="l" eaLnBrk="1" hangingPunct="1">
              <a:lnSpc>
                <a:spcPct val="140000"/>
              </a:lnSpc>
              <a:buClr>
                <a:srgbClr val="ED7D31"/>
              </a:buClr>
              <a:buSzTx/>
              <a:buFont typeface="+mj-ea"/>
              <a:buAutoNum type="circleNumDbPlain"/>
            </a:pPr>
            <a:r>
              <a:rPr lang="zh-CN" altLang="en-US" sz="1400" dirty="0" smtClean="0">
                <a:latin typeface="+mj-lt"/>
                <a:ea typeface="宋体" panose="02010600030101010101" pitchFamily="2" charset="-122"/>
                <a:sym typeface="+mn-ea"/>
              </a:rPr>
              <a:t>基本类型</a:t>
            </a:r>
            <a:r>
              <a:rPr lang="en-US" altLang="zh-CN" sz="1400" dirty="0" smtClean="0">
                <a:latin typeface="+mj-lt"/>
                <a:ea typeface="宋体" panose="02010600030101010101" pitchFamily="2" charset="-122"/>
                <a:sym typeface="+mn-ea"/>
              </a:rPr>
              <a:t>-&gt;</a:t>
            </a:r>
            <a:r>
              <a:rPr lang="zh-CN" altLang="en-US" sz="1400" dirty="0" smtClean="0">
                <a:latin typeface="+mj-lt"/>
                <a:ea typeface="宋体" panose="02010600030101010101" pitchFamily="2" charset="-122"/>
                <a:sym typeface="+mn-ea"/>
              </a:rPr>
              <a:t>包装类</a:t>
            </a:r>
            <a:r>
              <a:rPr lang="zh-CN" altLang="en-US" sz="1400" dirty="0" smtClean="0">
                <a:latin typeface="+mj-lt"/>
                <a:ea typeface="宋体" panose="02010600030101010101" pitchFamily="2" charset="-122"/>
                <a:sym typeface="+mn-ea"/>
              </a:rPr>
              <a:t> 称为：装箱</a:t>
            </a:r>
            <a:endParaRPr lang="zh-CN" altLang="en-US" sz="1400" dirty="0" smtClean="0">
              <a:latin typeface="+mj-lt"/>
              <a:ea typeface="宋体" panose="02010600030101010101" pitchFamily="2" charset="-122"/>
              <a:sym typeface="+mn-ea"/>
            </a:endParaRPr>
          </a:p>
          <a:p>
            <a:pPr marL="1371600" lvl="2" indent="-457200" algn="l" eaLnBrk="1" hangingPunct="1">
              <a:lnSpc>
                <a:spcPct val="140000"/>
              </a:lnSpc>
              <a:buClr>
                <a:srgbClr val="ED7D31"/>
              </a:buClr>
              <a:buSzTx/>
              <a:buFont typeface="+mj-ea"/>
              <a:buAutoNum type="circleNumDbPlain"/>
            </a:pPr>
            <a:r>
              <a:rPr lang="zh-CN" altLang="en-US" sz="1200" dirty="0" smtClean="0">
                <a:latin typeface="+mj-lt"/>
                <a:ea typeface="宋体" panose="02010600030101010101" pitchFamily="2" charset="-122"/>
                <a:sym typeface="+mn-ea"/>
              </a:rPr>
              <a:t>自动装箱</a:t>
            </a:r>
            <a:endParaRPr lang="zh-CN" altLang="en-US" sz="1200" dirty="0" smtClean="0">
              <a:latin typeface="+mj-lt"/>
              <a:ea typeface="宋体" panose="02010600030101010101" pitchFamily="2" charset="-122"/>
              <a:sym typeface="+mn-ea"/>
            </a:endParaRPr>
          </a:p>
          <a:p>
            <a:pPr marL="1371600" lvl="2" indent="-457200" algn="l" eaLnBrk="1" hangingPunct="1">
              <a:lnSpc>
                <a:spcPct val="140000"/>
              </a:lnSpc>
              <a:buClr>
                <a:srgbClr val="ED7D31"/>
              </a:buClr>
              <a:buSzTx/>
              <a:buFont typeface="+mj-ea"/>
              <a:buAutoNum type="circleNumDbPlain"/>
            </a:pPr>
            <a:r>
              <a:rPr lang="zh-CN" altLang="en-US" sz="1200" dirty="0" smtClean="0">
                <a:latin typeface="+mj-lt"/>
                <a:ea typeface="宋体" panose="02010600030101010101" pitchFamily="2" charset="-122"/>
                <a:sym typeface="+mn-ea"/>
              </a:rPr>
              <a:t>手动装箱</a:t>
            </a:r>
            <a:endParaRPr lang="zh-CN" altLang="en-US" sz="1200" dirty="0" smtClean="0">
              <a:latin typeface="+mj-lt"/>
              <a:ea typeface="宋体" panose="02010600030101010101" pitchFamily="2" charset="-122"/>
              <a:sym typeface="+mn-ea"/>
            </a:endParaRPr>
          </a:p>
          <a:p>
            <a:pPr marL="914400" lvl="2" indent="0" algn="l" eaLnBrk="1" hangingPunct="1">
              <a:lnSpc>
                <a:spcPct val="140000"/>
              </a:lnSpc>
              <a:buClr>
                <a:srgbClr val="ED7D31"/>
              </a:buClr>
              <a:buSzTx/>
              <a:buFont typeface="+mj-ea"/>
              <a:buNone/>
            </a:pPr>
            <a:r>
              <a:rPr lang="zh-CN" altLang="en-US" sz="1200" dirty="0" smtClean="0">
                <a:latin typeface="+mj-lt"/>
                <a:ea typeface="宋体" panose="02010600030101010101" pitchFamily="2" charset="-122"/>
                <a:sym typeface="+mn-ea"/>
              </a:rPr>
              <a:t>例如：</a:t>
            </a:r>
            <a:endParaRPr lang="zh-CN" altLang="en-US" sz="1200" dirty="0" smtClean="0">
              <a:latin typeface="+mj-lt"/>
              <a:ea typeface="宋体" panose="02010600030101010101" pitchFamily="2" charset="-122"/>
              <a:sym typeface="+mn-ea"/>
            </a:endParaRPr>
          </a:p>
          <a:p>
            <a:pPr marL="914400" lvl="2" indent="0" algn="l" eaLnBrk="1" hangingPunct="1">
              <a:lnSpc>
                <a:spcPct val="140000"/>
              </a:lnSpc>
              <a:buClr>
                <a:srgbClr val="ED7D31"/>
              </a:buClr>
              <a:buSzTx/>
              <a:buFont typeface="+mj-ea"/>
              <a:buNone/>
            </a:pPr>
            <a:r>
              <a:rPr lang="en-US" altLang="zh-CN" sz="1200" dirty="0" smtClean="0">
                <a:latin typeface="+mj-lt"/>
                <a:ea typeface="宋体" panose="02010600030101010101" pitchFamily="2" charset="-122"/>
                <a:sym typeface="+mn-ea"/>
              </a:rPr>
              <a:t>    </a:t>
            </a:r>
            <a:r>
              <a:rPr lang="en-US" altLang="zh-CN" sz="1200" dirty="0" smtClean="0">
                <a:latin typeface="仿宋" panose="02010609060101010101" charset="-122"/>
                <a:ea typeface="仿宋" panose="02010609060101010101" charset="-122"/>
                <a:cs typeface="仿宋" panose="02010609060101010101" charset="-122"/>
                <a:sym typeface="+mn-ea"/>
              </a:rPr>
              <a:t>   int num = 123;</a:t>
            </a:r>
            <a:endParaRPr lang="en-US" altLang="zh-CN" sz="1200" dirty="0" smtClean="0">
              <a:latin typeface="仿宋" panose="02010609060101010101" charset="-122"/>
              <a:ea typeface="仿宋" panose="02010609060101010101" charset="-122"/>
              <a:cs typeface="仿宋" panose="02010609060101010101" charset="-122"/>
              <a:sym typeface="+mn-ea"/>
            </a:endParaRPr>
          </a:p>
          <a:p>
            <a:pPr marL="0" lvl="2" indent="0" algn="l" eaLnBrk="1" hangingPunct="1">
              <a:lnSpc>
                <a:spcPct val="140000"/>
              </a:lnSpc>
              <a:buClr>
                <a:srgbClr val="ED7D31"/>
              </a:buClr>
              <a:buSzTx/>
              <a:buFont typeface="+mj-ea"/>
              <a:buNone/>
            </a:pPr>
            <a:r>
              <a:rPr lang="zh-CN" altLang="en-US" sz="1200" dirty="0" smtClean="0">
                <a:latin typeface="仿宋" panose="02010609060101010101" charset="-122"/>
                <a:ea typeface="仿宋" panose="02010609060101010101" charset="-122"/>
                <a:cs typeface="仿宋" panose="02010609060101010101" charset="-122"/>
                <a:sym typeface="+mn-ea"/>
              </a:rPr>
              <a:t>  </a:t>
            </a:r>
            <a:r>
              <a:rPr lang="en-US" altLang="zh-CN" sz="1200" dirty="0" smtClean="0">
                <a:latin typeface="仿宋" panose="02010609060101010101" charset="-122"/>
                <a:ea typeface="仿宋" panose="02010609060101010101" charset="-122"/>
                <a:cs typeface="仿宋" panose="02010609060101010101" charset="-122"/>
                <a:sym typeface="+mn-ea"/>
              </a:rPr>
              <a:t>     </a:t>
            </a:r>
            <a:r>
              <a:rPr lang="zh-CN" altLang="en-US" sz="1200" dirty="0" smtClean="0">
                <a:latin typeface="仿宋" panose="02010609060101010101" charset="-122"/>
                <a:ea typeface="仿宋" panose="02010609060101010101" charset="-122"/>
                <a:cs typeface="仿宋" panose="02010609060101010101" charset="-122"/>
                <a:sym typeface="+mn-ea"/>
              </a:rPr>
              <a:t>        </a:t>
            </a:r>
            <a:r>
              <a:rPr lang="en-US" altLang="zh-CN" sz="1200" dirty="0" smtClean="0">
                <a:latin typeface="仿宋" panose="02010609060101010101" charset="-122"/>
                <a:ea typeface="仿宋" panose="02010609060101010101" charset="-122"/>
                <a:cs typeface="仿宋" panose="02010609060101010101" charset="-122"/>
                <a:sym typeface="+mn-ea"/>
              </a:rPr>
              <a:t>  </a:t>
            </a:r>
            <a:r>
              <a:rPr lang="zh-CN" altLang="en-US" sz="1200" dirty="0" smtClean="0">
                <a:latin typeface="仿宋" panose="02010609060101010101" charset="-122"/>
                <a:ea typeface="仿宋" panose="02010609060101010101" charset="-122"/>
                <a:cs typeface="仿宋" panose="02010609060101010101" charset="-122"/>
                <a:sym typeface="+mn-ea"/>
              </a:rPr>
              <a:t>Integer integer1 = num;</a:t>
            </a:r>
            <a:r>
              <a:rPr lang="en-US" altLang="zh-CN" sz="1200" dirty="0" smtClean="0">
                <a:latin typeface="仿宋" panose="02010609060101010101" charset="-122"/>
                <a:ea typeface="仿宋" panose="02010609060101010101" charset="-122"/>
                <a:cs typeface="仿宋" panose="02010609060101010101" charset="-122"/>
                <a:sym typeface="+mn-ea"/>
              </a:rPr>
              <a:t> </a:t>
            </a:r>
            <a:r>
              <a:rPr lang="zh-CN" altLang="en-US" sz="1200" dirty="0" smtClean="0">
                <a:latin typeface="仿宋" panose="02010609060101010101" charset="-122"/>
                <a:ea typeface="仿宋" panose="02010609060101010101" charset="-122"/>
                <a:cs typeface="仿宋" panose="02010609060101010101" charset="-122"/>
                <a:sym typeface="+mn-ea"/>
              </a:rPr>
              <a:t>//自动装箱</a:t>
            </a:r>
            <a:endParaRPr lang="zh-CN" altLang="en-US" sz="1200" dirty="0" smtClean="0">
              <a:latin typeface="仿宋" panose="02010609060101010101" charset="-122"/>
              <a:ea typeface="仿宋" panose="02010609060101010101" charset="-122"/>
              <a:cs typeface="仿宋" panose="02010609060101010101" charset="-122"/>
              <a:sym typeface="+mn-ea"/>
            </a:endParaRPr>
          </a:p>
          <a:p>
            <a:pPr marL="914400" lvl="2" indent="0" algn="l" eaLnBrk="1" hangingPunct="1">
              <a:lnSpc>
                <a:spcPct val="140000"/>
              </a:lnSpc>
              <a:buClr>
                <a:srgbClr val="ED7D31"/>
              </a:buClr>
              <a:buSzTx/>
              <a:buFont typeface="+mj-ea"/>
              <a:buNone/>
            </a:pPr>
            <a:r>
              <a:rPr lang="zh-CN" altLang="en-US" sz="1200" dirty="0" smtClean="0">
                <a:latin typeface="仿宋" panose="02010609060101010101" charset="-122"/>
                <a:ea typeface="仿宋" panose="02010609060101010101" charset="-122"/>
                <a:cs typeface="仿宋" panose="02010609060101010101" charset="-122"/>
                <a:sym typeface="+mn-ea"/>
              </a:rPr>
              <a:t>     Integer integer = Integer.valueOf(num);//</a:t>
            </a:r>
            <a:r>
              <a:rPr lang="zh-CN" altLang="en-US" sz="1200" dirty="0" smtClean="0">
                <a:latin typeface="仿宋" panose="02010609060101010101" charset="-122"/>
                <a:ea typeface="仿宋" panose="02010609060101010101" charset="-122"/>
                <a:cs typeface="仿宋" panose="02010609060101010101" charset="-122"/>
                <a:sym typeface="+mn-ea"/>
              </a:rPr>
              <a:t> //手动装箱</a:t>
            </a:r>
            <a:r>
              <a:rPr lang="en-US" altLang="zh-CN" sz="1200" dirty="0" smtClean="0">
                <a:latin typeface="仿宋" panose="02010609060101010101" charset="-122"/>
                <a:ea typeface="仿宋" panose="02010609060101010101" charset="-122"/>
                <a:cs typeface="仿宋" panose="02010609060101010101" charset="-122"/>
                <a:sym typeface="+mn-ea"/>
              </a:rPr>
              <a:t>,</a:t>
            </a:r>
            <a:r>
              <a:rPr lang="zh-CN" altLang="en-US" sz="1200" dirty="0" smtClean="0">
                <a:latin typeface="仿宋" panose="02010609060101010101" charset="-122"/>
                <a:ea typeface="仿宋" panose="02010609060101010101" charset="-122"/>
                <a:cs typeface="仿宋" panose="02010609060101010101" charset="-122"/>
                <a:sym typeface="+mn-ea"/>
              </a:rPr>
              <a:t>把基本类型转换为与之对应的引用类型</a:t>
            </a:r>
            <a:endParaRPr lang="zh-CN" altLang="en-US" sz="1200" dirty="0" smtClean="0">
              <a:latin typeface="仿宋" panose="02010609060101010101" charset="-122"/>
              <a:ea typeface="仿宋" panose="02010609060101010101" charset="-122"/>
              <a:cs typeface="仿宋" panose="02010609060101010101" charset="-122"/>
              <a:sym typeface="+mn-ea"/>
            </a:endParaRPr>
          </a:p>
          <a:p>
            <a:pPr marL="914400" lvl="1" indent="-457200" algn="l" eaLnBrk="1" hangingPunct="1">
              <a:lnSpc>
                <a:spcPct val="140000"/>
              </a:lnSpc>
              <a:buClr>
                <a:srgbClr val="ED7D31"/>
              </a:buClr>
              <a:buSzTx/>
              <a:buFont typeface="+mj-ea"/>
              <a:buAutoNum type="circleNumDbPlain" startAt="2"/>
            </a:pPr>
            <a:r>
              <a:rPr lang="zh-CN" altLang="en-US" sz="1400" dirty="0" smtClean="0">
                <a:latin typeface="+mj-lt"/>
                <a:ea typeface="宋体" panose="02010600030101010101" pitchFamily="2" charset="-122"/>
                <a:sym typeface="+mn-ea"/>
              </a:rPr>
              <a:t>包装类</a:t>
            </a:r>
            <a:r>
              <a:rPr lang="zh-CN" altLang="en-US" sz="1400" dirty="0" smtClean="0">
                <a:latin typeface="+mj-lt"/>
                <a:ea typeface="宋体" panose="02010600030101010101" pitchFamily="2" charset="-122"/>
                <a:sym typeface="+mn-ea"/>
              </a:rPr>
              <a:t>-&gt;基本类型 称为：拆箱</a:t>
            </a:r>
            <a:endParaRPr lang="zh-CN" altLang="en-US" sz="1400" dirty="0" smtClean="0">
              <a:latin typeface="+mj-lt"/>
              <a:ea typeface="宋体" panose="02010600030101010101" pitchFamily="2" charset="-122"/>
              <a:sym typeface="+mn-ea"/>
            </a:endParaRPr>
          </a:p>
          <a:p>
            <a:pPr marL="1371600" lvl="2" indent="-457200" algn="l" eaLnBrk="1" hangingPunct="1">
              <a:lnSpc>
                <a:spcPct val="140000"/>
              </a:lnSpc>
              <a:buClr>
                <a:srgbClr val="ED7D31"/>
              </a:buClr>
              <a:buSzTx/>
              <a:buFont typeface="+mj-ea"/>
              <a:buAutoNum type="circleNumDbPlain"/>
            </a:pPr>
            <a:r>
              <a:rPr lang="zh-CN" altLang="en-US" sz="1200" dirty="0" smtClean="0">
                <a:latin typeface="+mj-lt"/>
                <a:ea typeface="宋体" panose="02010600030101010101" pitchFamily="2" charset="-122"/>
                <a:sym typeface="+mn-ea"/>
              </a:rPr>
              <a:t>自动拆箱</a:t>
            </a:r>
            <a:endParaRPr lang="zh-CN" altLang="en-US" sz="1200" dirty="0" smtClean="0">
              <a:latin typeface="+mj-lt"/>
              <a:ea typeface="宋体" panose="02010600030101010101" pitchFamily="2" charset="-122"/>
              <a:sym typeface="+mn-ea"/>
            </a:endParaRPr>
          </a:p>
          <a:p>
            <a:pPr marL="1371600" lvl="2" indent="-457200" algn="l" eaLnBrk="1" hangingPunct="1">
              <a:lnSpc>
                <a:spcPct val="140000"/>
              </a:lnSpc>
              <a:buClr>
                <a:srgbClr val="ED7D31"/>
              </a:buClr>
              <a:buSzTx/>
              <a:buFont typeface="+mj-ea"/>
              <a:buAutoNum type="circleNumDbPlain"/>
            </a:pPr>
            <a:r>
              <a:rPr lang="zh-CN" altLang="en-US" sz="1200" dirty="0" smtClean="0">
                <a:latin typeface="+mj-lt"/>
                <a:ea typeface="宋体" panose="02010600030101010101" pitchFamily="2" charset="-122"/>
                <a:sym typeface="+mn-ea"/>
              </a:rPr>
              <a:t>手动拆箱</a:t>
            </a:r>
            <a:endParaRPr lang="zh-CN" altLang="en-US" sz="1200" dirty="0" smtClean="0">
              <a:latin typeface="+mj-lt"/>
              <a:ea typeface="宋体" panose="02010600030101010101" pitchFamily="2" charset="-122"/>
              <a:sym typeface="+mn-ea"/>
            </a:endParaRPr>
          </a:p>
          <a:p>
            <a:pPr marL="914400" lvl="2" indent="0" algn="l" eaLnBrk="1" hangingPunct="1">
              <a:lnSpc>
                <a:spcPct val="140000"/>
              </a:lnSpc>
              <a:buClr>
                <a:srgbClr val="ED7D31"/>
              </a:buClr>
              <a:buSzTx/>
              <a:buFont typeface="+mj-ea"/>
              <a:buNone/>
            </a:pPr>
            <a:r>
              <a:rPr lang="zh-CN" altLang="en-US" sz="1200" dirty="0" smtClean="0">
                <a:latin typeface="+mj-lt"/>
                <a:ea typeface="宋体" panose="02010600030101010101" pitchFamily="2" charset="-122"/>
                <a:sym typeface="+mn-ea"/>
              </a:rPr>
              <a:t>例如：</a:t>
            </a:r>
            <a:endParaRPr lang="zh-CN" altLang="en-US" sz="1200" dirty="0" smtClean="0">
              <a:latin typeface="+mj-lt"/>
              <a:ea typeface="宋体" panose="02010600030101010101" pitchFamily="2" charset="-122"/>
              <a:sym typeface="+mn-ea"/>
            </a:endParaRPr>
          </a:p>
          <a:p>
            <a:pPr marL="0" lvl="2" indent="0" algn="l" eaLnBrk="1" hangingPunct="1">
              <a:lnSpc>
                <a:spcPct val="140000"/>
              </a:lnSpc>
              <a:buClr>
                <a:srgbClr val="ED7D31"/>
              </a:buClr>
              <a:buSzTx/>
              <a:buFont typeface="+mj-ea"/>
              <a:buNone/>
            </a:pPr>
            <a:r>
              <a:rPr lang="zh-CN" altLang="en-US" sz="1200" dirty="0" smtClean="0">
                <a:latin typeface="仿宋" panose="02010609060101010101" charset="-122"/>
                <a:ea typeface="仿宋" panose="02010609060101010101" charset="-122"/>
                <a:cs typeface="仿宋" panose="02010609060101010101" charset="-122"/>
                <a:sym typeface="+mn-ea"/>
              </a:rPr>
              <a:t>        </a:t>
            </a:r>
            <a:r>
              <a:rPr lang="en-US" altLang="zh-CN" sz="1200" dirty="0" smtClean="0">
                <a:latin typeface="仿宋" panose="02010609060101010101" charset="-122"/>
                <a:ea typeface="仿宋" panose="02010609060101010101" charset="-122"/>
                <a:cs typeface="仿宋" panose="02010609060101010101" charset="-122"/>
                <a:sym typeface="+mn-ea"/>
              </a:rPr>
              <a:t>         </a:t>
            </a:r>
            <a:r>
              <a:rPr lang="zh-CN" altLang="en-US" sz="1200" dirty="0" smtClean="0">
                <a:latin typeface="仿宋" panose="02010609060101010101" charset="-122"/>
                <a:ea typeface="仿宋" panose="02010609060101010101" charset="-122"/>
                <a:cs typeface="仿宋" panose="02010609060101010101" charset="-122"/>
                <a:sym typeface="+mn-ea"/>
              </a:rPr>
              <a:t>Integer integer3 = 456;</a:t>
            </a:r>
            <a:endParaRPr lang="zh-CN" altLang="en-US" sz="1200" dirty="0" smtClean="0">
              <a:latin typeface="仿宋" panose="02010609060101010101" charset="-122"/>
              <a:ea typeface="仿宋" panose="02010609060101010101" charset="-122"/>
              <a:cs typeface="仿宋" panose="02010609060101010101" charset="-122"/>
              <a:sym typeface="+mn-ea"/>
            </a:endParaRPr>
          </a:p>
          <a:p>
            <a:pPr marL="0" lvl="2" indent="0" algn="l" eaLnBrk="1" hangingPunct="1">
              <a:lnSpc>
                <a:spcPct val="140000"/>
              </a:lnSpc>
              <a:buClr>
                <a:srgbClr val="ED7D31"/>
              </a:buClr>
              <a:buSzTx/>
              <a:buFont typeface="+mj-ea"/>
              <a:buNone/>
            </a:pPr>
            <a:r>
              <a:rPr lang="zh-CN" altLang="en-US" sz="1200" dirty="0" smtClean="0">
                <a:latin typeface="仿宋" panose="02010609060101010101" charset="-122"/>
                <a:ea typeface="仿宋" panose="02010609060101010101" charset="-122"/>
                <a:cs typeface="仿宋" panose="02010609060101010101" charset="-122"/>
                <a:sym typeface="+mn-ea"/>
              </a:rPr>
              <a:t> </a:t>
            </a:r>
            <a:r>
              <a:rPr lang="en-US" altLang="zh-CN" sz="1200" dirty="0" smtClean="0">
                <a:latin typeface="仿宋" panose="02010609060101010101" charset="-122"/>
                <a:ea typeface="仿宋" panose="02010609060101010101" charset="-122"/>
                <a:cs typeface="仿宋" panose="02010609060101010101" charset="-122"/>
                <a:sym typeface="+mn-ea"/>
              </a:rPr>
              <a:t>           </a:t>
            </a:r>
            <a:r>
              <a:rPr lang="zh-CN" altLang="en-US" sz="1200" dirty="0" smtClean="0">
                <a:latin typeface="仿宋" panose="02010609060101010101" charset="-122"/>
                <a:ea typeface="仿宋" panose="02010609060101010101" charset="-122"/>
                <a:cs typeface="仿宋" panose="02010609060101010101" charset="-122"/>
                <a:sym typeface="+mn-ea"/>
              </a:rPr>
              <a:t>     int num3 = integer3.intValue();//手动拆箱，把Integer类型转换为int类型</a:t>
            </a:r>
            <a:endParaRPr lang="zh-CN" altLang="en-US" sz="1200" dirty="0" smtClean="0">
              <a:latin typeface="仿宋" panose="02010609060101010101" charset="-122"/>
              <a:ea typeface="仿宋" panose="02010609060101010101" charset="-122"/>
              <a:cs typeface="仿宋" panose="02010609060101010101" charset="-122"/>
              <a:sym typeface="+mn-ea"/>
            </a:endParaRPr>
          </a:p>
          <a:p>
            <a:pPr marL="0" lvl="2" indent="0" algn="l" eaLnBrk="1" hangingPunct="1">
              <a:lnSpc>
                <a:spcPct val="140000"/>
              </a:lnSpc>
              <a:buClr>
                <a:srgbClr val="ED7D31"/>
              </a:buClr>
              <a:buSzTx/>
              <a:buFont typeface="+mj-ea"/>
              <a:buNone/>
            </a:pPr>
            <a:r>
              <a:rPr lang="zh-CN" altLang="en-US" sz="1200" dirty="0" smtClean="0">
                <a:latin typeface="仿宋" panose="02010609060101010101" charset="-122"/>
                <a:ea typeface="仿宋" panose="02010609060101010101" charset="-122"/>
                <a:cs typeface="仿宋" panose="02010609060101010101" charset="-122"/>
                <a:sym typeface="+mn-ea"/>
              </a:rPr>
              <a:t>               </a:t>
            </a:r>
            <a:r>
              <a:rPr lang="en-US" altLang="zh-CN" sz="1200" dirty="0" smtClean="0">
                <a:latin typeface="仿宋" panose="02010609060101010101" charset="-122"/>
                <a:ea typeface="仿宋" panose="02010609060101010101" charset="-122"/>
                <a:cs typeface="仿宋" panose="02010609060101010101" charset="-122"/>
                <a:sym typeface="+mn-ea"/>
              </a:rPr>
              <a:t>  </a:t>
            </a:r>
            <a:r>
              <a:rPr lang="zh-CN" altLang="en-US" sz="1200" dirty="0" smtClean="0">
                <a:latin typeface="仿宋" panose="02010609060101010101" charset="-122"/>
                <a:ea typeface="仿宋" panose="02010609060101010101" charset="-122"/>
                <a:cs typeface="仿宋" panose="02010609060101010101" charset="-122"/>
                <a:sym typeface="+mn-ea"/>
              </a:rPr>
              <a:t>int num4 = integer3; //自动拆箱</a:t>
            </a:r>
            <a:endParaRPr lang="zh-CN" altLang="en-US" sz="1200" dirty="0" smtClean="0">
              <a:latin typeface="仿宋" panose="02010609060101010101" charset="-122"/>
              <a:ea typeface="仿宋" panose="02010609060101010101" charset="-122"/>
              <a:cs typeface="仿宋" panose="02010609060101010101" charset="-122"/>
              <a:sym typeface="+mn-ea"/>
            </a:endParaRPr>
          </a:p>
          <a:p>
            <a:pPr marL="914400" lvl="2" indent="0" algn="l" eaLnBrk="1" hangingPunct="1">
              <a:lnSpc>
                <a:spcPct val="140000"/>
              </a:lnSpc>
              <a:buClr>
                <a:srgbClr val="ED7D31"/>
              </a:buClr>
              <a:buSzTx/>
              <a:buFont typeface="+mj-ea"/>
              <a:buNone/>
            </a:pPr>
            <a:endParaRPr lang="zh-CN" altLang="en-US" sz="1200" dirty="0" smtClean="0">
              <a:latin typeface="+mj-lt"/>
              <a:ea typeface="宋体" panose="02010600030101010101" pitchFamily="2" charset="-122"/>
              <a:sym typeface="+mn-ea"/>
            </a:endParaRPr>
          </a:p>
          <a:p>
            <a:pPr marL="914400" lvl="1" indent="-457200" algn="l" eaLnBrk="1" hangingPunct="1">
              <a:lnSpc>
                <a:spcPct val="140000"/>
              </a:lnSpc>
              <a:buClr>
                <a:srgbClr val="ED7D31"/>
              </a:buClr>
              <a:buSzTx/>
              <a:buFont typeface="+mj-lt"/>
              <a:buAutoNum type="circleNumDbPlain" startAt="2"/>
            </a:pPr>
            <a:endParaRPr lang="en-US" altLang="zh-CN" sz="1600" dirty="0" smtClean="0">
              <a:latin typeface="+mj-lt"/>
              <a:ea typeface="宋体" panose="02010600030101010101" pitchFamily="2" charset="-122"/>
            </a:endParaRPr>
          </a:p>
          <a:p>
            <a:pPr marL="0" indent="0" algn="l">
              <a:lnSpc>
                <a:spcPct val="140000"/>
              </a:lnSpc>
              <a:buClr>
                <a:srgbClr val="ED7D31"/>
              </a:buClr>
              <a:buSzTx/>
              <a:buFont typeface="+mj-lt"/>
              <a:buNone/>
            </a:pPr>
            <a:r>
              <a:rPr lang="en-US" altLang="zh-CN" sz="2000" dirty="0">
                <a:ea typeface="宋体" panose="02010600030101010101" pitchFamily="2" charset="-122"/>
                <a:sym typeface="+mn-ea"/>
              </a:rPr>
              <a:t>    </a:t>
            </a:r>
            <a:endParaRPr lang="en-US" altLang="zh-CN" sz="2000"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141730" y="3137535"/>
            <a:ext cx="981202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第二节 </a:t>
            </a:r>
            <a:r>
              <a:rPr lang="zh-CN" altLang="en-US" sz="6665" dirty="0">
                <a:solidFill>
                  <a:schemeClr val="bg1"/>
                </a:solidFill>
                <a:latin typeface="Arial" panose="020B0604020202020204" pitchFamily="34" charset="0"/>
                <a:ea typeface="宋体" panose="02010600030101010101" pitchFamily="2" charset="-122"/>
                <a:sym typeface="思源黑体 CN Light" panose="020B0300000000000000" pitchFamily="34" charset="-122"/>
              </a:rPr>
              <a:t>String相关类</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marL="0" lvl="1" eaLnBrk="1" hangingPunct="1"/>
            <a:r>
              <a:rPr lang="zh-CN" sz="2400" dirty="0">
                <a:ea typeface="宋体" panose="02010600030101010101" pitchFamily="2" charset="-122"/>
                <a:sym typeface="+mn-ea"/>
              </a:rPr>
              <a:t>字符串</a:t>
            </a:r>
            <a:endParaRPr lang="zh-CN" sz="2400" dirty="0">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R="0" indent="0" algn="ctr" defTabSz="914400" fontAlgn="auto">
              <a:lnSpc>
                <a:spcPct val="100000"/>
              </a:lnSpc>
              <a:spcBef>
                <a:spcPts val="0"/>
              </a:spcBef>
              <a:spcAft>
                <a:spcPts val="0"/>
              </a:spcAft>
              <a:buClrTx/>
              <a:buSzTx/>
              <a:buFontTx/>
              <a:buNone/>
              <a:defRPr/>
            </a:pPr>
            <a:r>
              <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111885"/>
            <a:ext cx="10244455" cy="5200015"/>
          </a:xfrm>
        </p:spPr>
        <p:txBody>
          <a:bodyPr>
            <a:normAutofit lnSpcReduction="10000"/>
          </a:bodyPr>
          <a:p>
            <a:pPr marL="457200" indent="-457200" algn="l" eaLnBrk="1" hangingPunct="1">
              <a:lnSpc>
                <a:spcPct val="140000"/>
              </a:lnSpc>
              <a:buClr>
                <a:srgbClr val="ED7D31"/>
              </a:buClr>
              <a:buSzTx/>
              <a:buFont typeface="+mj-lt"/>
              <a:buAutoNum type="arabicPeriod"/>
            </a:pPr>
            <a:r>
              <a:rPr sz="1800" dirty="0">
                <a:ea typeface="宋体" panose="02010600030101010101" pitchFamily="2" charset="-122"/>
                <a:sym typeface="+mn-ea"/>
              </a:rPr>
              <a:t>public final class String :被final修饰不可以有子类</a:t>
            </a:r>
            <a:endParaRPr sz="1800" dirty="0">
              <a:ea typeface="宋体" panose="02010600030101010101" pitchFamily="2" charset="-122"/>
              <a:sym typeface="+mn-ea"/>
            </a:endParaRPr>
          </a:p>
          <a:p>
            <a:pPr marL="0" indent="0" algn="l" eaLnBrk="1" hangingPunct="1">
              <a:lnSpc>
                <a:spcPct val="140000"/>
              </a:lnSpc>
              <a:buClr>
                <a:srgbClr val="ED7D31"/>
              </a:buClr>
              <a:buSzTx/>
              <a:buFont typeface="+mj-lt"/>
              <a:buNone/>
            </a:pPr>
            <a:endParaRPr sz="1800" dirty="0">
              <a:ea typeface="宋体" panose="02010600030101010101" pitchFamily="2" charset="-122"/>
              <a:sym typeface="+mn-ea"/>
            </a:endParaRPr>
          </a:p>
          <a:p>
            <a:pPr marL="457200" indent="-457200" algn="l" eaLnBrk="1" hangingPunct="1">
              <a:lnSpc>
                <a:spcPct val="140000"/>
              </a:lnSpc>
              <a:buClr>
                <a:srgbClr val="ED7D31"/>
              </a:buClr>
              <a:buSzTx/>
              <a:buFont typeface="+mj-lt"/>
              <a:buAutoNum type="arabicPeriod" startAt="2"/>
            </a:pPr>
            <a:r>
              <a:rPr sz="1800" dirty="0">
                <a:ea typeface="宋体" panose="02010600030101010101" pitchFamily="2" charset="-122"/>
                <a:sym typeface="+mn-ea"/>
              </a:rPr>
              <a:t>private final byte[] value: 被final修饰的变量不可以指向其他对象，但是值是可以改变的</a:t>
            </a:r>
            <a:endParaRPr sz="1800" dirty="0">
              <a:ea typeface="宋体" panose="02010600030101010101" pitchFamily="2" charset="-122"/>
              <a:sym typeface="+mn-ea"/>
            </a:endParaRPr>
          </a:p>
          <a:p>
            <a:pPr marL="0" indent="457200" algn="l" eaLnBrk="1" hangingPunct="1">
              <a:lnSpc>
                <a:spcPct val="140000"/>
              </a:lnSpc>
              <a:buClr>
                <a:srgbClr val="ED7D31"/>
              </a:buClr>
              <a:buSzTx/>
              <a:buFont typeface="+mj-lt"/>
              <a:buNone/>
            </a:pPr>
            <a:endParaRPr sz="1800" dirty="0">
              <a:ea typeface="宋体" panose="02010600030101010101" pitchFamily="2" charset="-122"/>
              <a:sym typeface="+mn-ea"/>
            </a:endParaRPr>
          </a:p>
          <a:p>
            <a:pPr marL="457200" indent="-457200" algn="l" eaLnBrk="1" hangingPunct="1">
              <a:lnSpc>
                <a:spcPct val="140000"/>
              </a:lnSpc>
              <a:buClr>
                <a:srgbClr val="ED7D31"/>
              </a:buClr>
              <a:buSzTx/>
              <a:buFont typeface="+mj-lt"/>
              <a:buAutoNum type="arabicPeriod" startAt="3"/>
            </a:pPr>
            <a:r>
              <a:rPr sz="1800" dirty="0">
                <a:ea typeface="宋体" panose="02010600030101010101" pitchFamily="2" charset="-122"/>
                <a:sym typeface="+mn-ea"/>
              </a:rPr>
              <a:t>因为String没有子类，byte数组又是private的，所以，String不可以改变它的值</a:t>
            </a:r>
            <a:endParaRPr sz="1800" dirty="0">
              <a:ea typeface="宋体" panose="02010600030101010101" pitchFamily="2" charset="-122"/>
              <a:sym typeface="+mn-ea"/>
            </a:endParaRPr>
          </a:p>
          <a:p>
            <a:pPr marL="457200" indent="-457200" algn="l" eaLnBrk="1" hangingPunct="1">
              <a:lnSpc>
                <a:spcPct val="140000"/>
              </a:lnSpc>
              <a:buClr>
                <a:srgbClr val="ED7D31"/>
              </a:buClr>
              <a:buSzTx/>
              <a:buFont typeface="+mj-lt"/>
              <a:buAutoNum type="arabicPeriod" startAt="3"/>
            </a:pPr>
            <a:r>
              <a:rPr lang="zh-CN" altLang="en-US" sz="1800" dirty="0">
                <a:ea typeface="宋体" panose="02010600030101010101" pitchFamily="2" charset="-122"/>
                <a:sym typeface="+mn-ea"/>
              </a:rPr>
              <a:t>虽然字符串本身不能改变，但是String类型变量中记录的地址值是可以改变的，每次的修改都会开辟新的空间。</a:t>
            </a:r>
            <a:endParaRPr lang="zh-CN" altLang="en-US" sz="1800" dirty="0">
              <a:ea typeface="宋体" panose="02010600030101010101" pitchFamily="2" charset="-122"/>
              <a:sym typeface="+mn-ea"/>
            </a:endParaRPr>
          </a:p>
          <a:p>
            <a:pPr marL="0" indent="0" algn="l">
              <a:lnSpc>
                <a:spcPct val="140000"/>
              </a:lnSpc>
              <a:buClr>
                <a:srgbClr val="ED7D31"/>
              </a:buClr>
              <a:buSzTx/>
              <a:buFont typeface="+mj-lt"/>
              <a:buNone/>
            </a:pPr>
            <a:r>
              <a:rPr lang="en-US" altLang="zh-CN" sz="1800" dirty="0">
                <a:ea typeface="宋体" panose="02010600030101010101" pitchFamily="2" charset="-122"/>
                <a:sym typeface="+mn-ea"/>
              </a:rPr>
              <a:t>    </a:t>
            </a:r>
            <a:endParaRPr lang="en-US" altLang="zh-CN" sz="1800" dirty="0">
              <a:ea typeface="宋体" panose="02010600030101010101" pitchFamily="2" charset="-122"/>
              <a:sym typeface="+mn-ea"/>
            </a:endParaRPr>
          </a:p>
        </p:txBody>
      </p:sp>
      <p:pic>
        <p:nvPicPr>
          <p:cNvPr id="8" name="图片 7"/>
          <p:cNvPicPr>
            <a:picLocks noChangeAspect="1"/>
          </p:cNvPicPr>
          <p:nvPr/>
        </p:nvPicPr>
        <p:blipFill>
          <a:blip r:embed="rId5"/>
          <a:stretch>
            <a:fillRect/>
          </a:stretch>
        </p:blipFill>
        <p:spPr>
          <a:xfrm>
            <a:off x="2545715" y="1588135"/>
            <a:ext cx="3362325" cy="428625"/>
          </a:xfrm>
          <a:prstGeom prst="rect">
            <a:avLst/>
          </a:prstGeom>
        </p:spPr>
      </p:pic>
      <p:pic>
        <p:nvPicPr>
          <p:cNvPr id="11" name="图片 10"/>
          <p:cNvPicPr>
            <a:picLocks noChangeAspect="1"/>
          </p:cNvPicPr>
          <p:nvPr/>
        </p:nvPicPr>
        <p:blipFill>
          <a:blip r:embed="rId6"/>
          <a:stretch>
            <a:fillRect/>
          </a:stretch>
        </p:blipFill>
        <p:spPr>
          <a:xfrm>
            <a:off x="2120265" y="2563495"/>
            <a:ext cx="4800600" cy="4572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marL="0" lvl="1" eaLnBrk="1" hangingPunct="1"/>
            <a:r>
              <a:rPr lang="zh-CN" sz="2400" dirty="0">
                <a:ea typeface="宋体" panose="02010600030101010101" pitchFamily="2" charset="-122"/>
                <a:sym typeface="+mn-ea"/>
              </a:rPr>
              <a:t>字符串常用的构造方法</a:t>
            </a:r>
            <a:endParaRPr lang="zh-CN" sz="2400" dirty="0">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R="0" indent="0" algn="ctr" defTabSz="914400" fontAlgn="auto">
              <a:lnSpc>
                <a:spcPct val="100000"/>
              </a:lnSpc>
              <a:spcBef>
                <a:spcPts val="0"/>
              </a:spcBef>
              <a:spcAft>
                <a:spcPts val="0"/>
              </a:spcAft>
              <a:buClrTx/>
              <a:buSzTx/>
              <a:buFontTx/>
              <a:buNone/>
              <a:defRPr/>
            </a:pPr>
            <a:r>
              <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graphicFrame>
        <p:nvGraphicFramePr>
          <p:cNvPr id="8" name="表格 7"/>
          <p:cNvGraphicFramePr/>
          <p:nvPr/>
        </p:nvGraphicFramePr>
        <p:xfrm>
          <a:off x="1059180" y="1648460"/>
          <a:ext cx="9182100" cy="1143000"/>
        </p:xfrm>
        <a:graphic>
          <a:graphicData uri="http://schemas.openxmlformats.org/drawingml/2006/table">
            <a:tbl>
              <a:tblPr/>
              <a:tblGrid>
                <a:gridCol w="3552825"/>
                <a:gridCol w="5629275"/>
              </a:tblGrid>
              <a:tr h="228600">
                <a:tc gridSpan="2">
                  <a:txBody>
                    <a:bodyPr/>
                    <a:p>
                      <a:pPr indent="0" algn="ctr">
                        <a:buNone/>
                      </a:pPr>
                      <a:r>
                        <a:rPr lang="en-US" sz="1200" b="1">
                          <a:solidFill>
                            <a:srgbClr val="333333"/>
                          </a:solidFill>
                          <a:latin typeface="Open Sans" panose="020B0606030504020204" charset="-122"/>
                        </a:rPr>
                        <a:t>String</a:t>
                      </a:r>
                      <a:r>
                        <a:rPr lang="en-US" sz="1200" b="1">
                          <a:solidFill>
                            <a:srgbClr val="333333"/>
                          </a:solidFill>
                          <a:latin typeface="宋体" panose="02010600030101010101" pitchFamily="2" charset="-122"/>
                        </a:rPr>
                        <a:t>类部分构造方法摘要</a:t>
                      </a:r>
                      <a:endParaRPr lang="en-US" altLang="en-US" sz="1200" b="1">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28600">
                <a:tc>
                  <a:txBody>
                    <a:bodyPr/>
                    <a:p>
                      <a:pPr indent="0">
                        <a:buNone/>
                      </a:pPr>
                      <a:r>
                        <a:rPr lang="en-US" sz="1200" b="0">
                          <a:solidFill>
                            <a:srgbClr val="333333"/>
                          </a:solidFill>
                          <a:latin typeface="Open Sans" panose="020B0606030504020204" charset="-122"/>
                        </a:rPr>
                        <a:t>String()</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宋体" panose="02010600030101010101" pitchFamily="2" charset="-122"/>
                        </a:rPr>
                        <a:t>创建空</a:t>
                      </a:r>
                      <a:r>
                        <a:rPr lang="en-US" sz="1200" b="0">
                          <a:solidFill>
                            <a:srgbClr val="333333"/>
                          </a:solidFill>
                          <a:latin typeface="Open Sans" panose="020B0606030504020204" charset="-122"/>
                        </a:rPr>
                        <a:t>String</a:t>
                      </a:r>
                      <a:r>
                        <a:rPr lang="en-US" sz="1200" b="0">
                          <a:solidFill>
                            <a:srgbClr val="333333"/>
                          </a:solidFill>
                          <a:latin typeface="宋体" panose="02010600030101010101" pitchFamily="2" charset="-122"/>
                        </a:rPr>
                        <a:t>对象</a:t>
                      </a:r>
                      <a:endParaRPr lang="en-US" altLang="en-US" sz="1200" b="0">
                        <a:solidFill>
                          <a:srgbClr val="333333"/>
                        </a:solidFill>
                        <a:latin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228600">
                <a:tc>
                  <a:txBody>
                    <a:bodyPr/>
                    <a:p>
                      <a:pPr indent="0">
                        <a:buNone/>
                      </a:pPr>
                      <a:r>
                        <a:rPr lang="en-US" sz="1200" b="0">
                          <a:solidFill>
                            <a:srgbClr val="333333"/>
                          </a:solidFill>
                          <a:latin typeface="Open Sans" panose="020B0606030504020204" charset="-122"/>
                        </a:rPr>
                        <a:t>String(String original)</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sz="1200" b="0">
                          <a:solidFill>
                            <a:srgbClr val="333333"/>
                          </a:solidFill>
                          <a:latin typeface="Arial" panose="020B0604020202020204" pitchFamily="34" charset="0"/>
                          <a:ea typeface="宋体" panose="02010600030101010101" pitchFamily="2" charset="-122"/>
                        </a:rPr>
                        <a:t>指定字符串创建对象</a:t>
                      </a:r>
                      <a:endParaRPr lang="en-US" altLang="en-US" sz="1200" b="0">
                        <a:solidFill>
                          <a:srgbClr val="333333"/>
                        </a:solidFill>
                        <a:latin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228600">
                <a:tc>
                  <a:txBody>
                    <a:bodyPr/>
                    <a:p>
                      <a:pPr algn="l">
                        <a:buClrTx/>
                        <a:buSzTx/>
                        <a:buFontTx/>
                        <a:buNone/>
                      </a:pPr>
                      <a:r>
                        <a:rPr lang="en-US" sz="1200" b="0">
                          <a:solidFill>
                            <a:srgbClr val="333333"/>
                          </a:solidFill>
                          <a:latin typeface="Open Sans" panose="020B0606030504020204" charset="-122"/>
                        </a:rPr>
                        <a:t>String(byte[] bytes, String charsetName)</a:t>
                      </a:r>
                      <a:endParaRPr 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sz="1200" b="0">
                          <a:solidFill>
                            <a:srgbClr val="333333"/>
                          </a:solidFill>
                          <a:latin typeface="Arial" panose="020B0604020202020204" pitchFamily="34" charset="0"/>
                          <a:ea typeface="宋体" panose="02010600030101010101" pitchFamily="2" charset="-122"/>
                        </a:rPr>
                        <a:t>按照指定字符集编码创建</a:t>
                      </a:r>
                      <a:r>
                        <a:rPr lang="en-US" sz="1200" b="0">
                          <a:solidFill>
                            <a:srgbClr val="333333"/>
                          </a:solidFill>
                          <a:latin typeface="Open Sans" panose="020B0606030504020204" charset="-122"/>
                        </a:rPr>
                        <a:t>String</a:t>
                      </a:r>
                      <a:r>
                        <a:rPr lang="en-US" sz="1200" b="0">
                          <a:solidFill>
                            <a:srgbClr val="333333"/>
                          </a:solidFill>
                          <a:latin typeface="宋体" panose="02010600030101010101" pitchFamily="2" charset="-122"/>
                        </a:rPr>
                        <a:t>对象。</a:t>
                      </a:r>
                      <a:endParaRPr lang="en-US" altLang="en-US" sz="1200" b="0">
                        <a:solidFill>
                          <a:srgbClr val="333333"/>
                        </a:solidFill>
                        <a:latin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228600">
                <a:tc>
                  <a:txBody>
                    <a:bodyPr/>
                    <a:p>
                      <a:pPr indent="0">
                        <a:buNone/>
                      </a:pPr>
                      <a:r>
                        <a:rPr lang="en-US" sz="1200" b="0">
                          <a:solidFill>
                            <a:srgbClr val="333333"/>
                          </a:solidFill>
                          <a:latin typeface="Open Sans" panose="020B0606030504020204" charset="-122"/>
                        </a:rPr>
                        <a:t>String(char[] value)</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sz="1200" b="0">
                          <a:solidFill>
                            <a:srgbClr val="333333"/>
                          </a:solidFill>
                          <a:latin typeface="Arial" panose="020B0604020202020204" pitchFamily="34" charset="0"/>
                          <a:ea typeface="宋体" panose="02010600030101010101" pitchFamily="2" charset="-122"/>
                        </a:rPr>
                        <a:t>通过字符数组创建一个字符串对象</a:t>
                      </a:r>
                      <a:endParaRPr lang="en-US" altLang="en-US" sz="1200" b="0">
                        <a:solidFill>
                          <a:srgbClr val="333333"/>
                        </a:solidFill>
                        <a:latin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marL="0" lvl="1" eaLnBrk="1" hangingPunct="1"/>
            <a:r>
              <a:rPr lang="zh-CN" sz="2400" dirty="0">
                <a:ea typeface="宋体" panose="02010600030101010101" pitchFamily="2" charset="-122"/>
                <a:sym typeface="+mn-ea"/>
              </a:rPr>
              <a:t>字符串常用的其他方法</a:t>
            </a:r>
            <a:endParaRPr lang="zh-CN" sz="2400" dirty="0">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R="0" indent="0" algn="ctr" defTabSz="914400" fontAlgn="auto">
              <a:lnSpc>
                <a:spcPct val="100000"/>
              </a:lnSpc>
              <a:spcBef>
                <a:spcPts val="0"/>
              </a:spcBef>
              <a:spcAft>
                <a:spcPts val="0"/>
              </a:spcAft>
              <a:buClrTx/>
              <a:buSzTx/>
              <a:buFontTx/>
              <a:buNone/>
              <a:defRPr/>
            </a:pPr>
            <a:r>
              <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graphicFrame>
        <p:nvGraphicFramePr>
          <p:cNvPr id="3" name="表格 2"/>
          <p:cNvGraphicFramePr/>
          <p:nvPr>
            <p:custDataLst>
              <p:tags r:id="rId5"/>
            </p:custDataLst>
          </p:nvPr>
        </p:nvGraphicFramePr>
        <p:xfrm>
          <a:off x="1166495" y="1160145"/>
          <a:ext cx="10215880" cy="4868545"/>
        </p:xfrm>
        <a:graphic>
          <a:graphicData uri="http://schemas.openxmlformats.org/drawingml/2006/table">
            <a:tbl>
              <a:tblPr/>
              <a:tblGrid>
                <a:gridCol w="3863340"/>
                <a:gridCol w="6352540"/>
              </a:tblGrid>
              <a:tr h="286385">
                <a:tc>
                  <a:txBody>
                    <a:bodyPr/>
                    <a:p>
                      <a:pPr indent="0">
                        <a:buNone/>
                      </a:pPr>
                      <a:r>
                        <a:rPr lang="en-US" sz="1200" b="0">
                          <a:solidFill>
                            <a:srgbClr val="333333"/>
                          </a:solidFill>
                          <a:latin typeface="Open Sans" panose="020B0606030504020204" charset="-122"/>
                        </a:rPr>
                        <a:t>length()</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200" b="0">
                          <a:solidFill>
                            <a:srgbClr val="333333"/>
                          </a:solidFill>
                          <a:latin typeface="Arial" panose="020B0604020202020204" pitchFamily="34" charset="0"/>
                          <a:ea typeface="宋体" panose="02010600030101010101" pitchFamily="2" charset="-122"/>
                        </a:rPr>
                        <a:t>可以获取到字符串中有多少个字符</a:t>
                      </a:r>
                      <a:endParaRPr lang="zh-CN" altLang="en-US" sz="1200" b="0">
                        <a:solidFill>
                          <a:srgbClr val="333333"/>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286385">
                <a:tc>
                  <a:txBody>
                    <a:bodyPr/>
                    <a:p>
                      <a:pPr indent="0">
                        <a:buNone/>
                      </a:pPr>
                      <a:r>
                        <a:rPr lang="en-US" sz="1200" b="0">
                          <a:solidFill>
                            <a:srgbClr val="333333"/>
                          </a:solidFill>
                          <a:latin typeface="Open Sans" panose="020B0606030504020204" charset="-122"/>
                        </a:rPr>
                        <a:t>charAt(int index)</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200" b="0">
                          <a:solidFill>
                            <a:srgbClr val="333333"/>
                          </a:solidFill>
                          <a:latin typeface="Arial" panose="020B0604020202020204" pitchFamily="34" charset="0"/>
                          <a:ea typeface="宋体" panose="02010600030101010101" pitchFamily="2" charset="-122"/>
                        </a:rPr>
                        <a:t>返回指定索引位置的char值</a:t>
                      </a:r>
                      <a:endParaRPr lang="zh-CN" altLang="en-US" sz="1200" b="0">
                        <a:solidFill>
                          <a:srgbClr val="333333"/>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286385">
                <a:tc>
                  <a:txBody>
                    <a:bodyPr/>
                    <a:p>
                      <a:pPr indent="0">
                        <a:buNone/>
                      </a:pPr>
                      <a:r>
                        <a:rPr lang="en-US" sz="1200" b="0">
                          <a:solidFill>
                            <a:srgbClr val="333333"/>
                          </a:solidFill>
                          <a:latin typeface="Open Sans" panose="020B0606030504020204" charset="-122"/>
                        </a:rPr>
                        <a:t>int indexOf(int ch)</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返回指定字符第一次出现在字符串内的索引。</a:t>
                      </a:r>
                      <a:r>
                        <a:rPr lang="zh-CN" altLang="en-US" sz="1200">
                          <a:solidFill>
                            <a:srgbClr val="333333"/>
                          </a:solidFill>
                          <a:latin typeface="Arial" panose="020B0604020202020204" pitchFamily="34" charset="0"/>
                          <a:ea typeface="宋体" panose="02010600030101010101" pitchFamily="2" charset="-122"/>
                          <a:sym typeface="+mn-ea"/>
                        </a:rPr>
                        <a:t>如果没有找到返回</a:t>
                      </a:r>
                      <a:r>
                        <a:rPr lang="en-US" altLang="zh-CN" sz="1200">
                          <a:solidFill>
                            <a:srgbClr val="333333"/>
                          </a:solidFill>
                          <a:latin typeface="Arial" panose="020B0604020202020204" pitchFamily="34" charset="0"/>
                          <a:ea typeface="宋体" panose="02010600030101010101" pitchFamily="2" charset="-122"/>
                          <a:sym typeface="+mn-ea"/>
                        </a:rPr>
                        <a:t> -1</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286385">
                <a:tc>
                  <a:txBody>
                    <a:bodyPr/>
                    <a:p>
                      <a:pPr indent="0">
                        <a:buNone/>
                      </a:pPr>
                      <a:r>
                        <a:rPr lang="en-US" sz="1200" b="0">
                          <a:solidFill>
                            <a:srgbClr val="333333"/>
                          </a:solidFill>
                          <a:latin typeface="Open Sans" panose="020B0606030504020204" charset="-122"/>
                        </a:rPr>
                        <a:t>int indexOf(int ch, int fromIndex)</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sz="1200" b="0">
                          <a:solidFill>
                            <a:srgbClr val="333333"/>
                          </a:solidFill>
                          <a:latin typeface="Arial" panose="020B0604020202020204" pitchFamily="34" charset="0"/>
                          <a:ea typeface="Open Sans" panose="020B0606030504020204" charset="-122"/>
                        </a:rPr>
                        <a:t>返回指定字符第一次出现在字符串内的索引，以指定的索引开始搜索。</a:t>
                      </a:r>
                      <a:r>
                        <a:rPr lang="zh-CN" altLang="en-US" sz="1200">
                          <a:solidFill>
                            <a:srgbClr val="333333"/>
                          </a:solidFill>
                          <a:latin typeface="Arial" panose="020B0604020202020204" pitchFamily="34" charset="0"/>
                          <a:ea typeface="宋体" panose="02010600030101010101" pitchFamily="2" charset="-122"/>
                          <a:sym typeface="+mn-ea"/>
                        </a:rPr>
                        <a:t>如果没有找到返回</a:t>
                      </a:r>
                      <a:r>
                        <a:rPr lang="en-US" altLang="zh-CN" sz="1200">
                          <a:solidFill>
                            <a:srgbClr val="333333"/>
                          </a:solidFill>
                          <a:latin typeface="Arial" panose="020B0604020202020204" pitchFamily="34" charset="0"/>
                          <a:ea typeface="宋体" panose="02010600030101010101" pitchFamily="2" charset="-122"/>
                          <a:sym typeface="+mn-ea"/>
                        </a:rPr>
                        <a:t> -1</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286385">
                <a:tc>
                  <a:txBody>
                    <a:bodyPr/>
                    <a:p>
                      <a:pPr indent="0">
                        <a:buNone/>
                      </a:pPr>
                      <a:r>
                        <a:rPr lang="en-US" sz="1200" b="0">
                          <a:solidFill>
                            <a:srgbClr val="333333"/>
                          </a:solidFill>
                          <a:latin typeface="Open Sans" panose="020B0606030504020204" charset="-122"/>
                        </a:rPr>
                        <a:t>int indexOf(String str)</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返回指定子字符串第一次出现在字符串内的索引。</a:t>
                      </a:r>
                      <a:r>
                        <a:rPr lang="zh-CN" altLang="en-US" sz="1200">
                          <a:solidFill>
                            <a:srgbClr val="333333"/>
                          </a:solidFill>
                          <a:latin typeface="Arial" panose="020B0604020202020204" pitchFamily="34" charset="0"/>
                          <a:ea typeface="宋体" panose="02010600030101010101" pitchFamily="2" charset="-122"/>
                          <a:sym typeface="+mn-ea"/>
                        </a:rPr>
                        <a:t>如果没有找到返回</a:t>
                      </a:r>
                      <a:r>
                        <a:rPr lang="en-US" altLang="zh-CN" sz="1200">
                          <a:solidFill>
                            <a:srgbClr val="333333"/>
                          </a:solidFill>
                          <a:latin typeface="Arial" panose="020B0604020202020204" pitchFamily="34" charset="0"/>
                          <a:ea typeface="宋体" panose="02010600030101010101" pitchFamily="2" charset="-122"/>
                          <a:sym typeface="+mn-ea"/>
                        </a:rPr>
                        <a:t> -1</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286385">
                <a:tc>
                  <a:txBody>
                    <a:bodyPr/>
                    <a:p>
                      <a:pPr indent="0">
                        <a:buNone/>
                      </a:pPr>
                      <a:r>
                        <a:rPr lang="en-US" sz="1200" b="0">
                          <a:solidFill>
                            <a:srgbClr val="333333"/>
                          </a:solidFill>
                          <a:latin typeface="Open Sans" panose="020B0606030504020204" charset="-122"/>
                        </a:rPr>
                        <a:t>int indexOf(String str, int fromIndex)</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sz="1200" b="0">
                          <a:solidFill>
                            <a:srgbClr val="333333"/>
                          </a:solidFill>
                          <a:latin typeface="Arial" panose="020B0604020202020204" pitchFamily="34" charset="0"/>
                          <a:ea typeface="Open Sans" panose="020B0606030504020204" charset="-122"/>
                        </a:rPr>
                        <a:t>返回指定子串的第一次出现在字符串中的索引，从指定的索引开始搜索。</a:t>
                      </a:r>
                      <a:r>
                        <a:rPr lang="zh-CN" altLang="en-US" sz="1200">
                          <a:solidFill>
                            <a:srgbClr val="333333"/>
                          </a:solidFill>
                          <a:latin typeface="Arial" panose="020B0604020202020204" pitchFamily="34" charset="0"/>
                          <a:ea typeface="宋体" panose="02010600030101010101" pitchFamily="2" charset="-122"/>
                          <a:sym typeface="+mn-ea"/>
                        </a:rPr>
                        <a:t>如果没有找到返回</a:t>
                      </a:r>
                      <a:r>
                        <a:rPr lang="en-US" altLang="zh-CN" sz="1200">
                          <a:solidFill>
                            <a:srgbClr val="333333"/>
                          </a:solidFill>
                          <a:latin typeface="Arial" panose="020B0604020202020204" pitchFamily="34" charset="0"/>
                          <a:ea typeface="宋体" panose="02010600030101010101" pitchFamily="2" charset="-122"/>
                          <a:sym typeface="+mn-ea"/>
                        </a:rPr>
                        <a:t> -1</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286385">
                <a:tc>
                  <a:txBody>
                    <a:bodyPr/>
                    <a:p>
                      <a:pPr indent="0">
                        <a:buNone/>
                      </a:pPr>
                      <a:r>
                        <a:rPr lang="en-US" sz="1200" b="0">
                          <a:solidFill>
                            <a:srgbClr val="333333"/>
                          </a:solidFill>
                          <a:latin typeface="Open Sans" panose="020B0606030504020204" charset="-122"/>
                        </a:rPr>
                        <a:t>int lastIndexOf(int ch)</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返回指定字符最后一次出现在字符串内的索引</a:t>
                      </a:r>
                      <a:r>
                        <a:rPr lang="en-US" altLang="zh-CN" sz="1200" b="0">
                          <a:solidFill>
                            <a:srgbClr val="333333"/>
                          </a:solidFill>
                          <a:latin typeface="Arial" panose="020B0604020202020204" pitchFamily="34" charset="0"/>
                          <a:ea typeface="Open Sans" panose="020B0606030504020204" charset="-122"/>
                        </a:rPr>
                        <a:t>,</a:t>
                      </a:r>
                      <a:r>
                        <a:rPr lang="zh-CN" altLang="en-US" sz="1200" b="0">
                          <a:solidFill>
                            <a:srgbClr val="333333"/>
                          </a:solidFill>
                          <a:latin typeface="Arial" panose="020B0604020202020204" pitchFamily="34" charset="0"/>
                          <a:ea typeface="宋体" panose="02010600030101010101" pitchFamily="2" charset="-122"/>
                        </a:rPr>
                        <a:t>如果没有找到返回</a:t>
                      </a:r>
                      <a:r>
                        <a:rPr lang="en-US" altLang="zh-CN" sz="1200" b="0">
                          <a:solidFill>
                            <a:srgbClr val="333333"/>
                          </a:solidFill>
                          <a:latin typeface="Arial" panose="020B0604020202020204" pitchFamily="34" charset="0"/>
                          <a:ea typeface="宋体" panose="02010600030101010101" pitchFamily="2" charset="-122"/>
                        </a:rPr>
                        <a:t> -1</a:t>
                      </a:r>
                      <a:endParaRPr lang="en-US" altLang="zh-CN" sz="1200" b="0">
                        <a:solidFill>
                          <a:srgbClr val="333333"/>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286385">
                <a:tc>
                  <a:txBody>
                    <a:bodyPr/>
                    <a:p>
                      <a:pPr indent="0">
                        <a:buNone/>
                      </a:pPr>
                      <a:r>
                        <a:rPr lang="en-US" sz="1200" b="0">
                          <a:solidFill>
                            <a:srgbClr val="333333"/>
                          </a:solidFill>
                          <a:latin typeface="Open Sans" panose="020B0606030504020204" charset="-122"/>
                        </a:rPr>
                        <a:t>int lastIndexOf(int ch, int fromIndex)</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sz="1200" b="0">
                          <a:solidFill>
                            <a:srgbClr val="333333"/>
                          </a:solidFill>
                          <a:latin typeface="Arial" panose="020B0604020202020204" pitchFamily="34" charset="0"/>
                          <a:ea typeface="Open Sans" panose="020B0606030504020204" charset="-122"/>
                        </a:rPr>
                        <a:t>返回指定字符最后一次出现在字符串内的索引，以指定的索引开始反向搜索，没找到为</a:t>
                      </a:r>
                      <a:r>
                        <a:rPr lang="en-US" altLang="zh-CN" sz="1200" b="0">
                          <a:solidFill>
                            <a:srgbClr val="333333"/>
                          </a:solidFill>
                          <a:latin typeface="Arial" panose="020B0604020202020204" pitchFamily="34" charset="0"/>
                          <a:ea typeface="Open Sans" panose="020B0606030504020204" charset="-122"/>
                        </a:rPr>
                        <a:t> -1</a:t>
                      </a:r>
                      <a:endParaRPr lang="en-US" altLang="zh-CN"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286385">
                <a:tc>
                  <a:txBody>
                    <a:bodyPr/>
                    <a:p>
                      <a:pPr indent="0">
                        <a:buNone/>
                      </a:pPr>
                      <a:r>
                        <a:rPr lang="en-US" sz="1200" b="0">
                          <a:solidFill>
                            <a:srgbClr val="333333"/>
                          </a:solidFill>
                          <a:latin typeface="Open Sans" panose="020B0606030504020204" charset="-122"/>
                        </a:rPr>
                        <a:t>int lastIndexOf(String str)</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返回指定子字符串最后一次出现在字符串内的索引，</a:t>
                      </a:r>
                      <a:r>
                        <a:rPr lang="zh-CN" altLang="en-US" sz="1200">
                          <a:solidFill>
                            <a:srgbClr val="333333"/>
                          </a:solidFill>
                          <a:latin typeface="Arial" panose="020B0604020202020204" pitchFamily="34" charset="0"/>
                          <a:ea typeface="宋体" panose="02010600030101010101" pitchFamily="2" charset="-122"/>
                          <a:sym typeface="+mn-ea"/>
                        </a:rPr>
                        <a:t>如果没有找到返回</a:t>
                      </a:r>
                      <a:r>
                        <a:rPr lang="en-US" altLang="zh-CN" sz="1200">
                          <a:solidFill>
                            <a:srgbClr val="333333"/>
                          </a:solidFill>
                          <a:latin typeface="Arial" panose="020B0604020202020204" pitchFamily="34" charset="0"/>
                          <a:ea typeface="宋体" panose="02010600030101010101" pitchFamily="2" charset="-122"/>
                          <a:sym typeface="+mn-ea"/>
                        </a:rPr>
                        <a:t> -1</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286385">
                <a:tc>
                  <a:txBody>
                    <a:bodyPr/>
                    <a:p>
                      <a:pPr indent="0">
                        <a:buNone/>
                      </a:pPr>
                      <a:r>
                        <a:rPr lang="en-US" sz="1200" b="0">
                          <a:solidFill>
                            <a:srgbClr val="333333"/>
                          </a:solidFill>
                          <a:latin typeface="Open Sans" panose="020B0606030504020204" charset="-122"/>
                        </a:rPr>
                        <a:t>int lastIndexOf(String str, int fromIndex)</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sz="1200" b="0">
                          <a:solidFill>
                            <a:srgbClr val="333333"/>
                          </a:solidFill>
                          <a:latin typeface="Arial" panose="020B0604020202020204" pitchFamily="34" charset="0"/>
                          <a:ea typeface="Open Sans" panose="020B0606030504020204" charset="-122"/>
                        </a:rPr>
                        <a:t>返回指定子串的最后一次出现在字符串中的索引，从指定的索引</a:t>
                      </a:r>
                      <a:r>
                        <a:rPr lang="zh-CN" sz="1200">
                          <a:solidFill>
                            <a:srgbClr val="333333"/>
                          </a:solidFill>
                          <a:latin typeface="Arial" panose="020B0604020202020204" pitchFamily="34" charset="0"/>
                          <a:ea typeface="Open Sans" panose="020B0606030504020204" charset="-122"/>
                          <a:sym typeface="+mn-ea"/>
                        </a:rPr>
                        <a:t>开始反向搜索，没找到为</a:t>
                      </a:r>
                      <a:r>
                        <a:rPr lang="en-US" altLang="zh-CN" sz="1200">
                          <a:solidFill>
                            <a:srgbClr val="333333"/>
                          </a:solidFill>
                          <a:latin typeface="Arial" panose="020B0604020202020204" pitchFamily="34" charset="0"/>
                          <a:ea typeface="Open Sans" panose="020B0606030504020204" charset="-122"/>
                          <a:sym typeface="+mn-ea"/>
                        </a:rPr>
                        <a:t> -1</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286385">
                <a:tc>
                  <a:txBody>
                    <a:bodyPr/>
                    <a:p>
                      <a:pPr indent="0">
                        <a:buNone/>
                      </a:pPr>
                      <a:r>
                        <a:rPr lang="en-US" sz="1200" b="0">
                          <a:solidFill>
                            <a:srgbClr val="333333"/>
                          </a:solidFill>
                          <a:latin typeface="Open Sans" panose="020B0606030504020204" charset="-122"/>
                        </a:rPr>
                        <a:t>startsWith(String prefix)</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200" b="0">
                          <a:solidFill>
                            <a:srgbClr val="333333"/>
                          </a:solidFill>
                          <a:latin typeface="Arial" panose="020B0604020202020204" pitchFamily="34" charset="0"/>
                          <a:ea typeface="Open Sans" panose="020B0606030504020204" charset="-122"/>
                        </a:rPr>
                        <a:t>判断字符串是否以指定字符串开头，返回值为boolean类型。</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86385">
                <a:tc>
                  <a:txBody>
                    <a:bodyPr/>
                    <a:p>
                      <a:pPr indent="0">
                        <a:buNone/>
                      </a:pPr>
                      <a:r>
                        <a:rPr lang="en-US" sz="1200" b="0">
                          <a:solidFill>
                            <a:srgbClr val="333333"/>
                          </a:solidFill>
                          <a:latin typeface="Open Sans" panose="020B0606030504020204" charset="-122"/>
                        </a:rPr>
                        <a:t>endsWith(String prefix)</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200" b="0">
                          <a:solidFill>
                            <a:srgbClr val="333333"/>
                          </a:solidFill>
                          <a:latin typeface="Arial" panose="020B0604020202020204" pitchFamily="34" charset="0"/>
                          <a:ea typeface="Open Sans" panose="020B0606030504020204" charset="-122"/>
                        </a:rPr>
                        <a:t>判断字符串是否以指定字符串结尾，返回值为boolean类型。</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86385">
                <a:tc>
                  <a:txBody>
                    <a:bodyPr/>
                    <a:p>
                      <a:pPr indent="0">
                        <a:buNone/>
                      </a:pPr>
                      <a:r>
                        <a:rPr lang="en-US" sz="1200" b="0">
                          <a:solidFill>
                            <a:srgbClr val="333333"/>
                          </a:solidFill>
                          <a:latin typeface="Open Sans" panose="020B0606030504020204" charset="-122"/>
                        </a:rPr>
                        <a:t>contains(CharSequence s)</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200" b="0">
                          <a:solidFill>
                            <a:srgbClr val="333333"/>
                          </a:solidFill>
                          <a:latin typeface="Arial" panose="020B0604020202020204" pitchFamily="34" charset="0"/>
                          <a:ea typeface="Open Sans" panose="020B0606030504020204" charset="-122"/>
                        </a:rPr>
                        <a:t>判断字符串中是否包含指定字符串，返回值为boolean类型</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86385">
                <a:tc>
                  <a:txBody>
                    <a:bodyPr/>
                    <a:p>
                      <a:pPr indent="0">
                        <a:buNone/>
                      </a:pPr>
                      <a:r>
                        <a:rPr lang="en-US" sz="1200" b="0">
                          <a:solidFill>
                            <a:srgbClr val="333333"/>
                          </a:solidFill>
                          <a:latin typeface="Open Sans" panose="020B0606030504020204" charset="-122"/>
                        </a:rPr>
                        <a:t>char[] toCharArray()</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sz="1200" b="0">
                          <a:solidFill>
                            <a:srgbClr val="333333"/>
                          </a:solidFill>
                          <a:latin typeface="Arial" panose="020B0604020202020204" pitchFamily="34" charset="0"/>
                          <a:ea typeface="Open Sans" panose="020B0606030504020204" charset="-122"/>
                        </a:rPr>
                        <a:t>将此字符串转换为新的字符数组</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286385">
                <a:tc>
                  <a:txBody>
                    <a:bodyPr/>
                    <a:p>
                      <a:pPr indent="0">
                        <a:buNone/>
                      </a:pPr>
                      <a:r>
                        <a:rPr lang="en-US" sz="1200" b="0">
                          <a:solidFill>
                            <a:srgbClr val="333333"/>
                          </a:solidFill>
                          <a:latin typeface="Open Sans" panose="020B0606030504020204" charset="-122"/>
                        </a:rPr>
                        <a:t>byte[] getBytes()</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得到一个操作系统默认的编码格式的字节数组</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286385">
                <a:tc>
                  <a:txBody>
                    <a:bodyPr/>
                    <a:p>
                      <a:pPr indent="0">
                        <a:buNone/>
                      </a:pPr>
                      <a:r>
                        <a:rPr lang="en-US" sz="1200" b="0">
                          <a:solidFill>
                            <a:srgbClr val="333333"/>
                          </a:solidFill>
                          <a:latin typeface="Open Sans" panose="020B0606030504020204" charset="-122"/>
                        </a:rPr>
                        <a:t>String toUpperCase()</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返回一个新的字符串，该字符串中所有英文字符转换为大写字母</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286385">
                <a:tc>
                  <a:txBody>
                    <a:bodyPr/>
                    <a:p>
                      <a:pPr indent="0">
                        <a:buNone/>
                      </a:pPr>
                      <a:r>
                        <a:rPr lang="en-US" sz="1200" b="0">
                          <a:solidFill>
                            <a:srgbClr val="333333"/>
                          </a:solidFill>
                          <a:latin typeface="Open Sans" panose="020B0606030504020204" charset="-122"/>
                        </a:rPr>
                        <a:t>String toLowerCase()</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sz="1200" b="0">
                          <a:solidFill>
                            <a:srgbClr val="333333"/>
                          </a:solidFill>
                          <a:latin typeface="Arial" panose="020B0604020202020204" pitchFamily="34" charset="0"/>
                          <a:ea typeface="Open Sans" panose="020B0606030504020204" charset="-122"/>
                        </a:rPr>
                        <a:t>返回一个新的字符串，该字符串中所有英文字符转换为小写字母</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marL="0" lvl="1" eaLnBrk="1" hangingPunct="1"/>
            <a:r>
              <a:rPr lang="zh-CN" sz="2400" dirty="0">
                <a:ea typeface="宋体" panose="02010600030101010101" pitchFamily="2" charset="-122"/>
                <a:sym typeface="+mn-ea"/>
              </a:rPr>
              <a:t>字符串常用的其他方法</a:t>
            </a:r>
            <a:endParaRPr lang="zh-CN" sz="2400" dirty="0">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R="0" indent="0" algn="ctr" defTabSz="914400" fontAlgn="auto">
              <a:lnSpc>
                <a:spcPct val="100000"/>
              </a:lnSpc>
              <a:spcBef>
                <a:spcPts val="0"/>
              </a:spcBef>
              <a:spcAft>
                <a:spcPts val="0"/>
              </a:spcAft>
              <a:buClrTx/>
              <a:buSzTx/>
              <a:buFontTx/>
              <a:buNone/>
              <a:defRPr/>
            </a:pPr>
            <a:r>
              <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graphicFrame>
        <p:nvGraphicFramePr>
          <p:cNvPr id="3" name="表格 2"/>
          <p:cNvGraphicFramePr/>
          <p:nvPr>
            <p:custDataLst>
              <p:tags r:id="rId5"/>
            </p:custDataLst>
          </p:nvPr>
        </p:nvGraphicFramePr>
        <p:xfrm>
          <a:off x="1224280" y="1269365"/>
          <a:ext cx="9857740" cy="4291965"/>
        </p:xfrm>
        <a:graphic>
          <a:graphicData uri="http://schemas.openxmlformats.org/drawingml/2006/table">
            <a:tbl>
              <a:tblPr/>
              <a:tblGrid>
                <a:gridCol w="3813810"/>
                <a:gridCol w="6043930"/>
              </a:tblGrid>
              <a:tr h="358775">
                <a:tc>
                  <a:txBody>
                    <a:bodyPr/>
                    <a:p>
                      <a:pPr indent="0">
                        <a:buNone/>
                      </a:pPr>
                      <a:r>
                        <a:rPr lang="en-US" sz="1200" b="0">
                          <a:solidFill>
                            <a:srgbClr val="333333"/>
                          </a:solidFill>
                          <a:latin typeface="Open Sans" panose="020B0606030504020204" charset="-122"/>
                        </a:rPr>
                        <a:t>String substring(int beginIndex)</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从beginIndex开始截取字符串，到字符串末尾结束</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358140">
                <a:tc>
                  <a:txBody>
                    <a:bodyPr/>
                    <a:p>
                      <a:pPr indent="0">
                        <a:buNone/>
                      </a:pPr>
                      <a:r>
                        <a:rPr lang="en-US" sz="1200" b="0">
                          <a:solidFill>
                            <a:srgbClr val="333333"/>
                          </a:solidFill>
                          <a:latin typeface="Open Sans" panose="020B0606030504020204" charset="-122"/>
                        </a:rPr>
                        <a:t>String substring(int beginIndex, int endIndex)</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sz="1200" b="0">
                          <a:solidFill>
                            <a:srgbClr val="333333"/>
                          </a:solidFill>
                          <a:latin typeface="Arial" panose="020B0604020202020204" pitchFamily="34" charset="0"/>
                          <a:ea typeface="Open Sans" panose="020B0606030504020204" charset="-122"/>
                        </a:rPr>
                        <a:t>从beginIndex开始截取字符串，到字符索引endIndex-1结束</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594360">
                <a:tc>
                  <a:txBody>
                    <a:bodyPr/>
                    <a:p>
                      <a:pPr indent="0">
                        <a:buNone/>
                      </a:pPr>
                      <a:r>
                        <a:rPr lang="en-US" sz="1200" b="0">
                          <a:solidFill>
                            <a:srgbClr val="333333"/>
                          </a:solidFill>
                          <a:latin typeface="Open Sans" panose="020B0606030504020204" charset="-122"/>
                        </a:rPr>
                        <a:t>String replace(char oldChar, char newChar)</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通过用newChar字符替换字符串中出现的所有oldChar字符，并返回替换后的新字符串</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594360">
                <a:tc>
                  <a:txBody>
                    <a:bodyPr/>
                    <a:p>
                      <a:pPr indent="0">
                        <a:buNone/>
                      </a:pPr>
                      <a:r>
                        <a:rPr lang="en-US" sz="1200" b="0">
                          <a:solidFill>
                            <a:srgbClr val="333333"/>
                          </a:solidFill>
                          <a:latin typeface="Open Sans" panose="020B0606030504020204" charset="-122"/>
                        </a:rPr>
                        <a:t>String replace(CharSequence target, CharSequence replacement)</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altLang="en-US" sz="1200">
                          <a:solidFill>
                            <a:srgbClr val="333333"/>
                          </a:solidFill>
                          <a:latin typeface="Open Sans" panose="020B0606030504020204" charset="-122"/>
                          <a:sym typeface="+mn-ea"/>
                        </a:rPr>
                        <a:t>将需要替换的字符串（</a:t>
                      </a:r>
                      <a:r>
                        <a:rPr lang="en-US" sz="1200">
                          <a:solidFill>
                            <a:srgbClr val="333333"/>
                          </a:solidFill>
                          <a:latin typeface="Open Sans" panose="020B0606030504020204" charset="-122"/>
                          <a:sym typeface="+mn-ea"/>
                        </a:rPr>
                        <a:t>target</a:t>
                      </a:r>
                      <a:r>
                        <a:rPr lang="zh-CN" altLang="en-US" sz="1200">
                          <a:solidFill>
                            <a:srgbClr val="333333"/>
                          </a:solidFill>
                          <a:latin typeface="Open Sans" panose="020B0606030504020204" charset="-122"/>
                          <a:sym typeface="+mn-ea"/>
                        </a:rPr>
                        <a:t>）替换为指定字符串（</a:t>
                      </a:r>
                      <a:r>
                        <a:rPr lang="en-US" sz="1200">
                          <a:solidFill>
                            <a:srgbClr val="333333"/>
                          </a:solidFill>
                          <a:latin typeface="Open Sans" panose="020B0606030504020204" charset="-122"/>
                          <a:sym typeface="+mn-ea"/>
                        </a:rPr>
                        <a:t>replacement</a:t>
                      </a:r>
                      <a:r>
                        <a:rPr lang="zh-CN" altLang="en-US" sz="1200">
                          <a:solidFill>
                            <a:srgbClr val="333333"/>
                          </a:solidFill>
                          <a:latin typeface="Open Sans" panose="020B0606030504020204" charset="-122"/>
                          <a:sym typeface="+mn-ea"/>
                        </a:rPr>
                        <a:t>）</a:t>
                      </a:r>
                      <a:endParaRPr lang="zh-CN" altLang="en-US" sz="1200" b="0">
                        <a:solidFill>
                          <a:srgbClr val="333333"/>
                        </a:solidFill>
                        <a:latin typeface="Open Sans" panose="020B0606030504020204" charset="-122"/>
                        <a:ea typeface="Open Sans" panose="020B0606030504020204" charset="-122"/>
                        <a:sym typeface="+mn-ea"/>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594360">
                <a:tc>
                  <a:txBody>
                    <a:bodyPr/>
                    <a:p>
                      <a:pPr indent="0">
                        <a:buNone/>
                      </a:pPr>
                      <a:r>
                        <a:rPr lang="en-US" sz="1200" b="0">
                          <a:solidFill>
                            <a:srgbClr val="333333"/>
                          </a:solidFill>
                          <a:latin typeface="Open Sans" panose="020B0606030504020204" charset="-122"/>
                        </a:rPr>
                        <a:t>String concat(String str)</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200" b="0">
                          <a:solidFill>
                            <a:srgbClr val="333333"/>
                          </a:solidFill>
                          <a:latin typeface="Arial" panose="020B0604020202020204" pitchFamily="34" charset="0"/>
                          <a:ea typeface="Open Sans" panose="020B0606030504020204" charset="-122"/>
                        </a:rPr>
                        <a:t>，将指定的字符串连接到该字符串的末尾，该方法实现的功能和“+”连接符比较相似。</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58775">
                <a:tc>
                  <a:txBody>
                    <a:bodyPr/>
                    <a:p>
                      <a:pPr indent="0">
                        <a:buNone/>
                      </a:pPr>
                      <a:r>
                        <a:rPr lang="en-US" sz="1200" b="0">
                          <a:solidFill>
                            <a:srgbClr val="333333"/>
                          </a:solidFill>
                          <a:latin typeface="Open Sans" panose="020B0606030504020204" charset="-122"/>
                        </a:rPr>
                        <a:t>boolean isEmpty()</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200" b="0">
                          <a:solidFill>
                            <a:srgbClr val="333333"/>
                          </a:solidFill>
                          <a:latin typeface="Arial" panose="020B0604020202020204" pitchFamily="34" charset="0"/>
                          <a:ea typeface="Open Sans" panose="020B0606030504020204" charset="-122"/>
                        </a:rPr>
                        <a:t>判断字符串内容是否为空。当字符串长度为0，则返回true，否则返回false。</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58140">
                <a:tc>
                  <a:txBody>
                    <a:bodyPr/>
                    <a:p>
                      <a:pPr indent="0">
                        <a:buNone/>
                      </a:pPr>
                      <a:r>
                        <a:rPr lang="en-US" sz="1200" b="0">
                          <a:solidFill>
                            <a:srgbClr val="333333"/>
                          </a:solidFill>
                          <a:latin typeface="Open Sans" panose="020B0606030504020204" charset="-122"/>
                        </a:rPr>
                        <a:t>boolean equals(Object anObject)</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判断字符串内容是否相同</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358775">
                <a:tc>
                  <a:txBody>
                    <a:bodyPr/>
                    <a:p>
                      <a:pPr indent="0">
                        <a:buNone/>
                      </a:pPr>
                      <a:r>
                        <a:rPr lang="en-US" sz="1200" b="0">
                          <a:solidFill>
                            <a:srgbClr val="333333"/>
                          </a:solidFill>
                          <a:latin typeface="Open Sans" panose="020B0606030504020204" charset="-122"/>
                        </a:rPr>
                        <a:t>boolean equalsIgnoreCase(String str)</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sz="1200" b="0">
                          <a:solidFill>
                            <a:srgbClr val="333333"/>
                          </a:solidFill>
                          <a:latin typeface="Arial" panose="020B0604020202020204" pitchFamily="34" charset="0"/>
                          <a:ea typeface="Open Sans" panose="020B0606030504020204" charset="-122"/>
                        </a:rPr>
                        <a:t>判断字符串内容是否相同，忽略字母大小写</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358140">
                <a:tc>
                  <a:txBody>
                    <a:bodyPr/>
                    <a:p>
                      <a:pPr indent="0">
                        <a:buNone/>
                      </a:pPr>
                      <a:r>
                        <a:rPr lang="en-US" sz="1200" b="0">
                          <a:solidFill>
                            <a:srgbClr val="333333"/>
                          </a:solidFill>
                          <a:latin typeface="Open Sans" panose="020B0606030504020204" charset="-122"/>
                        </a:rPr>
                        <a:t>valueOf(Object obj) </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宋体" panose="02010600030101010101" pitchFamily="2" charset="-122"/>
                        </a:rPr>
                        <a:t>方法是一个静态方法，可以把基本数据类型转化为字符串类型</a:t>
                      </a:r>
                      <a:endParaRPr lang="zh-CN" altLang="en-US" sz="1200" b="0">
                        <a:solidFill>
                          <a:srgbClr val="000000"/>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marL="0" lvl="1" eaLnBrk="1" hangingPunct="1"/>
            <a:r>
              <a:rPr lang="zh-CN" sz="2400" dirty="0">
                <a:ea typeface="宋体" panose="02010600030101010101" pitchFamily="2" charset="-122"/>
                <a:sym typeface="+mn-ea"/>
              </a:rPr>
              <a:t>字符串常用的其他方法</a:t>
            </a:r>
            <a:endParaRPr lang="zh-CN" sz="2400" dirty="0">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R="0" indent="0" algn="ctr" defTabSz="914400" fontAlgn="auto">
              <a:lnSpc>
                <a:spcPct val="100000"/>
              </a:lnSpc>
              <a:spcBef>
                <a:spcPts val="0"/>
              </a:spcBef>
              <a:spcAft>
                <a:spcPts val="0"/>
              </a:spcAft>
              <a:buClrTx/>
              <a:buSzTx/>
              <a:buFontTx/>
              <a:buNone/>
              <a:defRPr/>
            </a:pPr>
            <a:r>
              <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graphicFrame>
        <p:nvGraphicFramePr>
          <p:cNvPr id="15" name="表格 14"/>
          <p:cNvGraphicFramePr/>
          <p:nvPr>
            <p:custDataLst>
              <p:tags r:id="rId5"/>
            </p:custDataLst>
          </p:nvPr>
        </p:nvGraphicFramePr>
        <p:xfrm>
          <a:off x="1224280" y="1269365"/>
          <a:ext cx="9857740" cy="4291965"/>
        </p:xfrm>
        <a:graphic>
          <a:graphicData uri="http://schemas.openxmlformats.org/drawingml/2006/table">
            <a:tbl>
              <a:tblPr/>
              <a:tblGrid>
                <a:gridCol w="3813810"/>
                <a:gridCol w="6043930"/>
              </a:tblGrid>
              <a:tr h="358775">
                <a:tc>
                  <a:txBody>
                    <a:bodyPr/>
                    <a:p>
                      <a:pPr indent="0">
                        <a:buNone/>
                      </a:pPr>
                      <a:r>
                        <a:rPr lang="en-US" sz="1200" b="0">
                          <a:solidFill>
                            <a:srgbClr val="333333"/>
                          </a:solidFill>
                          <a:latin typeface="Open Sans" panose="020B0606030504020204" charset="-122"/>
                        </a:rPr>
                        <a:t>String trim()</a:t>
                      </a:r>
                      <a:endParaRPr 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去除首</a:t>
                      </a:r>
                      <a:r>
                        <a:rPr lang="en-US" altLang="zh-CN" sz="1200" b="0">
                          <a:solidFill>
                            <a:srgbClr val="333333"/>
                          </a:solidFill>
                          <a:latin typeface="Arial" panose="020B0604020202020204" pitchFamily="34" charset="0"/>
                          <a:ea typeface="Open Sans" panose="020B0606030504020204" charset="-122"/>
                        </a:rPr>
                        <a:t>,</a:t>
                      </a:r>
                      <a:r>
                        <a:rPr lang="zh-CN" altLang="en-US" sz="1200" b="0">
                          <a:solidFill>
                            <a:srgbClr val="333333"/>
                          </a:solidFill>
                          <a:latin typeface="Arial" panose="020B0604020202020204" pitchFamily="34" charset="0"/>
                          <a:ea typeface="宋体" panose="02010600030101010101" pitchFamily="2" charset="-122"/>
                        </a:rPr>
                        <a:t>尾空格</a:t>
                      </a:r>
                      <a:endParaRPr lang="zh-CN" altLang="en-US" sz="1200" b="0">
                        <a:solidFill>
                          <a:srgbClr val="333333"/>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358140">
                <a:tc>
                  <a:txBody>
                    <a:bodyPr/>
                    <a:p>
                      <a:pPr indent="0">
                        <a:buNone/>
                      </a:pPr>
                      <a:r>
                        <a:rPr lang="en-US" sz="1200" b="0">
                          <a:solidFill>
                            <a:srgbClr val="333333"/>
                          </a:solidFill>
                          <a:latin typeface="Open Sans" panose="020B0606030504020204" charset="-122"/>
                        </a:rPr>
                        <a:t>String strip()</a:t>
                      </a:r>
                      <a:endParaRPr 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sz="1200">
                          <a:solidFill>
                            <a:srgbClr val="333333"/>
                          </a:solidFill>
                          <a:latin typeface="Arial" panose="020B0604020202020204" pitchFamily="34" charset="0"/>
                          <a:ea typeface="Open Sans" panose="020B0606030504020204" charset="-122"/>
                          <a:sym typeface="+mn-ea"/>
                        </a:rPr>
                        <a:t>去除首</a:t>
                      </a:r>
                      <a:r>
                        <a:rPr lang="en-US" altLang="zh-CN" sz="1200">
                          <a:solidFill>
                            <a:srgbClr val="333333"/>
                          </a:solidFill>
                          <a:latin typeface="Arial" panose="020B0604020202020204" pitchFamily="34" charset="0"/>
                          <a:ea typeface="Open Sans" panose="020B0606030504020204" charset="-122"/>
                          <a:sym typeface="+mn-ea"/>
                        </a:rPr>
                        <a:t>,</a:t>
                      </a:r>
                      <a:r>
                        <a:rPr lang="zh-CN" altLang="en-US" sz="1200">
                          <a:solidFill>
                            <a:srgbClr val="333333"/>
                          </a:solidFill>
                          <a:latin typeface="Arial" panose="020B0604020202020204" pitchFamily="34" charset="0"/>
                          <a:ea typeface="宋体" panose="02010600030101010101" pitchFamily="2" charset="-122"/>
                          <a:sym typeface="+mn-ea"/>
                        </a:rPr>
                        <a:t>尾空格，Java 11中引入了strip()方法作为trim()的替代品</a:t>
                      </a:r>
                      <a:endParaRPr lang="zh-CN" altLang="en-US" sz="1200">
                        <a:solidFill>
                          <a:srgbClr val="333333"/>
                        </a:solidFill>
                        <a:latin typeface="Arial" panose="020B0604020202020204" pitchFamily="34" charset="0"/>
                        <a:ea typeface="宋体" panose="02010600030101010101" pitchFamily="2" charset="-122"/>
                        <a:sym typeface="+mn-ea"/>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594360">
                <a:tc>
                  <a:txBody>
                    <a:bodyPr/>
                    <a:p>
                      <a:pPr indent="0">
                        <a:buNone/>
                      </a:pPr>
                      <a:r>
                        <a:rPr lang="en-US" altLang="en-US" sz="1200" b="0">
                          <a:solidFill>
                            <a:srgbClr val="333333"/>
                          </a:solidFill>
                          <a:latin typeface="Open Sans" panose="020B0606030504020204" charset="-122"/>
                        </a:rPr>
                        <a:t>String stripLeading()</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a:solidFill>
                            <a:srgbClr val="333333"/>
                          </a:solidFill>
                          <a:latin typeface="Arial" panose="020B0604020202020204" pitchFamily="34" charset="0"/>
                          <a:ea typeface="Open Sans" panose="020B0606030504020204" charset="-122"/>
                          <a:sym typeface="+mn-ea"/>
                        </a:rPr>
                        <a:t>去除首</a:t>
                      </a:r>
                      <a:r>
                        <a:rPr lang="zh-CN" altLang="en-US" sz="1200">
                          <a:solidFill>
                            <a:srgbClr val="333333"/>
                          </a:solidFill>
                          <a:latin typeface="Arial" panose="020B0604020202020204" pitchFamily="34" charset="0"/>
                          <a:ea typeface="宋体" panose="02010600030101010101" pitchFamily="2" charset="-122"/>
                          <a:sym typeface="+mn-ea"/>
                        </a:rPr>
                        <a:t>空格</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594360">
                <a:tc>
                  <a:txBody>
                    <a:bodyPr/>
                    <a:p>
                      <a:pPr indent="0">
                        <a:buNone/>
                      </a:pPr>
                      <a:r>
                        <a:rPr lang="en-US" altLang="en-US" sz="1200" b="0">
                          <a:solidFill>
                            <a:srgbClr val="333333"/>
                          </a:solidFill>
                          <a:latin typeface="Open Sans" panose="020B0606030504020204" charset="-122"/>
                        </a:rPr>
                        <a:t>String stripTrailing()</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sz="1200">
                          <a:solidFill>
                            <a:srgbClr val="333333"/>
                          </a:solidFill>
                          <a:latin typeface="Arial" panose="020B0604020202020204" pitchFamily="34" charset="0"/>
                          <a:ea typeface="Open Sans" panose="020B0606030504020204" charset="-122"/>
                          <a:sym typeface="+mn-ea"/>
                        </a:rPr>
                        <a:t>去除</a:t>
                      </a:r>
                      <a:r>
                        <a:rPr lang="zh-CN" altLang="en-US" sz="1200">
                          <a:solidFill>
                            <a:srgbClr val="333333"/>
                          </a:solidFill>
                          <a:latin typeface="Arial" panose="020B0604020202020204" pitchFamily="34" charset="0"/>
                          <a:ea typeface="宋体" panose="02010600030101010101" pitchFamily="2" charset="-122"/>
                          <a:sym typeface="+mn-ea"/>
                        </a:rPr>
                        <a:t>尾空格</a:t>
                      </a:r>
                      <a:endParaRPr lang="zh-CN" altLang="en-US" sz="1200" b="0">
                        <a:solidFill>
                          <a:srgbClr val="333333"/>
                        </a:solidFill>
                        <a:latin typeface="Open Sans" panose="020B0606030504020204" charset="-122"/>
                        <a:ea typeface="Open Sans" panose="020B0606030504020204" charset="-122"/>
                        <a:sym typeface="+mn-ea"/>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594360">
                <a:tc>
                  <a:txBody>
                    <a:bodyPr/>
                    <a:p>
                      <a:pPr indent="0">
                        <a:buNone/>
                      </a:pPr>
                      <a:r>
                        <a:rPr lang="en-US" altLang="en-US" sz="1200" b="0">
                          <a:solidFill>
                            <a:srgbClr val="333333"/>
                          </a:solidFill>
                          <a:latin typeface="Open Sans" panose="020B0606030504020204" charset="-122"/>
                        </a:rPr>
                        <a:t>replace(" ","")</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1200" b="0">
                          <a:solidFill>
                            <a:srgbClr val="333333"/>
                          </a:solidFill>
                          <a:latin typeface="Arial" panose="020B0604020202020204" pitchFamily="34" charset="0"/>
                          <a:ea typeface="Open Sans" panose="020B0606030504020204" charset="-122"/>
                        </a:rPr>
                        <a:t>去除所有空格</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58775">
                <a:tc>
                  <a:txBody>
                    <a:bodyPr/>
                    <a:p>
                      <a:pPr indent="0">
                        <a:buNone/>
                      </a:pPr>
                      <a:r>
                        <a:rPr lang="en-US" altLang="en-US" sz="1200" b="0">
                          <a:solidFill>
                            <a:srgbClr val="333333"/>
                          </a:solidFill>
                          <a:latin typeface="Open Sans" panose="020B0606030504020204" charset="-122"/>
                        </a:rPr>
                        <a:t>replace(" ","FF")</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1200" b="0">
                          <a:solidFill>
                            <a:srgbClr val="333333"/>
                          </a:solidFill>
                          <a:latin typeface="Arial" panose="020B0604020202020204" pitchFamily="34" charset="0"/>
                          <a:ea typeface="Open Sans" panose="020B0606030504020204" charset="-122"/>
                        </a:rPr>
                        <a:t>把空格替换为</a:t>
                      </a:r>
                      <a:r>
                        <a:rPr lang="en-US" altLang="zh-CN" sz="1200" b="0">
                          <a:solidFill>
                            <a:srgbClr val="333333"/>
                          </a:solidFill>
                          <a:latin typeface="Arial" panose="020B0604020202020204" pitchFamily="34" charset="0"/>
                          <a:ea typeface="Open Sans" panose="020B0606030504020204" charset="-122"/>
                        </a:rPr>
                        <a:t>FF</a:t>
                      </a:r>
                      <a:endParaRPr lang="en-US" altLang="zh-CN"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58140">
                <a:tc>
                  <a:txBody>
                    <a:bodyPr/>
                    <a:p>
                      <a:pPr indent="0">
                        <a:buNone/>
                      </a:pP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358775">
                <a:tc>
                  <a:txBody>
                    <a:bodyPr/>
                    <a:p>
                      <a:pPr indent="0">
                        <a:buNone/>
                      </a:pP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358140">
                <a:tc>
                  <a:txBody>
                    <a:bodyPr/>
                    <a:p>
                      <a:pPr indent="0">
                        <a:buNone/>
                      </a:pP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zh-CN" altLang="en-US" sz="1200" b="0">
                        <a:solidFill>
                          <a:srgbClr val="000000"/>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练习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795520"/>
          </a:xfrm>
        </p:spPr>
        <p:txBody>
          <a:bodyPr>
            <a:normAutofit lnSpcReduction="20000"/>
          </a:bodyPr>
          <a:p>
            <a:pPr marL="457200" indent="-457200" algn="l">
              <a:lnSpc>
                <a:spcPct val="140000"/>
              </a:lnSpc>
              <a:buClr>
                <a:srgbClr val="ED7D31"/>
              </a:buClr>
              <a:buSzTx/>
              <a:buFont typeface="+mj-lt"/>
              <a:buAutoNum type="arabicPeriod"/>
            </a:pPr>
            <a:r>
              <a:rPr lang="zh-CN" altLang="en-US" dirty="0">
                <a:ea typeface="宋体" panose="02010600030101010101" pitchFamily="2" charset="-122"/>
                <a:sym typeface="+mn-ea"/>
              </a:rPr>
              <a:t>在main方法中创建一个字符串对象”      abcdjklnmuxwxyz     ”，打印字符串长度；</a:t>
            </a:r>
            <a:endParaRPr lang="zh-CN" altLang="en-US" dirty="0">
              <a:ea typeface="宋体" panose="02010600030101010101" pitchFamily="2" charset="-122"/>
            </a:endParaRPr>
          </a:p>
          <a:p>
            <a:pPr marL="457200" indent="-457200" algn="l">
              <a:lnSpc>
                <a:spcPct val="140000"/>
              </a:lnSpc>
              <a:buClr>
                <a:srgbClr val="ED7D31"/>
              </a:buClr>
              <a:buSzTx/>
              <a:buFont typeface="+mj-lt"/>
              <a:buAutoNum type="arabicPeriod"/>
            </a:pPr>
            <a:r>
              <a:rPr lang="zh-CN" altLang="en-US" dirty="0">
                <a:ea typeface="宋体" panose="02010600030101010101" pitchFamily="2" charset="-122"/>
                <a:sym typeface="+mn-ea"/>
              </a:rPr>
              <a:t>删除字符串开始和结尾处的空白，以获得新字符串，并打印输出新串的长度；</a:t>
            </a:r>
            <a:endParaRPr lang="zh-CN" altLang="en-US" dirty="0">
              <a:ea typeface="宋体" panose="02010600030101010101" pitchFamily="2" charset="-122"/>
            </a:endParaRPr>
          </a:p>
          <a:p>
            <a:pPr marL="457200" indent="-457200" algn="l">
              <a:lnSpc>
                <a:spcPct val="140000"/>
              </a:lnSpc>
              <a:buClr>
                <a:srgbClr val="ED7D31"/>
              </a:buClr>
              <a:buSzTx/>
              <a:buFont typeface="+mj-lt"/>
              <a:buAutoNum type="arabicPeriod"/>
            </a:pPr>
            <a:r>
              <a:rPr lang="zh-CN" altLang="en-US" dirty="0">
                <a:ea typeface="宋体" panose="02010600030101010101" pitchFamily="2" charset="-122"/>
                <a:sym typeface="+mn-ea"/>
              </a:rPr>
              <a:t>判断新字符串是否以“abc”开头，是否以“xyz”结尾，打印判断结果；</a:t>
            </a:r>
            <a:endParaRPr lang="zh-CN" altLang="en-US" dirty="0">
              <a:ea typeface="宋体" panose="02010600030101010101" pitchFamily="2" charset="-122"/>
            </a:endParaRPr>
          </a:p>
          <a:p>
            <a:pPr marL="457200" indent="-457200" algn="l">
              <a:lnSpc>
                <a:spcPct val="140000"/>
              </a:lnSpc>
              <a:buClr>
                <a:srgbClr val="ED7D31"/>
              </a:buClr>
              <a:buSzTx/>
              <a:buFont typeface="+mj-lt"/>
              <a:buAutoNum type="arabicPeriod"/>
            </a:pPr>
            <a:r>
              <a:rPr lang="zh-CN" altLang="en-US" dirty="0">
                <a:ea typeface="宋体" panose="02010600030101010101" pitchFamily="2" charset="-122"/>
                <a:sym typeface="+mn-ea"/>
              </a:rPr>
              <a:t>去空格后截取第3位至第6位间的子串，将其转换为大写并打印；</a:t>
            </a:r>
            <a:endParaRPr lang="zh-CN" altLang="en-US" dirty="0">
              <a:ea typeface="宋体" panose="02010600030101010101" pitchFamily="2" charset="-122"/>
            </a:endParaRPr>
          </a:p>
          <a:p>
            <a:pPr marL="457200" indent="-457200" algn="l">
              <a:lnSpc>
                <a:spcPct val="140000"/>
              </a:lnSpc>
              <a:buClr>
                <a:srgbClr val="ED7D31"/>
              </a:buClr>
              <a:buSzTx/>
              <a:buFont typeface="+mj-lt"/>
              <a:buAutoNum type="arabicPeriod"/>
            </a:pPr>
            <a:r>
              <a:rPr lang="zh-CN" altLang="en-US" dirty="0">
                <a:ea typeface="宋体" panose="02010600030101010101" pitchFamily="2" charset="-122"/>
                <a:sym typeface="+mn-ea"/>
              </a:rPr>
              <a:t>查找该新串是否包含“lnm”子串，并打印子串在字符串中的位置。</a:t>
            </a:r>
            <a:endParaRPr lang="zh-CN" altLang="en-US"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en-US" altLang="zh-CN" sz="2400" dirty="0" err="1" smtClean="0">
                <a:ea typeface="宋体" panose="02010600030101010101" pitchFamily="2" charset="-122"/>
                <a:sym typeface="+mn-ea"/>
              </a:rPr>
              <a:t>StringBuffer</a:t>
            </a:r>
            <a:r>
              <a:rPr lang="zh-CN" altLang="en-US" sz="2400" dirty="0" smtClean="0">
                <a:ea typeface="宋体" panose="02010600030101010101" pitchFamily="2" charset="-122"/>
                <a:sym typeface="+mn-ea"/>
              </a:rPr>
              <a:t>和</a:t>
            </a:r>
            <a:r>
              <a:rPr lang="en-US" altLang="zh-CN" sz="2400" dirty="0" err="1" smtClean="0">
                <a:ea typeface="宋体" panose="02010600030101010101" pitchFamily="2" charset="-122"/>
                <a:sym typeface="+mn-ea"/>
              </a:rPr>
              <a:t>StringBuilder</a:t>
            </a:r>
            <a:r>
              <a:rPr lang="zh-CN" altLang="en-US" sz="2400" dirty="0" smtClean="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795520"/>
          </a:xfrm>
        </p:spPr>
        <p:txBody>
          <a:bodyPr>
            <a:normAutofit/>
          </a:bodyPr>
          <a:p>
            <a:pPr marL="457200" indent="-457200" algn="l">
              <a:lnSpc>
                <a:spcPct val="140000"/>
              </a:lnSpc>
              <a:buClr>
                <a:srgbClr val="ED7D31"/>
              </a:buClr>
              <a:buSzTx/>
              <a:buFont typeface="+mj-lt"/>
              <a:buAutoNum type="arabicPeriod"/>
            </a:pPr>
            <a:r>
              <a:rPr lang="zh-CN" altLang="en-US" dirty="0">
                <a:ea typeface="宋体" panose="02010600030101010101" pitchFamily="2" charset="-122"/>
                <a:sym typeface="+mn-ea"/>
              </a:rPr>
              <a:t>两个类均位于java.lang包中，提供了一系列用于字符串操作的方法。</a:t>
            </a:r>
            <a:endParaRPr lang="zh-CN" altLang="en-US" dirty="0">
              <a:ea typeface="宋体" panose="02010600030101010101" pitchFamily="2" charset="-122"/>
            </a:endParaRPr>
          </a:p>
          <a:p>
            <a:pPr marL="457200" indent="-457200" algn="l">
              <a:lnSpc>
                <a:spcPct val="140000"/>
              </a:lnSpc>
              <a:buClr>
                <a:srgbClr val="ED7D31"/>
              </a:buClr>
              <a:buSzTx/>
              <a:buFont typeface="+mj-lt"/>
              <a:buAutoNum type="arabicPeriod"/>
            </a:pPr>
            <a:r>
              <a:rPr lang="zh-CN" altLang="en-US" dirty="0">
                <a:ea typeface="宋体" panose="02010600030101010101" pitchFamily="2" charset="-122"/>
                <a:sym typeface="+mn-ea"/>
              </a:rPr>
              <a:t>每个StringBuffer或StringBuilder对象都是一个可以改变的Unicode字符序列。修改字符串对象的操作不会产生新字符串。</a:t>
            </a:r>
            <a:endParaRPr lang="zh-CN" altLang="en-US" dirty="0">
              <a:ea typeface="宋体" panose="02010600030101010101" pitchFamily="2" charset="-122"/>
            </a:endParaRPr>
          </a:p>
          <a:p>
            <a:pPr marL="457200" indent="-457200" algn="l">
              <a:lnSpc>
                <a:spcPct val="140000"/>
              </a:lnSpc>
              <a:buClr>
                <a:srgbClr val="ED7D31"/>
              </a:buClr>
              <a:buSzTx/>
              <a:buFont typeface="+mj-lt"/>
              <a:buAutoNum type="arabicPeriod"/>
            </a:pPr>
            <a:r>
              <a:rPr lang="zh-CN" altLang="en-US" dirty="0">
                <a:ea typeface="宋体" panose="02010600030101010101" pitchFamily="2" charset="-122"/>
                <a:sym typeface="+mn-ea"/>
              </a:rPr>
              <a:t>StringBuffer和StringBuilder功能完全相同，区别在于：</a:t>
            </a:r>
            <a:endParaRPr lang="zh-CN" altLang="en-US" dirty="0">
              <a:ea typeface="宋体" panose="02010600030101010101" pitchFamily="2" charset="-122"/>
              <a:sym typeface="+mn-ea"/>
            </a:endParaRPr>
          </a:p>
          <a:p>
            <a:pPr marL="914400" lvl="1" indent="-457200" algn="l">
              <a:lnSpc>
                <a:spcPct val="140000"/>
              </a:lnSpc>
              <a:buClr>
                <a:srgbClr val="ED7D31"/>
              </a:buClr>
              <a:buSzTx/>
              <a:buFont typeface="+mj-lt"/>
              <a:buAutoNum type="arabicPeriod"/>
            </a:pPr>
            <a:r>
              <a:rPr lang="zh-CN" altLang="en-US" dirty="0">
                <a:ea typeface="宋体" panose="02010600030101010101" pitchFamily="2" charset="-122"/>
                <a:sym typeface="+mn-ea"/>
              </a:rPr>
              <a:t>StringBuffer</a:t>
            </a:r>
            <a:r>
              <a:rPr lang="zh-CN" altLang="en-US" dirty="0">
                <a:ea typeface="宋体" panose="02010600030101010101" pitchFamily="2" charset="-122"/>
                <a:sym typeface="+mn-ea"/>
              </a:rPr>
              <a:t>是“线程安全”的</a:t>
            </a:r>
            <a:r>
              <a:rPr lang="en-US" altLang="zh-CN" dirty="0">
                <a:ea typeface="宋体" panose="02010600030101010101" pitchFamily="2" charset="-122"/>
                <a:sym typeface="+mn-ea"/>
              </a:rPr>
              <a:t>,做线程同步检查,</a:t>
            </a:r>
            <a:r>
              <a:rPr lang="zh-CN" altLang="en-US" dirty="0">
                <a:ea typeface="宋体" panose="02010600030101010101" pitchFamily="2" charset="-122"/>
                <a:sym typeface="+mn-ea"/>
              </a:rPr>
              <a:t>相对效率较低。</a:t>
            </a:r>
            <a:endParaRPr lang="zh-CN" altLang="en-US" dirty="0">
              <a:ea typeface="宋体" panose="02010600030101010101" pitchFamily="2" charset="-122"/>
              <a:sym typeface="+mn-ea"/>
            </a:endParaRPr>
          </a:p>
          <a:p>
            <a:pPr marL="914400" lvl="1" indent="-457200" algn="l">
              <a:lnSpc>
                <a:spcPct val="140000"/>
              </a:lnSpc>
              <a:buClr>
                <a:srgbClr val="ED7D31"/>
              </a:buClr>
              <a:buSzTx/>
              <a:buFont typeface="+mj-lt"/>
              <a:buAutoNum type="arabicPeriod"/>
            </a:pPr>
            <a:r>
              <a:rPr lang="zh-CN" altLang="en-US" dirty="0">
                <a:ea typeface="宋体" panose="02010600030101010101" pitchFamily="2" charset="-122"/>
                <a:sym typeface="+mn-ea"/>
              </a:rPr>
              <a:t>StringBuilder是</a:t>
            </a:r>
            <a:r>
              <a:rPr lang="en-US" altLang="zh-CN" dirty="0">
                <a:ea typeface="宋体" panose="02010600030101010101" pitchFamily="2" charset="-122"/>
                <a:sym typeface="+mn-ea"/>
              </a:rPr>
              <a:t>”</a:t>
            </a:r>
            <a:r>
              <a:rPr lang="zh-CN" altLang="en-US" dirty="0">
                <a:ea typeface="宋体" panose="02010600030101010101" pitchFamily="2" charset="-122"/>
                <a:sym typeface="+mn-ea"/>
              </a:rPr>
              <a:t>非线程安全</a:t>
            </a:r>
            <a:r>
              <a:rPr lang="en-US" altLang="zh-CN" dirty="0">
                <a:ea typeface="宋体" panose="02010600030101010101" pitchFamily="2" charset="-122"/>
                <a:sym typeface="+mn-ea"/>
              </a:rPr>
              <a:t>”</a:t>
            </a:r>
            <a:r>
              <a:rPr lang="zh-CN" altLang="en-US" dirty="0">
                <a:ea typeface="宋体" panose="02010600030101010101" pitchFamily="2" charset="-122"/>
                <a:sym typeface="+mn-ea"/>
              </a:rPr>
              <a:t>的</a:t>
            </a:r>
            <a:r>
              <a:rPr lang="en-US" altLang="zh-CN" dirty="0">
                <a:ea typeface="宋体" panose="02010600030101010101" pitchFamily="2" charset="-122"/>
                <a:sym typeface="+mn-ea"/>
              </a:rPr>
              <a:t> ,</a:t>
            </a:r>
            <a:r>
              <a:rPr lang="zh-CN" altLang="en-US" dirty="0">
                <a:ea typeface="宋体" panose="02010600030101010101" pitchFamily="2" charset="-122"/>
                <a:sym typeface="+mn-ea"/>
              </a:rPr>
              <a:t>不做线程同步检查，因此效率较高（推荐使用）</a:t>
            </a:r>
            <a:r>
              <a:rPr lang="zh-CN" altLang="en-US" dirty="0">
                <a:ea typeface="宋体" panose="02010600030101010101" pitchFamily="2" charset="-122"/>
                <a:sym typeface="+mn-ea"/>
              </a:rPr>
              <a:t>。</a:t>
            </a:r>
            <a:endParaRPr lang="zh-CN" altLang="en-US"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marL="0" lvl="1" eaLnBrk="1" hangingPunct="1"/>
            <a:r>
              <a:rPr lang="zh-CN" sz="2400" dirty="0">
                <a:ea typeface="宋体" panose="02010600030101010101" pitchFamily="2" charset="-122"/>
                <a:sym typeface="+mn-ea"/>
              </a:rPr>
              <a:t>StringBuffer常用方法</a:t>
            </a:r>
            <a:endParaRPr lang="zh-CN" sz="2400" dirty="0">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R="0" indent="0" algn="ctr" defTabSz="914400" fontAlgn="auto">
              <a:lnSpc>
                <a:spcPct val="100000"/>
              </a:lnSpc>
              <a:spcBef>
                <a:spcPts val="0"/>
              </a:spcBef>
              <a:spcAft>
                <a:spcPts val="0"/>
              </a:spcAft>
              <a:buClrTx/>
              <a:buSzTx/>
              <a:buFontTx/>
              <a:buNone/>
              <a:defRPr/>
            </a:pPr>
            <a:r>
              <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graphicFrame>
        <p:nvGraphicFramePr>
          <p:cNvPr id="3" name="表格 2"/>
          <p:cNvGraphicFramePr/>
          <p:nvPr>
            <p:custDataLst>
              <p:tags r:id="rId5"/>
            </p:custDataLst>
          </p:nvPr>
        </p:nvGraphicFramePr>
        <p:xfrm>
          <a:off x="1167130" y="879475"/>
          <a:ext cx="9857740" cy="5867400"/>
        </p:xfrm>
        <a:graphic>
          <a:graphicData uri="http://schemas.openxmlformats.org/drawingml/2006/table">
            <a:tbl>
              <a:tblPr/>
              <a:tblGrid>
                <a:gridCol w="3813810"/>
                <a:gridCol w="6043930"/>
              </a:tblGrid>
              <a:tr h="358775">
                <a:tc>
                  <a:txBody>
                    <a:bodyPr/>
                    <a:p>
                      <a:pPr indent="0">
                        <a:buNone/>
                      </a:pPr>
                      <a:r>
                        <a:rPr lang="en-US" sz="1200" b="0">
                          <a:solidFill>
                            <a:srgbClr val="333333"/>
                          </a:solidFill>
                          <a:latin typeface="Open Sans" panose="020B0606030504020204" charset="-122"/>
                        </a:rPr>
                        <a:t>new StringBuffer()</a:t>
                      </a:r>
                      <a:endParaRPr 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定义一个空的字符串缓冲区，含有16个字符的容量</a:t>
                      </a:r>
                      <a:endParaRPr lang="zh-CN"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358140">
                <a:tc>
                  <a:txBody>
                    <a:bodyPr/>
                    <a:p>
                      <a:pPr indent="0">
                        <a:buNone/>
                      </a:pPr>
                      <a:r>
                        <a:rPr lang="en-US" sz="1200" b="0">
                          <a:solidFill>
                            <a:srgbClr val="333333"/>
                          </a:solidFill>
                          <a:latin typeface="Open Sans" panose="020B0606030504020204" charset="-122"/>
                        </a:rPr>
                        <a:t>new StringBuffer(5);</a:t>
                      </a:r>
                      <a:endParaRPr 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sz="1200" b="0">
                          <a:solidFill>
                            <a:srgbClr val="333333"/>
                          </a:solidFill>
                          <a:latin typeface="Arial" panose="020B0604020202020204" pitchFamily="34" charset="0"/>
                          <a:ea typeface="Open Sans" panose="020B0606030504020204" charset="-122"/>
                        </a:rPr>
                        <a:t>定义一个含有</a:t>
                      </a:r>
                      <a:r>
                        <a:rPr lang="en-US" altLang="zh-CN" sz="1200" b="0">
                          <a:solidFill>
                            <a:srgbClr val="333333"/>
                          </a:solidFill>
                          <a:latin typeface="Arial" panose="020B0604020202020204" pitchFamily="34" charset="0"/>
                          <a:ea typeface="Open Sans" panose="020B0606030504020204" charset="-122"/>
                        </a:rPr>
                        <a:t>5</a:t>
                      </a:r>
                      <a:r>
                        <a:rPr lang="zh-CN" sz="1200" b="0">
                          <a:solidFill>
                            <a:srgbClr val="333333"/>
                          </a:solidFill>
                          <a:latin typeface="Arial" panose="020B0604020202020204" pitchFamily="34" charset="0"/>
                          <a:ea typeface="Open Sans" panose="020B0606030504020204" charset="-122"/>
                        </a:rPr>
                        <a:t>个字符容量的字符串缓冲区</a:t>
                      </a:r>
                      <a:endParaRPr lang="zh-CN"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594360">
                <a:tc>
                  <a:txBody>
                    <a:bodyPr/>
                    <a:p>
                      <a:pPr indent="0">
                        <a:buNone/>
                      </a:pPr>
                      <a:r>
                        <a:rPr lang="en-US" sz="1200" b="0">
                          <a:solidFill>
                            <a:srgbClr val="333333"/>
                          </a:solidFill>
                          <a:latin typeface="Open Sans" panose="020B0606030504020204" charset="-122"/>
                        </a:rPr>
                        <a:t>new StringBuffer("</a:t>
                      </a:r>
                      <a:r>
                        <a:rPr lang="zh-CN" sz="1200">
                          <a:solidFill>
                            <a:srgbClr val="333333"/>
                          </a:solidFill>
                          <a:latin typeface="Arial" panose="020B0604020202020204" pitchFamily="34" charset="0"/>
                          <a:ea typeface="Open Sans" panose="020B0606030504020204" charset="-122"/>
                          <a:sym typeface="+mn-ea"/>
                        </a:rPr>
                        <a:t>天方地圆</a:t>
                      </a:r>
                      <a:r>
                        <a:rPr lang="en-US" sz="1200" b="0">
                          <a:solidFill>
                            <a:srgbClr val="333333"/>
                          </a:solidFill>
                          <a:latin typeface="Open Sans" panose="020B0606030504020204" charset="-122"/>
                        </a:rPr>
                        <a:t>");</a:t>
                      </a:r>
                      <a:endParaRPr 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 定义一个含有(16+4)的字符串缓冲区，"天方地圆"为4个字符</a:t>
                      </a:r>
                      <a:endParaRPr lang="zh-CN"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407035">
                <a:tc>
                  <a:txBody>
                    <a:bodyPr/>
                    <a:p>
                      <a:pPr indent="0">
                        <a:buNone/>
                      </a:pPr>
                      <a:r>
                        <a:rPr lang="en-US" sz="1200" b="0">
                          <a:solidFill>
                            <a:srgbClr val="333333"/>
                          </a:solidFill>
                          <a:latin typeface="Open Sans" panose="020B0606030504020204" charset="-122"/>
                        </a:rPr>
                        <a:t>int capacity()</a:t>
                      </a:r>
                      <a:endParaRPr 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sz="1200">
                          <a:solidFill>
                            <a:srgbClr val="333333"/>
                          </a:solidFill>
                          <a:latin typeface="Open Sans" panose="020B0606030504020204" charset="-122"/>
                          <a:sym typeface="+mn-ea"/>
                        </a:rPr>
                        <a:t>capacity()方法返回字符串的容量大小</a:t>
                      </a:r>
                      <a:endParaRPr sz="1200">
                        <a:solidFill>
                          <a:srgbClr val="333333"/>
                        </a:solidFill>
                        <a:latin typeface="Open Sans" panose="020B0606030504020204" charset="-122"/>
                        <a:sym typeface="+mn-ea"/>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407035">
                <a:tc>
                  <a:txBody>
                    <a:bodyPr/>
                    <a:p>
                      <a:pPr indent="0">
                        <a:buNone/>
                      </a:pPr>
                      <a:r>
                        <a:rPr lang="en-US" altLang="en-US" sz="1200" b="0">
                          <a:solidFill>
                            <a:srgbClr val="333333"/>
                          </a:solidFill>
                          <a:latin typeface="Open Sans" panose="020B0606030504020204" charset="-122"/>
                        </a:rPr>
                        <a:t>void trimToSize()</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altLang="en-US" sz="1200" b="0">
                          <a:solidFill>
                            <a:srgbClr val="000000"/>
                          </a:solidFill>
                          <a:latin typeface="Arial" panose="020B0604020202020204" pitchFamily="34" charset="0"/>
                          <a:ea typeface="宋体" panose="02010600030101010101" pitchFamily="2" charset="-122"/>
                        </a:rPr>
                        <a:t>该方法的作用是将StringBuffer对象的中存储空间缩小到和字符串长度一样的长度，减少空间的浪费。</a:t>
                      </a:r>
                      <a:endParaRPr lang="zh-CN" altLang="en-US" sz="1200" b="0">
                        <a:solidFill>
                          <a:srgbClr val="000000"/>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353695">
                <a:tc>
                  <a:txBody>
                    <a:bodyPr/>
                    <a:p>
                      <a:pPr indent="0">
                        <a:buNone/>
                      </a:pPr>
                      <a:r>
                        <a:rPr lang="en-US" sz="1200" b="0">
                          <a:solidFill>
                            <a:srgbClr val="333333"/>
                          </a:solidFill>
                          <a:latin typeface="Open Sans" panose="020B0606030504020204" charset="-122"/>
                        </a:rPr>
                        <a:t>StringBuffer append(String str)</a:t>
                      </a:r>
                      <a:endParaRPr 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200" b="0">
                          <a:solidFill>
                            <a:srgbClr val="333333"/>
                          </a:solidFill>
                          <a:latin typeface="Arial" panose="020B0604020202020204" pitchFamily="34" charset="0"/>
                          <a:ea typeface="Open Sans" panose="020B0606030504020204" charset="-122"/>
                        </a:rPr>
                        <a:t>向 StringBuffer 对象追加 str 字符串到末尾处</a:t>
                      </a:r>
                      <a:endParaRPr lang="zh-CN"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89255">
                <a:tc>
                  <a:txBody>
                    <a:bodyPr/>
                    <a:p>
                      <a:pPr indent="0">
                        <a:buNone/>
                      </a:pPr>
                      <a:r>
                        <a:rPr lang="en-US" altLang="en-US" sz="1200" b="0">
                          <a:solidFill>
                            <a:srgbClr val="333333"/>
                          </a:solidFill>
                          <a:latin typeface="Open Sans" panose="020B0606030504020204" charset="-122"/>
                        </a:rPr>
                        <a:t>StringBuffer insert(int offset, String str)</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1200" b="0">
                          <a:solidFill>
                            <a:srgbClr val="333333"/>
                          </a:solidFill>
                          <a:latin typeface="Arial" panose="020B0604020202020204" pitchFamily="34" charset="0"/>
                          <a:ea typeface="Open Sans" panose="020B0606030504020204" charset="-122"/>
                        </a:rPr>
                        <a:t>在指定位置把字符串数据插入到字符串缓冲区里面，并返回字符串缓冲区本身</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58775">
                <a:tc>
                  <a:txBody>
                    <a:bodyPr/>
                    <a:p>
                      <a:pPr indent="0">
                        <a:buNone/>
                      </a:pPr>
                      <a:r>
                        <a:rPr lang="en-US" sz="1200" b="0">
                          <a:solidFill>
                            <a:srgbClr val="333333"/>
                          </a:solidFill>
                          <a:latin typeface="Open Sans" panose="020B0606030504020204" charset="-122"/>
                        </a:rPr>
                        <a:t>void setCharAt(int index, char ch)</a:t>
                      </a:r>
                      <a:endParaRPr 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200" b="0">
                          <a:solidFill>
                            <a:srgbClr val="333333"/>
                          </a:solidFill>
                          <a:latin typeface="Arial" panose="020B0604020202020204" pitchFamily="34" charset="0"/>
                          <a:ea typeface="Open Sans" panose="020B0606030504020204" charset="-122"/>
                        </a:rPr>
                        <a:t>方法用于在字符串的指定索引位置替换一个字符</a:t>
                      </a:r>
                      <a:endParaRPr lang="zh-CN"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58775">
                <a:tc>
                  <a:txBody>
                    <a:bodyPr/>
                    <a:p>
                      <a:pPr indent="0">
                        <a:buNone/>
                      </a:pPr>
                      <a:r>
                        <a:rPr lang="en-US" altLang="en-US" sz="1200" b="0">
                          <a:solidFill>
                            <a:srgbClr val="333333"/>
                          </a:solidFill>
                          <a:latin typeface="Open Sans" panose="020B0606030504020204" charset="-122"/>
                        </a:rPr>
                        <a:t>StringBuffer replace(int start, int end, String str)</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1200" b="0">
                          <a:solidFill>
                            <a:srgbClr val="000000"/>
                          </a:solidFill>
                          <a:latin typeface="Arial" panose="020B0604020202020204" pitchFamily="34" charset="0"/>
                          <a:ea typeface="宋体" panose="02010600030101010101" pitchFamily="2" charset="-122"/>
                        </a:rPr>
                        <a:t>把[start,end)区间的字符串替换为str</a:t>
                      </a:r>
                      <a:endParaRPr lang="zh-CN" altLang="en-US" sz="1200" b="0">
                        <a:solidFill>
                          <a:srgbClr val="000000"/>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58140">
                <a:tc>
                  <a:txBody>
                    <a:bodyPr/>
                    <a:p>
                      <a:pPr indent="0">
                        <a:buNone/>
                      </a:pPr>
                      <a:r>
                        <a:rPr lang="en-US" sz="1200" b="0">
                          <a:solidFill>
                            <a:srgbClr val="333333"/>
                          </a:solidFill>
                          <a:latin typeface="Open Sans" panose="020B0606030504020204" charset="-122"/>
                        </a:rPr>
                        <a:t>StringBuffer reverse()</a:t>
                      </a:r>
                      <a:endParaRPr 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对字符串进行反转</a:t>
                      </a:r>
                      <a:endParaRPr lang="zh-CN"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358775">
                <a:tc>
                  <a:txBody>
                    <a:bodyPr/>
                    <a:p>
                      <a:pPr indent="0">
                        <a:buNone/>
                      </a:pPr>
                      <a:r>
                        <a:rPr lang="en-US" sz="1200" b="0">
                          <a:solidFill>
                            <a:srgbClr val="333333"/>
                          </a:solidFill>
                          <a:latin typeface="Open Sans" panose="020B0606030504020204" charset="-122"/>
                        </a:rPr>
                        <a:t>StringBuffer deleteCharAt(int index)</a:t>
                      </a:r>
                      <a:endParaRPr 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sz="1200" b="0">
                          <a:solidFill>
                            <a:srgbClr val="333333"/>
                          </a:solidFill>
                          <a:latin typeface="Arial" panose="020B0604020202020204" pitchFamily="34" charset="0"/>
                          <a:ea typeface="Open Sans" panose="020B0606030504020204" charset="-122"/>
                        </a:rPr>
                        <a:t>移除序列中指定位置的字符</a:t>
                      </a:r>
                      <a:endParaRPr lang="zh-CN"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358140">
                <a:tc>
                  <a:txBody>
                    <a:bodyPr/>
                    <a:p>
                      <a:pPr indent="0">
                        <a:buNone/>
                      </a:pPr>
                      <a:r>
                        <a:rPr lang="en-US" sz="1200" b="0">
                          <a:solidFill>
                            <a:srgbClr val="333333"/>
                          </a:solidFill>
                          <a:latin typeface="Open Sans" panose="020B0606030504020204" charset="-122"/>
                        </a:rPr>
                        <a:t>StringBuffer delete(int start, int end)</a:t>
                      </a:r>
                      <a:endParaRPr 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宋体" panose="02010600030101010101" pitchFamily="2" charset="-122"/>
                        </a:rPr>
                        <a:t>start 表示要删除字符的起始索引值（包括索引值所对应的字符），end 表示要删除字符串的结束索引值（不包括索引值所对应的字符）</a:t>
                      </a:r>
                      <a:endParaRPr lang="zh-CN" sz="1200" b="0">
                        <a:solidFill>
                          <a:srgbClr val="000000"/>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58140">
                <a:tc>
                  <a:txBody>
                    <a:bodyPr/>
                    <a:p>
                      <a:pPr indent="0">
                        <a:buNone/>
                      </a:pPr>
                      <a:r>
                        <a:rPr lang="en-US" altLang="en-US" sz="1200" b="0">
                          <a:solidFill>
                            <a:srgbClr val="333333"/>
                          </a:solidFill>
                          <a:latin typeface="Open Sans" panose="020B0606030504020204" charset="-122"/>
                        </a:rPr>
                        <a:t>String substring(int start) </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1200" b="0">
                          <a:solidFill>
                            <a:srgbClr val="000000"/>
                          </a:solidFill>
                          <a:latin typeface="Arial" panose="020B0604020202020204" pitchFamily="34" charset="0"/>
                          <a:ea typeface="宋体" panose="02010600030101010101" pitchFamily="2" charset="-122"/>
                        </a:rPr>
                        <a:t>截取字符串从第[start 位开始到最后</a:t>
                      </a:r>
                      <a:endParaRPr lang="zh-CN" altLang="en-US" sz="1200" b="0">
                        <a:solidFill>
                          <a:srgbClr val="000000"/>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58140">
                <a:tc>
                  <a:txBody>
                    <a:bodyPr/>
                    <a:p>
                      <a:pPr indent="0">
                        <a:buNone/>
                      </a:pPr>
                      <a:r>
                        <a:rPr lang="en-US" altLang="en-US" sz="1200" b="0">
                          <a:solidFill>
                            <a:srgbClr val="333333"/>
                          </a:solidFill>
                          <a:latin typeface="Open Sans" panose="020B0606030504020204" charset="-122"/>
                        </a:rPr>
                        <a:t>String substring(int start, int end)</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1200" b="0">
                          <a:solidFill>
                            <a:srgbClr val="000000"/>
                          </a:solidFill>
                          <a:latin typeface="Arial" panose="020B0604020202020204" pitchFamily="34" charset="0"/>
                          <a:ea typeface="宋体" panose="02010600030101010101" pitchFamily="2" charset="-122"/>
                        </a:rPr>
                        <a:t>截取字符串从第[start,end)结束</a:t>
                      </a:r>
                      <a:endParaRPr lang="zh-CN" altLang="en-US" sz="1200" b="0">
                        <a:solidFill>
                          <a:srgbClr val="000000"/>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marL="0" lvl="1" eaLnBrk="1" hangingPunct="1"/>
            <a:r>
              <a:rPr lang="zh-CN" altLang="en-US" sz="2400" dirty="0">
                <a:ea typeface="宋体" panose="02010600030101010101" pitchFamily="2" charset="-122"/>
                <a:sym typeface="+mn-ea"/>
              </a:rPr>
              <a:t>StringBuilder</a:t>
            </a:r>
            <a:r>
              <a:rPr lang="zh-CN" sz="2400" dirty="0">
                <a:ea typeface="宋体" panose="02010600030101010101" pitchFamily="2" charset="-122"/>
                <a:sym typeface="+mn-ea"/>
              </a:rPr>
              <a:t>常用方法与</a:t>
            </a:r>
            <a:r>
              <a:rPr lang="en-US" sz="2400">
                <a:solidFill>
                  <a:srgbClr val="333333"/>
                </a:solidFill>
                <a:latin typeface="Open Sans" panose="020B0606030504020204" charset="-122"/>
                <a:sym typeface="+mn-ea"/>
              </a:rPr>
              <a:t>StringBuffer</a:t>
            </a:r>
            <a:r>
              <a:rPr lang="zh-CN" altLang="en-US" sz="2400">
                <a:solidFill>
                  <a:srgbClr val="333333"/>
                </a:solidFill>
                <a:latin typeface="Open Sans" panose="020B0606030504020204" charset="-122"/>
                <a:sym typeface="+mn-ea"/>
              </a:rPr>
              <a:t>一样</a:t>
            </a:r>
            <a:endParaRPr lang="zh-CN" altLang="en-US" sz="2400" dirty="0">
              <a:solidFill>
                <a:srgbClr val="333333"/>
              </a:solidFill>
              <a:latin typeface="Open Sans" panose="020B060603050402020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R="0" indent="0" algn="ctr" defTabSz="914400" fontAlgn="auto">
              <a:lnSpc>
                <a:spcPct val="100000"/>
              </a:lnSpc>
              <a:spcBef>
                <a:spcPts val="0"/>
              </a:spcBef>
              <a:spcAft>
                <a:spcPts val="0"/>
              </a:spcAft>
              <a:buClrTx/>
              <a:buSzTx/>
              <a:buFontTx/>
              <a:buNone/>
              <a:defRPr/>
            </a:pPr>
            <a:r>
              <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graphicFrame>
        <p:nvGraphicFramePr>
          <p:cNvPr id="3" name="表格 2"/>
          <p:cNvGraphicFramePr/>
          <p:nvPr>
            <p:custDataLst>
              <p:tags r:id="rId5"/>
            </p:custDataLst>
          </p:nvPr>
        </p:nvGraphicFramePr>
        <p:xfrm>
          <a:off x="1167130" y="879475"/>
          <a:ext cx="9857740" cy="5867400"/>
        </p:xfrm>
        <a:graphic>
          <a:graphicData uri="http://schemas.openxmlformats.org/drawingml/2006/table">
            <a:tbl>
              <a:tblPr/>
              <a:tblGrid>
                <a:gridCol w="3813810"/>
                <a:gridCol w="6043930"/>
              </a:tblGrid>
              <a:tr h="358775">
                <a:tc>
                  <a:txBody>
                    <a:bodyPr/>
                    <a:p>
                      <a:pPr indent="0">
                        <a:buNone/>
                      </a:pPr>
                      <a:r>
                        <a:rPr lang="en-US" sz="1200" b="0">
                          <a:solidFill>
                            <a:srgbClr val="333333"/>
                          </a:solidFill>
                          <a:latin typeface="Open Sans" panose="020B0606030504020204" charset="-122"/>
                        </a:rPr>
                        <a:t>new StringBuilder()</a:t>
                      </a:r>
                      <a:endParaRPr 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定义一个空的字符串缓冲区，含有16个字符的容量</a:t>
                      </a:r>
                      <a:endParaRPr lang="zh-CN"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358140">
                <a:tc>
                  <a:txBody>
                    <a:bodyPr/>
                    <a:p>
                      <a:pPr indent="0">
                        <a:buNone/>
                      </a:pPr>
                      <a:r>
                        <a:rPr lang="en-US" sz="1200" b="0">
                          <a:solidFill>
                            <a:srgbClr val="333333"/>
                          </a:solidFill>
                          <a:latin typeface="Open Sans" panose="020B0606030504020204" charset="-122"/>
                        </a:rPr>
                        <a:t>new StringBuilder(5);</a:t>
                      </a:r>
                      <a:endParaRPr 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sz="1200" b="0">
                          <a:solidFill>
                            <a:srgbClr val="333333"/>
                          </a:solidFill>
                          <a:latin typeface="Arial" panose="020B0604020202020204" pitchFamily="34" charset="0"/>
                          <a:ea typeface="Open Sans" panose="020B0606030504020204" charset="-122"/>
                        </a:rPr>
                        <a:t>定义一个含有</a:t>
                      </a:r>
                      <a:r>
                        <a:rPr lang="en-US" altLang="zh-CN" sz="1200" b="0">
                          <a:solidFill>
                            <a:srgbClr val="333333"/>
                          </a:solidFill>
                          <a:latin typeface="Arial" panose="020B0604020202020204" pitchFamily="34" charset="0"/>
                          <a:ea typeface="Open Sans" panose="020B0606030504020204" charset="-122"/>
                        </a:rPr>
                        <a:t>5</a:t>
                      </a:r>
                      <a:r>
                        <a:rPr lang="zh-CN" sz="1200" b="0">
                          <a:solidFill>
                            <a:srgbClr val="333333"/>
                          </a:solidFill>
                          <a:latin typeface="Arial" panose="020B0604020202020204" pitchFamily="34" charset="0"/>
                          <a:ea typeface="Open Sans" panose="020B0606030504020204" charset="-122"/>
                        </a:rPr>
                        <a:t>个字符容量的字符串缓冲区</a:t>
                      </a:r>
                      <a:endParaRPr lang="zh-CN"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594360">
                <a:tc>
                  <a:txBody>
                    <a:bodyPr/>
                    <a:p>
                      <a:pPr indent="0">
                        <a:buNone/>
                      </a:pPr>
                      <a:r>
                        <a:rPr lang="en-US" sz="1200" b="0">
                          <a:solidFill>
                            <a:srgbClr val="333333"/>
                          </a:solidFill>
                          <a:latin typeface="Open Sans" panose="020B0606030504020204" charset="-122"/>
                        </a:rPr>
                        <a:t>new StringBuilder("</a:t>
                      </a:r>
                      <a:r>
                        <a:rPr lang="zh-CN" sz="1200">
                          <a:solidFill>
                            <a:srgbClr val="333333"/>
                          </a:solidFill>
                          <a:latin typeface="Arial" panose="020B0604020202020204" pitchFamily="34" charset="0"/>
                          <a:ea typeface="Open Sans" panose="020B0606030504020204" charset="-122"/>
                          <a:sym typeface="+mn-ea"/>
                        </a:rPr>
                        <a:t>天方地圆</a:t>
                      </a:r>
                      <a:r>
                        <a:rPr lang="en-US" sz="1200" b="0">
                          <a:solidFill>
                            <a:srgbClr val="333333"/>
                          </a:solidFill>
                          <a:latin typeface="Open Sans" panose="020B0606030504020204" charset="-122"/>
                        </a:rPr>
                        <a:t>");</a:t>
                      </a:r>
                      <a:endParaRPr 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 定义一个含有(16+4)的字符串缓冲区，"天方地圆"为4个字符</a:t>
                      </a:r>
                      <a:endParaRPr lang="zh-CN"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407035">
                <a:tc>
                  <a:txBody>
                    <a:bodyPr/>
                    <a:p>
                      <a:pPr indent="0">
                        <a:buNone/>
                      </a:pPr>
                      <a:r>
                        <a:rPr lang="en-US" sz="1200" b="0">
                          <a:solidFill>
                            <a:srgbClr val="333333"/>
                          </a:solidFill>
                          <a:latin typeface="Open Sans" panose="020B0606030504020204" charset="-122"/>
                        </a:rPr>
                        <a:t>int capacity()</a:t>
                      </a:r>
                      <a:endParaRPr 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sz="1200">
                          <a:solidFill>
                            <a:srgbClr val="333333"/>
                          </a:solidFill>
                          <a:latin typeface="Open Sans" panose="020B0606030504020204" charset="-122"/>
                          <a:sym typeface="+mn-ea"/>
                        </a:rPr>
                        <a:t>capacity()方法返回字符串的容量大小</a:t>
                      </a:r>
                      <a:endParaRPr sz="1200">
                        <a:solidFill>
                          <a:srgbClr val="333333"/>
                        </a:solidFill>
                        <a:latin typeface="Open Sans" panose="020B0606030504020204" charset="-122"/>
                        <a:sym typeface="+mn-ea"/>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407035">
                <a:tc>
                  <a:txBody>
                    <a:bodyPr/>
                    <a:p>
                      <a:pPr indent="0">
                        <a:buNone/>
                      </a:pPr>
                      <a:r>
                        <a:rPr lang="en-US" altLang="en-US" sz="1200" b="0">
                          <a:solidFill>
                            <a:srgbClr val="333333"/>
                          </a:solidFill>
                          <a:latin typeface="Open Sans" panose="020B0606030504020204" charset="-122"/>
                        </a:rPr>
                        <a:t>void trimToSize()</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altLang="en-US" sz="1200" b="0">
                          <a:solidFill>
                            <a:srgbClr val="000000"/>
                          </a:solidFill>
                          <a:latin typeface="Arial" panose="020B0604020202020204" pitchFamily="34" charset="0"/>
                          <a:ea typeface="宋体" panose="02010600030101010101" pitchFamily="2" charset="-122"/>
                        </a:rPr>
                        <a:t>该方法的作用是将</a:t>
                      </a:r>
                      <a:r>
                        <a:rPr lang="en-US" sz="1200">
                          <a:solidFill>
                            <a:srgbClr val="333333"/>
                          </a:solidFill>
                          <a:latin typeface="Open Sans" panose="020B0606030504020204" charset="-122"/>
                          <a:sym typeface="+mn-ea"/>
                        </a:rPr>
                        <a:t>StringBuilder</a:t>
                      </a:r>
                      <a:r>
                        <a:rPr lang="zh-CN" altLang="en-US" sz="1200" b="0">
                          <a:solidFill>
                            <a:srgbClr val="000000"/>
                          </a:solidFill>
                          <a:latin typeface="Arial" panose="020B0604020202020204" pitchFamily="34" charset="0"/>
                          <a:ea typeface="宋体" panose="02010600030101010101" pitchFamily="2" charset="-122"/>
                        </a:rPr>
                        <a:t>对象的中存储空间缩小到和字符串长度一样的长度，减少空间的浪费。</a:t>
                      </a:r>
                      <a:endParaRPr lang="zh-CN" altLang="en-US" sz="1200" b="0">
                        <a:solidFill>
                          <a:srgbClr val="000000"/>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353695">
                <a:tc>
                  <a:txBody>
                    <a:bodyPr/>
                    <a:p>
                      <a:pPr indent="0">
                        <a:buNone/>
                      </a:pPr>
                      <a:r>
                        <a:rPr lang="en-US" sz="1200">
                          <a:solidFill>
                            <a:srgbClr val="333333"/>
                          </a:solidFill>
                          <a:latin typeface="Open Sans" panose="020B0606030504020204" charset="-122"/>
                          <a:sym typeface="+mn-ea"/>
                        </a:rPr>
                        <a:t>StringBuilder  </a:t>
                      </a:r>
                      <a:r>
                        <a:rPr lang="en-US" sz="1200" b="0">
                          <a:solidFill>
                            <a:srgbClr val="333333"/>
                          </a:solidFill>
                          <a:latin typeface="Open Sans" panose="020B0606030504020204" charset="-122"/>
                        </a:rPr>
                        <a:t>append(String str)</a:t>
                      </a:r>
                      <a:endParaRPr 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200" b="0">
                          <a:solidFill>
                            <a:srgbClr val="333333"/>
                          </a:solidFill>
                          <a:latin typeface="Arial" panose="020B0604020202020204" pitchFamily="34" charset="0"/>
                          <a:ea typeface="Open Sans" panose="020B0606030504020204" charset="-122"/>
                        </a:rPr>
                        <a:t>向 StringBuffer 对象追加 str 字符串到末尾处</a:t>
                      </a:r>
                      <a:endParaRPr lang="zh-CN"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89255">
                <a:tc>
                  <a:txBody>
                    <a:bodyPr/>
                    <a:p>
                      <a:pPr indent="0">
                        <a:buNone/>
                      </a:pPr>
                      <a:r>
                        <a:rPr lang="en-US" sz="1200">
                          <a:solidFill>
                            <a:srgbClr val="333333"/>
                          </a:solidFill>
                          <a:latin typeface="Open Sans" panose="020B0606030504020204" charset="-122"/>
                          <a:sym typeface="+mn-ea"/>
                        </a:rPr>
                        <a:t>StringBuilder  </a:t>
                      </a:r>
                      <a:r>
                        <a:rPr lang="en-US" altLang="en-US" sz="1200" b="0">
                          <a:solidFill>
                            <a:srgbClr val="333333"/>
                          </a:solidFill>
                          <a:latin typeface="Open Sans" panose="020B0606030504020204" charset="-122"/>
                        </a:rPr>
                        <a:t>insert(int offset, int i)</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1200" b="0">
                          <a:solidFill>
                            <a:srgbClr val="333333"/>
                          </a:solidFill>
                          <a:latin typeface="Arial" panose="020B0604020202020204" pitchFamily="34" charset="0"/>
                          <a:ea typeface="Open Sans" panose="020B0606030504020204" charset="-122"/>
                        </a:rPr>
                        <a:t>在指定位置把任意类型的数据插入到字符串缓冲区里面，并返回字符串缓冲区本身</a:t>
                      </a:r>
                      <a:endParaRPr lang="zh-CN" altLang="en-US"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58775">
                <a:tc>
                  <a:txBody>
                    <a:bodyPr/>
                    <a:p>
                      <a:pPr indent="0">
                        <a:buNone/>
                      </a:pPr>
                      <a:r>
                        <a:rPr lang="en-US" sz="1200" b="0">
                          <a:solidFill>
                            <a:srgbClr val="333333"/>
                          </a:solidFill>
                          <a:latin typeface="Open Sans" panose="020B0606030504020204" charset="-122"/>
                        </a:rPr>
                        <a:t>void setCharAt(int index, char ch)</a:t>
                      </a:r>
                      <a:endParaRPr 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200" b="0">
                          <a:solidFill>
                            <a:srgbClr val="333333"/>
                          </a:solidFill>
                          <a:latin typeface="Arial" panose="020B0604020202020204" pitchFamily="34" charset="0"/>
                          <a:ea typeface="Open Sans" panose="020B0606030504020204" charset="-122"/>
                        </a:rPr>
                        <a:t>方法用于在字符串的指定索引位置替换一个字符</a:t>
                      </a:r>
                      <a:endParaRPr lang="zh-CN"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58775">
                <a:tc>
                  <a:txBody>
                    <a:bodyPr/>
                    <a:p>
                      <a:pPr indent="0">
                        <a:buNone/>
                      </a:pPr>
                      <a:r>
                        <a:rPr lang="en-US" sz="1200">
                          <a:solidFill>
                            <a:srgbClr val="333333"/>
                          </a:solidFill>
                          <a:latin typeface="Open Sans" panose="020B0606030504020204" charset="-122"/>
                          <a:sym typeface="+mn-ea"/>
                        </a:rPr>
                        <a:t>StringBuilder  </a:t>
                      </a:r>
                      <a:r>
                        <a:rPr lang="en-US" altLang="en-US" sz="1200" b="0">
                          <a:solidFill>
                            <a:srgbClr val="333333"/>
                          </a:solidFill>
                          <a:latin typeface="Open Sans" panose="020B0606030504020204" charset="-122"/>
                        </a:rPr>
                        <a:t>replace(int start, int end, String str)</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1200" b="0">
                          <a:solidFill>
                            <a:srgbClr val="000000"/>
                          </a:solidFill>
                          <a:latin typeface="Arial" panose="020B0604020202020204" pitchFamily="34" charset="0"/>
                          <a:ea typeface="宋体" panose="02010600030101010101" pitchFamily="2" charset="-122"/>
                        </a:rPr>
                        <a:t>把[start,end)区间的字符串替换为str</a:t>
                      </a:r>
                      <a:endParaRPr lang="zh-CN" altLang="en-US" sz="1200" b="0">
                        <a:solidFill>
                          <a:srgbClr val="000000"/>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58140">
                <a:tc>
                  <a:txBody>
                    <a:bodyPr/>
                    <a:p>
                      <a:pPr indent="0">
                        <a:buNone/>
                      </a:pPr>
                      <a:r>
                        <a:rPr lang="en-US" sz="1200">
                          <a:solidFill>
                            <a:srgbClr val="333333"/>
                          </a:solidFill>
                          <a:latin typeface="Open Sans" panose="020B0606030504020204" charset="-122"/>
                          <a:sym typeface="+mn-ea"/>
                        </a:rPr>
                        <a:t>StringBuilder  </a:t>
                      </a:r>
                      <a:r>
                        <a:rPr lang="en-US" sz="1200" b="0">
                          <a:solidFill>
                            <a:srgbClr val="333333"/>
                          </a:solidFill>
                          <a:latin typeface="Open Sans" panose="020B0606030504020204" charset="-122"/>
                        </a:rPr>
                        <a:t>reverse()</a:t>
                      </a:r>
                      <a:endParaRPr 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对字符串进行反转</a:t>
                      </a:r>
                      <a:endParaRPr lang="zh-CN"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358775">
                <a:tc>
                  <a:txBody>
                    <a:bodyPr/>
                    <a:p>
                      <a:pPr indent="0">
                        <a:buNone/>
                      </a:pPr>
                      <a:r>
                        <a:rPr lang="en-US" sz="1200">
                          <a:solidFill>
                            <a:srgbClr val="333333"/>
                          </a:solidFill>
                          <a:latin typeface="Open Sans" panose="020B0606030504020204" charset="-122"/>
                          <a:sym typeface="+mn-ea"/>
                        </a:rPr>
                        <a:t>StringBuilder  </a:t>
                      </a:r>
                      <a:r>
                        <a:rPr lang="en-US" sz="1200" b="0">
                          <a:solidFill>
                            <a:srgbClr val="333333"/>
                          </a:solidFill>
                          <a:latin typeface="Open Sans" panose="020B0606030504020204" charset="-122"/>
                        </a:rPr>
                        <a:t>deleteCharAt(int index)</a:t>
                      </a:r>
                      <a:endParaRPr 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sz="1200" b="0">
                          <a:solidFill>
                            <a:srgbClr val="333333"/>
                          </a:solidFill>
                          <a:latin typeface="Arial" panose="020B0604020202020204" pitchFamily="34" charset="0"/>
                          <a:ea typeface="Open Sans" panose="020B0606030504020204" charset="-122"/>
                        </a:rPr>
                        <a:t>移除序列中指定位置的字符</a:t>
                      </a:r>
                      <a:endParaRPr lang="zh-CN"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358140">
                <a:tc>
                  <a:txBody>
                    <a:bodyPr/>
                    <a:p>
                      <a:pPr indent="0">
                        <a:buNone/>
                      </a:pPr>
                      <a:r>
                        <a:rPr lang="en-US" sz="1200">
                          <a:solidFill>
                            <a:srgbClr val="333333"/>
                          </a:solidFill>
                          <a:latin typeface="Open Sans" panose="020B0606030504020204" charset="-122"/>
                          <a:sym typeface="+mn-ea"/>
                        </a:rPr>
                        <a:t>StringBuilder  </a:t>
                      </a:r>
                      <a:r>
                        <a:rPr lang="en-US" sz="1200" b="0">
                          <a:solidFill>
                            <a:srgbClr val="333333"/>
                          </a:solidFill>
                          <a:latin typeface="Open Sans" panose="020B0606030504020204" charset="-122"/>
                        </a:rPr>
                        <a:t>delete(int start, int end)</a:t>
                      </a:r>
                      <a:endParaRPr 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宋体" panose="02010600030101010101" pitchFamily="2" charset="-122"/>
                        </a:rPr>
                        <a:t>start 表示要删除字符的起始索引值（包括索引值所对应的字符），end 表示要删除字符串的结束索引值（不包括索引值所对应的字符）</a:t>
                      </a:r>
                      <a:endParaRPr lang="zh-CN" sz="1200" b="0">
                        <a:solidFill>
                          <a:srgbClr val="000000"/>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58140">
                <a:tc>
                  <a:txBody>
                    <a:bodyPr/>
                    <a:p>
                      <a:pPr indent="0">
                        <a:buNone/>
                      </a:pPr>
                      <a:r>
                        <a:rPr lang="en-US" altLang="en-US" sz="1200" b="0">
                          <a:solidFill>
                            <a:srgbClr val="333333"/>
                          </a:solidFill>
                          <a:latin typeface="Open Sans" panose="020B0606030504020204" charset="-122"/>
                        </a:rPr>
                        <a:t>String substring(int start) </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1200" b="0">
                          <a:solidFill>
                            <a:srgbClr val="000000"/>
                          </a:solidFill>
                          <a:latin typeface="Arial" panose="020B0604020202020204" pitchFamily="34" charset="0"/>
                          <a:ea typeface="宋体" panose="02010600030101010101" pitchFamily="2" charset="-122"/>
                        </a:rPr>
                        <a:t>截取字符串从第[start 位开始到最后</a:t>
                      </a:r>
                      <a:endParaRPr lang="zh-CN" altLang="en-US" sz="1200" b="0">
                        <a:solidFill>
                          <a:srgbClr val="000000"/>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58140">
                <a:tc>
                  <a:txBody>
                    <a:bodyPr/>
                    <a:p>
                      <a:pPr indent="0">
                        <a:buNone/>
                      </a:pPr>
                      <a:r>
                        <a:rPr lang="en-US" altLang="en-US" sz="1200" b="0">
                          <a:solidFill>
                            <a:srgbClr val="333333"/>
                          </a:solidFill>
                          <a:latin typeface="Open Sans" panose="020B0606030504020204" charset="-122"/>
                        </a:rPr>
                        <a:t>String substring(int start, int end)</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altLang="en-US" sz="1200" b="0">
                          <a:solidFill>
                            <a:srgbClr val="000000"/>
                          </a:solidFill>
                          <a:latin typeface="Arial" panose="020B0604020202020204" pitchFamily="34" charset="0"/>
                          <a:ea typeface="宋体" panose="02010600030101010101" pitchFamily="2" charset="-122"/>
                        </a:rPr>
                        <a:t>截取字符串从第[start,end)结束</a:t>
                      </a:r>
                      <a:endParaRPr lang="zh-CN" altLang="en-US" sz="1200" b="0">
                        <a:solidFill>
                          <a:srgbClr val="000000"/>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练习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525270"/>
            <a:ext cx="9527540" cy="3807460"/>
          </a:xfrm>
        </p:spPr>
        <p:txBody>
          <a:bodyPr>
            <a:normAutofit lnSpcReduction="20000"/>
          </a:bodyPr>
          <a:p>
            <a:pPr marL="457200" indent="-457200" algn="l">
              <a:lnSpc>
                <a:spcPct val="110000"/>
              </a:lnSpc>
              <a:buClr>
                <a:srgbClr val="ED7D31"/>
              </a:buClr>
              <a:buSzTx/>
              <a:buFont typeface="+mj-lt"/>
              <a:buAutoNum type="arabicPeriod"/>
            </a:pPr>
            <a:r>
              <a:rPr lang="en-US" altLang="zh-CN" sz="2000" dirty="0" err="1" smtClean="0">
                <a:ea typeface="宋体" panose="02010600030101010101" pitchFamily="2" charset="-122"/>
                <a:sym typeface="+mn-ea"/>
              </a:rPr>
              <a:t>编写程序Test</a:t>
            </a:r>
            <a:r>
              <a:rPr lang="zh-CN" altLang="en-US" sz="2000" dirty="0">
                <a:ea typeface="宋体" panose="02010600030101010101" pitchFamily="2" charset="-122"/>
                <a:sym typeface="+mn-ea"/>
              </a:rPr>
              <a:t>StringBuilder类</a:t>
            </a:r>
            <a:r>
              <a:rPr lang="en-US" altLang="zh-CN" sz="2000" dirty="0" err="1" smtClean="0">
                <a:ea typeface="宋体" panose="02010600030101010101" pitchFamily="2" charset="-122"/>
                <a:sym typeface="+mn-ea"/>
              </a:rPr>
              <a:t>；</a:t>
            </a:r>
            <a:endParaRPr lang="en-US" altLang="zh-CN" sz="2000" dirty="0" err="1" smtClean="0">
              <a:ea typeface="宋体" panose="02010600030101010101" pitchFamily="2" charset="-122"/>
            </a:endParaRPr>
          </a:p>
          <a:p>
            <a:pPr marL="457200" indent="-457200" algn="l">
              <a:lnSpc>
                <a:spcPct val="110000"/>
              </a:lnSpc>
              <a:buClr>
                <a:srgbClr val="ED7D31"/>
              </a:buClr>
              <a:buSzTx/>
              <a:buFont typeface="+mj-lt"/>
              <a:buAutoNum type="arabicPeriod"/>
            </a:pPr>
            <a:r>
              <a:rPr lang="en-US" altLang="zh-CN" sz="2000" dirty="0" err="1" smtClean="0">
                <a:ea typeface="宋体" panose="02010600030101010101" pitchFamily="2" charset="-122"/>
                <a:sym typeface="+mn-ea"/>
              </a:rPr>
              <a:t>以”dljd”字符串为基础创建</a:t>
            </a:r>
            <a:r>
              <a:rPr lang="zh-CN" altLang="en-US" sz="2000" dirty="0">
                <a:ea typeface="宋体" panose="02010600030101010101" pitchFamily="2" charset="-122"/>
                <a:sym typeface="+mn-ea"/>
              </a:rPr>
              <a:t>StringBuilder</a:t>
            </a:r>
            <a:r>
              <a:rPr lang="en-US" altLang="zh-CN" sz="2000" dirty="0" err="1" smtClean="0">
                <a:ea typeface="宋体" panose="02010600030101010101" pitchFamily="2" charset="-122"/>
                <a:sym typeface="+mn-ea"/>
              </a:rPr>
              <a:t>对象；</a:t>
            </a:r>
            <a:endParaRPr lang="en-US" altLang="zh-CN" sz="2000" dirty="0" err="1" smtClean="0">
              <a:ea typeface="宋体" panose="02010600030101010101" pitchFamily="2" charset="-122"/>
            </a:endParaRPr>
          </a:p>
          <a:p>
            <a:pPr marL="457200" indent="-457200" algn="l">
              <a:lnSpc>
                <a:spcPct val="110000"/>
              </a:lnSpc>
              <a:buClr>
                <a:srgbClr val="ED7D31"/>
              </a:buClr>
              <a:buSzTx/>
              <a:buFont typeface="+mj-lt"/>
              <a:buAutoNum type="arabicPeriod"/>
            </a:pPr>
            <a:r>
              <a:rPr lang="en-US" altLang="zh-CN" sz="2000" dirty="0" err="1" smtClean="0">
                <a:ea typeface="宋体" panose="02010600030101010101" pitchFamily="2" charset="-122"/>
                <a:sym typeface="+mn-ea"/>
              </a:rPr>
              <a:t>将”2009”字符串</a:t>
            </a:r>
            <a:r>
              <a:rPr lang="zh-CN" altLang="en-US" sz="2000" dirty="0" err="1" smtClean="0">
                <a:ea typeface="宋体" panose="02010600030101010101" pitchFamily="2" charset="-122"/>
                <a:sym typeface="+mn-ea"/>
              </a:rPr>
              <a:t>拼</a:t>
            </a:r>
            <a:r>
              <a:rPr lang="en-US" altLang="zh-CN" sz="2000" dirty="0" err="1" smtClean="0">
                <a:ea typeface="宋体" panose="02010600030101010101" pitchFamily="2" charset="-122"/>
                <a:sym typeface="+mn-ea"/>
              </a:rPr>
              <a:t>接到</a:t>
            </a:r>
            <a:r>
              <a:rPr lang="zh-CN" altLang="en-US" sz="2000" dirty="0">
                <a:ea typeface="宋体" panose="02010600030101010101" pitchFamily="2" charset="-122"/>
                <a:sym typeface="+mn-ea"/>
              </a:rPr>
              <a:t>StringBuilder</a:t>
            </a:r>
            <a:r>
              <a:rPr lang="en-US" altLang="zh-CN" sz="2000" dirty="0" err="1" smtClean="0">
                <a:ea typeface="宋体" panose="02010600030101010101" pitchFamily="2" charset="-122"/>
                <a:sym typeface="+mn-ea"/>
              </a:rPr>
              <a:t>结尾；</a:t>
            </a:r>
            <a:endParaRPr lang="en-US" altLang="zh-CN" sz="2000" dirty="0" err="1" smtClean="0">
              <a:ea typeface="宋体" panose="02010600030101010101" pitchFamily="2" charset="-122"/>
            </a:endParaRPr>
          </a:p>
          <a:p>
            <a:pPr marL="457200" indent="-457200" algn="l">
              <a:lnSpc>
                <a:spcPct val="110000"/>
              </a:lnSpc>
              <a:buClr>
                <a:srgbClr val="ED7D31"/>
              </a:buClr>
              <a:buSzTx/>
              <a:buFont typeface="+mj-lt"/>
              <a:buAutoNum type="arabicPeriod"/>
            </a:pPr>
            <a:r>
              <a:rPr lang="en-US" altLang="zh-CN" sz="2000" dirty="0" err="1" smtClean="0">
                <a:ea typeface="宋体" panose="02010600030101010101" pitchFamily="2" charset="-122"/>
                <a:sym typeface="+mn-ea"/>
              </a:rPr>
              <a:t>将“Java”字符串插入到</a:t>
            </a:r>
            <a:r>
              <a:rPr lang="zh-CN" altLang="en-US" sz="2000" dirty="0">
                <a:ea typeface="宋体" panose="02010600030101010101" pitchFamily="2" charset="-122"/>
                <a:sym typeface="+mn-ea"/>
              </a:rPr>
              <a:t>StringBuilder</a:t>
            </a:r>
            <a:r>
              <a:rPr lang="en-US" altLang="zh-CN" sz="2000" dirty="0" err="1" smtClean="0">
                <a:ea typeface="宋体" panose="02010600030101010101" pitchFamily="2" charset="-122"/>
                <a:sym typeface="+mn-ea"/>
              </a:rPr>
              <a:t>第0个位置；</a:t>
            </a:r>
            <a:endParaRPr lang="en-US" altLang="zh-CN" sz="2000" dirty="0" err="1" smtClean="0">
              <a:ea typeface="宋体" panose="02010600030101010101" pitchFamily="2" charset="-122"/>
            </a:endParaRPr>
          </a:p>
          <a:p>
            <a:pPr marL="457200" indent="-457200" algn="l">
              <a:lnSpc>
                <a:spcPct val="110000"/>
              </a:lnSpc>
              <a:buClr>
                <a:srgbClr val="ED7D31"/>
              </a:buClr>
              <a:buSzTx/>
              <a:buFont typeface="+mj-lt"/>
              <a:buAutoNum type="arabicPeriod"/>
            </a:pPr>
            <a:r>
              <a:rPr lang="en-US" altLang="zh-CN" sz="2000" dirty="0" err="1" smtClean="0">
                <a:ea typeface="宋体" panose="02010600030101010101" pitchFamily="2" charset="-122"/>
                <a:sym typeface="+mn-ea"/>
              </a:rPr>
              <a:t>打印该</a:t>
            </a:r>
            <a:r>
              <a:rPr lang="zh-CN" altLang="en-US" sz="2000" dirty="0">
                <a:ea typeface="宋体" panose="02010600030101010101" pitchFamily="2" charset="-122"/>
                <a:sym typeface="+mn-ea"/>
              </a:rPr>
              <a:t>StringBuilder</a:t>
            </a:r>
            <a:r>
              <a:rPr lang="en-US" altLang="zh-CN" sz="2000" dirty="0" err="1" smtClean="0">
                <a:ea typeface="宋体" panose="02010600030101010101" pitchFamily="2" charset="-122"/>
                <a:sym typeface="+mn-ea"/>
              </a:rPr>
              <a:t>。</a:t>
            </a:r>
            <a:endParaRPr lang="en-US" altLang="zh-CN" sz="2000" dirty="0" err="1" smtClean="0">
              <a:ea typeface="宋体" panose="02010600030101010101" pitchFamily="2" charset="-122"/>
            </a:endParaRPr>
          </a:p>
          <a:p>
            <a:pPr marL="700405" lvl="1" indent="-357505">
              <a:lnSpc>
                <a:spcPct val="110000"/>
              </a:lnSpc>
              <a:buClr>
                <a:srgbClr val="ED7D31"/>
              </a:buClr>
              <a:buFont typeface="Arial" panose="020B0604020202020204" pitchFamily="34" charset="0"/>
              <a:buChar char="•"/>
              <a:defRPr/>
            </a:pPr>
            <a:endParaRPr lang="zh-CN" altLang="en-US"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141730" y="3137535"/>
            <a:ext cx="981202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第三节 </a:t>
            </a:r>
            <a:r>
              <a:rPr lang="zh-CN" altLang="en-US" sz="6665" dirty="0">
                <a:solidFill>
                  <a:schemeClr val="bg1"/>
                </a:solidFill>
                <a:latin typeface="Arial" panose="020B0604020202020204" pitchFamily="34" charset="0"/>
                <a:ea typeface="宋体" panose="02010600030101010101" pitchFamily="2" charset="-122"/>
                <a:sym typeface="+mn-ea"/>
              </a:rPr>
              <a:t>日期处理相关类</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日期常用类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720" y="1160145"/>
            <a:ext cx="11037570" cy="5375910"/>
          </a:xfrm>
        </p:spPr>
        <p:txBody>
          <a:bodyPr>
            <a:normAutofit/>
          </a:bodyPr>
          <a:p>
            <a:pPr marL="457200" indent="-457200" algn="l">
              <a:lnSpc>
                <a:spcPct val="110000"/>
              </a:lnSpc>
              <a:buClr>
                <a:srgbClr val="ED7D31"/>
              </a:buClr>
              <a:buSzTx/>
              <a:buFont typeface="+mj-lt"/>
              <a:buAutoNum type="arabicPeriod"/>
            </a:pPr>
            <a:r>
              <a:rPr sz="2000">
                <a:ea typeface="宋体" panose="02010600030101010101" pitchFamily="2" charset="-122"/>
                <a:sym typeface="+mn-ea"/>
              </a:rPr>
              <a:t>java.util</a:t>
            </a:r>
            <a:r>
              <a:rPr lang="en-US" sz="2000">
                <a:ea typeface="宋体" panose="02010600030101010101" pitchFamily="2" charset="-122"/>
                <a:sym typeface="+mn-ea"/>
              </a:rPr>
              <a:t>.</a:t>
            </a:r>
            <a:r>
              <a:rPr sz="2000">
                <a:ea typeface="宋体" panose="02010600030101010101" pitchFamily="2" charset="-122"/>
                <a:sym typeface="+mn-ea"/>
              </a:rPr>
              <a:t>Date</a:t>
            </a:r>
            <a:r>
              <a:rPr lang="en-US" sz="2000">
                <a:ea typeface="宋体" panose="02010600030101010101" pitchFamily="2" charset="-122"/>
                <a:sym typeface="+mn-ea"/>
              </a:rPr>
              <a:t>,对象表示一个特定的瞬间，精确到毫秒</a:t>
            </a:r>
            <a:endParaRPr lang="en-US" sz="2000">
              <a:ea typeface="宋体" panose="02010600030101010101" pitchFamily="2" charset="-122"/>
              <a:sym typeface="+mn-ea"/>
            </a:endParaRPr>
          </a:p>
          <a:p>
            <a:pPr marL="457200" indent="-457200" algn="l">
              <a:lnSpc>
                <a:spcPct val="110000"/>
              </a:lnSpc>
              <a:buClr>
                <a:srgbClr val="ED7D31"/>
              </a:buClr>
              <a:buSzTx/>
              <a:buFont typeface="+mj-lt"/>
              <a:buAutoNum type="arabicPeriod"/>
            </a:pPr>
            <a:r>
              <a:rPr sz="2000">
                <a:ea typeface="宋体" panose="02010600030101010101" pitchFamily="2" charset="-122"/>
                <a:sym typeface="+mn-ea"/>
              </a:rPr>
              <a:t>java.text</a:t>
            </a:r>
            <a:r>
              <a:rPr lang="en-US" sz="2000">
                <a:ea typeface="宋体" panose="02010600030101010101" pitchFamily="2" charset="-122"/>
                <a:sym typeface="+mn-ea"/>
              </a:rPr>
              <a:t>.DateFormat,是日期/时间格式化子类的抽象类(</a:t>
            </a:r>
            <a:r>
              <a:rPr lang="zh-CN" altLang="en-US" sz="2000">
                <a:ea typeface="宋体" panose="02010600030101010101" pitchFamily="2" charset="-122"/>
                <a:sym typeface="+mn-ea"/>
              </a:rPr>
              <a:t>了解</a:t>
            </a:r>
            <a:r>
              <a:rPr lang="en-US" sz="2000">
                <a:ea typeface="宋体" panose="02010600030101010101" pitchFamily="2" charset="-122"/>
                <a:sym typeface="+mn-ea"/>
              </a:rPr>
              <a:t>)</a:t>
            </a:r>
            <a:r>
              <a:rPr lang="en-US" altLang="zh-CN" sz="2000" dirty="0" err="1" smtClean="0">
                <a:ea typeface="宋体" panose="02010600030101010101" pitchFamily="2" charset="-122"/>
                <a:sym typeface="+mn-ea"/>
              </a:rPr>
              <a:t>；</a:t>
            </a:r>
            <a:endParaRPr lang="en-US" altLang="zh-CN" sz="2000" dirty="0" err="1" smtClean="0">
              <a:ea typeface="宋体" panose="02010600030101010101" pitchFamily="2" charset="-122"/>
            </a:endParaRPr>
          </a:p>
          <a:p>
            <a:pPr marL="457200" indent="-457200" algn="l">
              <a:lnSpc>
                <a:spcPct val="110000"/>
              </a:lnSpc>
              <a:buClr>
                <a:srgbClr val="ED7D31"/>
              </a:buClr>
              <a:buSzTx/>
              <a:buFont typeface="+mj-lt"/>
              <a:buAutoNum type="arabicPeriod"/>
            </a:pPr>
            <a:r>
              <a:rPr sz="2000">
                <a:ea typeface="宋体" panose="02010600030101010101" pitchFamily="2" charset="-122"/>
                <a:sym typeface="+mn-ea"/>
              </a:rPr>
              <a:t>java.text</a:t>
            </a:r>
            <a:r>
              <a:rPr lang="en-US" sz="2000">
                <a:ea typeface="宋体" panose="02010600030101010101" pitchFamily="2" charset="-122"/>
                <a:sym typeface="+mn-ea"/>
              </a:rPr>
              <a:t>.SimpleDateFormat</a:t>
            </a:r>
            <a:r>
              <a:rPr lang="zh-CN" altLang="en-US" sz="2000">
                <a:ea typeface="宋体" panose="02010600030101010101" pitchFamily="2" charset="-122"/>
                <a:sym typeface="+mn-ea"/>
              </a:rPr>
              <a:t>，功能比</a:t>
            </a:r>
            <a:r>
              <a:rPr lang="en-US" sz="2000">
                <a:ea typeface="宋体" panose="02010600030101010101" pitchFamily="2" charset="-122"/>
                <a:sym typeface="+mn-ea"/>
              </a:rPr>
              <a:t>DateFormat</a:t>
            </a:r>
            <a:r>
              <a:rPr lang="zh-CN" altLang="en-US" sz="2000">
                <a:ea typeface="宋体" panose="02010600030101010101" pitchFamily="2" charset="-122"/>
                <a:sym typeface="+mn-ea"/>
              </a:rPr>
              <a:t>强大，常用语格式化日期</a:t>
            </a:r>
            <a:endParaRPr lang="zh-CN" altLang="en-US" sz="2000">
              <a:ea typeface="宋体" panose="02010600030101010101" pitchFamily="2" charset="-122"/>
              <a:sym typeface="+mn-ea"/>
            </a:endParaRPr>
          </a:p>
          <a:p>
            <a:pPr marL="457200" indent="-457200" algn="l">
              <a:lnSpc>
                <a:spcPct val="110000"/>
              </a:lnSpc>
              <a:buClr>
                <a:srgbClr val="ED7D31"/>
              </a:buClr>
              <a:buSzTx/>
              <a:buFont typeface="+mj-lt"/>
              <a:buAutoNum type="arabicPeriod"/>
            </a:pPr>
            <a:r>
              <a:rPr sz="2000">
                <a:ea typeface="宋体" panose="02010600030101010101" pitchFamily="2" charset="-122"/>
                <a:sym typeface="+mn-ea"/>
              </a:rPr>
              <a:t>java.util</a:t>
            </a:r>
            <a:r>
              <a:rPr lang="en-US" sz="2000">
                <a:ea typeface="宋体" panose="02010600030101010101" pitchFamily="2" charset="-122"/>
                <a:sym typeface="+mn-ea"/>
              </a:rPr>
              <a:t>.</a:t>
            </a:r>
            <a:r>
              <a:rPr lang="en-US" altLang="zh-CN" sz="2000" dirty="0" err="1" smtClean="0">
                <a:ea typeface="宋体" panose="02010600030101010101" pitchFamily="2" charset="-122"/>
              </a:rPr>
              <a:t>Calendar,称之为“日历类”，通过Calendar类的实例不但能保存某个指定时间，并且还提供了日期相关的计算功能</a:t>
            </a:r>
            <a:endParaRPr lang="en-US" altLang="zh-CN" sz="2000" dirty="0" err="1" smtClean="0">
              <a:ea typeface="宋体" panose="02010600030101010101" pitchFamily="2" charset="-122"/>
            </a:endParaRPr>
          </a:p>
          <a:p>
            <a:pPr marL="342900" lvl="1" indent="0">
              <a:lnSpc>
                <a:spcPct val="110000"/>
              </a:lnSpc>
              <a:buClr>
                <a:srgbClr val="ED7D31"/>
              </a:buClr>
              <a:buFont typeface="Arial" panose="020B0604020202020204" pitchFamily="34" charset="0"/>
              <a:buNone/>
              <a:defRPr/>
            </a:pPr>
            <a:r>
              <a:rPr lang="en-US" altLang="zh-CN" dirty="0">
                <a:ea typeface="宋体" panose="02010600030101010101" pitchFamily="2" charset="-122"/>
                <a:sym typeface="+mn-ea"/>
              </a:rPr>
              <a:t> </a:t>
            </a:r>
            <a:endParaRPr lang="zh-CN" altLang="en-US"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444625" y="242570"/>
            <a:ext cx="747776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日期格式化（</a:t>
            </a:r>
            <a:r>
              <a:rPr sz="2400">
                <a:ea typeface="宋体" panose="02010600030101010101" pitchFamily="2" charset="-122"/>
                <a:sym typeface="+mn-ea"/>
              </a:rPr>
              <a:t>java.text</a:t>
            </a:r>
            <a:r>
              <a:rPr lang="en-US" sz="2400">
                <a:ea typeface="宋体" panose="02010600030101010101" pitchFamily="2" charset="-122"/>
                <a:sym typeface="+mn-ea"/>
              </a:rPr>
              <a:t>.SimpleDateFormat</a:t>
            </a:r>
            <a:r>
              <a:rPr lang="zh-CN" altLang="en-US" sz="2400" b="1" spc="300" dirty="0">
                <a:solidFill>
                  <a:srgbClr val="002060"/>
                </a:solidFill>
                <a:latin typeface="思源黑体 CN Bold" panose="020B0800000000000000" pitchFamily="34" charset="-122"/>
                <a:ea typeface="宋体" panose="02010600030101010101" pitchFamily="2" charset="-122"/>
                <a:sym typeface="+mn-ea"/>
              </a:rPr>
              <a:t>）规则</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graphicFrame>
        <p:nvGraphicFramePr>
          <p:cNvPr id="3" name="表格 2"/>
          <p:cNvGraphicFramePr/>
          <p:nvPr>
            <p:custDataLst>
              <p:tags r:id="rId5"/>
            </p:custDataLst>
          </p:nvPr>
        </p:nvGraphicFramePr>
        <p:xfrm>
          <a:off x="553720" y="1217295"/>
          <a:ext cx="10863580" cy="4445000"/>
        </p:xfrm>
        <a:graphic>
          <a:graphicData uri="http://schemas.openxmlformats.org/drawingml/2006/table">
            <a:tbl>
              <a:tblPr/>
              <a:tblGrid>
                <a:gridCol w="1591945"/>
                <a:gridCol w="5843270"/>
                <a:gridCol w="3428365"/>
              </a:tblGrid>
              <a:tr h="317500">
                <a:tc>
                  <a:txBody>
                    <a:bodyPr/>
                    <a:p>
                      <a:pPr marL="9525" indent="0" algn="ctr" fontAlgn="ctr"/>
                      <a:r>
                        <a:rPr lang="zh-CN" altLang="en-US" sz="1200" b="1" i="0">
                          <a:solidFill>
                            <a:srgbClr val="FFFFFF"/>
                          </a:solidFill>
                          <a:latin typeface="等线" panose="02010600030101010101" charset="-122"/>
                          <a:ea typeface="等线" panose="02010600030101010101" charset="-122"/>
                        </a:rPr>
                        <a:t>字母</a:t>
                      </a:r>
                      <a:endParaRPr lang="zh-CN" altLang="en-US" sz="1200" b="1" i="0">
                        <a:solidFill>
                          <a:srgbClr val="FFFFFF"/>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5B9BD5"/>
                    </a:solidFill>
                  </a:tcPr>
                </a:tc>
                <a:tc>
                  <a:txBody>
                    <a:bodyPr/>
                    <a:p>
                      <a:pPr marL="9525" indent="0" algn="l" fontAlgn="ctr"/>
                      <a:r>
                        <a:rPr lang="zh-CN" altLang="en-US" sz="1200" b="1" i="0">
                          <a:solidFill>
                            <a:srgbClr val="FFFFFF"/>
                          </a:solidFill>
                          <a:latin typeface="等线" panose="02010600030101010101" charset="-122"/>
                          <a:ea typeface="等线" panose="02010600030101010101" charset="-122"/>
                        </a:rPr>
                        <a:t>含义</a:t>
                      </a:r>
                      <a:endParaRPr lang="zh-CN" altLang="en-US" sz="1200" b="1" i="0">
                        <a:solidFill>
                          <a:srgbClr val="FFFFFF"/>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5B9BD5"/>
                    </a:solidFill>
                  </a:tcPr>
                </a:tc>
                <a:tc>
                  <a:txBody>
                    <a:bodyPr/>
                    <a:p>
                      <a:pPr marL="9525" indent="0" algn="l" fontAlgn="ctr"/>
                      <a:r>
                        <a:rPr lang="zh-CN" altLang="en-US" sz="1200" b="1" i="0">
                          <a:solidFill>
                            <a:srgbClr val="FFFFFF"/>
                          </a:solidFill>
                          <a:latin typeface="等线" panose="02010600030101010101" charset="-122"/>
                          <a:ea typeface="等线" panose="02010600030101010101" charset="-122"/>
                        </a:rPr>
                        <a:t>示例</a:t>
                      </a:r>
                      <a:endParaRPr lang="zh-CN" altLang="en-US" sz="1200" b="1" i="0">
                        <a:solidFill>
                          <a:srgbClr val="FFFFFF"/>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5B9BD5"/>
                    </a:solidFill>
                  </a:tcPr>
                </a:tc>
              </a:tr>
              <a:tr h="317500">
                <a:tc>
                  <a:txBody>
                    <a:bodyPr/>
                    <a:p>
                      <a:pPr marL="9525" indent="0" algn="ctr" fontAlgn="ctr"/>
                      <a:r>
                        <a:rPr lang="en-US" altLang="zh-CN" sz="1200" b="0" i="0">
                          <a:solidFill>
                            <a:srgbClr val="000000"/>
                          </a:solidFill>
                          <a:latin typeface="等线" panose="02010600030101010101" charset="-122"/>
                          <a:ea typeface="等线" panose="02010600030101010101" charset="-122"/>
                        </a:rPr>
                        <a:t>y</a:t>
                      </a:r>
                      <a:endParaRPr lang="en-US" altLang="zh-CN"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DDEBF7"/>
                    </a:solid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年，一个</a:t>
                      </a:r>
                      <a:r>
                        <a:rPr lang="en-US" altLang="zh-CN" sz="1200" b="0" i="0">
                          <a:solidFill>
                            <a:srgbClr val="000000"/>
                          </a:solidFill>
                          <a:latin typeface="等线" panose="02010600030101010101" charset="-122"/>
                          <a:ea typeface="等线" panose="02010600030101010101" charset="-122"/>
                        </a:rPr>
                        <a:t>y</a:t>
                      </a:r>
                      <a:r>
                        <a:rPr lang="zh-CN" altLang="en-US" sz="1200" b="0" i="0">
                          <a:solidFill>
                            <a:srgbClr val="000000"/>
                          </a:solidFill>
                          <a:latin typeface="等线" panose="02010600030101010101" charset="-122"/>
                          <a:ea typeface="等线" panose="02010600030101010101" charset="-122"/>
                        </a:rPr>
                        <a:t>代表一位</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DDEBF7"/>
                    </a:solidFill>
                  </a:tcPr>
                </a:tc>
                <a:tc>
                  <a:txBody>
                    <a:bodyPr/>
                    <a:p>
                      <a:pPr marL="9525" indent="0" algn="l" fontAlgn="ctr"/>
                      <a:r>
                        <a:rPr lang="en-US" altLang="zh-CN" sz="1200" b="0" i="0">
                          <a:solidFill>
                            <a:srgbClr val="000000"/>
                          </a:solidFill>
                          <a:latin typeface="等线" panose="02010600030101010101" charset="-122"/>
                          <a:ea typeface="等线" panose="02010600030101010101" charset="-122"/>
                        </a:rPr>
                        <a:t>yy</a:t>
                      </a:r>
                      <a:r>
                        <a:rPr lang="zh-CN" altLang="en-US" sz="1200" b="0" i="0">
                          <a:solidFill>
                            <a:srgbClr val="000000"/>
                          </a:solidFill>
                          <a:latin typeface="等线" panose="02010600030101010101" charset="-122"/>
                          <a:ea typeface="等线" panose="02010600030101010101" charset="-122"/>
                        </a:rPr>
                        <a:t>代表</a:t>
                      </a:r>
                      <a:r>
                        <a:rPr lang="en-US" altLang="zh-CN" sz="1200" b="0" i="0">
                          <a:solidFill>
                            <a:srgbClr val="000000"/>
                          </a:solidFill>
                          <a:latin typeface="等线" panose="02010600030101010101" charset="-122"/>
                          <a:ea typeface="等线" panose="02010600030101010101" charset="-122"/>
                        </a:rPr>
                        <a:t>24</a:t>
                      </a:r>
                      <a:r>
                        <a:rPr lang="zh-CN" altLang="en-US" sz="1200" b="0" i="0">
                          <a:solidFill>
                            <a:srgbClr val="000000"/>
                          </a:solidFill>
                          <a:latin typeface="等线" panose="02010600030101010101" charset="-122"/>
                          <a:ea typeface="等线" panose="02010600030101010101" charset="-122"/>
                        </a:rPr>
                        <a:t>，</a:t>
                      </a:r>
                      <a:r>
                        <a:rPr lang="en-US" altLang="zh-CN" sz="1200" b="0" i="0">
                          <a:solidFill>
                            <a:srgbClr val="000000"/>
                          </a:solidFill>
                          <a:latin typeface="等线" panose="02010600030101010101" charset="-122"/>
                          <a:ea typeface="等线" panose="02010600030101010101" charset="-122"/>
                        </a:rPr>
                        <a:t>"yyyy"</a:t>
                      </a:r>
                      <a:r>
                        <a:rPr lang="zh-CN" altLang="en-US" sz="1200" b="0" i="0">
                          <a:solidFill>
                            <a:srgbClr val="000000"/>
                          </a:solidFill>
                          <a:latin typeface="等线" panose="02010600030101010101" charset="-122"/>
                          <a:ea typeface="等线" panose="02010600030101010101" charset="-122"/>
                        </a:rPr>
                        <a:t>代表</a:t>
                      </a:r>
                      <a:r>
                        <a:rPr lang="en-US" altLang="zh-CN" sz="1200" b="0" i="0">
                          <a:solidFill>
                            <a:srgbClr val="000000"/>
                          </a:solidFill>
                          <a:latin typeface="等线" panose="02010600030101010101" charset="-122"/>
                          <a:ea typeface="等线" panose="02010600030101010101" charset="-122"/>
                        </a:rPr>
                        <a:t>2024</a:t>
                      </a:r>
                      <a:endParaRPr lang="en-US" altLang="zh-CN"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DDEBF7"/>
                    </a:solidFill>
                  </a:tcPr>
                </a:tc>
              </a:tr>
              <a:tr h="317500">
                <a:tc>
                  <a:txBody>
                    <a:bodyPr/>
                    <a:p>
                      <a:pPr marL="9525" indent="0" algn="ctr" fontAlgn="ctr"/>
                      <a:r>
                        <a:rPr lang="en-US" altLang="zh-CN" sz="1200" b="0" i="0">
                          <a:solidFill>
                            <a:srgbClr val="000000"/>
                          </a:solidFill>
                          <a:latin typeface="等线" panose="02010600030101010101" charset="-122"/>
                          <a:ea typeface="等线" panose="02010600030101010101" charset="-122"/>
                        </a:rPr>
                        <a:t>M</a:t>
                      </a:r>
                      <a:endParaRPr lang="en-US" altLang="zh-CN"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no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月份</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no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例如八月，</a:t>
                      </a:r>
                      <a:r>
                        <a:rPr lang="en-US" altLang="zh-CN" sz="1200" b="0" i="0">
                          <a:solidFill>
                            <a:srgbClr val="000000"/>
                          </a:solidFill>
                          <a:latin typeface="等线" panose="02010600030101010101" charset="-122"/>
                          <a:ea typeface="等线" panose="02010600030101010101" charset="-122"/>
                        </a:rPr>
                        <a:t>M</a:t>
                      </a:r>
                      <a:r>
                        <a:rPr lang="zh-CN" altLang="en-US" sz="1200" b="0" i="0">
                          <a:solidFill>
                            <a:srgbClr val="000000"/>
                          </a:solidFill>
                          <a:latin typeface="等线" panose="02010600030101010101" charset="-122"/>
                          <a:ea typeface="等线" panose="02010600030101010101" charset="-122"/>
                        </a:rPr>
                        <a:t>代表</a:t>
                      </a:r>
                      <a:r>
                        <a:rPr lang="en-US" altLang="zh-CN" sz="1200" b="0" i="0">
                          <a:solidFill>
                            <a:srgbClr val="000000"/>
                          </a:solidFill>
                          <a:latin typeface="等线" panose="02010600030101010101" charset="-122"/>
                          <a:ea typeface="等线" panose="02010600030101010101" charset="-122"/>
                        </a:rPr>
                        <a:t>8</a:t>
                      </a:r>
                      <a:r>
                        <a:rPr lang="zh-CN" altLang="en-US" sz="1200" b="0" i="0">
                          <a:solidFill>
                            <a:srgbClr val="000000"/>
                          </a:solidFill>
                          <a:latin typeface="等线" panose="02010600030101010101" charset="-122"/>
                          <a:ea typeface="等线" panose="02010600030101010101" charset="-122"/>
                        </a:rPr>
                        <a:t>，</a:t>
                      </a:r>
                      <a:r>
                        <a:rPr lang="en-US" altLang="zh-CN" sz="1200" b="0" i="0">
                          <a:solidFill>
                            <a:srgbClr val="000000"/>
                          </a:solidFill>
                          <a:latin typeface="等线" panose="02010600030101010101" charset="-122"/>
                          <a:ea typeface="等线" panose="02010600030101010101" charset="-122"/>
                        </a:rPr>
                        <a:t>MM</a:t>
                      </a:r>
                      <a:r>
                        <a:rPr lang="zh-CN" altLang="en-US" sz="1200" b="0" i="0">
                          <a:solidFill>
                            <a:srgbClr val="000000"/>
                          </a:solidFill>
                          <a:latin typeface="等线" panose="02010600030101010101" charset="-122"/>
                          <a:ea typeface="等线" panose="02010600030101010101" charset="-122"/>
                        </a:rPr>
                        <a:t>代表</a:t>
                      </a:r>
                      <a:r>
                        <a:rPr lang="en-US" altLang="zh-CN" sz="1200" b="0" i="0">
                          <a:solidFill>
                            <a:srgbClr val="000000"/>
                          </a:solidFill>
                          <a:latin typeface="等线" panose="02010600030101010101" charset="-122"/>
                          <a:ea typeface="等线" panose="02010600030101010101" charset="-122"/>
                        </a:rPr>
                        <a:t>08</a:t>
                      </a:r>
                      <a:endParaRPr lang="en-US" altLang="zh-CN"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noFill/>
                  </a:tcPr>
                </a:tc>
              </a:tr>
              <a:tr h="317500">
                <a:tc>
                  <a:txBody>
                    <a:bodyPr/>
                    <a:p>
                      <a:pPr marL="9525" indent="0" algn="ctr" fontAlgn="ctr"/>
                      <a:r>
                        <a:rPr lang="en-US" altLang="zh-CN" sz="1200" b="0" i="0">
                          <a:solidFill>
                            <a:srgbClr val="000000"/>
                          </a:solidFill>
                          <a:latin typeface="等线" panose="02010600030101010101" charset="-122"/>
                          <a:ea typeface="等线" panose="02010600030101010101" charset="-122"/>
                        </a:rPr>
                        <a:t>w</a:t>
                      </a:r>
                      <a:endParaRPr lang="en-US" altLang="zh-CN"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DDEBF7"/>
                    </a:solid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一年中的第几周</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DDEBF7"/>
                    </a:solid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常用</a:t>
                      </a:r>
                      <a:r>
                        <a:rPr lang="en-US" altLang="zh-CN" sz="1200" b="0" i="0">
                          <a:solidFill>
                            <a:srgbClr val="000000"/>
                          </a:solidFill>
                          <a:latin typeface="等线" panose="02010600030101010101" charset="-122"/>
                          <a:ea typeface="等线" panose="02010600030101010101" charset="-122"/>
                        </a:rPr>
                        <a:t>ww</a:t>
                      </a:r>
                      <a:r>
                        <a:rPr lang="zh-CN" altLang="en-US" sz="1200" b="0" i="0">
                          <a:solidFill>
                            <a:srgbClr val="000000"/>
                          </a:solidFill>
                          <a:latin typeface="等线" panose="02010600030101010101" charset="-122"/>
                          <a:ea typeface="等线" panose="02010600030101010101" charset="-122"/>
                        </a:rPr>
                        <a:t>表示</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DDEBF7"/>
                    </a:solidFill>
                  </a:tcPr>
                </a:tc>
              </a:tr>
              <a:tr h="317500">
                <a:tc>
                  <a:txBody>
                    <a:bodyPr/>
                    <a:p>
                      <a:pPr marL="9525" indent="0" algn="ctr" fontAlgn="ctr"/>
                      <a:r>
                        <a:rPr lang="en-US" altLang="zh-CN" sz="1200" b="0" i="0">
                          <a:solidFill>
                            <a:srgbClr val="000000"/>
                          </a:solidFill>
                          <a:latin typeface="等线" panose="02010600030101010101" charset="-122"/>
                          <a:ea typeface="等线" panose="02010600030101010101" charset="-122"/>
                        </a:rPr>
                        <a:t>W</a:t>
                      </a:r>
                      <a:endParaRPr lang="en-US" altLang="zh-CN"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no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一个月中的第几周</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no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常用</a:t>
                      </a:r>
                      <a:r>
                        <a:rPr lang="en-US" altLang="zh-CN" sz="1200" b="0" i="0">
                          <a:solidFill>
                            <a:srgbClr val="000000"/>
                          </a:solidFill>
                          <a:latin typeface="等线" panose="02010600030101010101" charset="-122"/>
                          <a:ea typeface="等线" panose="02010600030101010101" charset="-122"/>
                        </a:rPr>
                        <a:t>WW</a:t>
                      </a:r>
                      <a:r>
                        <a:rPr lang="zh-CN" altLang="en-US" sz="1200" b="0" i="0">
                          <a:solidFill>
                            <a:srgbClr val="000000"/>
                          </a:solidFill>
                          <a:latin typeface="等线" panose="02010600030101010101" charset="-122"/>
                          <a:ea typeface="等线" panose="02010600030101010101" charset="-122"/>
                        </a:rPr>
                        <a:t>表示</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noFill/>
                  </a:tcPr>
                </a:tc>
              </a:tr>
              <a:tr h="317500">
                <a:tc>
                  <a:txBody>
                    <a:bodyPr/>
                    <a:p>
                      <a:pPr marL="9525" indent="0" algn="ctr" fontAlgn="ctr"/>
                      <a:r>
                        <a:rPr lang="en-US" altLang="zh-CN" sz="1200" b="0" i="0">
                          <a:solidFill>
                            <a:srgbClr val="000000"/>
                          </a:solidFill>
                          <a:latin typeface="等线" panose="02010600030101010101" charset="-122"/>
                          <a:ea typeface="等线" panose="02010600030101010101" charset="-122"/>
                        </a:rPr>
                        <a:t>d</a:t>
                      </a:r>
                      <a:endParaRPr lang="en-US" altLang="zh-CN"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DDEBF7"/>
                    </a:solid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一个月中的第几天</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DDEBF7"/>
                    </a:solid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常用</a:t>
                      </a:r>
                      <a:r>
                        <a:rPr lang="en-US" altLang="zh-CN" sz="1200" b="0" i="0">
                          <a:solidFill>
                            <a:srgbClr val="000000"/>
                          </a:solidFill>
                          <a:latin typeface="等线" panose="02010600030101010101" charset="-122"/>
                          <a:ea typeface="等线" panose="02010600030101010101" charset="-122"/>
                        </a:rPr>
                        <a:t>dd</a:t>
                      </a:r>
                      <a:r>
                        <a:rPr lang="zh-CN" altLang="en-US" sz="1200" b="0" i="0">
                          <a:solidFill>
                            <a:srgbClr val="000000"/>
                          </a:solidFill>
                          <a:latin typeface="等线" panose="02010600030101010101" charset="-122"/>
                          <a:ea typeface="等线" panose="02010600030101010101" charset="-122"/>
                        </a:rPr>
                        <a:t>表示</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DDEBF7"/>
                    </a:solidFill>
                  </a:tcPr>
                </a:tc>
              </a:tr>
              <a:tr h="317500">
                <a:tc>
                  <a:txBody>
                    <a:bodyPr/>
                    <a:p>
                      <a:pPr marL="9525" indent="0" algn="ctr" fontAlgn="ctr"/>
                      <a:r>
                        <a:rPr lang="en-US" altLang="zh-CN" sz="1200" b="0" i="0">
                          <a:solidFill>
                            <a:srgbClr val="000000"/>
                          </a:solidFill>
                          <a:latin typeface="等线" panose="02010600030101010101" charset="-122"/>
                          <a:ea typeface="等线" panose="02010600030101010101" charset="-122"/>
                        </a:rPr>
                        <a:t>D</a:t>
                      </a:r>
                      <a:endParaRPr lang="en-US" altLang="zh-CN"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no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一年中的第几天</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no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常用</a:t>
                      </a:r>
                      <a:r>
                        <a:rPr lang="en-US" altLang="zh-CN" sz="1200" b="0" i="0">
                          <a:solidFill>
                            <a:srgbClr val="000000"/>
                          </a:solidFill>
                          <a:latin typeface="等线" panose="02010600030101010101" charset="-122"/>
                          <a:ea typeface="等线" panose="02010600030101010101" charset="-122"/>
                        </a:rPr>
                        <a:t>DDD</a:t>
                      </a:r>
                      <a:r>
                        <a:rPr lang="zh-CN" altLang="en-US" sz="1200" b="0" i="0">
                          <a:solidFill>
                            <a:srgbClr val="000000"/>
                          </a:solidFill>
                          <a:latin typeface="等线" panose="02010600030101010101" charset="-122"/>
                          <a:ea typeface="等线" panose="02010600030101010101" charset="-122"/>
                        </a:rPr>
                        <a:t>表示</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noFill/>
                  </a:tcPr>
                </a:tc>
              </a:tr>
              <a:tr h="317500">
                <a:tc>
                  <a:txBody>
                    <a:bodyPr/>
                    <a:p>
                      <a:pPr marL="9525" indent="0" algn="ctr" fontAlgn="ctr"/>
                      <a:r>
                        <a:rPr lang="en-US" altLang="zh-CN" sz="1200" b="0" i="0">
                          <a:solidFill>
                            <a:srgbClr val="000000"/>
                          </a:solidFill>
                          <a:latin typeface="等线" panose="02010600030101010101" charset="-122"/>
                          <a:ea typeface="等线" panose="02010600030101010101" charset="-122"/>
                        </a:rPr>
                        <a:t>E</a:t>
                      </a:r>
                      <a:endParaRPr lang="en-US" altLang="zh-CN"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DDEBF7"/>
                    </a:solid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星期几，用</a:t>
                      </a:r>
                      <a:r>
                        <a:rPr lang="en-US" altLang="zh-CN" sz="1200" b="0" i="0">
                          <a:solidFill>
                            <a:srgbClr val="000000"/>
                          </a:solidFill>
                          <a:latin typeface="等线" panose="02010600030101010101" charset="-122"/>
                          <a:ea typeface="等线" panose="02010600030101010101" charset="-122"/>
                        </a:rPr>
                        <a:t>E</a:t>
                      </a:r>
                      <a:r>
                        <a:rPr lang="zh-CN" altLang="en-US" sz="1200" b="0" i="0">
                          <a:solidFill>
                            <a:srgbClr val="000000"/>
                          </a:solidFill>
                          <a:latin typeface="等线" panose="02010600030101010101" charset="-122"/>
                          <a:ea typeface="等线" panose="02010600030101010101" charset="-122"/>
                        </a:rPr>
                        <a:t>表示星期</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DDEBF7"/>
                    </a:solidFill>
                  </a:tcPr>
                </a:tc>
                <a:tc>
                  <a:txBody>
                    <a:bodyPr/>
                    <a:p>
                      <a:pPr marL="9525" indent="0" algn="l" fontAlgn="ctr"/>
                      <a:r>
                        <a:rPr lang="en-US" altLang="zh-CN" sz="1200" b="0" i="0">
                          <a:solidFill>
                            <a:srgbClr val="000000"/>
                          </a:solidFill>
                          <a:latin typeface="等线" panose="02010600030101010101" charset="-122"/>
                          <a:ea typeface="等线" panose="02010600030101010101" charset="-122"/>
                        </a:rPr>
                        <a:t>CHINA</a:t>
                      </a:r>
                      <a:r>
                        <a:rPr lang="zh-CN" altLang="en-US" sz="1200" b="0" i="0">
                          <a:solidFill>
                            <a:srgbClr val="000000"/>
                          </a:solidFill>
                          <a:latin typeface="等线" panose="02010600030101010101" charset="-122"/>
                          <a:ea typeface="等线" panose="02010600030101010101" charset="-122"/>
                        </a:rPr>
                        <a:t>表示星期几，</a:t>
                      </a:r>
                      <a:r>
                        <a:rPr lang="en-US" altLang="zh-CN" sz="1200" b="0" i="0">
                          <a:solidFill>
                            <a:srgbClr val="000000"/>
                          </a:solidFill>
                          <a:latin typeface="等线" panose="02010600030101010101" charset="-122"/>
                          <a:ea typeface="等线" panose="02010600030101010101" charset="-122"/>
                        </a:rPr>
                        <a:t>US</a:t>
                      </a:r>
                      <a:r>
                        <a:rPr lang="zh-CN" altLang="en-US" sz="1200" b="0" i="0">
                          <a:solidFill>
                            <a:srgbClr val="000000"/>
                          </a:solidFill>
                          <a:latin typeface="等线" panose="02010600030101010101" charset="-122"/>
                          <a:ea typeface="等线" panose="02010600030101010101" charset="-122"/>
                        </a:rPr>
                        <a:t>表示英文缩写</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DDEBF7"/>
                    </a:solidFill>
                  </a:tcPr>
                </a:tc>
              </a:tr>
              <a:tr h="317500">
                <a:tc>
                  <a:txBody>
                    <a:bodyPr/>
                    <a:p>
                      <a:pPr marL="9525" indent="0" algn="ctr" fontAlgn="ctr"/>
                      <a:r>
                        <a:rPr lang="en-US" altLang="zh-CN" sz="1200" b="0" i="0">
                          <a:solidFill>
                            <a:srgbClr val="000000"/>
                          </a:solidFill>
                          <a:latin typeface="等线" panose="02010600030101010101" charset="-122"/>
                          <a:ea typeface="等线" panose="02010600030101010101" charset="-122"/>
                        </a:rPr>
                        <a:t>a</a:t>
                      </a:r>
                      <a:endParaRPr lang="en-US" altLang="zh-CN"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no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上午或下午</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noFill/>
                  </a:tcPr>
                </a:tc>
                <a:tc>
                  <a:txBody>
                    <a:bodyPr/>
                    <a:p>
                      <a:pPr marL="9525" indent="0" algn="l" fontAlgn="ctr"/>
                      <a:r>
                        <a:rPr lang="en-US" altLang="zh-CN" sz="1200" b="0" i="0">
                          <a:solidFill>
                            <a:srgbClr val="000000"/>
                          </a:solidFill>
                          <a:latin typeface="等线" panose="02010600030101010101" charset="-122"/>
                          <a:ea typeface="等线" panose="02010600030101010101" charset="-122"/>
                        </a:rPr>
                        <a:t>am</a:t>
                      </a:r>
                      <a:r>
                        <a:rPr lang="zh-CN" altLang="en-US" sz="1200" b="0" i="0">
                          <a:solidFill>
                            <a:srgbClr val="000000"/>
                          </a:solidFill>
                          <a:latin typeface="等线" panose="02010600030101010101" charset="-122"/>
                          <a:ea typeface="等线" panose="02010600030101010101" charset="-122"/>
                        </a:rPr>
                        <a:t>代表上午，</a:t>
                      </a:r>
                      <a:r>
                        <a:rPr lang="en-US" altLang="zh-CN" sz="1200" b="0" i="0">
                          <a:solidFill>
                            <a:srgbClr val="000000"/>
                          </a:solidFill>
                          <a:latin typeface="等线" panose="02010600030101010101" charset="-122"/>
                          <a:ea typeface="等线" panose="02010600030101010101" charset="-122"/>
                        </a:rPr>
                        <a:t>pm</a:t>
                      </a:r>
                      <a:r>
                        <a:rPr lang="zh-CN" altLang="en-US" sz="1200" b="0" i="0">
                          <a:solidFill>
                            <a:srgbClr val="000000"/>
                          </a:solidFill>
                          <a:latin typeface="等线" panose="02010600030101010101" charset="-122"/>
                          <a:ea typeface="等线" panose="02010600030101010101" charset="-122"/>
                        </a:rPr>
                        <a:t>代表下午</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noFill/>
                  </a:tcPr>
                </a:tc>
              </a:tr>
              <a:tr h="317500">
                <a:tc>
                  <a:txBody>
                    <a:bodyPr/>
                    <a:p>
                      <a:pPr marL="9525" indent="0" algn="ctr" fontAlgn="ctr"/>
                      <a:r>
                        <a:rPr lang="en-US" altLang="zh-CN" sz="1200" b="0" i="0">
                          <a:solidFill>
                            <a:srgbClr val="000000"/>
                          </a:solidFill>
                          <a:latin typeface="等线" panose="02010600030101010101" charset="-122"/>
                          <a:ea typeface="等线" panose="02010600030101010101" charset="-122"/>
                        </a:rPr>
                        <a:t>H</a:t>
                      </a:r>
                      <a:endParaRPr lang="en-US" altLang="zh-CN"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DDEBF7"/>
                    </a:solid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一天中的小时数，二十四小时制</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DDEBF7"/>
                    </a:solid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常用</a:t>
                      </a:r>
                      <a:r>
                        <a:rPr lang="en-US" altLang="zh-CN" sz="1200" b="0" i="0">
                          <a:solidFill>
                            <a:srgbClr val="000000"/>
                          </a:solidFill>
                          <a:latin typeface="等线" panose="02010600030101010101" charset="-122"/>
                          <a:ea typeface="等线" panose="02010600030101010101" charset="-122"/>
                        </a:rPr>
                        <a:t>HH</a:t>
                      </a:r>
                      <a:r>
                        <a:rPr lang="zh-CN" altLang="en-US" sz="1200" b="0" i="0">
                          <a:solidFill>
                            <a:srgbClr val="000000"/>
                          </a:solidFill>
                          <a:latin typeface="等线" panose="02010600030101010101" charset="-122"/>
                          <a:ea typeface="等线" panose="02010600030101010101" charset="-122"/>
                        </a:rPr>
                        <a:t>表示</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DDEBF7"/>
                    </a:solidFill>
                  </a:tcPr>
                </a:tc>
              </a:tr>
              <a:tr h="317500">
                <a:tc>
                  <a:txBody>
                    <a:bodyPr/>
                    <a:p>
                      <a:pPr marL="9525" indent="0" algn="ctr" fontAlgn="ctr"/>
                      <a:r>
                        <a:rPr lang="en-US" altLang="zh-CN" sz="1200" b="0" i="0">
                          <a:solidFill>
                            <a:srgbClr val="000000"/>
                          </a:solidFill>
                          <a:latin typeface="等线" panose="02010600030101010101" charset="-122"/>
                          <a:ea typeface="等线" panose="02010600030101010101" charset="-122"/>
                        </a:rPr>
                        <a:t>h</a:t>
                      </a:r>
                      <a:endParaRPr lang="en-US" altLang="zh-CN"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no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一天中的小时数，十二小时制</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no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常用</a:t>
                      </a:r>
                      <a:r>
                        <a:rPr lang="en-US" altLang="zh-CN" sz="1200" b="0" i="0">
                          <a:solidFill>
                            <a:srgbClr val="000000"/>
                          </a:solidFill>
                          <a:latin typeface="等线" panose="02010600030101010101" charset="-122"/>
                          <a:ea typeface="等线" panose="02010600030101010101" charset="-122"/>
                        </a:rPr>
                        <a:t>hh</a:t>
                      </a:r>
                      <a:r>
                        <a:rPr lang="zh-CN" altLang="en-US" sz="1200" b="0" i="0">
                          <a:solidFill>
                            <a:srgbClr val="000000"/>
                          </a:solidFill>
                          <a:latin typeface="等线" panose="02010600030101010101" charset="-122"/>
                          <a:ea typeface="等线" panose="02010600030101010101" charset="-122"/>
                        </a:rPr>
                        <a:t>表示</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noFill/>
                  </a:tcPr>
                </a:tc>
              </a:tr>
              <a:tr h="317500">
                <a:tc>
                  <a:txBody>
                    <a:bodyPr/>
                    <a:p>
                      <a:pPr marL="9525" indent="0" algn="ctr" fontAlgn="ctr"/>
                      <a:r>
                        <a:rPr lang="en-US" altLang="zh-CN" sz="1200" b="0" i="0">
                          <a:solidFill>
                            <a:srgbClr val="000000"/>
                          </a:solidFill>
                          <a:latin typeface="等线" panose="02010600030101010101" charset="-122"/>
                          <a:ea typeface="等线" panose="02010600030101010101" charset="-122"/>
                        </a:rPr>
                        <a:t>m</a:t>
                      </a:r>
                      <a:endParaRPr lang="en-US" altLang="zh-CN"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DDEBF7"/>
                    </a:solid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分钟数</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DDEBF7"/>
                    </a:solid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常用</a:t>
                      </a:r>
                      <a:r>
                        <a:rPr lang="en-US" altLang="zh-CN" sz="1200" b="0" i="0">
                          <a:solidFill>
                            <a:srgbClr val="000000"/>
                          </a:solidFill>
                          <a:latin typeface="等线" panose="02010600030101010101" charset="-122"/>
                          <a:ea typeface="等线" panose="02010600030101010101" charset="-122"/>
                        </a:rPr>
                        <a:t>mm</a:t>
                      </a:r>
                      <a:r>
                        <a:rPr lang="zh-CN" altLang="en-US" sz="1200" b="0" i="0">
                          <a:solidFill>
                            <a:srgbClr val="000000"/>
                          </a:solidFill>
                          <a:latin typeface="等线" panose="02010600030101010101" charset="-122"/>
                          <a:ea typeface="等线" panose="02010600030101010101" charset="-122"/>
                        </a:rPr>
                        <a:t>表示</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DDEBF7"/>
                    </a:solidFill>
                  </a:tcPr>
                </a:tc>
              </a:tr>
              <a:tr h="317500">
                <a:tc>
                  <a:txBody>
                    <a:bodyPr/>
                    <a:p>
                      <a:pPr marL="9525" indent="0" algn="ctr" fontAlgn="ctr"/>
                      <a:r>
                        <a:rPr lang="en-US" altLang="zh-CN" sz="1200" b="0" i="0">
                          <a:solidFill>
                            <a:srgbClr val="000000"/>
                          </a:solidFill>
                          <a:latin typeface="等线" panose="02010600030101010101" charset="-122"/>
                          <a:ea typeface="等线" panose="02010600030101010101" charset="-122"/>
                        </a:rPr>
                        <a:t>s</a:t>
                      </a:r>
                      <a:endParaRPr lang="en-US" altLang="zh-CN"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no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秒数</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no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常用</a:t>
                      </a:r>
                      <a:r>
                        <a:rPr lang="en-US" altLang="zh-CN" sz="1200" b="0" i="0">
                          <a:solidFill>
                            <a:srgbClr val="000000"/>
                          </a:solidFill>
                          <a:latin typeface="等线" panose="02010600030101010101" charset="-122"/>
                          <a:ea typeface="等线" panose="02010600030101010101" charset="-122"/>
                        </a:rPr>
                        <a:t>ss</a:t>
                      </a:r>
                      <a:r>
                        <a:rPr lang="zh-CN" altLang="en-US" sz="1200" b="0" i="0">
                          <a:solidFill>
                            <a:srgbClr val="000000"/>
                          </a:solidFill>
                          <a:latin typeface="等线" panose="02010600030101010101" charset="-122"/>
                          <a:ea typeface="等线" panose="02010600030101010101" charset="-122"/>
                        </a:rPr>
                        <a:t>表示</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noFill/>
                  </a:tcPr>
                </a:tc>
              </a:tr>
              <a:tr h="317500">
                <a:tc>
                  <a:txBody>
                    <a:bodyPr/>
                    <a:p>
                      <a:pPr marL="9525" indent="0" algn="ctr" fontAlgn="ctr"/>
                      <a:r>
                        <a:rPr lang="en-US" altLang="zh-CN" sz="1200" b="0" i="0">
                          <a:solidFill>
                            <a:srgbClr val="000000"/>
                          </a:solidFill>
                          <a:latin typeface="等线" panose="02010600030101010101" charset="-122"/>
                          <a:ea typeface="等线" panose="02010600030101010101" charset="-122"/>
                        </a:rPr>
                        <a:t>S</a:t>
                      </a:r>
                      <a:endParaRPr lang="en-US" altLang="zh-CN"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DDEBF7"/>
                    </a:solid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毫秒数</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DDEBF7"/>
                    </a:solidFill>
                  </a:tcPr>
                </a:tc>
                <a:tc>
                  <a:txBody>
                    <a:bodyPr/>
                    <a:p>
                      <a:pPr marL="9525" indent="0" algn="l" fontAlgn="ctr"/>
                      <a:r>
                        <a:rPr lang="zh-CN" altLang="en-US" sz="1200" b="0" i="0">
                          <a:solidFill>
                            <a:srgbClr val="000000"/>
                          </a:solidFill>
                          <a:latin typeface="等线" panose="02010600030101010101" charset="-122"/>
                          <a:ea typeface="等线" panose="02010600030101010101" charset="-122"/>
                        </a:rPr>
                        <a:t>常用</a:t>
                      </a:r>
                      <a:r>
                        <a:rPr lang="en-US" altLang="zh-CN" sz="1200" b="0" i="0">
                          <a:solidFill>
                            <a:srgbClr val="000000"/>
                          </a:solidFill>
                          <a:latin typeface="等线" panose="02010600030101010101" charset="-122"/>
                          <a:ea typeface="等线" panose="02010600030101010101" charset="-122"/>
                        </a:rPr>
                        <a:t>SSS</a:t>
                      </a:r>
                      <a:r>
                        <a:rPr lang="zh-CN" altLang="en-US" sz="1200" b="0" i="0">
                          <a:solidFill>
                            <a:srgbClr val="000000"/>
                          </a:solidFill>
                          <a:latin typeface="等线" panose="02010600030101010101" charset="-122"/>
                          <a:ea typeface="等线" panose="02010600030101010101" charset="-122"/>
                        </a:rPr>
                        <a:t>表示</a:t>
                      </a:r>
                      <a:endParaRPr lang="zh-CN" altLang="en-US" sz="1200" b="0" i="0">
                        <a:solidFill>
                          <a:srgbClr val="000000"/>
                        </a:solidFill>
                        <a:latin typeface="等线" panose="02010600030101010101" charset="-122"/>
                        <a:ea typeface="等线" panose="02010600030101010101" charset="-122"/>
                      </a:endParaRPr>
                    </a:p>
                  </a:txBody>
                  <a:tcPr marL="9842" marR="9842" marT="9842" anchor="ctr" anchorCtr="0">
                    <a:lnL>
                      <a:noFill/>
                    </a:lnL>
                    <a:lnR>
                      <a:noFill/>
                    </a:lnR>
                    <a:lnT>
                      <a:noFill/>
                    </a:lnT>
                    <a:lnB>
                      <a:noFill/>
                    </a:lnB>
                    <a:lnTlToBr>
                      <a:noFill/>
                    </a:lnTlToBr>
                    <a:lnBlToTr>
                      <a:noFill/>
                    </a:lnBlToTr>
                    <a:solidFill>
                      <a:srgbClr val="DDEBF7"/>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marL="0" lvl="1"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日期常用类和</a:t>
            </a:r>
            <a:r>
              <a:rPr lang="zh-CN" sz="2400" dirty="0">
                <a:ea typeface="宋体" panose="02010600030101010101" pitchFamily="2" charset="-122"/>
                <a:sym typeface="+mn-ea"/>
              </a:rPr>
              <a:t>常用方法</a:t>
            </a:r>
            <a:endParaRPr lang="zh-CN" sz="2400" dirty="0">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R="0" indent="0" algn="ctr" defTabSz="914400" fontAlgn="auto">
              <a:lnSpc>
                <a:spcPct val="100000"/>
              </a:lnSpc>
              <a:spcBef>
                <a:spcPts val="0"/>
              </a:spcBef>
              <a:spcAft>
                <a:spcPts val="0"/>
              </a:spcAft>
              <a:buClrTx/>
              <a:buSzTx/>
              <a:buFontTx/>
              <a:buNone/>
              <a:defRPr/>
            </a:pPr>
            <a:r>
              <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graphicFrame>
        <p:nvGraphicFramePr>
          <p:cNvPr id="3" name="表格 2"/>
          <p:cNvGraphicFramePr/>
          <p:nvPr>
            <p:custDataLst>
              <p:tags r:id="rId5"/>
            </p:custDataLst>
          </p:nvPr>
        </p:nvGraphicFramePr>
        <p:xfrm>
          <a:off x="1158240" y="1303655"/>
          <a:ext cx="9857740" cy="5867400"/>
        </p:xfrm>
        <a:graphic>
          <a:graphicData uri="http://schemas.openxmlformats.org/drawingml/2006/table">
            <a:tbl>
              <a:tblPr/>
              <a:tblGrid>
                <a:gridCol w="3813810"/>
                <a:gridCol w="6043930"/>
              </a:tblGrid>
              <a:tr h="358775">
                <a:tc>
                  <a:txBody>
                    <a:bodyPr/>
                    <a:p>
                      <a:pPr indent="0">
                        <a:buNone/>
                      </a:pPr>
                      <a:r>
                        <a:rPr lang="en-US" sz="1200" b="0">
                          <a:solidFill>
                            <a:srgbClr val="333333"/>
                          </a:solidFill>
                          <a:latin typeface="Open Sans" panose="020B0606030504020204" charset="-122"/>
                        </a:rPr>
                        <a:t>new Date()</a:t>
                      </a:r>
                      <a:endParaRPr 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获得当前时间</a:t>
                      </a:r>
                      <a:endParaRPr lang="zh-CN" sz="1200" b="0">
                        <a:solidFill>
                          <a:srgbClr val="333333"/>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358140">
                <a:tc>
                  <a:txBody>
                    <a:bodyPr/>
                    <a:p>
                      <a:pPr indent="0">
                        <a:buNone/>
                      </a:pPr>
                      <a:r>
                        <a:rPr lang="en-US" sz="1200" b="0">
                          <a:solidFill>
                            <a:schemeClr val="tx1"/>
                          </a:solidFill>
                          <a:latin typeface="Open Sans" panose="020B0606030504020204" charset="-122"/>
                        </a:rPr>
                        <a:t>new SimpleDateFormat("yyyy-MM-dd HH:mm:ss E")</a:t>
                      </a:r>
                      <a:endParaRPr lang="en-US" sz="1200" b="0">
                        <a:solidFill>
                          <a:schemeClr val="tx1"/>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sz="1200" b="0">
                          <a:solidFill>
                            <a:schemeClr val="tx1"/>
                          </a:solidFill>
                          <a:latin typeface="Arial" panose="020B0604020202020204" pitchFamily="34" charset="0"/>
                          <a:ea typeface="Open Sans" panose="020B0606030504020204" charset="-122"/>
                        </a:rPr>
                        <a:t>SimpleDateFormat类是用于日期格式化和解析的类。它位于java.text包中</a:t>
                      </a:r>
                      <a:endParaRPr sz="1200" b="0">
                        <a:solidFill>
                          <a:schemeClr val="tx1"/>
                        </a:solidFill>
                        <a:latin typeface="Arial" panose="020B0604020202020204" pitchFamily="34" charset="0"/>
                        <a:ea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594360">
                <a:tc>
                  <a:txBody>
                    <a:bodyPr/>
                    <a:p>
                      <a:pPr indent="0">
                        <a:buNone/>
                      </a:pPr>
                      <a:r>
                        <a:rPr sz="1200" b="0">
                          <a:solidFill>
                            <a:schemeClr val="tx1"/>
                          </a:solidFill>
                        </a:rPr>
                        <a:t>String format(Date date)</a:t>
                      </a:r>
                      <a:endParaRPr sz="1200" b="0">
                        <a:solidFill>
                          <a:schemeClr val="tx1"/>
                        </a:solidFill>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chemeClr val="tx1"/>
                          </a:solidFill>
                          <a:latin typeface="Arial" panose="020B0604020202020204" pitchFamily="34" charset="0"/>
                          <a:ea typeface="Open Sans" panose="020B0606030504020204" charset="-122"/>
                        </a:rPr>
                        <a:t> 通过指定格式来格式化</a:t>
                      </a:r>
                      <a:r>
                        <a:rPr lang="en-US" altLang="zh-CN" sz="1200" b="0">
                          <a:solidFill>
                            <a:schemeClr val="tx1"/>
                          </a:solidFill>
                          <a:latin typeface="Arial" panose="020B0604020202020204" pitchFamily="34" charset="0"/>
                          <a:ea typeface="Open Sans" panose="020B0606030504020204" charset="-122"/>
                        </a:rPr>
                        <a:t>date</a:t>
                      </a:r>
                      <a:r>
                        <a:rPr lang="zh-CN" altLang="en-US" sz="1200" b="0">
                          <a:solidFill>
                            <a:schemeClr val="tx1"/>
                          </a:solidFill>
                          <a:latin typeface="Arial" panose="020B0604020202020204" pitchFamily="34" charset="0"/>
                          <a:ea typeface="宋体" panose="02010600030101010101" pitchFamily="2" charset="-122"/>
                        </a:rPr>
                        <a:t>对象</a:t>
                      </a:r>
                      <a:endParaRPr lang="zh-CN" altLang="en-US" sz="1200" b="0">
                        <a:solidFill>
                          <a:schemeClr val="tx1"/>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407035">
                <a:tc>
                  <a:txBody>
                    <a:bodyPr/>
                    <a:p>
                      <a:pPr indent="0">
                        <a:buNone/>
                      </a:pPr>
                      <a:r>
                        <a:rPr lang="en-US" sz="1200" b="0">
                          <a:solidFill>
                            <a:srgbClr val="FF0000"/>
                          </a:solidFill>
                          <a:latin typeface="Open Sans" panose="020B0606030504020204" charset="-122"/>
                        </a:rPr>
                        <a:t>Calendar.getInstance()</a:t>
                      </a:r>
                      <a:endParaRPr lang="en-US" sz="1200" b="0">
                        <a:solidFill>
                          <a:srgbClr val="FF0000"/>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sz="1200">
                          <a:solidFill>
                            <a:srgbClr val="FF0000"/>
                          </a:solidFill>
                          <a:latin typeface="Open Sans" panose="020B0606030504020204" charset="-122"/>
                          <a:sym typeface="+mn-ea"/>
                        </a:rPr>
                        <a:t>获得保存当前时间的Calendar对象</a:t>
                      </a:r>
                      <a:endParaRPr sz="1200">
                        <a:solidFill>
                          <a:srgbClr val="FF0000"/>
                        </a:solidFill>
                        <a:latin typeface="Open Sans" panose="020B0606030504020204" charset="-122"/>
                        <a:sym typeface="+mn-ea"/>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407035">
                <a:tc>
                  <a:txBody>
                    <a:bodyPr/>
                    <a:p>
                      <a:pPr indent="0">
                        <a:buNone/>
                      </a:pPr>
                      <a:r>
                        <a:rPr lang="en-US" altLang="en-US" sz="1200" b="0">
                          <a:solidFill>
                            <a:srgbClr val="FF0000"/>
                          </a:solidFill>
                          <a:latin typeface="Open Sans" panose="020B0606030504020204" charset="-122"/>
                        </a:rPr>
                        <a:t> Date getTime()</a:t>
                      </a:r>
                      <a:endParaRPr lang="en-US" altLang="en-US" sz="1200" b="0">
                        <a:solidFill>
                          <a:srgbClr val="FF0000"/>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sz="1200">
                          <a:solidFill>
                            <a:srgbClr val="333333"/>
                          </a:solidFill>
                          <a:latin typeface="Arial" panose="020B0604020202020204" pitchFamily="34" charset="0"/>
                          <a:ea typeface="Open Sans" panose="020B0606030504020204" charset="-122"/>
                          <a:sym typeface="+mn-ea"/>
                        </a:rPr>
                        <a:t>获得当前时间</a:t>
                      </a:r>
                      <a:endParaRPr lang="zh-CN" altLang="en-US" sz="1200" b="0">
                        <a:solidFill>
                          <a:srgbClr val="FF0000"/>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smtClean="0">
                <a:solidFill>
                  <a:srgbClr val="002060"/>
                </a:solidFill>
                <a:latin typeface="思源黑体 CN Bold" panose="020B0800000000000000" pitchFamily="34" charset="-122"/>
                <a:ea typeface="宋体" panose="02010600030101010101" pitchFamily="2" charset="-122"/>
                <a:sym typeface="+mn-ea"/>
              </a:rPr>
              <a:t>日期处理案例</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553085" y="1030605"/>
            <a:ext cx="11184890" cy="5259705"/>
          </a:xfrm>
        </p:spPr>
        <p:txBody>
          <a:bodyPr>
            <a:noAutofit/>
          </a:bodyPr>
          <a:p>
            <a:pPr marL="0" indent="0" eaLnBrk="1" hangingPunct="1">
              <a:spcBef>
                <a:spcPts val="0"/>
              </a:spcBef>
              <a:buFont typeface="+mj-lt"/>
              <a:buNone/>
              <a:defRPr/>
            </a:pPr>
            <a:r>
              <a:rPr lang="en-US" altLang="zh-CN" sz="1800" dirty="0" smtClean="0">
                <a:solidFill>
                  <a:srgbClr val="002060"/>
                </a:solidFill>
                <a:ea typeface="宋体" panose="02010600030101010101" pitchFamily="2" charset="-122"/>
                <a:cs typeface="+mn-lt"/>
              </a:rPr>
              <a:t>public class TestDate {</a:t>
            </a:r>
            <a:endParaRPr lang="en-US" altLang="zh-CN" sz="18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800" dirty="0" smtClean="0">
                <a:solidFill>
                  <a:srgbClr val="002060"/>
                </a:solidFill>
                <a:ea typeface="宋体" panose="02010600030101010101" pitchFamily="2" charset="-122"/>
                <a:cs typeface="+mn-lt"/>
              </a:rPr>
              <a:t>    public static void main(String[] args) {</a:t>
            </a:r>
            <a:endParaRPr lang="en-US" altLang="zh-CN" sz="18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800" dirty="0" smtClean="0">
                <a:solidFill>
                  <a:srgbClr val="002060"/>
                </a:solidFill>
                <a:ea typeface="宋体" panose="02010600030101010101" pitchFamily="2" charset="-122"/>
                <a:cs typeface="+mn-lt"/>
              </a:rPr>
              <a:t>        //获得当前时间</a:t>
            </a:r>
            <a:endParaRPr lang="en-US" altLang="zh-CN" sz="18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800" dirty="0" smtClean="0">
                <a:solidFill>
                  <a:srgbClr val="002060"/>
                </a:solidFill>
                <a:ea typeface="宋体" panose="02010600030101010101" pitchFamily="2" charset="-122"/>
                <a:cs typeface="+mn-lt"/>
              </a:rPr>
              <a:t>        Date date = new Date();</a:t>
            </a:r>
            <a:endParaRPr lang="en-US" altLang="zh-CN" sz="18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800" dirty="0" smtClean="0">
                <a:solidFill>
                  <a:srgbClr val="002060"/>
                </a:solidFill>
                <a:ea typeface="宋体" panose="02010600030101010101" pitchFamily="2" charset="-122"/>
                <a:cs typeface="+mn-lt"/>
              </a:rPr>
              <a:t>        System.out.println(date);//Mon Jun 03 17:29:16 CST 2024</a:t>
            </a:r>
            <a:endParaRPr lang="en-US" altLang="zh-CN" sz="18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800" dirty="0" smtClean="0">
                <a:solidFill>
                  <a:srgbClr val="002060"/>
                </a:solidFill>
                <a:ea typeface="宋体" panose="02010600030101010101" pitchFamily="2" charset="-122"/>
                <a:cs typeface="+mn-lt"/>
              </a:rPr>
              <a:t>        //为当前时间定义新的格式</a:t>
            </a:r>
            <a:endParaRPr lang="en-US" altLang="zh-CN" sz="18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800" dirty="0" smtClean="0">
                <a:solidFill>
                  <a:srgbClr val="002060"/>
                </a:solidFill>
                <a:ea typeface="宋体" panose="02010600030101010101" pitchFamily="2" charset="-122"/>
                <a:cs typeface="+mn-lt"/>
              </a:rPr>
              <a:t>        DateFormat dateFormat01 = new SimpleDateFormat("yyyy-MM-dd HH:mm:ss E");</a:t>
            </a:r>
            <a:endParaRPr lang="en-US" altLang="zh-CN" sz="18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800" dirty="0" smtClean="0">
                <a:solidFill>
                  <a:srgbClr val="002060"/>
                </a:solidFill>
                <a:ea typeface="宋体" panose="02010600030101010101" pitchFamily="2" charset="-122"/>
                <a:cs typeface="+mn-lt"/>
              </a:rPr>
              <a:t>        System.out.println(dateFormat01.format(new Date()));//2024-06-03 17:29:16 周一</a:t>
            </a:r>
            <a:endParaRPr lang="en-US" altLang="zh-CN" sz="18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800" dirty="0" smtClean="0">
                <a:solidFill>
                  <a:srgbClr val="002060"/>
                </a:solidFill>
                <a:ea typeface="宋体" panose="02010600030101010101" pitchFamily="2" charset="-122"/>
                <a:cs typeface="+mn-lt"/>
              </a:rPr>
              <a:t>        DateFormat dateFormat02 = new SimpleDateFormat("D");</a:t>
            </a:r>
            <a:endParaRPr lang="en-US" altLang="zh-CN" sz="18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800" dirty="0" smtClean="0">
                <a:solidFill>
                  <a:srgbClr val="002060"/>
                </a:solidFill>
                <a:ea typeface="宋体" panose="02010600030101010101" pitchFamily="2" charset="-122"/>
                <a:cs typeface="+mn-lt"/>
              </a:rPr>
              <a:t>       </a:t>
            </a:r>
            <a:r>
              <a:rPr lang="en-US" altLang="zh-CN" sz="1600" dirty="0" smtClean="0">
                <a:solidFill>
                  <a:srgbClr val="002060"/>
                </a:solidFill>
                <a:ea typeface="宋体" panose="02010600030101010101" pitchFamily="2" charset="-122"/>
                <a:cs typeface="+mn-lt"/>
              </a:rPr>
              <a:t> System.out.println("今天是今年的第+" + dateFormat02.format(new Date()) + "+天");//今天是今年的第+155+天</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endParaRPr lang="en-US" altLang="zh-CN" sz="18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800" dirty="0" smtClean="0">
                <a:solidFill>
                  <a:srgbClr val="002060"/>
                </a:solidFill>
                <a:ea typeface="宋体" panose="02010600030101010101" pitchFamily="2" charset="-122"/>
                <a:cs typeface="+mn-lt"/>
              </a:rPr>
              <a:t>        //获得保存当前时间的Calendar对象</a:t>
            </a:r>
            <a:endParaRPr lang="en-US" altLang="zh-CN" sz="18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800" dirty="0" smtClean="0">
                <a:solidFill>
                  <a:srgbClr val="002060"/>
                </a:solidFill>
                <a:ea typeface="宋体" panose="02010600030101010101" pitchFamily="2" charset="-122"/>
                <a:cs typeface="+mn-lt"/>
              </a:rPr>
              <a:t>        Calendar calendar = Calendar.getInstance();</a:t>
            </a:r>
            <a:endParaRPr lang="en-US" altLang="zh-CN" sz="18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800" dirty="0" smtClean="0">
                <a:solidFill>
                  <a:srgbClr val="002060"/>
                </a:solidFill>
                <a:ea typeface="宋体" panose="02010600030101010101" pitchFamily="2" charset="-122"/>
                <a:cs typeface="+mn-lt"/>
              </a:rPr>
              <a:t>        //获得Calendar对象保存的时间</a:t>
            </a:r>
            <a:endParaRPr lang="en-US" altLang="zh-CN" sz="18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800" dirty="0" smtClean="0">
                <a:solidFill>
                  <a:srgbClr val="002060"/>
                </a:solidFill>
                <a:ea typeface="宋体" panose="02010600030101010101" pitchFamily="2" charset="-122"/>
                <a:cs typeface="+mn-lt"/>
              </a:rPr>
              <a:t>        Date d  = calendar.getTime();</a:t>
            </a:r>
            <a:endParaRPr lang="en-US" altLang="zh-CN" sz="18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800" dirty="0" smtClean="0">
                <a:solidFill>
                  <a:srgbClr val="002060"/>
                </a:solidFill>
                <a:ea typeface="宋体" panose="02010600030101010101" pitchFamily="2" charset="-122"/>
                <a:cs typeface="+mn-lt"/>
              </a:rPr>
              <a:t>        System.out.println(dateFormat01.format(d));//2024-06-03 17:29:16 周一</a:t>
            </a:r>
            <a:endParaRPr lang="en-US" altLang="zh-CN" sz="18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800" dirty="0" smtClean="0">
                <a:solidFill>
                  <a:srgbClr val="002060"/>
                </a:solidFill>
                <a:ea typeface="宋体" panose="02010600030101010101" pitchFamily="2" charset="-122"/>
                <a:cs typeface="+mn-lt"/>
              </a:rPr>
              <a:t>       </a:t>
            </a:r>
            <a:r>
              <a:rPr lang="en-US" altLang="zh-CN" sz="1600" dirty="0" smtClean="0">
                <a:solidFill>
                  <a:srgbClr val="002060"/>
                </a:solidFill>
                <a:ea typeface="宋体" panose="02010600030101010101" pitchFamily="2" charset="-122"/>
                <a:cs typeface="+mn-lt"/>
              </a:rPr>
              <a:t> System.out.println("今天是今年的第+" + calendar.get(Calendar.DAY_OF_YEAR) + "+天");//今天是今年的第+155+天</a:t>
            </a:r>
            <a:endParaRPr lang="en-US" altLang="zh-CN" sz="16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0" indent="0" eaLnBrk="1" hangingPunct="1">
              <a:spcBef>
                <a:spcPts val="0"/>
              </a:spcBef>
              <a:buFont typeface="+mj-lt"/>
              <a:buNone/>
              <a:defRPr/>
            </a:pPr>
            <a:r>
              <a:rPr lang="en-US" altLang="zh-CN" sz="1800" dirty="0" smtClean="0">
                <a:solidFill>
                  <a:srgbClr val="002060"/>
                </a:solidFill>
                <a:ea typeface="宋体" panose="02010600030101010101" pitchFamily="2" charset="-122"/>
                <a:cs typeface="+mn-lt"/>
              </a:rPr>
              <a:t>}</a:t>
            </a:r>
            <a:endParaRPr lang="en-US" altLang="zh-CN" sz="18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141730" y="3137535"/>
            <a:ext cx="981202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第四节 </a:t>
            </a:r>
            <a:r>
              <a:rPr lang="zh-CN" altLang="en-US" sz="6665" dirty="0">
                <a:solidFill>
                  <a:schemeClr val="bg1"/>
                </a:solidFill>
                <a:latin typeface="Arial" panose="020B0604020202020204" pitchFamily="34" charset="0"/>
                <a:ea typeface="宋体" panose="02010600030101010101" pitchFamily="2" charset="-122"/>
                <a:sym typeface="+mn-ea"/>
              </a:rPr>
              <a:t>工具</a:t>
            </a:r>
            <a:r>
              <a:rPr lang="zh-CN" altLang="en-US" sz="6665" dirty="0">
                <a:solidFill>
                  <a:schemeClr val="bg1"/>
                </a:solidFill>
                <a:latin typeface="Arial" panose="020B0604020202020204" pitchFamily="34" charset="0"/>
                <a:ea typeface="宋体" panose="02010600030101010101" pitchFamily="2" charset="-122"/>
                <a:sym typeface="+mn-ea"/>
              </a:rPr>
              <a:t>类</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r>
              <a:rPr lang="zh-CN" altLang="en-US" sz="2400" b="1" spc="300" dirty="0">
                <a:solidFill>
                  <a:srgbClr val="002060"/>
                </a:solidFill>
                <a:latin typeface="思源黑体 CN Bold" panose="020B0800000000000000" pitchFamily="34" charset="-122"/>
                <a:ea typeface="宋体" panose="02010600030101010101" pitchFamily="2" charset="-122"/>
                <a:sym typeface="+mn-ea"/>
              </a:rPr>
              <a:t>System类获取系统属性</a:t>
            </a:r>
            <a:endParaRPr lang="en-US" altLang="zh-CN"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R="0" indent="0" algn="ctr" defTabSz="914400" fontAlgn="auto">
              <a:lnSpc>
                <a:spcPct val="100000"/>
              </a:lnSpc>
              <a:spcBef>
                <a:spcPts val="0"/>
              </a:spcBef>
              <a:spcAft>
                <a:spcPts val="0"/>
              </a:spcAft>
              <a:buClrTx/>
              <a:buSzTx/>
              <a:buFontTx/>
              <a:buNone/>
              <a:defRPr/>
            </a:pPr>
            <a:r>
              <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graphicFrame>
        <p:nvGraphicFramePr>
          <p:cNvPr id="3" name="表格 2"/>
          <p:cNvGraphicFramePr/>
          <p:nvPr>
            <p:custDataLst>
              <p:tags r:id="rId5"/>
            </p:custDataLst>
          </p:nvPr>
        </p:nvGraphicFramePr>
        <p:xfrm>
          <a:off x="811530" y="1160145"/>
          <a:ext cx="9963785" cy="4704080"/>
        </p:xfrm>
        <a:graphic>
          <a:graphicData uri="http://schemas.openxmlformats.org/drawingml/2006/table">
            <a:tbl>
              <a:tblPr/>
              <a:tblGrid>
                <a:gridCol w="3503295"/>
                <a:gridCol w="6460490"/>
              </a:tblGrid>
              <a:tr h="294005">
                <a:tc>
                  <a:txBody>
                    <a:bodyPr/>
                    <a:p>
                      <a:pPr indent="0" algn="ctr">
                        <a:buNone/>
                      </a:pPr>
                      <a:r>
                        <a:rPr lang="en-US" sz="1200" b="1">
                          <a:solidFill>
                            <a:srgbClr val="333333"/>
                          </a:solidFill>
                          <a:latin typeface="Open Sans" panose="020B0606030504020204" charset="-122"/>
                          <a:sym typeface="+mn-ea"/>
                        </a:rPr>
                        <a:t>getProperty(String key)</a:t>
                      </a:r>
                      <a:endParaRPr lang="en-US" altLang="en-US" sz="1200" b="1">
                        <a:solidFill>
                          <a:srgbClr val="333333"/>
                        </a:solidFill>
                        <a:latin typeface="Open Sans" panose="020B0606030504020204" charset="-122"/>
                        <a:sym typeface="+mn-ea"/>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92D050"/>
                    </a:solidFill>
                  </a:tcPr>
                </a:tc>
                <a:tc>
                  <a:txBody>
                    <a:bodyPr/>
                    <a:p>
                      <a:pPr indent="0" algn="ctr">
                        <a:buNone/>
                      </a:pPr>
                      <a:r>
                        <a:rPr lang="zh-CN" sz="1200" b="1">
                          <a:solidFill>
                            <a:srgbClr val="333333"/>
                          </a:solidFill>
                          <a:latin typeface="Arial" panose="020B0604020202020204" pitchFamily="34" charset="0"/>
                          <a:ea typeface="Open Sans" panose="020B0606030504020204" charset="-122"/>
                        </a:rPr>
                        <a:t>描述</a:t>
                      </a:r>
                      <a:endParaRPr lang="zh-CN" altLang="en-US" sz="1200" b="1">
                        <a:solidFill>
                          <a:srgbClr val="333333"/>
                        </a:solidFill>
                        <a:latin typeface="Arial" panose="020B0604020202020204" pitchFamily="34" charset="0"/>
                        <a:ea typeface="Open Sans" panose="020B0606030504020204"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92D050"/>
                    </a:solidFill>
                  </a:tcPr>
                </a:tc>
              </a:tr>
              <a:tr h="29400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java.version</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 </a:t>
                      </a:r>
                      <a:r>
                        <a:rPr lang="zh-CN" altLang="en-US" sz="1200" b="0" i="0">
                          <a:solidFill>
                            <a:srgbClr val="000000"/>
                          </a:solidFill>
                          <a:latin typeface="宋体" panose="02010600030101010101" pitchFamily="2" charset="-122"/>
                          <a:ea typeface="宋体" panose="02010600030101010101" pitchFamily="2" charset="-122"/>
                        </a:rPr>
                        <a:t>运行时环境版本</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java.vendor</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a:t>
                      </a:r>
                      <a:r>
                        <a:rPr lang="zh-CN" altLang="en-US" sz="1200" b="0" i="0">
                          <a:solidFill>
                            <a:srgbClr val="000000"/>
                          </a:solidFill>
                          <a:latin typeface="宋体" panose="02010600030101010101" pitchFamily="2" charset="-122"/>
                          <a:ea typeface="宋体" panose="02010600030101010101" pitchFamily="2" charset="-122"/>
                        </a:rPr>
                        <a:t>运行时环境供应商</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r>
              <a:tr h="29400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java.home</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 </a:t>
                      </a:r>
                      <a:r>
                        <a:rPr lang="zh-CN" altLang="en-US" sz="1200" b="0" i="0">
                          <a:solidFill>
                            <a:srgbClr val="000000"/>
                          </a:solidFill>
                          <a:latin typeface="宋体" panose="02010600030101010101" pitchFamily="2" charset="-122"/>
                          <a:ea typeface="宋体" panose="02010600030101010101" pitchFamily="2" charset="-122"/>
                        </a:rPr>
                        <a:t>安装目录</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java.vm.specification.version</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 </a:t>
                      </a:r>
                      <a:r>
                        <a:rPr lang="zh-CN" altLang="en-US" sz="1200" b="0" i="0">
                          <a:solidFill>
                            <a:srgbClr val="000000"/>
                          </a:solidFill>
                          <a:latin typeface="宋体" panose="02010600030101010101" pitchFamily="2" charset="-122"/>
                          <a:ea typeface="宋体" panose="02010600030101010101" pitchFamily="2" charset="-122"/>
                        </a:rPr>
                        <a:t>虚拟机规范版本</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java.vm.specification.vendor</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 </a:t>
                      </a:r>
                      <a:r>
                        <a:rPr lang="zh-CN" altLang="en-US" sz="1200" b="0" i="0">
                          <a:solidFill>
                            <a:srgbClr val="000000"/>
                          </a:solidFill>
                          <a:latin typeface="宋体" panose="02010600030101010101" pitchFamily="2" charset="-122"/>
                          <a:ea typeface="宋体" panose="02010600030101010101" pitchFamily="2" charset="-122"/>
                        </a:rPr>
                        <a:t>虚拟机规范供应商</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java.vm.specification.name</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 </a:t>
                      </a:r>
                      <a:r>
                        <a:rPr lang="zh-CN" altLang="en-US" sz="1200" b="0" i="0">
                          <a:solidFill>
                            <a:srgbClr val="000000"/>
                          </a:solidFill>
                          <a:latin typeface="宋体" panose="02010600030101010101" pitchFamily="2" charset="-122"/>
                          <a:ea typeface="宋体" panose="02010600030101010101" pitchFamily="2" charset="-122"/>
                        </a:rPr>
                        <a:t>虚拟机规范名称</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java.vm.version</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 </a:t>
                      </a:r>
                      <a:r>
                        <a:rPr lang="zh-CN" altLang="en-US" sz="1200" b="0" i="0">
                          <a:solidFill>
                            <a:srgbClr val="000000"/>
                          </a:solidFill>
                          <a:latin typeface="宋体" panose="02010600030101010101" pitchFamily="2" charset="-122"/>
                          <a:ea typeface="宋体" panose="02010600030101010101" pitchFamily="2" charset="-122"/>
                        </a:rPr>
                        <a:t>虚拟机实现版本</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java.vm.vendor</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 </a:t>
                      </a:r>
                      <a:r>
                        <a:rPr lang="zh-CN" altLang="en-US" sz="1200" b="0" i="0">
                          <a:solidFill>
                            <a:srgbClr val="000000"/>
                          </a:solidFill>
                          <a:latin typeface="宋体" panose="02010600030101010101" pitchFamily="2" charset="-122"/>
                          <a:ea typeface="宋体" panose="02010600030101010101" pitchFamily="2" charset="-122"/>
                        </a:rPr>
                        <a:t>虚拟机实现供应商</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java.specification.version</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 </a:t>
                      </a:r>
                      <a:r>
                        <a:rPr lang="zh-CN" altLang="en-US" sz="1200" b="0" i="0">
                          <a:solidFill>
                            <a:srgbClr val="000000"/>
                          </a:solidFill>
                          <a:latin typeface="宋体" panose="02010600030101010101" pitchFamily="2" charset="-122"/>
                          <a:ea typeface="宋体" panose="02010600030101010101" pitchFamily="2" charset="-122"/>
                        </a:rPr>
                        <a:t>运行时环境规范版本</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java.specification.vendor</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 </a:t>
                      </a:r>
                      <a:r>
                        <a:rPr lang="zh-CN" altLang="en-US" sz="1200" b="0" i="0">
                          <a:solidFill>
                            <a:srgbClr val="000000"/>
                          </a:solidFill>
                          <a:latin typeface="宋体" panose="02010600030101010101" pitchFamily="2" charset="-122"/>
                          <a:ea typeface="宋体" panose="02010600030101010101" pitchFamily="2" charset="-122"/>
                        </a:rPr>
                        <a:t>运行时环境规范供应商</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java.specification.name</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 </a:t>
                      </a:r>
                      <a:r>
                        <a:rPr lang="zh-CN" altLang="en-US" sz="1200" b="0" i="0">
                          <a:solidFill>
                            <a:srgbClr val="000000"/>
                          </a:solidFill>
                          <a:latin typeface="宋体" panose="02010600030101010101" pitchFamily="2" charset="-122"/>
                          <a:ea typeface="宋体" panose="02010600030101010101" pitchFamily="2" charset="-122"/>
                        </a:rPr>
                        <a:t>运行时环境规范名称</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java.class.path</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Java </a:t>
                      </a:r>
                      <a:r>
                        <a:rPr lang="zh-CN" altLang="en-US" sz="1200" b="0" i="0">
                          <a:solidFill>
                            <a:srgbClr val="000000"/>
                          </a:solidFill>
                          <a:latin typeface="宋体" panose="02010600030101010101" pitchFamily="2" charset="-122"/>
                          <a:ea typeface="宋体" panose="02010600030101010101" pitchFamily="2" charset="-122"/>
                        </a:rPr>
                        <a:t>类路径</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os.name</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200" b="0" i="0">
                          <a:solidFill>
                            <a:srgbClr val="000000"/>
                          </a:solidFill>
                          <a:latin typeface="宋体" panose="02010600030101010101" pitchFamily="2" charset="-122"/>
                          <a:ea typeface="宋体" panose="02010600030101010101" pitchFamily="2" charset="-122"/>
                        </a:rPr>
                        <a:t>操作系统的名称</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os.arch</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200" b="0" i="0">
                          <a:solidFill>
                            <a:srgbClr val="000000"/>
                          </a:solidFill>
                          <a:latin typeface="宋体" panose="02010600030101010101" pitchFamily="2" charset="-122"/>
                          <a:ea typeface="宋体" panose="02010600030101010101" pitchFamily="2" charset="-122"/>
                        </a:rPr>
                        <a:t>操作系统的架构</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os.version</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200" b="0" i="0">
                          <a:solidFill>
                            <a:srgbClr val="000000"/>
                          </a:solidFill>
                          <a:latin typeface="宋体" panose="02010600030101010101" pitchFamily="2" charset="-122"/>
                          <a:ea typeface="宋体" panose="02010600030101010101" pitchFamily="2" charset="-122"/>
                        </a:rPr>
                        <a:t>操作系统的版本</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en-US" altLang="zh-CN" sz="2400" dirty="0" smtClean="0">
                <a:solidFill>
                  <a:srgbClr val="002060"/>
                </a:solidFill>
                <a:ea typeface="宋体" panose="02010600030101010101" pitchFamily="2" charset="-122"/>
                <a:cs typeface="+mn-lt"/>
                <a:sym typeface="+mn-ea"/>
              </a:rPr>
              <a:t>TestSystem </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640080" y="1035685"/>
            <a:ext cx="11184890" cy="3922395"/>
          </a:xfrm>
        </p:spPr>
        <p:txBody>
          <a:bodyPr>
            <a:noAutofit/>
          </a:bodyPr>
          <a:p>
            <a:pPr marL="342900" indent="-342900" eaLnBrk="1" hangingPunct="1">
              <a:lnSpc>
                <a:spcPct val="120000"/>
              </a:lnSpc>
              <a:spcBef>
                <a:spcPts val="0"/>
              </a:spcBef>
              <a:buFont typeface="+mj-lt"/>
              <a:buAutoNum type="arabicPeriod"/>
              <a:defRPr/>
            </a:pPr>
            <a:r>
              <a:rPr lang="en-US" altLang="zh-CN" sz="1400" dirty="0" smtClean="0">
                <a:solidFill>
                  <a:srgbClr val="002060"/>
                </a:solidFill>
                <a:ea typeface="宋体" panose="02010600030101010101" pitchFamily="2" charset="-122"/>
                <a:cs typeface="+mn-lt"/>
              </a:rPr>
              <a:t>public class TestSystem {</a:t>
            </a:r>
            <a:endParaRPr lang="en-US" altLang="zh-CN" sz="1400" dirty="0" smtClean="0">
              <a:solidFill>
                <a:srgbClr val="002060"/>
              </a:solidFill>
              <a:ea typeface="宋体" panose="02010600030101010101" pitchFamily="2" charset="-122"/>
              <a:cs typeface="+mn-lt"/>
            </a:endParaRPr>
          </a:p>
          <a:p>
            <a:pPr marL="342900" indent="-342900" eaLnBrk="1" hangingPunct="1">
              <a:lnSpc>
                <a:spcPct val="120000"/>
              </a:lnSpc>
              <a:spcBef>
                <a:spcPts val="0"/>
              </a:spcBef>
              <a:buFont typeface="+mj-lt"/>
              <a:buAutoNum type="arabicPeriod"/>
              <a:defRPr/>
            </a:pPr>
            <a:r>
              <a:rPr lang="en-US" altLang="zh-CN" sz="1400" dirty="0" smtClean="0">
                <a:solidFill>
                  <a:srgbClr val="002060"/>
                </a:solidFill>
                <a:ea typeface="宋体" panose="02010600030101010101" pitchFamily="2" charset="-122"/>
                <a:cs typeface="+mn-lt"/>
              </a:rPr>
              <a:t>    public static void main(String[] args) {</a:t>
            </a:r>
            <a:endParaRPr lang="en-US" altLang="zh-CN" sz="1400" dirty="0" smtClean="0">
              <a:solidFill>
                <a:srgbClr val="002060"/>
              </a:solidFill>
              <a:ea typeface="宋体" panose="02010600030101010101" pitchFamily="2" charset="-122"/>
              <a:cs typeface="+mn-lt"/>
            </a:endParaRPr>
          </a:p>
          <a:p>
            <a:pPr marL="342900" indent="-342900" eaLnBrk="1" hangingPunct="1">
              <a:lnSpc>
                <a:spcPct val="120000"/>
              </a:lnSpc>
              <a:spcBef>
                <a:spcPts val="0"/>
              </a:spcBef>
              <a:buFont typeface="+mj-lt"/>
              <a:buAutoNum type="arabicPeriod"/>
              <a:defRPr/>
            </a:pPr>
            <a:r>
              <a:rPr lang="en-US" altLang="zh-CN" sz="1400" dirty="0" smtClean="0">
                <a:solidFill>
                  <a:srgbClr val="002060"/>
                </a:solidFill>
                <a:ea typeface="宋体" panose="02010600030101010101" pitchFamily="2" charset="-122"/>
                <a:cs typeface="+mn-lt"/>
              </a:rPr>
              <a:t>        System.out.println("Java 运行时环境版本: " + System.getProperty("java.version"));</a:t>
            </a:r>
            <a:endParaRPr lang="en-US" altLang="zh-CN" sz="1400" dirty="0" smtClean="0">
              <a:solidFill>
                <a:srgbClr val="002060"/>
              </a:solidFill>
              <a:ea typeface="宋体" panose="02010600030101010101" pitchFamily="2" charset="-122"/>
              <a:cs typeface="+mn-lt"/>
            </a:endParaRPr>
          </a:p>
          <a:p>
            <a:pPr marL="342900" indent="-342900" eaLnBrk="1" hangingPunct="1">
              <a:lnSpc>
                <a:spcPct val="120000"/>
              </a:lnSpc>
              <a:spcBef>
                <a:spcPts val="0"/>
              </a:spcBef>
              <a:buFont typeface="+mj-lt"/>
              <a:buAutoNum type="arabicPeriod"/>
              <a:defRPr/>
            </a:pPr>
            <a:r>
              <a:rPr lang="en-US" altLang="zh-CN" sz="1400" dirty="0" smtClean="0">
                <a:solidFill>
                  <a:srgbClr val="002060"/>
                </a:solidFill>
                <a:ea typeface="宋体" panose="02010600030101010101" pitchFamily="2" charset="-122"/>
                <a:cs typeface="+mn-lt"/>
              </a:rPr>
              <a:t>        System.out.println("Java运行时环境供应商: " + System.getProperty("java.vendor"));</a:t>
            </a:r>
            <a:endParaRPr lang="en-US" altLang="zh-CN" sz="1400" dirty="0" smtClean="0">
              <a:solidFill>
                <a:srgbClr val="002060"/>
              </a:solidFill>
              <a:ea typeface="宋体" panose="02010600030101010101" pitchFamily="2" charset="-122"/>
              <a:cs typeface="+mn-lt"/>
            </a:endParaRPr>
          </a:p>
          <a:p>
            <a:pPr marL="342900" indent="-342900" eaLnBrk="1" hangingPunct="1">
              <a:lnSpc>
                <a:spcPct val="120000"/>
              </a:lnSpc>
              <a:spcBef>
                <a:spcPts val="0"/>
              </a:spcBef>
              <a:buFont typeface="+mj-lt"/>
              <a:buAutoNum type="arabicPeriod"/>
              <a:defRPr/>
            </a:pPr>
            <a:r>
              <a:rPr lang="en-US" altLang="zh-CN" sz="1400" dirty="0" smtClean="0">
                <a:solidFill>
                  <a:srgbClr val="002060"/>
                </a:solidFill>
                <a:ea typeface="宋体" panose="02010600030101010101" pitchFamily="2" charset="-122"/>
                <a:cs typeface="+mn-lt"/>
              </a:rPr>
              <a:t>        System.out.println("Java 安装目录: " + System.getProperty("java.home"));</a:t>
            </a:r>
            <a:endParaRPr lang="en-US" altLang="zh-CN" sz="1400" dirty="0" smtClean="0">
              <a:solidFill>
                <a:srgbClr val="002060"/>
              </a:solidFill>
              <a:ea typeface="宋体" panose="02010600030101010101" pitchFamily="2" charset="-122"/>
              <a:cs typeface="+mn-lt"/>
            </a:endParaRPr>
          </a:p>
          <a:p>
            <a:pPr marL="342900" indent="-342900" eaLnBrk="1" hangingPunct="1">
              <a:lnSpc>
                <a:spcPct val="120000"/>
              </a:lnSpc>
              <a:spcBef>
                <a:spcPts val="0"/>
              </a:spcBef>
              <a:buFont typeface="+mj-lt"/>
              <a:buAutoNum type="arabicPeriod"/>
              <a:defRPr/>
            </a:pPr>
            <a:r>
              <a:rPr lang="en-US" altLang="zh-CN" sz="1400" dirty="0" smtClean="0">
                <a:solidFill>
                  <a:srgbClr val="002060"/>
                </a:solidFill>
                <a:ea typeface="宋体" panose="02010600030101010101" pitchFamily="2" charset="-122"/>
                <a:cs typeface="+mn-lt"/>
              </a:rPr>
              <a:t>        System.out.println("Java 虚拟机规范版本: " + System.getProperty("java.vm.specification.version"));</a:t>
            </a:r>
            <a:endParaRPr lang="en-US" altLang="zh-CN" sz="1400" dirty="0" smtClean="0">
              <a:solidFill>
                <a:srgbClr val="002060"/>
              </a:solidFill>
              <a:ea typeface="宋体" panose="02010600030101010101" pitchFamily="2" charset="-122"/>
              <a:cs typeface="+mn-lt"/>
            </a:endParaRPr>
          </a:p>
          <a:p>
            <a:pPr marL="342900" indent="-342900" eaLnBrk="1" hangingPunct="1">
              <a:lnSpc>
                <a:spcPct val="120000"/>
              </a:lnSpc>
              <a:spcBef>
                <a:spcPts val="0"/>
              </a:spcBef>
              <a:buFont typeface="+mj-lt"/>
              <a:buAutoNum type="arabicPeriod"/>
              <a:defRPr/>
            </a:pPr>
            <a:r>
              <a:rPr lang="en-US" altLang="zh-CN" sz="1400" dirty="0" smtClean="0">
                <a:solidFill>
                  <a:srgbClr val="002060"/>
                </a:solidFill>
                <a:ea typeface="宋体" panose="02010600030101010101" pitchFamily="2" charset="-122"/>
                <a:cs typeface="+mn-lt"/>
              </a:rPr>
              <a:t>        System.out.println("Java 虚拟机规范供应商: " + System.getProperty("java.vm.specification.vendor"));</a:t>
            </a:r>
            <a:endParaRPr lang="en-US" altLang="zh-CN" sz="1400" dirty="0" smtClean="0">
              <a:solidFill>
                <a:srgbClr val="002060"/>
              </a:solidFill>
              <a:ea typeface="宋体" panose="02010600030101010101" pitchFamily="2" charset="-122"/>
              <a:cs typeface="+mn-lt"/>
            </a:endParaRPr>
          </a:p>
          <a:p>
            <a:pPr marL="342900" indent="-342900" eaLnBrk="1" hangingPunct="1">
              <a:lnSpc>
                <a:spcPct val="120000"/>
              </a:lnSpc>
              <a:spcBef>
                <a:spcPts val="0"/>
              </a:spcBef>
              <a:buFont typeface="+mj-lt"/>
              <a:buAutoNum type="arabicPeriod"/>
              <a:defRPr/>
            </a:pPr>
            <a:r>
              <a:rPr lang="en-US" altLang="zh-CN" sz="1400" dirty="0" smtClean="0">
                <a:solidFill>
                  <a:srgbClr val="002060"/>
                </a:solidFill>
                <a:ea typeface="宋体" panose="02010600030101010101" pitchFamily="2" charset="-122"/>
                <a:cs typeface="+mn-lt"/>
              </a:rPr>
              <a:t>        System.out.println("Java 虚拟机规范名称: " + System.getProperty("java.vm.specification.name"));</a:t>
            </a:r>
            <a:endParaRPr lang="en-US" altLang="zh-CN" sz="1400" dirty="0" smtClean="0">
              <a:solidFill>
                <a:srgbClr val="002060"/>
              </a:solidFill>
              <a:ea typeface="宋体" panose="02010600030101010101" pitchFamily="2" charset="-122"/>
              <a:cs typeface="+mn-lt"/>
            </a:endParaRPr>
          </a:p>
          <a:p>
            <a:pPr marL="342900" indent="-342900" eaLnBrk="1" hangingPunct="1">
              <a:lnSpc>
                <a:spcPct val="120000"/>
              </a:lnSpc>
              <a:spcBef>
                <a:spcPts val="0"/>
              </a:spcBef>
              <a:buFont typeface="+mj-lt"/>
              <a:buAutoNum type="arabicPeriod"/>
              <a:defRPr/>
            </a:pPr>
            <a:r>
              <a:rPr lang="en-US" altLang="zh-CN" sz="1400" dirty="0" smtClean="0">
                <a:solidFill>
                  <a:srgbClr val="002060"/>
                </a:solidFill>
                <a:ea typeface="宋体" panose="02010600030101010101" pitchFamily="2" charset="-122"/>
                <a:cs typeface="+mn-lt"/>
              </a:rPr>
              <a:t>        System.out.println("Java 虚拟机实现版本: " + System.getProperty("java.vm.version"));</a:t>
            </a:r>
            <a:endParaRPr lang="en-US" altLang="zh-CN" sz="1400" dirty="0" smtClean="0">
              <a:solidFill>
                <a:srgbClr val="002060"/>
              </a:solidFill>
              <a:ea typeface="宋体" panose="02010600030101010101" pitchFamily="2" charset="-122"/>
              <a:cs typeface="+mn-lt"/>
            </a:endParaRPr>
          </a:p>
          <a:p>
            <a:pPr marL="342900" indent="-342900" eaLnBrk="1" hangingPunct="1">
              <a:lnSpc>
                <a:spcPct val="120000"/>
              </a:lnSpc>
              <a:spcBef>
                <a:spcPts val="0"/>
              </a:spcBef>
              <a:buFont typeface="+mj-lt"/>
              <a:buAutoNum type="arabicPeriod"/>
              <a:defRPr/>
            </a:pPr>
            <a:r>
              <a:rPr lang="en-US" altLang="zh-CN" sz="1400" dirty="0" smtClean="0">
                <a:solidFill>
                  <a:srgbClr val="002060"/>
                </a:solidFill>
                <a:ea typeface="宋体" panose="02010600030101010101" pitchFamily="2" charset="-122"/>
                <a:cs typeface="+mn-lt"/>
              </a:rPr>
              <a:t>        System.out.println("Java 虚拟机实现供应商: " + System.getProperty("java.vm.vendor"));</a:t>
            </a:r>
            <a:endParaRPr lang="en-US" altLang="zh-CN" sz="1400" dirty="0" smtClean="0">
              <a:solidFill>
                <a:srgbClr val="002060"/>
              </a:solidFill>
              <a:ea typeface="宋体" panose="02010600030101010101" pitchFamily="2" charset="-122"/>
              <a:cs typeface="+mn-lt"/>
            </a:endParaRPr>
          </a:p>
          <a:p>
            <a:pPr marL="342900" indent="-342900" eaLnBrk="1" hangingPunct="1">
              <a:lnSpc>
                <a:spcPct val="120000"/>
              </a:lnSpc>
              <a:spcBef>
                <a:spcPts val="0"/>
              </a:spcBef>
              <a:buFont typeface="+mj-lt"/>
              <a:buAutoNum type="arabicPeriod"/>
              <a:defRPr/>
            </a:pPr>
            <a:r>
              <a:rPr lang="en-US" altLang="zh-CN" sz="1400" dirty="0" smtClean="0">
                <a:solidFill>
                  <a:srgbClr val="002060"/>
                </a:solidFill>
                <a:ea typeface="宋体" panose="02010600030101010101" pitchFamily="2" charset="-122"/>
                <a:cs typeface="+mn-lt"/>
              </a:rPr>
              <a:t>        System.out.println("Java 运行时环境规范版本: " + System.getProperty("java.specification.version"));</a:t>
            </a:r>
            <a:endParaRPr lang="en-US" altLang="zh-CN" sz="1400" dirty="0" smtClean="0">
              <a:solidFill>
                <a:srgbClr val="002060"/>
              </a:solidFill>
              <a:ea typeface="宋体" panose="02010600030101010101" pitchFamily="2" charset="-122"/>
              <a:cs typeface="+mn-lt"/>
            </a:endParaRPr>
          </a:p>
          <a:p>
            <a:pPr marL="342900" indent="-342900" eaLnBrk="1" hangingPunct="1">
              <a:lnSpc>
                <a:spcPct val="120000"/>
              </a:lnSpc>
              <a:spcBef>
                <a:spcPts val="0"/>
              </a:spcBef>
              <a:buFont typeface="+mj-lt"/>
              <a:buAutoNum type="arabicPeriod"/>
              <a:defRPr/>
            </a:pPr>
            <a:r>
              <a:rPr lang="en-US" altLang="zh-CN" sz="1400" dirty="0" smtClean="0">
                <a:solidFill>
                  <a:srgbClr val="002060"/>
                </a:solidFill>
                <a:ea typeface="宋体" panose="02010600030101010101" pitchFamily="2" charset="-122"/>
                <a:cs typeface="+mn-lt"/>
              </a:rPr>
              <a:t>        System.out.println("Java 运行时环境规范供应商: " + System.getProperty("java.specification.vendor"));</a:t>
            </a:r>
            <a:endParaRPr lang="en-US" altLang="zh-CN" sz="1400" dirty="0" smtClean="0">
              <a:solidFill>
                <a:srgbClr val="002060"/>
              </a:solidFill>
              <a:ea typeface="宋体" panose="02010600030101010101" pitchFamily="2" charset="-122"/>
              <a:cs typeface="+mn-lt"/>
            </a:endParaRPr>
          </a:p>
          <a:p>
            <a:pPr marL="342900" indent="-342900" eaLnBrk="1" hangingPunct="1">
              <a:lnSpc>
                <a:spcPct val="120000"/>
              </a:lnSpc>
              <a:spcBef>
                <a:spcPts val="0"/>
              </a:spcBef>
              <a:buFont typeface="+mj-lt"/>
              <a:buAutoNum type="arabicPeriod"/>
              <a:defRPr/>
            </a:pPr>
            <a:r>
              <a:rPr lang="en-US" altLang="zh-CN" sz="1400" dirty="0" smtClean="0">
                <a:solidFill>
                  <a:srgbClr val="002060"/>
                </a:solidFill>
                <a:ea typeface="宋体" panose="02010600030101010101" pitchFamily="2" charset="-122"/>
                <a:cs typeface="+mn-lt"/>
              </a:rPr>
              <a:t>        System.out.println("Java 运行时环境规范名称: " + System.getProperty("java.specification.name"));</a:t>
            </a:r>
            <a:endParaRPr lang="en-US" altLang="zh-CN" sz="1400" dirty="0" smtClean="0">
              <a:solidFill>
                <a:srgbClr val="002060"/>
              </a:solidFill>
              <a:ea typeface="宋体" panose="02010600030101010101" pitchFamily="2" charset="-122"/>
              <a:cs typeface="+mn-lt"/>
            </a:endParaRPr>
          </a:p>
          <a:p>
            <a:pPr marL="342900" indent="-342900" eaLnBrk="1" hangingPunct="1">
              <a:lnSpc>
                <a:spcPct val="120000"/>
              </a:lnSpc>
              <a:spcBef>
                <a:spcPts val="0"/>
              </a:spcBef>
              <a:buFont typeface="+mj-lt"/>
              <a:buAutoNum type="arabicPeriod"/>
              <a:defRPr/>
            </a:pPr>
            <a:r>
              <a:rPr lang="en-US" altLang="zh-CN" sz="1400" dirty="0" smtClean="0">
                <a:solidFill>
                  <a:srgbClr val="002060"/>
                </a:solidFill>
                <a:ea typeface="宋体" panose="02010600030101010101" pitchFamily="2" charset="-122"/>
                <a:cs typeface="+mn-lt"/>
              </a:rPr>
              <a:t>        System.out.println("Java 类路径: " + System.getProperty("java.class.path"));</a:t>
            </a:r>
            <a:endParaRPr lang="en-US" altLang="zh-CN" sz="1400" dirty="0" smtClean="0">
              <a:solidFill>
                <a:srgbClr val="002060"/>
              </a:solidFill>
              <a:ea typeface="宋体" panose="02010600030101010101" pitchFamily="2" charset="-122"/>
              <a:cs typeface="+mn-lt"/>
            </a:endParaRPr>
          </a:p>
          <a:p>
            <a:pPr marL="342900" indent="-342900" eaLnBrk="1" hangingPunct="1">
              <a:lnSpc>
                <a:spcPct val="120000"/>
              </a:lnSpc>
              <a:spcBef>
                <a:spcPts val="0"/>
              </a:spcBef>
              <a:buFont typeface="+mj-lt"/>
              <a:buAutoNum type="arabicPeriod"/>
              <a:defRPr/>
            </a:pPr>
            <a:r>
              <a:rPr lang="en-US" altLang="zh-CN" sz="1400" dirty="0" smtClean="0">
                <a:solidFill>
                  <a:srgbClr val="002060"/>
                </a:solidFill>
                <a:ea typeface="宋体" panose="02010600030101010101" pitchFamily="2" charset="-122"/>
                <a:cs typeface="+mn-lt"/>
              </a:rPr>
              <a:t>        System.out.println("操作系统的名称: " + System.getProperty("os.name"));</a:t>
            </a:r>
            <a:endParaRPr lang="en-US" altLang="zh-CN" sz="1400" dirty="0" smtClean="0">
              <a:solidFill>
                <a:srgbClr val="002060"/>
              </a:solidFill>
              <a:ea typeface="宋体" panose="02010600030101010101" pitchFamily="2" charset="-122"/>
              <a:cs typeface="+mn-lt"/>
            </a:endParaRPr>
          </a:p>
          <a:p>
            <a:pPr marL="342900" indent="-342900" eaLnBrk="1" hangingPunct="1">
              <a:lnSpc>
                <a:spcPct val="120000"/>
              </a:lnSpc>
              <a:spcBef>
                <a:spcPts val="0"/>
              </a:spcBef>
              <a:buFont typeface="+mj-lt"/>
              <a:buAutoNum type="arabicPeriod"/>
              <a:defRPr/>
            </a:pPr>
            <a:r>
              <a:rPr lang="en-US" altLang="zh-CN" sz="1400" dirty="0" smtClean="0">
                <a:solidFill>
                  <a:srgbClr val="002060"/>
                </a:solidFill>
                <a:ea typeface="宋体" panose="02010600030101010101" pitchFamily="2" charset="-122"/>
                <a:cs typeface="+mn-lt"/>
              </a:rPr>
              <a:t>        System.out.println("操作系统的架构: " + System.getProperty("os.arch"));</a:t>
            </a:r>
            <a:endParaRPr lang="en-US" altLang="zh-CN" sz="1400" dirty="0" smtClean="0">
              <a:solidFill>
                <a:srgbClr val="002060"/>
              </a:solidFill>
              <a:ea typeface="宋体" panose="02010600030101010101" pitchFamily="2" charset="-122"/>
              <a:cs typeface="+mn-lt"/>
            </a:endParaRPr>
          </a:p>
          <a:p>
            <a:pPr marL="342900" indent="-342900" eaLnBrk="1" hangingPunct="1">
              <a:lnSpc>
                <a:spcPct val="120000"/>
              </a:lnSpc>
              <a:spcBef>
                <a:spcPts val="0"/>
              </a:spcBef>
              <a:buFont typeface="+mj-lt"/>
              <a:buAutoNum type="arabicPeriod"/>
              <a:defRPr/>
            </a:pPr>
            <a:r>
              <a:rPr lang="en-US" altLang="zh-CN" sz="1400" dirty="0" smtClean="0">
                <a:solidFill>
                  <a:srgbClr val="002060"/>
                </a:solidFill>
                <a:ea typeface="宋体" panose="02010600030101010101" pitchFamily="2" charset="-122"/>
                <a:cs typeface="+mn-lt"/>
              </a:rPr>
              <a:t>        System.out.println("操作系统的版本: " + System.getProperty("os.version"));</a:t>
            </a:r>
            <a:endParaRPr lang="en-US" altLang="zh-CN" sz="1400" dirty="0" smtClean="0">
              <a:solidFill>
                <a:srgbClr val="002060"/>
              </a:solidFill>
              <a:ea typeface="宋体" panose="02010600030101010101" pitchFamily="2" charset="-122"/>
              <a:cs typeface="+mn-lt"/>
            </a:endParaRPr>
          </a:p>
          <a:p>
            <a:pPr marL="342900" indent="-342900" eaLnBrk="1" hangingPunct="1">
              <a:lnSpc>
                <a:spcPct val="120000"/>
              </a:lnSpc>
              <a:spcBef>
                <a:spcPts val="0"/>
              </a:spcBef>
              <a:buFont typeface="+mj-lt"/>
              <a:buAutoNum type="arabicPeriod"/>
              <a:defRPr/>
            </a:pPr>
            <a:r>
              <a:rPr lang="en-US" altLang="zh-CN" sz="1400" dirty="0" smtClean="0">
                <a:solidFill>
                  <a:srgbClr val="002060"/>
                </a:solidFill>
                <a:ea typeface="宋体" panose="02010600030101010101" pitchFamily="2" charset="-122"/>
                <a:cs typeface="+mn-lt"/>
              </a:rPr>
              <a:t>    }</a:t>
            </a:r>
            <a:endParaRPr lang="en-US" altLang="zh-CN" sz="1400" dirty="0" smtClean="0">
              <a:solidFill>
                <a:srgbClr val="002060"/>
              </a:solidFill>
              <a:ea typeface="宋体" panose="02010600030101010101" pitchFamily="2" charset="-122"/>
              <a:cs typeface="+mn-lt"/>
            </a:endParaRPr>
          </a:p>
          <a:p>
            <a:pPr marL="342900" indent="-342900" eaLnBrk="1" hangingPunct="1">
              <a:lnSpc>
                <a:spcPct val="120000"/>
              </a:lnSpc>
              <a:spcBef>
                <a:spcPts val="0"/>
              </a:spcBef>
              <a:buFont typeface="+mj-lt"/>
              <a:buAutoNum type="arabicPeriod"/>
              <a:defRPr/>
            </a:pPr>
            <a:r>
              <a:rPr lang="en-US" altLang="zh-CN" sz="1400" dirty="0" smtClean="0">
                <a:solidFill>
                  <a:srgbClr val="002060"/>
                </a:solidFill>
                <a:ea typeface="宋体" panose="02010600030101010101" pitchFamily="2" charset="-122"/>
                <a:cs typeface="+mn-lt"/>
              </a:rPr>
              <a:t>}</a:t>
            </a:r>
            <a:endParaRPr lang="en-US" altLang="zh-CN" sz="14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r>
              <a:rPr lang="zh-CN" altLang="en-US" sz="2400" b="1" spc="300" dirty="0">
                <a:solidFill>
                  <a:srgbClr val="002060"/>
                </a:solidFill>
                <a:latin typeface="思源黑体 CN Bold" panose="020B0800000000000000" pitchFamily="34" charset="-122"/>
                <a:ea typeface="宋体" panose="02010600030101010101" pitchFamily="2" charset="-122"/>
                <a:sym typeface="+mn-ea"/>
              </a:rPr>
              <a:t>Math类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R="0" indent="0" algn="ctr" defTabSz="914400" fontAlgn="auto">
              <a:lnSpc>
                <a:spcPct val="100000"/>
              </a:lnSpc>
              <a:spcBef>
                <a:spcPts val="0"/>
              </a:spcBef>
              <a:spcAft>
                <a:spcPts val="0"/>
              </a:spcAft>
              <a:buClrTx/>
              <a:buSzTx/>
              <a:buFontTx/>
              <a:buNone/>
              <a:defRPr/>
            </a:pPr>
            <a:r>
              <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421765"/>
            <a:ext cx="11037570" cy="4533265"/>
          </a:xfrm>
        </p:spPr>
        <p:txBody>
          <a:bodyPr>
            <a:normAutofit/>
          </a:bodyPr>
          <a:p>
            <a:pPr marL="457200" indent="-457200" algn="l">
              <a:lnSpc>
                <a:spcPct val="110000"/>
              </a:lnSpc>
              <a:buClr>
                <a:srgbClr val="ED7D31"/>
              </a:buClr>
              <a:buSzTx/>
              <a:buFont typeface="+mj-lt"/>
              <a:buAutoNum type="arabicPeriod"/>
            </a:pPr>
            <a:r>
              <a:rPr sz="2000">
                <a:ea typeface="宋体" panose="02010600030101010101" pitchFamily="2" charset="-122"/>
                <a:sym typeface="+mn-ea"/>
              </a:rPr>
              <a:t>java.lang.Math类我们称之为“数学相关的工具类”</a:t>
            </a:r>
            <a:r>
              <a:rPr lang="zh-CN" sz="2000">
                <a:ea typeface="宋体" panose="02010600030101010101" pitchFamily="2" charset="-122"/>
                <a:sym typeface="+mn-ea"/>
              </a:rPr>
              <a:t>，常用</a:t>
            </a:r>
            <a:r>
              <a:rPr sz="2000">
                <a:ea typeface="宋体" panose="02010600030101010101" pitchFamily="2" charset="-122"/>
                <a:sym typeface="+mn-ea"/>
              </a:rPr>
              <a:t>方法</a:t>
            </a:r>
            <a:r>
              <a:rPr lang="zh-CN" sz="2000">
                <a:ea typeface="宋体" panose="02010600030101010101" pitchFamily="2" charset="-122"/>
                <a:sym typeface="+mn-ea"/>
              </a:rPr>
              <a:t>如下：</a:t>
            </a:r>
            <a:endParaRPr sz="2000">
              <a:ea typeface="宋体" panose="02010600030101010101" pitchFamily="2" charset="-122"/>
              <a:sym typeface="+mn-ea"/>
            </a:endParaRPr>
          </a:p>
          <a:p>
            <a:pPr marL="457200" lvl="1" indent="-457200" algn="l">
              <a:lnSpc>
                <a:spcPct val="110000"/>
              </a:lnSpc>
              <a:spcBef>
                <a:spcPts val="1000"/>
              </a:spcBef>
              <a:buClr>
                <a:srgbClr val="ED7D31"/>
              </a:buClr>
              <a:buSzTx/>
              <a:buFont typeface="+mj-lt"/>
              <a:buAutoNum type="arabicPeriod"/>
            </a:pPr>
            <a:endParaRPr>
              <a:ea typeface="宋体" panose="02010600030101010101" pitchFamily="2" charset="-122"/>
              <a:sym typeface="+mn-ea"/>
            </a:endParaRPr>
          </a:p>
        </p:txBody>
      </p:sp>
      <p:graphicFrame>
        <p:nvGraphicFramePr>
          <p:cNvPr id="13" name="表格 12"/>
          <p:cNvGraphicFramePr/>
          <p:nvPr>
            <p:custDataLst>
              <p:tags r:id="rId5"/>
            </p:custDataLst>
          </p:nvPr>
        </p:nvGraphicFramePr>
        <p:xfrm>
          <a:off x="988060" y="2284730"/>
          <a:ext cx="9902825" cy="2806700"/>
        </p:xfrm>
        <a:graphic>
          <a:graphicData uri="http://schemas.openxmlformats.org/drawingml/2006/table">
            <a:tbl>
              <a:tblPr/>
              <a:tblGrid>
                <a:gridCol w="4768850"/>
                <a:gridCol w="5133975"/>
              </a:tblGrid>
              <a:tr h="280670">
                <a:tc>
                  <a:txBody>
                    <a:bodyPr/>
                    <a:p>
                      <a:pPr indent="0">
                        <a:buNone/>
                      </a:pPr>
                      <a:r>
                        <a:rPr lang="zh-CN" sz="1200" b="1">
                          <a:solidFill>
                            <a:srgbClr val="333333"/>
                          </a:solidFill>
                          <a:latin typeface="Arial" panose="020B0604020202020204" pitchFamily="34" charset="0"/>
                          <a:ea typeface="Open Sans" panose="020B0606030504020204" charset="-122"/>
                        </a:rPr>
                        <a:t>方法名</a:t>
                      </a:r>
                      <a:endParaRPr lang="en-US" altLang="en-US" sz="1200" b="1">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92D050"/>
                    </a:solidFill>
                  </a:tcPr>
                </a:tc>
                <a:tc>
                  <a:txBody>
                    <a:bodyPr/>
                    <a:p>
                      <a:pPr indent="0">
                        <a:buNone/>
                      </a:pPr>
                      <a:r>
                        <a:rPr lang="zh-CN" sz="1200" b="1">
                          <a:solidFill>
                            <a:srgbClr val="333333"/>
                          </a:solidFill>
                          <a:latin typeface="Arial" panose="020B0604020202020204" pitchFamily="34" charset="0"/>
                          <a:ea typeface="Open Sans" panose="020B0606030504020204" charset="-122"/>
                        </a:rPr>
                        <a:t>描述</a:t>
                      </a:r>
                      <a:endParaRPr lang="en-US" altLang="en-US" sz="1200" b="1">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92D050"/>
                    </a:solidFill>
                  </a:tcPr>
                </a:tc>
              </a:tr>
              <a:tr h="280670">
                <a:tc>
                  <a:txBody>
                    <a:bodyPr/>
                    <a:p>
                      <a:pPr indent="0">
                        <a:buNone/>
                      </a:pPr>
                      <a:r>
                        <a:rPr lang="en-US" sz="1200" b="0">
                          <a:solidFill>
                            <a:srgbClr val="333333"/>
                          </a:solidFill>
                          <a:latin typeface="Open Sans" panose="020B0606030504020204" charset="-122"/>
                        </a:rPr>
                        <a:t>public static double ceil(double a)</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返回大于参数的最小整数（向上取整）</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280670">
                <a:tc>
                  <a:txBody>
                    <a:bodyPr/>
                    <a:p>
                      <a:pPr indent="0">
                        <a:buNone/>
                      </a:pPr>
                      <a:r>
                        <a:rPr lang="en-US" sz="1200" b="0">
                          <a:solidFill>
                            <a:srgbClr val="333333"/>
                          </a:solidFill>
                          <a:latin typeface="Open Sans" panose="020B0606030504020204" charset="-122"/>
                        </a:rPr>
                        <a:t>public static double floor(double a)</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sz="1200" b="0">
                          <a:solidFill>
                            <a:srgbClr val="333333"/>
                          </a:solidFill>
                          <a:latin typeface="Arial" panose="020B0604020202020204" pitchFamily="34" charset="0"/>
                          <a:ea typeface="Open Sans" panose="020B0606030504020204" charset="-122"/>
                        </a:rPr>
                        <a:t>返回小于参数的最大整数（向下取整）</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280670">
                <a:tc>
                  <a:txBody>
                    <a:bodyPr/>
                    <a:p>
                      <a:pPr indent="0">
                        <a:buNone/>
                      </a:pPr>
                      <a:r>
                        <a:rPr lang="en-US" sz="1200" b="0">
                          <a:solidFill>
                            <a:srgbClr val="333333"/>
                          </a:solidFill>
                          <a:latin typeface="Open Sans" panose="020B0606030504020204" charset="-122"/>
                        </a:rPr>
                        <a:t>public static long round(double a)</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返回四舍五入的整数</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280670">
                <a:tc>
                  <a:txBody>
                    <a:bodyPr/>
                    <a:p>
                      <a:pPr indent="0">
                        <a:buNone/>
                      </a:pPr>
                      <a:r>
                        <a:rPr lang="en-US" sz="1200" b="0">
                          <a:solidFill>
                            <a:srgbClr val="333333"/>
                          </a:solidFill>
                          <a:latin typeface="Open Sans" panose="020B0606030504020204" charset="-122"/>
                        </a:rPr>
                        <a:t>public static int max(int a, int b)</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返回两个数的最大值</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280670">
                <a:tc>
                  <a:txBody>
                    <a:bodyPr/>
                    <a:p>
                      <a:pPr indent="0">
                        <a:buNone/>
                      </a:pPr>
                      <a:r>
                        <a:rPr lang="en-US" sz="1200" b="0">
                          <a:solidFill>
                            <a:srgbClr val="333333"/>
                          </a:solidFill>
                          <a:latin typeface="Open Sans" panose="020B0606030504020204" charset="-122"/>
                        </a:rPr>
                        <a:t>public static int min(int a, int b)</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sz="1200" b="0">
                          <a:solidFill>
                            <a:srgbClr val="333333"/>
                          </a:solidFill>
                          <a:latin typeface="Arial" panose="020B0604020202020204" pitchFamily="34" charset="0"/>
                          <a:ea typeface="Open Sans" panose="020B0606030504020204" charset="-122"/>
                        </a:rPr>
                        <a:t>返回两个数的最小值</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280670">
                <a:tc>
                  <a:txBody>
                    <a:bodyPr/>
                    <a:p>
                      <a:pPr indent="0">
                        <a:buNone/>
                      </a:pPr>
                      <a:r>
                        <a:rPr lang="en-US" sz="1200" b="0">
                          <a:solidFill>
                            <a:srgbClr val="333333"/>
                          </a:solidFill>
                          <a:latin typeface="Open Sans" panose="020B0606030504020204" charset="-122"/>
                        </a:rPr>
                        <a:t>public static int abs(int a)</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获取a的绝对值</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280670">
                <a:tc>
                  <a:txBody>
                    <a:bodyPr/>
                    <a:p>
                      <a:pPr indent="0">
                        <a:buNone/>
                      </a:pPr>
                      <a:r>
                        <a:rPr lang="en-US" sz="1200" b="0">
                          <a:solidFill>
                            <a:srgbClr val="333333"/>
                          </a:solidFill>
                          <a:latin typeface="Open Sans" panose="020B0606030504020204" charset="-122"/>
                        </a:rPr>
                        <a:t>public static double pow(double a, double b)</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c>
                  <a:txBody>
                    <a:bodyPr/>
                    <a:p>
                      <a:pPr indent="0">
                        <a:buNone/>
                      </a:pPr>
                      <a:r>
                        <a:rPr lang="zh-CN" sz="1200" b="0">
                          <a:solidFill>
                            <a:srgbClr val="333333"/>
                          </a:solidFill>
                          <a:latin typeface="Arial" panose="020B0604020202020204" pitchFamily="34" charset="0"/>
                          <a:ea typeface="Open Sans" panose="020B0606030504020204" charset="-122"/>
                        </a:rPr>
                        <a:t>获得a的b次方</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F8F8"/>
                    </a:solidFill>
                  </a:tcPr>
                </a:tc>
              </a:tr>
              <a:tr h="280670">
                <a:tc>
                  <a:txBody>
                    <a:bodyPr/>
                    <a:p>
                      <a:pPr indent="0">
                        <a:buNone/>
                      </a:pPr>
                      <a:r>
                        <a:rPr lang="en-US" sz="1200" b="0">
                          <a:solidFill>
                            <a:srgbClr val="333333"/>
                          </a:solidFill>
                          <a:latin typeface="Open Sans" panose="020B0606030504020204" charset="-122"/>
                        </a:rPr>
                        <a:t>public static double sqrt(double a)</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对a执行开平方的操作</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280670">
                <a:tc>
                  <a:txBody>
                    <a:bodyPr/>
                    <a:p>
                      <a:pPr indent="0">
                        <a:buNone/>
                      </a:pPr>
                      <a:r>
                        <a:rPr lang="en-US" sz="1200" b="0">
                          <a:solidFill>
                            <a:srgbClr val="333333"/>
                          </a:solidFill>
                          <a:latin typeface="Open Sans" panose="020B0606030504020204" charset="-122"/>
                        </a:rPr>
                        <a:t>public static double random()</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buNone/>
                      </a:pPr>
                      <a:r>
                        <a:rPr lang="zh-CN" sz="1200" b="0">
                          <a:solidFill>
                            <a:srgbClr val="333333"/>
                          </a:solidFill>
                          <a:latin typeface="Arial" panose="020B0604020202020204" pitchFamily="34" charset="0"/>
                          <a:ea typeface="Open Sans" panose="020B0606030504020204" charset="-122"/>
                        </a:rPr>
                        <a:t>获得[0.0, 1.0)之间的随机小数</a:t>
                      </a:r>
                      <a:endParaRPr lang="en-US" altLang="en-US" sz="1200" b="0">
                        <a:solidFill>
                          <a:srgbClr val="333333"/>
                        </a:solidFill>
                        <a:latin typeface="Open Sans" panose="020B060603050402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r>
              <a:rPr sz="2400">
                <a:ea typeface="宋体" panose="02010600030101010101" pitchFamily="2" charset="-122"/>
                <a:sym typeface="+mn-ea"/>
              </a:rPr>
              <a:t>UUID</a:t>
            </a:r>
            <a:r>
              <a:rPr lang="zh-CN" altLang="en-US" sz="2400" b="1" spc="300" dirty="0">
                <a:solidFill>
                  <a:srgbClr val="002060"/>
                </a:solidFill>
                <a:latin typeface="思源黑体 CN Bold" panose="020B0800000000000000" pitchFamily="34" charset="-122"/>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R="0" indent="0" algn="ctr" defTabSz="914400" fontAlgn="auto">
              <a:lnSpc>
                <a:spcPct val="100000"/>
              </a:lnSpc>
              <a:spcBef>
                <a:spcPts val="0"/>
              </a:spcBef>
              <a:spcAft>
                <a:spcPts val="0"/>
              </a:spcAft>
              <a:buClrTx/>
              <a:buSzTx/>
              <a:buFontTx/>
              <a:buNone/>
              <a:defRPr/>
            </a:pPr>
            <a:r>
              <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421765"/>
            <a:ext cx="11037570" cy="4533265"/>
          </a:xfrm>
        </p:spPr>
        <p:txBody>
          <a:bodyPr>
            <a:normAutofit fontScale="60000"/>
          </a:bodyPr>
          <a:p>
            <a:pPr marL="457200" indent="-457200" algn="l">
              <a:lnSpc>
                <a:spcPct val="110000"/>
              </a:lnSpc>
              <a:buClr>
                <a:srgbClr val="ED7D31"/>
              </a:buClr>
              <a:buSzTx/>
              <a:buFont typeface="+mj-lt"/>
              <a:buAutoNum type="arabicPeriod"/>
            </a:pPr>
            <a:r>
              <a:rPr sz="2665">
                <a:ea typeface="宋体" panose="02010600030101010101" pitchFamily="2" charset="-122"/>
                <a:sym typeface="+mn-ea"/>
              </a:rPr>
              <a:t>UUID是通用唯一识别码(Universally Unique Identifier)的缩写，是一种软件构建的标准，其目的是让分布式系统中的所有元素，都能有唯一的辨识信息，不需要通过中央控制端来做辨识信息的指定。它由一组32位数的16进制数字所构成</a:t>
            </a:r>
            <a:r>
              <a:rPr lang="zh-CN" sz="2665">
                <a:ea typeface="宋体" panose="02010600030101010101" pitchFamily="2" charset="-122"/>
                <a:sym typeface="+mn-ea"/>
              </a:rPr>
              <a:t>；</a:t>
            </a:r>
            <a:endParaRPr lang="zh-CN" sz="2665">
              <a:ea typeface="宋体" panose="02010600030101010101" pitchFamily="2" charset="-122"/>
              <a:sym typeface="+mn-ea"/>
            </a:endParaRPr>
          </a:p>
          <a:p>
            <a:pPr marL="457200" indent="-457200" algn="l">
              <a:lnSpc>
                <a:spcPct val="110000"/>
              </a:lnSpc>
              <a:buClr>
                <a:srgbClr val="ED7D31"/>
              </a:buClr>
              <a:buSzTx/>
              <a:buFont typeface="+mj-lt"/>
              <a:buAutoNum type="arabicPeriod"/>
            </a:pPr>
            <a:r>
              <a:rPr lang="zh-CN" sz="2000">
                <a:ea typeface="宋体" panose="02010600030101010101" pitchFamily="2" charset="-122"/>
                <a:sym typeface="+mn-ea"/>
              </a:rPr>
              <a:t>应用案例：</a:t>
            </a:r>
            <a:endParaRPr>
              <a:ea typeface="宋体" panose="02010600030101010101" pitchFamily="2" charset="-122"/>
              <a:sym typeface="+mn-ea"/>
            </a:endParaRPr>
          </a:p>
          <a:p>
            <a:pPr marL="457200" lvl="1" indent="-457200" algn="l">
              <a:lnSpc>
                <a:spcPct val="110000"/>
              </a:lnSpc>
              <a:spcBef>
                <a:spcPts val="1000"/>
              </a:spcBef>
              <a:buClr>
                <a:srgbClr val="ED7D31"/>
              </a:buClr>
              <a:buSzTx/>
              <a:buFont typeface="+mj-lt"/>
              <a:buAutoNum type="arabicPeriod"/>
            </a:pPr>
            <a:r>
              <a:rPr>
                <a:ea typeface="宋体" panose="02010600030101010101" pitchFamily="2" charset="-122"/>
                <a:sym typeface="+mn-ea"/>
              </a:rPr>
              <a:t>import java.util.UUID;</a:t>
            </a:r>
            <a:endParaRPr>
              <a:ea typeface="宋体" panose="02010600030101010101" pitchFamily="2" charset="-122"/>
              <a:sym typeface="+mn-ea"/>
            </a:endParaRPr>
          </a:p>
          <a:p>
            <a:pPr marL="457200" lvl="1" indent="-457200" algn="l">
              <a:lnSpc>
                <a:spcPct val="110000"/>
              </a:lnSpc>
              <a:spcBef>
                <a:spcPts val="1000"/>
              </a:spcBef>
              <a:buClr>
                <a:srgbClr val="ED7D31"/>
              </a:buClr>
              <a:buSzTx/>
              <a:buFont typeface="+mj-lt"/>
              <a:buAutoNum type="arabicPeriod"/>
            </a:pPr>
            <a:r>
              <a:rPr>
                <a:ea typeface="宋体" panose="02010600030101010101" pitchFamily="2" charset="-122"/>
                <a:sym typeface="+mn-ea"/>
              </a:rPr>
              <a:t>public class Test {</a:t>
            </a:r>
            <a:endParaRPr>
              <a:ea typeface="宋体" panose="02010600030101010101" pitchFamily="2" charset="-122"/>
              <a:sym typeface="+mn-ea"/>
            </a:endParaRPr>
          </a:p>
          <a:p>
            <a:pPr marL="457200" lvl="1" indent="-457200" algn="l">
              <a:lnSpc>
                <a:spcPct val="110000"/>
              </a:lnSpc>
              <a:spcBef>
                <a:spcPts val="1000"/>
              </a:spcBef>
              <a:buClr>
                <a:srgbClr val="ED7D31"/>
              </a:buClr>
              <a:buSzTx/>
              <a:buFont typeface="+mj-lt"/>
              <a:buAutoNum type="arabicPeriod"/>
            </a:pPr>
            <a:r>
              <a:rPr>
                <a:ea typeface="宋体" panose="02010600030101010101" pitchFamily="2" charset="-122"/>
                <a:sym typeface="+mn-ea"/>
              </a:rPr>
              <a:t>	public static void main(String[] args) {</a:t>
            </a:r>
            <a:endParaRPr>
              <a:ea typeface="宋体" panose="02010600030101010101" pitchFamily="2" charset="-122"/>
              <a:sym typeface="+mn-ea"/>
            </a:endParaRPr>
          </a:p>
          <a:p>
            <a:pPr marL="457200" lvl="1" indent="-457200" algn="l">
              <a:lnSpc>
                <a:spcPct val="110000"/>
              </a:lnSpc>
              <a:spcBef>
                <a:spcPts val="1000"/>
              </a:spcBef>
              <a:buClr>
                <a:srgbClr val="ED7D31"/>
              </a:buClr>
              <a:buSzTx/>
              <a:buFont typeface="+mj-lt"/>
              <a:buAutoNum type="arabicPeriod"/>
            </a:pPr>
            <a:r>
              <a:rPr>
                <a:ea typeface="宋体" panose="02010600030101010101" pitchFamily="2" charset="-122"/>
                <a:sym typeface="+mn-ea"/>
              </a:rPr>
              <a:t>		// 生成一个随机的UUID对象</a:t>
            </a:r>
            <a:endParaRPr>
              <a:ea typeface="宋体" panose="02010600030101010101" pitchFamily="2" charset="-122"/>
              <a:sym typeface="+mn-ea"/>
            </a:endParaRPr>
          </a:p>
          <a:p>
            <a:pPr marL="457200" lvl="1" indent="-457200" algn="l">
              <a:lnSpc>
                <a:spcPct val="110000"/>
              </a:lnSpc>
              <a:spcBef>
                <a:spcPts val="1000"/>
              </a:spcBef>
              <a:buClr>
                <a:srgbClr val="ED7D31"/>
              </a:buClr>
              <a:buSzTx/>
              <a:buFont typeface="+mj-lt"/>
              <a:buAutoNum type="arabicPeriod"/>
            </a:pPr>
            <a:r>
              <a:rPr>
                <a:ea typeface="宋体" panose="02010600030101010101" pitchFamily="2" charset="-122"/>
                <a:sym typeface="+mn-ea"/>
              </a:rPr>
              <a:t>		UUID uuid = UUID.randomUUID();</a:t>
            </a:r>
            <a:endParaRPr>
              <a:ea typeface="宋体" panose="02010600030101010101" pitchFamily="2" charset="-122"/>
              <a:sym typeface="+mn-ea"/>
            </a:endParaRPr>
          </a:p>
          <a:p>
            <a:pPr marL="457200" lvl="1" indent="-457200" algn="l">
              <a:lnSpc>
                <a:spcPct val="110000"/>
              </a:lnSpc>
              <a:spcBef>
                <a:spcPts val="1000"/>
              </a:spcBef>
              <a:buClr>
                <a:srgbClr val="ED7D31"/>
              </a:buClr>
              <a:buSzTx/>
              <a:buFont typeface="+mj-lt"/>
              <a:buAutoNum type="arabicPeriod"/>
            </a:pPr>
            <a:r>
              <a:rPr>
                <a:ea typeface="宋体" panose="02010600030101010101" pitchFamily="2" charset="-122"/>
                <a:sym typeface="+mn-ea"/>
              </a:rPr>
              <a:t>		// 把UUID对象转化为字符串</a:t>
            </a:r>
            <a:endParaRPr>
              <a:ea typeface="宋体" panose="02010600030101010101" pitchFamily="2" charset="-122"/>
              <a:sym typeface="+mn-ea"/>
            </a:endParaRPr>
          </a:p>
          <a:p>
            <a:pPr marL="457200" lvl="1" indent="-457200" algn="l">
              <a:lnSpc>
                <a:spcPct val="110000"/>
              </a:lnSpc>
              <a:spcBef>
                <a:spcPts val="1000"/>
              </a:spcBef>
              <a:buClr>
                <a:srgbClr val="ED7D31"/>
              </a:buClr>
              <a:buSzTx/>
              <a:buFont typeface="+mj-lt"/>
              <a:buAutoNum type="arabicPeriod"/>
            </a:pPr>
            <a:r>
              <a:rPr>
                <a:ea typeface="宋体" panose="02010600030101010101" pitchFamily="2" charset="-122"/>
                <a:sym typeface="+mn-ea"/>
              </a:rPr>
              <a:t>		String code = uuid.toString();</a:t>
            </a:r>
            <a:endParaRPr>
              <a:ea typeface="宋体" panose="02010600030101010101" pitchFamily="2" charset="-122"/>
              <a:sym typeface="+mn-ea"/>
            </a:endParaRPr>
          </a:p>
          <a:p>
            <a:pPr marL="457200" lvl="1" indent="-457200" algn="l">
              <a:lnSpc>
                <a:spcPct val="110000"/>
              </a:lnSpc>
              <a:spcBef>
                <a:spcPts val="1000"/>
              </a:spcBef>
              <a:buClr>
                <a:srgbClr val="ED7D31"/>
              </a:buClr>
              <a:buSzTx/>
              <a:buFont typeface="+mj-lt"/>
              <a:buAutoNum type="arabicPeriod"/>
            </a:pPr>
            <a:r>
              <a:rPr>
                <a:ea typeface="宋体" panose="02010600030101010101" pitchFamily="2" charset="-122"/>
                <a:sym typeface="+mn-ea"/>
              </a:rPr>
              <a:t>		System.out.println(code);</a:t>
            </a:r>
            <a:endParaRPr>
              <a:ea typeface="宋体" panose="02010600030101010101" pitchFamily="2" charset="-122"/>
              <a:sym typeface="+mn-ea"/>
            </a:endParaRPr>
          </a:p>
          <a:p>
            <a:pPr marL="457200" lvl="1" indent="-457200" algn="l">
              <a:lnSpc>
                <a:spcPct val="110000"/>
              </a:lnSpc>
              <a:spcBef>
                <a:spcPts val="1000"/>
              </a:spcBef>
              <a:buClr>
                <a:srgbClr val="ED7D31"/>
              </a:buClr>
              <a:buSzTx/>
              <a:buFont typeface="+mj-lt"/>
              <a:buAutoNum type="arabicPeriod"/>
            </a:pPr>
            <a:r>
              <a:rPr>
                <a:ea typeface="宋体" panose="02010600030101010101" pitchFamily="2" charset="-122"/>
                <a:sym typeface="+mn-ea"/>
              </a:rPr>
              <a:t>	}</a:t>
            </a:r>
            <a:endParaRPr>
              <a:ea typeface="宋体" panose="02010600030101010101" pitchFamily="2" charset="-122"/>
              <a:sym typeface="+mn-ea"/>
            </a:endParaRPr>
          </a:p>
          <a:p>
            <a:pPr marL="457200" lvl="1" indent="-457200" algn="l">
              <a:lnSpc>
                <a:spcPct val="110000"/>
              </a:lnSpc>
              <a:spcBef>
                <a:spcPts val="1000"/>
              </a:spcBef>
              <a:buClr>
                <a:srgbClr val="ED7D31"/>
              </a:buClr>
              <a:buSzTx/>
              <a:buFont typeface="+mj-lt"/>
              <a:buAutoNum type="arabicPeriod"/>
            </a:pPr>
            <a:r>
              <a:rPr>
                <a:ea typeface="宋体" panose="02010600030101010101" pitchFamily="2" charset="-122"/>
                <a:sym typeface="+mn-ea"/>
              </a:rPr>
              <a:t>}</a:t>
            </a:r>
            <a:endParaRPr>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pic>
        <p:nvPicPr>
          <p:cNvPr id="6" name="图片 5" descr="5d0495981e06a4beefc1a7ac3c41024d"/>
          <p:cNvPicPr>
            <a:picLocks noChangeAspect="1"/>
          </p:cNvPicPr>
          <p:nvPr>
            <p:custDataLst>
              <p:tags r:id="rId1"/>
            </p:custDataLst>
          </p:nvPr>
        </p:nvPicPr>
        <p:blipFill>
          <a:blip r:embed="rId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3"/>
            </p:custDataLst>
          </p:nvPr>
        </p:nvPicPr>
        <p:blipFill>
          <a:blip r:embed="rId2"/>
          <a:srcRect l="30697"/>
          <a:stretch>
            <a:fillRect/>
          </a:stretch>
        </p:blipFill>
        <p:spPr>
          <a:xfrm>
            <a:off x="8673465" y="-348615"/>
            <a:ext cx="5215255" cy="1497965"/>
          </a:xfrm>
          <a:prstGeom prst="rect">
            <a:avLst/>
          </a:prstGeom>
        </p:spPr>
      </p:pic>
      <p:sp>
        <p:nvSpPr>
          <p:cNvPr id="24" name="直角三角形 23"/>
          <p:cNvSpPr/>
          <p:nvPr>
            <p:custDataLst>
              <p:tags r:id="rId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4209415" y="1847215"/>
            <a:ext cx="0" cy="315595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765675" y="2294890"/>
            <a:ext cx="6286500" cy="460375"/>
          </a:xfrm>
          <a:prstGeom prst="rect">
            <a:avLst/>
          </a:prstGeom>
          <a:noFill/>
        </p:spPr>
        <p:txBody>
          <a:bodyPr wrap="square" rtlCol="0">
            <a:spAutoFit/>
          </a:bodyPr>
          <a:lstStyle/>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effectLst/>
                <a:uLnTx/>
                <a:uFillTx/>
                <a:latin typeface="华文宋体" panose="02010600040101010101" charset="-122"/>
                <a:ea typeface="华文宋体" panose="02010600040101010101" charset="-122"/>
                <a:cs typeface="华文宋体" panose="02010600040101010101" charset="-122"/>
                <a:sym typeface="思源黑体 CN Light" panose="020B0300000000000000" pitchFamily="34" charset="-122"/>
              </a:rPr>
              <a:t>1.</a:t>
            </a:r>
            <a:r>
              <a:rPr lang="en-US" altLang="zh-CN" sz="2400" dirty="0" smtClean="0">
                <a:latin typeface="华文宋体" panose="02010600040101010101" charset="-122"/>
                <a:ea typeface="华文宋体" panose="02010600040101010101" charset="-122"/>
                <a:cs typeface="华文宋体" panose="02010600040101010101" charset="-122"/>
                <a:sym typeface="+mn-ea"/>
              </a:rPr>
              <a:t>Collection</a:t>
            </a:r>
            <a:r>
              <a:rPr lang="zh-CN" altLang="en-US" sz="2400" dirty="0" smtClean="0">
                <a:latin typeface="华文宋体" panose="02010600040101010101" charset="-122"/>
                <a:ea typeface="华文宋体" panose="02010600040101010101" charset="-122"/>
                <a:cs typeface="华文宋体" panose="02010600040101010101" charset="-122"/>
                <a:sym typeface="+mn-ea"/>
              </a:rPr>
              <a:t>系列集合与泛型</a:t>
            </a:r>
            <a:endParaRPr kumimoji="0" lang="zh-CN" altLang="en-US" sz="2400" b="0" i="0" u="none" strike="noStrike" kern="1200" cap="none" spc="0" normalizeH="0" baseline="0" noProof="0" dirty="0">
              <a:ln>
                <a:noFill/>
              </a:ln>
              <a:effectLst/>
              <a:uLnTx/>
              <a:uFillTx/>
              <a:latin typeface="华文宋体" panose="02010600040101010101" charset="-122"/>
              <a:ea typeface="华文宋体" panose="02010600040101010101" charset="-122"/>
              <a:cs typeface="华文宋体" panose="02010600040101010101" charset="-122"/>
              <a:sym typeface="思源黑体 CN Light" panose="020B0300000000000000" pitchFamily="34" charset="-122"/>
            </a:endParaRPr>
          </a:p>
        </p:txBody>
      </p:sp>
      <p:sp>
        <p:nvSpPr>
          <p:cNvPr id="25" name="矩形 24"/>
          <p:cNvSpPr/>
          <p:nvPr/>
        </p:nvSpPr>
        <p:spPr>
          <a:xfrm>
            <a:off x="1167765" y="2648585"/>
            <a:ext cx="2912110" cy="1383665"/>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第四章</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sz="2400" b="1" dirty="0" smtClean="0">
                <a:latin typeface="Arial" panose="020B0604020202020204" pitchFamily="34" charset="0"/>
                <a:ea typeface="宋体" panose="02010600030101010101" pitchFamily="2" charset="-122"/>
                <a:sym typeface="+mn-ea"/>
              </a:rPr>
              <a:t>集合与泛型</a:t>
            </a:r>
            <a:endParaRPr kumimoji="0" lang="zh-CN" sz="2400" b="1" i="0" u="none" strike="noStrike" kern="1200" cap="none" spc="300" normalizeH="0" baseline="0" noProof="0" dirty="0" smtClean="0">
              <a:ln>
                <a:noFill/>
              </a:ln>
              <a:solidFill>
                <a:srgbClr val="002060"/>
              </a:solidFill>
              <a:effectLst/>
              <a:uLnTx/>
              <a:uFillTx/>
              <a:latin typeface="Arial" panose="020B0604020202020204" pitchFamily="34" charset="0"/>
              <a:ea typeface="宋体" panose="02010600030101010101" pitchFamily="2" charset="-122"/>
              <a:sym typeface="+mn-ea"/>
            </a:endParaRPr>
          </a:p>
        </p:txBody>
      </p:sp>
      <p:sp>
        <p:nvSpPr>
          <p:cNvPr id="37" name="矩形 36"/>
          <p:cNvSpPr/>
          <p:nvPr/>
        </p:nvSpPr>
        <p:spPr>
          <a:xfrm>
            <a:off x="4792345" y="2994660"/>
            <a:ext cx="3907155" cy="460375"/>
          </a:xfrm>
          <a:prstGeom prst="rect">
            <a:avLst/>
          </a:prstGeom>
          <a:noFill/>
        </p:spPr>
        <p:txBody>
          <a:bodyPr wrap="square" rtlCol="0">
            <a:spAutoFit/>
          </a:bodyPr>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solidFill>
                  <a:schemeClr val="accent2"/>
                </a:solidFill>
                <a:effectLst/>
                <a:uLnTx/>
                <a:uFillTx/>
                <a:latin typeface="+mj-ea"/>
                <a:ea typeface="+mj-ea"/>
                <a:cs typeface="+mj-ea"/>
                <a:sym typeface="思源黑体 CN Light" panose="020B0300000000000000" pitchFamily="34" charset="-122"/>
              </a:rPr>
              <a:t>2.</a:t>
            </a:r>
            <a:r>
              <a:rPr lang="zh-CN" altLang="en-US" sz="2400" dirty="0" smtClean="0">
                <a:solidFill>
                  <a:schemeClr val="accent2"/>
                </a:solidFill>
                <a:latin typeface="+mj-lt"/>
                <a:ea typeface="宋体" panose="02010600030101010101" pitchFamily="2" charset="-122"/>
                <a:sym typeface="+mn-ea"/>
              </a:rPr>
              <a:t>使用迭代器遍历集合</a:t>
            </a:r>
            <a:endParaRPr kumimoji="0" lang="zh-CN" altLang="en-US" sz="2400" b="0" i="0" u="none" strike="noStrike" kern="1200" cap="none" spc="0" normalizeH="0" baseline="0" noProof="0" dirty="0" smtClean="0">
              <a:ln>
                <a:noFill/>
              </a:ln>
              <a:solidFill>
                <a:schemeClr val="accent2"/>
              </a:solidFill>
              <a:effectLst/>
              <a:uLnTx/>
              <a:uFillTx/>
              <a:latin typeface="+mj-lt"/>
              <a:ea typeface="宋体" panose="02010600030101010101" pitchFamily="2" charset="-122"/>
              <a:cs typeface="+mj-ea"/>
              <a:sym typeface="+mn-ea"/>
            </a:endParaRPr>
          </a:p>
        </p:txBody>
      </p:sp>
      <p:sp>
        <p:nvSpPr>
          <p:cNvPr id="7" name="矩形 6"/>
          <p:cNvSpPr/>
          <p:nvPr/>
        </p:nvSpPr>
        <p:spPr>
          <a:xfrm>
            <a:off x="4839970" y="3707130"/>
            <a:ext cx="3369310" cy="460375"/>
          </a:xfrm>
          <a:prstGeom prst="rect">
            <a:avLst/>
          </a:prstGeom>
          <a:noFill/>
        </p:spPr>
        <p:txBody>
          <a:bodyPr wrap="square" rtlCol="0">
            <a:spAutoFit/>
          </a:bodyPr>
          <a:lstStyle/>
          <a:p>
            <a:pPr marL="361950" indent="-361950" eaLnBrk="1" hangingPunct="1"/>
            <a:r>
              <a:rPr lang="en-US" altLang="zh-CN" sz="2400" noProof="0" dirty="0">
                <a:ln>
                  <a:noFill/>
                </a:ln>
                <a:effectLst/>
                <a:uLnTx/>
                <a:uFillTx/>
                <a:latin typeface="华文宋体" panose="02010600040101010101" charset="-122"/>
                <a:ea typeface="华文宋体" panose="02010600040101010101" charset="-122"/>
                <a:cs typeface="华文宋体" panose="02010600040101010101" charset="-122"/>
                <a:sym typeface="思源黑体 CN Light" panose="020B0300000000000000" pitchFamily="34" charset="-122"/>
              </a:rPr>
              <a:t>3.</a:t>
            </a:r>
            <a:r>
              <a:rPr lang="en-US" altLang="zh-CN" sz="2400" dirty="0" smtClean="0">
                <a:latin typeface="华文宋体" panose="02010600040101010101" charset="-122"/>
                <a:ea typeface="华文宋体" panose="02010600040101010101" charset="-122"/>
                <a:cs typeface="华文宋体" panose="02010600040101010101" charset="-122"/>
                <a:sym typeface="+mn-ea"/>
              </a:rPr>
              <a:t>Map</a:t>
            </a:r>
            <a:r>
              <a:rPr lang="zh-CN" altLang="en-US" sz="2400" dirty="0" smtClean="0">
                <a:latin typeface="华文宋体" panose="02010600040101010101" charset="-122"/>
                <a:ea typeface="华文宋体" panose="02010600040101010101" charset="-122"/>
                <a:cs typeface="华文宋体" panose="02010600040101010101" charset="-122"/>
                <a:sym typeface="+mn-ea"/>
              </a:rPr>
              <a:t>系列映射集合</a:t>
            </a:r>
            <a:endParaRPr lang="en-US" altLang="zh-CN" sz="2400" noProof="0" dirty="0" smtClean="0">
              <a:ln>
                <a:noFill/>
              </a:ln>
              <a:effectLst/>
              <a:uLnTx/>
              <a:uFillTx/>
              <a:latin typeface="华文宋体" panose="02010600040101010101" charset="-122"/>
              <a:ea typeface="华文宋体" panose="02010600040101010101" charset="-122"/>
              <a:cs typeface="华文宋体" panose="02010600040101010101" charset="-122"/>
              <a:sym typeface="+mn-ea"/>
            </a:endParaRPr>
          </a:p>
        </p:txBody>
      </p:sp>
      <p:sp>
        <p:nvSpPr>
          <p:cNvPr id="4" name="矩形 3"/>
          <p:cNvSpPr/>
          <p:nvPr/>
        </p:nvSpPr>
        <p:spPr>
          <a:xfrm>
            <a:off x="4832350" y="4504690"/>
            <a:ext cx="5104130" cy="460375"/>
          </a:xfrm>
          <a:prstGeom prst="rect">
            <a:avLst/>
          </a:prstGeom>
          <a:noFill/>
        </p:spPr>
        <p:txBody>
          <a:bodyPr wrap="square" rtlCol="0">
            <a:spAutoFit/>
          </a:bodyPr>
          <a:p>
            <a:pPr marL="361950" indent="-361950">
              <a:defRPr/>
            </a:pPr>
            <a:r>
              <a:rPr lang="en-US" altLang="zh-CN" sz="2400" noProof="0" dirty="0">
                <a:ln>
                  <a:noFill/>
                </a:ln>
                <a:effectLst/>
                <a:uLnTx/>
                <a:uFillTx/>
                <a:latin typeface="+mj-ea"/>
                <a:ea typeface="+mj-ea"/>
                <a:cs typeface="+mj-ea"/>
                <a:sym typeface="思源黑体 CN Light" panose="020B0300000000000000" pitchFamily="34" charset="-122"/>
              </a:rPr>
              <a:t>4.</a:t>
            </a:r>
            <a:r>
              <a:rPr lang="zh-CN" altLang="en-US" sz="2400" dirty="0" smtClean="0">
                <a:latin typeface="+mj-lt"/>
                <a:ea typeface="宋体" panose="02010600030101010101" pitchFamily="2" charset="-122"/>
                <a:sym typeface="+mn-ea"/>
              </a:rPr>
              <a:t>泛型的通配符类型参数</a:t>
            </a:r>
            <a:endParaRPr lang="zh-CN" altLang="en-US" sz="2400" noProof="0" dirty="0">
              <a:ln>
                <a:noFill/>
              </a:ln>
              <a:effectLst/>
              <a:uLnTx/>
              <a:uFillTx/>
              <a:latin typeface="+mj-ea"/>
              <a:ea typeface="+mj-ea"/>
              <a:cs typeface="+mj-ea"/>
              <a:sym typeface="思源黑体 CN Light" panose="020B03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25" grpId="0"/>
      <p:bldP spid="25" grpId="1" bldLvl="0" animBg="1"/>
      <p:bldP spid="37" grpId="0"/>
      <p:bldP spid="37" grpId="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01600" y="3137535"/>
            <a:ext cx="1179195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第一节 </a:t>
            </a:r>
            <a:r>
              <a:rPr lang="zh-CN" altLang="en-US" sz="6665" dirty="0">
                <a:solidFill>
                  <a:schemeClr val="bg1"/>
                </a:solidFill>
                <a:latin typeface="Arial" panose="020B0604020202020204" pitchFamily="34" charset="0"/>
                <a:ea typeface="宋体" panose="02010600030101010101" pitchFamily="2" charset="-122"/>
                <a:sym typeface="+mn-ea"/>
              </a:rPr>
              <a:t>Collection系列集合与泛型</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集合的概念</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720" y="1160145"/>
            <a:ext cx="11037570" cy="5375910"/>
          </a:xfrm>
        </p:spPr>
        <p:txBody>
          <a:bodyPr>
            <a:normAutofit/>
          </a:bodyPr>
          <a:p>
            <a:pPr marL="457200" indent="-457200" algn="l">
              <a:lnSpc>
                <a:spcPct val="110000"/>
              </a:lnSpc>
              <a:buClr>
                <a:srgbClr val="ED7D31"/>
              </a:buClr>
              <a:buSzTx/>
              <a:buFont typeface="+mj-lt"/>
              <a:buAutoNum type="arabicPeriod"/>
            </a:pPr>
            <a:r>
              <a:rPr sz="2000">
                <a:ea typeface="宋体" panose="02010600030101010101" pitchFamily="2" charset="-122"/>
                <a:sym typeface="+mn-ea"/>
              </a:rPr>
              <a:t>集合 — 用于存储批量数据的对象。可以将它看作是一个可变长度的数组。</a:t>
            </a:r>
            <a:endParaRPr sz="2000">
              <a:ea typeface="宋体" panose="02010600030101010101" pitchFamily="2" charset="-122"/>
            </a:endParaRPr>
          </a:p>
          <a:p>
            <a:pPr marL="457200" indent="-457200" algn="l">
              <a:lnSpc>
                <a:spcPct val="110000"/>
              </a:lnSpc>
              <a:buClr>
                <a:srgbClr val="ED7D31"/>
              </a:buClr>
              <a:buSzTx/>
              <a:buFont typeface="+mj-lt"/>
              <a:buAutoNum type="arabicPeriod"/>
            </a:pPr>
            <a:r>
              <a:rPr sz="2000">
                <a:ea typeface="宋体" panose="02010600030101010101" pitchFamily="2" charset="-122"/>
                <a:sym typeface="+mn-ea"/>
              </a:rPr>
              <a:t>java.util包中提供了一系列可以使用的集合类，称之为集合框架。</a:t>
            </a:r>
            <a:endParaRPr sz="2000">
              <a:ea typeface="宋体" panose="02010600030101010101" pitchFamily="2" charset="-122"/>
            </a:endParaRPr>
          </a:p>
          <a:p>
            <a:pPr marL="457200" indent="-457200" algn="l">
              <a:lnSpc>
                <a:spcPct val="110000"/>
              </a:lnSpc>
              <a:buClr>
                <a:srgbClr val="ED7D31"/>
              </a:buClr>
              <a:buSzTx/>
              <a:buFont typeface="+mj-lt"/>
              <a:buAutoNum type="arabicPeriod"/>
            </a:pPr>
            <a:r>
              <a:rPr sz="2000">
                <a:ea typeface="宋体" panose="02010600030101010101" pitchFamily="2" charset="-122"/>
                <a:sym typeface="+mn-ea"/>
              </a:rPr>
              <a:t>集合框架API主要包含以下接口：</a:t>
            </a:r>
            <a:endParaRPr sz="2000">
              <a:ea typeface="宋体" panose="02010600030101010101" pitchFamily="2" charset="-122"/>
            </a:endParaRPr>
          </a:p>
          <a:p>
            <a:pPr marL="700405" lvl="1" indent="-357505">
              <a:buClr>
                <a:srgbClr val="ED7D31"/>
              </a:buClr>
              <a:buFont typeface="Arial" panose="020B0604020202020204" pitchFamily="34" charset="0"/>
              <a:buChar char="•"/>
              <a:defRPr/>
            </a:pPr>
            <a:r>
              <a:rPr lang="en-US" altLang="zh-CN" sz="2000" dirty="0" smtClean="0">
                <a:latin typeface="仿宋" panose="02010609060101010101" charset="-122"/>
                <a:ea typeface="仿宋" panose="02010609060101010101" charset="-122"/>
                <a:cs typeface="仿宋" panose="02010609060101010101" charset="-122"/>
                <a:sym typeface="+mn-ea"/>
              </a:rPr>
              <a:t>Collection</a:t>
            </a:r>
            <a:r>
              <a:rPr lang="zh-CN" altLang="en-US" sz="2000" dirty="0" smtClean="0">
                <a:latin typeface="仿宋" panose="02010609060101010101" charset="-122"/>
                <a:ea typeface="仿宋" panose="02010609060101010101" charset="-122"/>
                <a:cs typeface="仿宋" panose="02010609060101010101" charset="-122"/>
                <a:sym typeface="+mn-ea"/>
              </a:rPr>
              <a:t>：表示不按添加顺序存放对象的集合，集合内元素可以重复，即“无序可重复”集合；</a:t>
            </a:r>
            <a:endParaRPr lang="zh-CN" altLang="en-US" sz="2000" dirty="0" smtClean="0">
              <a:latin typeface="仿宋" panose="02010609060101010101" charset="-122"/>
              <a:ea typeface="仿宋" panose="02010609060101010101" charset="-122"/>
              <a:cs typeface="仿宋" panose="02010609060101010101" charset="-122"/>
            </a:endParaRPr>
          </a:p>
          <a:p>
            <a:pPr marL="700405" lvl="1" indent="-357505">
              <a:buClr>
                <a:srgbClr val="ED7D31"/>
              </a:buClr>
              <a:buFont typeface="Arial" panose="020B0604020202020204" pitchFamily="34" charset="0"/>
              <a:buChar char="•"/>
              <a:defRPr/>
            </a:pPr>
            <a:r>
              <a:rPr lang="en-US" altLang="zh-CN" sz="2000" dirty="0" smtClean="0">
                <a:latin typeface="仿宋" panose="02010609060101010101" charset="-122"/>
                <a:ea typeface="仿宋" panose="02010609060101010101" charset="-122"/>
                <a:cs typeface="仿宋" panose="02010609060101010101" charset="-122"/>
                <a:sym typeface="+mn-ea"/>
              </a:rPr>
              <a:t>Set</a:t>
            </a:r>
            <a:r>
              <a:rPr lang="zh-CN" altLang="en-US" sz="2000" dirty="0" smtClean="0">
                <a:latin typeface="仿宋" panose="02010609060101010101" charset="-122"/>
                <a:ea typeface="仿宋" panose="02010609060101010101" charset="-122"/>
                <a:cs typeface="仿宋" panose="02010609060101010101" charset="-122"/>
                <a:sym typeface="+mn-ea"/>
              </a:rPr>
              <a:t>：“无序不可重复”集合；</a:t>
            </a:r>
            <a:endParaRPr lang="zh-CN" altLang="en-US" sz="2000" dirty="0" smtClean="0">
              <a:latin typeface="仿宋" panose="02010609060101010101" charset="-122"/>
              <a:ea typeface="仿宋" panose="02010609060101010101" charset="-122"/>
              <a:cs typeface="仿宋" panose="02010609060101010101" charset="-122"/>
            </a:endParaRPr>
          </a:p>
          <a:p>
            <a:pPr marL="700405" lvl="1" indent="-357505">
              <a:buClr>
                <a:srgbClr val="ED7D31"/>
              </a:buClr>
              <a:buFont typeface="Arial" panose="020B0604020202020204" pitchFamily="34" charset="0"/>
              <a:buChar char="•"/>
              <a:defRPr/>
            </a:pPr>
            <a:r>
              <a:rPr lang="en-US" altLang="zh-CN" sz="2000" dirty="0" smtClean="0">
                <a:latin typeface="仿宋" panose="02010609060101010101" charset="-122"/>
                <a:ea typeface="仿宋" panose="02010609060101010101" charset="-122"/>
                <a:cs typeface="仿宋" panose="02010609060101010101" charset="-122"/>
                <a:sym typeface="+mn-ea"/>
              </a:rPr>
              <a:t>List</a:t>
            </a:r>
            <a:r>
              <a:rPr lang="zh-CN" altLang="en-US" sz="2000" dirty="0" smtClean="0">
                <a:latin typeface="仿宋" panose="02010609060101010101" charset="-122"/>
                <a:ea typeface="仿宋" panose="02010609060101010101" charset="-122"/>
                <a:cs typeface="仿宋" panose="02010609060101010101" charset="-122"/>
                <a:sym typeface="+mn-ea"/>
              </a:rPr>
              <a:t>：“有序可重复”集合。</a:t>
            </a:r>
            <a:endParaRPr lang="zh-CN" altLang="en-US" sz="2000" dirty="0" smtClean="0">
              <a:latin typeface="仿宋" panose="02010609060101010101" charset="-122"/>
              <a:ea typeface="仿宋" panose="02010609060101010101" charset="-122"/>
              <a:cs typeface="仿宋" panose="02010609060101010101" charset="-122"/>
              <a:sym typeface="+mn-ea"/>
            </a:endParaRPr>
          </a:p>
          <a:p>
            <a:pPr marL="1157605" lvl="2" indent="-357505">
              <a:buClr>
                <a:srgbClr val="ED7D31"/>
              </a:buClr>
              <a:buFont typeface="Arial" panose="020B0604020202020204" pitchFamily="34" charset="0"/>
              <a:buChar char="•"/>
              <a:defRPr/>
            </a:pPr>
            <a:endParaRPr lang="zh-CN" altLang="en-US" sz="1800" dirty="0" smtClean="0">
              <a:latin typeface="仿宋" panose="02010609060101010101" charset="-122"/>
              <a:ea typeface="仿宋" panose="02010609060101010101" charset="-122"/>
              <a:cs typeface="仿宋" panose="02010609060101010101" charset="-122"/>
              <a:sym typeface="+mn-ea"/>
            </a:endParaRPr>
          </a:p>
          <a:p>
            <a:pPr marL="1157605" lvl="2" indent="-357505">
              <a:buClr>
                <a:srgbClr val="ED7D31"/>
              </a:buClr>
              <a:buFont typeface="Arial" panose="020B0604020202020204" pitchFamily="34" charset="0"/>
              <a:buChar char="•"/>
              <a:defRPr/>
            </a:pPr>
            <a:endParaRPr lang="zh-CN" altLang="en-US" sz="1800" dirty="0" smtClean="0">
              <a:latin typeface="仿宋" panose="02010609060101010101" charset="-122"/>
              <a:ea typeface="仿宋" panose="02010609060101010101" charset="-122"/>
              <a:cs typeface="仿宋" panose="02010609060101010101" charset="-122"/>
            </a:endParaRPr>
          </a:p>
          <a:p>
            <a:pPr marL="342900" lvl="1" indent="0">
              <a:lnSpc>
                <a:spcPct val="110000"/>
              </a:lnSpc>
              <a:buClr>
                <a:srgbClr val="ED7D31"/>
              </a:buClr>
              <a:buFont typeface="Arial" panose="020B0604020202020204" pitchFamily="34" charset="0"/>
              <a:buNone/>
              <a:defRPr/>
            </a:pPr>
            <a:r>
              <a:rPr lang="en-US" altLang="zh-CN" dirty="0">
                <a:ea typeface="宋体" panose="02010600030101010101" pitchFamily="2" charset="-122"/>
                <a:sym typeface="+mn-ea"/>
              </a:rPr>
              <a:t> </a:t>
            </a:r>
            <a:endParaRPr lang="zh-CN" altLang="en-US"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集合的继承关系</a:t>
            </a:r>
            <a:endParaRPr lang="en-US" altLang="zh-CN"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252932" name="Picture 2"/>
          <p:cNvPicPr>
            <a:picLocks noChangeAspect="1" noChangeArrowheads="1"/>
          </p:cNvPicPr>
          <p:nvPr/>
        </p:nvPicPr>
        <p:blipFill>
          <a:blip r:embed="rId5"/>
          <a:srcRect/>
          <a:stretch>
            <a:fillRect/>
          </a:stretch>
        </p:blipFill>
        <p:spPr bwMode="auto">
          <a:xfrm>
            <a:off x="1438275" y="1008402"/>
            <a:ext cx="7129463" cy="5159375"/>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r>
              <a:rPr lang="zh-CN" altLang="en-US" sz="2400" b="1" spc="300" dirty="0">
                <a:solidFill>
                  <a:srgbClr val="002060"/>
                </a:solidFill>
                <a:latin typeface="思源黑体 CN Bold" panose="020B0800000000000000" pitchFamily="34" charset="-122"/>
                <a:ea typeface="宋体" panose="02010600030101010101" pitchFamily="2" charset="-122"/>
                <a:sym typeface="+mn-ea"/>
              </a:rPr>
              <a:t>Collection集合所有方法</a:t>
            </a:r>
            <a:endParaRPr lang="en-US" altLang="zh-CN"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R="0" indent="0" algn="ctr" defTabSz="914400" fontAlgn="auto">
              <a:lnSpc>
                <a:spcPct val="100000"/>
              </a:lnSpc>
              <a:spcBef>
                <a:spcPts val="0"/>
              </a:spcBef>
              <a:spcAft>
                <a:spcPts val="0"/>
              </a:spcAft>
              <a:buClrTx/>
              <a:buSzTx/>
              <a:buFontTx/>
              <a:buNone/>
              <a:defRPr/>
            </a:pPr>
            <a:r>
              <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graphicFrame>
        <p:nvGraphicFramePr>
          <p:cNvPr id="3" name="表格 2"/>
          <p:cNvGraphicFramePr/>
          <p:nvPr>
            <p:custDataLst>
              <p:tags r:id="rId5"/>
            </p:custDataLst>
          </p:nvPr>
        </p:nvGraphicFramePr>
        <p:xfrm>
          <a:off x="811530" y="746125"/>
          <a:ext cx="9963785" cy="6007100"/>
        </p:xfrm>
        <a:graphic>
          <a:graphicData uri="http://schemas.openxmlformats.org/drawingml/2006/table">
            <a:tbl>
              <a:tblPr/>
              <a:tblGrid>
                <a:gridCol w="3503295"/>
                <a:gridCol w="6460490"/>
              </a:tblGrid>
              <a:tr h="302260">
                <a:tc>
                  <a:txBody>
                    <a:bodyPr/>
                    <a:p>
                      <a:pPr indent="0" algn="ctr">
                        <a:buNone/>
                      </a:pPr>
                      <a:r>
                        <a:rPr lang="en-US" sz="1600" b="1">
                          <a:solidFill>
                            <a:srgbClr val="333333"/>
                          </a:solidFill>
                          <a:latin typeface="Open Sans" panose="020B0606030504020204" charset="-122"/>
                          <a:sym typeface="+mn-ea"/>
                        </a:rPr>
                        <a:t>方法名</a:t>
                      </a:r>
                      <a:endParaRPr lang="en-US" sz="1600" b="1">
                        <a:solidFill>
                          <a:srgbClr val="333333"/>
                        </a:solidFill>
                        <a:latin typeface="Open Sans" panose="020B0606030504020204" charset="-122"/>
                        <a:sym typeface="+mn-ea"/>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92D050"/>
                    </a:solidFill>
                  </a:tcPr>
                </a:tc>
                <a:tc>
                  <a:txBody>
                    <a:bodyPr/>
                    <a:p>
                      <a:pPr indent="0" algn="ctr">
                        <a:buNone/>
                      </a:pPr>
                      <a:r>
                        <a:rPr lang="zh-CN" sz="1600" b="1">
                          <a:solidFill>
                            <a:srgbClr val="333333"/>
                          </a:solidFill>
                          <a:latin typeface="Arial" panose="020B0604020202020204" pitchFamily="34" charset="0"/>
                          <a:ea typeface="Open Sans" panose="020B0606030504020204" charset="-122"/>
                        </a:rPr>
                        <a:t>描述</a:t>
                      </a:r>
                      <a:endParaRPr lang="zh-CN" altLang="en-US" sz="1600" b="1">
                        <a:solidFill>
                          <a:srgbClr val="333333"/>
                        </a:solidFill>
                        <a:latin typeface="Arial" panose="020B0604020202020204" pitchFamily="34" charset="0"/>
                        <a:ea typeface="Open Sans" panose="020B0606030504020204"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92D050"/>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boolean add(E e)</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000000"/>
                          </a:solidFill>
                          <a:latin typeface="宋体" panose="02010600030101010101" pitchFamily="2" charset="-122"/>
                          <a:ea typeface="宋体" panose="02010600030101010101" pitchFamily="2" charset="-122"/>
                        </a:rPr>
                        <a:t>添加</a:t>
                      </a:r>
                      <a:r>
                        <a:rPr lang="en-US" altLang="zh-CN" sz="1000" b="0" i="0">
                          <a:solidFill>
                            <a:srgbClr val="000000"/>
                          </a:solidFill>
                          <a:latin typeface="宋体" panose="02010600030101010101" pitchFamily="2" charset="-122"/>
                          <a:ea typeface="宋体" panose="02010600030101010101" pitchFamily="2" charset="-122"/>
                        </a:rPr>
                        <a:t>e</a:t>
                      </a:r>
                      <a:r>
                        <a:rPr lang="zh-CN" altLang="en-US" sz="1000" b="0" i="0">
                          <a:solidFill>
                            <a:srgbClr val="000000"/>
                          </a:solidFill>
                          <a:latin typeface="宋体" panose="02010600030101010101" pitchFamily="2" charset="-122"/>
                          <a:ea typeface="宋体" panose="02010600030101010101" pitchFamily="2" charset="-122"/>
                        </a:rPr>
                        <a:t>元素对象到当前集合中</a:t>
                      </a:r>
                      <a:r>
                        <a:rPr lang="en-US" altLang="zh-CN" sz="1000" b="0" i="0">
                          <a:solidFill>
                            <a:srgbClr val="000000"/>
                          </a:solidFill>
                          <a:latin typeface="宋体" panose="02010600030101010101" pitchFamily="2" charset="-122"/>
                          <a:ea typeface="宋体" panose="02010600030101010101" pitchFamily="2" charset="-122"/>
                        </a:rPr>
                        <a:t>,</a:t>
                      </a:r>
                      <a:r>
                        <a:rPr lang="zh-CN" altLang="en-US" sz="1000" b="0" i="0">
                          <a:solidFill>
                            <a:srgbClr val="000000"/>
                          </a:solidFill>
                          <a:latin typeface="宋体" panose="02010600030101010101" pitchFamily="2" charset="-122"/>
                          <a:ea typeface="宋体" panose="02010600030101010101" pitchFamily="2" charset="-122"/>
                        </a:rPr>
                        <a:t>添加成功返回</a:t>
                      </a:r>
                      <a:r>
                        <a:rPr lang="en-US" altLang="zh-CN" sz="1000" b="0" i="0">
                          <a:solidFill>
                            <a:srgbClr val="000000"/>
                          </a:solidFill>
                          <a:latin typeface="宋体" panose="02010600030101010101" pitchFamily="2" charset="-122"/>
                          <a:ea typeface="宋体" panose="02010600030101010101" pitchFamily="2" charset="-122"/>
                        </a:rPr>
                        <a:t>true</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boolean addAll(Collection&lt;? extends E&gt; c)</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c>
                  <a:txBody>
                    <a:bodyPr/>
                    <a:p>
                      <a:pPr marL="9525" indent="0" algn="l" fontAlgn="ctr"/>
                      <a:r>
                        <a:rPr lang="zh-CN" altLang="en-US" sz="1000" b="0" i="0">
                          <a:solidFill>
                            <a:srgbClr val="000000"/>
                          </a:solidFill>
                          <a:latin typeface="宋体" panose="02010600030101010101" pitchFamily="2" charset="-122"/>
                          <a:ea typeface="宋体" panose="02010600030101010101" pitchFamily="2" charset="-122"/>
                        </a:rPr>
                        <a:t>添加</a:t>
                      </a:r>
                      <a:r>
                        <a:rPr lang="en-US" altLang="zh-CN" sz="1000" b="0" i="0">
                          <a:solidFill>
                            <a:srgbClr val="000000"/>
                          </a:solidFill>
                          <a:latin typeface="宋体" panose="02010600030101010101" pitchFamily="2" charset="-122"/>
                          <a:ea typeface="宋体" panose="02010600030101010101" pitchFamily="2" charset="-122"/>
                        </a:rPr>
                        <a:t>c</a:t>
                      </a:r>
                      <a:r>
                        <a:rPr lang="zh-CN" altLang="en-US" sz="1000" b="0" i="0">
                          <a:solidFill>
                            <a:srgbClr val="000000"/>
                          </a:solidFill>
                          <a:latin typeface="宋体" panose="02010600030101010101" pitchFamily="2" charset="-122"/>
                          <a:ea typeface="宋体" panose="02010600030101010101" pitchFamily="2" charset="-122"/>
                        </a:rPr>
                        <a:t>集合中的所有元素对象到当前集合中，添加成功返回</a:t>
                      </a:r>
                      <a:r>
                        <a:rPr lang="en-US" altLang="zh-CN" sz="1000" b="0" i="0">
                          <a:solidFill>
                            <a:srgbClr val="000000"/>
                          </a:solidFill>
                          <a:latin typeface="宋体" panose="02010600030101010101" pitchFamily="2" charset="-122"/>
                          <a:ea typeface="宋体" panose="02010600030101010101" pitchFamily="2" charset="-122"/>
                        </a:rPr>
                        <a:t>true</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void clear()</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000000"/>
                          </a:solidFill>
                          <a:latin typeface="宋体" panose="02010600030101010101" pitchFamily="2" charset="-122"/>
                          <a:ea typeface="宋体" panose="02010600030101010101" pitchFamily="2" charset="-122"/>
                        </a:rPr>
                        <a:t>清空集合元素</a:t>
                      </a: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boolean contains(Object o)</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000000"/>
                          </a:solidFill>
                          <a:latin typeface="宋体" panose="02010600030101010101" pitchFamily="2" charset="-122"/>
                          <a:ea typeface="宋体" panose="02010600030101010101" pitchFamily="2" charset="-122"/>
                        </a:rPr>
                        <a:t>判断当前集合中是否包含</a:t>
                      </a:r>
                      <a:r>
                        <a:rPr lang="en-US" altLang="zh-CN" sz="1000" b="0" i="0">
                          <a:solidFill>
                            <a:srgbClr val="000000"/>
                          </a:solidFill>
                          <a:latin typeface="宋体" panose="02010600030101010101" pitchFamily="2" charset="-122"/>
                          <a:ea typeface="宋体" panose="02010600030101010101" pitchFamily="2" charset="-122"/>
                        </a:rPr>
                        <a:t>0</a:t>
                      </a:r>
                      <a:r>
                        <a:rPr lang="zh-CN" altLang="en-US" sz="1000" b="0" i="0">
                          <a:solidFill>
                            <a:srgbClr val="000000"/>
                          </a:solidFill>
                          <a:latin typeface="宋体" panose="02010600030101010101" pitchFamily="2" charset="-122"/>
                          <a:ea typeface="宋体" panose="02010600030101010101" pitchFamily="2" charset="-122"/>
                        </a:rPr>
                        <a:t>对象，包含返回</a:t>
                      </a:r>
                      <a:r>
                        <a:rPr lang="en-US" altLang="zh-CN" sz="1000" b="0" i="0">
                          <a:solidFill>
                            <a:srgbClr val="000000"/>
                          </a:solidFill>
                          <a:latin typeface="宋体" panose="02010600030101010101" pitchFamily="2" charset="-122"/>
                          <a:ea typeface="宋体" panose="02010600030101010101" pitchFamily="2" charset="-122"/>
                        </a:rPr>
                        <a:t>true</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boolean containsAll(Collection&lt;?&gt; c)</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000000"/>
                          </a:solidFill>
                          <a:latin typeface="宋体" panose="02010600030101010101" pitchFamily="2" charset="-122"/>
                          <a:ea typeface="宋体" panose="02010600030101010101" pitchFamily="2" charset="-122"/>
                        </a:rPr>
                        <a:t>判断当前集合是否包含</a:t>
                      </a:r>
                      <a:r>
                        <a:rPr lang="en-US" altLang="zh-CN" sz="1000" b="0" i="0">
                          <a:solidFill>
                            <a:srgbClr val="000000"/>
                          </a:solidFill>
                          <a:latin typeface="宋体" panose="02010600030101010101" pitchFamily="2" charset="-122"/>
                          <a:ea typeface="宋体" panose="02010600030101010101" pitchFamily="2" charset="-122"/>
                        </a:rPr>
                        <a:t>c</a:t>
                      </a:r>
                      <a:r>
                        <a:rPr lang="zh-CN" altLang="en-US" sz="1000" b="0" i="0">
                          <a:solidFill>
                            <a:srgbClr val="000000"/>
                          </a:solidFill>
                          <a:latin typeface="宋体" panose="02010600030101010101" pitchFamily="2" charset="-122"/>
                          <a:ea typeface="宋体" panose="02010600030101010101" pitchFamily="2" charset="-122"/>
                        </a:rPr>
                        <a:t>集合中所有元素，包含返回</a:t>
                      </a:r>
                      <a:r>
                        <a:rPr lang="en-US" altLang="zh-CN" sz="1000" b="0" i="0">
                          <a:solidFill>
                            <a:srgbClr val="000000"/>
                          </a:solidFill>
                          <a:latin typeface="宋体" panose="02010600030101010101" pitchFamily="2" charset="-122"/>
                          <a:ea typeface="宋体" panose="02010600030101010101" pitchFamily="2" charset="-122"/>
                        </a:rPr>
                        <a:t>true</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boolean equals(Object o)</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000000"/>
                          </a:solidFill>
                          <a:latin typeface="宋体" panose="02010600030101010101" pitchFamily="2" charset="-122"/>
                          <a:ea typeface="宋体" panose="02010600030101010101" pitchFamily="2" charset="-122"/>
                        </a:rPr>
                        <a:t>判断当前集合的元素值是否等于</a:t>
                      </a:r>
                      <a:r>
                        <a:rPr lang="en-US" altLang="zh-CN" sz="1000" b="0" i="0">
                          <a:solidFill>
                            <a:srgbClr val="000000"/>
                          </a:solidFill>
                          <a:latin typeface="宋体" panose="02010600030101010101" pitchFamily="2" charset="-122"/>
                          <a:ea typeface="宋体" panose="02010600030101010101" pitchFamily="2" charset="-122"/>
                        </a:rPr>
                        <a:t>o</a:t>
                      </a:r>
                      <a:r>
                        <a:rPr lang="zh-CN" altLang="en-US" sz="1000" b="0" i="0">
                          <a:solidFill>
                            <a:srgbClr val="000000"/>
                          </a:solidFill>
                          <a:latin typeface="宋体" panose="02010600030101010101" pitchFamily="2" charset="-122"/>
                          <a:ea typeface="宋体" panose="02010600030101010101" pitchFamily="2" charset="-122"/>
                        </a:rPr>
                        <a:t>集合</a:t>
                      </a: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int hashCode()</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000000"/>
                          </a:solidFill>
                          <a:latin typeface="宋体" panose="02010600030101010101" pitchFamily="2" charset="-122"/>
                          <a:ea typeface="宋体" panose="02010600030101010101" pitchFamily="2" charset="-122"/>
                        </a:rPr>
                        <a:t>获取集合对象的哈希值</a:t>
                      </a: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boolean isEmpty()</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000000"/>
                          </a:solidFill>
                          <a:latin typeface="宋体" panose="02010600030101010101" pitchFamily="2" charset="-122"/>
                          <a:ea typeface="宋体" panose="02010600030101010101" pitchFamily="2" charset="-122"/>
                        </a:rPr>
                        <a:t>判断当前集合是否为空集合</a:t>
                      </a: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Iterator&lt;E&gt; iterator()</a:t>
                      </a:r>
                      <a:r>
                        <a:rPr lang="en-US" altLang="zh-CN" sz="1000" b="0" i="0">
                          <a:solidFill>
                            <a:srgbClr val="000000"/>
                          </a:solidFill>
                          <a:latin typeface="宋体" panose="02010600030101010101" pitchFamily="2" charset="-122"/>
                          <a:ea typeface="宋体" panose="02010600030101010101" pitchFamily="2" charset="-122"/>
                        </a:rPr>
                        <a:t> </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000000"/>
                          </a:solidFill>
                          <a:latin typeface="宋体" panose="02010600030101010101" pitchFamily="2" charset="-122"/>
                          <a:ea typeface="宋体" panose="02010600030101010101" pitchFamily="2" charset="-122"/>
                        </a:rPr>
                        <a:t>返回此集合中的元素的迭代器。</a:t>
                      </a:r>
                      <a:r>
                        <a:rPr lang="zh-CN" altLang="en-US" sz="1000" b="0" i="0">
                          <a:solidFill>
                            <a:srgbClr val="000000"/>
                          </a:solidFill>
                          <a:latin typeface="宋体" panose="02010600030101010101" pitchFamily="2" charset="-122"/>
                          <a:ea typeface="宋体" panose="02010600030101010101" pitchFamily="2" charset="-122"/>
                        </a:rPr>
                        <a:t> </a:t>
                      </a: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FF0000"/>
                          </a:solidFill>
                          <a:latin typeface="宋体" panose="02010600030101010101" pitchFamily="2" charset="-122"/>
                          <a:ea typeface="宋体" panose="02010600030101010101" pitchFamily="2" charset="-122"/>
                        </a:rPr>
                        <a:t>default Stream&lt;E&gt; parallelStream()</a:t>
                      </a:r>
                      <a:endParaRPr lang="en-US" altLang="zh-CN" sz="1000" b="0" i="0">
                        <a:solidFill>
                          <a:srgbClr val="FF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FF0000"/>
                          </a:solidFill>
                          <a:latin typeface="宋体" panose="02010600030101010101" pitchFamily="2" charset="-122"/>
                          <a:ea typeface="宋体" panose="02010600030101010101" pitchFamily="2" charset="-122"/>
                        </a:rPr>
                        <a:t>返回一个可能并行 </a:t>
                      </a:r>
                      <a:r>
                        <a:rPr lang="en-US" altLang="zh-CN" sz="1000" b="0" i="0">
                          <a:solidFill>
                            <a:srgbClr val="FF0000"/>
                          </a:solidFill>
                          <a:latin typeface="宋体" panose="02010600030101010101" pitchFamily="2" charset="-122"/>
                          <a:ea typeface="宋体" panose="02010600030101010101" pitchFamily="2" charset="-122"/>
                        </a:rPr>
                        <a:t>Stream</a:t>
                      </a:r>
                      <a:r>
                        <a:rPr lang="zh-CN" altLang="en-US" sz="1000" b="0" i="0">
                          <a:solidFill>
                            <a:srgbClr val="FF0000"/>
                          </a:solidFill>
                          <a:latin typeface="宋体" panose="02010600030101010101" pitchFamily="2" charset="-122"/>
                          <a:ea typeface="宋体" panose="02010600030101010101" pitchFamily="2" charset="-122"/>
                        </a:rPr>
                        <a:t>与集合的来源。</a:t>
                      </a:r>
                      <a:endParaRPr lang="zh-CN" altLang="en-US" sz="1000" b="0" i="0">
                        <a:solidFill>
                          <a:srgbClr val="FF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E remove(int index )</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000000"/>
                          </a:solidFill>
                          <a:latin typeface="宋体" panose="02010600030101010101" pitchFamily="2" charset="-122"/>
                          <a:ea typeface="宋体" panose="02010600030101010101" pitchFamily="2" charset="-122"/>
                        </a:rPr>
                        <a:t>删除集合中索引为</a:t>
                      </a:r>
                      <a:r>
                        <a:rPr lang="en-US" altLang="zh-CN" sz="1000" b="0" i="0">
                          <a:solidFill>
                            <a:srgbClr val="000000"/>
                          </a:solidFill>
                          <a:latin typeface="宋体" panose="02010600030101010101" pitchFamily="2" charset="-122"/>
                          <a:ea typeface="宋体" panose="02010600030101010101" pitchFamily="2" charset="-122"/>
                        </a:rPr>
                        <a:t>index</a:t>
                      </a:r>
                      <a:r>
                        <a:rPr lang="zh-CN" altLang="en-US" sz="1000" b="0" i="0">
                          <a:solidFill>
                            <a:srgbClr val="000000"/>
                          </a:solidFill>
                          <a:latin typeface="宋体" panose="02010600030101010101" pitchFamily="2" charset="-122"/>
                          <a:ea typeface="宋体" panose="02010600030101010101" pitchFamily="2" charset="-122"/>
                        </a:rPr>
                        <a:t>的对象，返回删除的对象</a:t>
                      </a: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boolean removeAll(Collection&lt;?&gt; c)</a:t>
                      </a:r>
                      <a:r>
                        <a:rPr lang="en-US" altLang="zh-CN" sz="1000" b="0" i="0">
                          <a:solidFill>
                            <a:srgbClr val="000000"/>
                          </a:solidFill>
                          <a:latin typeface="宋体" panose="02010600030101010101" pitchFamily="2" charset="-122"/>
                          <a:ea typeface="宋体" panose="02010600030101010101" pitchFamily="2" charset="-122"/>
                        </a:rPr>
                        <a:t> </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000000"/>
                          </a:solidFill>
                          <a:latin typeface="宋体" panose="02010600030101010101" pitchFamily="2" charset="-122"/>
                          <a:ea typeface="宋体" panose="02010600030101010101" pitchFamily="2" charset="-122"/>
                        </a:rPr>
                        <a:t>从集合中删除 </a:t>
                      </a:r>
                      <a:r>
                        <a:rPr lang="en-US" altLang="zh-CN" sz="1000" b="0" i="0">
                          <a:solidFill>
                            <a:srgbClr val="000000"/>
                          </a:solidFill>
                          <a:latin typeface="宋体" panose="02010600030101010101" pitchFamily="2" charset="-122"/>
                          <a:ea typeface="宋体" panose="02010600030101010101" pitchFamily="2" charset="-122"/>
                        </a:rPr>
                        <a:t>c</a:t>
                      </a:r>
                      <a:r>
                        <a:rPr lang="zh-CN" altLang="en-US" sz="1000" b="0" i="0">
                          <a:solidFill>
                            <a:srgbClr val="000000"/>
                          </a:solidFill>
                          <a:latin typeface="宋体" panose="02010600030101010101" pitchFamily="2" charset="-122"/>
                          <a:ea typeface="宋体" panose="02010600030101010101" pitchFamily="2" charset="-122"/>
                        </a:rPr>
                        <a:t>集合</a:t>
                      </a: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FF0000"/>
                          </a:solidFill>
                          <a:latin typeface="宋体" panose="02010600030101010101" pitchFamily="2" charset="-122"/>
                          <a:ea typeface="宋体" panose="02010600030101010101" pitchFamily="2" charset="-122"/>
                        </a:rPr>
                        <a:t>default boolean removeIf(Predicate&lt;? super E&gt; filter)</a:t>
                      </a:r>
                      <a:endParaRPr lang="en-US" altLang="zh-CN" sz="1000" b="0" i="0">
                        <a:solidFill>
                          <a:srgbClr val="FF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FF0000"/>
                          </a:solidFill>
                          <a:latin typeface="宋体" panose="02010600030101010101" pitchFamily="2" charset="-122"/>
                          <a:ea typeface="宋体" panose="02010600030101010101" pitchFamily="2" charset="-122"/>
                        </a:rPr>
                        <a:t>当前集合中与</a:t>
                      </a:r>
                      <a:r>
                        <a:rPr lang="en-US" altLang="zh-CN" sz="1000" b="0" i="0">
                          <a:solidFill>
                            <a:srgbClr val="FF0000"/>
                          </a:solidFill>
                          <a:latin typeface="宋体" panose="02010600030101010101" pitchFamily="2" charset="-122"/>
                          <a:ea typeface="宋体" panose="02010600030101010101" pitchFamily="2" charset="-122"/>
                        </a:rPr>
                        <a:t>filter</a:t>
                      </a:r>
                      <a:r>
                        <a:rPr lang="zh-CN" altLang="en-US" sz="1000" b="0" i="0">
                          <a:solidFill>
                            <a:srgbClr val="FF0000"/>
                          </a:solidFill>
                          <a:latin typeface="宋体" panose="02010600030101010101" pitchFamily="2" charset="-122"/>
                          <a:ea typeface="宋体" panose="02010600030101010101" pitchFamily="2" charset="-122"/>
                        </a:rPr>
                        <a:t>的交集</a:t>
                      </a:r>
                      <a:endParaRPr lang="zh-CN" altLang="en-US" sz="1000" b="0" i="0">
                        <a:solidFill>
                          <a:srgbClr val="FF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boolean retainAll(Collection&lt;?&gt; c)</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000000"/>
                          </a:solidFill>
                          <a:latin typeface="宋体" panose="02010600030101010101" pitchFamily="2" charset="-122"/>
                          <a:ea typeface="宋体" panose="02010600030101010101" pitchFamily="2" charset="-122"/>
                        </a:rPr>
                        <a:t>仅保留</a:t>
                      </a:r>
                      <a:r>
                        <a:rPr lang="en-US" altLang="zh-CN" sz="1000" b="0" i="0">
                          <a:solidFill>
                            <a:srgbClr val="000000"/>
                          </a:solidFill>
                          <a:latin typeface="宋体" panose="02010600030101010101" pitchFamily="2" charset="-122"/>
                          <a:ea typeface="宋体" panose="02010600030101010101" pitchFamily="2" charset="-122"/>
                        </a:rPr>
                        <a:t>c</a:t>
                      </a:r>
                      <a:r>
                        <a:rPr lang="zh-CN" altLang="en-US" sz="1000" b="0" i="0">
                          <a:solidFill>
                            <a:srgbClr val="000000"/>
                          </a:solidFill>
                          <a:latin typeface="宋体" panose="02010600030101010101" pitchFamily="2" charset="-122"/>
                          <a:ea typeface="宋体" panose="02010600030101010101" pitchFamily="2" charset="-122"/>
                        </a:rPr>
                        <a:t>中的集合元素</a:t>
                      </a: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int size()</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000000"/>
                          </a:solidFill>
                          <a:latin typeface="宋体" panose="02010600030101010101" pitchFamily="2" charset="-122"/>
                          <a:ea typeface="宋体" panose="02010600030101010101" pitchFamily="2" charset="-122"/>
                        </a:rPr>
                        <a:t>获取当前集合中实际存储的元素个数</a:t>
                      </a: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FF0000"/>
                          </a:solidFill>
                          <a:latin typeface="宋体" panose="02010600030101010101" pitchFamily="2" charset="-122"/>
                          <a:ea typeface="宋体" panose="02010600030101010101" pitchFamily="2" charset="-122"/>
                        </a:rPr>
                        <a:t>default Spliterator&lt;E&gt; spliterator()</a:t>
                      </a:r>
                      <a:endParaRPr lang="en-US" altLang="zh-CN" sz="1000" b="0" i="0">
                        <a:solidFill>
                          <a:srgbClr val="FF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FF0000"/>
                          </a:solidFill>
                          <a:latin typeface="宋体" panose="02010600030101010101" pitchFamily="2" charset="-122"/>
                          <a:ea typeface="宋体" panose="02010600030101010101" pitchFamily="2" charset="-122"/>
                        </a:rPr>
                        <a:t>创建此集合中的元素的 </a:t>
                      </a:r>
                      <a:r>
                        <a:rPr lang="en-US" altLang="zh-CN" sz="1000" b="0" i="0">
                          <a:solidFill>
                            <a:srgbClr val="FF0000"/>
                          </a:solidFill>
                          <a:latin typeface="宋体" panose="02010600030101010101" pitchFamily="2" charset="-122"/>
                          <a:ea typeface="宋体" panose="02010600030101010101" pitchFamily="2" charset="-122"/>
                        </a:rPr>
                        <a:t>Spliterator</a:t>
                      </a:r>
                      <a:r>
                        <a:rPr lang="zh-CN" altLang="en-US" sz="1000" b="0" i="0">
                          <a:solidFill>
                            <a:srgbClr val="FF0000"/>
                          </a:solidFill>
                          <a:latin typeface="宋体" panose="02010600030101010101" pitchFamily="2" charset="-122"/>
                          <a:ea typeface="宋体" panose="02010600030101010101" pitchFamily="2" charset="-122"/>
                        </a:rPr>
                        <a:t>。</a:t>
                      </a:r>
                      <a:r>
                        <a:rPr lang="zh-CN" altLang="en-US" sz="1000" b="0" i="0">
                          <a:solidFill>
                            <a:srgbClr val="FF0000"/>
                          </a:solidFill>
                          <a:latin typeface="宋体" panose="02010600030101010101" pitchFamily="2" charset="-122"/>
                          <a:ea typeface="宋体" panose="02010600030101010101" pitchFamily="2" charset="-122"/>
                        </a:rPr>
                        <a:t> </a:t>
                      </a:r>
                      <a:endParaRPr lang="zh-CN" altLang="en-US" sz="1000" b="0" i="0">
                        <a:solidFill>
                          <a:srgbClr val="FF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FF0000"/>
                          </a:solidFill>
                          <a:latin typeface="宋体" panose="02010600030101010101" pitchFamily="2" charset="-122"/>
                          <a:ea typeface="宋体" panose="02010600030101010101" pitchFamily="2" charset="-122"/>
                        </a:rPr>
                        <a:t>default Stream&lt;E&gt; stream()</a:t>
                      </a:r>
                      <a:r>
                        <a:rPr lang="en-US" altLang="zh-CN" sz="1000" b="0" i="0">
                          <a:solidFill>
                            <a:srgbClr val="FF0000"/>
                          </a:solidFill>
                          <a:latin typeface="宋体" panose="02010600030101010101" pitchFamily="2" charset="-122"/>
                          <a:ea typeface="宋体" panose="02010600030101010101" pitchFamily="2" charset="-122"/>
                        </a:rPr>
                        <a:t> </a:t>
                      </a:r>
                      <a:endParaRPr lang="en-US" altLang="zh-CN" sz="1000" b="0" i="0">
                        <a:solidFill>
                          <a:srgbClr val="FF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FF0000"/>
                          </a:solidFill>
                          <a:latin typeface="宋体" panose="02010600030101010101" pitchFamily="2" charset="-122"/>
                          <a:ea typeface="宋体" panose="02010600030101010101" pitchFamily="2" charset="-122"/>
                        </a:rPr>
                        <a:t>返回一个序列 </a:t>
                      </a:r>
                      <a:r>
                        <a:rPr lang="en-US" altLang="zh-CN" sz="1000" b="0" i="0">
                          <a:solidFill>
                            <a:srgbClr val="FF0000"/>
                          </a:solidFill>
                          <a:latin typeface="宋体" panose="02010600030101010101" pitchFamily="2" charset="-122"/>
                          <a:ea typeface="宋体" panose="02010600030101010101" pitchFamily="2" charset="-122"/>
                        </a:rPr>
                        <a:t>Stream</a:t>
                      </a:r>
                      <a:r>
                        <a:rPr lang="zh-CN" altLang="en-US" sz="1000" b="0" i="0">
                          <a:solidFill>
                            <a:srgbClr val="FF0000"/>
                          </a:solidFill>
                          <a:latin typeface="宋体" panose="02010600030101010101" pitchFamily="2" charset="-122"/>
                          <a:ea typeface="宋体" panose="02010600030101010101" pitchFamily="2" charset="-122"/>
                        </a:rPr>
                        <a:t>与集合的来源。</a:t>
                      </a:r>
                      <a:r>
                        <a:rPr lang="zh-CN" altLang="en-US" sz="1000" b="0" i="0">
                          <a:solidFill>
                            <a:srgbClr val="FF0000"/>
                          </a:solidFill>
                          <a:latin typeface="宋体" panose="02010600030101010101" pitchFamily="2" charset="-122"/>
                          <a:ea typeface="宋体" panose="02010600030101010101" pitchFamily="2" charset="-122"/>
                        </a:rPr>
                        <a:t> </a:t>
                      </a:r>
                      <a:endParaRPr lang="zh-CN" altLang="en-US" sz="1000" b="0" i="0">
                        <a:solidFill>
                          <a:srgbClr val="FF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Object[] toArray()</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000000"/>
                          </a:solidFill>
                          <a:latin typeface="宋体" panose="02010600030101010101" pitchFamily="2" charset="-122"/>
                          <a:ea typeface="宋体" panose="02010600030101010101" pitchFamily="2" charset="-122"/>
                        </a:rPr>
                        <a:t>返回包含当前集合中所有元素的数组</a:t>
                      </a: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&lt;T&gt; T[] toArray(T[] a)</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000000"/>
                          </a:solidFill>
                          <a:latin typeface="宋体" panose="02010600030101010101" pitchFamily="2" charset="-122"/>
                          <a:ea typeface="宋体" panose="02010600030101010101" pitchFamily="2" charset="-122"/>
                        </a:rPr>
                        <a:t>把集合转换为指定类型的数组</a:t>
                      </a: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r>
              <a:rPr lang="en-US" altLang="zh-CN" sz="2400" b="1" spc="300" dirty="0">
                <a:solidFill>
                  <a:srgbClr val="002060"/>
                </a:solidFill>
                <a:latin typeface="思源黑体 CN Bold" panose="020B0800000000000000" pitchFamily="34" charset="-122"/>
                <a:ea typeface="宋体" panose="02010600030101010101" pitchFamily="2" charset="-122"/>
                <a:sym typeface="+mn-ea"/>
              </a:rPr>
              <a:t>List</a:t>
            </a:r>
            <a:r>
              <a:rPr lang="zh-CN" altLang="en-US" sz="2400" b="1" spc="300" dirty="0">
                <a:solidFill>
                  <a:srgbClr val="002060"/>
                </a:solidFill>
                <a:latin typeface="思源黑体 CN Bold" panose="020B0800000000000000" pitchFamily="34" charset="-122"/>
                <a:ea typeface="宋体" panose="02010600030101010101" pitchFamily="2" charset="-122"/>
                <a:sym typeface="+mn-ea"/>
              </a:rPr>
              <a:t>和</a:t>
            </a:r>
            <a:r>
              <a:rPr lang="en-US" altLang="zh-CN" sz="2400" b="1" spc="300" dirty="0">
                <a:solidFill>
                  <a:srgbClr val="002060"/>
                </a:solidFill>
                <a:latin typeface="思源黑体 CN Bold" panose="020B0800000000000000" pitchFamily="34" charset="-122"/>
                <a:ea typeface="宋体" panose="02010600030101010101" pitchFamily="2" charset="-122"/>
                <a:sym typeface="+mn-ea"/>
              </a:rPr>
              <a:t>Set</a:t>
            </a:r>
            <a:r>
              <a:rPr lang="zh-CN" altLang="en-US" sz="2400" b="1" spc="300" dirty="0">
                <a:solidFill>
                  <a:srgbClr val="002060"/>
                </a:solidFill>
                <a:latin typeface="思源黑体 CN Bold" panose="020B0800000000000000" pitchFamily="34" charset="-122"/>
                <a:ea typeface="宋体" panose="02010600030101010101" pitchFamily="2" charset="-122"/>
                <a:sym typeface="+mn-ea"/>
              </a:rPr>
              <a:t>集合常用方法</a:t>
            </a:r>
            <a:endParaRPr lang="en-US" altLang="zh-CN"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R="0" indent="0" algn="ctr" defTabSz="914400" fontAlgn="auto">
              <a:lnSpc>
                <a:spcPct val="100000"/>
              </a:lnSpc>
              <a:spcBef>
                <a:spcPts val="0"/>
              </a:spcBef>
              <a:spcAft>
                <a:spcPts val="0"/>
              </a:spcAft>
              <a:buClrTx/>
              <a:buSzTx/>
              <a:buFontTx/>
              <a:buNone/>
              <a:defRPr/>
            </a:pPr>
            <a:r>
              <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graphicFrame>
        <p:nvGraphicFramePr>
          <p:cNvPr id="3" name="表格 2"/>
          <p:cNvGraphicFramePr/>
          <p:nvPr>
            <p:custDataLst>
              <p:tags r:id="rId5"/>
            </p:custDataLst>
          </p:nvPr>
        </p:nvGraphicFramePr>
        <p:xfrm>
          <a:off x="751205" y="1160145"/>
          <a:ext cx="9963785" cy="4418330"/>
        </p:xfrm>
        <a:graphic>
          <a:graphicData uri="http://schemas.openxmlformats.org/drawingml/2006/table">
            <a:tbl>
              <a:tblPr/>
              <a:tblGrid>
                <a:gridCol w="3503295"/>
                <a:gridCol w="6460490"/>
              </a:tblGrid>
              <a:tr h="302260">
                <a:tc>
                  <a:txBody>
                    <a:bodyPr/>
                    <a:p>
                      <a:pPr indent="0" algn="ctr">
                        <a:buNone/>
                      </a:pPr>
                      <a:r>
                        <a:rPr lang="en-US" sz="1600" b="1">
                          <a:solidFill>
                            <a:srgbClr val="333333"/>
                          </a:solidFill>
                          <a:latin typeface="Open Sans" panose="020B0606030504020204" charset="-122"/>
                          <a:sym typeface="+mn-ea"/>
                        </a:rPr>
                        <a:t>方法名</a:t>
                      </a:r>
                      <a:endParaRPr lang="en-US" sz="1600" b="1">
                        <a:solidFill>
                          <a:srgbClr val="333333"/>
                        </a:solidFill>
                        <a:latin typeface="Open Sans" panose="020B0606030504020204" charset="-122"/>
                        <a:sym typeface="+mn-ea"/>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92D050"/>
                    </a:solidFill>
                  </a:tcPr>
                </a:tc>
                <a:tc>
                  <a:txBody>
                    <a:bodyPr/>
                    <a:p>
                      <a:pPr indent="0" algn="ctr">
                        <a:buNone/>
                      </a:pPr>
                      <a:r>
                        <a:rPr lang="zh-CN" sz="1600" b="1">
                          <a:solidFill>
                            <a:srgbClr val="333333"/>
                          </a:solidFill>
                          <a:latin typeface="Arial" panose="020B0604020202020204" pitchFamily="34" charset="0"/>
                          <a:ea typeface="Open Sans" panose="020B0606030504020204" charset="-122"/>
                        </a:rPr>
                        <a:t>描述</a:t>
                      </a:r>
                      <a:endParaRPr lang="zh-CN" altLang="en-US" sz="1600" b="1">
                        <a:solidFill>
                          <a:srgbClr val="333333"/>
                        </a:solidFill>
                        <a:latin typeface="Arial" panose="020B0604020202020204" pitchFamily="34" charset="0"/>
                        <a:ea typeface="Open Sans" panose="020B0606030504020204"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92D050"/>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void add(int index, E element)</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sz="1000" b="0" i="0">
                          <a:solidFill>
                            <a:srgbClr val="000000"/>
                          </a:solidFill>
                          <a:latin typeface="宋体" panose="02010600030101010101" pitchFamily="2" charset="-122"/>
                          <a:ea typeface="宋体" panose="02010600030101010101" pitchFamily="2" charset="-122"/>
                        </a:rPr>
                        <a:t>在当前集合中index处插入element元素</a:t>
                      </a:r>
                      <a:endParaRPr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boolean addAll(int index, Collection&lt;? extends E&gt; c) </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将c集合中的所有元素插入到指定位置</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E get(int index)</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000000"/>
                          </a:solidFill>
                          <a:latin typeface="宋体" panose="02010600030101010101" pitchFamily="2" charset="-122"/>
                          <a:ea typeface="宋体" panose="02010600030101010101" pitchFamily="2" charset="-122"/>
                        </a:rPr>
                        <a:t>返回index位置的元素。</a:t>
                      </a: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int indexOf(Object o)</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返回o在当前集合中的第一次出现的索引，-如果</a:t>
                      </a:r>
                      <a:r>
                        <a:rPr lang="zh-CN" altLang="en-US" sz="1000" b="0" i="0">
                          <a:solidFill>
                            <a:srgbClr val="000000"/>
                          </a:solidFill>
                          <a:latin typeface="宋体" panose="02010600030101010101" pitchFamily="2" charset="-122"/>
                          <a:ea typeface="宋体" panose="02010600030101010101" pitchFamily="2" charset="-122"/>
                        </a:rPr>
                        <a:t>不</a:t>
                      </a:r>
                      <a:r>
                        <a:rPr lang="en-US" altLang="zh-CN" sz="1000" b="0" i="0">
                          <a:solidFill>
                            <a:srgbClr val="000000"/>
                          </a:solidFill>
                          <a:latin typeface="宋体" panose="02010600030101010101" pitchFamily="2" charset="-122"/>
                          <a:ea typeface="宋体" panose="02010600030101010101" pitchFamily="2" charset="-122"/>
                        </a:rPr>
                        <a:t>包含o元素，返回- 1</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int lastIndexOf(Object o)</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返回o在当前集合中的索引，-如果包含o元素，返回- 1。</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default E getFirst()</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000000"/>
                          </a:solidFill>
                          <a:latin typeface="宋体" panose="02010600030101010101" pitchFamily="2" charset="-122"/>
                          <a:ea typeface="宋体" panose="02010600030101010101" pitchFamily="2" charset="-122"/>
                        </a:rPr>
                        <a:t>返回第一个元素</a:t>
                      </a: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ListIterator&lt;E&gt; listIterator()</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000000"/>
                          </a:solidFill>
                          <a:latin typeface="宋体" panose="02010600030101010101" pitchFamily="2" charset="-122"/>
                          <a:ea typeface="宋体" panose="02010600030101010101" pitchFamily="2" charset="-122"/>
                        </a:rPr>
                        <a:t>返回列表元素的列表迭代器。</a:t>
                      </a: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ListIterator&lt;E&gt; listIterator(int index)</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000000"/>
                          </a:solidFill>
                          <a:latin typeface="宋体" panose="02010600030101010101" pitchFamily="2" charset="-122"/>
                          <a:ea typeface="宋体" panose="02010600030101010101" pitchFamily="2" charset="-122"/>
                        </a:rPr>
                        <a:t> 从当前集合中指定[index,最后) 返回一个迭代器。</a:t>
                      </a: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E set(int index, E element) </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000000"/>
                          </a:solidFill>
                          <a:latin typeface="宋体" panose="02010600030101010101" pitchFamily="2" charset="-122"/>
                          <a:ea typeface="宋体" panose="02010600030101010101" pitchFamily="2" charset="-122"/>
                        </a:rPr>
                        <a:t>指定index位置，替换为element元素</a:t>
                      </a: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FF0000"/>
                          </a:solidFill>
                          <a:latin typeface="宋体" panose="02010600030101010101" pitchFamily="2" charset="-122"/>
                          <a:ea typeface="宋体" panose="02010600030101010101" pitchFamily="2" charset="-122"/>
                        </a:rPr>
                        <a:t>sort(Comparator&lt;? super E&gt; c) </a:t>
                      </a:r>
                      <a:endParaRPr lang="en-US" altLang="zh-CN" sz="1000" b="0" i="0">
                        <a:solidFill>
                          <a:srgbClr val="FF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endParaRPr lang="zh-CN" altLang="en-US" sz="1000" b="0" i="0">
                        <a:solidFill>
                          <a:srgbClr val="FF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分类列表使用提供的 Comparator比较元素。</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List&lt;E&gt; subList(int fromIndex, int toIndex)</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zh-CN" altLang="en-US" sz="1000" b="0" i="0">
                          <a:solidFill>
                            <a:srgbClr val="000000"/>
                          </a:solidFill>
                          <a:latin typeface="宋体" panose="02010600030101010101" pitchFamily="2" charset="-122"/>
                          <a:ea typeface="宋体" panose="02010600030101010101" pitchFamily="2" charset="-122"/>
                        </a:rPr>
                        <a:t>截取当前List中从[fromIndex,toIndex)的子集，返回一个List对象</a:t>
                      </a: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buNone/>
                      </a:pPr>
                      <a:r>
                        <a:rPr lang="en-US" altLang="zh-CN" sz="1000" b="0" i="0">
                          <a:solidFill>
                            <a:srgbClr val="FF0000"/>
                          </a:solidFill>
                          <a:latin typeface="宋体" panose="02010600030101010101" pitchFamily="2" charset="-122"/>
                          <a:ea typeface="宋体" panose="02010600030101010101" pitchFamily="2" charset="-122"/>
                        </a:rPr>
                        <a:t>static &lt;E&gt; Set&lt;E&gt; copyOf(Collection&lt;? extends E&gt; coll) </a:t>
                      </a:r>
                      <a:endParaRPr lang="en-US" altLang="zh-CN" sz="1000" b="0" i="0">
                        <a:solidFill>
                          <a:srgbClr val="FF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buNone/>
                      </a:pPr>
                      <a:r>
                        <a:rPr lang="en-US" altLang="zh-CN" sz="1000" b="0" i="0">
                          <a:solidFill>
                            <a:srgbClr val="FF0000"/>
                          </a:solidFill>
                          <a:latin typeface="宋体" panose="02010600030101010101" pitchFamily="2" charset="-122"/>
                          <a:ea typeface="宋体" panose="02010600030101010101" pitchFamily="2" charset="-122"/>
                        </a:rPr>
                        <a:t>java10</a:t>
                      </a:r>
                      <a:r>
                        <a:rPr lang="zh-CN" altLang="en-US" sz="1000" b="0" i="0">
                          <a:solidFill>
                            <a:srgbClr val="FF0000"/>
                          </a:solidFill>
                          <a:latin typeface="宋体" panose="02010600030101010101" pitchFamily="2" charset="-122"/>
                          <a:ea typeface="宋体" panose="02010600030101010101" pitchFamily="2" charset="-122"/>
                        </a:rPr>
                        <a:t>新增特性，静态方法，复制一个集合</a:t>
                      </a:r>
                      <a:endParaRPr lang="zh-CN" altLang="en-US" sz="1000" b="0" i="0">
                        <a:solidFill>
                          <a:srgbClr val="FF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buNone/>
                      </a:pPr>
                      <a:r>
                        <a:rPr lang="en-US" altLang="zh-CN" sz="1000" b="0" i="0">
                          <a:solidFill>
                            <a:srgbClr val="FF0000"/>
                          </a:solidFill>
                          <a:latin typeface="宋体" panose="02010600030101010101" pitchFamily="2" charset="-122"/>
                          <a:ea typeface="宋体" panose="02010600030101010101" pitchFamily="2" charset="-122"/>
                        </a:rPr>
                        <a:t>static &lt;E&gt; Set&lt;E&gt; of(E e1....)</a:t>
                      </a:r>
                      <a:endParaRPr lang="en-US" altLang="zh-CN" sz="1000" b="0" i="0">
                        <a:solidFill>
                          <a:srgbClr val="FF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buNone/>
                      </a:pPr>
                      <a:r>
                        <a:rPr lang="zh-CN" altLang="en-US" sz="1000" b="0" i="0">
                          <a:solidFill>
                            <a:srgbClr val="FF0000"/>
                          </a:solidFill>
                          <a:latin typeface="宋体" panose="02010600030101010101" pitchFamily="2" charset="-122"/>
                          <a:ea typeface="宋体" panose="02010600030101010101" pitchFamily="2" charset="-122"/>
                        </a:rPr>
                        <a:t>返回一个不可变的集合，如果添加删除等会报UnsupportedOperationException</a:t>
                      </a:r>
                      <a:endParaRPr lang="zh-CN" altLang="en-US" sz="1000" b="0" i="0">
                        <a:solidFill>
                          <a:srgbClr val="FF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indent="-457200" algn="l">
              <a:lnSpc>
                <a:spcPct val="110000"/>
              </a:lnSpc>
              <a:buClr>
                <a:srgbClr val="ED7D31"/>
              </a:buClr>
              <a:buSzTx/>
              <a:buFont typeface="+mj-lt"/>
              <a:buAutoNum type="arabicPeriod"/>
            </a:pPr>
            <a:r>
              <a:rPr sz="2000">
                <a:ea typeface="宋体" panose="02010600030101010101" pitchFamily="2" charset="-122"/>
                <a:sym typeface="+mn-ea"/>
              </a:rPr>
              <a:t>编写程序，在main方法中</a:t>
            </a:r>
            <a:r>
              <a:rPr lang="zh-CN" sz="2000">
                <a:ea typeface="宋体" panose="02010600030101010101" pitchFamily="2" charset="-122"/>
                <a:sym typeface="+mn-ea"/>
              </a:rPr>
              <a:t>创建一个字符串数组存储</a:t>
            </a:r>
            <a:r>
              <a:rPr lang="en-US" altLang="zh-CN" sz="2000">
                <a:ea typeface="宋体" panose="02010600030101010101" pitchFamily="2" charset="-122"/>
                <a:sym typeface="+mn-ea"/>
              </a:rPr>
              <a:t>5</a:t>
            </a:r>
            <a:r>
              <a:rPr lang="zh-CN" altLang="en-US" sz="2000">
                <a:ea typeface="宋体" panose="02010600030101010101" pitchFamily="2" charset="-122"/>
                <a:sym typeface="+mn-ea"/>
              </a:rPr>
              <a:t>个无序的字符串</a:t>
            </a:r>
            <a:endParaRPr lang="zh-CN" altLang="en-US" sz="2000">
              <a:ea typeface="宋体" panose="02010600030101010101" pitchFamily="2" charset="-122"/>
              <a:sym typeface="+mn-ea"/>
            </a:endParaRPr>
          </a:p>
          <a:p>
            <a:pPr marL="0" indent="0" algn="l">
              <a:lnSpc>
                <a:spcPct val="110000"/>
              </a:lnSpc>
              <a:buClr>
                <a:srgbClr val="ED7D31"/>
              </a:buClr>
              <a:buSzTx/>
              <a:buFont typeface="+mj-lt"/>
              <a:buNone/>
            </a:pPr>
            <a:r>
              <a:rPr lang="en-US" sz="2000">
                <a:ea typeface="宋体" panose="02010600030101010101" pitchFamily="2" charset="-122"/>
              </a:rPr>
              <a:t> 	String [] sArray = {"12","11","13","16","15"};</a:t>
            </a:r>
            <a:endParaRPr lang="en-US" sz="2000">
              <a:ea typeface="宋体" panose="02010600030101010101" pitchFamily="2" charset="-122"/>
            </a:endParaRPr>
          </a:p>
          <a:p>
            <a:pPr marL="457200" indent="-457200" algn="l">
              <a:lnSpc>
                <a:spcPct val="110000"/>
              </a:lnSpc>
              <a:buClr>
                <a:srgbClr val="ED7D31"/>
              </a:buClr>
              <a:buSzTx/>
              <a:buFont typeface="+mj-lt"/>
              <a:buAutoNum type="arabicPeriod"/>
            </a:pPr>
            <a:r>
              <a:rPr sz="2000">
                <a:ea typeface="宋体" panose="02010600030101010101" pitchFamily="2" charset="-122"/>
                <a:sym typeface="+mn-ea"/>
              </a:rPr>
              <a:t>创建TreeSet类型的集合，将</a:t>
            </a:r>
            <a:r>
              <a:rPr lang="zh-CN" sz="2000">
                <a:ea typeface="宋体" panose="02010600030101010101" pitchFamily="2" charset="-122"/>
                <a:sym typeface="+mn-ea"/>
              </a:rPr>
              <a:t>数组中无序数字</a:t>
            </a:r>
            <a:r>
              <a:rPr sz="2000">
                <a:ea typeface="宋体" panose="02010600030101010101" pitchFamily="2" charset="-122"/>
                <a:sym typeface="+mn-ea"/>
              </a:rPr>
              <a:t>添加到集合中；</a:t>
            </a:r>
            <a:endParaRPr sz="2000">
              <a:ea typeface="宋体" panose="02010600030101010101" pitchFamily="2" charset="-122"/>
            </a:endParaRPr>
          </a:p>
          <a:p>
            <a:pPr marL="457200" indent="-457200" algn="l">
              <a:lnSpc>
                <a:spcPct val="110000"/>
              </a:lnSpc>
              <a:buClr>
                <a:srgbClr val="ED7D31"/>
              </a:buClr>
              <a:buSzTx/>
              <a:buFont typeface="+mj-lt"/>
              <a:buAutoNum type="arabicPeriod"/>
            </a:pPr>
            <a:r>
              <a:rPr sz="2000">
                <a:ea typeface="宋体" panose="02010600030101010101" pitchFamily="2" charset="-122"/>
                <a:sym typeface="+mn-ea"/>
              </a:rPr>
              <a:t>增强型for循环遍历该集合，打印所有元素。</a:t>
            </a:r>
            <a:r>
              <a:rPr lang="zh-CN" sz="2000">
                <a:ea typeface="宋体" panose="02010600030101010101" pitchFamily="2" charset="-122"/>
                <a:sym typeface="+mn-ea"/>
              </a:rPr>
              <a:t>并求和</a:t>
            </a:r>
            <a:endParaRPr sz="2000">
              <a:ea typeface="宋体" panose="02010600030101010101" pitchFamily="2" charset="-122"/>
            </a:endParaRPr>
          </a:p>
          <a:p>
            <a:pPr marL="1157605" lvl="2" indent="-357505">
              <a:buClr>
                <a:srgbClr val="ED7D31"/>
              </a:buClr>
              <a:buFont typeface="Arial" panose="020B0604020202020204" pitchFamily="34" charset="0"/>
              <a:buChar char="•"/>
              <a:defRPr/>
            </a:pPr>
            <a:endParaRPr lang="zh-CN" altLang="en-US" sz="1200" dirty="0" smtClean="0">
              <a:latin typeface="仿宋" panose="02010609060101010101" charset="-122"/>
              <a:ea typeface="仿宋" panose="02010609060101010101" charset="-122"/>
              <a:cs typeface="仿宋" panose="02010609060101010101" charset="-122"/>
              <a:sym typeface="+mn-ea"/>
            </a:endParaRPr>
          </a:p>
          <a:p>
            <a:pPr marL="1157605" lvl="2" indent="-357505">
              <a:buClr>
                <a:srgbClr val="ED7D31"/>
              </a:buClr>
              <a:buFont typeface="Arial" panose="020B0604020202020204" pitchFamily="34" charset="0"/>
              <a:buChar char="•"/>
              <a:defRPr/>
            </a:pPr>
            <a:endParaRPr lang="zh-CN" altLang="en-US" sz="1200" dirty="0" smtClean="0">
              <a:latin typeface="仿宋" panose="02010609060101010101" charset="-122"/>
              <a:ea typeface="仿宋" panose="02010609060101010101" charset="-122"/>
              <a:cs typeface="仿宋" panose="02010609060101010101" charset="-122"/>
            </a:endParaRPr>
          </a:p>
          <a:p>
            <a:pPr marL="342900" lvl="1" indent="0">
              <a:lnSpc>
                <a:spcPct val="110000"/>
              </a:lnSpc>
              <a:buClr>
                <a:srgbClr val="ED7D31"/>
              </a:buClr>
              <a:buFont typeface="Arial" panose="020B0604020202020204" pitchFamily="34" charset="0"/>
              <a:buNone/>
              <a:defRPr/>
            </a:pPr>
            <a:r>
              <a:rPr lang="en-US" altLang="zh-CN" sz="1400" dirty="0">
                <a:ea typeface="宋体" panose="02010600030101010101" pitchFamily="2" charset="-122"/>
                <a:sym typeface="+mn-ea"/>
              </a:rPr>
              <a:t> </a:t>
            </a:r>
            <a:endParaRPr lang="en-US" altLang="zh-CN" sz="1400"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141730" y="3137535"/>
            <a:ext cx="981202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第二节 </a:t>
            </a:r>
            <a:r>
              <a:rPr lang="zh-CN" altLang="en-US" sz="6665" dirty="0">
                <a:solidFill>
                  <a:schemeClr val="bg1"/>
                </a:solidFill>
                <a:latin typeface="Arial" panose="020B0604020202020204" pitchFamily="34" charset="0"/>
                <a:ea typeface="宋体" panose="02010600030101010101" pitchFamily="2" charset="-122"/>
                <a:sym typeface="+mn-ea"/>
              </a:rPr>
              <a:t>使用迭代器遍历集合</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集合的遍历访问</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indent="-457200" algn="l">
              <a:lnSpc>
                <a:spcPct val="110000"/>
              </a:lnSpc>
              <a:buClr>
                <a:srgbClr val="ED7D31"/>
              </a:buClr>
              <a:buSzTx/>
              <a:buFont typeface="+mj-lt"/>
              <a:buAutoNum type="arabicPeriod"/>
            </a:pPr>
            <a:r>
              <a:rPr sz="2000">
                <a:ea typeface="宋体" panose="02010600030101010101" pitchFamily="2" charset="-122"/>
                <a:sym typeface="+mn-ea"/>
              </a:rPr>
              <a:t>通常有两种方式可以遍历访问集合中的元素：</a:t>
            </a:r>
            <a:endParaRPr sz="2000">
              <a:ea typeface="宋体" panose="02010600030101010101" pitchFamily="2" charset="-122"/>
            </a:endParaRPr>
          </a:p>
          <a:p>
            <a:pPr marL="704850" lvl="1" indent="-361950">
              <a:buClr>
                <a:srgbClr val="ED7D31"/>
              </a:buClr>
              <a:buFont typeface="Arial" panose="020B0604020202020204" pitchFamily="34" charset="0"/>
              <a:buChar char="•"/>
              <a:defRPr/>
            </a:pPr>
            <a:r>
              <a:rPr lang="zh-CN" altLang="en-US" sz="2000" dirty="0" smtClean="0">
                <a:latin typeface="+mj-lt"/>
                <a:ea typeface="宋体" panose="02010600030101010101" pitchFamily="2" charset="-122"/>
                <a:sym typeface="+mn-ea"/>
              </a:rPr>
              <a:t>使用增强型</a:t>
            </a:r>
            <a:r>
              <a:rPr lang="en-US" altLang="zh-CN" sz="2000" dirty="0" smtClean="0">
                <a:latin typeface="+mj-lt"/>
                <a:ea typeface="宋体" panose="02010600030101010101" pitchFamily="2" charset="-122"/>
                <a:sym typeface="+mn-ea"/>
              </a:rPr>
              <a:t>for</a:t>
            </a:r>
            <a:r>
              <a:rPr lang="zh-CN" altLang="en-US" sz="2000" dirty="0" smtClean="0">
                <a:latin typeface="+mj-lt"/>
                <a:ea typeface="宋体" panose="02010600030101010101" pitchFamily="2" charset="-122"/>
                <a:sym typeface="+mn-ea"/>
              </a:rPr>
              <a:t>循环</a:t>
            </a:r>
            <a:endParaRPr lang="en-US" altLang="zh-CN" sz="2000" dirty="0" smtClean="0">
              <a:latin typeface="+mj-lt"/>
              <a:ea typeface="宋体" panose="02010600030101010101" pitchFamily="2" charset="-122"/>
            </a:endParaRPr>
          </a:p>
          <a:p>
            <a:pPr marL="704850" lvl="1" indent="-361950">
              <a:buClr>
                <a:srgbClr val="ED7D31"/>
              </a:buClr>
              <a:buFont typeface="Arial" panose="020B0604020202020204" pitchFamily="34" charset="0"/>
              <a:buChar char="•"/>
              <a:defRPr/>
            </a:pPr>
            <a:r>
              <a:rPr lang="zh-CN" altLang="en-US" sz="2000" dirty="0" smtClean="0">
                <a:ea typeface="宋体" panose="02010600030101010101" pitchFamily="2" charset="-122"/>
                <a:sym typeface="+mn-ea"/>
              </a:rPr>
              <a:t>使用迭代器</a:t>
            </a:r>
            <a:endParaRPr lang="zh-CN" altLang="en-US" sz="2000" dirty="0" smtClean="0">
              <a:ea typeface="宋体" panose="02010600030101010101" pitchFamily="2" charset="-122"/>
            </a:endParaRPr>
          </a:p>
          <a:p>
            <a:pPr marL="457200" indent="-457200" algn="l">
              <a:lnSpc>
                <a:spcPct val="110000"/>
              </a:lnSpc>
              <a:buClr>
                <a:srgbClr val="ED7D31"/>
              </a:buClr>
              <a:buSzTx/>
              <a:buFont typeface="+mj-lt"/>
              <a:buAutoNum type="arabicPeriod" startAt="2"/>
            </a:pPr>
            <a:r>
              <a:rPr sz="2000">
                <a:ea typeface="宋体" panose="02010600030101010101" pitchFamily="2" charset="-122"/>
                <a:sym typeface="+mn-ea"/>
              </a:rPr>
              <a:t>增强型for循环比较方便，而迭代器方式编程相对复杂。</a:t>
            </a:r>
            <a:endParaRPr sz="2000">
              <a:ea typeface="宋体" panose="02010600030101010101" pitchFamily="2" charset="-122"/>
            </a:endParaRPr>
          </a:p>
          <a:p>
            <a:pPr marL="1157605" lvl="2" indent="-357505">
              <a:buClr>
                <a:srgbClr val="ED7D31"/>
              </a:buClr>
              <a:buFont typeface="Arial" panose="020B0604020202020204" pitchFamily="34" charset="0"/>
              <a:buChar char="•"/>
              <a:defRPr/>
            </a:pPr>
            <a:endParaRPr lang="zh-CN" altLang="en-US" sz="1200" dirty="0" smtClean="0">
              <a:latin typeface="仿宋" panose="02010609060101010101" charset="-122"/>
              <a:ea typeface="仿宋" panose="02010609060101010101" charset="-122"/>
              <a:cs typeface="仿宋" panose="02010609060101010101" charset="-122"/>
              <a:sym typeface="+mn-ea"/>
            </a:endParaRPr>
          </a:p>
          <a:p>
            <a:pPr marL="1157605" lvl="2" indent="-357505">
              <a:buClr>
                <a:srgbClr val="ED7D31"/>
              </a:buClr>
              <a:buFont typeface="Arial" panose="020B0604020202020204" pitchFamily="34" charset="0"/>
              <a:buChar char="•"/>
              <a:defRPr/>
            </a:pPr>
            <a:endParaRPr lang="zh-CN" altLang="en-US" sz="1200" dirty="0" smtClean="0">
              <a:latin typeface="仿宋" panose="02010609060101010101" charset="-122"/>
              <a:ea typeface="仿宋" panose="02010609060101010101" charset="-122"/>
              <a:cs typeface="仿宋" panose="02010609060101010101" charset="-122"/>
            </a:endParaRPr>
          </a:p>
          <a:p>
            <a:pPr marL="342900" lvl="1" indent="0">
              <a:lnSpc>
                <a:spcPct val="110000"/>
              </a:lnSpc>
              <a:buClr>
                <a:srgbClr val="ED7D31"/>
              </a:buClr>
              <a:buFont typeface="Arial" panose="020B0604020202020204" pitchFamily="34" charset="0"/>
              <a:buNone/>
              <a:defRPr/>
            </a:pPr>
            <a:r>
              <a:rPr lang="en-US" altLang="zh-CN" sz="1400" dirty="0">
                <a:ea typeface="宋体" panose="02010600030101010101" pitchFamily="2" charset="-122"/>
                <a:sym typeface="+mn-ea"/>
              </a:rPr>
              <a:t> </a:t>
            </a:r>
            <a:endParaRPr lang="en-US" altLang="zh-CN" sz="1400"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使用迭代器</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indent="-457200" algn="l">
              <a:lnSpc>
                <a:spcPct val="110000"/>
              </a:lnSpc>
              <a:buClr>
                <a:srgbClr val="ED7D31"/>
              </a:buClr>
              <a:buSzTx/>
              <a:buFont typeface="+mj-lt"/>
              <a:buAutoNum type="arabicPeriod"/>
            </a:pPr>
            <a:r>
              <a:rPr sz="2000">
                <a:ea typeface="宋体" panose="02010600030101010101" pitchFamily="2" charset="-122"/>
                <a:sym typeface="+mn-ea"/>
              </a:rPr>
              <a:t>迭代 — 在集合中检索每个元素的过程。</a:t>
            </a:r>
            <a:endParaRPr sz="2000">
              <a:ea typeface="宋体" panose="02010600030101010101" pitchFamily="2" charset="-122"/>
            </a:endParaRPr>
          </a:p>
          <a:p>
            <a:pPr marL="457200" indent="-457200" algn="l">
              <a:lnSpc>
                <a:spcPct val="110000"/>
              </a:lnSpc>
              <a:buClr>
                <a:srgbClr val="ED7D31"/>
              </a:buClr>
              <a:buSzTx/>
              <a:buFont typeface="+mj-lt"/>
              <a:buAutoNum type="arabicPeriod"/>
            </a:pPr>
            <a:r>
              <a:rPr sz="2000">
                <a:ea typeface="宋体" panose="02010600030101010101" pitchFamily="2" charset="-122"/>
                <a:sym typeface="+mn-ea"/>
              </a:rPr>
              <a:t>每个集合都会伴有一个 Iterator（迭代器）对象。</a:t>
            </a:r>
            <a:endParaRPr sz="2000">
              <a:ea typeface="宋体" panose="02010600030101010101" pitchFamily="2" charset="-122"/>
            </a:endParaRPr>
          </a:p>
          <a:p>
            <a:pPr marL="457200" indent="-457200" algn="l">
              <a:lnSpc>
                <a:spcPct val="110000"/>
              </a:lnSpc>
              <a:buClr>
                <a:srgbClr val="ED7D31"/>
              </a:buClr>
              <a:buSzTx/>
              <a:buFont typeface="+mj-lt"/>
              <a:buAutoNum type="arabicPeriod"/>
            </a:pPr>
            <a:r>
              <a:rPr sz="2000">
                <a:ea typeface="宋体" panose="02010600030101010101" pitchFamily="2" charset="-122"/>
                <a:sym typeface="+mn-ea"/>
              </a:rPr>
              <a:t>Iterator类位于java.util包中。</a:t>
            </a:r>
            <a:endParaRPr sz="2000">
              <a:ea typeface="宋体" panose="02010600030101010101" pitchFamily="2" charset="-122"/>
            </a:endParaRPr>
          </a:p>
          <a:p>
            <a:pPr marL="457200" indent="-457200" algn="l">
              <a:lnSpc>
                <a:spcPct val="110000"/>
              </a:lnSpc>
              <a:buClr>
                <a:srgbClr val="ED7D31"/>
              </a:buClr>
              <a:buSzTx/>
              <a:buFont typeface="+mj-lt"/>
              <a:buAutoNum type="arabicPeriod"/>
            </a:pPr>
            <a:r>
              <a:rPr sz="2000">
                <a:ea typeface="宋体" panose="02010600030101010101" pitchFamily="2" charset="-122"/>
                <a:sym typeface="+mn-ea"/>
              </a:rPr>
              <a:t>示例：</a:t>
            </a:r>
            <a:endParaRPr sz="2000">
              <a:ea typeface="宋体" panose="02010600030101010101" pitchFamily="2" charset="-122"/>
              <a:sym typeface="+mn-ea"/>
            </a:endParaRPr>
          </a:p>
          <a:p>
            <a:pPr lvl="1">
              <a:buFont typeface="Times"/>
              <a:buNone/>
            </a:pPr>
            <a:r>
              <a:rPr lang="en-US" altLang="zh-CN" sz="1665" smtClean="0">
                <a:sym typeface="+mn-ea"/>
              </a:rPr>
              <a:t>1  List list&lt;Integer&gt; = new ArrayList();</a:t>
            </a:r>
            <a:endParaRPr lang="zh-CN" altLang="zh-CN" sz="1665" smtClean="0"/>
          </a:p>
          <a:p>
            <a:pPr lvl="1">
              <a:buFont typeface="Times"/>
              <a:buNone/>
            </a:pPr>
            <a:r>
              <a:rPr lang="en-US" altLang="zh-CN" sz="1665" smtClean="0">
                <a:sym typeface="+mn-ea"/>
              </a:rPr>
              <a:t>2  // </a:t>
            </a:r>
            <a:r>
              <a:rPr lang="zh-CN" altLang="zh-CN" sz="1665" smtClean="0">
                <a:sym typeface="+mn-ea"/>
              </a:rPr>
              <a:t>加入元素</a:t>
            </a:r>
            <a:endParaRPr lang="zh-CN" altLang="zh-CN" sz="1665" smtClean="0"/>
          </a:p>
          <a:p>
            <a:pPr lvl="1">
              <a:buFont typeface="Times"/>
              <a:buNone/>
            </a:pPr>
            <a:r>
              <a:rPr lang="en-US" altLang="zh-CN" sz="1665" smtClean="0">
                <a:sym typeface="+mn-ea"/>
              </a:rPr>
              <a:t>3  Iterator&lt;</a:t>
            </a:r>
            <a:r>
              <a:rPr lang="en-US" altLang="zh-CN" sz="1665" smtClean="0">
                <a:sym typeface="+mn-ea"/>
              </a:rPr>
              <a:t>&lt;Integer&gt;</a:t>
            </a:r>
            <a:r>
              <a:rPr lang="en-US" altLang="zh-CN" sz="1665" smtClean="0">
                <a:sym typeface="+mn-ea"/>
              </a:rPr>
              <a:t>&gt; elements = list.iterator();</a:t>
            </a:r>
            <a:endParaRPr lang="zh-CN" altLang="zh-CN" sz="1665" smtClean="0"/>
          </a:p>
          <a:p>
            <a:pPr lvl="1">
              <a:buFont typeface="Times"/>
              <a:buNone/>
            </a:pPr>
            <a:r>
              <a:rPr lang="en-US" altLang="zh-CN" sz="1665" smtClean="0">
                <a:sym typeface="+mn-ea"/>
              </a:rPr>
              <a:t>4  while (elements.hasNext()) {</a:t>
            </a:r>
            <a:endParaRPr lang="zh-CN" altLang="zh-CN" sz="1665" smtClean="0"/>
          </a:p>
          <a:p>
            <a:pPr lvl="1">
              <a:buFont typeface="Times"/>
              <a:buNone/>
            </a:pPr>
            <a:r>
              <a:rPr lang="en-US" altLang="zh-CN" sz="1665" smtClean="0">
                <a:sym typeface="+mn-ea"/>
              </a:rPr>
              <a:t>5      System.out.println(elements.next());</a:t>
            </a:r>
            <a:endParaRPr lang="zh-CN" altLang="zh-CN" sz="1665" smtClean="0"/>
          </a:p>
          <a:p>
            <a:pPr lvl="1">
              <a:buFont typeface="Times"/>
              <a:buNone/>
            </a:pPr>
            <a:r>
              <a:rPr lang="en-US" altLang="zh-CN" sz="1665" smtClean="0">
                <a:sym typeface="+mn-ea"/>
              </a:rPr>
              <a:t>6  }</a:t>
            </a:r>
            <a:endParaRPr sz="1665">
              <a:ea typeface="宋体" panose="02010600030101010101" pitchFamily="2" charset="-122"/>
            </a:endParaRPr>
          </a:p>
          <a:p>
            <a:pPr marL="1157605" lvl="2" indent="-357505">
              <a:buClr>
                <a:srgbClr val="ED7D31"/>
              </a:buClr>
              <a:buFont typeface="Arial" panose="020B0604020202020204" pitchFamily="34" charset="0"/>
              <a:buChar char="•"/>
              <a:defRPr/>
            </a:pPr>
            <a:endParaRPr lang="zh-CN" altLang="en-US" sz="1200" dirty="0" smtClean="0">
              <a:latin typeface="仿宋" panose="02010609060101010101" charset="-122"/>
              <a:ea typeface="仿宋" panose="02010609060101010101" charset="-122"/>
              <a:cs typeface="仿宋" panose="02010609060101010101" charset="-122"/>
              <a:sym typeface="+mn-ea"/>
            </a:endParaRPr>
          </a:p>
          <a:p>
            <a:pPr marL="1157605" lvl="2" indent="-357505">
              <a:buClr>
                <a:srgbClr val="ED7D31"/>
              </a:buClr>
              <a:buFont typeface="Arial" panose="020B0604020202020204" pitchFamily="34" charset="0"/>
              <a:buChar char="•"/>
              <a:defRPr/>
            </a:pPr>
            <a:endParaRPr lang="zh-CN" altLang="en-US" sz="1200" dirty="0" smtClean="0">
              <a:latin typeface="仿宋" panose="02010609060101010101" charset="-122"/>
              <a:ea typeface="仿宋" panose="02010609060101010101" charset="-122"/>
              <a:cs typeface="仿宋" panose="02010609060101010101" charset="-122"/>
            </a:endParaRPr>
          </a:p>
          <a:p>
            <a:pPr marL="342900" lvl="1" indent="0">
              <a:lnSpc>
                <a:spcPct val="110000"/>
              </a:lnSpc>
              <a:buClr>
                <a:srgbClr val="ED7D31"/>
              </a:buClr>
              <a:buFont typeface="Arial" panose="020B0604020202020204" pitchFamily="34" charset="0"/>
              <a:buNone/>
              <a:defRPr/>
            </a:pPr>
            <a:r>
              <a:rPr lang="en-US" altLang="zh-CN" sz="1400" dirty="0">
                <a:ea typeface="宋体" panose="02010600030101010101" pitchFamily="2" charset="-122"/>
                <a:sym typeface="+mn-ea"/>
              </a:rPr>
              <a:t> </a:t>
            </a:r>
            <a:endParaRPr lang="en-US" altLang="zh-CN" sz="1400"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indent="-457200" algn="l">
              <a:lnSpc>
                <a:spcPct val="110000"/>
              </a:lnSpc>
              <a:buClr>
                <a:srgbClr val="ED7D31"/>
              </a:buClr>
              <a:buSzTx/>
              <a:buFont typeface="+mj-lt"/>
              <a:buAutoNum type="arabicPeriod"/>
            </a:pPr>
            <a:r>
              <a:rPr lang="zh-CN" altLang="en-US" sz="2000" smtClean="0">
                <a:ea typeface="宋体" panose="02010600030101010101" pitchFamily="2" charset="-122"/>
                <a:sym typeface="+mn-ea"/>
              </a:rPr>
              <a:t>改写上一节练习程序，使用迭代器遍历集合，打印所有元素，并将所有元素之和打印出来。</a:t>
            </a:r>
            <a:endParaRPr lang="zh-CN" altLang="en-US" sz="2000" smtClean="0">
              <a:ea typeface="宋体" panose="02010600030101010101" pitchFamily="2" charset="-122"/>
            </a:endParaRPr>
          </a:p>
          <a:p>
            <a:pPr marL="1157605" lvl="2" indent="-357505">
              <a:buClr>
                <a:srgbClr val="ED7D31"/>
              </a:buClr>
              <a:buFont typeface="Arial" panose="020B0604020202020204" pitchFamily="34" charset="0"/>
              <a:buChar char="•"/>
              <a:defRPr/>
            </a:pPr>
            <a:endParaRPr lang="zh-CN" altLang="en-US" sz="1200" dirty="0" smtClean="0">
              <a:latin typeface="仿宋" panose="02010609060101010101" charset="-122"/>
              <a:ea typeface="仿宋" panose="02010609060101010101" charset="-122"/>
              <a:cs typeface="仿宋" panose="02010609060101010101" charset="-122"/>
              <a:sym typeface="+mn-ea"/>
            </a:endParaRPr>
          </a:p>
          <a:p>
            <a:pPr marL="1157605" lvl="2" indent="-357505">
              <a:buClr>
                <a:srgbClr val="ED7D31"/>
              </a:buClr>
              <a:buFont typeface="Arial" panose="020B0604020202020204" pitchFamily="34" charset="0"/>
              <a:buChar char="•"/>
              <a:defRPr/>
            </a:pPr>
            <a:endParaRPr lang="zh-CN" altLang="en-US" sz="1200" dirty="0" smtClean="0">
              <a:latin typeface="仿宋" panose="02010609060101010101" charset="-122"/>
              <a:ea typeface="仿宋" panose="02010609060101010101" charset="-122"/>
              <a:cs typeface="仿宋" panose="02010609060101010101" charset="-122"/>
            </a:endParaRPr>
          </a:p>
          <a:p>
            <a:pPr marL="342900" lvl="1" indent="0">
              <a:lnSpc>
                <a:spcPct val="110000"/>
              </a:lnSpc>
              <a:buClr>
                <a:srgbClr val="ED7D31"/>
              </a:buClr>
              <a:buFont typeface="Arial" panose="020B0604020202020204" pitchFamily="34" charset="0"/>
              <a:buNone/>
              <a:defRPr/>
            </a:pPr>
            <a:r>
              <a:rPr lang="en-US" altLang="zh-CN" sz="1400" dirty="0">
                <a:ea typeface="宋体" panose="02010600030101010101" pitchFamily="2" charset="-122"/>
                <a:sym typeface="+mn-ea"/>
              </a:rPr>
              <a:t> </a:t>
            </a:r>
            <a:endParaRPr lang="en-US" altLang="zh-CN" sz="1400"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141730" y="3137535"/>
            <a:ext cx="981202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第三节 </a:t>
            </a:r>
            <a:r>
              <a:rPr lang="zh-CN" altLang="en-US" sz="6665" dirty="0">
                <a:solidFill>
                  <a:schemeClr val="bg1"/>
                </a:solidFill>
                <a:latin typeface="Arial" panose="020B0604020202020204" pitchFamily="34" charset="0"/>
                <a:ea typeface="宋体" panose="02010600030101010101" pitchFamily="2" charset="-122"/>
                <a:sym typeface="+mn-ea"/>
              </a:rPr>
              <a:t>Map系列映射集合</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en-US" altLang="zh-CN" sz="2400" smtClean="0">
                <a:ea typeface="宋体" panose="02010600030101010101" pitchFamily="2" charset="-122"/>
                <a:sym typeface="+mn-ea"/>
              </a:rPr>
              <a:t>Map</a:t>
            </a:r>
            <a:r>
              <a:rPr lang="zh-CN" altLang="en-US" sz="2400" smtClean="0">
                <a:ea typeface="宋体" panose="02010600030101010101" pitchFamily="2" charset="-122"/>
                <a:sym typeface="+mn-ea"/>
              </a:rPr>
              <a:t>接口</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720" y="1160145"/>
            <a:ext cx="11037570" cy="5375910"/>
          </a:xfrm>
        </p:spPr>
        <p:txBody>
          <a:bodyPr>
            <a:normAutofit/>
          </a:bodyPr>
          <a:p>
            <a:pPr marL="457200" indent="-457200" algn="l">
              <a:lnSpc>
                <a:spcPct val="110000"/>
              </a:lnSpc>
              <a:buClr>
                <a:srgbClr val="ED7D31"/>
              </a:buClr>
              <a:buSzTx/>
              <a:buFont typeface="+mj-lt"/>
              <a:buAutoNum type="arabicPeriod"/>
            </a:pPr>
            <a:r>
              <a:rPr sz="2000">
                <a:ea typeface="宋体" panose="02010600030101010101" pitchFamily="2" charset="-122"/>
                <a:sym typeface="+mn-ea"/>
              </a:rPr>
              <a:t>Map类型的集合是映射集合，以键(key)-值(value)对的形式存储对象。</a:t>
            </a:r>
            <a:endParaRPr sz="2000">
              <a:ea typeface="宋体" panose="02010600030101010101" pitchFamily="2" charset="-122"/>
            </a:endParaRPr>
          </a:p>
          <a:p>
            <a:pPr marL="457200" indent="-457200" algn="l">
              <a:lnSpc>
                <a:spcPct val="110000"/>
              </a:lnSpc>
              <a:buClr>
                <a:srgbClr val="ED7D31"/>
              </a:buClr>
              <a:buSzTx/>
              <a:buFont typeface="+mj-lt"/>
              <a:buAutoNum type="arabicPeriod"/>
            </a:pPr>
            <a:r>
              <a:rPr sz="2000">
                <a:ea typeface="宋体" panose="02010600030101010101" pitchFamily="2" charset="-122"/>
                <a:sym typeface="+mn-ea"/>
              </a:rPr>
              <a:t>Map中存储每个对象元素都有键(key)与之对应，并可通过键来索引和查找对应元素。</a:t>
            </a:r>
            <a:endParaRPr sz="2000">
              <a:ea typeface="宋体" panose="02010600030101010101" pitchFamily="2" charset="-122"/>
            </a:endParaRPr>
          </a:p>
          <a:p>
            <a:pPr marL="457200" indent="-457200" algn="l">
              <a:lnSpc>
                <a:spcPct val="110000"/>
              </a:lnSpc>
              <a:buClr>
                <a:srgbClr val="ED7D31"/>
              </a:buClr>
              <a:buSzTx/>
              <a:buFont typeface="+mj-lt"/>
              <a:buAutoNum type="arabicPeriod"/>
            </a:pPr>
            <a:r>
              <a:rPr sz="2000">
                <a:ea typeface="宋体" panose="02010600030101010101" pitchFamily="2" charset="-122"/>
                <a:sym typeface="+mn-ea"/>
              </a:rPr>
              <a:t>Map中不允许键的重复和从键到值的一对多映射。</a:t>
            </a:r>
            <a:endParaRPr sz="2000">
              <a:ea typeface="宋体" panose="02010600030101010101" pitchFamily="2" charset="-122"/>
            </a:endParaRPr>
          </a:p>
          <a:p>
            <a:pPr marL="457200" indent="-457200" algn="l">
              <a:lnSpc>
                <a:spcPct val="110000"/>
              </a:lnSpc>
              <a:buClr>
                <a:srgbClr val="ED7D31"/>
              </a:buClr>
              <a:buSzTx/>
              <a:buFont typeface="+mj-lt"/>
              <a:buAutoNum type="arabicPeriod"/>
            </a:pPr>
            <a:r>
              <a:rPr sz="2000">
                <a:ea typeface="宋体" panose="02010600030101010101" pitchFamily="2" charset="-122"/>
                <a:sym typeface="+mn-ea"/>
              </a:rPr>
              <a:t>Map 接口的API位于java.util包中。</a:t>
            </a:r>
            <a:endParaRPr sz="2000">
              <a:ea typeface="宋体" panose="02010600030101010101" pitchFamily="2" charset="-122"/>
            </a:endParaRPr>
          </a:p>
          <a:p>
            <a:pPr marL="457200" indent="-457200" algn="l">
              <a:lnSpc>
                <a:spcPct val="110000"/>
              </a:lnSpc>
              <a:buClr>
                <a:srgbClr val="ED7D31"/>
              </a:buClr>
              <a:buSzTx/>
              <a:buFont typeface="+mj-lt"/>
              <a:buAutoNum type="arabicPeriod"/>
            </a:pPr>
            <a:r>
              <a:rPr sz="2000">
                <a:ea typeface="宋体" panose="02010600030101010101" pitchFamily="2" charset="-122"/>
                <a:sym typeface="+mn-ea"/>
              </a:rPr>
              <a:t>Map 接口提供了以下主要方法：</a:t>
            </a:r>
            <a:endParaRPr sz="2000">
              <a:ea typeface="宋体" panose="02010600030101010101" pitchFamily="2" charset="-122"/>
            </a:endParaRPr>
          </a:p>
          <a:p>
            <a:pPr marL="704850" lvl="1" indent="-361950">
              <a:defRPr/>
            </a:pPr>
            <a:r>
              <a:rPr lang="en-US" altLang="zh-CN" sz="2000" dirty="0" smtClean="0">
                <a:latin typeface="仿宋" panose="02010609060101010101" charset="-122"/>
                <a:ea typeface="仿宋" panose="02010609060101010101" charset="-122"/>
                <a:cs typeface="仿宋" panose="02010609060101010101" charset="-122"/>
                <a:sym typeface="+mn-ea"/>
              </a:rPr>
              <a:t>entrySet ：返回包括所有键值对的集合。</a:t>
            </a:r>
            <a:endParaRPr lang="en-US" altLang="zh-CN" sz="2000" dirty="0" smtClean="0">
              <a:latin typeface="仿宋" panose="02010609060101010101" charset="-122"/>
              <a:ea typeface="仿宋" panose="02010609060101010101" charset="-122"/>
              <a:cs typeface="仿宋" panose="02010609060101010101" charset="-122"/>
            </a:endParaRPr>
          </a:p>
          <a:p>
            <a:pPr marL="704850" lvl="1" indent="-361950">
              <a:defRPr/>
            </a:pPr>
            <a:r>
              <a:rPr lang="en-US" altLang="zh-CN" sz="2000" dirty="0" smtClean="0">
                <a:latin typeface="仿宋" panose="02010609060101010101" charset="-122"/>
                <a:ea typeface="仿宋" panose="02010609060101010101" charset="-122"/>
                <a:cs typeface="仿宋" panose="02010609060101010101" charset="-122"/>
                <a:sym typeface="+mn-ea"/>
              </a:rPr>
              <a:t>keySet ：返回映射中所有键的集合。</a:t>
            </a:r>
            <a:endParaRPr lang="en-US" altLang="zh-CN" sz="2000" dirty="0" smtClean="0">
              <a:latin typeface="仿宋" panose="02010609060101010101" charset="-122"/>
              <a:ea typeface="仿宋" panose="02010609060101010101" charset="-122"/>
              <a:cs typeface="仿宋" panose="02010609060101010101" charset="-122"/>
            </a:endParaRPr>
          </a:p>
          <a:p>
            <a:pPr marL="704850" lvl="1" indent="-361950">
              <a:defRPr/>
            </a:pPr>
            <a:r>
              <a:rPr lang="en-US" altLang="zh-CN" sz="2000" dirty="0" smtClean="0">
                <a:latin typeface="仿宋" panose="02010609060101010101" charset="-122"/>
                <a:ea typeface="仿宋" panose="02010609060101010101" charset="-122"/>
                <a:cs typeface="仿宋" panose="02010609060101010101" charset="-122"/>
                <a:sym typeface="+mn-ea"/>
              </a:rPr>
              <a:t>values ：返回映射中所有值的集合。</a:t>
            </a:r>
            <a:endParaRPr lang="en-US" altLang="zh-CN" sz="2000" dirty="0" smtClean="0">
              <a:latin typeface="仿宋" panose="02010609060101010101" charset="-122"/>
              <a:ea typeface="仿宋" panose="02010609060101010101" charset="-122"/>
              <a:cs typeface="仿宋" panose="02010609060101010101" charset="-122"/>
            </a:endParaRPr>
          </a:p>
          <a:p>
            <a:pPr marL="704850" lvl="1" indent="-361950">
              <a:defRPr/>
            </a:pPr>
            <a:r>
              <a:rPr lang="en-US" altLang="zh-CN" sz="2000" dirty="0" smtClean="0">
                <a:latin typeface="仿宋" panose="02010609060101010101" charset="-122"/>
                <a:ea typeface="仿宋" panose="02010609060101010101" charset="-122"/>
                <a:cs typeface="仿宋" panose="02010609060101010101" charset="-122"/>
                <a:sym typeface="+mn-ea"/>
              </a:rPr>
              <a:t>get：返回指定键（由参数指定）所对应的值对象</a:t>
            </a:r>
            <a:endParaRPr lang="zh-CN" altLang="en-US" sz="2000" dirty="0" smtClean="0">
              <a:latin typeface="仿宋" panose="02010609060101010101" charset="-122"/>
              <a:ea typeface="仿宋" panose="02010609060101010101" charset="-122"/>
              <a:cs typeface="仿宋" panose="02010609060101010101" charset="-122"/>
              <a:sym typeface="+mn-ea"/>
            </a:endParaRPr>
          </a:p>
          <a:p>
            <a:pPr marL="1157605" lvl="2" indent="-357505">
              <a:buClr>
                <a:srgbClr val="ED7D31"/>
              </a:buClr>
              <a:buFont typeface="Arial" panose="020B0604020202020204" pitchFamily="34" charset="0"/>
              <a:buChar char="•"/>
              <a:defRPr/>
            </a:pPr>
            <a:endParaRPr lang="zh-CN" altLang="en-US" sz="1800" dirty="0" smtClean="0">
              <a:latin typeface="仿宋" panose="02010609060101010101" charset="-122"/>
              <a:ea typeface="仿宋" panose="02010609060101010101" charset="-122"/>
              <a:cs typeface="仿宋" panose="02010609060101010101" charset="-122"/>
              <a:sym typeface="+mn-ea"/>
            </a:endParaRPr>
          </a:p>
          <a:p>
            <a:pPr marL="1157605" lvl="2" indent="-357505">
              <a:buClr>
                <a:srgbClr val="ED7D31"/>
              </a:buClr>
              <a:buFont typeface="Arial" panose="020B0604020202020204" pitchFamily="34" charset="0"/>
              <a:buChar char="•"/>
              <a:defRPr/>
            </a:pPr>
            <a:endParaRPr lang="zh-CN" altLang="en-US" sz="1800" dirty="0" smtClean="0">
              <a:latin typeface="仿宋" panose="02010609060101010101" charset="-122"/>
              <a:ea typeface="仿宋" panose="02010609060101010101" charset="-122"/>
              <a:cs typeface="仿宋" panose="02010609060101010101" charset="-122"/>
            </a:endParaRPr>
          </a:p>
          <a:p>
            <a:pPr marL="342900" lvl="1" indent="0">
              <a:lnSpc>
                <a:spcPct val="110000"/>
              </a:lnSpc>
              <a:buClr>
                <a:srgbClr val="ED7D31"/>
              </a:buClr>
              <a:buFont typeface="Arial" panose="020B0604020202020204" pitchFamily="34" charset="0"/>
              <a:buNone/>
              <a:defRPr/>
            </a:pPr>
            <a:r>
              <a:rPr lang="en-US" altLang="zh-CN" dirty="0">
                <a:ea typeface="宋体" panose="02010600030101010101" pitchFamily="2" charset="-122"/>
                <a:sym typeface="+mn-ea"/>
              </a:rPr>
              <a:t> </a:t>
            </a:r>
            <a:endParaRPr lang="zh-CN" altLang="en-US"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en-US" altLang="zh-CN" sz="2400" smtClean="0">
                <a:ea typeface="宋体" panose="02010600030101010101" pitchFamily="2" charset="-122"/>
                <a:sym typeface="+mn-ea"/>
              </a:rPr>
              <a:t>Map</a:t>
            </a:r>
            <a:r>
              <a:rPr lang="zh-CN" altLang="en-US" sz="2400" smtClean="0">
                <a:ea typeface="宋体" panose="02010600030101010101" pitchFamily="2" charset="-122"/>
                <a:sym typeface="+mn-ea"/>
              </a:rPr>
              <a:t>接口的</a:t>
            </a:r>
            <a:r>
              <a:rPr lang="en-US" altLang="zh-CN" sz="2400" smtClean="0">
                <a:ea typeface="宋体" panose="02010600030101010101" pitchFamily="2" charset="-122"/>
                <a:sym typeface="+mn-ea"/>
              </a:rPr>
              <a:t>API</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274436" name="Picture 2"/>
          <p:cNvPicPr>
            <a:picLocks noChangeAspect="1" noChangeArrowheads="1"/>
          </p:cNvPicPr>
          <p:nvPr/>
        </p:nvPicPr>
        <p:blipFill>
          <a:blip r:embed="rId5"/>
          <a:srcRect/>
          <a:stretch>
            <a:fillRect/>
          </a:stretch>
        </p:blipFill>
        <p:spPr bwMode="auto">
          <a:xfrm>
            <a:off x="2410778" y="947124"/>
            <a:ext cx="5184775" cy="509905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r>
              <a:rPr lang="en-US" sz="2400" b="1" spc="300" dirty="0">
                <a:solidFill>
                  <a:srgbClr val="002060"/>
                </a:solidFill>
                <a:latin typeface="思源黑体 CN Bold" panose="020B0800000000000000" pitchFamily="34" charset="-122"/>
                <a:ea typeface="宋体" panose="02010600030101010101" pitchFamily="2" charset="-122"/>
                <a:sym typeface="+mn-ea"/>
              </a:rPr>
              <a:t>Map</a:t>
            </a:r>
            <a:r>
              <a:rPr lang="zh-CN" altLang="en-US" sz="2400" b="1" spc="300" dirty="0">
                <a:solidFill>
                  <a:srgbClr val="002060"/>
                </a:solidFill>
                <a:latin typeface="思源黑体 CN Bold" panose="020B0800000000000000" pitchFamily="34" charset="-122"/>
                <a:ea typeface="宋体" panose="02010600030101010101" pitchFamily="2" charset="-122"/>
                <a:sym typeface="+mn-ea"/>
              </a:rPr>
              <a:t>接口常用方法</a:t>
            </a:r>
            <a:endParaRPr lang="en-US" altLang="zh-CN"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R="0" indent="0" algn="ctr" defTabSz="914400" fontAlgn="auto">
              <a:lnSpc>
                <a:spcPct val="100000"/>
              </a:lnSpc>
              <a:spcBef>
                <a:spcPts val="0"/>
              </a:spcBef>
              <a:spcAft>
                <a:spcPts val="0"/>
              </a:spcAft>
              <a:buClrTx/>
              <a:buSzTx/>
              <a:buFontTx/>
              <a:buNone/>
              <a:defRPr/>
            </a:pPr>
            <a:r>
              <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graphicFrame>
        <p:nvGraphicFramePr>
          <p:cNvPr id="3" name="表格 2"/>
          <p:cNvGraphicFramePr/>
          <p:nvPr>
            <p:custDataLst>
              <p:tags r:id="rId5"/>
            </p:custDataLst>
          </p:nvPr>
        </p:nvGraphicFramePr>
        <p:xfrm>
          <a:off x="751205" y="1160145"/>
          <a:ext cx="9963785" cy="4484370"/>
        </p:xfrm>
        <a:graphic>
          <a:graphicData uri="http://schemas.openxmlformats.org/drawingml/2006/table">
            <a:tbl>
              <a:tblPr/>
              <a:tblGrid>
                <a:gridCol w="3503295"/>
                <a:gridCol w="6460490"/>
              </a:tblGrid>
              <a:tr h="302260">
                <a:tc>
                  <a:txBody>
                    <a:bodyPr/>
                    <a:p>
                      <a:pPr indent="0" algn="ctr">
                        <a:buNone/>
                      </a:pPr>
                      <a:r>
                        <a:rPr lang="en-US" sz="1600" b="1">
                          <a:solidFill>
                            <a:srgbClr val="333333"/>
                          </a:solidFill>
                          <a:latin typeface="Open Sans" panose="020B0606030504020204" charset="-122"/>
                          <a:sym typeface="+mn-ea"/>
                        </a:rPr>
                        <a:t>方法名</a:t>
                      </a:r>
                      <a:endParaRPr lang="en-US" sz="1600" b="1">
                        <a:solidFill>
                          <a:srgbClr val="333333"/>
                        </a:solidFill>
                        <a:latin typeface="Open Sans" panose="020B0606030504020204" charset="-122"/>
                        <a:sym typeface="+mn-ea"/>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92D050"/>
                    </a:solidFill>
                  </a:tcPr>
                </a:tc>
                <a:tc>
                  <a:txBody>
                    <a:bodyPr/>
                    <a:p>
                      <a:pPr indent="0" algn="ctr">
                        <a:buNone/>
                      </a:pPr>
                      <a:r>
                        <a:rPr lang="zh-CN" sz="1600" b="1">
                          <a:solidFill>
                            <a:srgbClr val="333333"/>
                          </a:solidFill>
                          <a:latin typeface="Arial" panose="020B0604020202020204" pitchFamily="34" charset="0"/>
                          <a:ea typeface="Open Sans" panose="020B0606030504020204" charset="-122"/>
                        </a:rPr>
                        <a:t>描述</a:t>
                      </a:r>
                      <a:endParaRPr lang="zh-CN" altLang="en-US" sz="1600" b="1">
                        <a:solidFill>
                          <a:srgbClr val="333333"/>
                        </a:solidFill>
                        <a:latin typeface="Arial" panose="020B0604020202020204" pitchFamily="34" charset="0"/>
                        <a:ea typeface="Open Sans" panose="020B0606030504020204"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92D050"/>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V put(K key, V value); </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000">
                          <a:solidFill>
                            <a:srgbClr val="000000"/>
                          </a:solidFill>
                          <a:latin typeface="宋体" panose="02010600030101010101" pitchFamily="2" charset="-122"/>
                          <a:ea typeface="宋体" panose="02010600030101010101" pitchFamily="2" charset="-122"/>
                          <a:sym typeface="+mn-ea"/>
                        </a:rPr>
                        <a:t>指定key和value添加到集合中</a:t>
                      </a:r>
                      <a:endParaRPr lang="en-US" altLang="zh-CN" sz="1000" b="0" i="0">
                        <a:solidFill>
                          <a:srgbClr val="000000"/>
                        </a:solidFill>
                        <a:latin typeface="宋体" panose="02010600030101010101" pitchFamily="2" charset="-122"/>
                        <a:ea typeface="宋体" panose="02010600030101010101" pitchFamily="2" charset="-122"/>
                      </a:endParaRPr>
                    </a:p>
                    <a:p>
                      <a:pPr marL="9525" indent="0" algn="l" fontAlgn="ctr"/>
                      <a:endParaRPr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V get(Object key)  </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c>
                  <a:txBody>
                    <a:bodyPr/>
                    <a:p>
                      <a:pPr marL="9525" indent="0" algn="l" fontAlgn="ctr"/>
                      <a:r>
                        <a:rPr lang="en-US" altLang="zh-CN" sz="1000">
                          <a:solidFill>
                            <a:srgbClr val="000000"/>
                          </a:solidFill>
                          <a:latin typeface="宋体" panose="02010600030101010101" pitchFamily="2" charset="-122"/>
                          <a:ea typeface="宋体" panose="02010600030101010101" pitchFamily="2" charset="-122"/>
                          <a:sym typeface="+mn-ea"/>
                        </a:rPr>
                        <a:t>通过key获得value</a:t>
                      </a:r>
                      <a:endParaRPr lang="en-US" altLang="zh-CN" sz="1000" b="0" i="0">
                        <a:solidFill>
                          <a:srgbClr val="000000"/>
                        </a:solidFill>
                        <a:latin typeface="宋体" panose="02010600030101010101" pitchFamily="2" charset="-122"/>
                        <a:ea typeface="宋体" panose="02010600030101010101" pitchFamily="2" charset="-122"/>
                      </a:endParaRPr>
                    </a:p>
                    <a:p>
                      <a:pPr marL="9525" indent="0" algn="l" fontAlgn="ct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r>
              <a:tr h="36004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Set&lt;K&gt; keySet() </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000">
                          <a:solidFill>
                            <a:srgbClr val="000000"/>
                          </a:solidFill>
                          <a:latin typeface="宋体" panose="02010600030101010101" pitchFamily="2" charset="-122"/>
                          <a:ea typeface="宋体" panose="02010600030101010101" pitchFamily="2" charset="-122"/>
                          <a:sym typeface="+mn-ea"/>
                        </a:rPr>
                        <a:t>返回一个包含key值的set集合</a:t>
                      </a:r>
                      <a:endParaRPr lang="en-US" altLang="zh-CN" sz="1000" b="0" i="0">
                        <a:solidFill>
                          <a:srgbClr val="000000"/>
                        </a:solidFill>
                        <a:latin typeface="宋体" panose="02010600030101010101" pitchFamily="2" charset="-122"/>
                        <a:ea typeface="宋体" panose="02010600030101010101" pitchFamily="2" charset="-122"/>
                      </a:endParaRPr>
                    </a:p>
                    <a:p>
                      <a:pPr marL="9525" indent="0" algn="l" fontAlgn="ct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Collection&lt;V&gt; values()</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000">
                          <a:solidFill>
                            <a:srgbClr val="000000"/>
                          </a:solidFill>
                          <a:latin typeface="宋体" panose="02010600030101010101" pitchFamily="2" charset="-122"/>
                          <a:ea typeface="宋体" panose="02010600030101010101" pitchFamily="2" charset="-122"/>
                          <a:sym typeface="+mn-ea"/>
                        </a:rPr>
                        <a:t>获得所有的value</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V remove(Object key) </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000">
                          <a:solidFill>
                            <a:srgbClr val="000000"/>
                          </a:solidFill>
                          <a:latin typeface="宋体" panose="02010600030101010101" pitchFamily="2" charset="-122"/>
                          <a:ea typeface="宋体" panose="02010600030101010101" pitchFamily="2" charset="-122"/>
                          <a:sym typeface="+mn-ea"/>
                        </a:rPr>
                        <a:t>通过指定的key删除元素</a:t>
                      </a:r>
                      <a:r>
                        <a:rPr lang="zh-CN" altLang="en-US" sz="1000">
                          <a:solidFill>
                            <a:srgbClr val="000000"/>
                          </a:solidFill>
                          <a:latin typeface="宋体" panose="02010600030101010101" pitchFamily="2" charset="-122"/>
                          <a:ea typeface="宋体" panose="02010600030101010101" pitchFamily="2" charset="-122"/>
                          <a:sym typeface="+mn-ea"/>
                        </a:rPr>
                        <a:t>，返回删除的</a:t>
                      </a:r>
                      <a:r>
                        <a:rPr lang="en-US" altLang="zh-CN" sz="1000">
                          <a:solidFill>
                            <a:srgbClr val="000000"/>
                          </a:solidFill>
                          <a:latin typeface="宋体" panose="02010600030101010101" pitchFamily="2" charset="-122"/>
                          <a:ea typeface="宋体" panose="02010600030101010101" pitchFamily="2" charset="-122"/>
                          <a:sym typeface="+mn-ea"/>
                        </a:rPr>
                        <a:t>value</a:t>
                      </a:r>
                      <a:endParaRPr lang="en-US" altLang="zh-CN" sz="1000" b="0" i="0">
                        <a:solidFill>
                          <a:srgbClr val="000000"/>
                        </a:solidFill>
                        <a:latin typeface="宋体" panose="02010600030101010101" pitchFamily="2" charset="-122"/>
                        <a:ea typeface="宋体" panose="02010600030101010101" pitchFamily="2" charset="-122"/>
                      </a:endParaRPr>
                    </a:p>
                    <a:p>
                      <a:pPr marL="9525" indent="0" algn="l" fontAlgn="ct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boolean isEmpty() </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000">
                          <a:solidFill>
                            <a:srgbClr val="000000"/>
                          </a:solidFill>
                          <a:latin typeface="宋体" panose="02010600030101010101" pitchFamily="2" charset="-122"/>
                          <a:ea typeface="宋体" panose="02010600030101010101" pitchFamily="2" charset="-122"/>
                          <a:sym typeface="+mn-ea"/>
                        </a:rPr>
                        <a:t>是否为空</a:t>
                      </a:r>
                      <a:endParaRPr lang="en-US" altLang="zh-CN" sz="1000" b="0" i="0">
                        <a:solidFill>
                          <a:srgbClr val="000000"/>
                        </a:solidFill>
                        <a:latin typeface="宋体" panose="02010600030101010101" pitchFamily="2" charset="-122"/>
                        <a:ea typeface="宋体" panose="02010600030101010101" pitchFamily="2" charset="-122"/>
                      </a:endParaRPr>
                    </a:p>
                    <a:p>
                      <a:pPr marL="9525" indent="0" algn="l" fontAlgn="ct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void putAll(Map&lt;? extends K, ? extends V&gt; m) </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000">
                          <a:solidFill>
                            <a:srgbClr val="000000"/>
                          </a:solidFill>
                          <a:latin typeface="宋体" panose="02010600030101010101" pitchFamily="2" charset="-122"/>
                          <a:ea typeface="宋体" panose="02010600030101010101" pitchFamily="2" charset="-122"/>
                          <a:sym typeface="+mn-ea"/>
                        </a:rPr>
                        <a:t>把m 添加到当前map中</a:t>
                      </a: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boolean containsKey(Object key) </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000">
                          <a:solidFill>
                            <a:srgbClr val="000000"/>
                          </a:solidFill>
                          <a:latin typeface="宋体" panose="02010600030101010101" pitchFamily="2" charset="-122"/>
                          <a:ea typeface="宋体" panose="02010600030101010101" pitchFamily="2" charset="-122"/>
                          <a:sym typeface="+mn-ea"/>
                        </a:rPr>
                        <a:t>是否包含指定的key</a:t>
                      </a:r>
                      <a:endParaRPr lang="en-US" altLang="zh-CN" sz="1000" b="0" i="0">
                        <a:solidFill>
                          <a:srgbClr val="000000"/>
                        </a:solidFill>
                        <a:latin typeface="宋体" panose="02010600030101010101" pitchFamily="2" charset="-122"/>
                        <a:ea typeface="宋体" panose="02010600030101010101" pitchFamily="2" charset="-122"/>
                      </a:endParaRPr>
                    </a:p>
                    <a:p>
                      <a:pPr marL="9525" indent="0" algn="l" fontAlgn="ct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boolean containsValue(Object value)  是否包含指定的值</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000">
                          <a:solidFill>
                            <a:srgbClr val="000000"/>
                          </a:solidFill>
                          <a:latin typeface="宋体" panose="02010600030101010101" pitchFamily="2" charset="-122"/>
                          <a:ea typeface="宋体" panose="02010600030101010101" pitchFamily="2" charset="-122"/>
                          <a:sym typeface="+mn-ea"/>
                        </a:rPr>
                        <a:t>是否包含指定的值</a:t>
                      </a: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FF0000"/>
                          </a:solidFill>
                          <a:latin typeface="宋体" panose="02010600030101010101" pitchFamily="2" charset="-122"/>
                          <a:ea typeface="宋体" panose="02010600030101010101" pitchFamily="2" charset="-122"/>
                        </a:rPr>
                        <a:t>Set&lt;Map.Entry&lt;K, V&gt;&gt; entrySet() </a:t>
                      </a:r>
                      <a:endParaRPr lang="en-US" altLang="zh-CN" sz="1000" b="0" i="0">
                        <a:solidFill>
                          <a:srgbClr val="FF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000">
                          <a:solidFill>
                            <a:srgbClr val="FF0000"/>
                          </a:solidFill>
                          <a:latin typeface="宋体" panose="02010600030101010101" pitchFamily="2" charset="-122"/>
                          <a:ea typeface="宋体" panose="02010600030101010101" pitchFamily="2" charset="-122"/>
                          <a:sym typeface="+mn-ea"/>
                        </a:rPr>
                        <a:t> 返回一个set集合</a:t>
                      </a:r>
                      <a:endParaRPr lang="zh-CN" altLang="en-US" sz="1000" b="0" i="0">
                        <a:solidFill>
                          <a:srgbClr val="FF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void clear()  </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000">
                          <a:solidFill>
                            <a:srgbClr val="000000"/>
                          </a:solidFill>
                          <a:latin typeface="宋体" panose="02010600030101010101" pitchFamily="2" charset="-122"/>
                          <a:ea typeface="宋体" panose="02010600030101010101" pitchFamily="2" charset="-122"/>
                          <a:sym typeface="+mn-ea"/>
                        </a:rPr>
                        <a:t>清空map</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r>
                        <a:rPr lang="en-US" altLang="zh-CN" sz="1000" b="0" i="0">
                          <a:solidFill>
                            <a:srgbClr val="000000"/>
                          </a:solidFill>
                          <a:latin typeface="宋体" panose="02010600030101010101" pitchFamily="2" charset="-122"/>
                          <a:ea typeface="宋体" panose="02010600030101010101" pitchFamily="2" charset="-122"/>
                        </a:rPr>
                        <a:t>default V replace(K key, V value)</a:t>
                      </a: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r>
                        <a:rPr lang="en-US" altLang="zh-CN" sz="1000">
                          <a:solidFill>
                            <a:srgbClr val="000000"/>
                          </a:solidFill>
                          <a:latin typeface="宋体" panose="02010600030101010101" pitchFamily="2" charset="-122"/>
                          <a:ea typeface="宋体" panose="02010600030101010101" pitchFamily="2" charset="-122"/>
                          <a:sym typeface="+mn-ea"/>
                        </a:rPr>
                        <a:t>  替换指定key上的value值</a:t>
                      </a: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buNone/>
                      </a:pP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buNone/>
                      </a:pP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r h="294005">
                <a:tc>
                  <a:txBody>
                    <a:bodyPr/>
                    <a:p>
                      <a:pPr marL="9525" indent="0" algn="l" fontAlgn="ctr">
                        <a:buNone/>
                      </a:pPr>
                      <a:endParaRPr lang="en-US" altLang="zh-CN"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c>
                  <a:txBody>
                    <a:bodyPr/>
                    <a:p>
                      <a:pPr marL="9525" indent="0" algn="l" fontAlgn="ctr">
                        <a:buNone/>
                      </a:pP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FFFFF"/>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编写程序，在main方法中创建Map集合（使用泛型），用来存放圆的半径（key）和面积（value）；</a:t>
            </a:r>
            <a:endParaRPr lang="zh-CN" altLang="en-US" sz="2000" smtClean="0">
              <a:ea typeface="宋体" panose="02010600030101010101" pitchFamily="2" charset="-122"/>
            </a:endParaRPr>
          </a:p>
          <a:p>
            <a:pPr marL="457200" indent="-457200" algn="l">
              <a:lnSpc>
                <a:spcPct val="110000"/>
              </a:lnSpc>
              <a:buClr>
                <a:srgbClr val="ED7D31"/>
              </a:buClr>
              <a:buSzTx/>
              <a:buFont typeface="+mj-lt"/>
              <a:buAutoNum type="arabicPeriod" startAt="2"/>
            </a:pPr>
            <a:r>
              <a:rPr lang="zh-CN" altLang="en-US" sz="2000" smtClean="0">
                <a:ea typeface="宋体" panose="02010600030101010101" pitchFamily="2" charset="-122"/>
                <a:sym typeface="+mn-ea"/>
              </a:rPr>
              <a:t>以半径为key，面积为value，将半径1-50的圆面积数据(按四舍五入取整)保存其中；</a:t>
            </a:r>
            <a:endParaRPr lang="zh-CN" altLang="en-US" sz="2000" smtClean="0">
              <a:ea typeface="宋体" panose="02010600030101010101" pitchFamily="2" charset="-122"/>
            </a:endParaRPr>
          </a:p>
          <a:p>
            <a:pPr marL="457200" indent="-457200" algn="l">
              <a:lnSpc>
                <a:spcPct val="110000"/>
              </a:lnSpc>
              <a:buClr>
                <a:srgbClr val="ED7D31"/>
              </a:buClr>
              <a:buSzTx/>
              <a:buFont typeface="+mj-lt"/>
              <a:buAutoNum type="arabicPeriod" startAt="2"/>
            </a:pPr>
            <a:r>
              <a:rPr lang="zh-CN" altLang="en-US" sz="2000" smtClean="0">
                <a:ea typeface="宋体" panose="02010600030101010101" pitchFamily="2" charset="-122"/>
                <a:sym typeface="+mn-ea"/>
              </a:rPr>
              <a:t>将Map中的半径数据取至Set集合中；</a:t>
            </a:r>
            <a:endParaRPr lang="zh-CN" altLang="en-US" sz="2000" smtClean="0">
              <a:ea typeface="宋体" panose="02010600030101010101" pitchFamily="2" charset="-122"/>
            </a:endParaRPr>
          </a:p>
          <a:p>
            <a:pPr marL="457200" indent="-457200" algn="l">
              <a:lnSpc>
                <a:spcPct val="110000"/>
              </a:lnSpc>
              <a:buClr>
                <a:srgbClr val="ED7D31"/>
              </a:buClr>
              <a:buSzTx/>
              <a:buFont typeface="+mj-lt"/>
              <a:buAutoNum type="arabicPeriod" startAt="2"/>
            </a:pPr>
            <a:r>
              <a:rPr lang="zh-CN" altLang="en-US" sz="2000" smtClean="0">
                <a:ea typeface="宋体" panose="02010600030101010101" pitchFamily="2" charset="-122"/>
                <a:sym typeface="+mn-ea"/>
              </a:rPr>
              <a:t>遍历Set集合的半径，逐一从Map中取出对应的面积值，并将半径和面积打印出来。</a:t>
            </a:r>
            <a:endParaRPr lang="zh-CN" altLang="en-US" sz="2000" smtClean="0">
              <a:ea typeface="宋体" panose="02010600030101010101" pitchFamily="2" charset="-122"/>
            </a:endParaRPr>
          </a:p>
          <a:p>
            <a:pPr marL="457200" lvl="1" indent="-457200" algn="l">
              <a:lnSpc>
                <a:spcPct val="110000"/>
              </a:lnSpc>
              <a:spcBef>
                <a:spcPts val="1000"/>
              </a:spcBef>
              <a:buClr>
                <a:srgbClr val="ED7D31"/>
              </a:buClr>
              <a:buSzTx/>
              <a:buFont typeface="+mj-lt"/>
              <a:buAutoNum type="arabicPeriod"/>
            </a:pPr>
            <a:endParaRPr lang="zh-CN" altLang="en-US" sz="2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688340" y="3137535"/>
            <a:ext cx="1128522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第四节 </a:t>
            </a:r>
            <a:r>
              <a:rPr lang="zh-CN" altLang="en-US" sz="6665" dirty="0">
                <a:solidFill>
                  <a:schemeClr val="bg1"/>
                </a:solidFill>
                <a:latin typeface="Arial" panose="020B0604020202020204" pitchFamily="34" charset="0"/>
                <a:ea typeface="宋体" panose="02010600030101010101" pitchFamily="2" charset="-122"/>
                <a:sym typeface="+mn-ea"/>
              </a:rPr>
              <a:t>泛型的通配符类型参数</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泛型（</a:t>
            </a:r>
            <a:r>
              <a:rPr lang="zh-CN" altLang="en-US" sz="2400" smtClean="0">
                <a:ea typeface="宋体" panose="02010600030101010101" pitchFamily="2" charset="-122"/>
                <a:sym typeface="+mn-ea"/>
              </a:rPr>
              <a:t>generic</a:t>
            </a:r>
            <a:r>
              <a:rPr lang="zh-CN" altLang="en-US" sz="2400" smtClean="0">
                <a:ea typeface="宋体" panose="02010600030101010101" pitchFamily="2" charset="-122"/>
                <a:sym typeface="+mn-ea"/>
              </a:rPr>
              <a:t>）类型参数的精确匹配</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720" y="1160145"/>
            <a:ext cx="11037570" cy="5375910"/>
          </a:xfrm>
        </p:spPr>
        <p:txBody>
          <a:bodyPr>
            <a:normAutofit/>
          </a:bodyPr>
          <a:p>
            <a:pPr marL="457200" indent="-457200" algn="l">
              <a:lnSpc>
                <a:spcPct val="110000"/>
              </a:lnSpc>
              <a:buClr>
                <a:srgbClr val="ED7D31"/>
              </a:buClr>
              <a:buSzTx/>
              <a:buFont typeface="+mj-lt"/>
              <a:buAutoNum type="arabicPeriod"/>
            </a:pPr>
            <a:r>
              <a:rPr sz="2000">
                <a:ea typeface="宋体" panose="02010600030101010101" pitchFamily="2" charset="-122"/>
                <a:sym typeface="+mn-ea"/>
              </a:rPr>
              <a:t>泛型的类型参数必须精确匹配，</a:t>
            </a:r>
            <a:r>
              <a:rPr lang="zh-CN" sz="2000">
                <a:ea typeface="宋体" panose="02010600030101010101" pitchFamily="2" charset="-122"/>
                <a:sym typeface="+mn-ea"/>
              </a:rPr>
              <a:t>不可用多态</a:t>
            </a:r>
            <a:r>
              <a:rPr sz="2000">
                <a:ea typeface="宋体" panose="02010600030101010101" pitchFamily="2" charset="-122"/>
                <a:sym typeface="+mn-ea"/>
              </a:rPr>
              <a:t>。</a:t>
            </a:r>
            <a:endParaRPr sz="2000">
              <a:ea typeface="宋体" panose="02010600030101010101" pitchFamily="2" charset="-122"/>
            </a:endParaRPr>
          </a:p>
          <a:p>
            <a:pPr marL="457200" indent="-457200" algn="l">
              <a:lnSpc>
                <a:spcPct val="110000"/>
              </a:lnSpc>
              <a:buClr>
                <a:srgbClr val="ED7D31"/>
              </a:buClr>
              <a:buSzTx/>
              <a:buFont typeface="+mj-lt"/>
              <a:buAutoNum type="arabicPeriod"/>
            </a:pPr>
            <a:r>
              <a:rPr sz="2000">
                <a:ea typeface="宋体" panose="02010600030101010101" pitchFamily="2" charset="-122"/>
                <a:sym typeface="+mn-ea"/>
              </a:rPr>
              <a:t>例如，现有以下继承关系：</a:t>
            </a:r>
            <a:endParaRPr sz="2000">
              <a:ea typeface="宋体" panose="02010600030101010101" pitchFamily="2" charset="-122"/>
            </a:endParaRPr>
          </a:p>
          <a:p>
            <a:pPr marL="1157605" lvl="2" indent="-357505">
              <a:buClr>
                <a:srgbClr val="ED7D31"/>
              </a:buClr>
              <a:buFont typeface="Arial" panose="020B0604020202020204" pitchFamily="34" charset="0"/>
              <a:buChar char="•"/>
              <a:defRPr/>
            </a:pPr>
            <a:endParaRPr lang="zh-CN" altLang="en-US" sz="1800" dirty="0" smtClean="0">
              <a:latin typeface="仿宋" panose="02010609060101010101" charset="-122"/>
              <a:ea typeface="仿宋" panose="02010609060101010101" charset="-122"/>
              <a:cs typeface="仿宋" panose="02010609060101010101" charset="-122"/>
              <a:sym typeface="+mn-ea"/>
            </a:endParaRPr>
          </a:p>
          <a:p>
            <a:pPr marL="1157605" lvl="2" indent="-357505">
              <a:buClr>
                <a:srgbClr val="ED7D31"/>
              </a:buClr>
              <a:buFont typeface="Arial" panose="020B0604020202020204" pitchFamily="34" charset="0"/>
              <a:buChar char="•"/>
              <a:defRPr/>
            </a:pPr>
            <a:endParaRPr lang="zh-CN" altLang="en-US" sz="1800" dirty="0" smtClean="0">
              <a:latin typeface="仿宋" panose="02010609060101010101" charset="-122"/>
              <a:ea typeface="仿宋" panose="02010609060101010101" charset="-122"/>
              <a:cs typeface="仿宋" panose="02010609060101010101" charset="-122"/>
            </a:endParaRPr>
          </a:p>
          <a:p>
            <a:pPr marL="342900" lvl="1" indent="0">
              <a:lnSpc>
                <a:spcPct val="110000"/>
              </a:lnSpc>
              <a:buClr>
                <a:srgbClr val="ED7D31"/>
              </a:buClr>
              <a:buFont typeface="Arial" panose="020B0604020202020204" pitchFamily="34" charset="0"/>
              <a:buNone/>
              <a:defRPr/>
            </a:pPr>
            <a:r>
              <a:rPr lang="en-US" altLang="zh-CN" dirty="0">
                <a:ea typeface="宋体" panose="02010600030101010101" pitchFamily="2" charset="-122"/>
                <a:sym typeface="+mn-ea"/>
              </a:rPr>
              <a:t> </a:t>
            </a:r>
            <a:endParaRPr lang="zh-CN" altLang="en-US" dirty="0">
              <a:ea typeface="宋体" panose="02010600030101010101" pitchFamily="2" charset="-122"/>
              <a:sym typeface="+mn-ea"/>
            </a:endParaRPr>
          </a:p>
        </p:txBody>
      </p:sp>
      <p:pic>
        <p:nvPicPr>
          <p:cNvPr id="279557" name="Picture 2"/>
          <p:cNvPicPr>
            <a:picLocks noChangeAspect="1" noChangeArrowheads="1"/>
          </p:cNvPicPr>
          <p:nvPr/>
        </p:nvPicPr>
        <p:blipFill>
          <a:blip r:embed="rId5"/>
          <a:srcRect/>
          <a:stretch>
            <a:fillRect/>
          </a:stretch>
        </p:blipFill>
        <p:spPr bwMode="auto">
          <a:xfrm>
            <a:off x="2029460" y="2774333"/>
            <a:ext cx="4824413" cy="2822575"/>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泛型类型参数的精确匹配</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indent="-457200" algn="l">
              <a:lnSpc>
                <a:spcPct val="110000"/>
              </a:lnSpc>
              <a:buClr>
                <a:srgbClr val="ED7D31"/>
              </a:buClr>
              <a:buSzTx/>
              <a:buFont typeface="+mj-lt"/>
              <a:buAutoNum type="arabicPeriod"/>
            </a:pPr>
            <a:r>
              <a:rPr lang="zh-CN" altLang="en-US" sz="2000" dirty="0" smtClean="0">
                <a:ea typeface="宋体" panose="02010600030101010101" pitchFamily="2" charset="-122"/>
                <a:sym typeface="+mn-ea"/>
              </a:rPr>
              <a:t>以下代码是合法的：</a:t>
            </a:r>
            <a:endParaRPr lang="zh-CN" altLang="en-US" sz="2000" dirty="0" smtClean="0">
              <a:ea typeface="宋体" panose="02010600030101010101" pitchFamily="2" charset="-122"/>
              <a:sym typeface="+mn-ea"/>
            </a:endParaRPr>
          </a:p>
          <a:p>
            <a:pPr marL="361950" lvl="1" indent="-361950">
              <a:buClr>
                <a:schemeClr val="tx2"/>
              </a:buClr>
              <a:buFont typeface="Times"/>
              <a:buNone/>
              <a:defRPr/>
            </a:pPr>
            <a:r>
              <a:rPr lang="en-US" altLang="zh-CN" dirty="0" smtClean="0">
                <a:ea typeface="宋体" panose="02010600030101010101" pitchFamily="2" charset="-122"/>
                <a:sym typeface="+mn-ea"/>
              </a:rPr>
              <a:t> 	 List&lt;Account&gt; la = new </a:t>
            </a:r>
            <a:r>
              <a:rPr lang="en-US" altLang="zh-CN" dirty="0" err="1" smtClean="0">
                <a:ea typeface="宋体" panose="02010600030101010101" pitchFamily="2" charset="-122"/>
                <a:sym typeface="+mn-ea"/>
              </a:rPr>
              <a:t>ArrayList</a:t>
            </a:r>
            <a:r>
              <a:rPr lang="en-US" altLang="zh-CN" dirty="0" smtClean="0">
                <a:ea typeface="宋体" panose="02010600030101010101" pitchFamily="2" charset="-122"/>
                <a:sym typeface="+mn-ea"/>
              </a:rPr>
              <a:t>&lt;Account&gt;();</a:t>
            </a:r>
            <a:endParaRPr lang="en-US" altLang="zh-CN" dirty="0" smtClean="0">
              <a:ea typeface="宋体" panose="02010600030101010101" pitchFamily="2" charset="-122"/>
            </a:endParaRPr>
          </a:p>
          <a:p>
            <a:pPr marL="361950" lvl="1" indent="-361950">
              <a:buClr>
                <a:schemeClr val="tx2"/>
              </a:buClr>
              <a:buFont typeface="Times"/>
              <a:buNone/>
              <a:defRPr/>
            </a:pPr>
            <a:r>
              <a:rPr lang="en-US" altLang="zh-CN" dirty="0" smtClean="0">
                <a:ea typeface="宋体" panose="02010600030101010101" pitchFamily="2" charset="-122"/>
                <a:sym typeface="+mn-ea"/>
              </a:rPr>
              <a:t>	 </a:t>
            </a:r>
            <a:r>
              <a:rPr lang="en-US" altLang="zh-CN" dirty="0" err="1" smtClean="0">
                <a:ea typeface="宋体" panose="02010600030101010101" pitchFamily="2" charset="-122"/>
                <a:sym typeface="+mn-ea"/>
              </a:rPr>
              <a:t>la.add</a:t>
            </a:r>
            <a:r>
              <a:rPr lang="en-US" altLang="zh-CN" dirty="0" smtClean="0">
                <a:ea typeface="宋体" panose="02010600030101010101" pitchFamily="2" charset="-122"/>
                <a:sym typeface="+mn-ea"/>
              </a:rPr>
              <a:t>(new Account("Fred"));</a:t>
            </a:r>
            <a:endParaRPr lang="en-US" altLang="zh-CN" dirty="0" smtClean="0">
              <a:ea typeface="宋体" panose="02010600030101010101" pitchFamily="2" charset="-122"/>
            </a:endParaRPr>
          </a:p>
          <a:p>
            <a:pPr marL="361950" lvl="1" indent="-361950">
              <a:buClr>
                <a:schemeClr val="tx2"/>
              </a:buClr>
              <a:buFont typeface="Times"/>
              <a:buNone/>
              <a:defRPr/>
            </a:pPr>
            <a:r>
              <a:rPr lang="en-US" altLang="zh-CN" dirty="0" smtClean="0">
                <a:ea typeface="宋体" panose="02010600030101010101" pitchFamily="2" charset="-122"/>
                <a:sym typeface="+mn-ea"/>
              </a:rPr>
              <a:t> 	 List&lt;</a:t>
            </a:r>
            <a:r>
              <a:rPr lang="en-US" altLang="zh-CN" dirty="0" err="1" smtClean="0">
                <a:ea typeface="宋体" panose="02010600030101010101" pitchFamily="2" charset="-122"/>
                <a:sym typeface="+mn-ea"/>
              </a:rPr>
              <a:t>CheckingAccount</a:t>
            </a:r>
            <a:r>
              <a:rPr lang="en-US" altLang="zh-CN" dirty="0" smtClean="0">
                <a:ea typeface="宋体" panose="02010600030101010101" pitchFamily="2" charset="-122"/>
                <a:sym typeface="+mn-ea"/>
              </a:rPr>
              <a:t>&gt; </a:t>
            </a:r>
            <a:r>
              <a:rPr lang="en-US" altLang="zh-CN" dirty="0" err="1" smtClean="0">
                <a:ea typeface="宋体" panose="02010600030101010101" pitchFamily="2" charset="-122"/>
                <a:sym typeface="+mn-ea"/>
              </a:rPr>
              <a:t>lc</a:t>
            </a:r>
            <a:r>
              <a:rPr lang="en-US" altLang="zh-CN" dirty="0" smtClean="0">
                <a:ea typeface="宋体" panose="02010600030101010101" pitchFamily="2" charset="-122"/>
                <a:sym typeface="+mn-ea"/>
              </a:rPr>
              <a:t> = new </a:t>
            </a:r>
            <a:r>
              <a:rPr lang="en-US" altLang="zh-CN" dirty="0" err="1" smtClean="0">
                <a:ea typeface="宋体" panose="02010600030101010101" pitchFamily="2" charset="-122"/>
                <a:sym typeface="+mn-ea"/>
              </a:rPr>
              <a:t>ArrayList</a:t>
            </a:r>
            <a:r>
              <a:rPr lang="en-US" altLang="zh-CN" dirty="0" smtClean="0">
                <a:ea typeface="宋体" panose="02010600030101010101" pitchFamily="2" charset="-122"/>
                <a:sym typeface="+mn-ea"/>
              </a:rPr>
              <a:t>&lt;</a:t>
            </a:r>
            <a:r>
              <a:rPr lang="en-US" altLang="zh-CN" dirty="0" err="1" smtClean="0">
                <a:ea typeface="宋体" panose="02010600030101010101" pitchFamily="2" charset="-122"/>
                <a:sym typeface="+mn-ea"/>
              </a:rPr>
              <a:t>CheckingAccount</a:t>
            </a:r>
            <a:r>
              <a:rPr lang="en-US" altLang="zh-CN" dirty="0" smtClean="0">
                <a:ea typeface="宋体" panose="02010600030101010101" pitchFamily="2" charset="-122"/>
                <a:sym typeface="+mn-ea"/>
              </a:rPr>
              <a:t>&gt;();</a:t>
            </a:r>
            <a:endParaRPr lang="en-US" altLang="zh-CN" dirty="0" smtClean="0">
              <a:ea typeface="宋体" panose="02010600030101010101" pitchFamily="2" charset="-122"/>
            </a:endParaRPr>
          </a:p>
          <a:p>
            <a:pPr marL="361950" lvl="1" indent="-361950">
              <a:buClr>
                <a:schemeClr val="tx2"/>
              </a:buClr>
              <a:buFont typeface="Times"/>
              <a:buNone/>
              <a:defRPr/>
            </a:pPr>
            <a:r>
              <a:rPr lang="en-US" altLang="zh-CN" dirty="0" smtClean="0">
                <a:ea typeface="宋体" panose="02010600030101010101" pitchFamily="2" charset="-122"/>
                <a:sym typeface="+mn-ea"/>
              </a:rPr>
              <a:t> 	 List&lt;</a:t>
            </a:r>
            <a:r>
              <a:rPr lang="en-US" altLang="zh-CN" dirty="0" err="1" smtClean="0">
                <a:ea typeface="宋体" panose="02010600030101010101" pitchFamily="2" charset="-122"/>
                <a:sym typeface="+mn-ea"/>
              </a:rPr>
              <a:t>SavingsAccount</a:t>
            </a:r>
            <a:r>
              <a:rPr lang="en-US" altLang="zh-CN" dirty="0" smtClean="0">
                <a:ea typeface="宋体" panose="02010600030101010101" pitchFamily="2" charset="-122"/>
                <a:sym typeface="+mn-ea"/>
              </a:rPr>
              <a:t>&gt; la = new </a:t>
            </a:r>
            <a:r>
              <a:rPr lang="en-US" altLang="zh-CN" dirty="0" err="1" smtClean="0">
                <a:ea typeface="宋体" panose="02010600030101010101" pitchFamily="2" charset="-122"/>
                <a:sym typeface="+mn-ea"/>
              </a:rPr>
              <a:t>ArrayList</a:t>
            </a:r>
            <a:r>
              <a:rPr lang="en-US" altLang="zh-CN" dirty="0" smtClean="0">
                <a:ea typeface="宋体" panose="02010600030101010101" pitchFamily="2" charset="-122"/>
                <a:sym typeface="+mn-ea"/>
              </a:rPr>
              <a:t>&lt;</a:t>
            </a:r>
            <a:r>
              <a:rPr lang="en-US" altLang="zh-CN" dirty="0" err="1" smtClean="0">
                <a:ea typeface="宋体" panose="02010600030101010101" pitchFamily="2" charset="-122"/>
                <a:sym typeface="+mn-ea"/>
              </a:rPr>
              <a:t>SavingsAccount</a:t>
            </a:r>
            <a:r>
              <a:rPr lang="en-US" altLang="zh-CN" dirty="0" smtClean="0">
                <a:ea typeface="宋体" panose="02010600030101010101" pitchFamily="2" charset="-122"/>
                <a:sym typeface="+mn-ea"/>
              </a:rPr>
              <a:t>&gt;();</a:t>
            </a:r>
            <a:endParaRPr lang="en-US" altLang="zh-CN" sz="2000" dirty="0" smtClean="0">
              <a:ea typeface="宋体" panose="02010600030101010101" pitchFamily="2" charset="-122"/>
            </a:endParaRPr>
          </a:p>
          <a:p>
            <a:pPr marL="457200" indent="-457200" algn="l">
              <a:lnSpc>
                <a:spcPct val="110000"/>
              </a:lnSpc>
              <a:buClr>
                <a:srgbClr val="ED7D31"/>
              </a:buClr>
              <a:buSzTx/>
              <a:buFont typeface="+mj-lt"/>
              <a:buAutoNum type="arabicPeriod" startAt="2"/>
            </a:pPr>
            <a:r>
              <a:rPr lang="zh-CN" altLang="en-US" sz="2000" dirty="0" smtClean="0">
                <a:ea typeface="宋体" panose="02010600030101010101" pitchFamily="2" charset="-122"/>
                <a:sym typeface="+mn-ea"/>
              </a:rPr>
              <a:t>但以下代码是非法的：</a:t>
            </a:r>
            <a:endParaRPr lang="zh-CN" altLang="en-US" sz="2000" dirty="0" smtClean="0">
              <a:ea typeface="宋体" panose="02010600030101010101" pitchFamily="2" charset="-122"/>
              <a:sym typeface="+mn-ea"/>
            </a:endParaRPr>
          </a:p>
          <a:p>
            <a:pPr marL="0" lvl="1" indent="457200" algn="l">
              <a:lnSpc>
                <a:spcPct val="110000"/>
              </a:lnSpc>
              <a:buClr>
                <a:srgbClr val="ED7D31"/>
              </a:buClr>
              <a:buSzTx/>
              <a:buFont typeface="+mj-lt"/>
              <a:buNone/>
            </a:pPr>
            <a:r>
              <a:rPr lang="en-US" altLang="zh-CN" dirty="0" smtClean="0">
                <a:ea typeface="宋体" panose="02010600030101010101" pitchFamily="2" charset="-122"/>
                <a:sym typeface="+mn-ea"/>
              </a:rPr>
              <a:t>List&lt;Account&gt; la1 = new </a:t>
            </a:r>
            <a:r>
              <a:rPr lang="en-US" altLang="zh-CN" dirty="0" err="1" smtClean="0">
                <a:ea typeface="宋体" panose="02010600030101010101" pitchFamily="2" charset="-122"/>
                <a:sym typeface="+mn-ea"/>
              </a:rPr>
              <a:t>ArrayList</a:t>
            </a:r>
            <a:r>
              <a:rPr lang="en-US" altLang="zh-CN" dirty="0" smtClean="0">
                <a:ea typeface="宋体" panose="02010600030101010101" pitchFamily="2" charset="-122"/>
                <a:sym typeface="+mn-ea"/>
              </a:rPr>
              <a:t>&lt;</a:t>
            </a:r>
            <a:r>
              <a:rPr lang="en-US" altLang="zh-CN" dirty="0" err="1" smtClean="0">
                <a:ea typeface="宋体" panose="02010600030101010101" pitchFamily="2" charset="-122"/>
                <a:sym typeface="+mn-ea"/>
              </a:rPr>
              <a:t>CheckingAccount</a:t>
            </a:r>
            <a:r>
              <a:rPr lang="en-US" altLang="zh-CN" dirty="0" smtClean="0">
                <a:ea typeface="宋体" panose="02010600030101010101" pitchFamily="2" charset="-122"/>
                <a:sym typeface="+mn-ea"/>
              </a:rPr>
              <a:t>&gt;();</a:t>
            </a:r>
            <a:r>
              <a:rPr lang="en-US" altLang="zh-CN" dirty="0" smtClean="0">
                <a:latin typeface="+mj-lt"/>
                <a:ea typeface="宋体" panose="02010600030101010101" pitchFamily="2" charset="-122"/>
                <a:sym typeface="+mn-ea"/>
              </a:rPr>
              <a:t> </a:t>
            </a:r>
            <a:endParaRPr lang="zh-CN" altLang="en-US" sz="2000" dirty="0" smtClean="0">
              <a:ea typeface="宋体" panose="02010600030101010101" pitchFamily="2" charset="-122"/>
            </a:endParaRPr>
          </a:p>
          <a:p>
            <a:pPr marL="457200" lvl="1" indent="-457200" algn="l">
              <a:lnSpc>
                <a:spcPct val="110000"/>
              </a:lnSpc>
              <a:spcBef>
                <a:spcPts val="1000"/>
              </a:spcBef>
              <a:buClr>
                <a:srgbClr val="ED7D31"/>
              </a:buClr>
              <a:buSzTx/>
              <a:buFont typeface="+mj-lt"/>
              <a:buAutoNum type="arabicPeriod" startAt="3"/>
            </a:pPr>
            <a:r>
              <a:rPr lang="zh-CN" altLang="en-US" dirty="0" smtClean="0">
                <a:ea typeface="宋体" panose="02010600030101010101" pitchFamily="2" charset="-122"/>
                <a:sym typeface="+mn-ea"/>
              </a:rPr>
              <a:t>这和传统的多态不一致，泛型的类型参数是没有多态的。</a:t>
            </a:r>
            <a:endParaRPr lang="zh-CN" altLang="en-US" dirty="0" smtClean="0">
              <a:ea typeface="宋体" panose="02010600030101010101" pitchFamily="2" charset="-122"/>
            </a:endParaRPr>
          </a:p>
          <a:p>
            <a:pPr marL="457200" lvl="1" indent="-457200" algn="l">
              <a:lnSpc>
                <a:spcPct val="110000"/>
              </a:lnSpc>
              <a:spcBef>
                <a:spcPts val="1000"/>
              </a:spcBef>
              <a:buClr>
                <a:srgbClr val="ED7D31"/>
              </a:buClr>
              <a:buSzTx/>
              <a:buFont typeface="+mj-lt"/>
              <a:buAutoNum type="arabicPeriod"/>
            </a:pPr>
            <a:endParaRPr lang="zh-CN" altLang="en-US" sz="2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通配符类型参数</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indent="-457200" algn="l">
              <a:lnSpc>
                <a:spcPct val="110000"/>
              </a:lnSpc>
              <a:buClr>
                <a:srgbClr val="ED7D31"/>
              </a:buClr>
              <a:buSzTx/>
              <a:buFont typeface="+mj-lt"/>
              <a:buAutoNum type="arabicPeriod"/>
            </a:pPr>
            <a:r>
              <a:rPr lang="zh-CN" altLang="en-US" sz="2000" dirty="0" smtClean="0">
                <a:ea typeface="宋体" panose="02010600030101010101" pitchFamily="2" charset="-122"/>
                <a:sym typeface="+mn-ea"/>
              </a:rPr>
              <a:t>同泛型集合一起使用时，通配符（</a:t>
            </a:r>
            <a:r>
              <a:rPr lang="en-US" altLang="zh-CN" sz="2000" dirty="0" smtClean="0">
                <a:ea typeface="宋体" panose="02010600030101010101" pitchFamily="2" charset="-122"/>
                <a:sym typeface="+mn-ea"/>
              </a:rPr>
              <a:t>?</a:t>
            </a:r>
            <a:r>
              <a:rPr lang="zh-CN" altLang="en-US" sz="2000" dirty="0" smtClean="0">
                <a:ea typeface="宋体" panose="02010600030101010101" pitchFamily="2" charset="-122"/>
                <a:sym typeface="+mn-ea"/>
              </a:rPr>
              <a:t>）提供了一定程度的灵活性。</a:t>
            </a:r>
            <a:endParaRPr lang="en-US" altLang="zh-CN" sz="2000" dirty="0" smtClean="0">
              <a:ea typeface="宋体" panose="02010600030101010101" pitchFamily="2" charset="-122"/>
            </a:endParaRPr>
          </a:p>
          <a:p>
            <a:pPr marL="457200" indent="-457200" algn="l">
              <a:lnSpc>
                <a:spcPct val="110000"/>
              </a:lnSpc>
              <a:buClr>
                <a:srgbClr val="ED7D31"/>
              </a:buClr>
              <a:buSzTx/>
              <a:buFont typeface="+mj-lt"/>
              <a:buAutoNum type="arabicPeriod"/>
            </a:pPr>
            <a:r>
              <a:rPr lang="zh-CN" altLang="en-US" sz="2000" dirty="0" smtClean="0">
                <a:ea typeface="宋体" panose="02010600030101010101" pitchFamily="2" charset="-122"/>
                <a:sym typeface="+mn-ea"/>
              </a:rPr>
              <a:t>例如：</a:t>
            </a:r>
            <a:endParaRPr lang="en-US" altLang="zh-CN" sz="2000" dirty="0" smtClean="0">
              <a:ea typeface="宋体" panose="02010600030101010101" pitchFamily="2" charset="-122"/>
            </a:endParaRPr>
          </a:p>
          <a:p>
            <a:pPr marL="361950" lvl="1" indent="-361950">
              <a:buClr>
                <a:schemeClr val="tx2"/>
              </a:buClr>
              <a:buFont typeface="Times"/>
              <a:buNone/>
              <a:defRPr/>
            </a:pPr>
            <a:r>
              <a:rPr lang="en-US" altLang="zh-CN" dirty="0" smtClean="0">
                <a:ea typeface="宋体" panose="02010600030101010101" pitchFamily="2" charset="-122"/>
                <a:sym typeface="+mn-ea"/>
              </a:rPr>
              <a:t>      List&lt;Account&gt; la = new </a:t>
            </a:r>
            <a:r>
              <a:rPr lang="en-US" altLang="zh-CN" dirty="0" err="1" smtClean="0">
                <a:ea typeface="宋体" panose="02010600030101010101" pitchFamily="2" charset="-122"/>
                <a:sym typeface="+mn-ea"/>
              </a:rPr>
              <a:t>ArrayList</a:t>
            </a:r>
            <a:r>
              <a:rPr lang="en-US" altLang="zh-CN" dirty="0" smtClean="0">
                <a:ea typeface="宋体" panose="02010600030101010101" pitchFamily="2" charset="-122"/>
                <a:sym typeface="+mn-ea"/>
              </a:rPr>
              <a:t>&lt;Account&gt;();</a:t>
            </a:r>
            <a:endParaRPr lang="en-US" altLang="zh-CN" dirty="0" smtClean="0">
              <a:ea typeface="宋体" panose="02010600030101010101" pitchFamily="2" charset="-122"/>
            </a:endParaRPr>
          </a:p>
          <a:p>
            <a:pPr marL="361950" lvl="1" indent="-361950">
              <a:buClr>
                <a:schemeClr val="tx2"/>
              </a:buClr>
              <a:buFont typeface="Times"/>
              <a:buNone/>
              <a:defRPr/>
            </a:pPr>
            <a:r>
              <a:rPr lang="en-US" altLang="zh-CN" dirty="0" smtClean="0">
                <a:ea typeface="宋体" panose="02010600030101010101" pitchFamily="2" charset="-122"/>
                <a:sym typeface="+mn-ea"/>
              </a:rPr>
              <a:t>	 List&lt;</a:t>
            </a:r>
            <a:r>
              <a:rPr lang="en-US" altLang="zh-CN" dirty="0" err="1" smtClean="0">
                <a:ea typeface="宋体" panose="02010600030101010101" pitchFamily="2" charset="-122"/>
                <a:sym typeface="+mn-ea"/>
              </a:rPr>
              <a:t>CheckingAccount</a:t>
            </a:r>
            <a:r>
              <a:rPr lang="en-US" altLang="zh-CN" dirty="0" smtClean="0">
                <a:ea typeface="宋体" panose="02010600030101010101" pitchFamily="2" charset="-122"/>
                <a:sym typeface="+mn-ea"/>
              </a:rPr>
              <a:t>&gt; </a:t>
            </a:r>
            <a:r>
              <a:rPr lang="en-US" altLang="zh-CN" dirty="0" err="1" smtClean="0">
                <a:ea typeface="宋体" panose="02010600030101010101" pitchFamily="2" charset="-122"/>
                <a:sym typeface="+mn-ea"/>
              </a:rPr>
              <a:t>lc</a:t>
            </a:r>
            <a:r>
              <a:rPr lang="en-US" altLang="zh-CN" dirty="0" smtClean="0">
                <a:ea typeface="宋体" panose="02010600030101010101" pitchFamily="2" charset="-122"/>
                <a:sym typeface="+mn-ea"/>
              </a:rPr>
              <a:t> = new </a:t>
            </a:r>
            <a:r>
              <a:rPr lang="en-US" altLang="zh-CN" dirty="0" err="1" smtClean="0">
                <a:ea typeface="宋体" panose="02010600030101010101" pitchFamily="2" charset="-122"/>
                <a:sym typeface="+mn-ea"/>
              </a:rPr>
              <a:t>ArrayList</a:t>
            </a:r>
            <a:r>
              <a:rPr lang="en-US" altLang="zh-CN" dirty="0" smtClean="0">
                <a:ea typeface="宋体" panose="02010600030101010101" pitchFamily="2" charset="-122"/>
                <a:sym typeface="+mn-ea"/>
              </a:rPr>
              <a:t>&lt;</a:t>
            </a:r>
            <a:r>
              <a:rPr lang="en-US" altLang="zh-CN" dirty="0" err="1" smtClean="0">
                <a:ea typeface="宋体" panose="02010600030101010101" pitchFamily="2" charset="-122"/>
                <a:sym typeface="+mn-ea"/>
              </a:rPr>
              <a:t>CheckingAccount</a:t>
            </a:r>
            <a:r>
              <a:rPr lang="en-US" altLang="zh-CN" dirty="0" smtClean="0">
                <a:ea typeface="宋体" panose="02010600030101010101" pitchFamily="2" charset="-122"/>
                <a:sym typeface="+mn-ea"/>
              </a:rPr>
              <a:t>&gt;();</a:t>
            </a:r>
            <a:endParaRPr lang="en-US" altLang="zh-CN" dirty="0" smtClean="0">
              <a:ea typeface="宋体" panose="02010600030101010101" pitchFamily="2" charset="-122"/>
            </a:endParaRPr>
          </a:p>
          <a:p>
            <a:pPr marL="361950" lvl="1" indent="-361950">
              <a:buClr>
                <a:schemeClr val="tx2"/>
              </a:buClr>
              <a:buFont typeface="Times"/>
              <a:buNone/>
              <a:defRPr/>
            </a:pPr>
            <a:r>
              <a:rPr lang="en-US" altLang="zh-CN" dirty="0" smtClean="0">
                <a:ea typeface="宋体" panose="02010600030101010101" pitchFamily="2" charset="-122"/>
                <a:sym typeface="+mn-ea"/>
              </a:rPr>
              <a:t> 	 List&lt;</a:t>
            </a:r>
            <a:r>
              <a:rPr lang="en-US" altLang="zh-CN" dirty="0" err="1" smtClean="0">
                <a:ea typeface="宋体" panose="02010600030101010101" pitchFamily="2" charset="-122"/>
                <a:sym typeface="+mn-ea"/>
              </a:rPr>
              <a:t>SavingsAccount</a:t>
            </a:r>
            <a:r>
              <a:rPr lang="en-US" altLang="zh-CN" dirty="0" smtClean="0">
                <a:ea typeface="宋体" panose="02010600030101010101" pitchFamily="2" charset="-122"/>
                <a:sym typeface="+mn-ea"/>
              </a:rPr>
              <a:t>&gt; la = new </a:t>
            </a:r>
            <a:r>
              <a:rPr lang="en-US" altLang="zh-CN" dirty="0" err="1" smtClean="0">
                <a:ea typeface="宋体" panose="02010600030101010101" pitchFamily="2" charset="-122"/>
                <a:sym typeface="+mn-ea"/>
              </a:rPr>
              <a:t>ArrayList</a:t>
            </a:r>
            <a:r>
              <a:rPr lang="en-US" altLang="zh-CN" dirty="0" smtClean="0">
                <a:ea typeface="宋体" panose="02010600030101010101" pitchFamily="2" charset="-122"/>
                <a:sym typeface="+mn-ea"/>
              </a:rPr>
              <a:t>&lt;</a:t>
            </a:r>
            <a:r>
              <a:rPr lang="en-US" altLang="zh-CN" dirty="0" err="1" smtClean="0">
                <a:ea typeface="宋体" panose="02010600030101010101" pitchFamily="2" charset="-122"/>
                <a:sym typeface="+mn-ea"/>
              </a:rPr>
              <a:t>SavingsAccount</a:t>
            </a:r>
            <a:r>
              <a:rPr lang="en-US" altLang="zh-CN" dirty="0" smtClean="0">
                <a:ea typeface="宋体" panose="02010600030101010101" pitchFamily="2" charset="-122"/>
                <a:sym typeface="+mn-ea"/>
              </a:rPr>
              <a:t>&gt;();</a:t>
            </a:r>
            <a:endParaRPr lang="en-US" altLang="zh-CN" dirty="0" smtClean="0">
              <a:ea typeface="宋体" panose="02010600030101010101" pitchFamily="2" charset="-122"/>
            </a:endParaRPr>
          </a:p>
          <a:p>
            <a:pPr marL="361950" lvl="1" indent="-361950">
              <a:buClr>
                <a:schemeClr val="tx2"/>
              </a:buClr>
              <a:buFont typeface="Times"/>
              <a:buNone/>
              <a:defRPr/>
            </a:pPr>
            <a:endParaRPr lang="en-US" altLang="zh-CN" dirty="0" smtClean="0">
              <a:ea typeface="宋体" panose="02010600030101010101" pitchFamily="2" charset="-122"/>
            </a:endParaRPr>
          </a:p>
          <a:p>
            <a:pPr marL="361950" lvl="1" indent="-361950">
              <a:buClr>
                <a:schemeClr val="tx2"/>
              </a:buClr>
              <a:buFont typeface="Times"/>
              <a:buNone/>
              <a:defRPr/>
            </a:pPr>
            <a:r>
              <a:rPr lang="en-US" altLang="zh-CN" dirty="0" smtClean="0">
                <a:ea typeface="宋体" panose="02010600030101010101" pitchFamily="2" charset="-122"/>
                <a:sym typeface="+mn-ea"/>
              </a:rPr>
              <a:t>	 List</a:t>
            </a:r>
            <a:r>
              <a:rPr lang="en-US" altLang="zh-CN" b="1" dirty="0" smtClean="0">
                <a:ea typeface="宋体" panose="02010600030101010101" pitchFamily="2" charset="-122"/>
                <a:sym typeface="+mn-ea"/>
              </a:rPr>
              <a:t>&lt;? extends Account&gt;</a:t>
            </a:r>
            <a:r>
              <a:rPr lang="en-US" altLang="zh-CN" dirty="0" smtClean="0">
                <a:ea typeface="宋体" panose="02010600030101010101" pitchFamily="2" charset="-122"/>
                <a:sym typeface="+mn-ea"/>
              </a:rPr>
              <a:t> </a:t>
            </a:r>
            <a:r>
              <a:rPr lang="en-US" altLang="zh-CN" dirty="0" err="1" smtClean="0">
                <a:ea typeface="宋体" panose="02010600030101010101" pitchFamily="2" charset="-122"/>
                <a:sym typeface="+mn-ea"/>
              </a:rPr>
              <a:t>lw</a:t>
            </a:r>
            <a:r>
              <a:rPr lang="en-US" altLang="zh-CN" dirty="0" smtClean="0">
                <a:ea typeface="宋体" panose="02010600030101010101" pitchFamily="2" charset="-122"/>
                <a:sym typeface="+mn-ea"/>
              </a:rPr>
              <a:t>;</a:t>
            </a:r>
            <a:endParaRPr lang="en-US" altLang="zh-CN" dirty="0" smtClean="0">
              <a:ea typeface="宋体" panose="02010600030101010101" pitchFamily="2" charset="-122"/>
            </a:endParaRPr>
          </a:p>
          <a:p>
            <a:pPr marL="361950" lvl="1" indent="-361950">
              <a:buClr>
                <a:schemeClr val="tx2"/>
              </a:buClr>
              <a:buFont typeface="Times"/>
              <a:buNone/>
              <a:defRPr/>
            </a:pPr>
            <a:r>
              <a:rPr lang="en-US" altLang="zh-CN" dirty="0" smtClean="0">
                <a:ea typeface="宋体" panose="02010600030101010101" pitchFamily="2" charset="-122"/>
                <a:sym typeface="+mn-ea"/>
              </a:rPr>
              <a:t>	 </a:t>
            </a:r>
            <a:r>
              <a:rPr lang="en-US" altLang="zh-CN" dirty="0" err="1" smtClean="0">
                <a:ea typeface="宋体" panose="02010600030101010101" pitchFamily="2" charset="-122"/>
                <a:sym typeface="+mn-ea"/>
              </a:rPr>
              <a:t>lw</a:t>
            </a:r>
            <a:r>
              <a:rPr lang="en-US" altLang="zh-CN" dirty="0" smtClean="0">
                <a:ea typeface="宋体" panose="02010600030101010101" pitchFamily="2" charset="-122"/>
                <a:sym typeface="+mn-ea"/>
              </a:rPr>
              <a:t> = la;   </a:t>
            </a:r>
            <a:r>
              <a:rPr lang="en-US" altLang="zh-CN" dirty="0" err="1" smtClean="0">
                <a:ea typeface="宋体" panose="02010600030101010101" pitchFamily="2" charset="-122"/>
                <a:sym typeface="+mn-ea"/>
              </a:rPr>
              <a:t>lw</a:t>
            </a:r>
            <a:r>
              <a:rPr lang="en-US" altLang="zh-CN" dirty="0" smtClean="0">
                <a:ea typeface="宋体" panose="02010600030101010101" pitchFamily="2" charset="-122"/>
                <a:sym typeface="+mn-ea"/>
              </a:rPr>
              <a:t> = lb;    </a:t>
            </a:r>
            <a:r>
              <a:rPr lang="en-US" altLang="zh-CN" dirty="0" err="1" smtClean="0">
                <a:ea typeface="宋体" panose="02010600030101010101" pitchFamily="2" charset="-122"/>
                <a:sym typeface="+mn-ea"/>
              </a:rPr>
              <a:t>lw</a:t>
            </a:r>
            <a:r>
              <a:rPr lang="en-US" altLang="zh-CN" dirty="0" smtClean="0">
                <a:ea typeface="宋体" panose="02010600030101010101" pitchFamily="2" charset="-122"/>
                <a:sym typeface="+mn-ea"/>
              </a:rPr>
              <a:t> = </a:t>
            </a:r>
            <a:r>
              <a:rPr lang="en-US" altLang="zh-CN" dirty="0" err="1" smtClean="0">
                <a:ea typeface="宋体" panose="02010600030101010101" pitchFamily="2" charset="-122"/>
                <a:sym typeface="+mn-ea"/>
              </a:rPr>
              <a:t>lc</a:t>
            </a:r>
            <a:r>
              <a:rPr lang="en-US" altLang="zh-CN" dirty="0" smtClean="0">
                <a:ea typeface="宋体" panose="02010600030101010101" pitchFamily="2" charset="-122"/>
                <a:sym typeface="+mn-ea"/>
              </a:rPr>
              <a:t>;    //</a:t>
            </a:r>
            <a:r>
              <a:rPr lang="zh-CN" altLang="en-US" dirty="0" smtClean="0">
                <a:ea typeface="宋体" panose="02010600030101010101" pitchFamily="2" charset="-122"/>
                <a:sym typeface="+mn-ea"/>
              </a:rPr>
              <a:t>引用赋值合法，但限于只读访问</a:t>
            </a:r>
            <a:endParaRPr lang="en-US" altLang="zh-CN" dirty="0" smtClean="0">
              <a:ea typeface="宋体" panose="02010600030101010101" pitchFamily="2" charset="-122"/>
            </a:endParaRPr>
          </a:p>
          <a:p>
            <a:pPr marL="457200" lvl="1" indent="-457200" algn="l">
              <a:lnSpc>
                <a:spcPct val="110000"/>
              </a:lnSpc>
              <a:spcBef>
                <a:spcPts val="1000"/>
              </a:spcBef>
              <a:buClr>
                <a:srgbClr val="ED7D31"/>
              </a:buClr>
              <a:buSzTx/>
              <a:buFont typeface="+mj-lt"/>
              <a:buAutoNum type="arabicPeriod" startAt="3"/>
            </a:pPr>
            <a:r>
              <a:rPr lang="zh-CN" altLang="en-US" dirty="0" smtClean="0">
                <a:ea typeface="宋体" panose="02010600030101010101" pitchFamily="2" charset="-122"/>
                <a:sym typeface="+mn-ea"/>
              </a:rPr>
              <a:t>如果在类型参数中只使用通配符（例如：List&lt;?&gt;），则表示它支持任意类型（包括接口等类型）。</a:t>
            </a:r>
            <a:endParaRPr lang="zh-CN" altLang="en-US" sz="20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通配符参数示例 </a:t>
            </a:r>
            <a:r>
              <a:rPr lang="en-US" altLang="zh-CN" sz="2400" smtClean="0">
                <a:ea typeface="宋体" panose="02010600030101010101" pitchFamily="2" charset="-122"/>
                <a:sym typeface="+mn-ea"/>
              </a:rPr>
              <a:t>— Account</a:t>
            </a:r>
            <a:r>
              <a:rPr lang="zh-CN" altLang="en-US" sz="2400" smtClean="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buFont typeface="Times"/>
              <a:buNone/>
              <a:defRPr/>
            </a:pPr>
            <a:r>
              <a:rPr lang="en-US" altLang="zh-CN" sz="1400" dirty="0" smtClean="0">
                <a:sym typeface="+mn-ea"/>
              </a:rPr>
              <a:t>1  public class Account {</a:t>
            </a:r>
            <a:endParaRPr lang="en-US" altLang="zh-CN" sz="1400" dirty="0" smtClean="0">
              <a:ea typeface="+mn-ea"/>
            </a:endParaRPr>
          </a:p>
          <a:p>
            <a:pPr>
              <a:buFont typeface="Times"/>
              <a:buNone/>
              <a:defRPr/>
            </a:pPr>
            <a:r>
              <a:rPr lang="en-US" altLang="zh-CN" sz="1400" dirty="0" smtClean="0">
                <a:sym typeface="+mn-ea"/>
              </a:rPr>
              <a:t>2      private String type = "Account";</a:t>
            </a:r>
            <a:endParaRPr lang="en-US" altLang="zh-CN" sz="1400" dirty="0" smtClean="0">
              <a:ea typeface="+mn-ea"/>
            </a:endParaRPr>
          </a:p>
          <a:p>
            <a:pPr>
              <a:buFont typeface="Times"/>
              <a:buNone/>
              <a:defRPr/>
            </a:pPr>
            <a:r>
              <a:rPr lang="en-US" altLang="zh-CN" sz="1400" dirty="0" smtClean="0">
                <a:sym typeface="+mn-ea"/>
              </a:rPr>
              <a:t>3      private String name;</a:t>
            </a:r>
            <a:endParaRPr lang="en-US" altLang="zh-CN" sz="1400" dirty="0" smtClean="0">
              <a:ea typeface="+mn-ea"/>
            </a:endParaRPr>
          </a:p>
          <a:p>
            <a:pPr>
              <a:buFont typeface="Times"/>
              <a:buNone/>
              <a:defRPr/>
            </a:pPr>
            <a:r>
              <a:rPr lang="en-US" altLang="zh-CN" sz="1400" dirty="0" smtClean="0">
                <a:sym typeface="+mn-ea"/>
              </a:rPr>
              <a:t>4  </a:t>
            </a:r>
            <a:endParaRPr lang="en-US" altLang="zh-CN" sz="1400" dirty="0" smtClean="0">
              <a:ea typeface="+mn-ea"/>
            </a:endParaRPr>
          </a:p>
          <a:p>
            <a:pPr>
              <a:buFont typeface="Times"/>
              <a:buNone/>
              <a:defRPr/>
            </a:pPr>
            <a:r>
              <a:rPr lang="en-US" altLang="zh-CN" sz="1400" dirty="0" smtClean="0">
                <a:sym typeface="+mn-ea"/>
              </a:rPr>
              <a:t>5      public Account(String name) {</a:t>
            </a:r>
            <a:endParaRPr lang="en-US" altLang="zh-CN" sz="1400" dirty="0" smtClean="0">
              <a:ea typeface="+mn-ea"/>
            </a:endParaRPr>
          </a:p>
          <a:p>
            <a:pPr>
              <a:buFont typeface="Times"/>
              <a:buNone/>
              <a:defRPr/>
            </a:pPr>
            <a:r>
              <a:rPr lang="en-US" altLang="zh-CN" sz="1400" dirty="0" smtClean="0">
                <a:sym typeface="+mn-ea"/>
              </a:rPr>
              <a:t>6          this.name = name;</a:t>
            </a:r>
            <a:endParaRPr lang="en-US" altLang="zh-CN" sz="1400" dirty="0" smtClean="0">
              <a:ea typeface="+mn-ea"/>
            </a:endParaRPr>
          </a:p>
          <a:p>
            <a:pPr>
              <a:buFont typeface="Times"/>
              <a:buNone/>
              <a:defRPr/>
            </a:pPr>
            <a:r>
              <a:rPr lang="en-US" altLang="zh-CN" sz="1400" dirty="0" smtClean="0">
                <a:sym typeface="+mn-ea"/>
              </a:rPr>
              <a:t>7      }</a:t>
            </a:r>
            <a:endParaRPr lang="en-US" altLang="zh-CN" sz="1400" dirty="0" smtClean="0">
              <a:ea typeface="+mn-ea"/>
            </a:endParaRPr>
          </a:p>
          <a:p>
            <a:pPr>
              <a:buFont typeface="Times"/>
              <a:buNone/>
              <a:defRPr/>
            </a:pPr>
            <a:r>
              <a:rPr lang="en-US" altLang="zh-CN" sz="1400" dirty="0" smtClean="0">
                <a:sym typeface="+mn-ea"/>
              </a:rPr>
              <a:t>8  </a:t>
            </a:r>
            <a:endParaRPr lang="en-US" altLang="zh-CN" sz="1400" dirty="0" smtClean="0">
              <a:ea typeface="+mn-ea"/>
            </a:endParaRPr>
          </a:p>
          <a:p>
            <a:pPr>
              <a:buFont typeface="Times"/>
              <a:buNone/>
              <a:defRPr/>
            </a:pPr>
            <a:r>
              <a:rPr lang="en-US" altLang="zh-CN" sz="1400" dirty="0" smtClean="0">
                <a:sym typeface="+mn-ea"/>
              </a:rPr>
              <a:t>9      public void </a:t>
            </a:r>
            <a:r>
              <a:rPr lang="en-US" altLang="zh-CN" sz="1400" dirty="0" err="1" smtClean="0">
                <a:sym typeface="+mn-ea"/>
              </a:rPr>
              <a:t>setType</a:t>
            </a:r>
            <a:r>
              <a:rPr lang="en-US" altLang="zh-CN" sz="1400" dirty="0" smtClean="0">
                <a:sym typeface="+mn-ea"/>
              </a:rPr>
              <a:t>(String type) {</a:t>
            </a:r>
            <a:endParaRPr lang="en-US" altLang="zh-CN" sz="1400" dirty="0" smtClean="0">
              <a:ea typeface="+mn-ea"/>
            </a:endParaRPr>
          </a:p>
          <a:p>
            <a:pPr>
              <a:buFont typeface="Times"/>
              <a:buNone/>
              <a:defRPr/>
            </a:pPr>
            <a:r>
              <a:rPr lang="en-US" altLang="zh-CN" sz="1400" dirty="0" smtClean="0">
                <a:sym typeface="+mn-ea"/>
              </a:rPr>
              <a:t>10         </a:t>
            </a:r>
            <a:r>
              <a:rPr lang="en-US" altLang="zh-CN" sz="1400" dirty="0" err="1" smtClean="0">
                <a:sym typeface="+mn-ea"/>
              </a:rPr>
              <a:t>this.type</a:t>
            </a:r>
            <a:r>
              <a:rPr lang="en-US" altLang="zh-CN" sz="1400" dirty="0" smtClean="0">
                <a:sym typeface="+mn-ea"/>
              </a:rPr>
              <a:t> = type;</a:t>
            </a:r>
            <a:endParaRPr lang="en-US" altLang="zh-CN" sz="1400" dirty="0" smtClean="0">
              <a:ea typeface="+mn-ea"/>
            </a:endParaRPr>
          </a:p>
          <a:p>
            <a:pPr>
              <a:buFont typeface="Times"/>
              <a:buNone/>
              <a:defRPr/>
            </a:pPr>
            <a:r>
              <a:rPr lang="en-US" altLang="zh-CN" sz="1400" dirty="0" smtClean="0">
                <a:sym typeface="+mn-ea"/>
              </a:rPr>
              <a:t>11     }</a:t>
            </a:r>
            <a:endParaRPr lang="en-US" altLang="zh-CN" sz="1400" dirty="0" smtClean="0">
              <a:ea typeface="+mn-ea"/>
            </a:endParaRPr>
          </a:p>
          <a:p>
            <a:pPr>
              <a:buFont typeface="Times"/>
              <a:buNone/>
              <a:defRPr/>
            </a:pPr>
            <a:r>
              <a:rPr lang="en-US" altLang="zh-CN" sz="1400" dirty="0" smtClean="0">
                <a:sym typeface="+mn-ea"/>
              </a:rPr>
              <a:t>12 </a:t>
            </a:r>
            <a:endParaRPr lang="en-US" altLang="zh-CN" sz="1400" dirty="0" smtClean="0">
              <a:ea typeface="+mn-ea"/>
            </a:endParaRPr>
          </a:p>
          <a:p>
            <a:pPr>
              <a:buFont typeface="Times"/>
              <a:buNone/>
              <a:defRPr/>
            </a:pPr>
            <a:r>
              <a:rPr lang="en-US" altLang="zh-CN" sz="1400" dirty="0" smtClean="0">
                <a:sym typeface="+mn-ea"/>
              </a:rPr>
              <a:t>13     public String </a:t>
            </a:r>
            <a:r>
              <a:rPr lang="en-US" altLang="zh-CN" sz="1400" dirty="0" err="1" smtClean="0">
                <a:sym typeface="+mn-ea"/>
              </a:rPr>
              <a:t>toString</a:t>
            </a:r>
            <a:r>
              <a:rPr lang="en-US" altLang="zh-CN" sz="1400" dirty="0" smtClean="0">
                <a:sym typeface="+mn-ea"/>
              </a:rPr>
              <a:t>() {</a:t>
            </a:r>
            <a:endParaRPr lang="en-US" altLang="zh-CN" sz="1400" dirty="0" smtClean="0">
              <a:ea typeface="+mn-ea"/>
            </a:endParaRPr>
          </a:p>
          <a:p>
            <a:pPr>
              <a:buFont typeface="Times"/>
              <a:buNone/>
              <a:defRPr/>
            </a:pPr>
            <a:r>
              <a:rPr lang="en-US" altLang="zh-CN" sz="1400" dirty="0" smtClean="0">
                <a:sym typeface="+mn-ea"/>
              </a:rPr>
              <a:t>14         return "type=" + type + " name=" + name;</a:t>
            </a:r>
            <a:endParaRPr lang="en-US" altLang="zh-CN" sz="1400" dirty="0" smtClean="0">
              <a:ea typeface="+mn-ea"/>
            </a:endParaRPr>
          </a:p>
          <a:p>
            <a:pPr>
              <a:buFont typeface="Times"/>
              <a:buNone/>
              <a:defRPr/>
            </a:pPr>
            <a:r>
              <a:rPr lang="en-US" altLang="zh-CN" sz="1400" dirty="0" smtClean="0">
                <a:sym typeface="+mn-ea"/>
              </a:rPr>
              <a:t>15     }</a:t>
            </a:r>
            <a:endParaRPr lang="en-US" altLang="zh-CN" sz="1400" dirty="0" smtClean="0">
              <a:ea typeface="+mn-ea"/>
            </a:endParaRPr>
          </a:p>
          <a:p>
            <a:pPr>
              <a:buFont typeface="Times"/>
              <a:buNone/>
              <a:defRPr/>
            </a:pPr>
            <a:r>
              <a:rPr lang="en-US" altLang="zh-CN" sz="1400" dirty="0" smtClean="0">
                <a:sym typeface="+mn-ea"/>
              </a:rPr>
              <a:t>16 }</a:t>
            </a:r>
            <a:endParaRPr lang="en-US" altLang="zh-CN" sz="14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通配符参数示例 </a:t>
            </a:r>
            <a:r>
              <a:rPr lang="en-US" altLang="zh-CN" sz="2400" smtClean="0">
                <a:ea typeface="宋体" panose="02010600030101010101" pitchFamily="2" charset="-122"/>
                <a:sym typeface="+mn-ea"/>
              </a:rPr>
              <a:t>— </a:t>
            </a:r>
            <a:r>
              <a:rPr lang="en-US" altLang="zh-CN" sz="2400" smtClean="0">
                <a:sym typeface="+mn-ea"/>
              </a:rPr>
              <a:t>SavingsAccount</a:t>
            </a:r>
            <a:r>
              <a:rPr lang="zh-CN" altLang="en-US" sz="2400" smtClean="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buFont typeface="Times"/>
              <a:buNone/>
              <a:defRPr/>
            </a:pPr>
            <a:r>
              <a:rPr lang="en-US" altLang="zh-CN" sz="1400" dirty="0" smtClean="0">
                <a:sym typeface="+mn-ea"/>
              </a:rPr>
              <a:t>1  public class </a:t>
            </a:r>
            <a:r>
              <a:rPr lang="en-US" altLang="zh-CN" sz="1400" dirty="0" err="1" smtClean="0">
                <a:sym typeface="+mn-ea"/>
              </a:rPr>
              <a:t>SavingsAccount</a:t>
            </a:r>
            <a:r>
              <a:rPr lang="en-US" altLang="zh-CN" sz="1400" dirty="0" smtClean="0">
                <a:sym typeface="+mn-ea"/>
              </a:rPr>
              <a:t> extends Account{</a:t>
            </a:r>
            <a:endParaRPr lang="en-US" altLang="zh-CN" sz="1400" dirty="0" smtClean="0">
              <a:ea typeface="+mn-ea"/>
            </a:endParaRPr>
          </a:p>
          <a:p>
            <a:pPr>
              <a:buFont typeface="Times"/>
              <a:buNone/>
              <a:defRPr/>
            </a:pPr>
            <a:r>
              <a:rPr lang="en-US" altLang="zh-CN" sz="1400" dirty="0" smtClean="0">
                <a:sym typeface="+mn-ea"/>
              </a:rPr>
              <a:t>2      private String </a:t>
            </a:r>
            <a:r>
              <a:rPr lang="en-US" altLang="zh-CN" sz="1400" dirty="0" err="1" smtClean="0">
                <a:sym typeface="+mn-ea"/>
              </a:rPr>
              <a:t>ssn</a:t>
            </a:r>
            <a:r>
              <a:rPr lang="en-US" altLang="zh-CN" sz="1400" dirty="0" smtClean="0">
                <a:sym typeface="+mn-ea"/>
              </a:rPr>
              <a:t>;</a:t>
            </a:r>
            <a:endParaRPr lang="en-US" altLang="zh-CN" sz="1400" dirty="0" smtClean="0">
              <a:ea typeface="+mn-ea"/>
            </a:endParaRPr>
          </a:p>
          <a:p>
            <a:pPr>
              <a:buFont typeface="Times"/>
              <a:buNone/>
              <a:defRPr/>
            </a:pPr>
            <a:r>
              <a:rPr lang="en-US" altLang="zh-CN" sz="1400" dirty="0" smtClean="0">
                <a:sym typeface="+mn-ea"/>
              </a:rPr>
              <a:t>3  </a:t>
            </a:r>
            <a:endParaRPr lang="en-US" altLang="zh-CN" sz="1400" dirty="0" smtClean="0">
              <a:ea typeface="+mn-ea"/>
            </a:endParaRPr>
          </a:p>
          <a:p>
            <a:pPr>
              <a:buFont typeface="Times"/>
              <a:buNone/>
              <a:defRPr/>
            </a:pPr>
            <a:r>
              <a:rPr lang="en-US" altLang="zh-CN" sz="1400" dirty="0" smtClean="0">
                <a:sym typeface="+mn-ea"/>
              </a:rPr>
              <a:t>4      public </a:t>
            </a:r>
            <a:r>
              <a:rPr lang="en-US" altLang="zh-CN" sz="1400" dirty="0" err="1" smtClean="0">
                <a:sym typeface="+mn-ea"/>
              </a:rPr>
              <a:t>SavingsAccount</a:t>
            </a:r>
            <a:r>
              <a:rPr lang="en-US" altLang="zh-CN" sz="1400" dirty="0" smtClean="0">
                <a:sym typeface="+mn-ea"/>
              </a:rPr>
              <a:t>(String name) {</a:t>
            </a:r>
            <a:endParaRPr lang="en-US" altLang="zh-CN" sz="1400" dirty="0" smtClean="0">
              <a:ea typeface="+mn-ea"/>
            </a:endParaRPr>
          </a:p>
          <a:p>
            <a:pPr>
              <a:buFont typeface="Times"/>
              <a:buNone/>
              <a:defRPr/>
            </a:pPr>
            <a:r>
              <a:rPr lang="en-US" altLang="zh-CN" sz="1400" dirty="0" smtClean="0">
                <a:sym typeface="+mn-ea"/>
              </a:rPr>
              <a:t>5          super(name);</a:t>
            </a:r>
            <a:endParaRPr lang="en-US" altLang="zh-CN" sz="1400" dirty="0" smtClean="0">
              <a:ea typeface="+mn-ea"/>
            </a:endParaRPr>
          </a:p>
          <a:p>
            <a:pPr>
              <a:buFont typeface="Times"/>
              <a:buNone/>
              <a:defRPr/>
            </a:pPr>
            <a:r>
              <a:rPr lang="en-US" altLang="zh-CN" sz="1400" dirty="0" smtClean="0">
                <a:sym typeface="+mn-ea"/>
              </a:rPr>
              <a:t>6          </a:t>
            </a:r>
            <a:r>
              <a:rPr lang="en-US" altLang="zh-CN" sz="1400" dirty="0" err="1" smtClean="0">
                <a:sym typeface="+mn-ea"/>
              </a:rPr>
              <a:t>setType</a:t>
            </a:r>
            <a:r>
              <a:rPr lang="en-US" altLang="zh-CN" sz="1400" dirty="0" smtClean="0">
                <a:sym typeface="+mn-ea"/>
              </a:rPr>
              <a:t>("</a:t>
            </a:r>
            <a:r>
              <a:rPr lang="en-US" altLang="zh-CN" sz="1400" dirty="0" err="1" smtClean="0">
                <a:sym typeface="+mn-ea"/>
              </a:rPr>
              <a:t>SavingsAccount</a:t>
            </a:r>
            <a:r>
              <a:rPr lang="en-US" altLang="zh-CN" sz="1400" dirty="0" smtClean="0">
                <a:sym typeface="+mn-ea"/>
              </a:rPr>
              <a:t>");</a:t>
            </a:r>
            <a:endParaRPr lang="en-US" altLang="zh-CN" sz="1400" dirty="0" smtClean="0">
              <a:ea typeface="+mn-ea"/>
            </a:endParaRPr>
          </a:p>
          <a:p>
            <a:pPr>
              <a:buFont typeface="Times"/>
              <a:buNone/>
              <a:defRPr/>
            </a:pPr>
            <a:r>
              <a:rPr lang="en-US" altLang="zh-CN" sz="1400" dirty="0" smtClean="0">
                <a:sym typeface="+mn-ea"/>
              </a:rPr>
              <a:t>7      }</a:t>
            </a:r>
            <a:endParaRPr lang="en-US" altLang="zh-CN" sz="1400" dirty="0" smtClean="0">
              <a:ea typeface="+mn-ea"/>
            </a:endParaRPr>
          </a:p>
          <a:p>
            <a:pPr>
              <a:buFont typeface="Times"/>
              <a:buNone/>
              <a:defRPr/>
            </a:pPr>
            <a:r>
              <a:rPr lang="en-US" altLang="zh-CN" sz="1400" dirty="0" smtClean="0">
                <a:sym typeface="+mn-ea"/>
              </a:rPr>
              <a:t>8  </a:t>
            </a:r>
            <a:endParaRPr lang="en-US" altLang="zh-CN" sz="1400" dirty="0" smtClean="0">
              <a:ea typeface="+mn-ea"/>
            </a:endParaRPr>
          </a:p>
          <a:p>
            <a:pPr>
              <a:buFont typeface="Times"/>
              <a:buNone/>
              <a:defRPr/>
            </a:pPr>
            <a:r>
              <a:rPr lang="en-US" altLang="zh-CN" sz="1400" dirty="0" smtClean="0">
                <a:sym typeface="+mn-ea"/>
              </a:rPr>
              <a:t>9      //...</a:t>
            </a:r>
            <a:endParaRPr lang="en-US" altLang="zh-CN" sz="1400" dirty="0" smtClean="0">
              <a:ea typeface="+mn-ea"/>
            </a:endParaRPr>
          </a:p>
          <a:p>
            <a:pPr>
              <a:buFont typeface="Times"/>
              <a:buNone/>
              <a:defRPr/>
            </a:pPr>
            <a:r>
              <a:rPr lang="en-US" altLang="zh-CN" sz="1400" dirty="0" smtClean="0">
                <a:sym typeface="+mn-ea"/>
              </a:rPr>
              <a:t>10 }</a:t>
            </a:r>
            <a:endParaRPr lang="en-US" altLang="zh-CN" sz="14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通配符参数示例 </a:t>
            </a:r>
            <a:r>
              <a:rPr lang="en-US" altLang="zh-CN" sz="2400" smtClean="0">
                <a:ea typeface="宋体" panose="02010600030101010101" pitchFamily="2" charset="-122"/>
                <a:sym typeface="+mn-ea"/>
              </a:rPr>
              <a:t>— </a:t>
            </a:r>
            <a:r>
              <a:rPr lang="en-US" altLang="zh-CN" sz="2400" smtClean="0">
                <a:sym typeface="+mn-ea"/>
              </a:rPr>
              <a:t>CheckingAccount</a:t>
            </a:r>
            <a:r>
              <a:rPr lang="zh-CN" altLang="en-US" sz="2400" smtClean="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buFont typeface="Times"/>
              <a:buNone/>
              <a:defRPr/>
            </a:pPr>
            <a:r>
              <a:rPr lang="en-US" altLang="zh-CN" sz="1400" dirty="0" smtClean="0">
                <a:sym typeface="+mn-ea"/>
              </a:rPr>
              <a:t>1  public class </a:t>
            </a:r>
            <a:r>
              <a:rPr lang="en-US" altLang="zh-CN" sz="1400" dirty="0" err="1" smtClean="0">
                <a:sym typeface="+mn-ea"/>
              </a:rPr>
              <a:t>CheckingAccount</a:t>
            </a:r>
            <a:r>
              <a:rPr lang="en-US" altLang="zh-CN" sz="1400" dirty="0" smtClean="0">
                <a:sym typeface="+mn-ea"/>
              </a:rPr>
              <a:t> extends Account{</a:t>
            </a:r>
            <a:endParaRPr lang="en-US" altLang="zh-CN" sz="1400" dirty="0" smtClean="0">
              <a:ea typeface="+mn-ea"/>
            </a:endParaRPr>
          </a:p>
          <a:p>
            <a:pPr>
              <a:buFont typeface="Times"/>
              <a:buNone/>
              <a:defRPr/>
            </a:pPr>
            <a:r>
              <a:rPr lang="en-US" altLang="zh-CN" sz="1400" dirty="0" smtClean="0">
                <a:sym typeface="+mn-ea"/>
              </a:rPr>
              <a:t>2      private </a:t>
            </a:r>
            <a:r>
              <a:rPr lang="en-US" altLang="zh-CN" sz="1400" dirty="0" err="1" smtClean="0">
                <a:sym typeface="+mn-ea"/>
              </a:rPr>
              <a:t>int</a:t>
            </a:r>
            <a:r>
              <a:rPr lang="en-US" altLang="zh-CN" sz="1400" dirty="0" smtClean="0">
                <a:sym typeface="+mn-ea"/>
              </a:rPr>
              <a:t> </a:t>
            </a:r>
            <a:r>
              <a:rPr lang="en-US" altLang="zh-CN" sz="1400" dirty="0" err="1" smtClean="0">
                <a:sym typeface="+mn-ea"/>
              </a:rPr>
              <a:t>checknum</a:t>
            </a:r>
            <a:r>
              <a:rPr lang="en-US" altLang="zh-CN" sz="1400" dirty="0" smtClean="0">
                <a:sym typeface="+mn-ea"/>
              </a:rPr>
              <a:t>;</a:t>
            </a:r>
            <a:endParaRPr lang="en-US" altLang="zh-CN" sz="1400" dirty="0" smtClean="0">
              <a:ea typeface="+mn-ea"/>
            </a:endParaRPr>
          </a:p>
          <a:p>
            <a:pPr>
              <a:buFont typeface="Times"/>
              <a:buNone/>
              <a:defRPr/>
            </a:pPr>
            <a:r>
              <a:rPr lang="en-US" altLang="zh-CN" sz="1400" dirty="0" smtClean="0">
                <a:sym typeface="+mn-ea"/>
              </a:rPr>
              <a:t>3  </a:t>
            </a:r>
            <a:endParaRPr lang="en-US" altLang="zh-CN" sz="1400" dirty="0" smtClean="0">
              <a:ea typeface="+mn-ea"/>
            </a:endParaRPr>
          </a:p>
          <a:p>
            <a:pPr>
              <a:buFont typeface="Times"/>
              <a:buNone/>
              <a:defRPr/>
            </a:pPr>
            <a:r>
              <a:rPr lang="en-US" altLang="zh-CN" sz="1400" dirty="0" smtClean="0">
                <a:sym typeface="+mn-ea"/>
              </a:rPr>
              <a:t>4      public </a:t>
            </a:r>
            <a:r>
              <a:rPr lang="en-US" altLang="zh-CN" sz="1400" dirty="0" err="1" smtClean="0">
                <a:sym typeface="+mn-ea"/>
              </a:rPr>
              <a:t>CheckingAccount</a:t>
            </a:r>
            <a:r>
              <a:rPr lang="en-US" altLang="zh-CN" sz="1400" dirty="0" smtClean="0">
                <a:sym typeface="+mn-ea"/>
              </a:rPr>
              <a:t>(String name) {</a:t>
            </a:r>
            <a:endParaRPr lang="en-US" altLang="zh-CN" sz="1400" dirty="0" smtClean="0">
              <a:ea typeface="+mn-ea"/>
            </a:endParaRPr>
          </a:p>
          <a:p>
            <a:pPr>
              <a:buFont typeface="Times"/>
              <a:buNone/>
              <a:defRPr/>
            </a:pPr>
            <a:r>
              <a:rPr lang="en-US" altLang="zh-CN" sz="1400" dirty="0" smtClean="0">
                <a:sym typeface="+mn-ea"/>
              </a:rPr>
              <a:t>5          super(name);</a:t>
            </a:r>
            <a:endParaRPr lang="en-US" altLang="zh-CN" sz="1400" dirty="0" smtClean="0">
              <a:ea typeface="+mn-ea"/>
            </a:endParaRPr>
          </a:p>
          <a:p>
            <a:pPr>
              <a:buFont typeface="Times"/>
              <a:buNone/>
              <a:defRPr/>
            </a:pPr>
            <a:r>
              <a:rPr lang="en-US" altLang="zh-CN" sz="1400" dirty="0" smtClean="0">
                <a:sym typeface="+mn-ea"/>
              </a:rPr>
              <a:t>6          </a:t>
            </a:r>
            <a:r>
              <a:rPr lang="en-US" altLang="zh-CN" sz="1400" dirty="0" err="1" smtClean="0">
                <a:sym typeface="+mn-ea"/>
              </a:rPr>
              <a:t>setType</a:t>
            </a:r>
            <a:r>
              <a:rPr lang="en-US" altLang="zh-CN" sz="1400" dirty="0" smtClean="0">
                <a:sym typeface="+mn-ea"/>
              </a:rPr>
              <a:t>("</a:t>
            </a:r>
            <a:r>
              <a:rPr lang="en-US" altLang="zh-CN" sz="1400" dirty="0" err="1" smtClean="0">
                <a:sym typeface="+mn-ea"/>
              </a:rPr>
              <a:t>CheckingAccount</a:t>
            </a:r>
            <a:r>
              <a:rPr lang="en-US" altLang="zh-CN" sz="1400" dirty="0" smtClean="0">
                <a:sym typeface="+mn-ea"/>
              </a:rPr>
              <a:t>");</a:t>
            </a:r>
            <a:endParaRPr lang="en-US" altLang="zh-CN" sz="1400" dirty="0" smtClean="0">
              <a:ea typeface="+mn-ea"/>
            </a:endParaRPr>
          </a:p>
          <a:p>
            <a:pPr>
              <a:buFont typeface="Times"/>
              <a:buNone/>
              <a:defRPr/>
            </a:pPr>
            <a:r>
              <a:rPr lang="en-US" altLang="zh-CN" sz="1400" dirty="0" smtClean="0">
                <a:sym typeface="+mn-ea"/>
              </a:rPr>
              <a:t>7          </a:t>
            </a:r>
            <a:r>
              <a:rPr lang="en-US" altLang="zh-CN" sz="1400" dirty="0" err="1" smtClean="0">
                <a:sym typeface="+mn-ea"/>
              </a:rPr>
              <a:t>checknum</a:t>
            </a:r>
            <a:r>
              <a:rPr lang="en-US" altLang="zh-CN" sz="1400" dirty="0" smtClean="0">
                <a:sym typeface="+mn-ea"/>
              </a:rPr>
              <a:t> = 100;</a:t>
            </a:r>
            <a:endParaRPr lang="en-US" altLang="zh-CN" sz="1400" dirty="0" smtClean="0">
              <a:ea typeface="+mn-ea"/>
            </a:endParaRPr>
          </a:p>
          <a:p>
            <a:pPr>
              <a:buFont typeface="Times"/>
              <a:buNone/>
              <a:defRPr/>
            </a:pPr>
            <a:r>
              <a:rPr lang="en-US" altLang="zh-CN" sz="1400" dirty="0" smtClean="0">
                <a:sym typeface="+mn-ea"/>
              </a:rPr>
              <a:t>8      }</a:t>
            </a:r>
            <a:endParaRPr lang="en-US" altLang="zh-CN" sz="1400" dirty="0" smtClean="0">
              <a:ea typeface="+mn-ea"/>
            </a:endParaRPr>
          </a:p>
          <a:p>
            <a:pPr>
              <a:buFont typeface="Times"/>
              <a:buNone/>
              <a:defRPr/>
            </a:pPr>
            <a:r>
              <a:rPr lang="en-US" altLang="zh-CN" sz="1400" dirty="0" smtClean="0">
                <a:sym typeface="+mn-ea"/>
              </a:rPr>
              <a:t>9  </a:t>
            </a:r>
            <a:endParaRPr lang="en-US" altLang="zh-CN" sz="1400" dirty="0" smtClean="0">
              <a:ea typeface="+mn-ea"/>
            </a:endParaRPr>
          </a:p>
          <a:p>
            <a:pPr>
              <a:buFont typeface="Times"/>
              <a:buNone/>
              <a:defRPr/>
            </a:pPr>
            <a:r>
              <a:rPr lang="en-US" altLang="zh-CN" sz="1400" dirty="0" smtClean="0">
                <a:sym typeface="+mn-ea"/>
              </a:rPr>
              <a:t>10     //...</a:t>
            </a:r>
            <a:endParaRPr lang="en-US" altLang="zh-CN" sz="1400" dirty="0" smtClean="0">
              <a:ea typeface="+mn-ea"/>
            </a:endParaRPr>
          </a:p>
          <a:p>
            <a:pPr>
              <a:buFont typeface="Times"/>
              <a:buNone/>
              <a:defRPr/>
            </a:pPr>
            <a:r>
              <a:rPr lang="en-US" altLang="zh-CN" sz="1400" dirty="0" smtClean="0">
                <a:sym typeface="+mn-ea"/>
              </a:rPr>
              <a:t>11 }</a:t>
            </a:r>
            <a:endParaRPr lang="en-US" altLang="zh-CN" sz="14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通配符参数示例 </a:t>
            </a:r>
            <a:r>
              <a:rPr lang="en-US" altLang="zh-CN" sz="2400" smtClean="0">
                <a:ea typeface="宋体" panose="02010600030101010101" pitchFamily="2" charset="-122"/>
                <a:sym typeface="+mn-ea"/>
              </a:rPr>
              <a:t>— </a:t>
            </a:r>
            <a:r>
              <a:rPr lang="en-US" altLang="zh-CN" sz="2400" smtClean="0">
                <a:sym typeface="+mn-ea"/>
              </a:rPr>
              <a:t>TestWildcard</a:t>
            </a:r>
            <a:r>
              <a:rPr lang="zh-CN" altLang="en-US" sz="240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buFont typeface="Times"/>
              <a:buNone/>
              <a:defRPr/>
            </a:pPr>
            <a:r>
              <a:rPr lang="en-US" altLang="zh-CN" sz="1200" dirty="0" smtClean="0">
                <a:sym typeface="+mn-ea"/>
              </a:rPr>
              <a:t>1  import </a:t>
            </a:r>
            <a:r>
              <a:rPr lang="en-US" altLang="zh-CN" sz="1200" dirty="0" err="1" smtClean="0">
                <a:sym typeface="+mn-ea"/>
              </a:rPr>
              <a:t>java.util</a:t>
            </a:r>
            <a:r>
              <a:rPr lang="en-US" altLang="zh-CN" sz="1200" dirty="0" smtClean="0">
                <a:sym typeface="+mn-ea"/>
              </a:rPr>
              <a:t>.*;</a:t>
            </a:r>
            <a:endParaRPr lang="en-US" altLang="zh-CN" sz="1200" dirty="0" smtClean="0">
              <a:ea typeface="+mn-ea"/>
            </a:endParaRPr>
          </a:p>
          <a:p>
            <a:pPr>
              <a:buFont typeface="Times"/>
              <a:buNone/>
              <a:defRPr/>
            </a:pPr>
            <a:r>
              <a:rPr lang="en-US" altLang="zh-CN" sz="1200" dirty="0" smtClean="0">
                <a:sym typeface="+mn-ea"/>
              </a:rPr>
              <a:t>2  </a:t>
            </a:r>
            <a:endParaRPr lang="en-US" altLang="zh-CN" sz="1200" dirty="0" smtClean="0">
              <a:ea typeface="+mn-ea"/>
            </a:endParaRPr>
          </a:p>
          <a:p>
            <a:pPr>
              <a:buFont typeface="Times"/>
              <a:buNone/>
              <a:defRPr/>
            </a:pPr>
            <a:r>
              <a:rPr lang="en-US" altLang="zh-CN" sz="1200" dirty="0" smtClean="0">
                <a:sym typeface="+mn-ea"/>
              </a:rPr>
              <a:t>3  public class </a:t>
            </a:r>
            <a:r>
              <a:rPr lang="en-US" altLang="zh-CN" sz="1200" dirty="0" err="1" smtClean="0">
                <a:sym typeface="+mn-ea"/>
              </a:rPr>
              <a:t>TestWildcard</a:t>
            </a:r>
            <a:r>
              <a:rPr lang="en-US" altLang="zh-CN" sz="1200" dirty="0" smtClean="0">
                <a:sym typeface="+mn-ea"/>
              </a:rPr>
              <a:t>{</a:t>
            </a:r>
            <a:endParaRPr lang="en-US" altLang="zh-CN" sz="1200" dirty="0" smtClean="0">
              <a:ea typeface="+mn-ea"/>
            </a:endParaRPr>
          </a:p>
          <a:p>
            <a:pPr>
              <a:buFont typeface="Times"/>
              <a:buNone/>
              <a:defRPr/>
            </a:pPr>
            <a:r>
              <a:rPr lang="en-US" altLang="zh-CN" sz="1200" dirty="0" smtClean="0">
                <a:sym typeface="+mn-ea"/>
              </a:rPr>
              <a:t>4      public static void main(String[] </a:t>
            </a:r>
            <a:r>
              <a:rPr lang="en-US" altLang="zh-CN" sz="1200" dirty="0" err="1" smtClean="0">
                <a:sym typeface="+mn-ea"/>
              </a:rPr>
              <a:t>args</a:t>
            </a:r>
            <a:r>
              <a:rPr lang="en-US" altLang="zh-CN" sz="1200" dirty="0" smtClean="0">
                <a:sym typeface="+mn-ea"/>
              </a:rPr>
              <a:t>) {</a:t>
            </a:r>
            <a:endParaRPr lang="en-US" altLang="zh-CN" sz="1200" dirty="0" smtClean="0">
              <a:ea typeface="+mn-ea"/>
            </a:endParaRPr>
          </a:p>
          <a:p>
            <a:pPr>
              <a:buFont typeface="Times"/>
              <a:buNone/>
              <a:defRPr/>
            </a:pPr>
            <a:r>
              <a:rPr lang="en-US" altLang="zh-CN" sz="1200" dirty="0" smtClean="0">
                <a:sym typeface="+mn-ea"/>
              </a:rPr>
              <a:t>5          List&lt;</a:t>
            </a:r>
            <a:r>
              <a:rPr lang="en-US" altLang="zh-CN" sz="1200" dirty="0" err="1" smtClean="0">
                <a:sym typeface="+mn-ea"/>
              </a:rPr>
              <a:t>SavingsAccount</a:t>
            </a:r>
            <a:r>
              <a:rPr lang="en-US" altLang="zh-CN" sz="1200" dirty="0" smtClean="0">
                <a:sym typeface="+mn-ea"/>
              </a:rPr>
              <a:t>&gt; list1 = new </a:t>
            </a:r>
            <a:r>
              <a:rPr lang="en-US" altLang="zh-CN" sz="1200" dirty="0" err="1" smtClean="0">
                <a:sym typeface="+mn-ea"/>
              </a:rPr>
              <a:t>ArrayList</a:t>
            </a:r>
            <a:r>
              <a:rPr lang="en-US" altLang="zh-CN" sz="1200" dirty="0" smtClean="0">
                <a:sym typeface="+mn-ea"/>
              </a:rPr>
              <a:t>&lt;</a:t>
            </a:r>
            <a:r>
              <a:rPr lang="en-US" altLang="zh-CN" sz="1200" dirty="0" err="1" smtClean="0">
                <a:sym typeface="+mn-ea"/>
              </a:rPr>
              <a:t>SavingsAccount</a:t>
            </a:r>
            <a:r>
              <a:rPr lang="en-US" altLang="zh-CN" sz="1200" dirty="0" smtClean="0">
                <a:sym typeface="+mn-ea"/>
              </a:rPr>
              <a:t>&gt;();</a:t>
            </a:r>
            <a:endParaRPr lang="en-US" altLang="zh-CN" sz="1200" dirty="0" smtClean="0">
              <a:ea typeface="+mn-ea"/>
            </a:endParaRPr>
          </a:p>
          <a:p>
            <a:pPr>
              <a:buFont typeface="Times"/>
              <a:buNone/>
              <a:defRPr/>
            </a:pPr>
            <a:r>
              <a:rPr lang="en-US" altLang="zh-CN" sz="1200" dirty="0" smtClean="0">
                <a:sym typeface="+mn-ea"/>
              </a:rPr>
              <a:t>6          list1.add(new </a:t>
            </a:r>
            <a:r>
              <a:rPr lang="en-US" altLang="zh-CN" sz="1200" dirty="0" err="1" smtClean="0">
                <a:sym typeface="+mn-ea"/>
              </a:rPr>
              <a:t>SavingsAccount</a:t>
            </a:r>
            <a:r>
              <a:rPr lang="en-US" altLang="zh-CN" sz="1200" dirty="0" smtClean="0">
                <a:sym typeface="+mn-ea"/>
              </a:rPr>
              <a:t>("Oracle"));</a:t>
            </a:r>
            <a:endParaRPr lang="en-US" altLang="zh-CN" sz="1200" dirty="0" smtClean="0">
              <a:ea typeface="+mn-ea"/>
            </a:endParaRPr>
          </a:p>
          <a:p>
            <a:pPr>
              <a:buFont typeface="Times"/>
              <a:buNone/>
              <a:defRPr/>
            </a:pPr>
            <a:r>
              <a:rPr lang="en-US" altLang="zh-CN" sz="1200" dirty="0" smtClean="0">
                <a:sym typeface="+mn-ea"/>
              </a:rPr>
              <a:t>7          list1.add(new </a:t>
            </a:r>
            <a:r>
              <a:rPr lang="en-US" altLang="zh-CN" sz="1200" dirty="0" err="1" smtClean="0">
                <a:sym typeface="+mn-ea"/>
              </a:rPr>
              <a:t>SavingsAccount</a:t>
            </a:r>
            <a:r>
              <a:rPr lang="en-US" altLang="zh-CN" sz="1200" dirty="0" smtClean="0">
                <a:sym typeface="+mn-ea"/>
              </a:rPr>
              <a:t>("IBM"));</a:t>
            </a:r>
            <a:endParaRPr lang="en-US" altLang="zh-CN" sz="1200" dirty="0" smtClean="0">
              <a:ea typeface="+mn-ea"/>
            </a:endParaRPr>
          </a:p>
          <a:p>
            <a:pPr>
              <a:buFont typeface="Times"/>
              <a:buNone/>
              <a:defRPr/>
            </a:pPr>
            <a:r>
              <a:rPr lang="en-US" altLang="zh-CN" sz="1200" dirty="0" smtClean="0">
                <a:sym typeface="+mn-ea"/>
              </a:rPr>
              <a:t>8          </a:t>
            </a:r>
            <a:r>
              <a:rPr lang="en-US" altLang="zh-CN" sz="1200" dirty="0" err="1" smtClean="0">
                <a:sym typeface="+mn-ea"/>
              </a:rPr>
              <a:t>printIds</a:t>
            </a:r>
            <a:r>
              <a:rPr lang="en-US" altLang="zh-CN" sz="1200" dirty="0" smtClean="0">
                <a:sym typeface="+mn-ea"/>
              </a:rPr>
              <a:t>(list1);</a:t>
            </a:r>
            <a:endParaRPr lang="en-US" altLang="zh-CN" sz="1200" dirty="0" smtClean="0">
              <a:ea typeface="+mn-ea"/>
            </a:endParaRPr>
          </a:p>
          <a:p>
            <a:pPr>
              <a:buFont typeface="Times"/>
              <a:buNone/>
              <a:defRPr/>
            </a:pPr>
            <a:r>
              <a:rPr lang="en-US" altLang="zh-CN" sz="1200" dirty="0" smtClean="0">
                <a:sym typeface="+mn-ea"/>
              </a:rPr>
              <a:t>9  </a:t>
            </a:r>
            <a:endParaRPr lang="en-US" altLang="zh-CN" sz="1200" dirty="0" smtClean="0">
              <a:ea typeface="+mn-ea"/>
            </a:endParaRPr>
          </a:p>
          <a:p>
            <a:pPr>
              <a:buFont typeface="Times"/>
              <a:buNone/>
              <a:defRPr/>
            </a:pPr>
            <a:r>
              <a:rPr lang="en-US" altLang="zh-CN" sz="1200" dirty="0" smtClean="0">
                <a:sym typeface="+mn-ea"/>
              </a:rPr>
              <a:t>10         List&lt;</a:t>
            </a:r>
            <a:r>
              <a:rPr lang="en-US" altLang="zh-CN" sz="1200" dirty="0" err="1" smtClean="0">
                <a:sym typeface="+mn-ea"/>
              </a:rPr>
              <a:t>CheckingAccount</a:t>
            </a:r>
            <a:r>
              <a:rPr lang="en-US" altLang="zh-CN" sz="1200" dirty="0" smtClean="0">
                <a:sym typeface="+mn-ea"/>
              </a:rPr>
              <a:t>&gt; list2 = new </a:t>
            </a:r>
            <a:r>
              <a:rPr lang="en-US" altLang="zh-CN" sz="1200" dirty="0" err="1" smtClean="0">
                <a:sym typeface="+mn-ea"/>
              </a:rPr>
              <a:t>ArrayList</a:t>
            </a:r>
            <a:r>
              <a:rPr lang="en-US" altLang="zh-CN" sz="1200" dirty="0" smtClean="0">
                <a:sym typeface="+mn-ea"/>
              </a:rPr>
              <a:t>&lt;</a:t>
            </a:r>
            <a:r>
              <a:rPr lang="en-US" altLang="zh-CN" sz="1200" dirty="0" err="1" smtClean="0">
                <a:sym typeface="+mn-ea"/>
              </a:rPr>
              <a:t>CheckingAccount</a:t>
            </a:r>
            <a:r>
              <a:rPr lang="en-US" altLang="zh-CN" sz="1200" dirty="0" smtClean="0">
                <a:sym typeface="+mn-ea"/>
              </a:rPr>
              <a:t>&gt;();</a:t>
            </a:r>
            <a:endParaRPr lang="en-US" altLang="zh-CN" sz="1200" dirty="0" smtClean="0">
              <a:ea typeface="+mn-ea"/>
            </a:endParaRPr>
          </a:p>
          <a:p>
            <a:pPr>
              <a:buFont typeface="Times"/>
              <a:buNone/>
              <a:defRPr/>
            </a:pPr>
            <a:r>
              <a:rPr lang="en-US" altLang="zh-CN" sz="1200" dirty="0" smtClean="0">
                <a:sym typeface="+mn-ea"/>
              </a:rPr>
              <a:t>11         list2.add(new </a:t>
            </a:r>
            <a:r>
              <a:rPr lang="en-US" altLang="zh-CN" sz="1200" dirty="0" err="1" smtClean="0">
                <a:sym typeface="+mn-ea"/>
              </a:rPr>
              <a:t>CheckingAccount</a:t>
            </a:r>
            <a:r>
              <a:rPr lang="en-US" altLang="zh-CN" sz="1200" dirty="0" smtClean="0">
                <a:sym typeface="+mn-ea"/>
              </a:rPr>
              <a:t>("Fred"));</a:t>
            </a:r>
            <a:endParaRPr lang="en-US" altLang="zh-CN" sz="1200" dirty="0" smtClean="0">
              <a:ea typeface="+mn-ea"/>
            </a:endParaRPr>
          </a:p>
          <a:p>
            <a:pPr>
              <a:buFont typeface="Times"/>
              <a:buNone/>
              <a:defRPr/>
            </a:pPr>
            <a:r>
              <a:rPr lang="en-US" altLang="zh-CN" sz="1200" dirty="0" smtClean="0">
                <a:sym typeface="+mn-ea"/>
              </a:rPr>
              <a:t>12         list2.add(new </a:t>
            </a:r>
            <a:r>
              <a:rPr lang="en-US" altLang="zh-CN" sz="1200" dirty="0" err="1" smtClean="0">
                <a:sym typeface="+mn-ea"/>
              </a:rPr>
              <a:t>CheckingAccount</a:t>
            </a:r>
            <a:r>
              <a:rPr lang="en-US" altLang="zh-CN" sz="1200" dirty="0" smtClean="0">
                <a:sym typeface="+mn-ea"/>
              </a:rPr>
              <a:t>("Smith"));</a:t>
            </a:r>
            <a:endParaRPr lang="en-US" altLang="zh-CN" sz="1200" dirty="0" smtClean="0">
              <a:ea typeface="+mn-ea"/>
            </a:endParaRPr>
          </a:p>
          <a:p>
            <a:pPr>
              <a:buFont typeface="Times"/>
              <a:buNone/>
              <a:defRPr/>
            </a:pPr>
            <a:r>
              <a:rPr lang="en-US" altLang="zh-CN" sz="1200" dirty="0" smtClean="0">
                <a:sym typeface="+mn-ea"/>
              </a:rPr>
              <a:t>13         </a:t>
            </a:r>
            <a:r>
              <a:rPr lang="en-US" altLang="zh-CN" sz="1200" dirty="0" err="1" smtClean="0">
                <a:sym typeface="+mn-ea"/>
              </a:rPr>
              <a:t>printIds</a:t>
            </a:r>
            <a:r>
              <a:rPr lang="en-US" altLang="zh-CN" sz="1200" dirty="0" smtClean="0">
                <a:sym typeface="+mn-ea"/>
              </a:rPr>
              <a:t>(list2);</a:t>
            </a:r>
            <a:endParaRPr lang="en-US" altLang="zh-CN" sz="1200" dirty="0" smtClean="0">
              <a:ea typeface="+mn-ea"/>
            </a:endParaRPr>
          </a:p>
          <a:p>
            <a:pPr>
              <a:buFont typeface="Times"/>
              <a:buNone/>
              <a:defRPr/>
            </a:pPr>
            <a:r>
              <a:rPr lang="en-US" altLang="zh-CN" sz="1200" dirty="0" smtClean="0">
                <a:sym typeface="+mn-ea"/>
              </a:rPr>
              <a:t>14 </a:t>
            </a:r>
            <a:endParaRPr lang="en-US" altLang="zh-CN" sz="1200" dirty="0" smtClean="0">
              <a:ea typeface="+mn-ea"/>
            </a:endParaRPr>
          </a:p>
          <a:p>
            <a:pPr>
              <a:buFont typeface="Times"/>
              <a:buNone/>
              <a:defRPr/>
            </a:pPr>
            <a:r>
              <a:rPr lang="en-US" altLang="zh-CN" sz="1200" dirty="0" smtClean="0">
                <a:sym typeface="+mn-ea"/>
              </a:rPr>
              <a:t>15         List&lt;Account&gt; list3 = new </a:t>
            </a:r>
            <a:r>
              <a:rPr lang="en-US" altLang="zh-CN" sz="1200" dirty="0" err="1" smtClean="0">
                <a:sym typeface="+mn-ea"/>
              </a:rPr>
              <a:t>ArrayList</a:t>
            </a:r>
            <a:r>
              <a:rPr lang="en-US" altLang="zh-CN" sz="1200" dirty="0" smtClean="0">
                <a:sym typeface="+mn-ea"/>
              </a:rPr>
              <a:t>&lt;Account&gt;();</a:t>
            </a:r>
            <a:endParaRPr lang="en-US" altLang="zh-CN" sz="1200" dirty="0" smtClean="0">
              <a:ea typeface="+mn-ea"/>
            </a:endParaRPr>
          </a:p>
          <a:p>
            <a:pPr>
              <a:buFont typeface="Times"/>
              <a:buNone/>
              <a:defRPr/>
            </a:pPr>
            <a:r>
              <a:rPr lang="en-US" altLang="zh-CN" sz="1200" dirty="0" smtClean="0">
                <a:sym typeface="+mn-ea"/>
              </a:rPr>
              <a:t>16         list3.add(new Account("user1"));</a:t>
            </a:r>
            <a:endParaRPr lang="en-US" altLang="zh-CN" sz="1200" dirty="0" smtClean="0">
              <a:ea typeface="+mn-ea"/>
            </a:endParaRPr>
          </a:p>
          <a:p>
            <a:pPr>
              <a:buFont typeface="Times"/>
              <a:buNone/>
              <a:defRPr/>
            </a:pPr>
            <a:r>
              <a:rPr lang="en-US" altLang="zh-CN" sz="1200" dirty="0" smtClean="0">
                <a:sym typeface="+mn-ea"/>
              </a:rPr>
              <a:t>17         list3.add(new Account("user1"));</a:t>
            </a:r>
            <a:endParaRPr lang="en-US" altLang="zh-CN" sz="1200" dirty="0" smtClean="0">
              <a:ea typeface="+mn-ea"/>
            </a:endParaRPr>
          </a:p>
          <a:p>
            <a:pPr>
              <a:buFont typeface="Times"/>
              <a:buNone/>
              <a:defRPr/>
            </a:pPr>
            <a:r>
              <a:rPr lang="en-US" altLang="zh-CN" sz="1200" dirty="0" smtClean="0">
                <a:sym typeface="+mn-ea"/>
              </a:rPr>
              <a:t>18         </a:t>
            </a:r>
            <a:r>
              <a:rPr lang="en-US" altLang="zh-CN" sz="1200" dirty="0" err="1" smtClean="0">
                <a:sym typeface="+mn-ea"/>
              </a:rPr>
              <a:t>printIds</a:t>
            </a:r>
            <a:r>
              <a:rPr lang="en-US" altLang="zh-CN" sz="1200" dirty="0" smtClean="0">
                <a:sym typeface="+mn-ea"/>
              </a:rPr>
              <a:t>(list3);</a:t>
            </a:r>
            <a:endParaRPr lang="en-US" altLang="zh-CN" sz="12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通配符参数示例 </a:t>
            </a:r>
            <a:r>
              <a:rPr lang="en-US" altLang="zh-CN" sz="2400" smtClean="0">
                <a:ea typeface="宋体" panose="02010600030101010101" pitchFamily="2" charset="-122"/>
                <a:sym typeface="+mn-ea"/>
              </a:rPr>
              <a:t>— </a:t>
            </a:r>
            <a:r>
              <a:rPr lang="en-US" altLang="zh-CN" sz="2400" smtClean="0">
                <a:sym typeface="+mn-ea"/>
              </a:rPr>
              <a:t>TestWildcard</a:t>
            </a:r>
            <a:r>
              <a:rPr lang="zh-CN" altLang="en-US" sz="240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08</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buFont typeface="Times"/>
              <a:buNone/>
              <a:defRPr/>
            </a:pPr>
            <a:r>
              <a:rPr lang="en-US" altLang="zh-CN" sz="1200" dirty="0" smtClean="0">
                <a:sym typeface="+mn-ea"/>
              </a:rPr>
              <a:t>19     }</a:t>
            </a:r>
            <a:endParaRPr lang="en-US" altLang="zh-CN" sz="1200" dirty="0" smtClean="0">
              <a:ea typeface="+mn-ea"/>
            </a:endParaRPr>
          </a:p>
          <a:p>
            <a:pPr>
              <a:buFont typeface="Times"/>
              <a:buNone/>
              <a:defRPr/>
            </a:pPr>
            <a:r>
              <a:rPr lang="en-US" altLang="zh-CN" sz="1200" dirty="0" smtClean="0">
                <a:sym typeface="+mn-ea"/>
              </a:rPr>
              <a:t>20 </a:t>
            </a:r>
            <a:endParaRPr lang="en-US" altLang="zh-CN" sz="1200" dirty="0" smtClean="0">
              <a:ea typeface="+mn-ea"/>
            </a:endParaRPr>
          </a:p>
          <a:p>
            <a:pPr>
              <a:buFont typeface="Times"/>
              <a:buNone/>
              <a:defRPr/>
            </a:pPr>
            <a:r>
              <a:rPr lang="en-US" altLang="zh-CN" sz="1200" dirty="0" smtClean="0">
                <a:sym typeface="+mn-ea"/>
              </a:rPr>
              <a:t>21     public static void </a:t>
            </a:r>
            <a:r>
              <a:rPr lang="en-US" altLang="zh-CN" sz="1200" dirty="0" err="1" smtClean="0">
                <a:sym typeface="+mn-ea"/>
              </a:rPr>
              <a:t>printIds</a:t>
            </a:r>
            <a:r>
              <a:rPr lang="en-US" altLang="zh-CN" sz="1200" dirty="0" smtClean="0">
                <a:sym typeface="+mn-ea"/>
              </a:rPr>
              <a:t>(List&lt;? extends Account&gt; list) {</a:t>
            </a:r>
            <a:endParaRPr lang="en-US" altLang="zh-CN" sz="1200" dirty="0" smtClean="0">
              <a:ea typeface="+mn-ea"/>
            </a:endParaRPr>
          </a:p>
          <a:p>
            <a:pPr>
              <a:buFont typeface="Times"/>
              <a:buNone/>
              <a:defRPr/>
            </a:pPr>
            <a:r>
              <a:rPr lang="en-US" altLang="zh-CN" sz="1200" dirty="0" smtClean="0">
                <a:sym typeface="+mn-ea"/>
              </a:rPr>
              <a:t>22         </a:t>
            </a:r>
            <a:r>
              <a:rPr lang="en-US" altLang="zh-CN" sz="1200" dirty="0" err="1" smtClean="0">
                <a:sym typeface="+mn-ea"/>
              </a:rPr>
              <a:t>System.out.println</a:t>
            </a:r>
            <a:r>
              <a:rPr lang="en-US" altLang="zh-CN" sz="1200" dirty="0" smtClean="0">
                <a:sym typeface="+mn-ea"/>
              </a:rPr>
              <a:t>(list);</a:t>
            </a:r>
            <a:endParaRPr lang="en-US" altLang="zh-CN" sz="1200" dirty="0" smtClean="0">
              <a:ea typeface="+mn-ea"/>
            </a:endParaRPr>
          </a:p>
          <a:p>
            <a:pPr>
              <a:buFont typeface="Times"/>
              <a:buNone/>
              <a:defRPr/>
            </a:pPr>
            <a:r>
              <a:rPr lang="en-US" altLang="zh-CN" sz="1200" dirty="0" smtClean="0">
                <a:sym typeface="+mn-ea"/>
              </a:rPr>
              <a:t>23     }</a:t>
            </a:r>
            <a:endParaRPr lang="en-US" altLang="zh-CN" sz="1200" dirty="0" smtClean="0">
              <a:ea typeface="+mn-ea"/>
            </a:endParaRPr>
          </a:p>
          <a:p>
            <a:pPr>
              <a:buFont typeface="Times"/>
              <a:buNone/>
              <a:defRPr/>
            </a:pPr>
            <a:r>
              <a:rPr lang="en-US" altLang="zh-CN" sz="1200" dirty="0" smtClean="0">
                <a:sym typeface="+mn-ea"/>
              </a:rPr>
              <a:t>24 }</a:t>
            </a:r>
            <a:endParaRPr lang="en-US" altLang="zh-CN" sz="12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09</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编写程序，在类中声明一个calcSum方法，该方法可接收泛型类型参数为Integer或Float的集合，在方法中打印输出集合中所有元素，并计算和打印所有元素的整数和；</a:t>
            </a:r>
            <a:endParaRPr lang="zh-CN" altLang="en-US" sz="200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在main方法中：</a:t>
            </a:r>
            <a:endParaRPr lang="zh-CN" altLang="en-US" sz="2000" smtClean="0">
              <a:ea typeface="宋体" panose="02010600030101010101" pitchFamily="2" charset="-122"/>
            </a:endParaRPr>
          </a:p>
          <a:p>
            <a:pPr marL="800100" lvl="1" indent="-355600"/>
            <a:r>
              <a:rPr lang="zh-CN" altLang="en-US" sz="2000" smtClean="0">
                <a:ea typeface="宋体" panose="02010600030101010101" pitchFamily="2" charset="-122"/>
                <a:sym typeface="+mn-ea"/>
              </a:rPr>
              <a:t>创建一个</a:t>
            </a:r>
            <a:r>
              <a:rPr lang="en-US" altLang="zh-CN" sz="2000" smtClean="0">
                <a:ea typeface="宋体" panose="02010600030101010101" pitchFamily="2" charset="-122"/>
                <a:sym typeface="+mn-ea"/>
              </a:rPr>
              <a:t>List&lt; Integer &gt;</a:t>
            </a:r>
            <a:r>
              <a:rPr lang="zh-CN" altLang="en-US" sz="2000" smtClean="0">
                <a:ea typeface="宋体" panose="02010600030101010101" pitchFamily="2" charset="-122"/>
                <a:sym typeface="+mn-ea"/>
              </a:rPr>
              <a:t>类型的集合，保存</a:t>
            </a:r>
            <a:r>
              <a:rPr lang="en-US" altLang="zh-CN" sz="2000" smtClean="0">
                <a:ea typeface="宋体" panose="02010600030101010101" pitchFamily="2" charset="-122"/>
                <a:sym typeface="+mn-ea"/>
              </a:rPr>
              <a:t>10</a:t>
            </a:r>
            <a:r>
              <a:rPr lang="zh-CN" altLang="en-US" sz="2000" smtClean="0">
                <a:ea typeface="宋体" panose="02010600030101010101" pitchFamily="2" charset="-122"/>
                <a:sym typeface="+mn-ea"/>
              </a:rPr>
              <a:t>个</a:t>
            </a:r>
            <a:r>
              <a:rPr lang="en-US" altLang="zh-CN" sz="2000" smtClean="0">
                <a:ea typeface="宋体" panose="02010600030101010101" pitchFamily="2" charset="-122"/>
                <a:sym typeface="+mn-ea"/>
              </a:rPr>
              <a:t>100</a:t>
            </a:r>
            <a:r>
              <a:rPr lang="zh-CN" altLang="en-US" sz="2000" smtClean="0">
                <a:ea typeface="宋体" panose="02010600030101010101" pitchFamily="2" charset="-122"/>
                <a:sym typeface="+mn-ea"/>
              </a:rPr>
              <a:t>以内的随机整数，然后调用</a:t>
            </a:r>
            <a:r>
              <a:rPr lang="en-US" altLang="zh-CN" sz="2000" smtClean="0">
                <a:ea typeface="宋体" panose="02010600030101010101" pitchFamily="2" charset="-122"/>
                <a:sym typeface="+mn-ea"/>
              </a:rPr>
              <a:t>calcSum</a:t>
            </a:r>
            <a:r>
              <a:rPr lang="zh-CN" altLang="en-US" sz="2000" smtClean="0">
                <a:ea typeface="宋体" panose="02010600030101010101" pitchFamily="2" charset="-122"/>
                <a:sym typeface="+mn-ea"/>
              </a:rPr>
              <a:t>计算总和</a:t>
            </a:r>
            <a:endParaRPr lang="en-US" altLang="zh-CN" sz="2000" smtClean="0">
              <a:ea typeface="宋体" panose="02010600030101010101" pitchFamily="2" charset="-122"/>
            </a:endParaRPr>
          </a:p>
          <a:p>
            <a:pPr marL="800100" lvl="1" indent="-355600"/>
            <a:r>
              <a:rPr lang="zh-CN" altLang="en-US" sz="2000" smtClean="0">
                <a:ea typeface="宋体" panose="02010600030101010101" pitchFamily="2" charset="-122"/>
                <a:sym typeface="+mn-ea"/>
              </a:rPr>
              <a:t>创建一个</a:t>
            </a:r>
            <a:r>
              <a:rPr lang="en-US" altLang="zh-CN" sz="2000" smtClean="0">
                <a:ea typeface="宋体" panose="02010600030101010101" pitchFamily="2" charset="-122"/>
                <a:sym typeface="+mn-ea"/>
              </a:rPr>
              <a:t>List&lt; Float&gt;</a:t>
            </a:r>
            <a:r>
              <a:rPr lang="zh-CN" altLang="en-US" sz="2000" smtClean="0">
                <a:ea typeface="宋体" panose="02010600030101010101" pitchFamily="2" charset="-122"/>
                <a:sym typeface="+mn-ea"/>
              </a:rPr>
              <a:t>类型的集合，保存</a:t>
            </a:r>
            <a:r>
              <a:rPr lang="en-US" altLang="zh-CN" sz="2000" smtClean="0">
                <a:ea typeface="宋体" panose="02010600030101010101" pitchFamily="2" charset="-122"/>
                <a:sym typeface="+mn-ea"/>
              </a:rPr>
              <a:t>10</a:t>
            </a:r>
            <a:r>
              <a:rPr lang="zh-CN" altLang="en-US" sz="2000" smtClean="0">
                <a:ea typeface="宋体" panose="02010600030101010101" pitchFamily="2" charset="-122"/>
                <a:sym typeface="+mn-ea"/>
              </a:rPr>
              <a:t>个</a:t>
            </a:r>
            <a:r>
              <a:rPr lang="en-US" altLang="zh-CN" sz="2000" smtClean="0">
                <a:ea typeface="宋体" panose="02010600030101010101" pitchFamily="2" charset="-122"/>
                <a:sym typeface="+mn-ea"/>
              </a:rPr>
              <a:t>100</a:t>
            </a:r>
            <a:r>
              <a:rPr lang="zh-CN" altLang="en-US" sz="2000" smtClean="0">
                <a:ea typeface="宋体" panose="02010600030101010101" pitchFamily="2" charset="-122"/>
                <a:sym typeface="+mn-ea"/>
              </a:rPr>
              <a:t>以内的随机小数，然后调用</a:t>
            </a:r>
            <a:r>
              <a:rPr lang="en-US" altLang="zh-CN" sz="2000" smtClean="0">
                <a:ea typeface="宋体" panose="02010600030101010101" pitchFamily="2" charset="-122"/>
                <a:sym typeface="+mn-ea"/>
              </a:rPr>
              <a:t>calcSum</a:t>
            </a:r>
            <a:r>
              <a:rPr lang="zh-CN" altLang="en-US" sz="2000" smtClean="0">
                <a:ea typeface="宋体" panose="02010600030101010101" pitchFamily="2" charset="-122"/>
                <a:sym typeface="+mn-ea"/>
              </a:rPr>
              <a:t>计算总和</a:t>
            </a:r>
            <a:endParaRPr lang="en-US" altLang="zh-CN" sz="200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startAt="3"/>
            </a:pPr>
            <a:r>
              <a:rPr lang="zh-CN" altLang="en-US" sz="2000" smtClean="0">
                <a:ea typeface="宋体" panose="02010600030101010101" pitchFamily="2" charset="-122"/>
                <a:sym typeface="+mn-ea"/>
              </a:rPr>
              <a:t>注：在java.lang包中，Number是Integer类和Float类的父类。</a:t>
            </a:r>
            <a:endParaRPr lang="zh-CN" altLang="en-US" sz="2000" smtClean="0">
              <a:ea typeface="宋体" panose="02010600030101010101" pitchFamily="2" charset="-122"/>
            </a:endParaRPr>
          </a:p>
          <a:p>
            <a:pPr marL="457200" lvl="1" indent="-457200" algn="l">
              <a:lnSpc>
                <a:spcPct val="110000"/>
              </a:lnSpc>
              <a:spcBef>
                <a:spcPts val="1000"/>
              </a:spcBef>
              <a:buClr>
                <a:srgbClr val="ED7D31"/>
              </a:buClr>
              <a:buSzTx/>
              <a:buFont typeface="+mj-lt"/>
              <a:buAutoNum type="arabicPeriod"/>
            </a:pPr>
            <a:endParaRPr lang="zh-CN" altLang="en-US" sz="2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pic>
        <p:nvPicPr>
          <p:cNvPr id="6" name="图片 5" descr="5d0495981e06a4beefc1a7ac3c41024d"/>
          <p:cNvPicPr>
            <a:picLocks noChangeAspect="1"/>
          </p:cNvPicPr>
          <p:nvPr>
            <p:custDataLst>
              <p:tags r:id="rId1"/>
            </p:custDataLst>
          </p:nvPr>
        </p:nvPicPr>
        <p:blipFill>
          <a:blip r:embed="rId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3"/>
            </p:custDataLst>
          </p:nvPr>
        </p:nvPicPr>
        <p:blipFill>
          <a:blip r:embed="rId2"/>
          <a:srcRect l="30697"/>
          <a:stretch>
            <a:fillRect/>
          </a:stretch>
        </p:blipFill>
        <p:spPr>
          <a:xfrm>
            <a:off x="8673465" y="-348615"/>
            <a:ext cx="5215255" cy="1497965"/>
          </a:xfrm>
          <a:prstGeom prst="rect">
            <a:avLst/>
          </a:prstGeom>
        </p:spPr>
      </p:pic>
      <p:sp>
        <p:nvSpPr>
          <p:cNvPr id="24" name="直角三角形 23"/>
          <p:cNvSpPr/>
          <p:nvPr>
            <p:custDataLst>
              <p:tags r:id="rId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4209415" y="1847215"/>
            <a:ext cx="0" cy="315595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1167765" y="2648585"/>
            <a:ext cx="2912110" cy="1383665"/>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第五章</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noProof="0" dirty="0" smtClean="0">
                <a:ln>
                  <a:noFill/>
                </a:ln>
                <a:solidFill>
                  <a:srgbClr val="000000"/>
                </a:solidFill>
                <a:effectLst/>
                <a:uLnTx/>
                <a:uFillTx/>
                <a:latin typeface="思源黑体 CN Bold" panose="020B0800000000000000" pitchFamily="34" charset="-122"/>
                <a:ea typeface="宋体" panose="02010600030101010101" pitchFamily="2" charset="-122"/>
                <a:sym typeface="+mn-ea"/>
              </a:rPr>
              <a:t>I/O</a:t>
            </a:r>
            <a:r>
              <a:rPr lang="zh-CN" altLang="en-US" sz="2400" noProof="0" dirty="0" smtClean="0">
                <a:ln>
                  <a:noFill/>
                </a:ln>
                <a:solidFill>
                  <a:srgbClr val="000000"/>
                </a:solidFill>
                <a:effectLst/>
                <a:uLnTx/>
                <a:uFillTx/>
                <a:latin typeface="思源黑体 CN Bold" panose="020B0800000000000000" pitchFamily="34" charset="-122"/>
                <a:ea typeface="宋体" panose="02010600030101010101" pitchFamily="2" charset="-122"/>
                <a:sym typeface="+mn-ea"/>
              </a:rPr>
              <a:t>数据访问</a:t>
            </a:r>
            <a:endParaRPr kumimoji="0" lang="zh-CN" sz="2400" b="1" i="0" u="none" strike="noStrike" kern="1200" cap="none" spc="300" normalizeH="0" baseline="0" noProof="0" dirty="0" smtClean="0">
              <a:ln>
                <a:noFill/>
              </a:ln>
              <a:solidFill>
                <a:srgbClr val="002060"/>
              </a:solidFill>
              <a:effectLst/>
              <a:uLnTx/>
              <a:uFillTx/>
              <a:latin typeface="Arial" panose="020B0604020202020204" pitchFamily="34" charset="0"/>
              <a:ea typeface="宋体" panose="02010600030101010101" pitchFamily="2" charset="-122"/>
              <a:sym typeface="+mn-ea"/>
            </a:endParaRPr>
          </a:p>
        </p:txBody>
      </p:sp>
      <p:sp>
        <p:nvSpPr>
          <p:cNvPr id="4" name="矩形 3"/>
          <p:cNvSpPr/>
          <p:nvPr/>
        </p:nvSpPr>
        <p:spPr>
          <a:xfrm>
            <a:off x="4618355" y="2190115"/>
            <a:ext cx="5104130" cy="2158365"/>
          </a:xfrm>
          <a:prstGeom prst="rect">
            <a:avLst/>
          </a:prstGeom>
          <a:noFill/>
        </p:spPr>
        <p:txBody>
          <a:bodyPr wrap="square" rtlCol="0">
            <a:spAutoFit/>
          </a:bodyPr>
          <a:p>
            <a:pPr marL="457200" indent="-457200" algn="l">
              <a:lnSpc>
                <a:spcPct val="140000"/>
              </a:lnSpc>
              <a:buClrTx/>
              <a:buSzTx/>
              <a:buFont typeface="+mj-lt"/>
              <a:buAutoNum type="arabicPeriod"/>
            </a:pPr>
            <a:r>
              <a:rPr lang="en-US" altLang="zh-CN" sz="2400" noProof="0" dirty="0">
                <a:ln>
                  <a:noFill/>
                </a:ln>
                <a:effectLst/>
                <a:uLnTx/>
                <a:uFillTx/>
                <a:latin typeface="华文宋体" panose="02010600040101010101" charset="-122"/>
                <a:ea typeface="华文宋体" panose="02010600040101010101" charset="-122"/>
                <a:cs typeface="华文宋体" panose="02010600040101010101" charset="-122"/>
                <a:sym typeface="+mn-ea"/>
              </a:rPr>
              <a:t>I/O流与文本文件</a:t>
            </a:r>
            <a:endParaRPr lang="en-US" altLang="zh-CN" sz="2400" noProof="0" dirty="0">
              <a:ln>
                <a:noFill/>
              </a:ln>
              <a:effectLst/>
              <a:uLnTx/>
              <a:uFillTx/>
              <a:latin typeface="华文宋体" panose="02010600040101010101" charset="-122"/>
              <a:ea typeface="华文宋体" panose="02010600040101010101" charset="-122"/>
              <a:cs typeface="华文宋体" panose="02010600040101010101" charset="-122"/>
            </a:endParaRPr>
          </a:p>
          <a:p>
            <a:pPr marL="457200" indent="-457200" algn="l">
              <a:lnSpc>
                <a:spcPct val="140000"/>
              </a:lnSpc>
              <a:buClrTx/>
              <a:buSzTx/>
              <a:buFont typeface="+mj-lt"/>
              <a:buAutoNum type="arabicPeriod"/>
            </a:pPr>
            <a:r>
              <a:rPr lang="en-US" altLang="zh-CN" sz="2400" noProof="0" dirty="0">
                <a:ln>
                  <a:noFill/>
                </a:ln>
                <a:solidFill>
                  <a:schemeClr val="accent2"/>
                </a:solidFill>
                <a:effectLst/>
                <a:uLnTx/>
                <a:uFillTx/>
                <a:latin typeface="华文宋体" panose="02010600040101010101" charset="-122"/>
                <a:ea typeface="华文宋体" panose="02010600040101010101" charset="-122"/>
                <a:cs typeface="华文宋体" panose="02010600040101010101" charset="-122"/>
                <a:sym typeface="+mn-ea"/>
              </a:rPr>
              <a:t>字符流的包装与链接</a:t>
            </a:r>
            <a:endParaRPr lang="en-US" altLang="zh-CN" sz="2400" noProof="0" dirty="0">
              <a:ln>
                <a:noFill/>
              </a:ln>
              <a:solidFill>
                <a:schemeClr val="accent2"/>
              </a:solidFill>
              <a:effectLst/>
              <a:uLnTx/>
              <a:uFillTx/>
              <a:latin typeface="华文宋体" panose="02010600040101010101" charset="-122"/>
              <a:ea typeface="华文宋体" panose="02010600040101010101" charset="-122"/>
              <a:cs typeface="华文宋体" panose="02010600040101010101" charset="-122"/>
            </a:endParaRPr>
          </a:p>
          <a:p>
            <a:pPr marL="457200" indent="-457200" algn="l">
              <a:lnSpc>
                <a:spcPct val="140000"/>
              </a:lnSpc>
              <a:buClrTx/>
              <a:buSzTx/>
              <a:buFont typeface="+mj-lt"/>
              <a:buAutoNum type="arabicPeriod"/>
            </a:pPr>
            <a:r>
              <a:rPr lang="en-US" altLang="zh-CN" sz="2400" noProof="0" dirty="0">
                <a:ln>
                  <a:noFill/>
                </a:ln>
                <a:effectLst/>
                <a:uLnTx/>
                <a:uFillTx/>
                <a:latin typeface="华文宋体" panose="02010600040101010101" charset="-122"/>
                <a:ea typeface="华文宋体" panose="02010600040101010101" charset="-122"/>
                <a:cs typeface="华文宋体" panose="02010600040101010101" charset="-122"/>
                <a:sym typeface="+mn-ea"/>
              </a:rPr>
              <a:t>字节流的包装与链接</a:t>
            </a:r>
            <a:endParaRPr lang="en-US" altLang="zh-CN" sz="2400" noProof="0" dirty="0">
              <a:ln>
                <a:noFill/>
              </a:ln>
              <a:effectLst/>
              <a:uLnTx/>
              <a:uFillTx/>
              <a:latin typeface="华文宋体" panose="02010600040101010101" charset="-122"/>
              <a:ea typeface="华文宋体" panose="02010600040101010101" charset="-122"/>
              <a:cs typeface="华文宋体" panose="02010600040101010101" charset="-122"/>
            </a:endParaRPr>
          </a:p>
          <a:p>
            <a:pPr marL="457200" indent="-457200" algn="l">
              <a:lnSpc>
                <a:spcPct val="140000"/>
              </a:lnSpc>
              <a:buClrTx/>
              <a:buSzTx/>
              <a:buFont typeface="+mj-lt"/>
              <a:buAutoNum type="arabicPeriod"/>
            </a:pPr>
            <a:r>
              <a:rPr lang="en-US" altLang="zh-CN" sz="2400" noProof="0" dirty="0">
                <a:ln>
                  <a:noFill/>
                </a:ln>
                <a:solidFill>
                  <a:schemeClr val="accent2"/>
                </a:solidFill>
                <a:effectLst/>
                <a:uLnTx/>
                <a:uFillTx/>
                <a:latin typeface="华文宋体" panose="02010600040101010101" charset="-122"/>
                <a:ea typeface="华文宋体" panose="02010600040101010101" charset="-122"/>
                <a:cs typeface="华文宋体" panose="02010600040101010101" charset="-122"/>
                <a:sym typeface="+mn-ea"/>
              </a:rPr>
              <a:t>对象的序列化</a:t>
            </a:r>
            <a:endParaRPr lang="en-US" altLang="zh-CN" sz="2400" noProof="0" dirty="0">
              <a:ln>
                <a:noFill/>
              </a:ln>
              <a:solidFill>
                <a:schemeClr val="accent2"/>
              </a:solidFill>
              <a:effectLst/>
              <a:uLnTx/>
              <a:uFillTx/>
              <a:latin typeface="华文宋体" panose="02010600040101010101" charset="-122"/>
              <a:ea typeface="华文宋体" panose="02010600040101010101" charset="-122"/>
              <a:cs typeface="华文宋体" panose="02010600040101010101"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5" grpId="0"/>
      <p:bldP spid="25" grpId="1" bldLvl="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01600" y="3137535"/>
            <a:ext cx="1179195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第一节 </a:t>
            </a:r>
            <a:r>
              <a:rPr lang="zh-CN" altLang="en-US" sz="6665" dirty="0">
                <a:solidFill>
                  <a:schemeClr val="bg1"/>
                </a:solidFill>
                <a:latin typeface="Arial" panose="020B0604020202020204" pitchFamily="34" charset="0"/>
                <a:ea typeface="宋体" panose="02010600030101010101" pitchFamily="2" charset="-122"/>
                <a:sym typeface="+mn-ea"/>
              </a:rPr>
              <a:t>I/O流与文本文件</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en-US" altLang="zh-CN" sz="2400" smtClean="0">
                <a:ea typeface="宋体" panose="02010600030101010101" pitchFamily="2" charset="-122"/>
                <a:sym typeface="+mn-ea"/>
              </a:rPr>
              <a:t>I/O </a:t>
            </a:r>
            <a:r>
              <a:rPr lang="zh-CN" altLang="en-US" sz="2400" smtClean="0">
                <a:ea typeface="宋体" panose="02010600030101010101" pitchFamily="2" charset="-122"/>
                <a:sym typeface="+mn-ea"/>
              </a:rPr>
              <a:t>流的概念</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I/O是Input/Output的缩写， I/O技术是非常实用的技术，如读/写文件，网络通讯等等。</a:t>
            </a:r>
            <a:endParaRPr lang="zh-CN" altLang="en-US" sz="200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流（Stream）是指从源节点到目标节点的数据流动。</a:t>
            </a:r>
            <a:endParaRPr lang="zh-CN" altLang="en-US" sz="200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源节点和目标节点可以是文件、网络、内存、键盘、显示器等等。</a:t>
            </a:r>
            <a:endParaRPr lang="zh-CN" altLang="en-US" sz="200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源节点的数据流称为输入流（用来读取数据）。</a:t>
            </a:r>
            <a:endParaRPr lang="zh-CN" altLang="en-US" sz="200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目标节点的数据流称为输出流（用来写入数据）。</a:t>
            </a:r>
            <a:endParaRPr lang="zh-CN" altLang="en-US" sz="2000" smtClean="0">
              <a:ea typeface="宋体" panose="02010600030101010101" pitchFamily="2" charset="-122"/>
              <a:sym typeface="+mn-ea"/>
            </a:endParaRPr>
          </a:p>
        </p:txBody>
      </p:sp>
      <p:pic>
        <p:nvPicPr>
          <p:cNvPr id="292869" name="Picture 2"/>
          <p:cNvPicPr>
            <a:picLocks noChangeAspect="1" noChangeArrowheads="1"/>
          </p:cNvPicPr>
          <p:nvPr/>
        </p:nvPicPr>
        <p:blipFill>
          <a:blip r:embed="rId5"/>
          <a:srcRect/>
          <a:stretch>
            <a:fillRect/>
          </a:stretch>
        </p:blipFill>
        <p:spPr bwMode="auto">
          <a:xfrm>
            <a:off x="1545273" y="3762392"/>
            <a:ext cx="6985000" cy="1158875"/>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流的分类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I/O流类库位于java.io包中。</a:t>
            </a:r>
            <a:endParaRPr lang="zh-CN" altLang="en-US" sz="200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从传输数据的角度，I/O流又可分为字节流和字符流：</a:t>
            </a:r>
            <a:endParaRPr lang="zh-CN" altLang="en-US" sz="200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endParaRPr lang="zh-CN" altLang="en-US" sz="200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endParaRPr lang="zh-CN" altLang="en-US" sz="200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endParaRPr lang="zh-CN" altLang="en-US" sz="200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endParaRPr lang="zh-CN" altLang="en-US" sz="200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InputStream和OutputStream是字节流的父类， Reader和Writer是字符流的父类。</a:t>
            </a:r>
            <a:endParaRPr lang="zh-CN" altLang="en-US" sz="2000" smtClean="0">
              <a:ea typeface="宋体" panose="02010600030101010101" pitchFamily="2" charset="-122"/>
              <a:sym typeface="+mn-ea"/>
            </a:endParaRPr>
          </a:p>
        </p:txBody>
      </p:sp>
      <p:graphicFrame>
        <p:nvGraphicFramePr>
          <p:cNvPr id="3" name="表格 2"/>
          <p:cNvGraphicFramePr>
            <a:graphicFrameLocks noGrp="1"/>
          </p:cNvGraphicFramePr>
          <p:nvPr/>
        </p:nvGraphicFramePr>
        <p:xfrm>
          <a:off x="1186498" y="2035812"/>
          <a:ext cx="6913562" cy="1581152"/>
        </p:xfrm>
        <a:graphic>
          <a:graphicData uri="http://schemas.openxmlformats.org/drawingml/2006/table">
            <a:tbl>
              <a:tblPr/>
              <a:tblGrid>
                <a:gridCol w="1925637"/>
                <a:gridCol w="2565400"/>
                <a:gridCol w="2422525"/>
              </a:tblGrid>
              <a:tr h="395288">
                <a:tc>
                  <a:txBody>
                    <a:bodyPr/>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dirty="0" smtClean="0">
                        <a:ln>
                          <a:noFill/>
                        </a:ln>
                        <a:solidFill>
                          <a:srgbClr val="FFFFFF"/>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rPr>
                        <a:t>字节流</a:t>
                      </a:r>
                      <a:endPar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rPr>
                        <a:t>字符流</a:t>
                      </a:r>
                      <a:endPar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95288">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00"/>
                          </a:solidFill>
                          <a:effectLst/>
                          <a:latin typeface="Times New Roman" panose="02020603050405020304" charset="0"/>
                          <a:ea typeface="Gulim" pitchFamily="34" charset="-127"/>
                        </a:rPr>
                        <a:t>输入流</a:t>
                      </a:r>
                      <a:endParaRPr kumimoji="0" lang="zh-CN" altLang="en-US" sz="1800" b="0" i="0" u="none" strike="noStrike" cap="none" normalizeH="0" baseline="0" dirty="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charset="0"/>
                          <a:ea typeface="Gulim" pitchFamily="34" charset="-127"/>
                        </a:rPr>
                        <a:t>InputStream</a:t>
                      </a: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charset="0"/>
                          <a:ea typeface="Gulim" pitchFamily="34" charset="-127"/>
                        </a:rPr>
                        <a:t>Reader</a:t>
                      </a: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r h="395288">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00"/>
                          </a:solidFill>
                          <a:effectLst/>
                          <a:latin typeface="Times New Roman" panose="02020603050405020304" charset="0"/>
                          <a:ea typeface="Gulim" pitchFamily="34" charset="-127"/>
                        </a:rPr>
                        <a:t>输出流</a:t>
                      </a:r>
                      <a:endParaRPr kumimoji="0" lang="zh-CN" altLang="en-US" sz="1800" b="0" i="0" u="none" strike="noStrike" cap="none" normalizeH="0" baseline="0" dirty="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charset="0"/>
                          <a:ea typeface="Gulim" pitchFamily="34" charset="-127"/>
                        </a:rPr>
                        <a:t>OutputStream </a:t>
                      </a: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charset="0"/>
                          <a:ea typeface="Gulim" pitchFamily="34" charset="-127"/>
                        </a:rPr>
                        <a:t>Writer</a:t>
                      </a: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r>
              <a:tr h="395288">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rPr>
                        <a:t>流中的数据</a:t>
                      </a: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rPr>
                        <a:t>二进制字节（</a:t>
                      </a:r>
                      <a:r>
                        <a:rPr kumimoji="0" lang="en-US" altLang="zh-CN" sz="1800" b="0" i="0" u="none" strike="noStrike" cap="none" normalizeH="0" baseline="0" smtClean="0">
                          <a:ln>
                            <a:noFill/>
                          </a:ln>
                          <a:solidFill>
                            <a:srgbClr val="000000"/>
                          </a:solidFill>
                          <a:effectLst/>
                          <a:latin typeface="Times New Roman" panose="02020603050405020304" charset="0"/>
                          <a:ea typeface="Gulim" pitchFamily="34" charset="-127"/>
                        </a:rPr>
                        <a:t>8位）</a:t>
                      </a: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rgbClr val="000000"/>
                          </a:solidFill>
                          <a:effectLst/>
                          <a:latin typeface="Times New Roman" panose="02020603050405020304" charset="0"/>
                          <a:ea typeface="Gulim" pitchFamily="34" charset="-127"/>
                        </a:rPr>
                        <a:t>Unicode</a:t>
                      </a:r>
                      <a:r>
                        <a:rPr kumimoji="0" lang="zh-CN" altLang="en-US" sz="1800" b="0" i="0" u="none" strike="noStrike" cap="none" normalizeH="0" baseline="0" dirty="0" smtClean="0">
                          <a:ln>
                            <a:noFill/>
                          </a:ln>
                          <a:solidFill>
                            <a:srgbClr val="000000"/>
                          </a:solidFill>
                          <a:effectLst/>
                          <a:latin typeface="Times New Roman" panose="02020603050405020304" charset="0"/>
                          <a:ea typeface="Gulim" pitchFamily="34" charset="-127"/>
                        </a:rPr>
                        <a:t>字符（</a:t>
                      </a:r>
                      <a:r>
                        <a:rPr kumimoji="0" lang="en-US" altLang="zh-CN" sz="1800" b="0" i="0" u="none" strike="noStrike" cap="none" normalizeH="0" baseline="0" dirty="0" smtClean="0">
                          <a:ln>
                            <a:noFill/>
                          </a:ln>
                          <a:solidFill>
                            <a:srgbClr val="000000"/>
                          </a:solidFill>
                          <a:effectLst/>
                          <a:latin typeface="Times New Roman" panose="02020603050405020304" charset="0"/>
                          <a:ea typeface="Gulim" pitchFamily="34" charset="-127"/>
                        </a:rPr>
                        <a:t>16位）</a:t>
                      </a:r>
                      <a:endParaRPr kumimoji="0" lang="zh-CN" altLang="en-US" sz="1800" b="0" i="0" u="none" strike="noStrike" cap="none" normalizeH="0" baseline="0" dirty="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字符流读文件示例 </a:t>
            </a:r>
            <a:r>
              <a:rPr lang="en-US" altLang="zh-CN" sz="2400" dirty="0" smtClean="0">
                <a:ea typeface="宋体" panose="02010600030101010101" pitchFamily="2" charset="-122"/>
                <a:sym typeface="+mn-ea"/>
              </a:rPr>
              <a:t>— </a:t>
            </a:r>
            <a:r>
              <a:rPr lang="en-US" altLang="zh-CN" sz="2400" dirty="0" err="1" smtClean="0">
                <a:sym typeface="+mn-ea"/>
              </a:rPr>
              <a:t>TestFileReader</a:t>
            </a:r>
            <a:r>
              <a:rPr lang="zh-CN" altLang="en-US" sz="2400" dirty="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buFont typeface="Times"/>
              <a:buNone/>
              <a:defRPr/>
            </a:pPr>
            <a:r>
              <a:rPr lang="en-US" altLang="zh-CN" sz="1200" dirty="0" smtClean="0">
                <a:sym typeface="+mn-ea"/>
              </a:rPr>
              <a:t>1  import java.io.*;</a:t>
            </a:r>
            <a:endParaRPr lang="en-US" altLang="zh-CN" sz="1200" dirty="0" smtClean="0">
              <a:ea typeface="+mn-ea"/>
            </a:endParaRPr>
          </a:p>
          <a:p>
            <a:pPr>
              <a:buFont typeface="Times"/>
              <a:buNone/>
              <a:defRPr/>
            </a:pPr>
            <a:r>
              <a:rPr lang="en-US" altLang="zh-CN" sz="1200" dirty="0" smtClean="0">
                <a:sym typeface="+mn-ea"/>
              </a:rPr>
              <a:t>2  </a:t>
            </a:r>
            <a:endParaRPr lang="en-US" altLang="zh-CN" sz="1200" dirty="0" smtClean="0">
              <a:ea typeface="+mn-ea"/>
            </a:endParaRPr>
          </a:p>
          <a:p>
            <a:pPr>
              <a:buFont typeface="Times"/>
              <a:buNone/>
              <a:defRPr/>
            </a:pPr>
            <a:r>
              <a:rPr lang="en-US" altLang="zh-CN" sz="1200" dirty="0" smtClean="0">
                <a:sym typeface="+mn-ea"/>
              </a:rPr>
              <a:t>3  public class </a:t>
            </a:r>
            <a:r>
              <a:rPr lang="en-US" altLang="zh-CN" sz="1200" dirty="0" err="1" smtClean="0">
                <a:sym typeface="+mn-ea"/>
              </a:rPr>
              <a:t>TestFileReader</a:t>
            </a:r>
            <a:r>
              <a:rPr lang="en-US" altLang="zh-CN" sz="1200" dirty="0" smtClean="0">
                <a:sym typeface="+mn-ea"/>
              </a:rPr>
              <a:t> {</a:t>
            </a:r>
            <a:endParaRPr lang="en-US" altLang="zh-CN" sz="1200" dirty="0" smtClean="0">
              <a:ea typeface="+mn-ea"/>
            </a:endParaRPr>
          </a:p>
          <a:p>
            <a:pPr>
              <a:buFont typeface="Times"/>
              <a:buNone/>
              <a:defRPr/>
            </a:pPr>
            <a:r>
              <a:rPr lang="en-US" altLang="zh-CN" sz="1200" dirty="0" smtClean="0">
                <a:sym typeface="+mn-ea"/>
              </a:rPr>
              <a:t>4      public static void main(String[] </a:t>
            </a:r>
            <a:r>
              <a:rPr lang="en-US" altLang="zh-CN" sz="1200" dirty="0" err="1" smtClean="0">
                <a:sym typeface="+mn-ea"/>
              </a:rPr>
              <a:t>args</a:t>
            </a:r>
            <a:r>
              <a:rPr lang="en-US" altLang="zh-CN" sz="1200" dirty="0" smtClean="0">
                <a:sym typeface="+mn-ea"/>
              </a:rPr>
              <a:t>) {</a:t>
            </a:r>
            <a:endParaRPr lang="en-US" altLang="zh-CN" sz="1200" dirty="0" smtClean="0">
              <a:ea typeface="+mn-ea"/>
            </a:endParaRPr>
          </a:p>
          <a:p>
            <a:pPr>
              <a:buFont typeface="Times"/>
              <a:buNone/>
              <a:defRPr/>
            </a:pPr>
            <a:r>
              <a:rPr lang="en-US" altLang="zh-CN" sz="1200" dirty="0" smtClean="0">
                <a:sym typeface="+mn-ea"/>
              </a:rPr>
              <a:t>5          </a:t>
            </a:r>
            <a:r>
              <a:rPr lang="en-US" altLang="zh-CN" sz="1200" dirty="0" err="1" smtClean="0">
                <a:sym typeface="+mn-ea"/>
              </a:rPr>
              <a:t>FileReader</a:t>
            </a:r>
            <a:r>
              <a:rPr lang="en-US" altLang="zh-CN" sz="1200" dirty="0" smtClean="0">
                <a:sym typeface="+mn-ea"/>
              </a:rPr>
              <a:t> </a:t>
            </a:r>
            <a:r>
              <a:rPr lang="en-US" altLang="zh-CN" sz="1200" dirty="0" err="1" smtClean="0">
                <a:sym typeface="+mn-ea"/>
              </a:rPr>
              <a:t>fr</a:t>
            </a:r>
            <a:r>
              <a:rPr lang="en-US" altLang="zh-CN" sz="1200" dirty="0" smtClean="0">
                <a:sym typeface="+mn-ea"/>
              </a:rPr>
              <a:t> = null;</a:t>
            </a:r>
            <a:endParaRPr lang="en-US" altLang="zh-CN" sz="1200" dirty="0" smtClean="0">
              <a:ea typeface="+mn-ea"/>
            </a:endParaRPr>
          </a:p>
          <a:p>
            <a:pPr>
              <a:buFont typeface="Times"/>
              <a:buNone/>
              <a:defRPr/>
            </a:pPr>
            <a:r>
              <a:rPr lang="en-US" altLang="zh-CN" sz="1200" dirty="0" smtClean="0">
                <a:sym typeface="+mn-ea"/>
              </a:rPr>
              <a:t>6  </a:t>
            </a:r>
            <a:endParaRPr lang="en-US" altLang="zh-CN" sz="1200" dirty="0" smtClean="0">
              <a:ea typeface="+mn-ea"/>
            </a:endParaRPr>
          </a:p>
          <a:p>
            <a:pPr>
              <a:buFont typeface="Times"/>
              <a:buNone/>
              <a:defRPr/>
            </a:pPr>
            <a:r>
              <a:rPr lang="en-US" altLang="zh-CN" sz="1200" dirty="0" smtClean="0">
                <a:sym typeface="+mn-ea"/>
              </a:rPr>
              <a:t>7          try {</a:t>
            </a:r>
            <a:endParaRPr lang="en-US" altLang="zh-CN" sz="1200" dirty="0" smtClean="0">
              <a:ea typeface="+mn-ea"/>
            </a:endParaRPr>
          </a:p>
          <a:p>
            <a:pPr>
              <a:buFont typeface="Times"/>
              <a:buNone/>
              <a:defRPr/>
            </a:pPr>
            <a:r>
              <a:rPr lang="en-US" altLang="zh-CN" sz="1200" dirty="0" smtClean="0">
                <a:sym typeface="+mn-ea"/>
              </a:rPr>
              <a:t>8              </a:t>
            </a:r>
            <a:r>
              <a:rPr lang="en-US" altLang="zh-CN" sz="1200" dirty="0" err="1" smtClean="0">
                <a:sym typeface="+mn-ea"/>
              </a:rPr>
              <a:t>fr</a:t>
            </a:r>
            <a:r>
              <a:rPr lang="en-US" altLang="zh-CN" sz="1200" dirty="0" smtClean="0">
                <a:sym typeface="+mn-ea"/>
              </a:rPr>
              <a:t> = new </a:t>
            </a:r>
            <a:r>
              <a:rPr lang="en-US" altLang="zh-CN" sz="1200" dirty="0" err="1" smtClean="0">
                <a:sym typeface="+mn-ea"/>
              </a:rPr>
              <a:t>FileReader</a:t>
            </a:r>
            <a:r>
              <a:rPr lang="en-US" altLang="zh-CN" sz="1200" dirty="0" smtClean="0">
                <a:sym typeface="+mn-ea"/>
              </a:rPr>
              <a:t>(</a:t>
            </a:r>
            <a:r>
              <a:rPr lang="en-US" altLang="zh-CN" sz="1200" dirty="0" err="1" smtClean="0">
                <a:sym typeface="+mn-ea"/>
              </a:rPr>
              <a:t>args</a:t>
            </a:r>
            <a:r>
              <a:rPr lang="en-US" altLang="zh-CN" sz="1200" dirty="0" smtClean="0">
                <a:sym typeface="+mn-ea"/>
              </a:rPr>
              <a:t>[0]);</a:t>
            </a:r>
            <a:endParaRPr lang="en-US" altLang="zh-CN" sz="1200" dirty="0" smtClean="0">
              <a:ea typeface="+mn-ea"/>
            </a:endParaRPr>
          </a:p>
          <a:p>
            <a:pPr>
              <a:buFont typeface="Times"/>
              <a:buNone/>
              <a:defRPr/>
            </a:pPr>
            <a:r>
              <a:rPr lang="en-US" altLang="zh-CN" sz="1200" dirty="0" smtClean="0">
                <a:sym typeface="+mn-ea"/>
              </a:rPr>
              <a:t>9  </a:t>
            </a:r>
            <a:endParaRPr lang="en-US" altLang="zh-CN" sz="1200" dirty="0" smtClean="0">
              <a:ea typeface="+mn-ea"/>
            </a:endParaRPr>
          </a:p>
          <a:p>
            <a:pPr>
              <a:buFont typeface="Times"/>
              <a:buNone/>
              <a:defRPr/>
            </a:pPr>
            <a:r>
              <a:rPr lang="en-US" altLang="zh-CN" sz="1200" dirty="0" smtClean="0">
                <a:sym typeface="+mn-ea"/>
              </a:rPr>
              <a:t>10             char[] </a:t>
            </a:r>
            <a:r>
              <a:rPr lang="en-US" altLang="zh-CN" sz="1200" dirty="0" err="1" smtClean="0">
                <a:sym typeface="+mn-ea"/>
              </a:rPr>
              <a:t>buf</a:t>
            </a:r>
            <a:r>
              <a:rPr lang="en-US" altLang="zh-CN" sz="1200" dirty="0" smtClean="0">
                <a:sym typeface="+mn-ea"/>
              </a:rPr>
              <a:t> = new char[100];</a:t>
            </a:r>
            <a:endParaRPr lang="en-US" altLang="zh-CN" sz="1200" dirty="0" smtClean="0">
              <a:ea typeface="+mn-ea"/>
            </a:endParaRPr>
          </a:p>
          <a:p>
            <a:pPr>
              <a:buFont typeface="Times"/>
              <a:buNone/>
              <a:defRPr/>
            </a:pPr>
            <a:r>
              <a:rPr lang="en-US" altLang="zh-CN" sz="1200" dirty="0" smtClean="0">
                <a:sym typeface="+mn-ea"/>
              </a:rPr>
              <a:t>11             </a:t>
            </a:r>
            <a:r>
              <a:rPr lang="en-US" altLang="zh-CN" sz="1200" dirty="0" err="1" smtClean="0">
                <a:sym typeface="+mn-ea"/>
              </a:rPr>
              <a:t>int</a:t>
            </a:r>
            <a:r>
              <a:rPr lang="en-US" altLang="zh-CN" sz="1200" dirty="0" smtClean="0">
                <a:sym typeface="+mn-ea"/>
              </a:rPr>
              <a:t> n = </a:t>
            </a:r>
            <a:r>
              <a:rPr lang="en-US" altLang="zh-CN" sz="1200" dirty="0" err="1" smtClean="0">
                <a:sym typeface="+mn-ea"/>
              </a:rPr>
              <a:t>fr.read</a:t>
            </a:r>
            <a:r>
              <a:rPr lang="en-US" altLang="zh-CN" sz="1200" dirty="0" smtClean="0">
                <a:sym typeface="+mn-ea"/>
              </a:rPr>
              <a:t>(</a:t>
            </a:r>
            <a:r>
              <a:rPr lang="en-US" altLang="zh-CN" sz="1200" dirty="0" err="1" smtClean="0">
                <a:sym typeface="+mn-ea"/>
              </a:rPr>
              <a:t>buf</a:t>
            </a:r>
            <a:r>
              <a:rPr lang="en-US" altLang="zh-CN" sz="1200" dirty="0" smtClean="0">
                <a:sym typeface="+mn-ea"/>
              </a:rPr>
              <a:t>);</a:t>
            </a:r>
            <a:endParaRPr lang="en-US" altLang="zh-CN" sz="1200" dirty="0" smtClean="0">
              <a:ea typeface="+mn-ea"/>
            </a:endParaRPr>
          </a:p>
          <a:p>
            <a:pPr>
              <a:buFont typeface="Times"/>
              <a:buNone/>
              <a:defRPr/>
            </a:pPr>
            <a:r>
              <a:rPr lang="en-US" altLang="zh-CN" sz="1200" dirty="0" smtClean="0">
                <a:sym typeface="+mn-ea"/>
              </a:rPr>
              <a:t>12             while (n != -1)    {</a:t>
            </a:r>
            <a:endParaRPr lang="en-US" altLang="zh-CN" sz="1200" dirty="0" smtClean="0">
              <a:ea typeface="+mn-ea"/>
            </a:endParaRPr>
          </a:p>
          <a:p>
            <a:pPr>
              <a:buFont typeface="Times"/>
              <a:buNone/>
              <a:defRPr/>
            </a:pPr>
            <a:r>
              <a:rPr lang="en-US" altLang="zh-CN" sz="1200" dirty="0" smtClean="0">
                <a:sym typeface="+mn-ea"/>
              </a:rPr>
              <a:t>13                 for (</a:t>
            </a:r>
            <a:r>
              <a:rPr lang="en-US" altLang="zh-CN" sz="1200" dirty="0" err="1" smtClean="0">
                <a:sym typeface="+mn-ea"/>
              </a:rPr>
              <a:t>int</a:t>
            </a:r>
            <a:r>
              <a:rPr lang="en-US" altLang="zh-CN" sz="1200" dirty="0" smtClean="0">
                <a:sym typeface="+mn-ea"/>
              </a:rPr>
              <a:t> </a:t>
            </a:r>
            <a:r>
              <a:rPr lang="en-US" altLang="zh-CN" sz="1200" dirty="0" err="1" smtClean="0">
                <a:sym typeface="+mn-ea"/>
              </a:rPr>
              <a:t>i</a:t>
            </a:r>
            <a:r>
              <a:rPr lang="en-US" altLang="zh-CN" sz="1200" dirty="0" smtClean="0">
                <a:sym typeface="+mn-ea"/>
              </a:rPr>
              <a:t> = 0; </a:t>
            </a:r>
            <a:r>
              <a:rPr lang="en-US" altLang="zh-CN" sz="1200" dirty="0" err="1" smtClean="0">
                <a:sym typeface="+mn-ea"/>
              </a:rPr>
              <a:t>i</a:t>
            </a:r>
            <a:r>
              <a:rPr lang="en-US" altLang="zh-CN" sz="1200" dirty="0" smtClean="0">
                <a:sym typeface="+mn-ea"/>
              </a:rPr>
              <a:t> &lt; n; </a:t>
            </a:r>
            <a:r>
              <a:rPr lang="en-US" altLang="zh-CN" sz="1200" dirty="0" err="1" smtClean="0">
                <a:sym typeface="+mn-ea"/>
              </a:rPr>
              <a:t>i</a:t>
            </a:r>
            <a:r>
              <a:rPr lang="en-US" altLang="zh-CN" sz="1200" dirty="0" smtClean="0">
                <a:sym typeface="+mn-ea"/>
              </a:rPr>
              <a:t>++ ){</a:t>
            </a:r>
            <a:endParaRPr lang="en-US" altLang="zh-CN" sz="1200" dirty="0" smtClean="0">
              <a:ea typeface="+mn-ea"/>
            </a:endParaRPr>
          </a:p>
          <a:p>
            <a:pPr>
              <a:buFont typeface="Times"/>
              <a:buNone/>
              <a:defRPr/>
            </a:pPr>
            <a:r>
              <a:rPr lang="en-US" altLang="zh-CN" sz="1200" dirty="0" smtClean="0">
                <a:sym typeface="+mn-ea"/>
              </a:rPr>
              <a:t>14                     </a:t>
            </a:r>
            <a:r>
              <a:rPr lang="en-US" altLang="zh-CN" sz="1200" dirty="0" err="1" smtClean="0">
                <a:sym typeface="+mn-ea"/>
              </a:rPr>
              <a:t>System.out.print</a:t>
            </a:r>
            <a:r>
              <a:rPr lang="en-US" altLang="zh-CN" sz="1200" dirty="0" smtClean="0">
                <a:sym typeface="+mn-ea"/>
              </a:rPr>
              <a:t>(</a:t>
            </a:r>
            <a:r>
              <a:rPr lang="en-US" altLang="zh-CN" sz="1200" dirty="0" err="1" smtClean="0">
                <a:sym typeface="+mn-ea"/>
              </a:rPr>
              <a:t>buf</a:t>
            </a:r>
            <a:r>
              <a:rPr lang="en-US" altLang="zh-CN" sz="1200" dirty="0" smtClean="0">
                <a:sym typeface="+mn-ea"/>
              </a:rPr>
              <a:t>[</a:t>
            </a:r>
            <a:r>
              <a:rPr lang="en-US" altLang="zh-CN" sz="1200" dirty="0" err="1" smtClean="0">
                <a:sym typeface="+mn-ea"/>
              </a:rPr>
              <a:t>i</a:t>
            </a:r>
            <a:r>
              <a:rPr lang="en-US" altLang="zh-CN" sz="1200" dirty="0" smtClean="0">
                <a:sym typeface="+mn-ea"/>
              </a:rPr>
              <a:t>]);</a:t>
            </a:r>
            <a:endParaRPr lang="en-US" altLang="zh-CN" sz="1200" dirty="0" smtClean="0">
              <a:ea typeface="+mn-ea"/>
            </a:endParaRPr>
          </a:p>
          <a:p>
            <a:pPr>
              <a:buFont typeface="Times"/>
              <a:buNone/>
              <a:defRPr/>
            </a:pPr>
            <a:r>
              <a:rPr lang="en-US" altLang="zh-CN" sz="1200" dirty="0" smtClean="0">
                <a:sym typeface="+mn-ea"/>
              </a:rPr>
              <a:t>15                 }</a:t>
            </a:r>
            <a:endParaRPr lang="en-US" altLang="zh-CN" sz="1200" dirty="0" smtClean="0">
              <a:ea typeface="+mn-ea"/>
            </a:endParaRPr>
          </a:p>
          <a:p>
            <a:pPr>
              <a:buFont typeface="Times"/>
              <a:buNone/>
              <a:defRPr/>
            </a:pPr>
            <a:r>
              <a:rPr lang="en-US" altLang="zh-CN" sz="1200" dirty="0" smtClean="0">
                <a:sym typeface="+mn-ea"/>
              </a:rPr>
              <a:t>16                 n = </a:t>
            </a:r>
            <a:r>
              <a:rPr lang="en-US" altLang="zh-CN" sz="1200" dirty="0" err="1" smtClean="0">
                <a:sym typeface="+mn-ea"/>
              </a:rPr>
              <a:t>fr.read</a:t>
            </a:r>
            <a:r>
              <a:rPr lang="en-US" altLang="zh-CN" sz="1200" dirty="0" smtClean="0">
                <a:sym typeface="+mn-ea"/>
              </a:rPr>
              <a:t>(</a:t>
            </a:r>
            <a:r>
              <a:rPr lang="en-US" altLang="zh-CN" sz="1200" dirty="0" err="1" smtClean="0">
                <a:sym typeface="+mn-ea"/>
              </a:rPr>
              <a:t>buf</a:t>
            </a:r>
            <a:r>
              <a:rPr lang="en-US" altLang="zh-CN" sz="1200" dirty="0" smtClean="0">
                <a:sym typeface="+mn-ea"/>
              </a:rPr>
              <a:t>);</a:t>
            </a:r>
            <a:endParaRPr lang="en-US" altLang="zh-CN" sz="1200" dirty="0" smtClean="0">
              <a:ea typeface="+mn-ea"/>
            </a:endParaRPr>
          </a:p>
          <a:p>
            <a:pPr>
              <a:buFont typeface="Times"/>
              <a:buNone/>
              <a:defRPr/>
            </a:pPr>
            <a:r>
              <a:rPr lang="en-US" altLang="zh-CN" sz="1200" dirty="0" smtClean="0">
                <a:sym typeface="+mn-ea"/>
              </a:rPr>
              <a:t>17             }</a:t>
            </a:r>
            <a:endParaRPr lang="en-US" altLang="zh-CN" sz="1200" dirty="0" smtClean="0">
              <a:ea typeface="+mn-ea"/>
            </a:endParaRPr>
          </a:p>
          <a:p>
            <a:pPr>
              <a:buFont typeface="Times"/>
              <a:buNone/>
              <a:defRPr/>
            </a:pPr>
            <a:r>
              <a:rPr lang="en-US" altLang="zh-CN" sz="1200" dirty="0" smtClean="0">
                <a:sym typeface="+mn-ea"/>
              </a:rPr>
              <a:t>18         } catch (</a:t>
            </a:r>
            <a:r>
              <a:rPr lang="en-US" altLang="zh-CN" sz="1200" dirty="0" err="1" smtClean="0">
                <a:sym typeface="+mn-ea"/>
              </a:rPr>
              <a:t>IOException</a:t>
            </a:r>
            <a:r>
              <a:rPr lang="en-US" altLang="zh-CN" sz="1200" dirty="0" smtClean="0">
                <a:sym typeface="+mn-ea"/>
              </a:rPr>
              <a:t> e) {</a:t>
            </a:r>
            <a:endParaRPr lang="en-US" altLang="zh-CN" sz="12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字符流读文件示例 </a:t>
            </a:r>
            <a:r>
              <a:rPr lang="en-US" altLang="zh-CN" sz="2400" dirty="0" smtClean="0">
                <a:ea typeface="宋体" panose="02010600030101010101" pitchFamily="2" charset="-122"/>
                <a:sym typeface="+mn-ea"/>
              </a:rPr>
              <a:t>— </a:t>
            </a:r>
            <a:r>
              <a:rPr lang="en-US" altLang="zh-CN" sz="2400" dirty="0" err="1" smtClean="0">
                <a:sym typeface="+mn-ea"/>
              </a:rPr>
              <a:t>TestFileReader</a:t>
            </a:r>
            <a:r>
              <a:rPr lang="zh-CN" altLang="en-US" sz="2400" dirty="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buFont typeface="Times"/>
              <a:buNone/>
              <a:defRPr/>
            </a:pPr>
            <a:r>
              <a:rPr lang="en-US" altLang="zh-CN" sz="1200" dirty="0" smtClean="0">
                <a:sym typeface="+mn-ea"/>
              </a:rPr>
              <a:t>19             </a:t>
            </a:r>
            <a:r>
              <a:rPr lang="en-US" altLang="zh-CN" sz="1200" dirty="0" err="1" smtClean="0">
                <a:sym typeface="+mn-ea"/>
              </a:rPr>
              <a:t>e.printStackTrace</a:t>
            </a:r>
            <a:r>
              <a:rPr lang="en-US" altLang="zh-CN" sz="1200" dirty="0" smtClean="0">
                <a:sym typeface="+mn-ea"/>
              </a:rPr>
              <a:t>();</a:t>
            </a:r>
            <a:endParaRPr lang="en-US" altLang="zh-CN" sz="1200" dirty="0" smtClean="0">
              <a:ea typeface="+mn-ea"/>
            </a:endParaRPr>
          </a:p>
          <a:p>
            <a:pPr>
              <a:buFont typeface="Times"/>
              <a:buNone/>
              <a:defRPr/>
            </a:pPr>
            <a:r>
              <a:rPr lang="en-US" altLang="zh-CN" sz="1200" dirty="0" smtClean="0">
                <a:sym typeface="+mn-ea"/>
              </a:rPr>
              <a:t>20         } finally {</a:t>
            </a:r>
            <a:endParaRPr lang="en-US" altLang="zh-CN" sz="1200" dirty="0" smtClean="0">
              <a:ea typeface="+mn-ea"/>
            </a:endParaRPr>
          </a:p>
          <a:p>
            <a:pPr>
              <a:buFont typeface="Times"/>
              <a:buNone/>
              <a:defRPr/>
            </a:pPr>
            <a:r>
              <a:rPr lang="en-US" altLang="zh-CN" sz="1200" dirty="0" smtClean="0">
                <a:sym typeface="+mn-ea"/>
              </a:rPr>
              <a:t>21             if (</a:t>
            </a:r>
            <a:r>
              <a:rPr lang="en-US" altLang="zh-CN" sz="1200" dirty="0" err="1" smtClean="0">
                <a:sym typeface="+mn-ea"/>
              </a:rPr>
              <a:t>fr</a:t>
            </a:r>
            <a:r>
              <a:rPr lang="en-US" altLang="zh-CN" sz="1200" dirty="0" smtClean="0">
                <a:sym typeface="+mn-ea"/>
              </a:rPr>
              <a:t> != null)    {</a:t>
            </a:r>
            <a:endParaRPr lang="en-US" altLang="zh-CN" sz="1200" dirty="0" smtClean="0">
              <a:ea typeface="+mn-ea"/>
            </a:endParaRPr>
          </a:p>
          <a:p>
            <a:pPr>
              <a:buFont typeface="Times"/>
              <a:buNone/>
              <a:defRPr/>
            </a:pPr>
            <a:r>
              <a:rPr lang="en-US" altLang="zh-CN" sz="1200" dirty="0" smtClean="0">
                <a:sym typeface="+mn-ea"/>
              </a:rPr>
              <a:t>22                 try {</a:t>
            </a:r>
            <a:endParaRPr lang="en-US" altLang="zh-CN" sz="1200" dirty="0" smtClean="0">
              <a:ea typeface="+mn-ea"/>
            </a:endParaRPr>
          </a:p>
          <a:p>
            <a:pPr>
              <a:buFont typeface="Times"/>
              <a:buNone/>
              <a:defRPr/>
            </a:pPr>
            <a:r>
              <a:rPr lang="en-US" altLang="zh-CN" sz="1200" dirty="0" smtClean="0">
                <a:sym typeface="+mn-ea"/>
              </a:rPr>
              <a:t>23                     </a:t>
            </a:r>
            <a:r>
              <a:rPr lang="en-US" altLang="zh-CN" sz="1200" dirty="0" err="1" smtClean="0">
                <a:sym typeface="+mn-ea"/>
              </a:rPr>
              <a:t>fr.close</a:t>
            </a:r>
            <a:r>
              <a:rPr lang="en-US" altLang="zh-CN" sz="1200" dirty="0" smtClean="0">
                <a:sym typeface="+mn-ea"/>
              </a:rPr>
              <a:t>();</a:t>
            </a:r>
            <a:endParaRPr lang="en-US" altLang="zh-CN" sz="1200" dirty="0" smtClean="0">
              <a:ea typeface="+mn-ea"/>
            </a:endParaRPr>
          </a:p>
          <a:p>
            <a:pPr>
              <a:buFont typeface="Times"/>
              <a:buNone/>
              <a:defRPr/>
            </a:pPr>
            <a:r>
              <a:rPr lang="en-US" altLang="zh-CN" sz="1200" dirty="0" smtClean="0">
                <a:sym typeface="+mn-ea"/>
              </a:rPr>
              <a:t>24                 } catch (</a:t>
            </a:r>
            <a:r>
              <a:rPr lang="en-US" altLang="zh-CN" sz="1200" dirty="0" err="1" smtClean="0">
                <a:sym typeface="+mn-ea"/>
              </a:rPr>
              <a:t>IOException</a:t>
            </a:r>
            <a:r>
              <a:rPr lang="en-US" altLang="zh-CN" sz="1200" dirty="0" smtClean="0">
                <a:sym typeface="+mn-ea"/>
              </a:rPr>
              <a:t> e) {</a:t>
            </a:r>
            <a:endParaRPr lang="en-US" altLang="zh-CN" sz="1200" dirty="0" smtClean="0">
              <a:ea typeface="+mn-ea"/>
            </a:endParaRPr>
          </a:p>
          <a:p>
            <a:pPr>
              <a:buFont typeface="Times"/>
              <a:buNone/>
              <a:defRPr/>
            </a:pPr>
            <a:r>
              <a:rPr lang="en-US" altLang="zh-CN" sz="1200" dirty="0" smtClean="0">
                <a:sym typeface="+mn-ea"/>
              </a:rPr>
              <a:t>25                 }</a:t>
            </a:r>
            <a:endParaRPr lang="en-US" altLang="zh-CN" sz="1200" dirty="0" smtClean="0">
              <a:ea typeface="+mn-ea"/>
            </a:endParaRPr>
          </a:p>
          <a:p>
            <a:pPr>
              <a:buFont typeface="Times"/>
              <a:buNone/>
              <a:defRPr/>
            </a:pPr>
            <a:r>
              <a:rPr lang="en-US" altLang="zh-CN" sz="1200" dirty="0" smtClean="0">
                <a:sym typeface="+mn-ea"/>
              </a:rPr>
              <a:t>26             }</a:t>
            </a:r>
            <a:endParaRPr lang="en-US" altLang="zh-CN" sz="1200" dirty="0" smtClean="0">
              <a:ea typeface="+mn-ea"/>
            </a:endParaRPr>
          </a:p>
          <a:p>
            <a:pPr>
              <a:buFont typeface="Times"/>
              <a:buNone/>
              <a:defRPr/>
            </a:pPr>
            <a:r>
              <a:rPr lang="en-US" altLang="zh-CN" sz="1200" dirty="0" smtClean="0">
                <a:sym typeface="+mn-ea"/>
              </a:rPr>
              <a:t>27         }</a:t>
            </a:r>
            <a:endParaRPr lang="en-US" altLang="zh-CN" sz="1200" dirty="0" smtClean="0">
              <a:ea typeface="+mn-ea"/>
            </a:endParaRPr>
          </a:p>
          <a:p>
            <a:pPr>
              <a:buFont typeface="Times"/>
              <a:buNone/>
              <a:defRPr/>
            </a:pPr>
            <a:r>
              <a:rPr lang="en-US" altLang="zh-CN" sz="1200" dirty="0" smtClean="0">
                <a:sym typeface="+mn-ea"/>
              </a:rPr>
              <a:t>28     }</a:t>
            </a:r>
            <a:endParaRPr lang="en-US" altLang="zh-CN" sz="1200" dirty="0" smtClean="0">
              <a:ea typeface="+mn-ea"/>
            </a:endParaRPr>
          </a:p>
          <a:p>
            <a:pPr>
              <a:buFont typeface="Times"/>
              <a:buNone/>
              <a:defRPr/>
            </a:pPr>
            <a:r>
              <a:rPr lang="en-US" altLang="zh-CN" sz="1200" dirty="0" smtClean="0">
                <a:sym typeface="+mn-ea"/>
              </a:rPr>
              <a:t>29 }</a:t>
            </a:r>
            <a:endParaRPr lang="en-US" altLang="zh-CN" sz="12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文本文件中的</a:t>
            </a:r>
            <a:r>
              <a:rPr lang="en-US" altLang="zh-CN" sz="2400" dirty="0" smtClean="0">
                <a:ea typeface="宋体" panose="02010600030101010101" pitchFamily="2" charset="-122"/>
                <a:sym typeface="+mn-ea"/>
              </a:rPr>
              <a:t>&lt;\r&gt;</a:t>
            </a:r>
            <a:r>
              <a:rPr lang="zh-CN" altLang="en-US" sz="2400" dirty="0" smtClean="0">
                <a:ea typeface="宋体" panose="02010600030101010101" pitchFamily="2" charset="-122"/>
                <a:sym typeface="+mn-ea"/>
              </a:rPr>
              <a:t>和</a:t>
            </a:r>
            <a:r>
              <a:rPr lang="en-US" altLang="zh-CN" sz="2400" dirty="0" smtClean="0">
                <a:ea typeface="宋体" panose="02010600030101010101" pitchFamily="2" charset="-122"/>
                <a:sym typeface="+mn-ea"/>
              </a:rPr>
              <a:t>&lt;\n&gt;</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在Unix系统中，文本文件每行结尾只有&lt;换行&gt;符。</a:t>
            </a:r>
            <a:endParaRPr lang="zh-CN" altLang="en-US" sz="200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在Java语言中， &lt;回车&gt;符用’\r’表示，&lt;换行&gt;符用’\n’表示。</a:t>
            </a:r>
            <a:endParaRPr lang="zh-CN" altLang="en-US" sz="200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在输出语句中</a:t>
            </a:r>
            <a:endParaRPr lang="zh-CN" altLang="en-US" sz="2000" smtClean="0">
              <a:ea typeface="宋体" panose="02010600030101010101" pitchFamily="2" charset="-122"/>
              <a:sym typeface="+mn-ea"/>
            </a:endParaRPr>
          </a:p>
          <a:p>
            <a:pPr marL="914400" lvl="3"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\r后有新内容时,会先删除之前的文本</a:t>
            </a:r>
            <a:endParaRPr lang="zh-CN" altLang="en-US" sz="2000" smtClean="0">
              <a:ea typeface="宋体" panose="02010600030101010101" pitchFamily="2" charset="-122"/>
              <a:sym typeface="+mn-ea"/>
            </a:endParaRPr>
          </a:p>
          <a:p>
            <a:pPr marL="914400" lvl="3"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\n</a:t>
            </a:r>
            <a:r>
              <a:rPr lang="zh-CN" altLang="en-US" sz="2000" smtClean="0">
                <a:ea typeface="宋体" panose="02010600030101010101" pitchFamily="2" charset="-122"/>
                <a:sym typeface="+mn-ea"/>
              </a:rPr>
              <a:t>不会删除</a:t>
            </a:r>
            <a:endParaRPr lang="zh-CN" altLang="en-US" sz="2000" smtClean="0">
              <a:ea typeface="宋体" panose="02010600030101010101" pitchFamily="2" charset="-122"/>
              <a:sym typeface="+mn-ea"/>
            </a:endParaRPr>
          </a:p>
          <a:p>
            <a:pPr marL="457200" lvl="2" indent="-457200" algn="l">
              <a:lnSpc>
                <a:spcPct val="110000"/>
              </a:lnSpc>
              <a:spcBef>
                <a:spcPts val="1000"/>
              </a:spcBef>
              <a:buClr>
                <a:srgbClr val="ED7D31"/>
              </a:buClr>
              <a:buSzTx/>
              <a:buFont typeface="+mj-lt"/>
              <a:buAutoNum type="arabicPeriod"/>
            </a:pPr>
            <a:endParaRPr lang="zh-CN" altLang="en-US" sz="2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在</a:t>
            </a:r>
            <a:r>
              <a:rPr lang="en-US" altLang="zh-CN" sz="2000" smtClean="0">
                <a:ea typeface="宋体" panose="02010600030101010101" pitchFamily="2" charset="-122"/>
                <a:sym typeface="+mn-ea"/>
              </a:rPr>
              <a:t>d:</a:t>
            </a:r>
            <a:r>
              <a:rPr lang="zh-CN" altLang="en-US" sz="2000" smtClean="0">
                <a:ea typeface="宋体" panose="02010600030101010101" pitchFamily="2" charset="-122"/>
                <a:sym typeface="+mn-ea"/>
              </a:rPr>
              <a:t>盘下创建一个</a:t>
            </a:r>
            <a:r>
              <a:rPr lang="en-US" altLang="zh-CN" sz="2000" smtClean="0">
                <a:ea typeface="宋体" panose="02010600030101010101" pitchFamily="2" charset="-122"/>
                <a:sym typeface="+mn-ea"/>
              </a:rPr>
              <a:t>txt</a:t>
            </a:r>
            <a:r>
              <a:rPr lang="zh-CN" altLang="en-US" sz="2000" smtClean="0">
                <a:ea typeface="宋体" panose="02010600030101010101" pitchFamily="2" charset="-122"/>
                <a:sym typeface="+mn-ea"/>
              </a:rPr>
              <a:t>文件，输入</a:t>
            </a:r>
            <a:r>
              <a:rPr lang="en-US" altLang="zh-CN" sz="2000" smtClean="0">
                <a:ea typeface="宋体" panose="02010600030101010101" pitchFamily="2" charset="-122"/>
                <a:sym typeface="+mn-ea"/>
              </a:rPr>
              <a:t>“DEF”</a:t>
            </a:r>
            <a:endParaRPr lang="en-US" altLang="zh-CN" sz="2000" smtClean="0">
              <a:ea typeface="宋体" panose="02010600030101010101" pitchFamily="2" charset="-122"/>
              <a:sym typeface="+mn-ea"/>
            </a:endParaRPr>
          </a:p>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编写程序</a:t>
            </a:r>
            <a:r>
              <a:rPr lang="en-US" altLang="zh-CN" sz="2000" smtClean="0">
                <a:ea typeface="宋体" panose="02010600030101010101" pitchFamily="2" charset="-122"/>
                <a:sym typeface="+mn-ea"/>
              </a:rPr>
              <a:t>TestFile</a:t>
            </a:r>
            <a:r>
              <a:rPr lang="zh-CN" altLang="en-US" sz="2000" smtClean="0">
                <a:ea typeface="宋体" panose="02010600030101010101" pitchFamily="2" charset="-122"/>
                <a:sym typeface="+mn-ea"/>
              </a:rPr>
              <a:t>.java，在main方法中，读取</a:t>
            </a:r>
            <a:r>
              <a:rPr lang="en-US" altLang="zh-CN" sz="2000" smtClean="0">
                <a:ea typeface="宋体" panose="02010600030101010101" pitchFamily="2" charset="-122"/>
                <a:sym typeface="+mn-ea"/>
              </a:rPr>
              <a:t>txt</a:t>
            </a:r>
            <a:r>
              <a:rPr lang="zh-CN" altLang="en-US" sz="2000" smtClean="0">
                <a:ea typeface="宋体" panose="02010600030101010101" pitchFamily="2" charset="-122"/>
                <a:sym typeface="+mn-ea"/>
              </a:rPr>
              <a:t>文本文件，并将文件内容输出到屏幕上。</a:t>
            </a:r>
            <a:endParaRPr lang="zh-CN" altLang="en-US" sz="2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字符流写文件示例 </a:t>
            </a:r>
            <a:r>
              <a:rPr lang="en-US" altLang="zh-CN" sz="2400" dirty="0" smtClean="0">
                <a:ea typeface="宋体" panose="02010600030101010101" pitchFamily="2" charset="-122"/>
                <a:sym typeface="+mn-ea"/>
              </a:rPr>
              <a:t>— </a:t>
            </a:r>
            <a:r>
              <a:rPr lang="en-US" altLang="zh-CN" sz="2400" dirty="0" err="1" smtClean="0">
                <a:sym typeface="+mn-ea"/>
              </a:rPr>
              <a:t>TestFileWriter</a:t>
            </a:r>
            <a:r>
              <a:rPr lang="zh-CN" altLang="en-US" sz="2400" dirty="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lnSpc>
                <a:spcPct val="80000"/>
              </a:lnSpc>
              <a:buFont typeface="Times"/>
              <a:buNone/>
            </a:pPr>
            <a:r>
              <a:rPr lang="en-US" altLang="zh-CN" sz="1200" dirty="0" smtClean="0">
                <a:sym typeface="+mn-ea"/>
              </a:rPr>
              <a:t>1  import java.io.*;</a:t>
            </a:r>
            <a:endParaRPr lang="en-US" altLang="zh-CN" sz="1200" dirty="0" smtClean="0"/>
          </a:p>
          <a:p>
            <a:pPr>
              <a:lnSpc>
                <a:spcPct val="80000"/>
              </a:lnSpc>
              <a:buFont typeface="Times"/>
              <a:buNone/>
            </a:pPr>
            <a:r>
              <a:rPr lang="en-US" altLang="zh-CN" sz="1200" dirty="0" smtClean="0">
                <a:sym typeface="+mn-ea"/>
              </a:rPr>
              <a:t>2  </a:t>
            </a:r>
            <a:endParaRPr lang="en-US" altLang="zh-CN" sz="1200" dirty="0" smtClean="0"/>
          </a:p>
          <a:p>
            <a:pPr>
              <a:lnSpc>
                <a:spcPct val="80000"/>
              </a:lnSpc>
              <a:buFont typeface="Times"/>
              <a:buNone/>
            </a:pPr>
            <a:r>
              <a:rPr lang="en-US" altLang="zh-CN" sz="1200" dirty="0" smtClean="0">
                <a:sym typeface="+mn-ea"/>
              </a:rPr>
              <a:t>3  public class </a:t>
            </a:r>
            <a:r>
              <a:rPr lang="en-US" altLang="zh-CN" sz="1200" dirty="0" err="1" smtClean="0">
                <a:sym typeface="+mn-ea"/>
              </a:rPr>
              <a:t>TestFileWriter</a:t>
            </a:r>
            <a:r>
              <a:rPr lang="en-US" altLang="zh-CN" sz="1200" dirty="0" smtClean="0">
                <a:sym typeface="+mn-ea"/>
              </a:rPr>
              <a:t> {</a:t>
            </a:r>
            <a:endParaRPr lang="en-US" altLang="zh-CN" sz="1200" dirty="0" smtClean="0"/>
          </a:p>
          <a:p>
            <a:pPr>
              <a:lnSpc>
                <a:spcPct val="80000"/>
              </a:lnSpc>
              <a:buFont typeface="Times"/>
              <a:buNone/>
            </a:pPr>
            <a:r>
              <a:rPr lang="en-US" altLang="zh-CN" sz="1200" dirty="0" smtClean="0">
                <a:sym typeface="+mn-ea"/>
              </a:rPr>
              <a:t>4      public static void main(String[] </a:t>
            </a:r>
            <a:r>
              <a:rPr lang="en-US" altLang="zh-CN" sz="1200" dirty="0" err="1" smtClean="0">
                <a:sym typeface="+mn-ea"/>
              </a:rPr>
              <a:t>args</a:t>
            </a:r>
            <a:r>
              <a:rPr lang="en-US" altLang="zh-CN" sz="1200" dirty="0" smtClean="0">
                <a:sym typeface="+mn-ea"/>
              </a:rPr>
              <a:t>) {</a:t>
            </a:r>
            <a:endParaRPr lang="en-US" altLang="zh-CN" sz="1200" dirty="0" smtClean="0"/>
          </a:p>
          <a:p>
            <a:pPr>
              <a:lnSpc>
                <a:spcPct val="80000"/>
              </a:lnSpc>
              <a:buFont typeface="Times"/>
              <a:buNone/>
            </a:pPr>
            <a:r>
              <a:rPr lang="en-US" altLang="zh-CN" sz="1200" dirty="0" smtClean="0">
                <a:sym typeface="+mn-ea"/>
              </a:rPr>
              <a:t>5          String[] text = {"</a:t>
            </a:r>
            <a:r>
              <a:rPr lang="zh-CN" altLang="en-US" sz="1200" dirty="0" smtClean="0">
                <a:sym typeface="+mn-ea"/>
              </a:rPr>
              <a:t>这是第</a:t>
            </a:r>
            <a:r>
              <a:rPr lang="en-US" altLang="zh-CN" sz="1200" dirty="0" smtClean="0">
                <a:sym typeface="+mn-ea"/>
              </a:rPr>
              <a:t>1</a:t>
            </a:r>
            <a:r>
              <a:rPr lang="zh-CN" altLang="en-US" sz="1200" dirty="0" smtClean="0">
                <a:sym typeface="+mn-ea"/>
              </a:rPr>
              <a:t>行</a:t>
            </a:r>
            <a:r>
              <a:rPr lang="en-US" altLang="zh-CN" sz="1200" dirty="0" smtClean="0">
                <a:sym typeface="+mn-ea"/>
              </a:rPr>
              <a:t>\r\n",</a:t>
            </a:r>
            <a:endParaRPr lang="en-US" altLang="zh-CN" sz="1200" dirty="0" smtClean="0"/>
          </a:p>
          <a:p>
            <a:pPr>
              <a:lnSpc>
                <a:spcPct val="80000"/>
              </a:lnSpc>
              <a:buFont typeface="Times"/>
              <a:buNone/>
            </a:pPr>
            <a:r>
              <a:rPr lang="en-US" altLang="zh-CN" sz="1200" dirty="0" smtClean="0">
                <a:sym typeface="+mn-ea"/>
              </a:rPr>
              <a:t>6                           "</a:t>
            </a:r>
            <a:r>
              <a:rPr lang="zh-CN" altLang="en-US" sz="1200" dirty="0" smtClean="0">
                <a:sym typeface="+mn-ea"/>
              </a:rPr>
              <a:t>这是一个</a:t>
            </a:r>
            <a:r>
              <a:rPr lang="en-US" altLang="zh-CN" sz="1200" dirty="0" err="1" smtClean="0">
                <a:sym typeface="+mn-ea"/>
              </a:rPr>
              <a:t>TestWriter</a:t>
            </a:r>
            <a:r>
              <a:rPr lang="zh-CN" altLang="en-US" sz="1200" dirty="0" smtClean="0">
                <a:sym typeface="+mn-ea"/>
              </a:rPr>
              <a:t>示例程序</a:t>
            </a:r>
            <a:r>
              <a:rPr lang="en-US" altLang="zh-CN" sz="1200" dirty="0" smtClean="0">
                <a:sym typeface="+mn-ea"/>
              </a:rPr>
              <a:t>\r\n",</a:t>
            </a:r>
            <a:endParaRPr lang="en-US" altLang="zh-CN" sz="1200" dirty="0" smtClean="0"/>
          </a:p>
          <a:p>
            <a:pPr>
              <a:lnSpc>
                <a:spcPct val="80000"/>
              </a:lnSpc>
              <a:buFont typeface="Times"/>
              <a:buNone/>
            </a:pPr>
            <a:r>
              <a:rPr lang="en-US" altLang="zh-CN" sz="1200" dirty="0" smtClean="0">
                <a:sym typeface="+mn-ea"/>
              </a:rPr>
              <a:t>7                           "</a:t>
            </a:r>
            <a:r>
              <a:rPr lang="zh-CN" altLang="en-US" sz="1200" dirty="0" smtClean="0">
                <a:sym typeface="+mn-ea"/>
              </a:rPr>
              <a:t>需要用</a:t>
            </a:r>
            <a:r>
              <a:rPr lang="en-US" altLang="zh-CN" sz="1200" dirty="0" err="1" smtClean="0">
                <a:sym typeface="+mn-ea"/>
              </a:rPr>
              <a:t>FileWriter</a:t>
            </a:r>
            <a:r>
              <a:rPr lang="zh-CN" altLang="en-US" sz="1200" dirty="0" smtClean="0">
                <a:sym typeface="+mn-ea"/>
              </a:rPr>
              <a:t>打开文件</a:t>
            </a:r>
            <a:r>
              <a:rPr lang="en-US" altLang="zh-CN" sz="1200" dirty="0" smtClean="0">
                <a:sym typeface="+mn-ea"/>
              </a:rPr>
              <a:t>\r\n",</a:t>
            </a:r>
            <a:endParaRPr lang="en-US" altLang="zh-CN" sz="1200" dirty="0" smtClean="0"/>
          </a:p>
          <a:p>
            <a:pPr>
              <a:lnSpc>
                <a:spcPct val="80000"/>
              </a:lnSpc>
              <a:buFont typeface="Times"/>
              <a:buNone/>
            </a:pPr>
            <a:r>
              <a:rPr lang="en-US" altLang="zh-CN" sz="1200" dirty="0" smtClean="0">
                <a:sym typeface="+mn-ea"/>
              </a:rPr>
              <a:t>8                           "</a:t>
            </a:r>
            <a:r>
              <a:rPr lang="zh-CN" altLang="en-US" sz="1200" dirty="0" smtClean="0">
                <a:sym typeface="+mn-ea"/>
              </a:rPr>
              <a:t>访问结束后需要关闭文件</a:t>
            </a:r>
            <a:r>
              <a:rPr lang="en-US" altLang="zh-CN" sz="1200" dirty="0" smtClean="0">
                <a:sym typeface="+mn-ea"/>
              </a:rPr>
              <a:t>\r\n"};</a:t>
            </a:r>
            <a:endParaRPr lang="en-US" altLang="zh-CN" sz="1200" dirty="0" smtClean="0"/>
          </a:p>
          <a:p>
            <a:pPr>
              <a:lnSpc>
                <a:spcPct val="80000"/>
              </a:lnSpc>
              <a:buFont typeface="Times"/>
              <a:buNone/>
            </a:pPr>
            <a:r>
              <a:rPr lang="en-US" altLang="zh-CN" sz="1200" dirty="0" smtClean="0">
                <a:sym typeface="+mn-ea"/>
              </a:rPr>
              <a:t>9          </a:t>
            </a:r>
            <a:r>
              <a:rPr lang="en-US" altLang="zh-CN" sz="1200" dirty="0" err="1" smtClean="0">
                <a:sym typeface="+mn-ea"/>
              </a:rPr>
              <a:t>FileWriter</a:t>
            </a:r>
            <a:r>
              <a:rPr lang="en-US" altLang="zh-CN" sz="1200" dirty="0" smtClean="0">
                <a:sym typeface="+mn-ea"/>
              </a:rPr>
              <a:t> </a:t>
            </a:r>
            <a:r>
              <a:rPr lang="en-US" altLang="zh-CN" sz="1200" dirty="0" err="1" smtClean="0">
                <a:sym typeface="+mn-ea"/>
              </a:rPr>
              <a:t>fw</a:t>
            </a:r>
            <a:r>
              <a:rPr lang="en-US" altLang="zh-CN" sz="1200" dirty="0" smtClean="0">
                <a:sym typeface="+mn-ea"/>
              </a:rPr>
              <a:t> = null;</a:t>
            </a:r>
            <a:endParaRPr lang="en-US" altLang="zh-CN" sz="1200" dirty="0" smtClean="0"/>
          </a:p>
          <a:p>
            <a:pPr>
              <a:lnSpc>
                <a:spcPct val="80000"/>
              </a:lnSpc>
              <a:buFont typeface="Times"/>
              <a:buNone/>
            </a:pPr>
            <a:r>
              <a:rPr lang="en-US" altLang="zh-CN" sz="1200" dirty="0" smtClean="0">
                <a:sym typeface="+mn-ea"/>
              </a:rPr>
              <a:t>10 </a:t>
            </a:r>
            <a:endParaRPr lang="en-US" altLang="zh-CN" sz="1200" dirty="0" smtClean="0"/>
          </a:p>
          <a:p>
            <a:pPr>
              <a:lnSpc>
                <a:spcPct val="80000"/>
              </a:lnSpc>
              <a:buFont typeface="Times"/>
              <a:buNone/>
            </a:pPr>
            <a:r>
              <a:rPr lang="en-US" altLang="zh-CN" sz="1200" dirty="0" smtClean="0">
                <a:sym typeface="+mn-ea"/>
              </a:rPr>
              <a:t>11         try {</a:t>
            </a:r>
            <a:endParaRPr lang="en-US" altLang="zh-CN" sz="1200" dirty="0" smtClean="0"/>
          </a:p>
          <a:p>
            <a:pPr>
              <a:lnSpc>
                <a:spcPct val="80000"/>
              </a:lnSpc>
              <a:buFont typeface="Times"/>
              <a:buNone/>
            </a:pPr>
            <a:r>
              <a:rPr lang="en-US" altLang="zh-CN" sz="1200" dirty="0" smtClean="0">
                <a:sym typeface="+mn-ea"/>
              </a:rPr>
              <a:t>12             </a:t>
            </a:r>
            <a:r>
              <a:rPr lang="en-US" altLang="zh-CN" sz="1200" dirty="0" err="1" smtClean="0">
                <a:sym typeface="+mn-ea"/>
              </a:rPr>
              <a:t>fw</a:t>
            </a:r>
            <a:r>
              <a:rPr lang="en-US" altLang="zh-CN" sz="1200" dirty="0" smtClean="0">
                <a:sym typeface="+mn-ea"/>
              </a:rPr>
              <a:t> = new </a:t>
            </a:r>
            <a:r>
              <a:rPr lang="en-US" altLang="zh-CN" sz="1200" dirty="0" err="1" smtClean="0">
                <a:sym typeface="+mn-ea"/>
              </a:rPr>
              <a:t>FileWriter</a:t>
            </a:r>
            <a:r>
              <a:rPr lang="en-US" altLang="zh-CN" sz="1200" dirty="0" smtClean="0">
                <a:sym typeface="+mn-ea"/>
              </a:rPr>
              <a:t>(</a:t>
            </a:r>
            <a:r>
              <a:rPr lang="en-US" altLang="zh-CN" sz="1200" dirty="0" err="1" smtClean="0">
                <a:sym typeface="+mn-ea"/>
              </a:rPr>
              <a:t>args</a:t>
            </a:r>
            <a:r>
              <a:rPr lang="en-US" altLang="zh-CN" sz="1200" dirty="0" smtClean="0">
                <a:sym typeface="+mn-ea"/>
              </a:rPr>
              <a:t>[0]);</a:t>
            </a:r>
            <a:endParaRPr lang="en-US" altLang="zh-CN" sz="1200" dirty="0" smtClean="0"/>
          </a:p>
          <a:p>
            <a:pPr>
              <a:lnSpc>
                <a:spcPct val="80000"/>
              </a:lnSpc>
              <a:buFont typeface="Times"/>
              <a:buNone/>
            </a:pPr>
            <a:r>
              <a:rPr lang="en-US" altLang="zh-CN" sz="1200" dirty="0" smtClean="0">
                <a:sym typeface="+mn-ea"/>
              </a:rPr>
              <a:t>13 </a:t>
            </a:r>
            <a:endParaRPr lang="en-US" altLang="zh-CN" sz="1200" dirty="0" smtClean="0"/>
          </a:p>
          <a:p>
            <a:pPr>
              <a:lnSpc>
                <a:spcPct val="80000"/>
              </a:lnSpc>
              <a:buFont typeface="Times"/>
              <a:buNone/>
            </a:pPr>
            <a:r>
              <a:rPr lang="en-US" altLang="zh-CN" sz="1200" dirty="0" smtClean="0">
                <a:sym typeface="+mn-ea"/>
              </a:rPr>
              <a:t>14             char[] </a:t>
            </a:r>
            <a:r>
              <a:rPr lang="en-US" altLang="zh-CN" sz="1200" dirty="0" err="1" smtClean="0">
                <a:sym typeface="+mn-ea"/>
              </a:rPr>
              <a:t>buf</a:t>
            </a:r>
            <a:r>
              <a:rPr lang="en-US" altLang="zh-CN" sz="1200" dirty="0" smtClean="0">
                <a:sym typeface="+mn-ea"/>
              </a:rPr>
              <a:t>;</a:t>
            </a:r>
            <a:endParaRPr lang="en-US" altLang="zh-CN" sz="1200" dirty="0" smtClean="0"/>
          </a:p>
          <a:p>
            <a:pPr>
              <a:lnSpc>
                <a:spcPct val="80000"/>
              </a:lnSpc>
              <a:buFont typeface="Times"/>
              <a:buNone/>
            </a:pPr>
            <a:r>
              <a:rPr lang="en-US" altLang="zh-CN" sz="1200" dirty="0" smtClean="0">
                <a:sym typeface="+mn-ea"/>
              </a:rPr>
              <a:t>15             for(String </a:t>
            </a:r>
            <a:r>
              <a:rPr lang="en-US" altLang="zh-CN" sz="1200" dirty="0" err="1" smtClean="0">
                <a:sym typeface="+mn-ea"/>
              </a:rPr>
              <a:t>str</a:t>
            </a:r>
            <a:r>
              <a:rPr lang="en-US" altLang="zh-CN" sz="1200" dirty="0" smtClean="0">
                <a:sym typeface="+mn-ea"/>
              </a:rPr>
              <a:t> : text){</a:t>
            </a:r>
            <a:endParaRPr lang="en-US" altLang="zh-CN" sz="1200" dirty="0" smtClean="0"/>
          </a:p>
          <a:p>
            <a:pPr>
              <a:lnSpc>
                <a:spcPct val="80000"/>
              </a:lnSpc>
              <a:buFont typeface="Times"/>
              <a:buNone/>
            </a:pPr>
            <a:r>
              <a:rPr lang="en-US" altLang="zh-CN" sz="1200" dirty="0" smtClean="0">
                <a:sym typeface="+mn-ea"/>
              </a:rPr>
              <a:t>16                 </a:t>
            </a:r>
            <a:r>
              <a:rPr lang="en-US" altLang="zh-CN" sz="1200" dirty="0" err="1" smtClean="0">
                <a:sym typeface="+mn-ea"/>
              </a:rPr>
              <a:t>buf</a:t>
            </a:r>
            <a:r>
              <a:rPr lang="en-US" altLang="zh-CN" sz="1200" dirty="0" smtClean="0">
                <a:sym typeface="+mn-ea"/>
              </a:rPr>
              <a:t> = </a:t>
            </a:r>
            <a:r>
              <a:rPr lang="en-US" altLang="zh-CN" sz="1200" dirty="0" err="1" smtClean="0">
                <a:sym typeface="+mn-ea"/>
              </a:rPr>
              <a:t>str.toCharArray</a:t>
            </a:r>
            <a:r>
              <a:rPr lang="en-US" altLang="zh-CN" sz="1200" dirty="0" smtClean="0">
                <a:sym typeface="+mn-ea"/>
              </a:rPr>
              <a:t>();</a:t>
            </a:r>
            <a:endParaRPr lang="en-US" altLang="zh-CN" sz="1200" dirty="0" smtClean="0"/>
          </a:p>
          <a:p>
            <a:pPr>
              <a:lnSpc>
                <a:spcPct val="80000"/>
              </a:lnSpc>
              <a:buFont typeface="Times"/>
              <a:buNone/>
            </a:pPr>
            <a:r>
              <a:rPr lang="en-US" altLang="zh-CN" sz="1200" dirty="0" smtClean="0">
                <a:sym typeface="+mn-ea"/>
              </a:rPr>
              <a:t>17                 for (</a:t>
            </a:r>
            <a:r>
              <a:rPr lang="en-US" altLang="zh-CN" sz="1200" dirty="0" err="1" smtClean="0">
                <a:sym typeface="+mn-ea"/>
              </a:rPr>
              <a:t>int</a:t>
            </a:r>
            <a:r>
              <a:rPr lang="en-US" altLang="zh-CN" sz="1200" dirty="0" smtClean="0">
                <a:sym typeface="+mn-ea"/>
              </a:rPr>
              <a:t> </a:t>
            </a:r>
            <a:r>
              <a:rPr lang="en-US" altLang="zh-CN" sz="1200" dirty="0" err="1" smtClean="0">
                <a:sym typeface="+mn-ea"/>
              </a:rPr>
              <a:t>i</a:t>
            </a:r>
            <a:r>
              <a:rPr lang="en-US" altLang="zh-CN" sz="1200" dirty="0" smtClean="0">
                <a:sym typeface="+mn-ea"/>
              </a:rPr>
              <a:t> = 0; </a:t>
            </a:r>
            <a:r>
              <a:rPr lang="en-US" altLang="zh-CN" sz="1200" dirty="0" err="1" smtClean="0">
                <a:sym typeface="+mn-ea"/>
              </a:rPr>
              <a:t>i</a:t>
            </a:r>
            <a:r>
              <a:rPr lang="en-US" altLang="zh-CN" sz="1200" dirty="0" smtClean="0">
                <a:sym typeface="+mn-ea"/>
              </a:rPr>
              <a:t> &lt; </a:t>
            </a:r>
            <a:r>
              <a:rPr lang="en-US" altLang="zh-CN" sz="1200" dirty="0" err="1" smtClean="0">
                <a:sym typeface="+mn-ea"/>
              </a:rPr>
              <a:t>str.length</a:t>
            </a:r>
            <a:r>
              <a:rPr lang="en-US" altLang="zh-CN" sz="1200" dirty="0" smtClean="0">
                <a:sym typeface="+mn-ea"/>
              </a:rPr>
              <a:t>(); </a:t>
            </a:r>
            <a:r>
              <a:rPr lang="en-US" altLang="zh-CN" sz="1200" dirty="0" err="1" smtClean="0">
                <a:sym typeface="+mn-ea"/>
              </a:rPr>
              <a:t>i</a:t>
            </a:r>
            <a:r>
              <a:rPr lang="en-US" altLang="zh-CN" sz="1200" dirty="0" smtClean="0">
                <a:sym typeface="+mn-ea"/>
              </a:rPr>
              <a:t>++ ){</a:t>
            </a:r>
            <a:endParaRPr lang="en-US" altLang="zh-CN" sz="1200" dirty="0" smtClean="0"/>
          </a:p>
          <a:p>
            <a:pPr>
              <a:lnSpc>
                <a:spcPct val="80000"/>
              </a:lnSpc>
              <a:buFont typeface="Times"/>
              <a:buNone/>
            </a:pPr>
            <a:r>
              <a:rPr lang="en-US" altLang="zh-CN" sz="1200" dirty="0" smtClean="0">
                <a:sym typeface="+mn-ea"/>
              </a:rPr>
              <a:t>18                     </a:t>
            </a:r>
            <a:r>
              <a:rPr lang="en-US" altLang="zh-CN" sz="1200" dirty="0" err="1" smtClean="0">
                <a:sym typeface="+mn-ea"/>
              </a:rPr>
              <a:t>System.out.print</a:t>
            </a:r>
            <a:r>
              <a:rPr lang="en-US" altLang="zh-CN" sz="1200" dirty="0" smtClean="0">
                <a:sym typeface="+mn-ea"/>
              </a:rPr>
              <a:t>(</a:t>
            </a:r>
            <a:r>
              <a:rPr lang="en-US" altLang="zh-CN" sz="1200" dirty="0" err="1" smtClean="0">
                <a:sym typeface="+mn-ea"/>
              </a:rPr>
              <a:t>buf</a:t>
            </a:r>
            <a:r>
              <a:rPr lang="en-US" altLang="zh-CN" sz="1200" dirty="0" smtClean="0">
                <a:sym typeface="+mn-ea"/>
              </a:rPr>
              <a:t>[</a:t>
            </a:r>
            <a:r>
              <a:rPr lang="en-US" altLang="zh-CN" sz="1200" dirty="0" err="1" smtClean="0">
                <a:sym typeface="+mn-ea"/>
              </a:rPr>
              <a:t>i</a:t>
            </a:r>
            <a:r>
              <a:rPr lang="en-US" altLang="zh-CN" sz="1200" dirty="0" smtClean="0">
                <a:sym typeface="+mn-ea"/>
              </a:rPr>
              <a:t>]);</a:t>
            </a:r>
            <a:endParaRPr lang="en-US" altLang="zh-CN" sz="12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字符流写文件示例 </a:t>
            </a:r>
            <a:r>
              <a:rPr lang="en-US" altLang="zh-CN" sz="2400" dirty="0" smtClean="0">
                <a:ea typeface="宋体" panose="02010600030101010101" pitchFamily="2" charset="-122"/>
                <a:sym typeface="+mn-ea"/>
              </a:rPr>
              <a:t>— </a:t>
            </a:r>
            <a:r>
              <a:rPr lang="en-US" altLang="zh-CN" sz="2400" dirty="0" err="1" smtClean="0">
                <a:sym typeface="+mn-ea"/>
              </a:rPr>
              <a:t>TestFileWriter</a:t>
            </a:r>
            <a:r>
              <a:rPr lang="zh-CN" altLang="en-US" sz="2400" dirty="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lnSpc>
                <a:spcPct val="80000"/>
              </a:lnSpc>
              <a:buFont typeface="Times"/>
              <a:buNone/>
            </a:pPr>
            <a:r>
              <a:rPr lang="en-US" altLang="zh-CN" sz="1200" dirty="0" smtClean="0">
                <a:sym typeface="+mn-ea"/>
              </a:rPr>
              <a:t>19                 }</a:t>
            </a:r>
            <a:endParaRPr lang="en-US" altLang="zh-CN" sz="1200" dirty="0" smtClean="0"/>
          </a:p>
          <a:p>
            <a:pPr>
              <a:lnSpc>
                <a:spcPct val="80000"/>
              </a:lnSpc>
              <a:buFont typeface="Times"/>
              <a:buNone/>
            </a:pPr>
            <a:r>
              <a:rPr lang="en-US" altLang="zh-CN" sz="1200" dirty="0" smtClean="0">
                <a:sym typeface="+mn-ea"/>
              </a:rPr>
              <a:t>20 </a:t>
            </a:r>
            <a:endParaRPr lang="en-US" altLang="zh-CN" sz="1200" dirty="0" smtClean="0"/>
          </a:p>
          <a:p>
            <a:pPr>
              <a:lnSpc>
                <a:spcPct val="80000"/>
              </a:lnSpc>
              <a:buFont typeface="Times"/>
              <a:buNone/>
            </a:pPr>
            <a:r>
              <a:rPr lang="en-US" altLang="zh-CN" sz="1200" dirty="0" smtClean="0">
                <a:sym typeface="+mn-ea"/>
              </a:rPr>
              <a:t>21                 </a:t>
            </a:r>
            <a:r>
              <a:rPr lang="en-US" altLang="zh-CN" sz="1200" dirty="0" err="1" smtClean="0">
                <a:sym typeface="+mn-ea"/>
              </a:rPr>
              <a:t>fw.write</a:t>
            </a:r>
            <a:r>
              <a:rPr lang="en-US" altLang="zh-CN" sz="1200" dirty="0" smtClean="0">
                <a:sym typeface="+mn-ea"/>
              </a:rPr>
              <a:t>(</a:t>
            </a:r>
            <a:r>
              <a:rPr lang="en-US" altLang="zh-CN" sz="1200" dirty="0" err="1" smtClean="0">
                <a:sym typeface="+mn-ea"/>
              </a:rPr>
              <a:t>buf</a:t>
            </a:r>
            <a:r>
              <a:rPr lang="en-US" altLang="zh-CN" sz="1200" dirty="0" smtClean="0">
                <a:sym typeface="+mn-ea"/>
              </a:rPr>
              <a:t>, 0, </a:t>
            </a:r>
            <a:r>
              <a:rPr lang="en-US" altLang="zh-CN" sz="1200" dirty="0" err="1" smtClean="0">
                <a:sym typeface="+mn-ea"/>
              </a:rPr>
              <a:t>str.length</a:t>
            </a:r>
            <a:r>
              <a:rPr lang="en-US" altLang="zh-CN" sz="1200" dirty="0" smtClean="0">
                <a:sym typeface="+mn-ea"/>
              </a:rPr>
              <a:t>());</a:t>
            </a:r>
            <a:endParaRPr lang="en-US" altLang="zh-CN" sz="1200" dirty="0" smtClean="0"/>
          </a:p>
          <a:p>
            <a:pPr>
              <a:lnSpc>
                <a:spcPct val="80000"/>
              </a:lnSpc>
              <a:buFont typeface="Times"/>
              <a:buNone/>
            </a:pPr>
            <a:r>
              <a:rPr lang="en-US" altLang="zh-CN" sz="1200" dirty="0" smtClean="0">
                <a:sym typeface="+mn-ea"/>
              </a:rPr>
              <a:t>22                 //</a:t>
            </a:r>
            <a:r>
              <a:rPr lang="zh-CN" altLang="en-US" sz="1200" dirty="0" smtClean="0">
                <a:sym typeface="+mn-ea"/>
              </a:rPr>
              <a:t>或 </a:t>
            </a:r>
            <a:r>
              <a:rPr lang="en-US" altLang="zh-CN" sz="1200" dirty="0" err="1" smtClean="0">
                <a:sym typeface="+mn-ea"/>
              </a:rPr>
              <a:t>fw.write</a:t>
            </a:r>
            <a:r>
              <a:rPr lang="en-US" altLang="zh-CN" sz="1200" dirty="0" smtClean="0">
                <a:sym typeface="+mn-ea"/>
              </a:rPr>
              <a:t>(</a:t>
            </a:r>
            <a:r>
              <a:rPr lang="en-US" altLang="zh-CN" sz="1200" dirty="0" err="1" smtClean="0">
                <a:sym typeface="+mn-ea"/>
              </a:rPr>
              <a:t>str</a:t>
            </a:r>
            <a:r>
              <a:rPr lang="en-US" altLang="zh-CN" sz="1200" dirty="0" smtClean="0">
                <a:sym typeface="+mn-ea"/>
              </a:rPr>
              <a:t>, 0, </a:t>
            </a:r>
            <a:r>
              <a:rPr lang="en-US" altLang="zh-CN" sz="1200" dirty="0" err="1" smtClean="0">
                <a:sym typeface="+mn-ea"/>
              </a:rPr>
              <a:t>str.length</a:t>
            </a:r>
            <a:r>
              <a:rPr lang="en-US" altLang="zh-CN" sz="1200" dirty="0" smtClean="0">
                <a:sym typeface="+mn-ea"/>
              </a:rPr>
              <a:t>());</a:t>
            </a:r>
            <a:endParaRPr lang="en-US" altLang="zh-CN" sz="1200" dirty="0" smtClean="0"/>
          </a:p>
          <a:p>
            <a:pPr>
              <a:lnSpc>
                <a:spcPct val="80000"/>
              </a:lnSpc>
              <a:buFont typeface="Times"/>
              <a:buNone/>
            </a:pPr>
            <a:r>
              <a:rPr lang="en-US" altLang="zh-CN" sz="1200" dirty="0" smtClean="0">
                <a:sym typeface="+mn-ea"/>
              </a:rPr>
              <a:t>23             }</a:t>
            </a:r>
            <a:endParaRPr lang="en-US" altLang="zh-CN" sz="1200" dirty="0" smtClean="0"/>
          </a:p>
          <a:p>
            <a:pPr>
              <a:lnSpc>
                <a:spcPct val="80000"/>
              </a:lnSpc>
              <a:buFont typeface="Times"/>
              <a:buNone/>
            </a:pPr>
            <a:r>
              <a:rPr lang="en-US" altLang="zh-CN" sz="1200" dirty="0" smtClean="0">
                <a:sym typeface="+mn-ea"/>
              </a:rPr>
              <a:t>24         } catch (</a:t>
            </a:r>
            <a:r>
              <a:rPr lang="en-US" altLang="zh-CN" sz="1200" dirty="0" err="1" smtClean="0">
                <a:sym typeface="+mn-ea"/>
              </a:rPr>
              <a:t>IOException</a:t>
            </a:r>
            <a:r>
              <a:rPr lang="en-US" altLang="zh-CN" sz="1200" dirty="0" smtClean="0">
                <a:sym typeface="+mn-ea"/>
              </a:rPr>
              <a:t> e) {</a:t>
            </a:r>
            <a:endParaRPr lang="en-US" altLang="zh-CN" sz="1200" dirty="0" smtClean="0"/>
          </a:p>
          <a:p>
            <a:pPr>
              <a:lnSpc>
                <a:spcPct val="80000"/>
              </a:lnSpc>
              <a:buFont typeface="Times"/>
              <a:buNone/>
            </a:pPr>
            <a:r>
              <a:rPr lang="en-US" altLang="zh-CN" sz="1200" dirty="0" smtClean="0">
                <a:sym typeface="+mn-ea"/>
              </a:rPr>
              <a:t>25             </a:t>
            </a:r>
            <a:r>
              <a:rPr lang="en-US" altLang="zh-CN" sz="1200" dirty="0" err="1" smtClean="0">
                <a:sym typeface="+mn-ea"/>
              </a:rPr>
              <a:t>e.printStackTrace</a:t>
            </a:r>
            <a:r>
              <a:rPr lang="en-US" altLang="zh-CN" sz="1200" dirty="0" smtClean="0">
                <a:sym typeface="+mn-ea"/>
              </a:rPr>
              <a:t>();</a:t>
            </a:r>
            <a:endParaRPr lang="en-US" altLang="zh-CN" sz="1200" dirty="0" smtClean="0"/>
          </a:p>
          <a:p>
            <a:pPr>
              <a:lnSpc>
                <a:spcPct val="80000"/>
              </a:lnSpc>
              <a:buFont typeface="Times"/>
              <a:buNone/>
            </a:pPr>
            <a:r>
              <a:rPr lang="en-US" altLang="zh-CN" sz="1200" dirty="0" smtClean="0">
                <a:sym typeface="+mn-ea"/>
              </a:rPr>
              <a:t>26         } finally {</a:t>
            </a:r>
            <a:endParaRPr lang="en-US" altLang="zh-CN" sz="1200" dirty="0" smtClean="0"/>
          </a:p>
          <a:p>
            <a:pPr>
              <a:lnSpc>
                <a:spcPct val="80000"/>
              </a:lnSpc>
              <a:buFont typeface="Times"/>
              <a:buNone/>
            </a:pPr>
            <a:r>
              <a:rPr lang="en-US" altLang="zh-CN" sz="1200" dirty="0" smtClean="0">
                <a:sym typeface="+mn-ea"/>
              </a:rPr>
              <a:t>27             if (</a:t>
            </a:r>
            <a:r>
              <a:rPr lang="en-US" altLang="zh-CN" sz="1200" dirty="0" err="1" smtClean="0">
                <a:sym typeface="+mn-ea"/>
              </a:rPr>
              <a:t>fw</a:t>
            </a:r>
            <a:r>
              <a:rPr lang="en-US" altLang="zh-CN" sz="1200" dirty="0" smtClean="0">
                <a:sym typeface="+mn-ea"/>
              </a:rPr>
              <a:t> != null)    {</a:t>
            </a:r>
            <a:endParaRPr lang="en-US" altLang="zh-CN" sz="1200" dirty="0" smtClean="0"/>
          </a:p>
          <a:p>
            <a:pPr>
              <a:lnSpc>
                <a:spcPct val="80000"/>
              </a:lnSpc>
              <a:buFont typeface="Times"/>
              <a:buNone/>
            </a:pPr>
            <a:r>
              <a:rPr lang="en-US" altLang="zh-CN" sz="1200" dirty="0" smtClean="0">
                <a:sym typeface="+mn-ea"/>
              </a:rPr>
              <a:t>28                 try {</a:t>
            </a:r>
            <a:endParaRPr lang="en-US" altLang="zh-CN" sz="1200" dirty="0" smtClean="0"/>
          </a:p>
          <a:p>
            <a:pPr>
              <a:lnSpc>
                <a:spcPct val="80000"/>
              </a:lnSpc>
              <a:buFont typeface="Times"/>
              <a:buNone/>
            </a:pPr>
            <a:r>
              <a:rPr lang="en-US" altLang="zh-CN" sz="1200" dirty="0" smtClean="0">
                <a:sym typeface="+mn-ea"/>
              </a:rPr>
              <a:t>29                     </a:t>
            </a:r>
            <a:r>
              <a:rPr lang="en-US" altLang="zh-CN" sz="1200" dirty="0" err="1" smtClean="0">
                <a:sym typeface="+mn-ea"/>
              </a:rPr>
              <a:t>fw.close</a:t>
            </a:r>
            <a:r>
              <a:rPr lang="en-US" altLang="zh-CN" sz="1200" dirty="0" smtClean="0">
                <a:sym typeface="+mn-ea"/>
              </a:rPr>
              <a:t>();</a:t>
            </a:r>
            <a:endParaRPr lang="en-US" altLang="zh-CN" sz="1200" dirty="0" smtClean="0"/>
          </a:p>
          <a:p>
            <a:pPr>
              <a:lnSpc>
                <a:spcPct val="80000"/>
              </a:lnSpc>
              <a:buFont typeface="Times"/>
              <a:buNone/>
            </a:pPr>
            <a:r>
              <a:rPr lang="en-US" altLang="zh-CN" sz="1200" dirty="0" smtClean="0">
                <a:sym typeface="+mn-ea"/>
              </a:rPr>
              <a:t>30                 } catch (</a:t>
            </a:r>
            <a:r>
              <a:rPr lang="en-US" altLang="zh-CN" sz="1200" dirty="0" err="1" smtClean="0">
                <a:sym typeface="+mn-ea"/>
              </a:rPr>
              <a:t>IOException</a:t>
            </a:r>
            <a:r>
              <a:rPr lang="en-US" altLang="zh-CN" sz="1200" dirty="0" smtClean="0">
                <a:sym typeface="+mn-ea"/>
              </a:rPr>
              <a:t> e) {</a:t>
            </a:r>
            <a:endParaRPr lang="en-US" altLang="zh-CN" sz="1200" dirty="0" smtClean="0"/>
          </a:p>
          <a:p>
            <a:pPr>
              <a:lnSpc>
                <a:spcPct val="80000"/>
              </a:lnSpc>
              <a:buFont typeface="Times"/>
              <a:buNone/>
            </a:pPr>
            <a:r>
              <a:rPr lang="en-US" altLang="zh-CN" sz="1200" dirty="0" smtClean="0">
                <a:sym typeface="+mn-ea"/>
              </a:rPr>
              <a:t>31                 }</a:t>
            </a:r>
            <a:endParaRPr lang="en-US" altLang="zh-CN" sz="1200" dirty="0" smtClean="0"/>
          </a:p>
          <a:p>
            <a:pPr>
              <a:lnSpc>
                <a:spcPct val="80000"/>
              </a:lnSpc>
              <a:buFont typeface="Times"/>
              <a:buNone/>
            </a:pPr>
            <a:r>
              <a:rPr lang="en-US" altLang="zh-CN" sz="1200" dirty="0" smtClean="0">
                <a:sym typeface="+mn-ea"/>
              </a:rPr>
              <a:t>32             }</a:t>
            </a:r>
            <a:endParaRPr lang="en-US" altLang="zh-CN" sz="1200" dirty="0" smtClean="0"/>
          </a:p>
          <a:p>
            <a:pPr>
              <a:lnSpc>
                <a:spcPct val="80000"/>
              </a:lnSpc>
              <a:buFont typeface="Times"/>
              <a:buNone/>
            </a:pPr>
            <a:r>
              <a:rPr lang="en-US" altLang="zh-CN" sz="1200" dirty="0" smtClean="0">
                <a:sym typeface="+mn-ea"/>
              </a:rPr>
              <a:t>33         }</a:t>
            </a:r>
            <a:endParaRPr lang="en-US" altLang="zh-CN" sz="1200" dirty="0" smtClean="0"/>
          </a:p>
          <a:p>
            <a:pPr>
              <a:lnSpc>
                <a:spcPct val="80000"/>
              </a:lnSpc>
              <a:buFont typeface="Times"/>
              <a:buNone/>
            </a:pPr>
            <a:r>
              <a:rPr lang="en-US" altLang="zh-CN" sz="1200" dirty="0" smtClean="0">
                <a:sym typeface="+mn-ea"/>
              </a:rPr>
              <a:t>34     }</a:t>
            </a:r>
            <a:endParaRPr lang="en-US" altLang="zh-CN" sz="1200" dirty="0" smtClean="0"/>
          </a:p>
          <a:p>
            <a:pPr>
              <a:lnSpc>
                <a:spcPct val="80000"/>
              </a:lnSpc>
              <a:buFont typeface="Times"/>
              <a:buNone/>
            </a:pPr>
            <a:r>
              <a:rPr lang="en-US" altLang="zh-CN" sz="1200" dirty="0" smtClean="0">
                <a:sym typeface="+mn-ea"/>
              </a:rPr>
              <a:t>35 }</a:t>
            </a:r>
            <a:endParaRPr lang="en-US" altLang="zh-CN" sz="12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编写程序FileCopy.java，在main方法中，将FileCopy.java复制为FileCopy.java.bak文件；</a:t>
            </a:r>
            <a:endParaRPr lang="zh-CN" altLang="en-US" sz="200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查看FileCopy.java.bak文件的内容，验证复制是否正确。</a:t>
            </a:r>
            <a:endParaRPr lang="zh-CN" altLang="en-US" sz="200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endParaRPr lang="zh-CN" altLang="en-US" sz="2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01600" y="3137535"/>
            <a:ext cx="1179195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第二节 </a:t>
            </a:r>
            <a:r>
              <a:rPr lang="zh-CN" altLang="en-US" sz="6665" dirty="0">
                <a:solidFill>
                  <a:schemeClr val="bg1"/>
                </a:solidFill>
                <a:latin typeface="Arial" panose="020B0604020202020204" pitchFamily="34" charset="0"/>
                <a:ea typeface="宋体" panose="02010600030101010101" pitchFamily="2" charset="-122"/>
                <a:sym typeface="+mn-ea"/>
              </a:rPr>
              <a:t>字符流的包装与链接</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字符流的包装与链接</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通常很少使用单个流对象，而是将一系列的流以包装的形式链接起来处理数据。</a:t>
            </a:r>
            <a:endParaRPr lang="zh-CN" altLang="en-US" sz="200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包装可以在不改变被包装流的前提下，获得更强的流处理功能。</a:t>
            </a:r>
            <a:endParaRPr lang="zh-CN" altLang="en-US" sz="200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典型的字符输入流/输出流的链接如下：</a:t>
            </a:r>
            <a:endParaRPr lang="zh-CN" altLang="en-US" sz="2000" smtClean="0">
              <a:ea typeface="宋体" panose="02010600030101010101" pitchFamily="2" charset="-122"/>
              <a:sym typeface="+mn-ea"/>
            </a:endParaRPr>
          </a:p>
        </p:txBody>
      </p:sp>
      <p:pic>
        <p:nvPicPr>
          <p:cNvPr id="303109" name="Picture 2"/>
          <p:cNvPicPr>
            <a:picLocks noChangeAspect="1" noChangeArrowheads="1"/>
          </p:cNvPicPr>
          <p:nvPr/>
        </p:nvPicPr>
        <p:blipFill>
          <a:blip r:embed="rId5"/>
          <a:srcRect/>
          <a:stretch>
            <a:fillRect/>
          </a:stretch>
        </p:blipFill>
        <p:spPr bwMode="auto">
          <a:xfrm>
            <a:off x="1164273" y="2670820"/>
            <a:ext cx="6935787" cy="1295400"/>
          </a:xfrm>
          <a:prstGeom prst="rect">
            <a:avLst/>
          </a:prstGeom>
          <a:noFill/>
          <a:ln w="9525">
            <a:noFill/>
            <a:miter lim="800000"/>
            <a:headEnd/>
            <a:tailEnd/>
          </a:ln>
        </p:spPr>
      </p:pic>
      <p:pic>
        <p:nvPicPr>
          <p:cNvPr id="303110" name="Picture 4"/>
          <p:cNvPicPr>
            <a:picLocks noChangeAspect="1" noChangeArrowheads="1"/>
          </p:cNvPicPr>
          <p:nvPr/>
        </p:nvPicPr>
        <p:blipFill>
          <a:blip r:embed="rId6"/>
          <a:srcRect/>
          <a:stretch>
            <a:fillRect/>
          </a:stretch>
        </p:blipFill>
        <p:spPr bwMode="auto">
          <a:xfrm>
            <a:off x="1164273" y="4028142"/>
            <a:ext cx="6913562" cy="129540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字符流链接示例 </a:t>
            </a:r>
            <a:r>
              <a:rPr lang="en-US" altLang="zh-CN" sz="2400" dirty="0" smtClean="0">
                <a:ea typeface="宋体" panose="02010600030101010101" pitchFamily="2" charset="-122"/>
                <a:sym typeface="+mn-ea"/>
              </a:rPr>
              <a:t>— </a:t>
            </a:r>
            <a:r>
              <a:rPr lang="en-US" altLang="zh-CN" sz="2400" dirty="0" err="1" smtClean="0">
                <a:sym typeface="+mn-ea"/>
              </a:rPr>
              <a:t>TestBufferedReader</a:t>
            </a:r>
            <a:r>
              <a:rPr lang="zh-CN" altLang="en-US" sz="2400" dirty="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buFont typeface="Times"/>
              <a:buNone/>
              <a:defRPr/>
            </a:pPr>
            <a:r>
              <a:rPr lang="en-US" altLang="zh-CN" sz="1200" dirty="0" smtClean="0">
                <a:sym typeface="+mn-ea"/>
              </a:rPr>
              <a:t>1  import java.io.*;</a:t>
            </a:r>
            <a:endParaRPr lang="en-US" altLang="zh-CN" sz="1200" dirty="0" smtClean="0">
              <a:ea typeface="+mn-ea"/>
            </a:endParaRPr>
          </a:p>
          <a:p>
            <a:pPr>
              <a:buFont typeface="Times"/>
              <a:buNone/>
              <a:defRPr/>
            </a:pPr>
            <a:r>
              <a:rPr lang="en-US" altLang="zh-CN" sz="1200" dirty="0" smtClean="0">
                <a:sym typeface="+mn-ea"/>
              </a:rPr>
              <a:t>2  </a:t>
            </a:r>
            <a:endParaRPr lang="en-US" altLang="zh-CN" sz="1200" dirty="0" smtClean="0">
              <a:ea typeface="+mn-ea"/>
            </a:endParaRPr>
          </a:p>
          <a:p>
            <a:pPr>
              <a:buFont typeface="Times"/>
              <a:buNone/>
              <a:defRPr/>
            </a:pPr>
            <a:r>
              <a:rPr lang="en-US" altLang="zh-CN" sz="1200" dirty="0" smtClean="0">
                <a:sym typeface="+mn-ea"/>
              </a:rPr>
              <a:t>3  public class </a:t>
            </a:r>
            <a:r>
              <a:rPr lang="en-US" altLang="zh-CN" sz="1200" dirty="0" err="1" smtClean="0">
                <a:sym typeface="+mn-ea"/>
              </a:rPr>
              <a:t>TestBufferedReader</a:t>
            </a:r>
            <a:r>
              <a:rPr lang="en-US" altLang="zh-CN" sz="1200" dirty="0" smtClean="0">
                <a:sym typeface="+mn-ea"/>
              </a:rPr>
              <a:t> {</a:t>
            </a:r>
            <a:endParaRPr lang="en-US" altLang="zh-CN" sz="1200" dirty="0" smtClean="0">
              <a:ea typeface="+mn-ea"/>
            </a:endParaRPr>
          </a:p>
          <a:p>
            <a:pPr>
              <a:buFont typeface="Times"/>
              <a:buNone/>
              <a:defRPr/>
            </a:pPr>
            <a:r>
              <a:rPr lang="en-US" altLang="zh-CN" sz="1200" dirty="0" smtClean="0">
                <a:sym typeface="+mn-ea"/>
              </a:rPr>
              <a:t>4      public static void main(String[] </a:t>
            </a:r>
            <a:r>
              <a:rPr lang="en-US" altLang="zh-CN" sz="1200" dirty="0" err="1" smtClean="0">
                <a:sym typeface="+mn-ea"/>
              </a:rPr>
              <a:t>args</a:t>
            </a:r>
            <a:r>
              <a:rPr lang="en-US" altLang="zh-CN" sz="1200" dirty="0" smtClean="0">
                <a:sym typeface="+mn-ea"/>
              </a:rPr>
              <a:t>) {</a:t>
            </a:r>
            <a:endParaRPr lang="en-US" altLang="zh-CN" sz="1200" dirty="0" smtClean="0">
              <a:ea typeface="+mn-ea"/>
            </a:endParaRPr>
          </a:p>
          <a:p>
            <a:pPr>
              <a:buFont typeface="Times"/>
              <a:buNone/>
              <a:defRPr/>
            </a:pPr>
            <a:r>
              <a:rPr lang="en-US" altLang="zh-CN" sz="1200" dirty="0" smtClean="0">
                <a:sym typeface="+mn-ea"/>
              </a:rPr>
              <a:t>5          </a:t>
            </a:r>
            <a:r>
              <a:rPr lang="en-US" altLang="zh-CN" sz="1200" dirty="0" err="1" smtClean="0">
                <a:sym typeface="+mn-ea"/>
              </a:rPr>
              <a:t>FileReader</a:t>
            </a:r>
            <a:r>
              <a:rPr lang="en-US" altLang="zh-CN" sz="1200" dirty="0" smtClean="0">
                <a:sym typeface="+mn-ea"/>
              </a:rPr>
              <a:t> </a:t>
            </a:r>
            <a:r>
              <a:rPr lang="en-US" altLang="zh-CN" sz="1200" dirty="0" err="1" smtClean="0">
                <a:sym typeface="+mn-ea"/>
              </a:rPr>
              <a:t>fr</a:t>
            </a:r>
            <a:r>
              <a:rPr lang="en-US" altLang="zh-CN" sz="1200" dirty="0" smtClean="0">
                <a:sym typeface="+mn-ea"/>
              </a:rPr>
              <a:t> = null;</a:t>
            </a:r>
            <a:endParaRPr lang="en-US" altLang="zh-CN" sz="1200" dirty="0" smtClean="0">
              <a:ea typeface="+mn-ea"/>
            </a:endParaRPr>
          </a:p>
          <a:p>
            <a:pPr>
              <a:buFont typeface="Times"/>
              <a:buNone/>
              <a:defRPr/>
            </a:pPr>
            <a:r>
              <a:rPr lang="en-US" altLang="zh-CN" sz="1200" dirty="0" smtClean="0">
                <a:sym typeface="+mn-ea"/>
              </a:rPr>
              <a:t>6          </a:t>
            </a:r>
            <a:r>
              <a:rPr lang="en-US" altLang="zh-CN" sz="1200" dirty="0" err="1" smtClean="0">
                <a:sym typeface="+mn-ea"/>
              </a:rPr>
              <a:t>BufferedReader</a:t>
            </a:r>
            <a:r>
              <a:rPr lang="en-US" altLang="zh-CN" sz="1200" dirty="0" smtClean="0">
                <a:sym typeface="+mn-ea"/>
              </a:rPr>
              <a:t> </a:t>
            </a:r>
            <a:r>
              <a:rPr lang="en-US" altLang="zh-CN" sz="1200" dirty="0" err="1" smtClean="0">
                <a:sym typeface="+mn-ea"/>
              </a:rPr>
              <a:t>br</a:t>
            </a:r>
            <a:r>
              <a:rPr lang="en-US" altLang="zh-CN" sz="1200" dirty="0" smtClean="0">
                <a:sym typeface="+mn-ea"/>
              </a:rPr>
              <a:t> = null;</a:t>
            </a:r>
            <a:endParaRPr lang="en-US" altLang="zh-CN" sz="1200" dirty="0" smtClean="0">
              <a:ea typeface="+mn-ea"/>
            </a:endParaRPr>
          </a:p>
          <a:p>
            <a:pPr>
              <a:buFont typeface="Times"/>
              <a:buNone/>
              <a:defRPr/>
            </a:pPr>
            <a:r>
              <a:rPr lang="en-US" altLang="zh-CN" sz="1200" dirty="0" smtClean="0">
                <a:sym typeface="+mn-ea"/>
              </a:rPr>
              <a:t>7  </a:t>
            </a:r>
            <a:endParaRPr lang="en-US" altLang="zh-CN" sz="1200" dirty="0" smtClean="0">
              <a:ea typeface="+mn-ea"/>
            </a:endParaRPr>
          </a:p>
          <a:p>
            <a:pPr>
              <a:buFont typeface="Times"/>
              <a:buNone/>
              <a:defRPr/>
            </a:pPr>
            <a:r>
              <a:rPr lang="en-US" altLang="zh-CN" sz="1200" dirty="0" smtClean="0">
                <a:sym typeface="+mn-ea"/>
              </a:rPr>
              <a:t>8          try {</a:t>
            </a:r>
            <a:endParaRPr lang="en-US" altLang="zh-CN" sz="1200" dirty="0" smtClean="0">
              <a:ea typeface="+mn-ea"/>
            </a:endParaRPr>
          </a:p>
          <a:p>
            <a:pPr>
              <a:buFont typeface="Times"/>
              <a:buNone/>
              <a:defRPr/>
            </a:pPr>
            <a:r>
              <a:rPr lang="en-US" altLang="zh-CN" sz="1200" dirty="0" smtClean="0">
                <a:sym typeface="+mn-ea"/>
              </a:rPr>
              <a:t>9              </a:t>
            </a:r>
            <a:r>
              <a:rPr lang="en-US" altLang="zh-CN" sz="1200" dirty="0" err="1" smtClean="0">
                <a:sym typeface="+mn-ea"/>
              </a:rPr>
              <a:t>fr</a:t>
            </a:r>
            <a:r>
              <a:rPr lang="en-US" altLang="zh-CN" sz="1200" dirty="0" smtClean="0">
                <a:sym typeface="+mn-ea"/>
              </a:rPr>
              <a:t> = new </a:t>
            </a:r>
            <a:r>
              <a:rPr lang="en-US" altLang="zh-CN" sz="1200" dirty="0" err="1" smtClean="0">
                <a:sym typeface="+mn-ea"/>
              </a:rPr>
              <a:t>FileReader</a:t>
            </a:r>
            <a:r>
              <a:rPr lang="en-US" altLang="zh-CN" sz="1200" dirty="0" smtClean="0">
                <a:sym typeface="+mn-ea"/>
              </a:rPr>
              <a:t>(</a:t>
            </a:r>
            <a:r>
              <a:rPr lang="en-US" altLang="zh-CN" sz="1200" dirty="0" err="1" smtClean="0">
                <a:sym typeface="+mn-ea"/>
              </a:rPr>
              <a:t>args</a:t>
            </a:r>
            <a:r>
              <a:rPr lang="en-US" altLang="zh-CN" sz="1200" dirty="0" smtClean="0">
                <a:sym typeface="+mn-ea"/>
              </a:rPr>
              <a:t>[0]);</a:t>
            </a:r>
            <a:endParaRPr lang="en-US" altLang="zh-CN" sz="1200" dirty="0" smtClean="0">
              <a:ea typeface="+mn-ea"/>
            </a:endParaRPr>
          </a:p>
          <a:p>
            <a:pPr>
              <a:buFont typeface="Times"/>
              <a:buNone/>
              <a:defRPr/>
            </a:pPr>
            <a:r>
              <a:rPr lang="en-US" altLang="zh-CN" sz="1200" dirty="0" smtClean="0">
                <a:sym typeface="+mn-ea"/>
              </a:rPr>
              <a:t>10             </a:t>
            </a:r>
            <a:r>
              <a:rPr lang="en-US" altLang="zh-CN" sz="1200" dirty="0" err="1" smtClean="0">
                <a:sym typeface="+mn-ea"/>
              </a:rPr>
              <a:t>br</a:t>
            </a:r>
            <a:r>
              <a:rPr lang="en-US" altLang="zh-CN" sz="1200" dirty="0" smtClean="0">
                <a:sym typeface="+mn-ea"/>
              </a:rPr>
              <a:t> = new </a:t>
            </a:r>
            <a:r>
              <a:rPr lang="en-US" altLang="zh-CN" sz="1200" dirty="0" err="1" smtClean="0">
                <a:sym typeface="+mn-ea"/>
              </a:rPr>
              <a:t>BufferedReader</a:t>
            </a:r>
            <a:r>
              <a:rPr lang="en-US" altLang="zh-CN" sz="1200" dirty="0" smtClean="0">
                <a:sym typeface="+mn-ea"/>
              </a:rPr>
              <a:t>(</a:t>
            </a:r>
            <a:r>
              <a:rPr lang="en-US" altLang="zh-CN" sz="1200" dirty="0" err="1" smtClean="0">
                <a:sym typeface="+mn-ea"/>
              </a:rPr>
              <a:t>fr</a:t>
            </a:r>
            <a:r>
              <a:rPr lang="en-US" altLang="zh-CN" sz="1200" dirty="0" smtClean="0">
                <a:sym typeface="+mn-ea"/>
              </a:rPr>
              <a:t>);</a:t>
            </a:r>
            <a:endParaRPr lang="en-US" altLang="zh-CN" sz="1200" dirty="0" smtClean="0">
              <a:ea typeface="+mn-ea"/>
            </a:endParaRPr>
          </a:p>
          <a:p>
            <a:pPr>
              <a:buFont typeface="Times"/>
              <a:buNone/>
              <a:defRPr/>
            </a:pPr>
            <a:r>
              <a:rPr lang="en-US" altLang="zh-CN" sz="1200" dirty="0" smtClean="0">
                <a:sym typeface="+mn-ea"/>
              </a:rPr>
              <a:t>11 </a:t>
            </a:r>
            <a:endParaRPr lang="en-US" altLang="zh-CN" sz="1200" dirty="0" smtClean="0">
              <a:ea typeface="+mn-ea"/>
            </a:endParaRPr>
          </a:p>
          <a:p>
            <a:pPr>
              <a:buFont typeface="Times"/>
              <a:buNone/>
              <a:defRPr/>
            </a:pPr>
            <a:r>
              <a:rPr lang="en-US" altLang="zh-CN" sz="1200" dirty="0" smtClean="0">
                <a:sym typeface="+mn-ea"/>
              </a:rPr>
              <a:t>12             String line = </a:t>
            </a:r>
            <a:r>
              <a:rPr lang="en-US" altLang="zh-CN" sz="1200" dirty="0" err="1" smtClean="0">
                <a:sym typeface="+mn-ea"/>
              </a:rPr>
              <a:t>br.readLine</a:t>
            </a:r>
            <a:r>
              <a:rPr lang="en-US" altLang="zh-CN" sz="1200" dirty="0" smtClean="0">
                <a:sym typeface="+mn-ea"/>
              </a:rPr>
              <a:t>();</a:t>
            </a:r>
            <a:endParaRPr lang="en-US" altLang="zh-CN" sz="1200" dirty="0" smtClean="0">
              <a:ea typeface="+mn-ea"/>
            </a:endParaRPr>
          </a:p>
          <a:p>
            <a:pPr>
              <a:buFont typeface="Times"/>
              <a:buNone/>
              <a:defRPr/>
            </a:pPr>
            <a:r>
              <a:rPr lang="en-US" altLang="zh-CN" sz="1200" dirty="0" smtClean="0">
                <a:sym typeface="+mn-ea"/>
              </a:rPr>
              <a:t>13             while (line != null)    {</a:t>
            </a:r>
            <a:endParaRPr lang="en-US" altLang="zh-CN" sz="1200" dirty="0" smtClean="0">
              <a:ea typeface="+mn-ea"/>
            </a:endParaRPr>
          </a:p>
          <a:p>
            <a:pPr>
              <a:buFont typeface="Times"/>
              <a:buNone/>
              <a:defRPr/>
            </a:pPr>
            <a:r>
              <a:rPr lang="en-US" altLang="zh-CN" sz="1200" dirty="0" smtClean="0">
                <a:sym typeface="+mn-ea"/>
              </a:rPr>
              <a:t>14                 </a:t>
            </a:r>
            <a:r>
              <a:rPr lang="en-US" altLang="zh-CN" sz="1200" dirty="0" err="1" smtClean="0">
                <a:sym typeface="+mn-ea"/>
              </a:rPr>
              <a:t>System.out.println</a:t>
            </a:r>
            <a:r>
              <a:rPr lang="en-US" altLang="zh-CN" sz="1200" dirty="0" smtClean="0">
                <a:sym typeface="+mn-ea"/>
              </a:rPr>
              <a:t>(line);</a:t>
            </a:r>
            <a:endParaRPr lang="en-US" altLang="zh-CN" sz="1200" dirty="0" smtClean="0">
              <a:ea typeface="+mn-ea"/>
            </a:endParaRPr>
          </a:p>
          <a:p>
            <a:pPr>
              <a:buFont typeface="Times"/>
              <a:buNone/>
              <a:defRPr/>
            </a:pPr>
            <a:r>
              <a:rPr lang="en-US" altLang="zh-CN" sz="1200" dirty="0" smtClean="0">
                <a:sym typeface="+mn-ea"/>
              </a:rPr>
              <a:t>15                 line = </a:t>
            </a:r>
            <a:r>
              <a:rPr lang="en-US" altLang="zh-CN" sz="1200" dirty="0" err="1" smtClean="0">
                <a:sym typeface="+mn-ea"/>
              </a:rPr>
              <a:t>br.readLine</a:t>
            </a:r>
            <a:r>
              <a:rPr lang="en-US" altLang="zh-CN" sz="1200" dirty="0" smtClean="0">
                <a:sym typeface="+mn-ea"/>
              </a:rPr>
              <a:t>();</a:t>
            </a:r>
            <a:endParaRPr lang="en-US" altLang="zh-CN" sz="1200" dirty="0" smtClean="0">
              <a:ea typeface="+mn-ea"/>
            </a:endParaRPr>
          </a:p>
          <a:p>
            <a:pPr>
              <a:buFont typeface="Times"/>
              <a:buNone/>
              <a:defRPr/>
            </a:pPr>
            <a:r>
              <a:rPr lang="en-US" altLang="zh-CN" sz="1200" dirty="0" smtClean="0">
                <a:sym typeface="+mn-ea"/>
              </a:rPr>
              <a:t>16             }</a:t>
            </a:r>
            <a:endParaRPr lang="en-US" altLang="zh-CN" sz="1200" dirty="0" smtClean="0">
              <a:ea typeface="+mn-ea"/>
            </a:endParaRPr>
          </a:p>
          <a:p>
            <a:pPr>
              <a:buFont typeface="Times"/>
              <a:buNone/>
              <a:defRPr/>
            </a:pPr>
            <a:r>
              <a:rPr lang="en-US" altLang="zh-CN" sz="1200" dirty="0" smtClean="0">
                <a:sym typeface="+mn-ea"/>
              </a:rPr>
              <a:t>17         } catch (</a:t>
            </a:r>
            <a:r>
              <a:rPr lang="en-US" altLang="zh-CN" sz="1200" dirty="0" err="1" smtClean="0">
                <a:sym typeface="+mn-ea"/>
              </a:rPr>
              <a:t>IOException</a:t>
            </a:r>
            <a:r>
              <a:rPr lang="en-US" altLang="zh-CN" sz="1200" dirty="0" smtClean="0">
                <a:sym typeface="+mn-ea"/>
              </a:rPr>
              <a:t> e) {</a:t>
            </a:r>
            <a:endParaRPr lang="en-US" altLang="zh-CN" sz="1200" dirty="0" smtClean="0">
              <a:ea typeface="+mn-ea"/>
            </a:endParaRPr>
          </a:p>
          <a:p>
            <a:pPr>
              <a:buFont typeface="Times"/>
              <a:buNone/>
              <a:defRPr/>
            </a:pPr>
            <a:r>
              <a:rPr lang="en-US" altLang="zh-CN" sz="1200" dirty="0" smtClean="0">
                <a:sym typeface="+mn-ea"/>
              </a:rPr>
              <a:t>18             </a:t>
            </a:r>
            <a:r>
              <a:rPr lang="en-US" altLang="zh-CN" sz="1200" dirty="0" err="1" smtClean="0">
                <a:sym typeface="+mn-ea"/>
              </a:rPr>
              <a:t>e.printStackTrace</a:t>
            </a:r>
            <a:r>
              <a:rPr lang="en-US" altLang="zh-CN" sz="1200" dirty="0" smtClean="0">
                <a:sym typeface="+mn-ea"/>
              </a:rPr>
              <a:t>();</a:t>
            </a:r>
            <a:endParaRPr lang="en-US" altLang="zh-CN" sz="12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字符流链接示例 </a:t>
            </a:r>
            <a:r>
              <a:rPr lang="en-US" altLang="zh-CN" sz="2400" dirty="0" smtClean="0">
                <a:ea typeface="宋体" panose="02010600030101010101" pitchFamily="2" charset="-122"/>
                <a:sym typeface="+mn-ea"/>
              </a:rPr>
              <a:t>— </a:t>
            </a:r>
            <a:r>
              <a:rPr lang="en-US" altLang="zh-CN" sz="2400" dirty="0" err="1" smtClean="0">
                <a:sym typeface="+mn-ea"/>
              </a:rPr>
              <a:t>TestBufferedReader</a:t>
            </a:r>
            <a:r>
              <a:rPr lang="zh-CN" altLang="en-US" sz="2400" dirty="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buFont typeface="Times"/>
              <a:buNone/>
              <a:defRPr/>
            </a:pPr>
            <a:r>
              <a:rPr lang="en-US" altLang="zh-CN" sz="1200" dirty="0" smtClean="0">
                <a:sym typeface="+mn-ea"/>
              </a:rPr>
              <a:t>19         } finally {</a:t>
            </a:r>
            <a:endParaRPr lang="en-US" altLang="zh-CN" sz="1200" dirty="0" smtClean="0">
              <a:ea typeface="+mn-ea"/>
            </a:endParaRPr>
          </a:p>
          <a:p>
            <a:pPr>
              <a:buFont typeface="Times"/>
              <a:buNone/>
              <a:defRPr/>
            </a:pPr>
            <a:r>
              <a:rPr lang="en-US" altLang="zh-CN" sz="1200" dirty="0" smtClean="0">
                <a:sym typeface="+mn-ea"/>
              </a:rPr>
              <a:t>20             if (</a:t>
            </a:r>
            <a:r>
              <a:rPr lang="en-US" altLang="zh-CN" sz="1200" dirty="0" err="1" smtClean="0">
                <a:sym typeface="+mn-ea"/>
              </a:rPr>
              <a:t>br</a:t>
            </a:r>
            <a:r>
              <a:rPr lang="en-US" altLang="zh-CN" sz="1200" dirty="0" smtClean="0">
                <a:sym typeface="+mn-ea"/>
              </a:rPr>
              <a:t> != null)    {</a:t>
            </a:r>
            <a:endParaRPr lang="en-US" altLang="zh-CN" sz="1200" dirty="0" smtClean="0">
              <a:ea typeface="+mn-ea"/>
            </a:endParaRPr>
          </a:p>
          <a:p>
            <a:pPr>
              <a:buFont typeface="Times"/>
              <a:buNone/>
              <a:defRPr/>
            </a:pPr>
            <a:r>
              <a:rPr lang="en-US" altLang="zh-CN" sz="1200" dirty="0" smtClean="0">
                <a:sym typeface="+mn-ea"/>
              </a:rPr>
              <a:t>21                 try {</a:t>
            </a:r>
            <a:endParaRPr lang="en-US" altLang="zh-CN" sz="1200" dirty="0" smtClean="0">
              <a:ea typeface="+mn-ea"/>
            </a:endParaRPr>
          </a:p>
          <a:p>
            <a:pPr>
              <a:buFont typeface="Times"/>
              <a:buNone/>
              <a:defRPr/>
            </a:pPr>
            <a:r>
              <a:rPr lang="en-US" altLang="zh-CN" sz="1200" dirty="0" smtClean="0">
                <a:sym typeface="+mn-ea"/>
              </a:rPr>
              <a:t>22                     </a:t>
            </a:r>
            <a:r>
              <a:rPr lang="en-US" altLang="zh-CN" sz="1200" dirty="0" err="1" smtClean="0">
                <a:sym typeface="+mn-ea"/>
              </a:rPr>
              <a:t>br.close</a:t>
            </a:r>
            <a:r>
              <a:rPr lang="en-US" altLang="zh-CN" sz="1200" dirty="0" smtClean="0">
                <a:sym typeface="+mn-ea"/>
              </a:rPr>
              <a:t>();</a:t>
            </a:r>
            <a:endParaRPr lang="en-US" altLang="zh-CN" sz="1200" dirty="0" smtClean="0">
              <a:ea typeface="+mn-ea"/>
            </a:endParaRPr>
          </a:p>
          <a:p>
            <a:pPr>
              <a:buFont typeface="Times"/>
              <a:buNone/>
              <a:defRPr/>
            </a:pPr>
            <a:r>
              <a:rPr lang="en-US" altLang="zh-CN" sz="1200" dirty="0" smtClean="0">
                <a:sym typeface="+mn-ea"/>
              </a:rPr>
              <a:t>23                 } catch (</a:t>
            </a:r>
            <a:r>
              <a:rPr lang="en-US" altLang="zh-CN" sz="1200" dirty="0" err="1" smtClean="0">
                <a:sym typeface="+mn-ea"/>
              </a:rPr>
              <a:t>IOException</a:t>
            </a:r>
            <a:r>
              <a:rPr lang="en-US" altLang="zh-CN" sz="1200" dirty="0" smtClean="0">
                <a:sym typeface="+mn-ea"/>
              </a:rPr>
              <a:t> e) {</a:t>
            </a:r>
            <a:endParaRPr lang="en-US" altLang="zh-CN" sz="1200" dirty="0" smtClean="0">
              <a:ea typeface="+mn-ea"/>
            </a:endParaRPr>
          </a:p>
          <a:p>
            <a:pPr>
              <a:buFont typeface="Times"/>
              <a:buNone/>
              <a:defRPr/>
            </a:pPr>
            <a:r>
              <a:rPr lang="en-US" altLang="zh-CN" sz="1200" dirty="0" smtClean="0">
                <a:sym typeface="+mn-ea"/>
              </a:rPr>
              <a:t>24                 }</a:t>
            </a:r>
            <a:endParaRPr lang="en-US" altLang="zh-CN" sz="1200" dirty="0" smtClean="0">
              <a:ea typeface="+mn-ea"/>
            </a:endParaRPr>
          </a:p>
          <a:p>
            <a:pPr>
              <a:buFont typeface="Times"/>
              <a:buNone/>
              <a:defRPr/>
            </a:pPr>
            <a:r>
              <a:rPr lang="en-US" altLang="zh-CN" sz="1200" dirty="0" smtClean="0">
                <a:sym typeface="+mn-ea"/>
              </a:rPr>
              <a:t>25             }</a:t>
            </a:r>
            <a:endParaRPr lang="en-US" altLang="zh-CN" sz="1200" dirty="0" smtClean="0">
              <a:ea typeface="+mn-ea"/>
            </a:endParaRPr>
          </a:p>
          <a:p>
            <a:pPr>
              <a:buFont typeface="Times"/>
              <a:buNone/>
              <a:defRPr/>
            </a:pPr>
            <a:r>
              <a:rPr lang="en-US" altLang="zh-CN" sz="1200" dirty="0" smtClean="0">
                <a:sym typeface="+mn-ea"/>
              </a:rPr>
              <a:t>26 </a:t>
            </a:r>
            <a:endParaRPr lang="en-US" altLang="zh-CN" sz="1200" dirty="0" smtClean="0">
              <a:ea typeface="+mn-ea"/>
            </a:endParaRPr>
          </a:p>
          <a:p>
            <a:pPr>
              <a:buFont typeface="Times"/>
              <a:buNone/>
              <a:defRPr/>
            </a:pPr>
            <a:r>
              <a:rPr lang="en-US" altLang="zh-CN" sz="1200" dirty="0" smtClean="0">
                <a:sym typeface="+mn-ea"/>
              </a:rPr>
              <a:t>27             if (</a:t>
            </a:r>
            <a:r>
              <a:rPr lang="en-US" altLang="zh-CN" sz="1200" dirty="0" err="1" smtClean="0">
                <a:sym typeface="+mn-ea"/>
              </a:rPr>
              <a:t>fr</a:t>
            </a:r>
            <a:r>
              <a:rPr lang="en-US" altLang="zh-CN" sz="1200" dirty="0" smtClean="0">
                <a:sym typeface="+mn-ea"/>
              </a:rPr>
              <a:t> != null)    {</a:t>
            </a:r>
            <a:endParaRPr lang="en-US" altLang="zh-CN" sz="1200" dirty="0" smtClean="0">
              <a:ea typeface="+mn-ea"/>
            </a:endParaRPr>
          </a:p>
          <a:p>
            <a:pPr>
              <a:buFont typeface="Times"/>
              <a:buNone/>
              <a:defRPr/>
            </a:pPr>
            <a:r>
              <a:rPr lang="en-US" altLang="zh-CN" sz="1200" dirty="0" smtClean="0">
                <a:sym typeface="+mn-ea"/>
              </a:rPr>
              <a:t>28                 try {</a:t>
            </a:r>
            <a:endParaRPr lang="en-US" altLang="zh-CN" sz="1200" dirty="0" smtClean="0">
              <a:ea typeface="+mn-ea"/>
            </a:endParaRPr>
          </a:p>
          <a:p>
            <a:pPr>
              <a:buFont typeface="Times"/>
              <a:buNone/>
              <a:defRPr/>
            </a:pPr>
            <a:r>
              <a:rPr lang="en-US" altLang="zh-CN" sz="1200" dirty="0" smtClean="0">
                <a:sym typeface="+mn-ea"/>
              </a:rPr>
              <a:t>29                     </a:t>
            </a:r>
            <a:r>
              <a:rPr lang="en-US" altLang="zh-CN" sz="1200" dirty="0" err="1" smtClean="0">
                <a:sym typeface="+mn-ea"/>
              </a:rPr>
              <a:t>fr.close</a:t>
            </a:r>
            <a:r>
              <a:rPr lang="en-US" altLang="zh-CN" sz="1200" dirty="0" smtClean="0">
                <a:sym typeface="+mn-ea"/>
              </a:rPr>
              <a:t>();</a:t>
            </a:r>
            <a:endParaRPr lang="en-US" altLang="zh-CN" sz="1200" dirty="0" smtClean="0">
              <a:ea typeface="+mn-ea"/>
            </a:endParaRPr>
          </a:p>
          <a:p>
            <a:pPr>
              <a:buFont typeface="Times"/>
              <a:buNone/>
              <a:defRPr/>
            </a:pPr>
            <a:r>
              <a:rPr lang="en-US" altLang="zh-CN" sz="1200" dirty="0" smtClean="0">
                <a:sym typeface="+mn-ea"/>
              </a:rPr>
              <a:t>30                 } catch (</a:t>
            </a:r>
            <a:r>
              <a:rPr lang="en-US" altLang="zh-CN" sz="1200" dirty="0" err="1" smtClean="0">
                <a:sym typeface="+mn-ea"/>
              </a:rPr>
              <a:t>IOException</a:t>
            </a:r>
            <a:r>
              <a:rPr lang="en-US" altLang="zh-CN" sz="1200" dirty="0" smtClean="0">
                <a:sym typeface="+mn-ea"/>
              </a:rPr>
              <a:t> e) {</a:t>
            </a:r>
            <a:endParaRPr lang="en-US" altLang="zh-CN" sz="1200" dirty="0" smtClean="0">
              <a:ea typeface="+mn-ea"/>
            </a:endParaRPr>
          </a:p>
          <a:p>
            <a:pPr>
              <a:buFont typeface="Times"/>
              <a:buNone/>
              <a:defRPr/>
            </a:pPr>
            <a:r>
              <a:rPr lang="en-US" altLang="zh-CN" sz="1200" dirty="0" smtClean="0">
                <a:sym typeface="+mn-ea"/>
              </a:rPr>
              <a:t>31                 }</a:t>
            </a:r>
            <a:endParaRPr lang="en-US" altLang="zh-CN" sz="1200" dirty="0" smtClean="0">
              <a:ea typeface="+mn-ea"/>
            </a:endParaRPr>
          </a:p>
          <a:p>
            <a:pPr>
              <a:buFont typeface="Times"/>
              <a:buNone/>
              <a:defRPr/>
            </a:pPr>
            <a:r>
              <a:rPr lang="en-US" altLang="zh-CN" sz="1200" dirty="0" smtClean="0">
                <a:sym typeface="+mn-ea"/>
              </a:rPr>
              <a:t>32             }</a:t>
            </a:r>
            <a:endParaRPr lang="en-US" altLang="zh-CN" sz="1200" dirty="0" smtClean="0">
              <a:ea typeface="+mn-ea"/>
            </a:endParaRPr>
          </a:p>
          <a:p>
            <a:pPr>
              <a:buFont typeface="Times"/>
              <a:buNone/>
              <a:defRPr/>
            </a:pPr>
            <a:r>
              <a:rPr lang="en-US" altLang="zh-CN" sz="1200" dirty="0" smtClean="0">
                <a:sym typeface="+mn-ea"/>
              </a:rPr>
              <a:t>33         }</a:t>
            </a:r>
            <a:endParaRPr lang="en-US" altLang="zh-CN" sz="1200" dirty="0" smtClean="0">
              <a:ea typeface="+mn-ea"/>
            </a:endParaRPr>
          </a:p>
          <a:p>
            <a:pPr>
              <a:buFont typeface="Times"/>
              <a:buNone/>
              <a:defRPr/>
            </a:pPr>
            <a:r>
              <a:rPr lang="en-US" altLang="zh-CN" sz="1200" dirty="0" smtClean="0">
                <a:sym typeface="+mn-ea"/>
              </a:rPr>
              <a:t>34     }</a:t>
            </a:r>
            <a:endParaRPr lang="en-US" altLang="zh-CN" sz="1200" dirty="0" smtClean="0">
              <a:ea typeface="+mn-ea"/>
            </a:endParaRPr>
          </a:p>
          <a:p>
            <a:pPr>
              <a:buFont typeface="Times"/>
              <a:buNone/>
              <a:defRPr/>
            </a:pPr>
            <a:r>
              <a:rPr lang="en-US" altLang="zh-CN" sz="1200" dirty="0" smtClean="0">
                <a:sym typeface="+mn-ea"/>
              </a:rPr>
              <a:t>35 }</a:t>
            </a:r>
            <a:endParaRPr lang="en-US" altLang="zh-CN" sz="12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10000"/>
              </a:lnSpc>
              <a:spcBef>
                <a:spcPts val="1000"/>
              </a:spcBef>
              <a:buClr>
                <a:srgbClr val="ED7D31"/>
              </a:buClr>
              <a:buSzTx/>
              <a:buFont typeface="+mj-lt"/>
              <a:buAutoNum type="arabicPeriod"/>
            </a:pPr>
            <a:r>
              <a:rPr lang="zh-CN" altLang="en-US" sz="2000" dirty="0" smtClean="0">
                <a:ea typeface="宋体" panose="02010600030101010101" pitchFamily="2" charset="-122"/>
                <a:sym typeface="+mn-ea"/>
              </a:rPr>
              <a:t>改写程序</a:t>
            </a:r>
            <a:r>
              <a:rPr lang="en-US" altLang="zh-CN" sz="2000" dirty="0" smtClean="0">
                <a:ea typeface="宋体" panose="02010600030101010101" pitchFamily="2" charset="-122"/>
                <a:sym typeface="+mn-ea"/>
              </a:rPr>
              <a:t>TextFile.java</a:t>
            </a:r>
            <a:r>
              <a:rPr lang="zh-CN" altLang="en-US" sz="2000" dirty="0" smtClean="0">
                <a:ea typeface="宋体" panose="02010600030101010101" pitchFamily="2" charset="-122"/>
                <a:sym typeface="+mn-ea"/>
              </a:rPr>
              <a:t>，使用</a:t>
            </a:r>
            <a:r>
              <a:rPr lang="en-US" altLang="zh-CN" sz="2000" dirty="0" smtClean="0">
                <a:ea typeface="宋体" panose="02010600030101010101" pitchFamily="2" charset="-122"/>
                <a:sym typeface="+mn-ea"/>
              </a:rPr>
              <a:t>Buffered</a:t>
            </a:r>
            <a:r>
              <a:rPr lang="zh-CN" altLang="en-US" sz="2000" dirty="0" smtClean="0">
                <a:ea typeface="宋体" panose="02010600030101010101" pitchFamily="2" charset="-122"/>
                <a:sym typeface="+mn-ea"/>
              </a:rPr>
              <a:t>包装形式读取</a:t>
            </a:r>
            <a:r>
              <a:rPr lang="en-US" altLang="zh-CN" sz="2000" dirty="0" smtClean="0">
                <a:ea typeface="宋体" panose="02010600030101010101" pitchFamily="2" charset="-122"/>
                <a:sym typeface="+mn-ea"/>
              </a:rPr>
              <a:t>TextFile.java</a:t>
            </a:r>
            <a:r>
              <a:rPr lang="zh-CN" altLang="en-US" sz="2000" dirty="0" smtClean="0">
                <a:ea typeface="宋体" panose="02010600030101010101" pitchFamily="2" charset="-122"/>
                <a:sym typeface="+mn-ea"/>
              </a:rPr>
              <a:t>文本文件，为每行加上行号，再连同内容一并输出到屏幕上。</a:t>
            </a:r>
            <a:endParaRPr lang="en-US" altLang="zh-CN" sz="2000" dirty="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endParaRPr lang="zh-CN" altLang="en-US" sz="2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字符流链接示例 </a:t>
            </a:r>
            <a:r>
              <a:rPr lang="en-US" altLang="zh-CN" sz="2400" dirty="0" smtClean="0">
                <a:ea typeface="宋体" panose="02010600030101010101" pitchFamily="2" charset="-122"/>
                <a:sym typeface="+mn-ea"/>
              </a:rPr>
              <a:t>— </a:t>
            </a:r>
            <a:r>
              <a:rPr lang="en-US" altLang="zh-CN" sz="2400" dirty="0" err="1" smtClean="0">
                <a:sym typeface="+mn-ea"/>
              </a:rPr>
              <a:t>TestBufferedWriter</a:t>
            </a:r>
            <a:r>
              <a:rPr lang="zh-CN" altLang="en-US" sz="2400" dirty="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lnSpc>
                <a:spcPct val="80000"/>
              </a:lnSpc>
              <a:buFont typeface="Times"/>
              <a:buNone/>
            </a:pPr>
            <a:r>
              <a:rPr lang="en-US" altLang="zh-CN" sz="1200" smtClean="0">
                <a:sym typeface="+mn-ea"/>
              </a:rPr>
              <a:t>1  import java.io.*;</a:t>
            </a:r>
            <a:endParaRPr lang="en-US" altLang="zh-CN" sz="1200" smtClean="0"/>
          </a:p>
          <a:p>
            <a:pPr>
              <a:lnSpc>
                <a:spcPct val="80000"/>
              </a:lnSpc>
              <a:buFont typeface="Times"/>
              <a:buNone/>
            </a:pPr>
            <a:r>
              <a:rPr lang="en-US" altLang="zh-CN" sz="1200" smtClean="0">
                <a:sym typeface="+mn-ea"/>
              </a:rPr>
              <a:t>2  </a:t>
            </a:r>
            <a:endParaRPr lang="en-US" altLang="zh-CN" sz="1200" smtClean="0"/>
          </a:p>
          <a:p>
            <a:pPr>
              <a:lnSpc>
                <a:spcPct val="80000"/>
              </a:lnSpc>
              <a:buFont typeface="Times"/>
              <a:buNone/>
            </a:pPr>
            <a:r>
              <a:rPr lang="en-US" altLang="zh-CN" sz="1200" smtClean="0">
                <a:sym typeface="+mn-ea"/>
              </a:rPr>
              <a:t>3  public class TestBufferedWriter {</a:t>
            </a:r>
            <a:endParaRPr lang="en-US" altLang="zh-CN" sz="1200" smtClean="0"/>
          </a:p>
          <a:p>
            <a:pPr>
              <a:lnSpc>
                <a:spcPct val="80000"/>
              </a:lnSpc>
              <a:buFont typeface="Times"/>
              <a:buNone/>
            </a:pPr>
            <a:r>
              <a:rPr lang="en-US" altLang="zh-CN" sz="1200" smtClean="0">
                <a:sym typeface="+mn-ea"/>
              </a:rPr>
              <a:t>4      public static void main(String[] args) {</a:t>
            </a:r>
            <a:endParaRPr lang="en-US" altLang="zh-CN" sz="1200" smtClean="0"/>
          </a:p>
          <a:p>
            <a:pPr>
              <a:lnSpc>
                <a:spcPct val="80000"/>
              </a:lnSpc>
              <a:buFont typeface="Times"/>
              <a:buNone/>
            </a:pPr>
            <a:r>
              <a:rPr lang="en-US" altLang="zh-CN" sz="1200" smtClean="0">
                <a:sym typeface="+mn-ea"/>
              </a:rPr>
              <a:t>5          String[] text = {"</a:t>
            </a:r>
            <a:r>
              <a:rPr lang="zh-CN" altLang="en-US" sz="1200" smtClean="0">
                <a:sym typeface="+mn-ea"/>
              </a:rPr>
              <a:t>这是第</a:t>
            </a:r>
            <a:r>
              <a:rPr lang="en-US" altLang="zh-CN" sz="1200" smtClean="0">
                <a:sym typeface="+mn-ea"/>
              </a:rPr>
              <a:t>1</a:t>
            </a:r>
            <a:r>
              <a:rPr lang="zh-CN" altLang="en-US" sz="1200" smtClean="0">
                <a:sym typeface="+mn-ea"/>
              </a:rPr>
              <a:t>行</a:t>
            </a:r>
            <a:r>
              <a:rPr lang="en-US" altLang="zh-CN" sz="1200" smtClean="0">
                <a:sym typeface="+mn-ea"/>
              </a:rPr>
              <a:t>",</a:t>
            </a:r>
            <a:endParaRPr lang="en-US" altLang="zh-CN" sz="1200" smtClean="0"/>
          </a:p>
          <a:p>
            <a:pPr>
              <a:lnSpc>
                <a:spcPct val="80000"/>
              </a:lnSpc>
              <a:buFont typeface="Times"/>
              <a:buNone/>
            </a:pPr>
            <a:r>
              <a:rPr lang="en-US" altLang="zh-CN" sz="1200" smtClean="0">
                <a:sym typeface="+mn-ea"/>
              </a:rPr>
              <a:t>6                           "</a:t>
            </a:r>
            <a:r>
              <a:rPr lang="zh-CN" altLang="en-US" sz="1200" smtClean="0">
                <a:sym typeface="+mn-ea"/>
              </a:rPr>
              <a:t>这是一个</a:t>
            </a:r>
            <a:r>
              <a:rPr lang="en-US" altLang="zh-CN" sz="1200" smtClean="0">
                <a:sym typeface="+mn-ea"/>
              </a:rPr>
              <a:t>TestWriter</a:t>
            </a:r>
            <a:r>
              <a:rPr lang="zh-CN" altLang="en-US" sz="1200" smtClean="0">
                <a:sym typeface="+mn-ea"/>
              </a:rPr>
              <a:t>示例程序</a:t>
            </a:r>
            <a:r>
              <a:rPr lang="en-US" altLang="zh-CN" sz="1200" smtClean="0">
                <a:sym typeface="+mn-ea"/>
              </a:rPr>
              <a:t>",</a:t>
            </a:r>
            <a:endParaRPr lang="en-US" altLang="zh-CN" sz="1200" smtClean="0"/>
          </a:p>
          <a:p>
            <a:pPr>
              <a:lnSpc>
                <a:spcPct val="80000"/>
              </a:lnSpc>
              <a:buFont typeface="Times"/>
              <a:buNone/>
            </a:pPr>
            <a:r>
              <a:rPr lang="en-US" altLang="zh-CN" sz="1200" smtClean="0">
                <a:sym typeface="+mn-ea"/>
              </a:rPr>
              <a:t>7                           "</a:t>
            </a:r>
            <a:r>
              <a:rPr lang="zh-CN" altLang="en-US" sz="1200" smtClean="0">
                <a:sym typeface="+mn-ea"/>
              </a:rPr>
              <a:t>需要用</a:t>
            </a:r>
            <a:r>
              <a:rPr lang="en-US" altLang="zh-CN" sz="1200" smtClean="0">
                <a:sym typeface="+mn-ea"/>
              </a:rPr>
              <a:t>FileWriter</a:t>
            </a:r>
            <a:r>
              <a:rPr lang="zh-CN" altLang="en-US" sz="1200" smtClean="0">
                <a:sym typeface="+mn-ea"/>
              </a:rPr>
              <a:t>打开文件</a:t>
            </a:r>
            <a:r>
              <a:rPr lang="en-US" altLang="zh-CN" sz="1200" smtClean="0">
                <a:sym typeface="+mn-ea"/>
              </a:rPr>
              <a:t>",</a:t>
            </a:r>
            <a:endParaRPr lang="en-US" altLang="zh-CN" sz="1200" smtClean="0"/>
          </a:p>
          <a:p>
            <a:pPr>
              <a:lnSpc>
                <a:spcPct val="80000"/>
              </a:lnSpc>
              <a:buFont typeface="Times"/>
              <a:buNone/>
            </a:pPr>
            <a:r>
              <a:rPr lang="en-US" altLang="zh-CN" sz="1200" smtClean="0">
                <a:sym typeface="+mn-ea"/>
              </a:rPr>
              <a:t>8                           "</a:t>
            </a:r>
            <a:r>
              <a:rPr lang="zh-CN" altLang="en-US" sz="1200" smtClean="0">
                <a:sym typeface="+mn-ea"/>
              </a:rPr>
              <a:t>访问结束后需要关闭文件</a:t>
            </a:r>
            <a:r>
              <a:rPr lang="en-US" altLang="zh-CN" sz="1200" smtClean="0">
                <a:sym typeface="+mn-ea"/>
              </a:rPr>
              <a:t>"};</a:t>
            </a:r>
            <a:endParaRPr lang="en-US" altLang="zh-CN" sz="1200" smtClean="0"/>
          </a:p>
          <a:p>
            <a:pPr>
              <a:lnSpc>
                <a:spcPct val="80000"/>
              </a:lnSpc>
              <a:buFont typeface="Times"/>
              <a:buNone/>
            </a:pPr>
            <a:r>
              <a:rPr lang="en-US" altLang="zh-CN" sz="1200" smtClean="0">
                <a:sym typeface="+mn-ea"/>
              </a:rPr>
              <a:t>9          FileWriter fw = null; </a:t>
            </a:r>
            <a:endParaRPr lang="en-US" altLang="zh-CN" sz="1200" smtClean="0"/>
          </a:p>
          <a:p>
            <a:pPr>
              <a:lnSpc>
                <a:spcPct val="80000"/>
              </a:lnSpc>
              <a:buFont typeface="Times"/>
              <a:buNone/>
            </a:pPr>
            <a:r>
              <a:rPr lang="en-US" altLang="zh-CN" sz="1200" smtClean="0">
                <a:sym typeface="+mn-ea"/>
              </a:rPr>
              <a:t>10         BufferedWriter bw = null;</a:t>
            </a:r>
            <a:endParaRPr lang="en-US" altLang="zh-CN" sz="1200" smtClean="0"/>
          </a:p>
          <a:p>
            <a:pPr>
              <a:lnSpc>
                <a:spcPct val="80000"/>
              </a:lnSpc>
              <a:buFont typeface="Times"/>
              <a:buNone/>
            </a:pPr>
            <a:r>
              <a:rPr lang="en-US" altLang="zh-CN" sz="1200" smtClean="0">
                <a:sym typeface="+mn-ea"/>
              </a:rPr>
              <a:t>11 </a:t>
            </a:r>
            <a:endParaRPr lang="en-US" altLang="zh-CN" sz="1200" smtClean="0"/>
          </a:p>
          <a:p>
            <a:pPr>
              <a:lnSpc>
                <a:spcPct val="80000"/>
              </a:lnSpc>
              <a:buFont typeface="Times"/>
              <a:buNone/>
            </a:pPr>
            <a:r>
              <a:rPr lang="en-US" altLang="zh-CN" sz="1200" smtClean="0">
                <a:sym typeface="+mn-ea"/>
              </a:rPr>
              <a:t>12         try {</a:t>
            </a:r>
            <a:endParaRPr lang="en-US" altLang="zh-CN" sz="1200" smtClean="0"/>
          </a:p>
          <a:p>
            <a:pPr>
              <a:lnSpc>
                <a:spcPct val="80000"/>
              </a:lnSpc>
              <a:buFont typeface="Times"/>
              <a:buNone/>
            </a:pPr>
            <a:r>
              <a:rPr lang="en-US" altLang="zh-CN" sz="1200" smtClean="0">
                <a:sym typeface="+mn-ea"/>
              </a:rPr>
              <a:t>13             fw = new FileWriter(args[0]);</a:t>
            </a:r>
            <a:endParaRPr lang="en-US" altLang="zh-CN" sz="1200" smtClean="0"/>
          </a:p>
          <a:p>
            <a:pPr>
              <a:lnSpc>
                <a:spcPct val="80000"/>
              </a:lnSpc>
              <a:buFont typeface="Times"/>
              <a:buNone/>
            </a:pPr>
            <a:r>
              <a:rPr lang="en-US" altLang="zh-CN" sz="1200" smtClean="0">
                <a:sym typeface="+mn-ea"/>
              </a:rPr>
              <a:t>14             bw = new BufferedWriter(fw);</a:t>
            </a:r>
            <a:endParaRPr lang="en-US" altLang="zh-CN" sz="1200" smtClean="0"/>
          </a:p>
          <a:p>
            <a:pPr>
              <a:lnSpc>
                <a:spcPct val="80000"/>
              </a:lnSpc>
              <a:buFont typeface="Times"/>
              <a:buNone/>
            </a:pPr>
            <a:r>
              <a:rPr lang="en-US" altLang="zh-CN" sz="1200" smtClean="0">
                <a:sym typeface="+mn-ea"/>
              </a:rPr>
              <a:t>15 </a:t>
            </a:r>
            <a:endParaRPr lang="en-US" altLang="zh-CN" sz="1200" smtClean="0"/>
          </a:p>
          <a:p>
            <a:pPr>
              <a:lnSpc>
                <a:spcPct val="80000"/>
              </a:lnSpc>
              <a:buFont typeface="Times"/>
              <a:buNone/>
            </a:pPr>
            <a:r>
              <a:rPr lang="en-US" altLang="zh-CN" sz="1200" smtClean="0">
                <a:sym typeface="+mn-ea"/>
              </a:rPr>
              <a:t>16             for(String str : text){</a:t>
            </a:r>
            <a:endParaRPr lang="en-US" altLang="zh-CN" sz="1200" smtClean="0"/>
          </a:p>
          <a:p>
            <a:pPr>
              <a:lnSpc>
                <a:spcPct val="80000"/>
              </a:lnSpc>
              <a:buFont typeface="Times"/>
              <a:buNone/>
            </a:pPr>
            <a:r>
              <a:rPr lang="en-US" altLang="zh-CN" sz="1200" smtClean="0">
                <a:sym typeface="+mn-ea"/>
              </a:rPr>
              <a:t>17                 bw.write(str, 0, str.length());</a:t>
            </a:r>
            <a:endParaRPr lang="en-US" altLang="zh-CN" sz="1200" smtClean="0"/>
          </a:p>
          <a:p>
            <a:pPr>
              <a:lnSpc>
                <a:spcPct val="80000"/>
              </a:lnSpc>
              <a:buFont typeface="Times"/>
              <a:buNone/>
            </a:pPr>
            <a:r>
              <a:rPr lang="en-US" altLang="zh-CN" sz="1200" smtClean="0">
                <a:sym typeface="+mn-ea"/>
              </a:rPr>
              <a:t>18                 </a:t>
            </a:r>
            <a:r>
              <a:rPr lang="en-US" altLang="zh-CN" sz="1200" b="1" smtClean="0">
                <a:sym typeface="+mn-ea"/>
              </a:rPr>
              <a:t>bw.newLine();</a:t>
            </a:r>
            <a:endParaRPr lang="en-US" altLang="zh-CN" sz="1200" b="1" smtClean="0"/>
          </a:p>
          <a:p>
            <a:pPr>
              <a:lnSpc>
                <a:spcPct val="80000"/>
              </a:lnSpc>
              <a:buFont typeface="Times"/>
              <a:buNone/>
            </a:pPr>
            <a:r>
              <a:rPr lang="en-US" altLang="zh-CN" sz="1200" smtClean="0">
                <a:sym typeface="+mn-ea"/>
              </a:rPr>
              <a:t>19             }</a:t>
            </a:r>
            <a:endParaRPr lang="en-US" altLang="zh-CN" sz="1200" smtClean="0"/>
          </a:p>
          <a:p>
            <a:pPr>
              <a:lnSpc>
                <a:spcPct val="80000"/>
              </a:lnSpc>
              <a:buFont typeface="Times"/>
              <a:buNone/>
            </a:pPr>
            <a:endParaRPr lang="en-US" altLang="zh-CN" sz="12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字符流链接示例 </a:t>
            </a:r>
            <a:r>
              <a:rPr lang="en-US" altLang="zh-CN" sz="2400" dirty="0" smtClean="0">
                <a:ea typeface="宋体" panose="02010600030101010101" pitchFamily="2" charset="-122"/>
                <a:sym typeface="+mn-ea"/>
              </a:rPr>
              <a:t>— </a:t>
            </a:r>
            <a:r>
              <a:rPr lang="en-US" altLang="zh-CN" sz="2400" dirty="0" err="1" smtClean="0">
                <a:sym typeface="+mn-ea"/>
              </a:rPr>
              <a:t>TestBufferedWriter</a:t>
            </a:r>
            <a:r>
              <a:rPr lang="zh-CN" altLang="en-US" sz="2400" dirty="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buFont typeface="Times"/>
              <a:buNone/>
              <a:defRPr/>
            </a:pPr>
            <a:r>
              <a:rPr lang="en-US" altLang="zh-CN" sz="1200" dirty="0" smtClean="0">
                <a:sym typeface="+mn-ea"/>
              </a:rPr>
              <a:t>20         } catch (</a:t>
            </a:r>
            <a:r>
              <a:rPr lang="en-US" altLang="zh-CN" sz="1200" dirty="0" err="1" smtClean="0">
                <a:sym typeface="+mn-ea"/>
              </a:rPr>
              <a:t>IOException</a:t>
            </a:r>
            <a:r>
              <a:rPr lang="en-US" altLang="zh-CN" sz="1200" dirty="0" smtClean="0">
                <a:sym typeface="+mn-ea"/>
              </a:rPr>
              <a:t> e) {</a:t>
            </a:r>
            <a:endParaRPr lang="en-US" altLang="zh-CN" sz="1200" dirty="0" smtClean="0">
              <a:ea typeface="+mn-ea"/>
            </a:endParaRPr>
          </a:p>
          <a:p>
            <a:pPr>
              <a:buFont typeface="Times"/>
              <a:buNone/>
              <a:defRPr/>
            </a:pPr>
            <a:r>
              <a:rPr lang="en-US" altLang="zh-CN" sz="1200" dirty="0" smtClean="0">
                <a:sym typeface="+mn-ea"/>
              </a:rPr>
              <a:t>21             </a:t>
            </a:r>
            <a:r>
              <a:rPr lang="en-US" altLang="zh-CN" sz="1200" dirty="0" err="1" smtClean="0">
                <a:sym typeface="+mn-ea"/>
              </a:rPr>
              <a:t>e.printStackTrace</a:t>
            </a:r>
            <a:r>
              <a:rPr lang="en-US" altLang="zh-CN" sz="1200" dirty="0" smtClean="0">
                <a:sym typeface="+mn-ea"/>
              </a:rPr>
              <a:t>();</a:t>
            </a:r>
            <a:endParaRPr lang="en-US" altLang="zh-CN" sz="1200" dirty="0" smtClean="0">
              <a:ea typeface="+mn-ea"/>
            </a:endParaRPr>
          </a:p>
          <a:p>
            <a:pPr>
              <a:buFont typeface="Times"/>
              <a:buNone/>
              <a:defRPr/>
            </a:pPr>
            <a:r>
              <a:rPr lang="en-US" altLang="zh-CN" sz="1200" dirty="0" smtClean="0">
                <a:sym typeface="+mn-ea"/>
              </a:rPr>
              <a:t>22         } finally {</a:t>
            </a:r>
            <a:endParaRPr lang="en-US" altLang="zh-CN" sz="1200" dirty="0" smtClean="0">
              <a:ea typeface="+mn-ea"/>
            </a:endParaRPr>
          </a:p>
          <a:p>
            <a:pPr>
              <a:buFont typeface="Times"/>
              <a:buNone/>
              <a:defRPr/>
            </a:pPr>
            <a:r>
              <a:rPr lang="en-US" altLang="zh-CN" sz="1200" dirty="0" smtClean="0">
                <a:sym typeface="+mn-ea"/>
              </a:rPr>
              <a:t>23             if (</a:t>
            </a:r>
            <a:r>
              <a:rPr lang="en-US" altLang="zh-CN" sz="1200" dirty="0" err="1" smtClean="0">
                <a:sym typeface="+mn-ea"/>
              </a:rPr>
              <a:t>bw</a:t>
            </a:r>
            <a:r>
              <a:rPr lang="en-US" altLang="zh-CN" sz="1200" dirty="0" smtClean="0">
                <a:sym typeface="+mn-ea"/>
              </a:rPr>
              <a:t> != null)    {</a:t>
            </a:r>
            <a:endParaRPr lang="en-US" altLang="zh-CN" sz="1200" dirty="0" smtClean="0">
              <a:ea typeface="+mn-ea"/>
            </a:endParaRPr>
          </a:p>
          <a:p>
            <a:pPr>
              <a:buFont typeface="Times"/>
              <a:buNone/>
              <a:defRPr/>
            </a:pPr>
            <a:r>
              <a:rPr lang="en-US" altLang="zh-CN" sz="1200" dirty="0" smtClean="0">
                <a:sym typeface="+mn-ea"/>
              </a:rPr>
              <a:t>24                 try {</a:t>
            </a:r>
            <a:endParaRPr lang="en-US" altLang="zh-CN" sz="1200" dirty="0" smtClean="0">
              <a:ea typeface="+mn-ea"/>
            </a:endParaRPr>
          </a:p>
          <a:p>
            <a:pPr>
              <a:buFont typeface="Times"/>
              <a:buNone/>
              <a:defRPr/>
            </a:pPr>
            <a:r>
              <a:rPr lang="en-US" altLang="zh-CN" sz="1200" dirty="0" smtClean="0">
                <a:sym typeface="+mn-ea"/>
              </a:rPr>
              <a:t>25                     </a:t>
            </a:r>
            <a:r>
              <a:rPr lang="en-US" altLang="zh-CN" sz="1200" dirty="0" err="1" smtClean="0">
                <a:sym typeface="+mn-ea"/>
              </a:rPr>
              <a:t>bw.close</a:t>
            </a:r>
            <a:r>
              <a:rPr lang="en-US" altLang="zh-CN" sz="1200" dirty="0" smtClean="0">
                <a:sym typeface="+mn-ea"/>
              </a:rPr>
              <a:t>();</a:t>
            </a:r>
            <a:endParaRPr lang="en-US" altLang="zh-CN" sz="1200" dirty="0" smtClean="0">
              <a:ea typeface="+mn-ea"/>
            </a:endParaRPr>
          </a:p>
          <a:p>
            <a:pPr>
              <a:buFont typeface="Times"/>
              <a:buNone/>
              <a:defRPr/>
            </a:pPr>
            <a:r>
              <a:rPr lang="en-US" altLang="zh-CN" sz="1200" dirty="0" smtClean="0">
                <a:sym typeface="+mn-ea"/>
              </a:rPr>
              <a:t>26                 } catch (</a:t>
            </a:r>
            <a:r>
              <a:rPr lang="en-US" altLang="zh-CN" sz="1200" dirty="0" err="1" smtClean="0">
                <a:sym typeface="+mn-ea"/>
              </a:rPr>
              <a:t>IOException</a:t>
            </a:r>
            <a:r>
              <a:rPr lang="en-US" altLang="zh-CN" sz="1200" dirty="0" smtClean="0">
                <a:sym typeface="+mn-ea"/>
              </a:rPr>
              <a:t> e) {</a:t>
            </a:r>
            <a:endParaRPr lang="en-US" altLang="zh-CN" sz="1200" dirty="0" smtClean="0">
              <a:ea typeface="+mn-ea"/>
            </a:endParaRPr>
          </a:p>
          <a:p>
            <a:pPr>
              <a:buFont typeface="Times"/>
              <a:buNone/>
              <a:defRPr/>
            </a:pPr>
            <a:r>
              <a:rPr lang="en-US" altLang="zh-CN" sz="1200" dirty="0" smtClean="0">
                <a:sym typeface="+mn-ea"/>
              </a:rPr>
              <a:t>27                 }</a:t>
            </a:r>
            <a:endParaRPr lang="en-US" altLang="zh-CN" sz="1200" dirty="0" smtClean="0">
              <a:ea typeface="+mn-ea"/>
            </a:endParaRPr>
          </a:p>
          <a:p>
            <a:pPr>
              <a:buFont typeface="Times"/>
              <a:buNone/>
              <a:defRPr/>
            </a:pPr>
            <a:r>
              <a:rPr lang="en-US" altLang="zh-CN" sz="1200" dirty="0" smtClean="0">
                <a:sym typeface="+mn-ea"/>
              </a:rPr>
              <a:t>28             }</a:t>
            </a:r>
            <a:endParaRPr lang="en-US" altLang="zh-CN" sz="1200" dirty="0" smtClean="0">
              <a:ea typeface="+mn-ea"/>
            </a:endParaRPr>
          </a:p>
          <a:p>
            <a:pPr>
              <a:buFont typeface="Times"/>
              <a:buNone/>
              <a:defRPr/>
            </a:pPr>
            <a:r>
              <a:rPr lang="en-US" altLang="zh-CN" sz="1200" dirty="0" smtClean="0">
                <a:sym typeface="+mn-ea"/>
              </a:rPr>
              <a:t>29 </a:t>
            </a:r>
            <a:endParaRPr lang="en-US" altLang="zh-CN" sz="1200" dirty="0" smtClean="0">
              <a:ea typeface="+mn-ea"/>
            </a:endParaRPr>
          </a:p>
          <a:p>
            <a:pPr>
              <a:buFont typeface="Times"/>
              <a:buNone/>
              <a:defRPr/>
            </a:pPr>
            <a:r>
              <a:rPr lang="en-US" altLang="zh-CN" sz="1200" dirty="0" smtClean="0">
                <a:sym typeface="+mn-ea"/>
              </a:rPr>
              <a:t>30             if (</a:t>
            </a:r>
            <a:r>
              <a:rPr lang="en-US" altLang="zh-CN" sz="1200" dirty="0" err="1" smtClean="0">
                <a:sym typeface="+mn-ea"/>
              </a:rPr>
              <a:t>fw</a:t>
            </a:r>
            <a:r>
              <a:rPr lang="en-US" altLang="zh-CN" sz="1200" dirty="0" smtClean="0">
                <a:sym typeface="+mn-ea"/>
              </a:rPr>
              <a:t> != null)    {</a:t>
            </a:r>
            <a:endParaRPr lang="en-US" altLang="zh-CN" sz="1200" dirty="0" smtClean="0">
              <a:ea typeface="+mn-ea"/>
            </a:endParaRPr>
          </a:p>
          <a:p>
            <a:pPr>
              <a:buFont typeface="Times"/>
              <a:buNone/>
              <a:defRPr/>
            </a:pPr>
            <a:r>
              <a:rPr lang="en-US" altLang="zh-CN" sz="1200" dirty="0" smtClean="0">
                <a:sym typeface="+mn-ea"/>
              </a:rPr>
              <a:t>31                 try {</a:t>
            </a:r>
            <a:endParaRPr lang="en-US" altLang="zh-CN" sz="1200" dirty="0" smtClean="0">
              <a:ea typeface="+mn-ea"/>
            </a:endParaRPr>
          </a:p>
          <a:p>
            <a:pPr>
              <a:buFont typeface="Times"/>
              <a:buNone/>
              <a:defRPr/>
            </a:pPr>
            <a:r>
              <a:rPr lang="en-US" altLang="zh-CN" sz="1200" dirty="0" smtClean="0">
                <a:sym typeface="+mn-ea"/>
              </a:rPr>
              <a:t>32                     </a:t>
            </a:r>
            <a:r>
              <a:rPr lang="en-US" altLang="zh-CN" sz="1200" dirty="0" err="1" smtClean="0">
                <a:sym typeface="+mn-ea"/>
              </a:rPr>
              <a:t>fw.close</a:t>
            </a:r>
            <a:r>
              <a:rPr lang="en-US" altLang="zh-CN" sz="1200" dirty="0" smtClean="0">
                <a:sym typeface="+mn-ea"/>
              </a:rPr>
              <a:t>();</a:t>
            </a:r>
            <a:endParaRPr lang="en-US" altLang="zh-CN" sz="1200" dirty="0" smtClean="0">
              <a:ea typeface="+mn-ea"/>
            </a:endParaRPr>
          </a:p>
          <a:p>
            <a:pPr>
              <a:buFont typeface="Times"/>
              <a:buNone/>
              <a:defRPr/>
            </a:pPr>
            <a:r>
              <a:rPr lang="en-US" altLang="zh-CN" sz="1200" dirty="0" smtClean="0">
                <a:sym typeface="+mn-ea"/>
              </a:rPr>
              <a:t>33                 } catch (</a:t>
            </a:r>
            <a:r>
              <a:rPr lang="en-US" altLang="zh-CN" sz="1200" dirty="0" err="1" smtClean="0">
                <a:sym typeface="+mn-ea"/>
              </a:rPr>
              <a:t>IOException</a:t>
            </a:r>
            <a:r>
              <a:rPr lang="en-US" altLang="zh-CN" sz="1200" dirty="0" smtClean="0">
                <a:sym typeface="+mn-ea"/>
              </a:rPr>
              <a:t> e) {</a:t>
            </a:r>
            <a:endParaRPr lang="en-US" altLang="zh-CN" sz="1200" dirty="0" smtClean="0">
              <a:ea typeface="+mn-ea"/>
            </a:endParaRPr>
          </a:p>
          <a:p>
            <a:pPr>
              <a:buFont typeface="Times"/>
              <a:buNone/>
              <a:defRPr/>
            </a:pPr>
            <a:r>
              <a:rPr lang="en-US" altLang="zh-CN" sz="1200" dirty="0" smtClean="0">
                <a:sym typeface="+mn-ea"/>
              </a:rPr>
              <a:t>34                 }</a:t>
            </a:r>
            <a:endParaRPr lang="en-US" altLang="zh-CN" sz="1200" dirty="0" smtClean="0">
              <a:ea typeface="+mn-ea"/>
            </a:endParaRPr>
          </a:p>
          <a:p>
            <a:pPr>
              <a:buFont typeface="Times"/>
              <a:buNone/>
              <a:defRPr/>
            </a:pPr>
            <a:r>
              <a:rPr lang="en-US" altLang="zh-CN" sz="1200" dirty="0" smtClean="0">
                <a:sym typeface="+mn-ea"/>
              </a:rPr>
              <a:t>35             }</a:t>
            </a:r>
            <a:endParaRPr lang="en-US" altLang="zh-CN" sz="1200" dirty="0" smtClean="0">
              <a:ea typeface="+mn-ea"/>
            </a:endParaRPr>
          </a:p>
          <a:p>
            <a:pPr>
              <a:buFont typeface="Times"/>
              <a:buNone/>
              <a:defRPr/>
            </a:pPr>
            <a:r>
              <a:rPr lang="en-US" altLang="zh-CN" sz="1200" dirty="0" smtClean="0">
                <a:sym typeface="+mn-ea"/>
              </a:rPr>
              <a:t>36         }</a:t>
            </a:r>
            <a:endParaRPr lang="en-US" altLang="zh-CN" sz="1200" dirty="0" smtClean="0">
              <a:ea typeface="+mn-ea"/>
            </a:endParaRPr>
          </a:p>
          <a:p>
            <a:pPr>
              <a:buFont typeface="Times"/>
              <a:buNone/>
              <a:defRPr/>
            </a:pPr>
            <a:r>
              <a:rPr lang="en-US" altLang="zh-CN" sz="1200" dirty="0" smtClean="0">
                <a:sym typeface="+mn-ea"/>
              </a:rPr>
              <a:t>37     }</a:t>
            </a:r>
            <a:endParaRPr lang="en-US" altLang="zh-CN" sz="1200" dirty="0" smtClean="0">
              <a:ea typeface="+mn-ea"/>
            </a:endParaRPr>
          </a:p>
          <a:p>
            <a:pPr>
              <a:buFont typeface="Times"/>
              <a:buNone/>
              <a:defRPr/>
            </a:pPr>
            <a:r>
              <a:rPr lang="en-US" altLang="zh-CN" sz="1200" dirty="0" smtClean="0">
                <a:sym typeface="+mn-ea"/>
              </a:rPr>
              <a:t>38 }</a:t>
            </a:r>
            <a:endParaRPr lang="en-US" altLang="zh-CN" sz="1200" dirty="0" smtClean="0">
              <a:ea typeface="+mn-ea"/>
            </a:endParaRPr>
          </a:p>
          <a:p>
            <a:pPr>
              <a:lnSpc>
                <a:spcPct val="80000"/>
              </a:lnSpc>
              <a:buFont typeface="Times"/>
              <a:buNone/>
            </a:pPr>
            <a:endParaRPr lang="en-US" altLang="zh-CN" sz="12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10000"/>
              </a:lnSpc>
              <a:spcBef>
                <a:spcPts val="1000"/>
              </a:spcBef>
              <a:buClr>
                <a:srgbClr val="ED7D31"/>
              </a:buClr>
              <a:buSzTx/>
              <a:buFont typeface="+mj-lt"/>
              <a:buAutoNum type="arabicPeriod"/>
            </a:pPr>
            <a:r>
              <a:rPr lang="zh-CN" altLang="en-US" sz="2000" dirty="0" smtClean="0">
                <a:ea typeface="宋体" panose="02010600030101010101" pitchFamily="2" charset="-122"/>
                <a:sym typeface="+mn-ea"/>
              </a:rPr>
              <a:t>改写程序FileCopy.java，使用Buffered包装形式，将FileCopy.java复制为FileCopy.java.bak文件；</a:t>
            </a:r>
            <a:endParaRPr lang="zh-CN" altLang="en-US" sz="2000" dirty="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dirty="0" smtClean="0">
                <a:ea typeface="宋体" panose="02010600030101010101" pitchFamily="2" charset="-122"/>
                <a:sym typeface="+mn-ea"/>
              </a:rPr>
              <a:t>查看FileCopy.java.bak文件的内容，验证复制是否正确。</a:t>
            </a:r>
            <a:endParaRPr lang="zh-CN" altLang="en-US" sz="2000" dirty="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endParaRPr lang="zh-CN" altLang="en-US" sz="2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01600" y="3137535"/>
            <a:ext cx="1179195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第三节 </a:t>
            </a:r>
            <a:r>
              <a:rPr lang="zh-CN" altLang="en-US" sz="6665" dirty="0">
                <a:solidFill>
                  <a:schemeClr val="bg1"/>
                </a:solidFill>
                <a:latin typeface="Arial" panose="020B0604020202020204" pitchFamily="34" charset="0"/>
                <a:ea typeface="宋体" panose="02010600030101010101" pitchFamily="2" charset="-122"/>
                <a:sym typeface="+mn-ea"/>
              </a:rPr>
              <a:t>字节流的包装与链接</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字节输入流</a:t>
            </a:r>
            <a:r>
              <a:rPr lang="en-US" altLang="zh-CN" sz="2400" smtClean="0">
                <a:ea typeface="宋体" panose="02010600030101010101" pitchFamily="2" charset="-122"/>
                <a:sym typeface="+mn-ea"/>
              </a:rPr>
              <a:t>/</a:t>
            </a:r>
            <a:r>
              <a:rPr lang="zh-CN" altLang="en-US" sz="2400" smtClean="0">
                <a:ea typeface="宋体" panose="02010600030101010101" pitchFamily="2" charset="-122"/>
                <a:sym typeface="+mn-ea"/>
              </a:rPr>
              <a:t>输出流的包装与链接</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与字符流一样，字节流也可以实现包装和链接，并且可以因此带来更为强大的功能，例如读写基本类型数据、读写对象等。</a:t>
            </a:r>
            <a:endParaRPr lang="zh-CN" altLang="en-US" sz="200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典型的字节输入流/输出流的链接如下：</a:t>
            </a:r>
            <a:endParaRPr lang="zh-CN" altLang="en-US" sz="2000" smtClean="0">
              <a:ea typeface="宋体" panose="02010600030101010101" pitchFamily="2" charset="-122"/>
              <a:sym typeface="+mn-ea"/>
            </a:endParaRPr>
          </a:p>
        </p:txBody>
      </p:sp>
      <p:pic>
        <p:nvPicPr>
          <p:cNvPr id="311300" name="Picture 2"/>
          <p:cNvPicPr>
            <a:picLocks noChangeAspect="1" noChangeArrowheads="1"/>
          </p:cNvPicPr>
          <p:nvPr/>
        </p:nvPicPr>
        <p:blipFill>
          <a:blip r:embed="rId5"/>
          <a:srcRect/>
          <a:stretch>
            <a:fillRect/>
          </a:stretch>
        </p:blipFill>
        <p:spPr bwMode="auto">
          <a:xfrm>
            <a:off x="1463993" y="2609222"/>
            <a:ext cx="6935787" cy="1249362"/>
          </a:xfrm>
          <a:prstGeom prst="rect">
            <a:avLst/>
          </a:prstGeom>
          <a:noFill/>
          <a:ln w="9525">
            <a:noFill/>
            <a:miter lim="800000"/>
            <a:headEnd/>
            <a:tailEnd/>
          </a:ln>
        </p:spPr>
      </p:pic>
      <p:pic>
        <p:nvPicPr>
          <p:cNvPr id="311301" name="Picture 3"/>
          <p:cNvPicPr>
            <a:picLocks noChangeAspect="1" noChangeArrowheads="1"/>
          </p:cNvPicPr>
          <p:nvPr/>
        </p:nvPicPr>
        <p:blipFill>
          <a:blip r:embed="rId6"/>
          <a:srcRect/>
          <a:stretch>
            <a:fillRect/>
          </a:stretch>
        </p:blipFill>
        <p:spPr bwMode="auto">
          <a:xfrm>
            <a:off x="1537018" y="4053856"/>
            <a:ext cx="6911975" cy="1233488"/>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字节流链接示例 </a:t>
            </a:r>
            <a:r>
              <a:rPr lang="en-US" altLang="zh-CN" sz="2400" dirty="0" smtClean="0">
                <a:ea typeface="宋体" panose="02010600030101010101" pitchFamily="2" charset="-122"/>
                <a:sym typeface="+mn-ea"/>
              </a:rPr>
              <a:t>— </a:t>
            </a:r>
            <a:r>
              <a:rPr lang="en-US" altLang="zh-CN" sz="2400" dirty="0" err="1" smtClean="0">
                <a:sym typeface="+mn-ea"/>
              </a:rPr>
              <a:t>TestOutputStream</a:t>
            </a:r>
            <a:r>
              <a:rPr lang="zh-CN" altLang="en-US" sz="2400" dirty="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lnSpc>
                <a:spcPct val="80000"/>
              </a:lnSpc>
              <a:buFont typeface="Times"/>
              <a:buNone/>
            </a:pPr>
            <a:r>
              <a:rPr lang="en-US" altLang="zh-CN" sz="1200" dirty="0" smtClean="0">
                <a:sym typeface="+mn-ea"/>
              </a:rPr>
              <a:t>1  import java.io.*;</a:t>
            </a:r>
            <a:endParaRPr lang="en-US" altLang="zh-CN" sz="1200" dirty="0" smtClean="0"/>
          </a:p>
          <a:p>
            <a:pPr>
              <a:lnSpc>
                <a:spcPct val="80000"/>
              </a:lnSpc>
              <a:buFont typeface="Times"/>
              <a:buNone/>
            </a:pPr>
            <a:r>
              <a:rPr lang="en-US" altLang="zh-CN" sz="1200" dirty="0" smtClean="0">
                <a:sym typeface="+mn-ea"/>
              </a:rPr>
              <a:t>2  </a:t>
            </a:r>
            <a:endParaRPr lang="en-US" altLang="zh-CN" sz="1200" dirty="0" smtClean="0"/>
          </a:p>
          <a:p>
            <a:pPr>
              <a:lnSpc>
                <a:spcPct val="80000"/>
              </a:lnSpc>
              <a:buFont typeface="Times"/>
              <a:buNone/>
            </a:pPr>
            <a:r>
              <a:rPr lang="en-US" altLang="zh-CN" sz="1200" dirty="0" smtClean="0">
                <a:sym typeface="+mn-ea"/>
              </a:rPr>
              <a:t>3  public class </a:t>
            </a:r>
            <a:r>
              <a:rPr lang="en-US" altLang="zh-CN" sz="1200" dirty="0" err="1" smtClean="0">
                <a:sym typeface="+mn-ea"/>
              </a:rPr>
              <a:t>TestOutputStream</a:t>
            </a:r>
            <a:r>
              <a:rPr lang="en-US" altLang="zh-CN" sz="1200" dirty="0" smtClean="0">
                <a:sym typeface="+mn-ea"/>
              </a:rPr>
              <a:t> {</a:t>
            </a:r>
            <a:endParaRPr lang="en-US" altLang="zh-CN" sz="1200" dirty="0" smtClean="0"/>
          </a:p>
          <a:p>
            <a:pPr>
              <a:lnSpc>
                <a:spcPct val="80000"/>
              </a:lnSpc>
              <a:buFont typeface="Times"/>
              <a:buNone/>
            </a:pPr>
            <a:r>
              <a:rPr lang="en-US" altLang="zh-CN" sz="1200" dirty="0" smtClean="0">
                <a:sym typeface="+mn-ea"/>
              </a:rPr>
              <a:t>4      public static void main(String[] </a:t>
            </a:r>
            <a:r>
              <a:rPr lang="en-US" altLang="zh-CN" sz="1200" dirty="0" err="1" smtClean="0">
                <a:sym typeface="+mn-ea"/>
              </a:rPr>
              <a:t>args</a:t>
            </a:r>
            <a:r>
              <a:rPr lang="en-US" altLang="zh-CN" sz="1200" dirty="0" smtClean="0">
                <a:sym typeface="+mn-ea"/>
              </a:rPr>
              <a:t>) {</a:t>
            </a:r>
            <a:endParaRPr lang="en-US" altLang="zh-CN" sz="1200" dirty="0" smtClean="0"/>
          </a:p>
          <a:p>
            <a:pPr>
              <a:lnSpc>
                <a:spcPct val="80000"/>
              </a:lnSpc>
              <a:buFont typeface="Times"/>
              <a:buNone/>
            </a:pPr>
            <a:r>
              <a:rPr lang="en-US" altLang="zh-CN" sz="1200" dirty="0" smtClean="0">
                <a:sym typeface="+mn-ea"/>
              </a:rPr>
              <a:t>5          </a:t>
            </a:r>
            <a:r>
              <a:rPr lang="en-US" altLang="zh-CN" sz="1200" dirty="0" err="1" smtClean="0">
                <a:sym typeface="+mn-ea"/>
              </a:rPr>
              <a:t>int</a:t>
            </a:r>
            <a:r>
              <a:rPr lang="en-US" altLang="zh-CN" sz="1200" dirty="0" smtClean="0">
                <a:sym typeface="+mn-ea"/>
              </a:rPr>
              <a:t> num = 56789;</a:t>
            </a:r>
            <a:endParaRPr lang="en-US" altLang="zh-CN" sz="1200" dirty="0" smtClean="0"/>
          </a:p>
          <a:p>
            <a:pPr>
              <a:lnSpc>
                <a:spcPct val="80000"/>
              </a:lnSpc>
              <a:buFont typeface="Times"/>
              <a:buNone/>
            </a:pPr>
            <a:r>
              <a:rPr lang="en-US" altLang="zh-CN" sz="1200" dirty="0" smtClean="0">
                <a:sym typeface="+mn-ea"/>
              </a:rPr>
              <a:t>6          float f = 12345.56f;</a:t>
            </a:r>
            <a:endParaRPr lang="en-US" altLang="zh-CN" sz="1200" dirty="0" smtClean="0"/>
          </a:p>
          <a:p>
            <a:pPr>
              <a:lnSpc>
                <a:spcPct val="80000"/>
              </a:lnSpc>
              <a:buFont typeface="Times"/>
              <a:buNone/>
            </a:pPr>
            <a:r>
              <a:rPr lang="en-US" altLang="zh-CN" sz="1200" dirty="0" smtClean="0">
                <a:sym typeface="+mn-ea"/>
              </a:rPr>
              <a:t>7          </a:t>
            </a:r>
            <a:r>
              <a:rPr lang="en-US" altLang="zh-CN" sz="1200" dirty="0" err="1" smtClean="0">
                <a:sym typeface="+mn-ea"/>
              </a:rPr>
              <a:t>boolean</a:t>
            </a:r>
            <a:r>
              <a:rPr lang="en-US" altLang="zh-CN" sz="1200" dirty="0" smtClean="0">
                <a:sym typeface="+mn-ea"/>
              </a:rPr>
              <a:t> flag = true;</a:t>
            </a:r>
            <a:endParaRPr lang="en-US" altLang="zh-CN" sz="1200" dirty="0" smtClean="0"/>
          </a:p>
          <a:p>
            <a:pPr>
              <a:lnSpc>
                <a:spcPct val="80000"/>
              </a:lnSpc>
              <a:buFont typeface="Times"/>
              <a:buNone/>
            </a:pPr>
            <a:r>
              <a:rPr lang="en-US" altLang="zh-CN" sz="1200" dirty="0" smtClean="0">
                <a:sym typeface="+mn-ea"/>
              </a:rPr>
              <a:t>8          String </a:t>
            </a:r>
            <a:r>
              <a:rPr lang="en-US" altLang="zh-CN" sz="1200" dirty="0" err="1" smtClean="0">
                <a:sym typeface="+mn-ea"/>
              </a:rPr>
              <a:t>str</a:t>
            </a:r>
            <a:r>
              <a:rPr lang="en-US" altLang="zh-CN" sz="1200" dirty="0" smtClean="0">
                <a:sym typeface="+mn-ea"/>
              </a:rPr>
              <a:t> = "the quick fox jumps over the lazy dog.";</a:t>
            </a:r>
            <a:endParaRPr lang="en-US" altLang="zh-CN" sz="1200" dirty="0" smtClean="0"/>
          </a:p>
          <a:p>
            <a:pPr>
              <a:lnSpc>
                <a:spcPct val="80000"/>
              </a:lnSpc>
              <a:buFont typeface="Times"/>
              <a:buNone/>
            </a:pPr>
            <a:r>
              <a:rPr lang="en-US" altLang="zh-CN" sz="1200" dirty="0" smtClean="0">
                <a:sym typeface="+mn-ea"/>
              </a:rPr>
              <a:t>9  </a:t>
            </a:r>
            <a:endParaRPr lang="en-US" altLang="zh-CN" sz="1200" dirty="0" smtClean="0"/>
          </a:p>
          <a:p>
            <a:pPr>
              <a:lnSpc>
                <a:spcPct val="80000"/>
              </a:lnSpc>
              <a:buFont typeface="Times"/>
              <a:buNone/>
            </a:pPr>
            <a:r>
              <a:rPr lang="en-US" altLang="zh-CN" sz="1200" dirty="0" smtClean="0">
                <a:sym typeface="+mn-ea"/>
              </a:rPr>
              <a:t>10         </a:t>
            </a:r>
            <a:r>
              <a:rPr lang="en-US" altLang="zh-CN" sz="1200" dirty="0" err="1" smtClean="0">
                <a:sym typeface="+mn-ea"/>
              </a:rPr>
              <a:t>FileOutputStream</a:t>
            </a:r>
            <a:r>
              <a:rPr lang="en-US" altLang="zh-CN" sz="1200" dirty="0" smtClean="0">
                <a:sym typeface="+mn-ea"/>
              </a:rPr>
              <a:t> </a:t>
            </a:r>
            <a:r>
              <a:rPr lang="en-US" altLang="zh-CN" sz="1200" dirty="0" err="1" smtClean="0">
                <a:sym typeface="+mn-ea"/>
              </a:rPr>
              <a:t>fos</a:t>
            </a:r>
            <a:r>
              <a:rPr lang="en-US" altLang="zh-CN" sz="1200" dirty="0" smtClean="0">
                <a:sym typeface="+mn-ea"/>
              </a:rPr>
              <a:t> = null;</a:t>
            </a:r>
            <a:endParaRPr lang="en-US" altLang="zh-CN" sz="1200" dirty="0" smtClean="0"/>
          </a:p>
          <a:p>
            <a:pPr>
              <a:lnSpc>
                <a:spcPct val="80000"/>
              </a:lnSpc>
              <a:buFont typeface="Times"/>
              <a:buNone/>
            </a:pPr>
            <a:r>
              <a:rPr lang="en-US" altLang="zh-CN" sz="1200" dirty="0" smtClean="0">
                <a:sym typeface="+mn-ea"/>
              </a:rPr>
              <a:t>11         </a:t>
            </a:r>
            <a:r>
              <a:rPr lang="en-US" altLang="zh-CN" sz="1200" dirty="0" err="1" smtClean="0">
                <a:sym typeface="+mn-ea"/>
              </a:rPr>
              <a:t>BufferedOutputStream</a:t>
            </a:r>
            <a:r>
              <a:rPr lang="en-US" altLang="zh-CN" sz="1200" dirty="0" smtClean="0">
                <a:sym typeface="+mn-ea"/>
              </a:rPr>
              <a:t> </a:t>
            </a:r>
            <a:r>
              <a:rPr lang="en-US" altLang="zh-CN" sz="1200" dirty="0" err="1" smtClean="0">
                <a:sym typeface="+mn-ea"/>
              </a:rPr>
              <a:t>bos</a:t>
            </a:r>
            <a:r>
              <a:rPr lang="en-US" altLang="zh-CN" sz="1200" dirty="0" smtClean="0">
                <a:sym typeface="+mn-ea"/>
              </a:rPr>
              <a:t> = null;</a:t>
            </a:r>
            <a:endParaRPr lang="en-US" altLang="zh-CN" sz="1200" dirty="0" smtClean="0"/>
          </a:p>
          <a:p>
            <a:pPr>
              <a:lnSpc>
                <a:spcPct val="80000"/>
              </a:lnSpc>
              <a:buFont typeface="Times"/>
              <a:buNone/>
            </a:pPr>
            <a:r>
              <a:rPr lang="en-US" altLang="zh-CN" sz="1200" dirty="0" smtClean="0">
                <a:sym typeface="+mn-ea"/>
              </a:rPr>
              <a:t>12         </a:t>
            </a:r>
            <a:r>
              <a:rPr lang="en-US" altLang="zh-CN" sz="1200" dirty="0" err="1" smtClean="0">
                <a:sym typeface="+mn-ea"/>
              </a:rPr>
              <a:t>ObjectOutputStream</a:t>
            </a:r>
            <a:r>
              <a:rPr lang="en-US" altLang="zh-CN" sz="1200" dirty="0" smtClean="0">
                <a:sym typeface="+mn-ea"/>
              </a:rPr>
              <a:t> </a:t>
            </a:r>
            <a:r>
              <a:rPr lang="en-US" altLang="zh-CN" sz="1200" dirty="0" err="1" smtClean="0">
                <a:sym typeface="+mn-ea"/>
              </a:rPr>
              <a:t>oos</a:t>
            </a:r>
            <a:r>
              <a:rPr lang="en-US" altLang="zh-CN" sz="1200" dirty="0" smtClean="0">
                <a:sym typeface="+mn-ea"/>
              </a:rPr>
              <a:t> = null;</a:t>
            </a:r>
            <a:endParaRPr lang="en-US" altLang="zh-CN" sz="1200" dirty="0" smtClean="0"/>
          </a:p>
          <a:p>
            <a:pPr>
              <a:lnSpc>
                <a:spcPct val="80000"/>
              </a:lnSpc>
              <a:buFont typeface="Times"/>
              <a:buNone/>
            </a:pPr>
            <a:r>
              <a:rPr lang="en-US" altLang="zh-CN" sz="1200" dirty="0" smtClean="0">
                <a:sym typeface="+mn-ea"/>
              </a:rPr>
              <a:t>13 </a:t>
            </a:r>
            <a:endParaRPr lang="en-US" altLang="zh-CN" sz="1200" dirty="0" smtClean="0"/>
          </a:p>
          <a:p>
            <a:pPr>
              <a:lnSpc>
                <a:spcPct val="80000"/>
              </a:lnSpc>
              <a:buFont typeface="Times"/>
              <a:buNone/>
            </a:pPr>
            <a:r>
              <a:rPr lang="en-US" altLang="zh-CN" sz="1200" dirty="0" smtClean="0">
                <a:sym typeface="+mn-ea"/>
              </a:rPr>
              <a:t>14         try {</a:t>
            </a:r>
            <a:endParaRPr lang="en-US" altLang="zh-CN" sz="1200" dirty="0" smtClean="0"/>
          </a:p>
          <a:p>
            <a:pPr>
              <a:lnSpc>
                <a:spcPct val="80000"/>
              </a:lnSpc>
              <a:buFont typeface="Times"/>
              <a:buNone/>
            </a:pPr>
            <a:r>
              <a:rPr lang="en-US" altLang="zh-CN" sz="1200" dirty="0" smtClean="0">
                <a:sym typeface="+mn-ea"/>
              </a:rPr>
              <a:t>15             </a:t>
            </a:r>
            <a:r>
              <a:rPr lang="en-US" altLang="zh-CN" sz="1200" dirty="0" err="1" smtClean="0">
                <a:sym typeface="+mn-ea"/>
              </a:rPr>
              <a:t>fos</a:t>
            </a:r>
            <a:r>
              <a:rPr lang="en-US" altLang="zh-CN" sz="1200" dirty="0" smtClean="0">
                <a:sym typeface="+mn-ea"/>
              </a:rPr>
              <a:t> = new </a:t>
            </a:r>
            <a:r>
              <a:rPr lang="en-US" altLang="zh-CN" sz="1200" dirty="0" err="1" smtClean="0">
                <a:sym typeface="+mn-ea"/>
              </a:rPr>
              <a:t>FileOutputStream</a:t>
            </a:r>
            <a:r>
              <a:rPr lang="en-US" altLang="zh-CN" sz="1200" dirty="0" smtClean="0">
                <a:sym typeface="+mn-ea"/>
              </a:rPr>
              <a:t>(</a:t>
            </a:r>
            <a:r>
              <a:rPr lang="en-US" altLang="zh-CN" sz="1200" dirty="0" err="1" smtClean="0">
                <a:sym typeface="+mn-ea"/>
              </a:rPr>
              <a:t>args</a:t>
            </a:r>
            <a:r>
              <a:rPr lang="en-US" altLang="zh-CN" sz="1200" dirty="0" smtClean="0">
                <a:sym typeface="+mn-ea"/>
              </a:rPr>
              <a:t>[0]);</a:t>
            </a:r>
            <a:endParaRPr lang="en-US" altLang="zh-CN" sz="1200" dirty="0" smtClean="0"/>
          </a:p>
          <a:p>
            <a:pPr>
              <a:lnSpc>
                <a:spcPct val="80000"/>
              </a:lnSpc>
              <a:buFont typeface="Times"/>
              <a:buNone/>
            </a:pPr>
            <a:r>
              <a:rPr lang="en-US" altLang="zh-CN" sz="1200" dirty="0" smtClean="0">
                <a:sym typeface="+mn-ea"/>
              </a:rPr>
              <a:t>16             </a:t>
            </a:r>
            <a:r>
              <a:rPr lang="en-US" altLang="zh-CN" sz="1200" dirty="0" err="1" smtClean="0">
                <a:sym typeface="+mn-ea"/>
              </a:rPr>
              <a:t>bos</a:t>
            </a:r>
            <a:r>
              <a:rPr lang="en-US" altLang="zh-CN" sz="1200" dirty="0" smtClean="0">
                <a:sym typeface="+mn-ea"/>
              </a:rPr>
              <a:t> = new </a:t>
            </a:r>
            <a:r>
              <a:rPr lang="en-US" altLang="zh-CN" sz="1200" dirty="0" err="1" smtClean="0">
                <a:sym typeface="+mn-ea"/>
              </a:rPr>
              <a:t>BufferedOutputStream</a:t>
            </a:r>
            <a:r>
              <a:rPr lang="en-US" altLang="zh-CN" sz="1200" dirty="0" smtClean="0">
                <a:sym typeface="+mn-ea"/>
              </a:rPr>
              <a:t>(</a:t>
            </a:r>
            <a:r>
              <a:rPr lang="en-US" altLang="zh-CN" sz="1200" dirty="0" err="1" smtClean="0">
                <a:sym typeface="+mn-ea"/>
              </a:rPr>
              <a:t>fos</a:t>
            </a:r>
            <a:r>
              <a:rPr lang="en-US" altLang="zh-CN" sz="1200" dirty="0" smtClean="0">
                <a:sym typeface="+mn-ea"/>
              </a:rPr>
              <a:t>);</a:t>
            </a:r>
            <a:endParaRPr lang="en-US" altLang="zh-CN" sz="1200" dirty="0" smtClean="0"/>
          </a:p>
          <a:p>
            <a:pPr>
              <a:lnSpc>
                <a:spcPct val="80000"/>
              </a:lnSpc>
              <a:buFont typeface="Times"/>
              <a:buNone/>
            </a:pPr>
            <a:r>
              <a:rPr lang="en-US" altLang="zh-CN" sz="1200" dirty="0" smtClean="0">
                <a:sym typeface="+mn-ea"/>
              </a:rPr>
              <a:t>17             </a:t>
            </a:r>
            <a:r>
              <a:rPr lang="en-US" altLang="zh-CN" sz="1200" dirty="0" err="1" smtClean="0">
                <a:sym typeface="+mn-ea"/>
              </a:rPr>
              <a:t>oos</a:t>
            </a:r>
            <a:r>
              <a:rPr lang="en-US" altLang="zh-CN" sz="1200" dirty="0" smtClean="0">
                <a:sym typeface="+mn-ea"/>
              </a:rPr>
              <a:t> = new </a:t>
            </a:r>
            <a:r>
              <a:rPr lang="en-US" altLang="zh-CN" sz="1200" dirty="0" err="1" smtClean="0">
                <a:sym typeface="+mn-ea"/>
              </a:rPr>
              <a:t>ObjectOutputStream</a:t>
            </a:r>
            <a:r>
              <a:rPr lang="en-US" altLang="zh-CN" sz="1200" dirty="0" smtClean="0">
                <a:sym typeface="+mn-ea"/>
              </a:rPr>
              <a:t>(</a:t>
            </a:r>
            <a:r>
              <a:rPr lang="en-US" altLang="zh-CN" sz="1200" dirty="0" err="1" smtClean="0">
                <a:sym typeface="+mn-ea"/>
              </a:rPr>
              <a:t>bos</a:t>
            </a:r>
            <a:r>
              <a:rPr lang="en-US" altLang="zh-CN" sz="1200" dirty="0" smtClean="0">
                <a:sym typeface="+mn-ea"/>
              </a:rPr>
              <a:t>);</a:t>
            </a:r>
            <a:endParaRPr lang="en-US" altLang="zh-CN" sz="1200" dirty="0" smtClean="0"/>
          </a:p>
          <a:p>
            <a:pPr>
              <a:lnSpc>
                <a:spcPct val="80000"/>
              </a:lnSpc>
              <a:buFont typeface="Times"/>
              <a:buNone/>
            </a:pPr>
            <a:r>
              <a:rPr lang="en-US" altLang="zh-CN" sz="1200" dirty="0" smtClean="0">
                <a:sym typeface="+mn-ea"/>
              </a:rPr>
              <a:t>18 </a:t>
            </a:r>
            <a:endParaRPr lang="en-US" altLang="zh-CN" sz="1200" dirty="0" smtClean="0"/>
          </a:p>
          <a:p>
            <a:pPr>
              <a:lnSpc>
                <a:spcPct val="80000"/>
              </a:lnSpc>
              <a:buFont typeface="Times"/>
              <a:buNone/>
            </a:pPr>
            <a:r>
              <a:rPr lang="en-US" altLang="zh-CN" sz="1200" dirty="0" smtClean="0">
                <a:sym typeface="+mn-ea"/>
              </a:rPr>
              <a:t>19             </a:t>
            </a:r>
            <a:r>
              <a:rPr lang="en-US" altLang="zh-CN" sz="1200" dirty="0" err="1" smtClean="0">
                <a:sym typeface="+mn-ea"/>
              </a:rPr>
              <a:t>oos.writeInt</a:t>
            </a:r>
            <a:r>
              <a:rPr lang="en-US" altLang="zh-CN" sz="1200" dirty="0" smtClean="0">
                <a:sym typeface="+mn-ea"/>
              </a:rPr>
              <a:t>(num);</a:t>
            </a:r>
            <a:endParaRPr lang="en-US" altLang="zh-CN" sz="12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字节流链接示例 </a:t>
            </a:r>
            <a:r>
              <a:rPr lang="en-US" altLang="zh-CN" sz="2400" dirty="0" smtClean="0">
                <a:ea typeface="宋体" panose="02010600030101010101" pitchFamily="2" charset="-122"/>
                <a:sym typeface="+mn-ea"/>
              </a:rPr>
              <a:t>— </a:t>
            </a:r>
            <a:r>
              <a:rPr lang="en-US" altLang="zh-CN" sz="2400" dirty="0" err="1" smtClean="0">
                <a:sym typeface="+mn-ea"/>
              </a:rPr>
              <a:t>TestOutputStream</a:t>
            </a:r>
            <a:r>
              <a:rPr lang="zh-CN" altLang="en-US" sz="2400" dirty="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buFont typeface="Times"/>
              <a:buNone/>
              <a:defRPr/>
            </a:pPr>
            <a:r>
              <a:rPr lang="en-US" altLang="zh-CN" sz="1200" dirty="0" smtClean="0">
                <a:sym typeface="+mn-ea"/>
              </a:rPr>
              <a:t>20             </a:t>
            </a:r>
            <a:r>
              <a:rPr lang="en-US" altLang="zh-CN" sz="1200" dirty="0" err="1" smtClean="0">
                <a:sym typeface="+mn-ea"/>
              </a:rPr>
              <a:t>oos.writeFloat</a:t>
            </a:r>
            <a:r>
              <a:rPr lang="en-US" altLang="zh-CN" sz="1200" dirty="0" smtClean="0">
                <a:sym typeface="+mn-ea"/>
              </a:rPr>
              <a:t>(f);</a:t>
            </a:r>
            <a:endParaRPr lang="en-US" altLang="zh-CN" sz="1200" dirty="0" smtClean="0">
              <a:ea typeface="+mn-ea"/>
            </a:endParaRPr>
          </a:p>
          <a:p>
            <a:pPr>
              <a:buFont typeface="Times"/>
              <a:buNone/>
              <a:defRPr/>
            </a:pPr>
            <a:r>
              <a:rPr lang="en-US" altLang="zh-CN" sz="1200" dirty="0" smtClean="0">
                <a:sym typeface="+mn-ea"/>
              </a:rPr>
              <a:t>21             </a:t>
            </a:r>
            <a:r>
              <a:rPr lang="en-US" altLang="zh-CN" sz="1200" dirty="0" err="1" smtClean="0">
                <a:sym typeface="+mn-ea"/>
              </a:rPr>
              <a:t>oos.writeBoolean</a:t>
            </a:r>
            <a:r>
              <a:rPr lang="en-US" altLang="zh-CN" sz="1200" dirty="0" smtClean="0">
                <a:sym typeface="+mn-ea"/>
              </a:rPr>
              <a:t>(flag);</a:t>
            </a:r>
            <a:endParaRPr lang="en-US" altLang="zh-CN" sz="1200" dirty="0" smtClean="0">
              <a:ea typeface="+mn-ea"/>
            </a:endParaRPr>
          </a:p>
          <a:p>
            <a:pPr>
              <a:buFont typeface="Times"/>
              <a:buNone/>
              <a:defRPr/>
            </a:pPr>
            <a:r>
              <a:rPr lang="en-US" altLang="zh-CN" sz="1200" dirty="0" smtClean="0">
                <a:sym typeface="+mn-ea"/>
              </a:rPr>
              <a:t>22             </a:t>
            </a:r>
            <a:r>
              <a:rPr lang="en-US" altLang="zh-CN" sz="1200" dirty="0" err="1" smtClean="0">
                <a:sym typeface="+mn-ea"/>
              </a:rPr>
              <a:t>oos.writeUTF</a:t>
            </a:r>
            <a:r>
              <a:rPr lang="en-US" altLang="zh-CN" sz="1200" dirty="0" smtClean="0">
                <a:sym typeface="+mn-ea"/>
              </a:rPr>
              <a:t>(</a:t>
            </a:r>
            <a:r>
              <a:rPr lang="en-US" altLang="zh-CN" sz="1200" dirty="0" err="1" smtClean="0">
                <a:sym typeface="+mn-ea"/>
              </a:rPr>
              <a:t>str</a:t>
            </a:r>
            <a:r>
              <a:rPr lang="en-US" altLang="zh-CN" sz="1200" dirty="0" smtClean="0">
                <a:sym typeface="+mn-ea"/>
              </a:rPr>
              <a:t>);</a:t>
            </a:r>
            <a:endParaRPr lang="en-US" altLang="zh-CN" sz="1200" dirty="0" smtClean="0">
              <a:ea typeface="+mn-ea"/>
            </a:endParaRPr>
          </a:p>
          <a:p>
            <a:pPr>
              <a:buFont typeface="Times"/>
              <a:buNone/>
              <a:defRPr/>
            </a:pPr>
            <a:r>
              <a:rPr lang="en-US" altLang="zh-CN" sz="1200" dirty="0" smtClean="0">
                <a:sym typeface="+mn-ea"/>
              </a:rPr>
              <a:t>23         } catch (</a:t>
            </a:r>
            <a:r>
              <a:rPr lang="en-US" altLang="zh-CN" sz="1200" dirty="0" err="1" smtClean="0">
                <a:sym typeface="+mn-ea"/>
              </a:rPr>
              <a:t>IOException</a:t>
            </a:r>
            <a:r>
              <a:rPr lang="en-US" altLang="zh-CN" sz="1200" dirty="0" smtClean="0">
                <a:sym typeface="+mn-ea"/>
              </a:rPr>
              <a:t> e) {</a:t>
            </a:r>
            <a:endParaRPr lang="en-US" altLang="zh-CN" sz="1200" dirty="0" smtClean="0">
              <a:ea typeface="+mn-ea"/>
            </a:endParaRPr>
          </a:p>
          <a:p>
            <a:pPr>
              <a:buFont typeface="Times"/>
              <a:buNone/>
              <a:defRPr/>
            </a:pPr>
            <a:r>
              <a:rPr lang="en-US" altLang="zh-CN" sz="1200" dirty="0" smtClean="0">
                <a:sym typeface="+mn-ea"/>
              </a:rPr>
              <a:t>24             </a:t>
            </a:r>
            <a:r>
              <a:rPr lang="en-US" altLang="zh-CN" sz="1200" dirty="0" err="1" smtClean="0">
                <a:sym typeface="+mn-ea"/>
              </a:rPr>
              <a:t>e.printStackTrace</a:t>
            </a:r>
            <a:r>
              <a:rPr lang="en-US" altLang="zh-CN" sz="1200" dirty="0" smtClean="0">
                <a:sym typeface="+mn-ea"/>
              </a:rPr>
              <a:t>();</a:t>
            </a:r>
            <a:endParaRPr lang="en-US" altLang="zh-CN" sz="1200" dirty="0" smtClean="0">
              <a:ea typeface="+mn-ea"/>
            </a:endParaRPr>
          </a:p>
          <a:p>
            <a:pPr>
              <a:buFont typeface="Times"/>
              <a:buNone/>
              <a:defRPr/>
            </a:pPr>
            <a:r>
              <a:rPr lang="en-US" altLang="zh-CN" sz="1200" dirty="0" smtClean="0">
                <a:sym typeface="+mn-ea"/>
              </a:rPr>
              <a:t>25         } finally {</a:t>
            </a:r>
            <a:endParaRPr lang="en-US" altLang="zh-CN" sz="1200" dirty="0" smtClean="0">
              <a:ea typeface="+mn-ea"/>
            </a:endParaRPr>
          </a:p>
          <a:p>
            <a:pPr>
              <a:buFont typeface="Times"/>
              <a:buNone/>
              <a:defRPr/>
            </a:pPr>
            <a:r>
              <a:rPr lang="en-US" altLang="zh-CN" sz="1200" dirty="0" smtClean="0">
                <a:sym typeface="+mn-ea"/>
              </a:rPr>
              <a:t>26             if (</a:t>
            </a:r>
            <a:r>
              <a:rPr lang="en-US" altLang="zh-CN" sz="1200" dirty="0" err="1" smtClean="0">
                <a:sym typeface="+mn-ea"/>
              </a:rPr>
              <a:t>oos</a:t>
            </a:r>
            <a:r>
              <a:rPr lang="en-US" altLang="zh-CN" sz="1200" dirty="0" smtClean="0">
                <a:sym typeface="+mn-ea"/>
              </a:rPr>
              <a:t> != null)    {</a:t>
            </a:r>
            <a:endParaRPr lang="en-US" altLang="zh-CN" sz="1200" dirty="0" smtClean="0">
              <a:ea typeface="+mn-ea"/>
            </a:endParaRPr>
          </a:p>
          <a:p>
            <a:pPr>
              <a:buFont typeface="Times"/>
              <a:buNone/>
              <a:defRPr/>
            </a:pPr>
            <a:r>
              <a:rPr lang="en-US" altLang="zh-CN" sz="1200" dirty="0" smtClean="0">
                <a:sym typeface="+mn-ea"/>
              </a:rPr>
              <a:t>27                 try {</a:t>
            </a:r>
            <a:endParaRPr lang="en-US" altLang="zh-CN" sz="1200" dirty="0" smtClean="0">
              <a:ea typeface="+mn-ea"/>
            </a:endParaRPr>
          </a:p>
          <a:p>
            <a:pPr>
              <a:buFont typeface="Times"/>
              <a:buNone/>
              <a:defRPr/>
            </a:pPr>
            <a:r>
              <a:rPr lang="en-US" altLang="zh-CN" sz="1200" dirty="0" smtClean="0">
                <a:sym typeface="+mn-ea"/>
              </a:rPr>
              <a:t>28                     </a:t>
            </a:r>
            <a:r>
              <a:rPr lang="en-US" altLang="zh-CN" sz="1200" dirty="0" err="1" smtClean="0">
                <a:sym typeface="+mn-ea"/>
              </a:rPr>
              <a:t>oos.close</a:t>
            </a:r>
            <a:r>
              <a:rPr lang="en-US" altLang="zh-CN" sz="1200" dirty="0" smtClean="0">
                <a:sym typeface="+mn-ea"/>
              </a:rPr>
              <a:t>();</a:t>
            </a:r>
            <a:endParaRPr lang="en-US" altLang="zh-CN" sz="1200" dirty="0" smtClean="0">
              <a:ea typeface="+mn-ea"/>
            </a:endParaRPr>
          </a:p>
          <a:p>
            <a:pPr>
              <a:buFont typeface="Times"/>
              <a:buNone/>
              <a:defRPr/>
            </a:pPr>
            <a:r>
              <a:rPr lang="en-US" altLang="zh-CN" sz="1200" dirty="0" smtClean="0">
                <a:sym typeface="+mn-ea"/>
              </a:rPr>
              <a:t>29                 } catch (</a:t>
            </a:r>
            <a:r>
              <a:rPr lang="en-US" altLang="zh-CN" sz="1200" dirty="0" err="1" smtClean="0">
                <a:sym typeface="+mn-ea"/>
              </a:rPr>
              <a:t>IOException</a:t>
            </a:r>
            <a:r>
              <a:rPr lang="en-US" altLang="zh-CN" sz="1200" dirty="0" smtClean="0">
                <a:sym typeface="+mn-ea"/>
              </a:rPr>
              <a:t> e) {</a:t>
            </a:r>
            <a:endParaRPr lang="en-US" altLang="zh-CN" sz="1200" dirty="0" smtClean="0">
              <a:ea typeface="+mn-ea"/>
            </a:endParaRPr>
          </a:p>
          <a:p>
            <a:pPr>
              <a:buFont typeface="Times"/>
              <a:buNone/>
              <a:defRPr/>
            </a:pPr>
            <a:r>
              <a:rPr lang="en-US" altLang="zh-CN" sz="1200" dirty="0" smtClean="0">
                <a:sym typeface="+mn-ea"/>
              </a:rPr>
              <a:t>30                 }</a:t>
            </a:r>
            <a:endParaRPr lang="en-US" altLang="zh-CN" sz="1200" dirty="0" smtClean="0">
              <a:ea typeface="+mn-ea"/>
            </a:endParaRPr>
          </a:p>
          <a:p>
            <a:pPr>
              <a:buFont typeface="Times"/>
              <a:buNone/>
              <a:defRPr/>
            </a:pPr>
            <a:r>
              <a:rPr lang="en-US" altLang="zh-CN" sz="1200" dirty="0" smtClean="0">
                <a:sym typeface="+mn-ea"/>
              </a:rPr>
              <a:t>31             }</a:t>
            </a:r>
            <a:endParaRPr lang="en-US" altLang="zh-CN" sz="1200" dirty="0" smtClean="0">
              <a:ea typeface="+mn-ea"/>
            </a:endParaRPr>
          </a:p>
          <a:p>
            <a:pPr>
              <a:buFont typeface="Times"/>
              <a:buNone/>
              <a:defRPr/>
            </a:pPr>
            <a:r>
              <a:rPr lang="en-US" altLang="zh-CN" sz="1200" dirty="0" smtClean="0">
                <a:sym typeface="+mn-ea"/>
              </a:rPr>
              <a:t>32 </a:t>
            </a:r>
            <a:endParaRPr lang="en-US" altLang="zh-CN" sz="1200" dirty="0" smtClean="0">
              <a:ea typeface="+mn-ea"/>
            </a:endParaRPr>
          </a:p>
          <a:p>
            <a:pPr>
              <a:buFont typeface="Times"/>
              <a:buNone/>
              <a:defRPr/>
            </a:pPr>
            <a:r>
              <a:rPr lang="en-US" altLang="zh-CN" sz="1200" dirty="0" smtClean="0">
                <a:sym typeface="+mn-ea"/>
              </a:rPr>
              <a:t>33             if (</a:t>
            </a:r>
            <a:r>
              <a:rPr lang="en-US" altLang="zh-CN" sz="1200" dirty="0" err="1" smtClean="0">
                <a:sym typeface="+mn-ea"/>
              </a:rPr>
              <a:t>bos</a:t>
            </a:r>
            <a:r>
              <a:rPr lang="en-US" altLang="zh-CN" sz="1200" dirty="0" smtClean="0">
                <a:sym typeface="+mn-ea"/>
              </a:rPr>
              <a:t> != null)    {</a:t>
            </a:r>
            <a:endParaRPr lang="en-US" altLang="zh-CN" sz="1200" dirty="0" smtClean="0">
              <a:ea typeface="+mn-ea"/>
            </a:endParaRPr>
          </a:p>
          <a:p>
            <a:pPr>
              <a:buFont typeface="Times"/>
              <a:buNone/>
              <a:defRPr/>
            </a:pPr>
            <a:r>
              <a:rPr lang="en-US" altLang="zh-CN" sz="1200" dirty="0" smtClean="0">
                <a:sym typeface="+mn-ea"/>
              </a:rPr>
              <a:t>34                 try {</a:t>
            </a:r>
            <a:endParaRPr lang="en-US" altLang="zh-CN" sz="1200" dirty="0" smtClean="0">
              <a:ea typeface="+mn-ea"/>
            </a:endParaRPr>
          </a:p>
          <a:p>
            <a:pPr>
              <a:buFont typeface="Times"/>
              <a:buNone/>
              <a:defRPr/>
            </a:pPr>
            <a:r>
              <a:rPr lang="en-US" altLang="zh-CN" sz="1200" dirty="0" smtClean="0">
                <a:sym typeface="+mn-ea"/>
              </a:rPr>
              <a:t>35                     </a:t>
            </a:r>
            <a:r>
              <a:rPr lang="en-US" altLang="zh-CN" sz="1200" dirty="0" err="1" smtClean="0">
                <a:sym typeface="+mn-ea"/>
              </a:rPr>
              <a:t>bos.close</a:t>
            </a:r>
            <a:r>
              <a:rPr lang="en-US" altLang="zh-CN" sz="1200" dirty="0" smtClean="0">
                <a:sym typeface="+mn-ea"/>
              </a:rPr>
              <a:t>();</a:t>
            </a:r>
            <a:endParaRPr lang="en-US" altLang="zh-CN" sz="1200" dirty="0" smtClean="0">
              <a:ea typeface="+mn-ea"/>
            </a:endParaRPr>
          </a:p>
          <a:p>
            <a:pPr>
              <a:buFont typeface="Times"/>
              <a:buNone/>
              <a:defRPr/>
            </a:pPr>
            <a:r>
              <a:rPr lang="en-US" altLang="zh-CN" sz="1200" dirty="0" smtClean="0">
                <a:sym typeface="+mn-ea"/>
              </a:rPr>
              <a:t>36                 } catch (</a:t>
            </a:r>
            <a:r>
              <a:rPr lang="en-US" altLang="zh-CN" sz="1200" dirty="0" err="1" smtClean="0">
                <a:sym typeface="+mn-ea"/>
              </a:rPr>
              <a:t>IOException</a:t>
            </a:r>
            <a:r>
              <a:rPr lang="en-US" altLang="zh-CN" sz="1200" dirty="0" smtClean="0">
                <a:sym typeface="+mn-ea"/>
              </a:rPr>
              <a:t> e) {</a:t>
            </a:r>
            <a:endParaRPr lang="en-US" altLang="zh-CN" sz="1200" dirty="0" smtClean="0">
              <a:ea typeface="+mn-ea"/>
            </a:endParaRPr>
          </a:p>
          <a:p>
            <a:pPr>
              <a:buFont typeface="Times"/>
              <a:buNone/>
              <a:defRPr/>
            </a:pPr>
            <a:r>
              <a:rPr lang="en-US" altLang="zh-CN" sz="1200" dirty="0" smtClean="0">
                <a:sym typeface="+mn-ea"/>
              </a:rPr>
              <a:t>37                 }</a:t>
            </a:r>
            <a:endParaRPr lang="en-US" altLang="zh-CN" sz="1200" dirty="0" smtClean="0">
              <a:ea typeface="+mn-ea"/>
            </a:endParaRPr>
          </a:p>
          <a:p>
            <a:pPr>
              <a:buFont typeface="Times"/>
              <a:buNone/>
              <a:defRPr/>
            </a:pPr>
            <a:r>
              <a:rPr lang="en-US" altLang="zh-CN" sz="1200" dirty="0" smtClean="0">
                <a:sym typeface="+mn-ea"/>
              </a:rPr>
              <a:t>38             }</a:t>
            </a:r>
            <a:endParaRPr lang="en-US" altLang="zh-CN" sz="12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字节流链接示例 </a:t>
            </a:r>
            <a:r>
              <a:rPr lang="en-US" altLang="zh-CN" sz="2400" dirty="0" smtClean="0">
                <a:ea typeface="宋体" panose="02010600030101010101" pitchFamily="2" charset="-122"/>
                <a:sym typeface="+mn-ea"/>
              </a:rPr>
              <a:t>— </a:t>
            </a:r>
            <a:r>
              <a:rPr lang="en-US" altLang="zh-CN" sz="2400" dirty="0" err="1" smtClean="0">
                <a:sym typeface="+mn-ea"/>
              </a:rPr>
              <a:t>TestOutputStream</a:t>
            </a:r>
            <a:r>
              <a:rPr lang="zh-CN" altLang="en-US" sz="2400" dirty="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buFont typeface="Times"/>
              <a:buNone/>
              <a:defRPr/>
            </a:pPr>
            <a:r>
              <a:rPr lang="en-US" altLang="zh-CN" sz="1200" dirty="0" smtClean="0">
                <a:sym typeface="+mn-ea"/>
              </a:rPr>
              <a:t>39 </a:t>
            </a:r>
            <a:endParaRPr lang="en-US" altLang="zh-CN" sz="1200" dirty="0" smtClean="0">
              <a:ea typeface="+mn-ea"/>
            </a:endParaRPr>
          </a:p>
          <a:p>
            <a:pPr>
              <a:buFont typeface="Times"/>
              <a:buNone/>
              <a:defRPr/>
            </a:pPr>
            <a:r>
              <a:rPr lang="en-US" altLang="zh-CN" sz="1200" dirty="0" smtClean="0">
                <a:sym typeface="+mn-ea"/>
              </a:rPr>
              <a:t>40             if (</a:t>
            </a:r>
            <a:r>
              <a:rPr lang="en-US" altLang="zh-CN" sz="1200" dirty="0" err="1" smtClean="0">
                <a:sym typeface="+mn-ea"/>
              </a:rPr>
              <a:t>fos</a:t>
            </a:r>
            <a:r>
              <a:rPr lang="en-US" altLang="zh-CN" sz="1200" dirty="0" smtClean="0">
                <a:sym typeface="+mn-ea"/>
              </a:rPr>
              <a:t> != null)    {</a:t>
            </a:r>
            <a:endParaRPr lang="en-US" altLang="zh-CN" sz="1200" dirty="0" smtClean="0">
              <a:ea typeface="+mn-ea"/>
            </a:endParaRPr>
          </a:p>
          <a:p>
            <a:pPr>
              <a:buFont typeface="Times"/>
              <a:buNone/>
              <a:defRPr/>
            </a:pPr>
            <a:r>
              <a:rPr lang="en-US" altLang="zh-CN" sz="1200" dirty="0" smtClean="0">
                <a:sym typeface="+mn-ea"/>
              </a:rPr>
              <a:t>41                 try {</a:t>
            </a:r>
            <a:endParaRPr lang="en-US" altLang="zh-CN" sz="1200" dirty="0" smtClean="0">
              <a:ea typeface="+mn-ea"/>
            </a:endParaRPr>
          </a:p>
          <a:p>
            <a:pPr>
              <a:buFont typeface="Times"/>
              <a:buNone/>
              <a:defRPr/>
            </a:pPr>
            <a:r>
              <a:rPr lang="en-US" altLang="zh-CN" sz="1200" dirty="0" smtClean="0">
                <a:sym typeface="+mn-ea"/>
              </a:rPr>
              <a:t>42                     </a:t>
            </a:r>
            <a:r>
              <a:rPr lang="en-US" altLang="zh-CN" sz="1200" dirty="0" err="1" smtClean="0">
                <a:sym typeface="+mn-ea"/>
              </a:rPr>
              <a:t>fos.close</a:t>
            </a:r>
            <a:r>
              <a:rPr lang="en-US" altLang="zh-CN" sz="1200" dirty="0" smtClean="0">
                <a:sym typeface="+mn-ea"/>
              </a:rPr>
              <a:t>();</a:t>
            </a:r>
            <a:endParaRPr lang="en-US" altLang="zh-CN" sz="1200" dirty="0" smtClean="0">
              <a:ea typeface="+mn-ea"/>
            </a:endParaRPr>
          </a:p>
          <a:p>
            <a:pPr>
              <a:buFont typeface="Times"/>
              <a:buNone/>
              <a:defRPr/>
            </a:pPr>
            <a:r>
              <a:rPr lang="en-US" altLang="zh-CN" sz="1200" dirty="0" smtClean="0">
                <a:sym typeface="+mn-ea"/>
              </a:rPr>
              <a:t>43                 } catch (</a:t>
            </a:r>
            <a:r>
              <a:rPr lang="en-US" altLang="zh-CN" sz="1200" dirty="0" err="1" smtClean="0">
                <a:sym typeface="+mn-ea"/>
              </a:rPr>
              <a:t>IOException</a:t>
            </a:r>
            <a:r>
              <a:rPr lang="en-US" altLang="zh-CN" sz="1200" dirty="0" smtClean="0">
                <a:sym typeface="+mn-ea"/>
              </a:rPr>
              <a:t> e) {</a:t>
            </a:r>
            <a:endParaRPr lang="en-US" altLang="zh-CN" sz="1200" dirty="0" smtClean="0">
              <a:ea typeface="+mn-ea"/>
            </a:endParaRPr>
          </a:p>
          <a:p>
            <a:pPr>
              <a:buFont typeface="Times"/>
              <a:buNone/>
              <a:defRPr/>
            </a:pPr>
            <a:r>
              <a:rPr lang="en-US" altLang="zh-CN" sz="1200" dirty="0" smtClean="0">
                <a:sym typeface="+mn-ea"/>
              </a:rPr>
              <a:t>44                 }</a:t>
            </a:r>
            <a:endParaRPr lang="en-US" altLang="zh-CN" sz="1200" dirty="0" smtClean="0">
              <a:ea typeface="+mn-ea"/>
            </a:endParaRPr>
          </a:p>
          <a:p>
            <a:pPr>
              <a:buFont typeface="Times"/>
              <a:buNone/>
              <a:defRPr/>
            </a:pPr>
            <a:r>
              <a:rPr lang="en-US" altLang="zh-CN" sz="1200" dirty="0" smtClean="0">
                <a:sym typeface="+mn-ea"/>
              </a:rPr>
              <a:t>45             }</a:t>
            </a:r>
            <a:endParaRPr lang="en-US" altLang="zh-CN" sz="1200" dirty="0" smtClean="0">
              <a:ea typeface="+mn-ea"/>
            </a:endParaRPr>
          </a:p>
          <a:p>
            <a:pPr>
              <a:buFont typeface="Times"/>
              <a:buNone/>
              <a:defRPr/>
            </a:pPr>
            <a:r>
              <a:rPr lang="en-US" altLang="zh-CN" sz="1200" dirty="0" smtClean="0">
                <a:sym typeface="+mn-ea"/>
              </a:rPr>
              <a:t>46         }</a:t>
            </a:r>
            <a:endParaRPr lang="en-US" altLang="zh-CN" sz="1200" dirty="0" smtClean="0">
              <a:ea typeface="+mn-ea"/>
            </a:endParaRPr>
          </a:p>
          <a:p>
            <a:pPr>
              <a:buFont typeface="Times"/>
              <a:buNone/>
              <a:defRPr/>
            </a:pPr>
            <a:r>
              <a:rPr lang="en-US" altLang="zh-CN" sz="1200" dirty="0" smtClean="0">
                <a:sym typeface="+mn-ea"/>
              </a:rPr>
              <a:t>47     }</a:t>
            </a:r>
            <a:endParaRPr lang="en-US" altLang="zh-CN" sz="1200" dirty="0" smtClean="0">
              <a:ea typeface="+mn-ea"/>
            </a:endParaRPr>
          </a:p>
          <a:p>
            <a:pPr>
              <a:buFont typeface="Times"/>
              <a:buNone/>
              <a:defRPr/>
            </a:pPr>
            <a:r>
              <a:rPr lang="en-US" altLang="zh-CN" sz="1200" dirty="0" smtClean="0">
                <a:sym typeface="+mn-ea"/>
              </a:rPr>
              <a:t>48 }</a:t>
            </a:r>
            <a:endParaRPr lang="en-US" altLang="zh-CN" sz="12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字节流链接示例 </a:t>
            </a:r>
            <a:r>
              <a:rPr lang="en-US" altLang="zh-CN" sz="2400" dirty="0" smtClean="0">
                <a:ea typeface="宋体" panose="02010600030101010101" pitchFamily="2" charset="-122"/>
                <a:sym typeface="+mn-ea"/>
              </a:rPr>
              <a:t>— </a:t>
            </a:r>
            <a:r>
              <a:rPr lang="en-US" altLang="zh-CN" sz="2400" dirty="0" err="1" smtClean="0">
                <a:sym typeface="+mn-ea"/>
              </a:rPr>
              <a:t>TestInputStream</a:t>
            </a:r>
            <a:r>
              <a:rPr lang="zh-CN" altLang="en-US" sz="2400" dirty="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935990"/>
            <a:ext cx="11037570" cy="5375910"/>
          </a:xfrm>
        </p:spPr>
        <p:txBody>
          <a:bodyPr>
            <a:noAutofit/>
          </a:bodyPr>
          <a:p>
            <a:pPr>
              <a:lnSpc>
                <a:spcPct val="80000"/>
              </a:lnSpc>
              <a:buFont typeface="Times"/>
              <a:buNone/>
            </a:pPr>
            <a:r>
              <a:rPr lang="en-US" altLang="zh-CN" sz="1200" dirty="0" smtClean="0">
                <a:sym typeface="+mn-ea"/>
              </a:rPr>
              <a:t>1  import java.io.*;</a:t>
            </a:r>
            <a:endParaRPr lang="en-US" altLang="zh-CN" sz="1200" dirty="0" smtClean="0"/>
          </a:p>
          <a:p>
            <a:pPr>
              <a:lnSpc>
                <a:spcPct val="80000"/>
              </a:lnSpc>
              <a:buFont typeface="Times"/>
              <a:buNone/>
            </a:pPr>
            <a:r>
              <a:rPr lang="en-US" altLang="zh-CN" sz="1200" dirty="0" smtClean="0">
                <a:sym typeface="+mn-ea"/>
              </a:rPr>
              <a:t>2  </a:t>
            </a:r>
            <a:endParaRPr lang="en-US" altLang="zh-CN" sz="1200" dirty="0" smtClean="0"/>
          </a:p>
          <a:p>
            <a:pPr>
              <a:lnSpc>
                <a:spcPct val="80000"/>
              </a:lnSpc>
              <a:buFont typeface="Times"/>
              <a:buNone/>
            </a:pPr>
            <a:r>
              <a:rPr lang="en-US" altLang="zh-CN" sz="1200" dirty="0" smtClean="0">
                <a:sym typeface="+mn-ea"/>
              </a:rPr>
              <a:t>3  public class </a:t>
            </a:r>
            <a:r>
              <a:rPr lang="en-US" altLang="zh-CN" sz="1200" dirty="0" err="1" smtClean="0">
                <a:sym typeface="+mn-ea"/>
              </a:rPr>
              <a:t>TestInputStream</a:t>
            </a:r>
            <a:r>
              <a:rPr lang="en-US" altLang="zh-CN" sz="1200" dirty="0" smtClean="0">
                <a:sym typeface="+mn-ea"/>
              </a:rPr>
              <a:t> {</a:t>
            </a:r>
            <a:endParaRPr lang="en-US" altLang="zh-CN" sz="1200" dirty="0" smtClean="0"/>
          </a:p>
          <a:p>
            <a:pPr>
              <a:lnSpc>
                <a:spcPct val="80000"/>
              </a:lnSpc>
              <a:buFont typeface="Times"/>
              <a:buNone/>
            </a:pPr>
            <a:r>
              <a:rPr lang="en-US" altLang="zh-CN" sz="1200" dirty="0" smtClean="0">
                <a:sym typeface="+mn-ea"/>
              </a:rPr>
              <a:t>4      public static void main(String[] </a:t>
            </a:r>
            <a:r>
              <a:rPr lang="en-US" altLang="zh-CN" sz="1200" dirty="0" err="1" smtClean="0">
                <a:sym typeface="+mn-ea"/>
              </a:rPr>
              <a:t>args</a:t>
            </a:r>
            <a:r>
              <a:rPr lang="en-US" altLang="zh-CN" sz="1200" dirty="0" smtClean="0">
                <a:sym typeface="+mn-ea"/>
              </a:rPr>
              <a:t>) {</a:t>
            </a:r>
            <a:endParaRPr lang="en-US" altLang="zh-CN" sz="1200" dirty="0" smtClean="0"/>
          </a:p>
          <a:p>
            <a:pPr>
              <a:lnSpc>
                <a:spcPct val="80000"/>
              </a:lnSpc>
              <a:buFont typeface="Times"/>
              <a:buNone/>
            </a:pPr>
            <a:r>
              <a:rPr lang="en-US" altLang="zh-CN" sz="1200" dirty="0" smtClean="0">
                <a:sym typeface="+mn-ea"/>
              </a:rPr>
              <a:t>5          </a:t>
            </a:r>
            <a:r>
              <a:rPr lang="en-US" altLang="zh-CN" sz="1200" dirty="0" err="1" smtClean="0">
                <a:sym typeface="+mn-ea"/>
              </a:rPr>
              <a:t>FileInputStream</a:t>
            </a:r>
            <a:r>
              <a:rPr lang="en-US" altLang="zh-CN" sz="1200" dirty="0" smtClean="0">
                <a:sym typeface="+mn-ea"/>
              </a:rPr>
              <a:t> </a:t>
            </a:r>
            <a:r>
              <a:rPr lang="en-US" altLang="zh-CN" sz="1200" dirty="0" err="1" smtClean="0">
                <a:sym typeface="+mn-ea"/>
              </a:rPr>
              <a:t>fis</a:t>
            </a:r>
            <a:r>
              <a:rPr lang="en-US" altLang="zh-CN" sz="1200" dirty="0" smtClean="0">
                <a:sym typeface="+mn-ea"/>
              </a:rPr>
              <a:t> = null;</a:t>
            </a:r>
            <a:endParaRPr lang="en-US" altLang="zh-CN" sz="1200" dirty="0" smtClean="0"/>
          </a:p>
          <a:p>
            <a:pPr>
              <a:lnSpc>
                <a:spcPct val="80000"/>
              </a:lnSpc>
              <a:buFont typeface="Times"/>
              <a:buNone/>
            </a:pPr>
            <a:r>
              <a:rPr lang="en-US" altLang="zh-CN" sz="1200" dirty="0" smtClean="0">
                <a:sym typeface="+mn-ea"/>
              </a:rPr>
              <a:t>6          </a:t>
            </a:r>
            <a:r>
              <a:rPr lang="en-US" altLang="zh-CN" sz="1200" dirty="0" err="1" smtClean="0">
                <a:sym typeface="+mn-ea"/>
              </a:rPr>
              <a:t>ObjectInputStream</a:t>
            </a:r>
            <a:r>
              <a:rPr lang="en-US" altLang="zh-CN" sz="1200" dirty="0" smtClean="0">
                <a:sym typeface="+mn-ea"/>
              </a:rPr>
              <a:t> </a:t>
            </a:r>
            <a:r>
              <a:rPr lang="en-US" altLang="zh-CN" sz="1200" dirty="0" err="1" smtClean="0">
                <a:sym typeface="+mn-ea"/>
              </a:rPr>
              <a:t>ois</a:t>
            </a:r>
            <a:r>
              <a:rPr lang="en-US" altLang="zh-CN" sz="1200" dirty="0" smtClean="0">
                <a:sym typeface="+mn-ea"/>
              </a:rPr>
              <a:t> = null;</a:t>
            </a:r>
            <a:endParaRPr lang="en-US" altLang="zh-CN" sz="1200" dirty="0" smtClean="0"/>
          </a:p>
          <a:p>
            <a:pPr>
              <a:lnSpc>
                <a:spcPct val="80000"/>
              </a:lnSpc>
              <a:buFont typeface="Times"/>
              <a:buNone/>
            </a:pPr>
            <a:r>
              <a:rPr lang="en-US" altLang="zh-CN" sz="1200" dirty="0" smtClean="0">
                <a:sym typeface="+mn-ea"/>
              </a:rPr>
              <a:t>7  </a:t>
            </a:r>
            <a:endParaRPr lang="en-US" altLang="zh-CN" sz="1200" dirty="0" smtClean="0"/>
          </a:p>
          <a:p>
            <a:pPr>
              <a:lnSpc>
                <a:spcPct val="80000"/>
              </a:lnSpc>
              <a:buFont typeface="Times"/>
              <a:buNone/>
            </a:pPr>
            <a:r>
              <a:rPr lang="en-US" altLang="zh-CN" sz="1200" dirty="0" smtClean="0">
                <a:sym typeface="+mn-ea"/>
              </a:rPr>
              <a:t>8          try {</a:t>
            </a:r>
            <a:endParaRPr lang="en-US" altLang="zh-CN" sz="1200" dirty="0" smtClean="0"/>
          </a:p>
          <a:p>
            <a:pPr>
              <a:lnSpc>
                <a:spcPct val="80000"/>
              </a:lnSpc>
              <a:buFont typeface="Times"/>
              <a:buNone/>
            </a:pPr>
            <a:r>
              <a:rPr lang="en-US" altLang="zh-CN" sz="1200" dirty="0" smtClean="0">
                <a:sym typeface="+mn-ea"/>
              </a:rPr>
              <a:t>9              </a:t>
            </a:r>
            <a:r>
              <a:rPr lang="en-US" altLang="zh-CN" sz="1200" dirty="0" err="1" smtClean="0">
                <a:sym typeface="+mn-ea"/>
              </a:rPr>
              <a:t>fis</a:t>
            </a:r>
            <a:r>
              <a:rPr lang="en-US" altLang="zh-CN" sz="1200" dirty="0" smtClean="0">
                <a:sym typeface="+mn-ea"/>
              </a:rPr>
              <a:t> = new </a:t>
            </a:r>
            <a:r>
              <a:rPr lang="en-US" altLang="zh-CN" sz="1200" dirty="0" err="1" smtClean="0">
                <a:sym typeface="+mn-ea"/>
              </a:rPr>
              <a:t>FileInputStream</a:t>
            </a:r>
            <a:r>
              <a:rPr lang="en-US" altLang="zh-CN" sz="1200" dirty="0" smtClean="0">
                <a:sym typeface="+mn-ea"/>
              </a:rPr>
              <a:t>(</a:t>
            </a:r>
            <a:r>
              <a:rPr lang="en-US" altLang="zh-CN" sz="1200" dirty="0" err="1" smtClean="0">
                <a:sym typeface="+mn-ea"/>
              </a:rPr>
              <a:t>args</a:t>
            </a:r>
            <a:r>
              <a:rPr lang="en-US" altLang="zh-CN" sz="1200" dirty="0" smtClean="0">
                <a:sym typeface="+mn-ea"/>
              </a:rPr>
              <a:t>[0]);</a:t>
            </a:r>
            <a:endParaRPr lang="en-US" altLang="zh-CN" sz="1200" dirty="0" smtClean="0"/>
          </a:p>
          <a:p>
            <a:pPr>
              <a:lnSpc>
                <a:spcPct val="80000"/>
              </a:lnSpc>
              <a:buFont typeface="Times"/>
              <a:buNone/>
            </a:pPr>
            <a:r>
              <a:rPr lang="en-US" altLang="zh-CN" sz="1200" dirty="0" smtClean="0">
                <a:sym typeface="+mn-ea"/>
              </a:rPr>
              <a:t>10             </a:t>
            </a:r>
            <a:r>
              <a:rPr lang="en-US" altLang="zh-CN" sz="1200" dirty="0" err="1" smtClean="0">
                <a:sym typeface="+mn-ea"/>
              </a:rPr>
              <a:t>ois</a:t>
            </a:r>
            <a:r>
              <a:rPr lang="en-US" altLang="zh-CN" sz="1200" dirty="0" smtClean="0">
                <a:sym typeface="+mn-ea"/>
              </a:rPr>
              <a:t> = new </a:t>
            </a:r>
            <a:r>
              <a:rPr lang="en-US" altLang="zh-CN" sz="1200" dirty="0" err="1" smtClean="0">
                <a:sym typeface="+mn-ea"/>
              </a:rPr>
              <a:t>ObjectInputStream</a:t>
            </a:r>
            <a:r>
              <a:rPr lang="en-US" altLang="zh-CN" sz="1200" dirty="0" smtClean="0">
                <a:sym typeface="+mn-ea"/>
              </a:rPr>
              <a:t>(</a:t>
            </a:r>
            <a:r>
              <a:rPr lang="en-US" altLang="zh-CN" sz="1200" dirty="0" err="1" smtClean="0">
                <a:sym typeface="+mn-ea"/>
              </a:rPr>
              <a:t>fis</a:t>
            </a:r>
            <a:r>
              <a:rPr lang="en-US" altLang="zh-CN" sz="1200" dirty="0" smtClean="0">
                <a:sym typeface="+mn-ea"/>
              </a:rPr>
              <a:t>);</a:t>
            </a:r>
            <a:endParaRPr lang="en-US" altLang="zh-CN" sz="1200" dirty="0" smtClean="0"/>
          </a:p>
          <a:p>
            <a:pPr>
              <a:lnSpc>
                <a:spcPct val="80000"/>
              </a:lnSpc>
              <a:buFont typeface="Times"/>
              <a:buNone/>
            </a:pPr>
            <a:r>
              <a:rPr lang="en-US" altLang="zh-CN" sz="1200" dirty="0" smtClean="0">
                <a:sym typeface="+mn-ea"/>
              </a:rPr>
              <a:t>11 </a:t>
            </a:r>
            <a:endParaRPr lang="en-US" altLang="zh-CN" sz="1200" dirty="0" smtClean="0"/>
          </a:p>
          <a:p>
            <a:pPr>
              <a:lnSpc>
                <a:spcPct val="80000"/>
              </a:lnSpc>
              <a:buFont typeface="Times"/>
              <a:buNone/>
            </a:pPr>
            <a:r>
              <a:rPr lang="en-US" altLang="zh-CN" sz="1200" dirty="0" smtClean="0">
                <a:sym typeface="+mn-ea"/>
              </a:rPr>
              <a:t>12             </a:t>
            </a:r>
            <a:r>
              <a:rPr lang="en-US" altLang="zh-CN" sz="1200" dirty="0" err="1" smtClean="0">
                <a:sym typeface="+mn-ea"/>
              </a:rPr>
              <a:t>int</a:t>
            </a:r>
            <a:r>
              <a:rPr lang="en-US" altLang="zh-CN" sz="1200" dirty="0" smtClean="0">
                <a:sym typeface="+mn-ea"/>
              </a:rPr>
              <a:t> num = </a:t>
            </a:r>
            <a:r>
              <a:rPr lang="en-US" altLang="zh-CN" sz="1200" dirty="0" err="1" smtClean="0">
                <a:sym typeface="+mn-ea"/>
              </a:rPr>
              <a:t>ois.readInt</a:t>
            </a:r>
            <a:r>
              <a:rPr lang="en-US" altLang="zh-CN" sz="1200" dirty="0" smtClean="0">
                <a:sym typeface="+mn-ea"/>
              </a:rPr>
              <a:t>();</a:t>
            </a:r>
            <a:endParaRPr lang="en-US" altLang="zh-CN" sz="1200" dirty="0" smtClean="0"/>
          </a:p>
          <a:p>
            <a:pPr>
              <a:lnSpc>
                <a:spcPct val="80000"/>
              </a:lnSpc>
              <a:buFont typeface="Times"/>
              <a:buNone/>
            </a:pPr>
            <a:r>
              <a:rPr lang="en-US" altLang="zh-CN" sz="1200" dirty="0" smtClean="0">
                <a:sym typeface="+mn-ea"/>
              </a:rPr>
              <a:t>13             float f = </a:t>
            </a:r>
            <a:r>
              <a:rPr lang="en-US" altLang="zh-CN" sz="1200" dirty="0" err="1" smtClean="0">
                <a:sym typeface="+mn-ea"/>
              </a:rPr>
              <a:t>ois.readFloat</a:t>
            </a:r>
            <a:r>
              <a:rPr lang="en-US" altLang="zh-CN" sz="1200" dirty="0" smtClean="0">
                <a:sym typeface="+mn-ea"/>
              </a:rPr>
              <a:t>();</a:t>
            </a:r>
            <a:endParaRPr lang="en-US" altLang="zh-CN" sz="1200" dirty="0" smtClean="0"/>
          </a:p>
          <a:p>
            <a:pPr>
              <a:lnSpc>
                <a:spcPct val="80000"/>
              </a:lnSpc>
              <a:buFont typeface="Times"/>
              <a:buNone/>
            </a:pPr>
            <a:r>
              <a:rPr lang="en-US" altLang="zh-CN" sz="1200" dirty="0" smtClean="0">
                <a:sym typeface="+mn-ea"/>
              </a:rPr>
              <a:t>14             </a:t>
            </a:r>
            <a:r>
              <a:rPr lang="en-US" altLang="zh-CN" sz="1200" dirty="0" err="1" smtClean="0">
                <a:sym typeface="+mn-ea"/>
              </a:rPr>
              <a:t>boolean</a:t>
            </a:r>
            <a:r>
              <a:rPr lang="en-US" altLang="zh-CN" sz="1200" dirty="0" smtClean="0">
                <a:sym typeface="+mn-ea"/>
              </a:rPr>
              <a:t> flag = </a:t>
            </a:r>
            <a:r>
              <a:rPr lang="en-US" altLang="zh-CN" sz="1200" dirty="0" err="1" smtClean="0">
                <a:sym typeface="+mn-ea"/>
              </a:rPr>
              <a:t>ois.readBoolean</a:t>
            </a:r>
            <a:r>
              <a:rPr lang="en-US" altLang="zh-CN" sz="1200" dirty="0" smtClean="0">
                <a:sym typeface="+mn-ea"/>
              </a:rPr>
              <a:t>();</a:t>
            </a:r>
            <a:endParaRPr lang="en-US" altLang="zh-CN" sz="1200" dirty="0" smtClean="0"/>
          </a:p>
          <a:p>
            <a:pPr>
              <a:lnSpc>
                <a:spcPct val="80000"/>
              </a:lnSpc>
              <a:buFont typeface="Times"/>
              <a:buNone/>
            </a:pPr>
            <a:r>
              <a:rPr lang="en-US" altLang="zh-CN" sz="1200" dirty="0" smtClean="0">
                <a:sym typeface="+mn-ea"/>
              </a:rPr>
              <a:t>15             String </a:t>
            </a:r>
            <a:r>
              <a:rPr lang="en-US" altLang="zh-CN" sz="1200" dirty="0" err="1" smtClean="0">
                <a:sym typeface="+mn-ea"/>
              </a:rPr>
              <a:t>str</a:t>
            </a:r>
            <a:r>
              <a:rPr lang="en-US" altLang="zh-CN" sz="1200" dirty="0" smtClean="0">
                <a:sym typeface="+mn-ea"/>
              </a:rPr>
              <a:t> = </a:t>
            </a:r>
            <a:r>
              <a:rPr lang="en-US" altLang="zh-CN" sz="1200" dirty="0" err="1" smtClean="0">
                <a:sym typeface="+mn-ea"/>
              </a:rPr>
              <a:t>ois.readUTF</a:t>
            </a:r>
            <a:r>
              <a:rPr lang="en-US" altLang="zh-CN" sz="1200" dirty="0" smtClean="0">
                <a:sym typeface="+mn-ea"/>
              </a:rPr>
              <a:t>();</a:t>
            </a:r>
            <a:endParaRPr lang="en-US" altLang="zh-CN" sz="1200" dirty="0" smtClean="0"/>
          </a:p>
          <a:p>
            <a:pPr>
              <a:lnSpc>
                <a:spcPct val="80000"/>
              </a:lnSpc>
              <a:buFont typeface="Times"/>
              <a:buNone/>
            </a:pPr>
            <a:r>
              <a:rPr lang="en-US" altLang="zh-CN" sz="1200" dirty="0" smtClean="0">
                <a:sym typeface="+mn-ea"/>
              </a:rPr>
              <a:t>16 </a:t>
            </a:r>
            <a:endParaRPr lang="en-US" altLang="zh-CN" sz="1200" dirty="0" smtClean="0"/>
          </a:p>
          <a:p>
            <a:pPr>
              <a:lnSpc>
                <a:spcPct val="80000"/>
              </a:lnSpc>
              <a:buFont typeface="Times"/>
              <a:buNone/>
            </a:pPr>
            <a:r>
              <a:rPr lang="en-US" altLang="zh-CN" sz="1200" dirty="0" smtClean="0">
                <a:sym typeface="+mn-ea"/>
              </a:rPr>
              <a:t>17             </a:t>
            </a:r>
            <a:r>
              <a:rPr lang="en-US" altLang="zh-CN" sz="1200" dirty="0" err="1" smtClean="0">
                <a:sym typeface="+mn-ea"/>
              </a:rPr>
              <a:t>System.out.println</a:t>
            </a:r>
            <a:r>
              <a:rPr lang="en-US" altLang="zh-CN" sz="1200" dirty="0" smtClean="0">
                <a:sym typeface="+mn-ea"/>
              </a:rPr>
              <a:t>(num);</a:t>
            </a:r>
            <a:endParaRPr lang="en-US" altLang="zh-CN" sz="1200" dirty="0" smtClean="0"/>
          </a:p>
          <a:p>
            <a:pPr>
              <a:lnSpc>
                <a:spcPct val="80000"/>
              </a:lnSpc>
              <a:buFont typeface="Times"/>
              <a:buNone/>
            </a:pPr>
            <a:r>
              <a:rPr lang="en-US" altLang="zh-CN" sz="1200" dirty="0" smtClean="0">
                <a:sym typeface="+mn-ea"/>
              </a:rPr>
              <a:t>18             </a:t>
            </a:r>
            <a:r>
              <a:rPr lang="en-US" altLang="zh-CN" sz="1200" dirty="0" err="1" smtClean="0">
                <a:sym typeface="+mn-ea"/>
              </a:rPr>
              <a:t>System.out.println</a:t>
            </a:r>
            <a:r>
              <a:rPr lang="en-US" altLang="zh-CN" sz="1200" dirty="0" smtClean="0">
                <a:sym typeface="+mn-ea"/>
              </a:rPr>
              <a:t>(f);</a:t>
            </a:r>
            <a:endParaRPr lang="en-US" altLang="zh-CN" sz="1200" dirty="0" smtClean="0"/>
          </a:p>
          <a:p>
            <a:pPr>
              <a:lnSpc>
                <a:spcPct val="80000"/>
              </a:lnSpc>
              <a:buFont typeface="Times"/>
              <a:buNone/>
            </a:pPr>
            <a:r>
              <a:rPr lang="en-US" altLang="zh-CN" sz="1200" dirty="0" smtClean="0">
                <a:sym typeface="+mn-ea"/>
              </a:rPr>
              <a:t>19             </a:t>
            </a:r>
            <a:r>
              <a:rPr lang="en-US" altLang="zh-CN" sz="1200" dirty="0" err="1" smtClean="0">
                <a:sym typeface="+mn-ea"/>
              </a:rPr>
              <a:t>System.out.println</a:t>
            </a:r>
            <a:r>
              <a:rPr lang="en-US" altLang="zh-CN" sz="1200" dirty="0" smtClean="0">
                <a:sym typeface="+mn-ea"/>
              </a:rPr>
              <a:t>(flag);</a:t>
            </a:r>
            <a:endParaRPr lang="en-US" altLang="zh-CN" sz="1200" dirty="0" smtClean="0"/>
          </a:p>
          <a:p>
            <a:pPr>
              <a:lnSpc>
                <a:spcPct val="80000"/>
              </a:lnSpc>
              <a:buFont typeface="Times"/>
              <a:buNone/>
            </a:pPr>
            <a:r>
              <a:rPr lang="en-US" altLang="zh-CN" sz="1200" dirty="0" smtClean="0">
                <a:sym typeface="+mn-ea"/>
              </a:rPr>
              <a:t>20             </a:t>
            </a:r>
            <a:r>
              <a:rPr lang="en-US" altLang="zh-CN" sz="1200" dirty="0" err="1" smtClean="0">
                <a:sym typeface="+mn-ea"/>
              </a:rPr>
              <a:t>System.out.println</a:t>
            </a:r>
            <a:r>
              <a:rPr lang="en-US" altLang="zh-CN" sz="1200" dirty="0" smtClean="0">
                <a:sym typeface="+mn-ea"/>
              </a:rPr>
              <a:t>(</a:t>
            </a:r>
            <a:r>
              <a:rPr lang="en-US" altLang="zh-CN" sz="1200" dirty="0" err="1" smtClean="0">
                <a:sym typeface="+mn-ea"/>
              </a:rPr>
              <a:t>str</a:t>
            </a:r>
            <a:r>
              <a:rPr lang="en-US" altLang="zh-CN" sz="1200" dirty="0" smtClean="0">
                <a:sym typeface="+mn-ea"/>
              </a:rPr>
              <a:t>);</a:t>
            </a:r>
            <a:endParaRPr lang="en-US" altLang="zh-CN" sz="1200" dirty="0" smtClean="0"/>
          </a:p>
          <a:p>
            <a:pPr>
              <a:lnSpc>
                <a:spcPct val="80000"/>
              </a:lnSpc>
              <a:buFont typeface="Times"/>
              <a:buNone/>
            </a:pPr>
            <a:endParaRPr lang="en-US" altLang="zh-CN" sz="12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字节流链接示例 </a:t>
            </a:r>
            <a:r>
              <a:rPr lang="en-US" altLang="zh-CN" sz="2400" dirty="0" smtClean="0">
                <a:ea typeface="宋体" panose="02010600030101010101" pitchFamily="2" charset="-122"/>
                <a:sym typeface="+mn-ea"/>
              </a:rPr>
              <a:t>— </a:t>
            </a:r>
            <a:r>
              <a:rPr lang="en-US" altLang="zh-CN" sz="2400" dirty="0" err="1" smtClean="0">
                <a:sym typeface="+mn-ea"/>
              </a:rPr>
              <a:t>TestInputStream</a:t>
            </a:r>
            <a:r>
              <a:rPr lang="zh-CN" altLang="en-US" sz="2400" dirty="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935990"/>
            <a:ext cx="11037570" cy="5375910"/>
          </a:xfrm>
        </p:spPr>
        <p:txBody>
          <a:bodyPr>
            <a:noAutofit/>
          </a:bodyPr>
          <a:p>
            <a:pPr>
              <a:lnSpc>
                <a:spcPct val="80000"/>
              </a:lnSpc>
              <a:buFont typeface="Times"/>
              <a:buNone/>
            </a:pPr>
            <a:r>
              <a:rPr lang="en-US" altLang="zh-CN" sz="1200" dirty="0" smtClean="0">
                <a:sym typeface="+mn-ea"/>
              </a:rPr>
              <a:t>21         } catch (</a:t>
            </a:r>
            <a:r>
              <a:rPr lang="en-US" altLang="zh-CN" sz="1200" dirty="0" err="1" smtClean="0">
                <a:sym typeface="+mn-ea"/>
              </a:rPr>
              <a:t>IOException</a:t>
            </a:r>
            <a:r>
              <a:rPr lang="en-US" altLang="zh-CN" sz="1200" dirty="0" smtClean="0">
                <a:sym typeface="+mn-ea"/>
              </a:rPr>
              <a:t> e) {</a:t>
            </a:r>
            <a:endParaRPr lang="en-US" altLang="zh-CN" sz="1200" dirty="0" smtClean="0"/>
          </a:p>
          <a:p>
            <a:pPr>
              <a:lnSpc>
                <a:spcPct val="80000"/>
              </a:lnSpc>
              <a:buFont typeface="Times"/>
              <a:buNone/>
            </a:pPr>
            <a:r>
              <a:rPr lang="en-US" altLang="zh-CN" sz="1200" dirty="0" smtClean="0">
                <a:sym typeface="+mn-ea"/>
              </a:rPr>
              <a:t>22             </a:t>
            </a:r>
            <a:r>
              <a:rPr lang="en-US" altLang="zh-CN" sz="1200" dirty="0" err="1" smtClean="0">
                <a:sym typeface="+mn-ea"/>
              </a:rPr>
              <a:t>e.printStackTrace</a:t>
            </a:r>
            <a:r>
              <a:rPr lang="en-US" altLang="zh-CN" sz="1200" dirty="0" smtClean="0">
                <a:sym typeface="+mn-ea"/>
              </a:rPr>
              <a:t>();</a:t>
            </a:r>
            <a:endParaRPr lang="en-US" altLang="zh-CN" sz="1200" dirty="0" smtClean="0"/>
          </a:p>
          <a:p>
            <a:pPr>
              <a:lnSpc>
                <a:spcPct val="80000"/>
              </a:lnSpc>
              <a:buFont typeface="Times"/>
              <a:buNone/>
            </a:pPr>
            <a:r>
              <a:rPr lang="en-US" altLang="zh-CN" sz="1200" dirty="0" smtClean="0">
                <a:sym typeface="+mn-ea"/>
              </a:rPr>
              <a:t>23         } finally {</a:t>
            </a:r>
            <a:endParaRPr lang="en-US" altLang="zh-CN" sz="1200" dirty="0" smtClean="0"/>
          </a:p>
          <a:p>
            <a:pPr>
              <a:lnSpc>
                <a:spcPct val="80000"/>
              </a:lnSpc>
              <a:buFont typeface="Times"/>
              <a:buNone/>
            </a:pPr>
            <a:r>
              <a:rPr lang="en-US" altLang="zh-CN" sz="1200" dirty="0" smtClean="0">
                <a:sym typeface="+mn-ea"/>
              </a:rPr>
              <a:t>24             if (</a:t>
            </a:r>
            <a:r>
              <a:rPr lang="en-US" altLang="zh-CN" sz="1200" dirty="0" err="1" smtClean="0">
                <a:sym typeface="+mn-ea"/>
              </a:rPr>
              <a:t>ois</a:t>
            </a:r>
            <a:r>
              <a:rPr lang="en-US" altLang="zh-CN" sz="1200" dirty="0" smtClean="0">
                <a:sym typeface="+mn-ea"/>
              </a:rPr>
              <a:t> != null)    {</a:t>
            </a:r>
            <a:endParaRPr lang="en-US" altLang="zh-CN" sz="1200" dirty="0" smtClean="0"/>
          </a:p>
          <a:p>
            <a:pPr>
              <a:lnSpc>
                <a:spcPct val="80000"/>
              </a:lnSpc>
              <a:buFont typeface="Times"/>
              <a:buNone/>
            </a:pPr>
            <a:r>
              <a:rPr lang="en-US" altLang="zh-CN" sz="1200" dirty="0" smtClean="0">
                <a:sym typeface="+mn-ea"/>
              </a:rPr>
              <a:t>25                 try {</a:t>
            </a:r>
            <a:endParaRPr lang="en-US" altLang="zh-CN" sz="1200" dirty="0" smtClean="0"/>
          </a:p>
          <a:p>
            <a:pPr>
              <a:lnSpc>
                <a:spcPct val="80000"/>
              </a:lnSpc>
              <a:buFont typeface="Times"/>
              <a:buNone/>
            </a:pPr>
            <a:r>
              <a:rPr lang="en-US" altLang="zh-CN" sz="1200" dirty="0" smtClean="0">
                <a:sym typeface="+mn-ea"/>
              </a:rPr>
              <a:t>26                     </a:t>
            </a:r>
            <a:r>
              <a:rPr lang="en-US" altLang="zh-CN" sz="1200" dirty="0" err="1" smtClean="0">
                <a:sym typeface="+mn-ea"/>
              </a:rPr>
              <a:t>ois.close</a:t>
            </a:r>
            <a:r>
              <a:rPr lang="en-US" altLang="zh-CN" sz="1200" dirty="0" smtClean="0">
                <a:sym typeface="+mn-ea"/>
              </a:rPr>
              <a:t>();</a:t>
            </a:r>
            <a:endParaRPr lang="en-US" altLang="zh-CN" sz="1200" dirty="0" smtClean="0"/>
          </a:p>
          <a:p>
            <a:pPr>
              <a:lnSpc>
                <a:spcPct val="80000"/>
              </a:lnSpc>
              <a:buFont typeface="Times"/>
              <a:buNone/>
            </a:pPr>
            <a:r>
              <a:rPr lang="en-US" altLang="zh-CN" sz="1200" dirty="0" smtClean="0">
                <a:sym typeface="+mn-ea"/>
              </a:rPr>
              <a:t>27                 } catch (</a:t>
            </a:r>
            <a:r>
              <a:rPr lang="en-US" altLang="zh-CN" sz="1200" dirty="0" err="1" smtClean="0">
                <a:sym typeface="+mn-ea"/>
              </a:rPr>
              <a:t>IOException</a:t>
            </a:r>
            <a:r>
              <a:rPr lang="en-US" altLang="zh-CN" sz="1200" dirty="0" smtClean="0">
                <a:sym typeface="+mn-ea"/>
              </a:rPr>
              <a:t> e) {</a:t>
            </a:r>
            <a:endParaRPr lang="en-US" altLang="zh-CN" sz="1200" dirty="0" smtClean="0"/>
          </a:p>
          <a:p>
            <a:pPr>
              <a:lnSpc>
                <a:spcPct val="80000"/>
              </a:lnSpc>
              <a:buFont typeface="Times"/>
              <a:buNone/>
            </a:pPr>
            <a:r>
              <a:rPr lang="en-US" altLang="zh-CN" sz="1200" dirty="0" smtClean="0">
                <a:sym typeface="+mn-ea"/>
              </a:rPr>
              <a:t>28                 }</a:t>
            </a:r>
            <a:endParaRPr lang="en-US" altLang="zh-CN" sz="1200" dirty="0" smtClean="0"/>
          </a:p>
          <a:p>
            <a:pPr>
              <a:lnSpc>
                <a:spcPct val="80000"/>
              </a:lnSpc>
              <a:buFont typeface="Times"/>
              <a:buNone/>
            </a:pPr>
            <a:r>
              <a:rPr lang="en-US" altLang="zh-CN" sz="1200" dirty="0" smtClean="0">
                <a:sym typeface="+mn-ea"/>
              </a:rPr>
              <a:t>29             }</a:t>
            </a:r>
            <a:endParaRPr lang="en-US" altLang="zh-CN" sz="1200" dirty="0" smtClean="0"/>
          </a:p>
          <a:p>
            <a:pPr>
              <a:lnSpc>
                <a:spcPct val="80000"/>
              </a:lnSpc>
              <a:buFont typeface="Times"/>
              <a:buNone/>
            </a:pPr>
            <a:r>
              <a:rPr lang="en-US" altLang="zh-CN" sz="1200" dirty="0" smtClean="0">
                <a:sym typeface="+mn-ea"/>
              </a:rPr>
              <a:t>30 </a:t>
            </a:r>
            <a:endParaRPr lang="en-US" altLang="zh-CN" sz="1200" dirty="0" smtClean="0"/>
          </a:p>
          <a:p>
            <a:pPr>
              <a:lnSpc>
                <a:spcPct val="80000"/>
              </a:lnSpc>
              <a:buFont typeface="Times"/>
              <a:buNone/>
            </a:pPr>
            <a:r>
              <a:rPr lang="en-US" altLang="zh-CN" sz="1200" dirty="0" smtClean="0">
                <a:sym typeface="+mn-ea"/>
              </a:rPr>
              <a:t>31             if (</a:t>
            </a:r>
            <a:r>
              <a:rPr lang="en-US" altLang="zh-CN" sz="1200" dirty="0" err="1" smtClean="0">
                <a:sym typeface="+mn-ea"/>
              </a:rPr>
              <a:t>fis</a:t>
            </a:r>
            <a:r>
              <a:rPr lang="en-US" altLang="zh-CN" sz="1200" dirty="0" smtClean="0">
                <a:sym typeface="+mn-ea"/>
              </a:rPr>
              <a:t> != null)    {</a:t>
            </a:r>
            <a:endParaRPr lang="en-US" altLang="zh-CN" sz="1200" dirty="0" smtClean="0"/>
          </a:p>
          <a:p>
            <a:pPr>
              <a:lnSpc>
                <a:spcPct val="80000"/>
              </a:lnSpc>
              <a:buFont typeface="Times"/>
              <a:buNone/>
            </a:pPr>
            <a:r>
              <a:rPr lang="en-US" altLang="zh-CN" sz="1200" dirty="0" smtClean="0">
                <a:sym typeface="+mn-ea"/>
              </a:rPr>
              <a:t>32                 try {</a:t>
            </a:r>
            <a:endParaRPr lang="en-US" altLang="zh-CN" sz="1200" dirty="0" smtClean="0"/>
          </a:p>
          <a:p>
            <a:pPr>
              <a:lnSpc>
                <a:spcPct val="80000"/>
              </a:lnSpc>
              <a:buFont typeface="Times"/>
              <a:buNone/>
            </a:pPr>
            <a:r>
              <a:rPr lang="en-US" altLang="zh-CN" sz="1200" dirty="0" smtClean="0">
                <a:sym typeface="+mn-ea"/>
              </a:rPr>
              <a:t>33                     </a:t>
            </a:r>
            <a:r>
              <a:rPr lang="en-US" altLang="zh-CN" sz="1200" dirty="0" err="1" smtClean="0">
                <a:sym typeface="+mn-ea"/>
              </a:rPr>
              <a:t>fis.close</a:t>
            </a:r>
            <a:r>
              <a:rPr lang="en-US" altLang="zh-CN" sz="1200" dirty="0" smtClean="0">
                <a:sym typeface="+mn-ea"/>
              </a:rPr>
              <a:t>();</a:t>
            </a:r>
            <a:endParaRPr lang="en-US" altLang="zh-CN" sz="1200" dirty="0" smtClean="0"/>
          </a:p>
          <a:p>
            <a:pPr>
              <a:lnSpc>
                <a:spcPct val="80000"/>
              </a:lnSpc>
              <a:buFont typeface="Times"/>
              <a:buNone/>
            </a:pPr>
            <a:r>
              <a:rPr lang="en-US" altLang="zh-CN" sz="1200" dirty="0" smtClean="0">
                <a:sym typeface="+mn-ea"/>
              </a:rPr>
              <a:t>34                 } catch (</a:t>
            </a:r>
            <a:r>
              <a:rPr lang="en-US" altLang="zh-CN" sz="1200" dirty="0" err="1" smtClean="0">
                <a:sym typeface="+mn-ea"/>
              </a:rPr>
              <a:t>IOException</a:t>
            </a:r>
            <a:r>
              <a:rPr lang="en-US" altLang="zh-CN" sz="1200" dirty="0" smtClean="0">
                <a:sym typeface="+mn-ea"/>
              </a:rPr>
              <a:t> e) {</a:t>
            </a:r>
            <a:endParaRPr lang="en-US" altLang="zh-CN" sz="1200" dirty="0" smtClean="0"/>
          </a:p>
          <a:p>
            <a:pPr>
              <a:lnSpc>
                <a:spcPct val="80000"/>
              </a:lnSpc>
              <a:buFont typeface="Times"/>
              <a:buNone/>
            </a:pPr>
            <a:r>
              <a:rPr lang="en-US" altLang="zh-CN" sz="1200" dirty="0" smtClean="0">
                <a:sym typeface="+mn-ea"/>
              </a:rPr>
              <a:t>35                 }</a:t>
            </a:r>
            <a:endParaRPr lang="en-US" altLang="zh-CN" sz="1200" dirty="0" smtClean="0"/>
          </a:p>
          <a:p>
            <a:pPr>
              <a:lnSpc>
                <a:spcPct val="80000"/>
              </a:lnSpc>
              <a:buFont typeface="Times"/>
              <a:buNone/>
            </a:pPr>
            <a:r>
              <a:rPr lang="en-US" altLang="zh-CN" sz="1200" dirty="0" smtClean="0">
                <a:sym typeface="+mn-ea"/>
              </a:rPr>
              <a:t>36             }</a:t>
            </a:r>
            <a:endParaRPr lang="en-US" altLang="zh-CN" sz="1200" dirty="0" smtClean="0"/>
          </a:p>
          <a:p>
            <a:pPr>
              <a:lnSpc>
                <a:spcPct val="80000"/>
              </a:lnSpc>
              <a:buFont typeface="Times"/>
              <a:buNone/>
            </a:pPr>
            <a:r>
              <a:rPr lang="en-US" altLang="zh-CN" sz="1200" dirty="0" smtClean="0">
                <a:sym typeface="+mn-ea"/>
              </a:rPr>
              <a:t>37         }</a:t>
            </a:r>
            <a:endParaRPr lang="en-US" altLang="zh-CN" sz="1200" dirty="0" smtClean="0"/>
          </a:p>
          <a:p>
            <a:pPr>
              <a:lnSpc>
                <a:spcPct val="80000"/>
              </a:lnSpc>
              <a:buFont typeface="Times"/>
              <a:buNone/>
            </a:pPr>
            <a:r>
              <a:rPr lang="en-US" altLang="zh-CN" sz="1200" dirty="0" smtClean="0">
                <a:sym typeface="+mn-ea"/>
              </a:rPr>
              <a:t>38     }</a:t>
            </a:r>
            <a:endParaRPr lang="en-US" altLang="zh-CN" sz="1200" dirty="0" smtClean="0"/>
          </a:p>
          <a:p>
            <a:pPr>
              <a:lnSpc>
                <a:spcPct val="80000"/>
              </a:lnSpc>
              <a:buFont typeface="Times"/>
              <a:buNone/>
            </a:pPr>
            <a:r>
              <a:rPr lang="en-US" altLang="zh-CN" sz="1200" dirty="0" smtClean="0">
                <a:sym typeface="+mn-ea"/>
              </a:rPr>
              <a:t>39 }</a:t>
            </a:r>
            <a:endParaRPr lang="en-US" altLang="zh-CN" sz="1200" dirty="0" smtClean="0"/>
          </a:p>
          <a:p>
            <a:pPr>
              <a:lnSpc>
                <a:spcPct val="80000"/>
              </a:lnSpc>
              <a:buFont typeface="Times"/>
              <a:buNone/>
            </a:pPr>
            <a:endParaRPr lang="en-US" altLang="zh-CN" sz="12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10000"/>
              </a:lnSpc>
              <a:spcBef>
                <a:spcPts val="1000"/>
              </a:spcBef>
              <a:buClr>
                <a:srgbClr val="ED7D31"/>
              </a:buClr>
              <a:buSzTx/>
              <a:buFont typeface="+mj-lt"/>
              <a:buAutoNum type="arabicPeriod"/>
            </a:pPr>
            <a:r>
              <a:rPr lang="zh-CN" altLang="en-US" sz="2000" dirty="0" smtClean="0">
                <a:ea typeface="宋体" panose="02010600030101010101" pitchFamily="2" charset="-122"/>
                <a:sym typeface="+mn-ea"/>
              </a:rPr>
              <a:t>编写程序，在main方法中，随机生成0-100的整数50个，将这50个数以二进制形式写到文件中；</a:t>
            </a:r>
            <a:endParaRPr lang="zh-CN" altLang="en-US" sz="2000" dirty="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dirty="0" smtClean="0">
                <a:ea typeface="宋体" panose="02010600030101010101" pitchFamily="2" charset="-122"/>
                <a:sym typeface="+mn-ea"/>
              </a:rPr>
              <a:t>编写另一个程序，在main方法中，将前面所生成的50个数从文件中读取出来并打印。</a:t>
            </a:r>
            <a:endParaRPr lang="zh-CN" altLang="en-US" sz="2000" dirty="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endParaRPr lang="zh-CN" altLang="en-US" sz="2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01600" y="3137535"/>
            <a:ext cx="1179195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第四节 </a:t>
            </a:r>
            <a:r>
              <a:rPr lang="zh-CN" altLang="en-US" sz="6665" dirty="0">
                <a:solidFill>
                  <a:schemeClr val="bg1"/>
                </a:solidFill>
                <a:latin typeface="Arial" panose="020B0604020202020204" pitchFamily="34" charset="0"/>
                <a:ea typeface="宋体" panose="02010600030101010101" pitchFamily="2" charset="-122"/>
                <a:sym typeface="+mn-ea"/>
              </a:rPr>
              <a:t>对象的序列化</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对象的序列化</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10000"/>
              </a:lnSpc>
              <a:spcBef>
                <a:spcPts val="1000"/>
              </a:spcBef>
              <a:buClr>
                <a:srgbClr val="ED7D31"/>
              </a:buClr>
              <a:buSzTx/>
              <a:buFont typeface="+mj-lt"/>
              <a:buAutoNum type="arabicPeriod"/>
            </a:pPr>
            <a:r>
              <a:rPr lang="zh-CN" altLang="en-US" sz="2000" dirty="0" smtClean="0">
                <a:ea typeface="宋体" panose="02010600030101010101" pitchFamily="2" charset="-122"/>
                <a:sym typeface="+mn-ea"/>
              </a:rPr>
              <a:t>序列化是将对象按字节顺序进行存储，并且在以后需要时重新还原它们（称为反序列化）的一种机制。</a:t>
            </a:r>
            <a:endParaRPr lang="zh-CN" altLang="en-US" sz="2000" dirty="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dirty="0" smtClean="0">
                <a:ea typeface="宋体" panose="02010600030101010101" pitchFamily="2" charset="-122"/>
                <a:sym typeface="+mn-ea"/>
              </a:rPr>
              <a:t>可以通过序列化机制，将对象保存在磁盘文件中，或通过网络传送到另一台计算机上。</a:t>
            </a:r>
            <a:endParaRPr lang="zh-CN" altLang="en-US" sz="2000" dirty="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dirty="0" smtClean="0">
                <a:ea typeface="宋体" panose="02010600030101010101" pitchFamily="2" charset="-122"/>
                <a:sym typeface="+mn-ea"/>
              </a:rPr>
              <a:t>标准类库中的大多数类的实例都是可序列化的，如包裹类、String类、集合类、数组等等。</a:t>
            </a:r>
            <a:endParaRPr lang="zh-CN" altLang="en-US" sz="2000" dirty="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endParaRPr lang="zh-CN" altLang="en-US" sz="20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可序列化的对象</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10000"/>
              </a:lnSpc>
              <a:spcBef>
                <a:spcPts val="1000"/>
              </a:spcBef>
              <a:buClr>
                <a:srgbClr val="ED7D31"/>
              </a:buClr>
              <a:buSzTx/>
              <a:buFont typeface="+mj-lt"/>
              <a:buAutoNum type="arabicPeriod"/>
            </a:pPr>
            <a:r>
              <a:rPr lang="zh-CN" altLang="en-US" sz="2000" dirty="0" smtClean="0">
                <a:ea typeface="宋体" panose="02010600030101010101" pitchFamily="2" charset="-122"/>
                <a:sym typeface="+mn-ea"/>
              </a:rPr>
              <a:t>对象只有实现java.io.serializable接口，才能被序列化。</a:t>
            </a:r>
            <a:endParaRPr lang="zh-CN" altLang="en-US" sz="2000" dirty="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dirty="0" smtClean="0">
                <a:ea typeface="宋体" panose="02010600030101010101" pitchFamily="2" charset="-122"/>
                <a:sym typeface="+mn-ea"/>
              </a:rPr>
              <a:t>标记了transient关键字的字段不参与序列化。</a:t>
            </a:r>
            <a:endParaRPr lang="zh-CN" altLang="en-US" sz="2000" dirty="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dirty="0" smtClean="0">
                <a:ea typeface="宋体" panose="02010600030101010101" pitchFamily="2" charset="-122"/>
                <a:sym typeface="+mn-ea"/>
              </a:rPr>
              <a:t>例如：</a:t>
            </a:r>
            <a:endParaRPr lang="zh-CN" altLang="en-US" sz="2000" dirty="0" smtClean="0">
              <a:ea typeface="宋体" panose="02010600030101010101" pitchFamily="2" charset="-122"/>
            </a:endParaRPr>
          </a:p>
          <a:p>
            <a:pPr marL="704850" lvl="1" indent="-361950">
              <a:buFont typeface="Times"/>
              <a:buNone/>
              <a:defRPr/>
            </a:pPr>
            <a:r>
              <a:rPr lang="en-US" altLang="zh-CN" dirty="0" smtClean="0">
                <a:latin typeface="仿宋" panose="02010609060101010101" charset="-122"/>
                <a:ea typeface="仿宋" panose="02010609060101010101" charset="-122"/>
                <a:sym typeface="+mn-ea"/>
              </a:rPr>
              <a:t>public class </a:t>
            </a:r>
            <a:r>
              <a:rPr lang="en-US" altLang="zh-CN" dirty="0" err="1" smtClean="0">
                <a:latin typeface="仿宋" panose="02010609060101010101" charset="-122"/>
                <a:ea typeface="仿宋" panose="02010609060101010101" charset="-122"/>
                <a:sym typeface="+mn-ea"/>
              </a:rPr>
              <a:t>MyClass</a:t>
            </a:r>
            <a:r>
              <a:rPr lang="en-US" altLang="zh-CN" dirty="0" smtClean="0">
                <a:latin typeface="仿宋" panose="02010609060101010101" charset="-122"/>
                <a:ea typeface="仿宋" panose="02010609060101010101" charset="-122"/>
                <a:sym typeface="+mn-ea"/>
              </a:rPr>
              <a:t> </a:t>
            </a:r>
            <a:r>
              <a:rPr lang="en-US" altLang="zh-CN" dirty="0" smtClean="0">
                <a:solidFill>
                  <a:srgbClr val="FF0000"/>
                </a:solidFill>
                <a:latin typeface="仿宋" panose="02010609060101010101" charset="-122"/>
                <a:ea typeface="仿宋" panose="02010609060101010101" charset="-122"/>
                <a:sym typeface="+mn-ea"/>
              </a:rPr>
              <a:t>implements </a:t>
            </a:r>
            <a:r>
              <a:rPr lang="en-US" altLang="zh-CN" dirty="0" err="1" smtClean="0">
                <a:solidFill>
                  <a:srgbClr val="FF0000"/>
                </a:solidFill>
                <a:latin typeface="仿宋" panose="02010609060101010101" charset="-122"/>
                <a:ea typeface="仿宋" panose="02010609060101010101" charset="-122"/>
                <a:sym typeface="+mn-ea"/>
              </a:rPr>
              <a:t>Serializable</a:t>
            </a:r>
            <a:r>
              <a:rPr lang="en-US" altLang="zh-CN" dirty="0" smtClean="0">
                <a:solidFill>
                  <a:srgbClr val="FF0000"/>
                </a:solidFill>
                <a:latin typeface="仿宋" panose="02010609060101010101" charset="-122"/>
                <a:ea typeface="仿宋" panose="02010609060101010101" charset="-122"/>
                <a:sym typeface="+mn-ea"/>
              </a:rPr>
              <a:t> </a:t>
            </a:r>
            <a:r>
              <a:rPr lang="en-US" altLang="zh-CN" dirty="0" smtClean="0">
                <a:latin typeface="仿宋" panose="02010609060101010101" charset="-122"/>
                <a:ea typeface="仿宋" panose="02010609060101010101" charset="-122"/>
                <a:sym typeface="+mn-ea"/>
              </a:rPr>
              <a:t>{</a:t>
            </a:r>
            <a:endParaRPr lang="en-US" altLang="zh-CN" dirty="0" smtClean="0">
              <a:latin typeface="仿宋" panose="02010609060101010101" charset="-122"/>
              <a:ea typeface="仿宋" panose="02010609060101010101" charset="-122"/>
            </a:endParaRPr>
          </a:p>
          <a:p>
            <a:pPr marL="704850" lvl="1" indent="-361950">
              <a:buFont typeface="Times"/>
              <a:buNone/>
              <a:defRPr/>
            </a:pPr>
            <a:r>
              <a:rPr lang="en-US" altLang="zh-CN" dirty="0" smtClean="0">
                <a:latin typeface="仿宋" panose="02010609060101010101" charset="-122"/>
                <a:ea typeface="仿宋" panose="02010609060101010101" charset="-122"/>
                <a:sym typeface="+mn-ea"/>
              </a:rPr>
              <a:t>    private </a:t>
            </a:r>
            <a:r>
              <a:rPr lang="en-US" altLang="zh-CN" dirty="0" smtClean="0">
                <a:solidFill>
                  <a:srgbClr val="FF0000"/>
                </a:solidFill>
                <a:latin typeface="仿宋" panose="02010609060101010101" charset="-122"/>
                <a:ea typeface="仿宋" panose="02010609060101010101" charset="-122"/>
                <a:sym typeface="+mn-ea"/>
              </a:rPr>
              <a:t>transient </a:t>
            </a:r>
            <a:r>
              <a:rPr lang="en-US" altLang="zh-CN" dirty="0" err="1" smtClean="0">
                <a:latin typeface="仿宋" panose="02010609060101010101" charset="-122"/>
                <a:ea typeface="仿宋" panose="02010609060101010101" charset="-122"/>
                <a:sym typeface="+mn-ea"/>
              </a:rPr>
              <a:t>FileInputStream</a:t>
            </a:r>
            <a:r>
              <a:rPr lang="en-US" altLang="zh-CN" dirty="0" smtClean="0">
                <a:latin typeface="仿宋" panose="02010609060101010101" charset="-122"/>
                <a:ea typeface="仿宋" panose="02010609060101010101" charset="-122"/>
                <a:sym typeface="+mn-ea"/>
              </a:rPr>
              <a:t> </a:t>
            </a:r>
            <a:r>
              <a:rPr lang="en-US" altLang="zh-CN" dirty="0" err="1" smtClean="0">
                <a:latin typeface="仿宋" panose="02010609060101010101" charset="-122"/>
                <a:ea typeface="仿宋" panose="02010609060101010101" charset="-122"/>
                <a:sym typeface="+mn-ea"/>
              </a:rPr>
              <a:t>fis</a:t>
            </a:r>
            <a:r>
              <a:rPr lang="en-US" altLang="zh-CN" dirty="0" smtClean="0">
                <a:latin typeface="仿宋" panose="02010609060101010101" charset="-122"/>
                <a:ea typeface="仿宋" panose="02010609060101010101" charset="-122"/>
                <a:sym typeface="+mn-ea"/>
              </a:rPr>
              <a:t>;</a:t>
            </a:r>
            <a:endParaRPr lang="en-US" altLang="zh-CN" dirty="0" smtClean="0">
              <a:latin typeface="仿宋" panose="02010609060101010101" charset="-122"/>
              <a:ea typeface="仿宋" panose="02010609060101010101" charset="-122"/>
            </a:endParaRPr>
          </a:p>
          <a:p>
            <a:pPr marL="704850" lvl="1" indent="-361950">
              <a:buFont typeface="Times"/>
              <a:buNone/>
              <a:defRPr/>
            </a:pPr>
            <a:r>
              <a:rPr lang="en-US" altLang="zh-CN" dirty="0" smtClean="0">
                <a:latin typeface="仿宋" panose="02010609060101010101" charset="-122"/>
                <a:ea typeface="仿宋" panose="02010609060101010101" charset="-122"/>
                <a:sym typeface="+mn-ea"/>
              </a:rPr>
              <a:t>    private String </a:t>
            </a:r>
            <a:r>
              <a:rPr lang="en-US" altLang="zh-CN" dirty="0" err="1" smtClean="0">
                <a:latin typeface="仿宋" panose="02010609060101010101" charset="-122"/>
                <a:ea typeface="仿宋" panose="02010609060101010101" charset="-122"/>
                <a:sym typeface="+mn-ea"/>
              </a:rPr>
              <a:t>customerID</a:t>
            </a:r>
            <a:r>
              <a:rPr lang="en-US" altLang="zh-CN" dirty="0" smtClean="0">
                <a:latin typeface="仿宋" panose="02010609060101010101" charset="-122"/>
                <a:ea typeface="仿宋" panose="02010609060101010101" charset="-122"/>
                <a:sym typeface="+mn-ea"/>
              </a:rPr>
              <a:t>;</a:t>
            </a:r>
            <a:endParaRPr lang="en-US" altLang="zh-CN" dirty="0" smtClean="0">
              <a:latin typeface="仿宋" panose="02010609060101010101" charset="-122"/>
              <a:ea typeface="仿宋" panose="02010609060101010101" charset="-122"/>
            </a:endParaRPr>
          </a:p>
          <a:p>
            <a:pPr marL="704850" lvl="1" indent="-361950">
              <a:buFont typeface="Times"/>
              <a:buNone/>
              <a:defRPr/>
            </a:pPr>
            <a:r>
              <a:rPr lang="en-US" altLang="zh-CN" dirty="0" smtClean="0">
                <a:latin typeface="仿宋" panose="02010609060101010101" charset="-122"/>
                <a:ea typeface="仿宋" panose="02010609060101010101" charset="-122"/>
                <a:sym typeface="+mn-ea"/>
              </a:rPr>
              <a:t>    private </a:t>
            </a:r>
            <a:r>
              <a:rPr lang="en-US" altLang="zh-CN" dirty="0" err="1" smtClean="0">
                <a:latin typeface="仿宋" panose="02010609060101010101" charset="-122"/>
                <a:ea typeface="仿宋" panose="02010609060101010101" charset="-122"/>
                <a:sym typeface="+mn-ea"/>
              </a:rPr>
              <a:t>int</a:t>
            </a:r>
            <a:r>
              <a:rPr lang="en-US" altLang="zh-CN" dirty="0" smtClean="0">
                <a:latin typeface="仿宋" panose="02010609060101010101" charset="-122"/>
                <a:ea typeface="仿宋" panose="02010609060101010101" charset="-122"/>
                <a:sym typeface="+mn-ea"/>
              </a:rPr>
              <a:t> total;</a:t>
            </a:r>
            <a:endParaRPr lang="en-US" altLang="zh-CN" dirty="0" smtClean="0">
              <a:latin typeface="仿宋" panose="02010609060101010101" charset="-122"/>
              <a:ea typeface="仿宋" panose="02010609060101010101" charset="-122"/>
            </a:endParaRPr>
          </a:p>
          <a:p>
            <a:pPr marL="704850" lvl="1" indent="-361950">
              <a:buFont typeface="Times"/>
              <a:buNone/>
              <a:defRPr/>
            </a:pPr>
            <a:r>
              <a:rPr lang="en-US" altLang="zh-CN" dirty="0" smtClean="0">
                <a:latin typeface="仿宋" panose="02010609060101010101" charset="-122"/>
                <a:ea typeface="仿宋" panose="02010609060101010101" charset="-122"/>
                <a:sym typeface="+mn-ea"/>
              </a:rPr>
              <a:t>}</a:t>
            </a:r>
            <a:endParaRPr lang="zh-CN" altLang="en-US" dirty="0" smtClean="0">
              <a:latin typeface="仿宋" panose="02010609060101010101" charset="-122"/>
              <a:ea typeface="仿宋" panose="02010609060101010101" charset="-122"/>
            </a:endParaRPr>
          </a:p>
          <a:p>
            <a:pPr marL="457200" lvl="2" indent="-457200" algn="l">
              <a:lnSpc>
                <a:spcPct val="110000"/>
              </a:lnSpc>
              <a:spcBef>
                <a:spcPts val="1000"/>
              </a:spcBef>
              <a:buClr>
                <a:srgbClr val="ED7D31"/>
              </a:buClr>
              <a:buSzTx/>
              <a:buFont typeface="+mj-lt"/>
              <a:buAutoNum type="arabicPeriod"/>
            </a:pPr>
            <a:endParaRPr lang="zh-CN" altLang="en-US" sz="2000" dirty="0" smtClean="0">
              <a:latin typeface="仿宋" panose="02010609060101010101" charset="-122"/>
              <a:ea typeface="仿宋" panose="02010609060101010101"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序列化对象示例 </a:t>
            </a:r>
            <a:r>
              <a:rPr lang="en-US" altLang="zh-CN" sz="2400" smtClean="0">
                <a:ea typeface="宋体" panose="02010600030101010101" pitchFamily="2" charset="-122"/>
                <a:sym typeface="+mn-ea"/>
              </a:rPr>
              <a:t>— </a:t>
            </a:r>
            <a:r>
              <a:rPr lang="en-US" altLang="zh-CN" sz="2400" smtClean="0">
                <a:sym typeface="+mn-ea"/>
              </a:rPr>
              <a:t>Student</a:t>
            </a:r>
            <a:r>
              <a:rPr lang="zh-CN" altLang="en-US" sz="240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361950" indent="-361950" algn="l">
              <a:buClrTx/>
              <a:buSzTx/>
              <a:buFont typeface="Times"/>
              <a:buNone/>
            </a:pPr>
            <a:r>
              <a:rPr lang="en-US" sz="1800" dirty="0">
                <a:solidFill>
                  <a:srgbClr val="002060"/>
                </a:solidFill>
                <a:ea typeface="宋体" panose="02010600030101010101" pitchFamily="2" charset="-122"/>
                <a:sym typeface="+mn-ea"/>
              </a:rPr>
              <a:t>1  public class Student </a:t>
            </a:r>
            <a:r>
              <a:rPr lang="en-US" sz="1800" dirty="0">
                <a:solidFill>
                  <a:srgbClr val="FF0000"/>
                </a:solidFill>
                <a:ea typeface="宋体" panose="02010600030101010101" pitchFamily="2" charset="-122"/>
                <a:sym typeface="+mn-ea"/>
              </a:rPr>
              <a:t>implements Serializable</a:t>
            </a:r>
            <a:r>
              <a:rPr lang="en-US" sz="1800" dirty="0">
                <a:solidFill>
                  <a:srgbClr val="002060"/>
                </a:solidFill>
                <a:ea typeface="宋体" panose="02010600030101010101" pitchFamily="2" charset="-122"/>
                <a:sym typeface="+mn-ea"/>
              </a:rPr>
              <a:t> {</a:t>
            </a:r>
            <a:endParaRPr lang="en-US" sz="1800" dirty="0">
              <a:solidFill>
                <a:srgbClr val="002060"/>
              </a:solidFill>
              <a:ea typeface="宋体" panose="02010600030101010101" pitchFamily="2" charset="-122"/>
            </a:endParaRPr>
          </a:p>
          <a:p>
            <a:pPr marL="361950" indent="-361950" algn="l">
              <a:buClrTx/>
              <a:buSzTx/>
              <a:buFont typeface="Times"/>
              <a:buNone/>
            </a:pPr>
            <a:r>
              <a:rPr lang="en-US" sz="1800" dirty="0">
                <a:solidFill>
                  <a:srgbClr val="002060"/>
                </a:solidFill>
                <a:ea typeface="宋体" panose="02010600030101010101" pitchFamily="2" charset="-122"/>
                <a:sym typeface="+mn-ea"/>
              </a:rPr>
              <a:t>2      private int id;</a:t>
            </a:r>
            <a:endParaRPr lang="en-US" sz="1800" dirty="0">
              <a:solidFill>
                <a:srgbClr val="002060"/>
              </a:solidFill>
              <a:ea typeface="宋体" panose="02010600030101010101" pitchFamily="2" charset="-122"/>
            </a:endParaRPr>
          </a:p>
          <a:p>
            <a:pPr marL="361950" indent="-361950" algn="l">
              <a:buClrTx/>
              <a:buSzTx/>
              <a:buFont typeface="Times"/>
              <a:buNone/>
            </a:pPr>
            <a:r>
              <a:rPr lang="en-US" sz="1800" dirty="0">
                <a:solidFill>
                  <a:srgbClr val="002060"/>
                </a:solidFill>
                <a:ea typeface="宋体" panose="02010600030101010101" pitchFamily="2" charset="-122"/>
                <a:sym typeface="+mn-ea"/>
              </a:rPr>
              <a:t>3      private String name;</a:t>
            </a:r>
            <a:endParaRPr lang="en-US" sz="1800" dirty="0">
              <a:solidFill>
                <a:srgbClr val="002060"/>
              </a:solidFill>
              <a:ea typeface="宋体" panose="02010600030101010101" pitchFamily="2" charset="-122"/>
            </a:endParaRPr>
          </a:p>
          <a:p>
            <a:pPr marL="361950" indent="-361950" algn="l">
              <a:buClrTx/>
              <a:buSzTx/>
              <a:buFont typeface="Times"/>
              <a:buNone/>
            </a:pPr>
            <a:r>
              <a:rPr lang="en-US" sz="1800" dirty="0">
                <a:solidFill>
                  <a:srgbClr val="002060"/>
                </a:solidFill>
                <a:ea typeface="宋体" panose="02010600030101010101" pitchFamily="2" charset="-122"/>
                <a:sym typeface="+mn-ea"/>
              </a:rPr>
              <a:t>4      private int age;</a:t>
            </a:r>
            <a:endParaRPr lang="en-US" sz="1800" dirty="0">
              <a:solidFill>
                <a:srgbClr val="002060"/>
              </a:solidFill>
              <a:ea typeface="宋体" panose="02010600030101010101" pitchFamily="2" charset="-122"/>
            </a:endParaRPr>
          </a:p>
          <a:p>
            <a:pPr marL="361950" indent="-361950" algn="l">
              <a:buClrTx/>
              <a:buSzTx/>
              <a:buFont typeface="Times"/>
              <a:buNone/>
            </a:pPr>
            <a:r>
              <a:rPr lang="en-US" sz="1800" dirty="0">
                <a:solidFill>
                  <a:srgbClr val="002060"/>
                </a:solidFill>
                <a:ea typeface="宋体" panose="02010600030101010101" pitchFamily="2" charset="-122"/>
                <a:sym typeface="+mn-ea"/>
              </a:rPr>
              <a:t>5      private </a:t>
            </a:r>
            <a:r>
              <a:rPr lang="en-US" sz="1800" dirty="0">
                <a:solidFill>
                  <a:srgbClr val="FF0000"/>
                </a:solidFill>
                <a:ea typeface="宋体" panose="02010600030101010101" pitchFamily="2" charset="-122"/>
                <a:sym typeface="+mn-ea"/>
              </a:rPr>
              <a:t>transient </a:t>
            </a:r>
            <a:r>
              <a:rPr lang="en-US" sz="1800" dirty="0">
                <a:solidFill>
                  <a:srgbClr val="002060"/>
                </a:solidFill>
                <a:ea typeface="宋体" panose="02010600030101010101" pitchFamily="2" charset="-122"/>
                <a:sym typeface="+mn-ea"/>
              </a:rPr>
              <a:t>double score;</a:t>
            </a:r>
            <a:endParaRPr lang="en-US" sz="1800" dirty="0">
              <a:solidFill>
                <a:srgbClr val="002060"/>
              </a:solidFill>
              <a:ea typeface="宋体" panose="02010600030101010101" pitchFamily="2" charset="-122"/>
            </a:endParaRPr>
          </a:p>
          <a:p>
            <a:pPr marL="361950" indent="-361950" algn="l">
              <a:buClrTx/>
              <a:buSzTx/>
              <a:buFont typeface="Times"/>
              <a:buNone/>
            </a:pPr>
            <a:r>
              <a:rPr lang="en-US" sz="1800" dirty="0">
                <a:solidFill>
                  <a:srgbClr val="002060"/>
                </a:solidFill>
                <a:ea typeface="宋体" panose="02010600030101010101" pitchFamily="2" charset="-122"/>
                <a:sym typeface="+mn-ea"/>
              </a:rPr>
              <a:t>6  </a:t>
            </a:r>
            <a:endParaRPr lang="en-US" sz="1800" dirty="0">
              <a:solidFill>
                <a:srgbClr val="002060"/>
              </a:solidFill>
              <a:ea typeface="宋体" panose="02010600030101010101" pitchFamily="2" charset="-122"/>
            </a:endParaRPr>
          </a:p>
          <a:p>
            <a:pPr marL="361950" indent="-361950" algn="l">
              <a:buClrTx/>
              <a:buSzTx/>
              <a:buFont typeface="Times"/>
              <a:buNone/>
            </a:pPr>
            <a:r>
              <a:rPr lang="en-US" sz="1800" dirty="0">
                <a:solidFill>
                  <a:srgbClr val="002060"/>
                </a:solidFill>
                <a:ea typeface="宋体" panose="02010600030101010101" pitchFamily="2" charset="-122"/>
                <a:sym typeface="+mn-ea"/>
              </a:rPr>
              <a:t>7      public Student(int id, String name, int age) {</a:t>
            </a:r>
            <a:endParaRPr lang="en-US" sz="1800" dirty="0">
              <a:solidFill>
                <a:srgbClr val="002060"/>
              </a:solidFill>
              <a:ea typeface="宋体" panose="02010600030101010101" pitchFamily="2" charset="-122"/>
            </a:endParaRPr>
          </a:p>
          <a:p>
            <a:pPr marL="361950" indent="-361950" algn="l">
              <a:buClrTx/>
              <a:buSzTx/>
              <a:buFont typeface="Times"/>
              <a:buNone/>
            </a:pPr>
            <a:r>
              <a:rPr lang="en-US" sz="1800" dirty="0">
                <a:solidFill>
                  <a:srgbClr val="002060"/>
                </a:solidFill>
                <a:ea typeface="宋体" panose="02010600030101010101" pitchFamily="2" charset="-122"/>
                <a:sym typeface="+mn-ea"/>
              </a:rPr>
              <a:t>8          this.id = id;</a:t>
            </a:r>
            <a:endParaRPr lang="en-US" sz="1800" dirty="0">
              <a:solidFill>
                <a:srgbClr val="002060"/>
              </a:solidFill>
              <a:ea typeface="宋体" panose="02010600030101010101" pitchFamily="2" charset="-122"/>
            </a:endParaRPr>
          </a:p>
          <a:p>
            <a:pPr marL="361950" indent="-361950" algn="l">
              <a:buClrTx/>
              <a:buSzTx/>
              <a:buFont typeface="Times"/>
              <a:buNone/>
            </a:pPr>
            <a:r>
              <a:rPr lang="en-US" sz="1800" dirty="0">
                <a:solidFill>
                  <a:srgbClr val="002060"/>
                </a:solidFill>
                <a:ea typeface="宋体" panose="02010600030101010101" pitchFamily="2" charset="-122"/>
                <a:sym typeface="+mn-ea"/>
              </a:rPr>
              <a:t>9          this.name = name;</a:t>
            </a:r>
            <a:endParaRPr lang="en-US" sz="1800" dirty="0">
              <a:solidFill>
                <a:srgbClr val="002060"/>
              </a:solidFill>
              <a:ea typeface="宋体" panose="02010600030101010101" pitchFamily="2" charset="-122"/>
            </a:endParaRPr>
          </a:p>
          <a:p>
            <a:pPr marL="361950" indent="-361950" algn="l">
              <a:buClrTx/>
              <a:buSzTx/>
              <a:buFont typeface="Times"/>
              <a:buNone/>
            </a:pPr>
            <a:r>
              <a:rPr lang="en-US" sz="1800" dirty="0">
                <a:solidFill>
                  <a:srgbClr val="002060"/>
                </a:solidFill>
                <a:ea typeface="宋体" panose="02010600030101010101" pitchFamily="2" charset="-122"/>
                <a:sym typeface="+mn-ea"/>
              </a:rPr>
              <a:t>10         this.age = age;</a:t>
            </a:r>
            <a:endParaRPr lang="en-US" sz="1800" dirty="0">
              <a:solidFill>
                <a:srgbClr val="002060"/>
              </a:solidFill>
              <a:ea typeface="宋体" panose="02010600030101010101" pitchFamily="2" charset="-122"/>
            </a:endParaRPr>
          </a:p>
          <a:p>
            <a:pPr marL="361950" indent="-361950" algn="l">
              <a:buClrTx/>
              <a:buSzTx/>
              <a:buFont typeface="Times"/>
              <a:buNone/>
            </a:pPr>
            <a:r>
              <a:rPr lang="en-US" sz="1800" dirty="0">
                <a:solidFill>
                  <a:srgbClr val="002060"/>
                </a:solidFill>
                <a:ea typeface="宋体" panose="02010600030101010101" pitchFamily="2" charset="-122"/>
                <a:sym typeface="+mn-ea"/>
              </a:rPr>
              <a:t>11     }</a:t>
            </a:r>
            <a:endParaRPr lang="en-US" sz="1800" dirty="0">
              <a:solidFill>
                <a:srgbClr val="002060"/>
              </a:solidFill>
              <a:ea typeface="宋体" panose="02010600030101010101" pitchFamily="2" charset="-122"/>
            </a:endParaRPr>
          </a:p>
          <a:p>
            <a:pPr marL="361950" indent="-361950" algn="l">
              <a:buClrTx/>
              <a:buSzTx/>
              <a:buFont typeface="Times"/>
              <a:buNone/>
            </a:pPr>
            <a:r>
              <a:rPr lang="en-US" sz="1800" dirty="0">
                <a:solidFill>
                  <a:srgbClr val="002060"/>
                </a:solidFill>
                <a:ea typeface="宋体" panose="02010600030101010101" pitchFamily="2" charset="-122"/>
                <a:sym typeface="+mn-ea"/>
              </a:rPr>
              <a:t>15     public String toString() {</a:t>
            </a:r>
            <a:endParaRPr lang="en-US" sz="1800" dirty="0">
              <a:solidFill>
                <a:srgbClr val="002060"/>
              </a:solidFill>
              <a:ea typeface="宋体" panose="02010600030101010101" pitchFamily="2" charset="-122"/>
            </a:endParaRPr>
          </a:p>
          <a:p>
            <a:pPr marL="361950" indent="-361950" algn="l">
              <a:buClrTx/>
              <a:buSzTx/>
              <a:buFont typeface="Times"/>
              <a:buNone/>
            </a:pPr>
            <a:r>
              <a:rPr lang="en-US" sz="1800" dirty="0">
                <a:solidFill>
                  <a:srgbClr val="002060"/>
                </a:solidFill>
                <a:ea typeface="宋体" panose="02010600030101010101" pitchFamily="2" charset="-122"/>
                <a:sym typeface="+mn-ea"/>
              </a:rPr>
              <a:t>16         return "id=" + id + " name=" + name + " age=" + age;</a:t>
            </a:r>
            <a:endParaRPr lang="en-US" sz="1800" dirty="0">
              <a:solidFill>
                <a:srgbClr val="002060"/>
              </a:solidFill>
              <a:ea typeface="宋体" panose="02010600030101010101" pitchFamily="2" charset="-122"/>
            </a:endParaRPr>
          </a:p>
          <a:p>
            <a:pPr marL="361950" indent="-361950" algn="l">
              <a:buClrTx/>
              <a:buSzTx/>
              <a:buFont typeface="Times"/>
              <a:buNone/>
            </a:pPr>
            <a:r>
              <a:rPr lang="en-US" sz="1800" dirty="0">
                <a:solidFill>
                  <a:srgbClr val="002060"/>
                </a:solidFill>
                <a:ea typeface="宋体" panose="02010600030101010101" pitchFamily="2" charset="-122"/>
                <a:sym typeface="+mn-ea"/>
              </a:rPr>
              <a:t>17     }</a:t>
            </a:r>
            <a:endParaRPr lang="en-US" sz="1800" dirty="0">
              <a:solidFill>
                <a:srgbClr val="002060"/>
              </a:solidFill>
              <a:ea typeface="宋体" panose="02010600030101010101" pitchFamily="2" charset="-122"/>
            </a:endParaRPr>
          </a:p>
          <a:p>
            <a:pPr marL="361950" indent="-361950" algn="l">
              <a:buClrTx/>
              <a:buSzTx/>
              <a:buFont typeface="Times"/>
              <a:buNone/>
            </a:pPr>
            <a:r>
              <a:rPr lang="en-US" sz="1800" dirty="0">
                <a:solidFill>
                  <a:srgbClr val="002060"/>
                </a:solidFill>
                <a:ea typeface="宋体" panose="02010600030101010101" pitchFamily="2" charset="-122"/>
                <a:sym typeface="+mn-ea"/>
              </a:rPr>
              <a:t>18 }</a:t>
            </a:r>
            <a:endParaRPr lang="en-US" sz="1800" dirty="0">
              <a:solidFill>
                <a:srgbClr val="002060"/>
              </a:solidFill>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序列化示例 </a:t>
            </a:r>
            <a:r>
              <a:rPr lang="en-US" altLang="zh-CN" sz="2400" smtClean="0">
                <a:ea typeface="宋体" panose="02010600030101010101" pitchFamily="2" charset="-122"/>
                <a:sym typeface="+mn-ea"/>
              </a:rPr>
              <a:t>— </a:t>
            </a:r>
            <a:r>
              <a:rPr lang="en-US" altLang="zh-CN" sz="2400" smtClean="0">
                <a:sym typeface="+mn-ea"/>
              </a:rPr>
              <a:t>TestObjectOutputStream</a:t>
            </a:r>
            <a:r>
              <a:rPr lang="zh-CN" altLang="en-US" sz="240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lnSpc>
                <a:spcPct val="80000"/>
              </a:lnSpc>
              <a:buFont typeface="Times"/>
              <a:buNone/>
            </a:pPr>
            <a:r>
              <a:rPr lang="en-US" altLang="zh-CN" sz="1200" smtClean="0">
                <a:sym typeface="+mn-ea"/>
              </a:rPr>
              <a:t>1  import java.io.*;</a:t>
            </a:r>
            <a:endParaRPr lang="en-US" altLang="zh-CN" sz="1200" smtClean="0"/>
          </a:p>
          <a:p>
            <a:pPr>
              <a:lnSpc>
                <a:spcPct val="80000"/>
              </a:lnSpc>
              <a:buFont typeface="Times"/>
              <a:buNone/>
            </a:pPr>
            <a:r>
              <a:rPr lang="en-US" altLang="zh-CN" sz="1200" smtClean="0">
                <a:sym typeface="+mn-ea"/>
              </a:rPr>
              <a:t>2  </a:t>
            </a:r>
            <a:endParaRPr lang="en-US" altLang="zh-CN" sz="1200" smtClean="0"/>
          </a:p>
          <a:p>
            <a:pPr>
              <a:lnSpc>
                <a:spcPct val="80000"/>
              </a:lnSpc>
              <a:buFont typeface="Times"/>
              <a:buNone/>
            </a:pPr>
            <a:r>
              <a:rPr lang="en-US" altLang="zh-CN" sz="1200" smtClean="0">
                <a:sym typeface="+mn-ea"/>
              </a:rPr>
              <a:t>3  public class TestObjectOutputStream {</a:t>
            </a:r>
            <a:endParaRPr lang="en-US" altLang="zh-CN" sz="1200" smtClean="0"/>
          </a:p>
          <a:p>
            <a:pPr>
              <a:lnSpc>
                <a:spcPct val="80000"/>
              </a:lnSpc>
              <a:buFont typeface="Times"/>
              <a:buNone/>
            </a:pPr>
            <a:r>
              <a:rPr lang="en-US" altLang="zh-CN" sz="1200" smtClean="0">
                <a:sym typeface="+mn-ea"/>
              </a:rPr>
              <a:t>4      public static void main(String[] args) {</a:t>
            </a:r>
            <a:endParaRPr lang="en-US" altLang="zh-CN" sz="1200" smtClean="0"/>
          </a:p>
          <a:p>
            <a:pPr>
              <a:lnSpc>
                <a:spcPct val="80000"/>
              </a:lnSpc>
              <a:buFont typeface="Times"/>
              <a:buNone/>
            </a:pPr>
            <a:r>
              <a:rPr lang="en-US" altLang="zh-CN" sz="1200" smtClean="0">
                <a:sym typeface="+mn-ea"/>
              </a:rPr>
              <a:t>5          FileOutputStream fos = null;</a:t>
            </a:r>
            <a:endParaRPr lang="en-US" altLang="zh-CN" sz="1200" smtClean="0"/>
          </a:p>
          <a:p>
            <a:pPr>
              <a:lnSpc>
                <a:spcPct val="80000"/>
              </a:lnSpc>
              <a:buFont typeface="Times"/>
              <a:buNone/>
            </a:pPr>
            <a:r>
              <a:rPr lang="en-US" altLang="zh-CN" sz="1200" smtClean="0">
                <a:sym typeface="+mn-ea"/>
              </a:rPr>
              <a:t>6          BufferedOutputStream bos = null;</a:t>
            </a:r>
            <a:endParaRPr lang="en-US" altLang="zh-CN" sz="1200" smtClean="0"/>
          </a:p>
          <a:p>
            <a:pPr>
              <a:lnSpc>
                <a:spcPct val="80000"/>
              </a:lnSpc>
              <a:buFont typeface="Times"/>
              <a:buNone/>
            </a:pPr>
            <a:r>
              <a:rPr lang="en-US" altLang="zh-CN" sz="1200" smtClean="0">
                <a:sym typeface="+mn-ea"/>
              </a:rPr>
              <a:t>7          ObjectOutputStream oos = null;</a:t>
            </a:r>
            <a:endParaRPr lang="en-US" altLang="zh-CN" sz="1200" smtClean="0"/>
          </a:p>
          <a:p>
            <a:pPr>
              <a:lnSpc>
                <a:spcPct val="80000"/>
              </a:lnSpc>
              <a:buFont typeface="Times"/>
              <a:buNone/>
            </a:pPr>
            <a:r>
              <a:rPr lang="en-US" altLang="zh-CN" sz="1200" smtClean="0">
                <a:sym typeface="+mn-ea"/>
              </a:rPr>
              <a:t>8  </a:t>
            </a:r>
            <a:endParaRPr lang="en-US" altLang="zh-CN" sz="1200" smtClean="0"/>
          </a:p>
          <a:p>
            <a:pPr>
              <a:lnSpc>
                <a:spcPct val="80000"/>
              </a:lnSpc>
              <a:buFont typeface="Times"/>
              <a:buNone/>
            </a:pPr>
            <a:r>
              <a:rPr lang="en-US" altLang="zh-CN" sz="1200" smtClean="0">
                <a:sym typeface="+mn-ea"/>
              </a:rPr>
              <a:t>9          try {</a:t>
            </a:r>
            <a:endParaRPr lang="en-US" altLang="zh-CN" sz="1200" smtClean="0"/>
          </a:p>
          <a:p>
            <a:pPr>
              <a:lnSpc>
                <a:spcPct val="80000"/>
              </a:lnSpc>
              <a:buFont typeface="Times"/>
              <a:buNone/>
            </a:pPr>
            <a:r>
              <a:rPr lang="en-US" altLang="zh-CN" sz="1200" smtClean="0">
                <a:sym typeface="+mn-ea"/>
              </a:rPr>
              <a:t>10             fos = new FileOutputStream("d:/java/text.dat");</a:t>
            </a:r>
            <a:endParaRPr lang="en-US" altLang="zh-CN" sz="1200" smtClean="0"/>
          </a:p>
          <a:p>
            <a:pPr>
              <a:lnSpc>
                <a:spcPct val="80000"/>
              </a:lnSpc>
              <a:buFont typeface="Times"/>
              <a:buNone/>
            </a:pPr>
            <a:r>
              <a:rPr lang="en-US" altLang="zh-CN" sz="1200" smtClean="0">
                <a:sym typeface="+mn-ea"/>
              </a:rPr>
              <a:t>11             bos = new BufferedOutputStream(fos);</a:t>
            </a:r>
            <a:endParaRPr lang="en-US" altLang="zh-CN" sz="1200" smtClean="0"/>
          </a:p>
          <a:p>
            <a:pPr>
              <a:lnSpc>
                <a:spcPct val="80000"/>
              </a:lnSpc>
              <a:buFont typeface="Times"/>
              <a:buNone/>
            </a:pPr>
            <a:r>
              <a:rPr lang="en-US" altLang="zh-CN" sz="1200" smtClean="0">
                <a:sym typeface="+mn-ea"/>
              </a:rPr>
              <a:t>12             oos = new ObjectOutputStream(bos);</a:t>
            </a:r>
            <a:endParaRPr lang="en-US" altLang="zh-CN" sz="1200" smtClean="0"/>
          </a:p>
          <a:p>
            <a:pPr>
              <a:lnSpc>
                <a:spcPct val="80000"/>
              </a:lnSpc>
              <a:buFont typeface="Times"/>
              <a:buNone/>
            </a:pPr>
            <a:r>
              <a:rPr lang="en-US" altLang="zh-CN" sz="1200" smtClean="0">
                <a:sym typeface="+mn-ea"/>
              </a:rPr>
              <a:t>13 </a:t>
            </a:r>
            <a:endParaRPr lang="en-US" altLang="zh-CN" sz="1200" smtClean="0"/>
          </a:p>
          <a:p>
            <a:pPr>
              <a:lnSpc>
                <a:spcPct val="80000"/>
              </a:lnSpc>
              <a:buFont typeface="Times"/>
              <a:buNone/>
            </a:pPr>
            <a:r>
              <a:rPr lang="en-US" altLang="zh-CN" sz="1200" smtClean="0">
                <a:sym typeface="+mn-ea"/>
              </a:rPr>
              <a:t>14             Student s1 = new Student(1, "zhang", 20);</a:t>
            </a:r>
            <a:endParaRPr lang="en-US" altLang="zh-CN" sz="1200" smtClean="0"/>
          </a:p>
          <a:p>
            <a:pPr>
              <a:lnSpc>
                <a:spcPct val="80000"/>
              </a:lnSpc>
              <a:buFont typeface="Times"/>
              <a:buNone/>
            </a:pPr>
            <a:r>
              <a:rPr lang="en-US" altLang="zh-CN" sz="1200" smtClean="0">
                <a:sym typeface="+mn-ea"/>
              </a:rPr>
              <a:t>15             oos.writeObject(s1);</a:t>
            </a:r>
            <a:endParaRPr lang="en-US" altLang="zh-CN" sz="1200" smtClean="0"/>
          </a:p>
          <a:p>
            <a:pPr>
              <a:lnSpc>
                <a:spcPct val="80000"/>
              </a:lnSpc>
              <a:buFont typeface="Times"/>
              <a:buNone/>
            </a:pPr>
            <a:r>
              <a:rPr lang="en-US" altLang="zh-CN" sz="1200" smtClean="0">
                <a:sym typeface="+mn-ea"/>
              </a:rPr>
              <a:t>16 </a:t>
            </a:r>
            <a:endParaRPr lang="en-US" altLang="zh-CN" sz="1200" smtClean="0"/>
          </a:p>
          <a:p>
            <a:pPr>
              <a:lnSpc>
                <a:spcPct val="80000"/>
              </a:lnSpc>
              <a:buFont typeface="Times"/>
              <a:buNone/>
            </a:pPr>
            <a:r>
              <a:rPr lang="en-US" altLang="zh-CN" sz="1200" smtClean="0">
                <a:sym typeface="+mn-ea"/>
              </a:rPr>
              <a:t>17             Student s2 = new Student(2, "li", 30);</a:t>
            </a:r>
            <a:endParaRPr lang="en-US" altLang="zh-CN" sz="1200" smtClean="0"/>
          </a:p>
          <a:p>
            <a:pPr>
              <a:lnSpc>
                <a:spcPct val="80000"/>
              </a:lnSpc>
              <a:buFont typeface="Times"/>
              <a:buNone/>
            </a:pPr>
            <a:r>
              <a:rPr lang="en-US" altLang="zh-CN" sz="1200" smtClean="0">
                <a:sym typeface="+mn-ea"/>
              </a:rPr>
              <a:t>18             oos.writeObject(s2);</a:t>
            </a:r>
            <a:endParaRPr lang="en-US" altLang="zh-CN" sz="1200" smtClean="0"/>
          </a:p>
          <a:p>
            <a:pPr>
              <a:lnSpc>
                <a:spcPct val="80000"/>
              </a:lnSpc>
              <a:buFont typeface="Times"/>
              <a:buNone/>
            </a:pPr>
            <a:r>
              <a:rPr lang="en-US" altLang="zh-CN" sz="1200" smtClean="0">
                <a:sym typeface="+mn-ea"/>
              </a:rPr>
              <a:t>19         } catch (IOException e) {</a:t>
            </a:r>
            <a:endParaRPr lang="en-US" altLang="zh-CN" sz="1200" dirty="0" smtClean="0">
              <a:solidFill>
                <a:srgbClr val="002060"/>
              </a:solidFill>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序列化示例 </a:t>
            </a:r>
            <a:r>
              <a:rPr lang="en-US" altLang="zh-CN" sz="2400" smtClean="0">
                <a:ea typeface="宋体" panose="02010600030101010101" pitchFamily="2" charset="-122"/>
                <a:sym typeface="+mn-ea"/>
              </a:rPr>
              <a:t>— </a:t>
            </a:r>
            <a:r>
              <a:rPr lang="en-US" altLang="zh-CN" sz="2400" smtClean="0">
                <a:sym typeface="+mn-ea"/>
              </a:rPr>
              <a:t>TestObjectOutputStream</a:t>
            </a:r>
            <a:r>
              <a:rPr lang="zh-CN" altLang="en-US" sz="240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lnSpc>
                <a:spcPct val="80000"/>
              </a:lnSpc>
              <a:buFont typeface="Times"/>
              <a:buNone/>
            </a:pPr>
            <a:r>
              <a:rPr lang="en-US" altLang="zh-CN" sz="1200" smtClean="0">
                <a:sym typeface="+mn-ea"/>
              </a:rPr>
              <a:t>20             e.printStackTrace();</a:t>
            </a:r>
            <a:endParaRPr lang="en-US" altLang="zh-CN" sz="1200" smtClean="0"/>
          </a:p>
          <a:p>
            <a:pPr>
              <a:lnSpc>
                <a:spcPct val="80000"/>
              </a:lnSpc>
              <a:buFont typeface="Times"/>
              <a:buNone/>
            </a:pPr>
            <a:r>
              <a:rPr lang="en-US" altLang="zh-CN" sz="1200" smtClean="0">
                <a:sym typeface="+mn-ea"/>
              </a:rPr>
              <a:t>21         } finally {</a:t>
            </a:r>
            <a:endParaRPr lang="en-US" altLang="zh-CN" sz="1200" smtClean="0"/>
          </a:p>
          <a:p>
            <a:pPr>
              <a:lnSpc>
                <a:spcPct val="80000"/>
              </a:lnSpc>
              <a:buFont typeface="Times"/>
              <a:buNone/>
            </a:pPr>
            <a:r>
              <a:rPr lang="en-US" altLang="zh-CN" sz="1200" smtClean="0">
                <a:sym typeface="+mn-ea"/>
              </a:rPr>
              <a:t>22             if (oos != null)    {</a:t>
            </a:r>
            <a:endParaRPr lang="en-US" altLang="zh-CN" sz="1200" smtClean="0"/>
          </a:p>
          <a:p>
            <a:pPr>
              <a:lnSpc>
                <a:spcPct val="80000"/>
              </a:lnSpc>
              <a:buFont typeface="Times"/>
              <a:buNone/>
            </a:pPr>
            <a:r>
              <a:rPr lang="en-US" altLang="zh-CN" sz="1200" smtClean="0">
                <a:sym typeface="+mn-ea"/>
              </a:rPr>
              <a:t>23                 try {</a:t>
            </a:r>
            <a:endParaRPr lang="en-US" altLang="zh-CN" sz="1200" smtClean="0"/>
          </a:p>
          <a:p>
            <a:pPr>
              <a:lnSpc>
                <a:spcPct val="80000"/>
              </a:lnSpc>
              <a:buFont typeface="Times"/>
              <a:buNone/>
            </a:pPr>
            <a:r>
              <a:rPr lang="en-US" altLang="zh-CN" sz="1200" smtClean="0">
                <a:sym typeface="+mn-ea"/>
              </a:rPr>
              <a:t>24                     oos.close();</a:t>
            </a:r>
            <a:endParaRPr lang="en-US" altLang="zh-CN" sz="1200" smtClean="0"/>
          </a:p>
          <a:p>
            <a:pPr>
              <a:lnSpc>
                <a:spcPct val="80000"/>
              </a:lnSpc>
              <a:buFont typeface="Times"/>
              <a:buNone/>
            </a:pPr>
            <a:r>
              <a:rPr lang="en-US" altLang="zh-CN" sz="1200" smtClean="0">
                <a:sym typeface="+mn-ea"/>
              </a:rPr>
              <a:t>25                 } catch (IOException e) {</a:t>
            </a:r>
            <a:endParaRPr lang="en-US" altLang="zh-CN" sz="1200" smtClean="0"/>
          </a:p>
          <a:p>
            <a:pPr>
              <a:lnSpc>
                <a:spcPct val="80000"/>
              </a:lnSpc>
              <a:buFont typeface="Times"/>
              <a:buNone/>
            </a:pPr>
            <a:r>
              <a:rPr lang="en-US" altLang="zh-CN" sz="1200" smtClean="0">
                <a:sym typeface="+mn-ea"/>
              </a:rPr>
              <a:t>26                 }</a:t>
            </a:r>
            <a:endParaRPr lang="en-US" altLang="zh-CN" sz="1200" smtClean="0"/>
          </a:p>
          <a:p>
            <a:pPr>
              <a:lnSpc>
                <a:spcPct val="80000"/>
              </a:lnSpc>
              <a:buFont typeface="Times"/>
              <a:buNone/>
            </a:pPr>
            <a:r>
              <a:rPr lang="en-US" altLang="zh-CN" sz="1200" smtClean="0">
                <a:sym typeface="+mn-ea"/>
              </a:rPr>
              <a:t>27             }</a:t>
            </a:r>
            <a:endParaRPr lang="en-US" altLang="zh-CN" sz="1200" smtClean="0"/>
          </a:p>
          <a:p>
            <a:pPr>
              <a:lnSpc>
                <a:spcPct val="80000"/>
              </a:lnSpc>
              <a:buFont typeface="Times"/>
              <a:buNone/>
            </a:pPr>
            <a:r>
              <a:rPr lang="en-US" altLang="zh-CN" sz="1200" smtClean="0">
                <a:sym typeface="+mn-ea"/>
              </a:rPr>
              <a:t>28 </a:t>
            </a:r>
            <a:endParaRPr lang="en-US" altLang="zh-CN" sz="1200" smtClean="0"/>
          </a:p>
          <a:p>
            <a:pPr>
              <a:lnSpc>
                <a:spcPct val="80000"/>
              </a:lnSpc>
              <a:buFont typeface="Times"/>
              <a:buNone/>
            </a:pPr>
            <a:r>
              <a:rPr lang="en-US" altLang="zh-CN" sz="1200" smtClean="0">
                <a:sym typeface="+mn-ea"/>
              </a:rPr>
              <a:t>29             if (bos != null)    {</a:t>
            </a:r>
            <a:endParaRPr lang="en-US" altLang="zh-CN" sz="1200" smtClean="0"/>
          </a:p>
          <a:p>
            <a:pPr>
              <a:lnSpc>
                <a:spcPct val="80000"/>
              </a:lnSpc>
              <a:buFont typeface="Times"/>
              <a:buNone/>
            </a:pPr>
            <a:r>
              <a:rPr lang="en-US" altLang="zh-CN" sz="1200" smtClean="0">
                <a:sym typeface="+mn-ea"/>
              </a:rPr>
              <a:t>30                 try {</a:t>
            </a:r>
            <a:endParaRPr lang="en-US" altLang="zh-CN" sz="1200" smtClean="0"/>
          </a:p>
          <a:p>
            <a:pPr>
              <a:lnSpc>
                <a:spcPct val="80000"/>
              </a:lnSpc>
              <a:buFont typeface="Times"/>
              <a:buNone/>
            </a:pPr>
            <a:r>
              <a:rPr lang="en-US" altLang="zh-CN" sz="1200" smtClean="0">
                <a:sym typeface="+mn-ea"/>
              </a:rPr>
              <a:t>31                     bos.close();</a:t>
            </a:r>
            <a:endParaRPr lang="en-US" altLang="zh-CN" sz="1200" smtClean="0"/>
          </a:p>
          <a:p>
            <a:pPr>
              <a:lnSpc>
                <a:spcPct val="80000"/>
              </a:lnSpc>
              <a:buFont typeface="Times"/>
              <a:buNone/>
            </a:pPr>
            <a:r>
              <a:rPr lang="en-US" altLang="zh-CN" sz="1200" smtClean="0">
                <a:sym typeface="+mn-ea"/>
              </a:rPr>
              <a:t>32                 } catch (IOException e) {</a:t>
            </a:r>
            <a:endParaRPr lang="en-US" altLang="zh-CN" sz="1200" smtClean="0"/>
          </a:p>
          <a:p>
            <a:pPr>
              <a:lnSpc>
                <a:spcPct val="80000"/>
              </a:lnSpc>
              <a:buFont typeface="Times"/>
              <a:buNone/>
            </a:pPr>
            <a:r>
              <a:rPr lang="en-US" altLang="zh-CN" sz="1200" smtClean="0">
                <a:sym typeface="+mn-ea"/>
              </a:rPr>
              <a:t>33                 }</a:t>
            </a:r>
            <a:endParaRPr lang="en-US" altLang="zh-CN" sz="1200" smtClean="0"/>
          </a:p>
          <a:p>
            <a:pPr>
              <a:lnSpc>
                <a:spcPct val="80000"/>
              </a:lnSpc>
              <a:buFont typeface="Times"/>
              <a:buNone/>
            </a:pPr>
            <a:r>
              <a:rPr lang="en-US" altLang="zh-CN" sz="1200" smtClean="0">
                <a:sym typeface="+mn-ea"/>
              </a:rPr>
              <a:t>34             }</a:t>
            </a:r>
            <a:endParaRPr lang="en-US" altLang="zh-CN" sz="1200" smtClean="0"/>
          </a:p>
          <a:p>
            <a:pPr>
              <a:lnSpc>
                <a:spcPct val="80000"/>
              </a:lnSpc>
              <a:buFont typeface="Times"/>
              <a:buNone/>
            </a:pPr>
            <a:r>
              <a:rPr lang="en-US" altLang="zh-CN" sz="1200" smtClean="0">
                <a:sym typeface="+mn-ea"/>
              </a:rPr>
              <a:t>35 </a:t>
            </a:r>
            <a:endParaRPr lang="en-US" altLang="zh-CN" sz="1200" smtClean="0"/>
          </a:p>
          <a:p>
            <a:pPr>
              <a:lnSpc>
                <a:spcPct val="80000"/>
              </a:lnSpc>
              <a:buFont typeface="Times"/>
              <a:buNone/>
            </a:pPr>
            <a:r>
              <a:rPr lang="en-US" altLang="zh-CN" sz="1200" smtClean="0">
                <a:sym typeface="+mn-ea"/>
              </a:rPr>
              <a:t>36             if (fos != null)    {</a:t>
            </a:r>
            <a:endParaRPr lang="en-US" altLang="zh-CN" sz="1200" smtClean="0"/>
          </a:p>
          <a:p>
            <a:pPr>
              <a:lnSpc>
                <a:spcPct val="80000"/>
              </a:lnSpc>
              <a:buFont typeface="Times"/>
              <a:buNone/>
            </a:pPr>
            <a:r>
              <a:rPr lang="en-US" altLang="zh-CN" sz="1200" smtClean="0">
                <a:sym typeface="+mn-ea"/>
              </a:rPr>
              <a:t>37                 try {</a:t>
            </a:r>
            <a:endParaRPr lang="en-US" altLang="zh-CN" sz="1200" dirty="0" smtClean="0">
              <a:solidFill>
                <a:srgbClr val="002060"/>
              </a:solidFill>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序列化示例 </a:t>
            </a:r>
            <a:r>
              <a:rPr lang="en-US" altLang="zh-CN" sz="2400" smtClean="0">
                <a:ea typeface="宋体" panose="02010600030101010101" pitchFamily="2" charset="-122"/>
                <a:sym typeface="+mn-ea"/>
              </a:rPr>
              <a:t>— </a:t>
            </a:r>
            <a:r>
              <a:rPr lang="en-US" altLang="zh-CN" sz="2400" smtClean="0">
                <a:sym typeface="+mn-ea"/>
              </a:rPr>
              <a:t>TestObjectOutputStream</a:t>
            </a:r>
            <a:r>
              <a:rPr lang="zh-CN" altLang="en-US" sz="240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lnSpc>
                <a:spcPct val="80000"/>
              </a:lnSpc>
              <a:buFont typeface="Times"/>
              <a:buNone/>
            </a:pPr>
            <a:r>
              <a:rPr lang="en-US" altLang="zh-CN" sz="1200" smtClean="0">
                <a:sym typeface="+mn-ea"/>
              </a:rPr>
              <a:t>38                     fos.close();</a:t>
            </a:r>
            <a:endParaRPr lang="en-US" altLang="zh-CN" sz="1200" smtClean="0"/>
          </a:p>
          <a:p>
            <a:pPr>
              <a:lnSpc>
                <a:spcPct val="80000"/>
              </a:lnSpc>
              <a:buFont typeface="Times"/>
              <a:buNone/>
            </a:pPr>
            <a:r>
              <a:rPr lang="en-US" altLang="zh-CN" sz="1200" smtClean="0">
                <a:sym typeface="+mn-ea"/>
              </a:rPr>
              <a:t>39                 } catch (IOException e) {</a:t>
            </a:r>
            <a:endParaRPr lang="en-US" altLang="zh-CN" sz="1200" smtClean="0"/>
          </a:p>
          <a:p>
            <a:pPr>
              <a:lnSpc>
                <a:spcPct val="80000"/>
              </a:lnSpc>
              <a:buFont typeface="Times"/>
              <a:buNone/>
            </a:pPr>
            <a:r>
              <a:rPr lang="en-US" altLang="zh-CN" sz="1200" smtClean="0">
                <a:sym typeface="+mn-ea"/>
              </a:rPr>
              <a:t>40                 }</a:t>
            </a:r>
            <a:endParaRPr lang="en-US" altLang="zh-CN" sz="1200" smtClean="0"/>
          </a:p>
          <a:p>
            <a:pPr>
              <a:lnSpc>
                <a:spcPct val="80000"/>
              </a:lnSpc>
              <a:buFont typeface="Times"/>
              <a:buNone/>
            </a:pPr>
            <a:r>
              <a:rPr lang="en-US" altLang="zh-CN" sz="1200" smtClean="0">
                <a:sym typeface="+mn-ea"/>
              </a:rPr>
              <a:t>41             }</a:t>
            </a:r>
            <a:endParaRPr lang="en-US" altLang="zh-CN" sz="1200" smtClean="0"/>
          </a:p>
          <a:p>
            <a:pPr>
              <a:lnSpc>
                <a:spcPct val="80000"/>
              </a:lnSpc>
              <a:buFont typeface="Times"/>
              <a:buNone/>
            </a:pPr>
            <a:r>
              <a:rPr lang="en-US" altLang="zh-CN" sz="1200" smtClean="0">
                <a:sym typeface="+mn-ea"/>
              </a:rPr>
              <a:t>42         }</a:t>
            </a:r>
            <a:endParaRPr lang="en-US" altLang="zh-CN" sz="1200" smtClean="0"/>
          </a:p>
          <a:p>
            <a:pPr>
              <a:lnSpc>
                <a:spcPct val="80000"/>
              </a:lnSpc>
              <a:buFont typeface="Times"/>
              <a:buNone/>
            </a:pPr>
            <a:r>
              <a:rPr lang="en-US" altLang="zh-CN" sz="1200" smtClean="0">
                <a:sym typeface="+mn-ea"/>
              </a:rPr>
              <a:t>43     }</a:t>
            </a:r>
            <a:endParaRPr lang="en-US" altLang="zh-CN" sz="1200" smtClean="0"/>
          </a:p>
          <a:p>
            <a:pPr>
              <a:lnSpc>
                <a:spcPct val="80000"/>
              </a:lnSpc>
              <a:buFont typeface="Times"/>
              <a:buNone/>
            </a:pPr>
            <a:r>
              <a:rPr lang="en-US" altLang="zh-CN" sz="1200" smtClean="0">
                <a:sym typeface="+mn-ea"/>
              </a:rPr>
              <a:t>44 }</a:t>
            </a:r>
            <a:endParaRPr lang="en-US" altLang="zh-CN" sz="1200" dirty="0" smtClean="0">
              <a:solidFill>
                <a:srgbClr val="002060"/>
              </a:solidFill>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反序列化示例 </a:t>
            </a:r>
            <a:r>
              <a:rPr lang="en-US" altLang="zh-CN" sz="2400" dirty="0" smtClean="0">
                <a:ea typeface="宋体" panose="02010600030101010101" pitchFamily="2" charset="-122"/>
                <a:sym typeface="+mn-ea"/>
              </a:rPr>
              <a:t>— </a:t>
            </a:r>
            <a:r>
              <a:rPr lang="en-US" altLang="zh-CN" sz="2400" dirty="0" err="1" smtClean="0">
                <a:sym typeface="+mn-ea"/>
              </a:rPr>
              <a:t>TestObjectInputStream</a:t>
            </a:r>
            <a:r>
              <a:rPr lang="zh-CN" altLang="en-US" sz="2400" dirty="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lnSpc>
                <a:spcPct val="80000"/>
              </a:lnSpc>
              <a:buFont typeface="Times"/>
              <a:buNone/>
            </a:pPr>
            <a:r>
              <a:rPr lang="en-US" altLang="zh-CN" sz="1200" smtClean="0">
                <a:sym typeface="+mn-ea"/>
              </a:rPr>
              <a:t>1  import java.io.*;</a:t>
            </a:r>
            <a:endParaRPr lang="en-US" altLang="zh-CN" sz="1200" smtClean="0"/>
          </a:p>
          <a:p>
            <a:pPr>
              <a:lnSpc>
                <a:spcPct val="80000"/>
              </a:lnSpc>
              <a:buFont typeface="Times"/>
              <a:buNone/>
            </a:pPr>
            <a:r>
              <a:rPr lang="en-US" altLang="zh-CN" sz="1200" smtClean="0">
                <a:sym typeface="+mn-ea"/>
              </a:rPr>
              <a:t>2  </a:t>
            </a:r>
            <a:endParaRPr lang="en-US" altLang="zh-CN" sz="1200" smtClean="0"/>
          </a:p>
          <a:p>
            <a:pPr>
              <a:lnSpc>
                <a:spcPct val="80000"/>
              </a:lnSpc>
              <a:buFont typeface="Times"/>
              <a:buNone/>
            </a:pPr>
            <a:r>
              <a:rPr lang="en-US" altLang="zh-CN" sz="1200" smtClean="0">
                <a:sym typeface="+mn-ea"/>
              </a:rPr>
              <a:t>3  public class TestObjectInputStream {</a:t>
            </a:r>
            <a:endParaRPr lang="en-US" altLang="zh-CN" sz="1200" smtClean="0"/>
          </a:p>
          <a:p>
            <a:pPr>
              <a:lnSpc>
                <a:spcPct val="80000"/>
              </a:lnSpc>
              <a:buFont typeface="Times"/>
              <a:buNone/>
            </a:pPr>
            <a:r>
              <a:rPr lang="en-US" altLang="zh-CN" sz="1200" smtClean="0">
                <a:sym typeface="+mn-ea"/>
              </a:rPr>
              <a:t>4      public static void main(String[] args) {</a:t>
            </a:r>
            <a:endParaRPr lang="en-US" altLang="zh-CN" sz="1200" smtClean="0"/>
          </a:p>
          <a:p>
            <a:pPr>
              <a:lnSpc>
                <a:spcPct val="80000"/>
              </a:lnSpc>
              <a:buFont typeface="Times"/>
              <a:buNone/>
            </a:pPr>
            <a:r>
              <a:rPr lang="en-US" altLang="zh-CN" sz="1200" smtClean="0">
                <a:sym typeface="+mn-ea"/>
              </a:rPr>
              <a:t>5          FileInputStream fis = null;</a:t>
            </a:r>
            <a:endParaRPr lang="en-US" altLang="zh-CN" sz="1200" smtClean="0"/>
          </a:p>
          <a:p>
            <a:pPr>
              <a:lnSpc>
                <a:spcPct val="80000"/>
              </a:lnSpc>
              <a:buFont typeface="Times"/>
              <a:buNone/>
            </a:pPr>
            <a:r>
              <a:rPr lang="en-US" altLang="zh-CN" sz="1200" smtClean="0">
                <a:sym typeface="+mn-ea"/>
              </a:rPr>
              <a:t>6          ObjectInputStream ois = null;</a:t>
            </a:r>
            <a:endParaRPr lang="en-US" altLang="zh-CN" sz="1200" smtClean="0"/>
          </a:p>
          <a:p>
            <a:pPr>
              <a:lnSpc>
                <a:spcPct val="80000"/>
              </a:lnSpc>
              <a:buFont typeface="Times"/>
              <a:buNone/>
            </a:pPr>
            <a:r>
              <a:rPr lang="en-US" altLang="zh-CN" sz="1200" smtClean="0">
                <a:sym typeface="+mn-ea"/>
              </a:rPr>
              <a:t>7  </a:t>
            </a:r>
            <a:endParaRPr lang="en-US" altLang="zh-CN" sz="1200" smtClean="0"/>
          </a:p>
          <a:p>
            <a:pPr>
              <a:lnSpc>
                <a:spcPct val="80000"/>
              </a:lnSpc>
              <a:buFont typeface="Times"/>
              <a:buNone/>
            </a:pPr>
            <a:r>
              <a:rPr lang="en-US" altLang="zh-CN" sz="1200" smtClean="0">
                <a:sym typeface="+mn-ea"/>
              </a:rPr>
              <a:t>8          try {</a:t>
            </a:r>
            <a:endParaRPr lang="en-US" altLang="zh-CN" sz="1200" smtClean="0"/>
          </a:p>
          <a:p>
            <a:pPr>
              <a:lnSpc>
                <a:spcPct val="80000"/>
              </a:lnSpc>
              <a:buFont typeface="Times"/>
              <a:buNone/>
            </a:pPr>
            <a:r>
              <a:rPr lang="en-US" altLang="zh-CN" sz="1200" smtClean="0">
                <a:sym typeface="+mn-ea"/>
              </a:rPr>
              <a:t>9              fis = new FileInputStream(args[0]);</a:t>
            </a:r>
            <a:endParaRPr lang="en-US" altLang="zh-CN" sz="1200" smtClean="0"/>
          </a:p>
          <a:p>
            <a:pPr>
              <a:lnSpc>
                <a:spcPct val="80000"/>
              </a:lnSpc>
              <a:buFont typeface="Times"/>
              <a:buNone/>
            </a:pPr>
            <a:r>
              <a:rPr lang="en-US" altLang="zh-CN" sz="1200" smtClean="0">
                <a:sym typeface="+mn-ea"/>
              </a:rPr>
              <a:t>10             ois = new ObjectInputStream(fis);</a:t>
            </a:r>
            <a:endParaRPr lang="en-US" altLang="zh-CN" sz="1200" smtClean="0"/>
          </a:p>
          <a:p>
            <a:pPr>
              <a:lnSpc>
                <a:spcPct val="80000"/>
              </a:lnSpc>
              <a:buFont typeface="Times"/>
              <a:buNone/>
            </a:pPr>
            <a:r>
              <a:rPr lang="en-US" altLang="zh-CN" sz="1200" smtClean="0">
                <a:sym typeface="+mn-ea"/>
              </a:rPr>
              <a:t>11 </a:t>
            </a:r>
            <a:endParaRPr lang="en-US" altLang="zh-CN" sz="1200" smtClean="0"/>
          </a:p>
          <a:p>
            <a:pPr>
              <a:lnSpc>
                <a:spcPct val="80000"/>
              </a:lnSpc>
              <a:buFont typeface="Times"/>
              <a:buNone/>
            </a:pPr>
            <a:r>
              <a:rPr lang="en-US" altLang="zh-CN" sz="1200" smtClean="0">
                <a:sym typeface="+mn-ea"/>
              </a:rPr>
              <a:t>12             Student stu1 = (Student)ois.readObject();</a:t>
            </a:r>
            <a:endParaRPr lang="en-US" altLang="zh-CN" sz="1200" smtClean="0"/>
          </a:p>
          <a:p>
            <a:pPr>
              <a:lnSpc>
                <a:spcPct val="80000"/>
              </a:lnSpc>
              <a:buFont typeface="Times"/>
              <a:buNone/>
            </a:pPr>
            <a:r>
              <a:rPr lang="en-US" altLang="zh-CN" sz="1200" smtClean="0">
                <a:sym typeface="+mn-ea"/>
              </a:rPr>
              <a:t>13             System.out.println(stu1);</a:t>
            </a:r>
            <a:endParaRPr lang="en-US" altLang="zh-CN" sz="1200" smtClean="0"/>
          </a:p>
          <a:p>
            <a:pPr>
              <a:lnSpc>
                <a:spcPct val="80000"/>
              </a:lnSpc>
              <a:buFont typeface="Times"/>
              <a:buNone/>
            </a:pPr>
            <a:r>
              <a:rPr lang="en-US" altLang="zh-CN" sz="1200" smtClean="0">
                <a:sym typeface="+mn-ea"/>
              </a:rPr>
              <a:t>14             Student stu2 = (Student)ois.readObject();</a:t>
            </a:r>
            <a:endParaRPr lang="en-US" altLang="zh-CN" sz="1200" smtClean="0"/>
          </a:p>
          <a:p>
            <a:pPr>
              <a:lnSpc>
                <a:spcPct val="80000"/>
              </a:lnSpc>
              <a:buFont typeface="Times"/>
              <a:buNone/>
            </a:pPr>
            <a:r>
              <a:rPr lang="en-US" altLang="zh-CN" sz="1200" smtClean="0">
                <a:sym typeface="+mn-ea"/>
              </a:rPr>
              <a:t>15             System.out.println(stu2);</a:t>
            </a:r>
            <a:endParaRPr lang="en-US" altLang="zh-CN" sz="1200" smtClean="0"/>
          </a:p>
          <a:p>
            <a:pPr>
              <a:lnSpc>
                <a:spcPct val="80000"/>
              </a:lnSpc>
              <a:buFont typeface="Times"/>
              <a:buNone/>
            </a:pPr>
            <a:r>
              <a:rPr lang="en-US" altLang="zh-CN" sz="1200" smtClean="0">
                <a:sym typeface="+mn-ea"/>
              </a:rPr>
              <a:t>16         } catch (Exception e) {</a:t>
            </a:r>
            <a:endParaRPr lang="en-US" altLang="zh-CN" sz="1200" smtClean="0"/>
          </a:p>
          <a:p>
            <a:pPr>
              <a:lnSpc>
                <a:spcPct val="80000"/>
              </a:lnSpc>
              <a:buFont typeface="Times"/>
              <a:buNone/>
            </a:pPr>
            <a:r>
              <a:rPr lang="en-US" altLang="zh-CN" sz="1200" smtClean="0">
                <a:sym typeface="+mn-ea"/>
              </a:rPr>
              <a:t>17             e.printStackTrace();</a:t>
            </a:r>
            <a:endParaRPr lang="en-US" altLang="zh-CN" sz="1200" smtClean="0"/>
          </a:p>
          <a:p>
            <a:pPr>
              <a:lnSpc>
                <a:spcPct val="80000"/>
              </a:lnSpc>
              <a:buFont typeface="Times"/>
              <a:buNone/>
            </a:pPr>
            <a:r>
              <a:rPr lang="en-US" altLang="zh-CN" sz="1200" smtClean="0">
                <a:sym typeface="+mn-ea"/>
              </a:rPr>
              <a:t>18         } finally {</a:t>
            </a:r>
            <a:endParaRPr lang="en-US" altLang="zh-CN" sz="1200" dirty="0" smtClean="0">
              <a:solidFill>
                <a:srgbClr val="002060"/>
              </a:solidFill>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反序列化示例 </a:t>
            </a:r>
            <a:r>
              <a:rPr lang="en-US" altLang="zh-CN" sz="2400" dirty="0" smtClean="0">
                <a:ea typeface="宋体" panose="02010600030101010101" pitchFamily="2" charset="-122"/>
                <a:sym typeface="+mn-ea"/>
              </a:rPr>
              <a:t>— </a:t>
            </a:r>
            <a:r>
              <a:rPr lang="en-US" altLang="zh-CN" sz="2400" dirty="0" err="1" smtClean="0">
                <a:sym typeface="+mn-ea"/>
              </a:rPr>
              <a:t>TestObjectInputStream</a:t>
            </a:r>
            <a:r>
              <a:rPr lang="zh-CN" altLang="en-US" sz="2400" dirty="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lnSpc>
                <a:spcPct val="80000"/>
              </a:lnSpc>
              <a:buFont typeface="Times"/>
              <a:buNone/>
            </a:pPr>
            <a:r>
              <a:rPr lang="en-US" altLang="zh-CN" sz="1200" dirty="0" smtClean="0">
                <a:sym typeface="+mn-ea"/>
              </a:rPr>
              <a:t>19             if (</a:t>
            </a:r>
            <a:r>
              <a:rPr lang="en-US" altLang="zh-CN" sz="1200" dirty="0" err="1" smtClean="0">
                <a:sym typeface="+mn-ea"/>
              </a:rPr>
              <a:t>ois</a:t>
            </a:r>
            <a:r>
              <a:rPr lang="en-US" altLang="zh-CN" sz="1200" dirty="0" smtClean="0">
                <a:sym typeface="+mn-ea"/>
              </a:rPr>
              <a:t> != null)    {</a:t>
            </a:r>
            <a:endParaRPr lang="en-US" altLang="zh-CN" sz="1200" dirty="0" smtClean="0"/>
          </a:p>
          <a:p>
            <a:pPr>
              <a:lnSpc>
                <a:spcPct val="80000"/>
              </a:lnSpc>
              <a:buFont typeface="Times"/>
              <a:buNone/>
            </a:pPr>
            <a:r>
              <a:rPr lang="en-US" altLang="zh-CN" sz="1200" dirty="0" smtClean="0">
                <a:sym typeface="+mn-ea"/>
              </a:rPr>
              <a:t>20                 try {</a:t>
            </a:r>
            <a:endParaRPr lang="en-US" altLang="zh-CN" sz="1200" dirty="0" smtClean="0"/>
          </a:p>
          <a:p>
            <a:pPr>
              <a:lnSpc>
                <a:spcPct val="80000"/>
              </a:lnSpc>
              <a:buFont typeface="Times"/>
              <a:buNone/>
            </a:pPr>
            <a:r>
              <a:rPr lang="en-US" altLang="zh-CN" sz="1200" dirty="0" smtClean="0">
                <a:sym typeface="+mn-ea"/>
              </a:rPr>
              <a:t>21                     </a:t>
            </a:r>
            <a:r>
              <a:rPr lang="en-US" altLang="zh-CN" sz="1200" dirty="0" err="1" smtClean="0">
                <a:sym typeface="+mn-ea"/>
              </a:rPr>
              <a:t>ois.close</a:t>
            </a:r>
            <a:r>
              <a:rPr lang="en-US" altLang="zh-CN" sz="1200" dirty="0" smtClean="0">
                <a:sym typeface="+mn-ea"/>
              </a:rPr>
              <a:t>();</a:t>
            </a:r>
            <a:endParaRPr lang="en-US" altLang="zh-CN" sz="1200" dirty="0" smtClean="0"/>
          </a:p>
          <a:p>
            <a:pPr>
              <a:lnSpc>
                <a:spcPct val="80000"/>
              </a:lnSpc>
              <a:buFont typeface="Times"/>
              <a:buNone/>
            </a:pPr>
            <a:r>
              <a:rPr lang="en-US" altLang="zh-CN" sz="1200" dirty="0" smtClean="0">
                <a:sym typeface="+mn-ea"/>
              </a:rPr>
              <a:t>22                 } catch (</a:t>
            </a:r>
            <a:r>
              <a:rPr lang="en-US" altLang="zh-CN" sz="1200" dirty="0" err="1" smtClean="0">
                <a:sym typeface="+mn-ea"/>
              </a:rPr>
              <a:t>IOException</a:t>
            </a:r>
            <a:r>
              <a:rPr lang="en-US" altLang="zh-CN" sz="1200" dirty="0" smtClean="0">
                <a:sym typeface="+mn-ea"/>
              </a:rPr>
              <a:t> e) {</a:t>
            </a:r>
            <a:endParaRPr lang="en-US" altLang="zh-CN" sz="1200" dirty="0" smtClean="0"/>
          </a:p>
          <a:p>
            <a:pPr>
              <a:lnSpc>
                <a:spcPct val="80000"/>
              </a:lnSpc>
              <a:buFont typeface="Times"/>
              <a:buNone/>
            </a:pPr>
            <a:r>
              <a:rPr lang="en-US" altLang="zh-CN" sz="1200" dirty="0" smtClean="0">
                <a:sym typeface="+mn-ea"/>
              </a:rPr>
              <a:t>23                 }</a:t>
            </a:r>
            <a:endParaRPr lang="en-US" altLang="zh-CN" sz="1200" dirty="0" smtClean="0"/>
          </a:p>
          <a:p>
            <a:pPr>
              <a:lnSpc>
                <a:spcPct val="80000"/>
              </a:lnSpc>
              <a:buFont typeface="Times"/>
              <a:buNone/>
            </a:pPr>
            <a:r>
              <a:rPr lang="en-US" altLang="zh-CN" sz="1200" dirty="0" smtClean="0">
                <a:sym typeface="+mn-ea"/>
              </a:rPr>
              <a:t>24             }</a:t>
            </a:r>
            <a:endParaRPr lang="en-US" altLang="zh-CN" sz="1200" dirty="0" smtClean="0"/>
          </a:p>
          <a:p>
            <a:pPr>
              <a:lnSpc>
                <a:spcPct val="80000"/>
              </a:lnSpc>
              <a:buFont typeface="Times"/>
              <a:buNone/>
            </a:pPr>
            <a:r>
              <a:rPr lang="en-US" altLang="zh-CN" sz="1200" dirty="0" smtClean="0">
                <a:sym typeface="+mn-ea"/>
              </a:rPr>
              <a:t>25 </a:t>
            </a:r>
            <a:endParaRPr lang="en-US" altLang="zh-CN" sz="1200" dirty="0" smtClean="0"/>
          </a:p>
          <a:p>
            <a:pPr>
              <a:lnSpc>
                <a:spcPct val="80000"/>
              </a:lnSpc>
              <a:buFont typeface="Times"/>
              <a:buNone/>
            </a:pPr>
            <a:r>
              <a:rPr lang="en-US" altLang="zh-CN" sz="1200" dirty="0" smtClean="0">
                <a:sym typeface="+mn-ea"/>
              </a:rPr>
              <a:t>26             if (</a:t>
            </a:r>
            <a:r>
              <a:rPr lang="en-US" altLang="zh-CN" sz="1200" dirty="0" err="1" smtClean="0">
                <a:sym typeface="+mn-ea"/>
              </a:rPr>
              <a:t>fis</a:t>
            </a:r>
            <a:r>
              <a:rPr lang="en-US" altLang="zh-CN" sz="1200" dirty="0" smtClean="0">
                <a:sym typeface="+mn-ea"/>
              </a:rPr>
              <a:t> != null)    {</a:t>
            </a:r>
            <a:endParaRPr lang="en-US" altLang="zh-CN" sz="1200" dirty="0" smtClean="0"/>
          </a:p>
          <a:p>
            <a:pPr>
              <a:lnSpc>
                <a:spcPct val="80000"/>
              </a:lnSpc>
              <a:buFont typeface="Times"/>
              <a:buNone/>
            </a:pPr>
            <a:r>
              <a:rPr lang="en-US" altLang="zh-CN" sz="1200" dirty="0" smtClean="0">
                <a:sym typeface="+mn-ea"/>
              </a:rPr>
              <a:t>27                 try {</a:t>
            </a:r>
            <a:endParaRPr lang="en-US" altLang="zh-CN" sz="1200" dirty="0" smtClean="0"/>
          </a:p>
          <a:p>
            <a:pPr>
              <a:lnSpc>
                <a:spcPct val="80000"/>
              </a:lnSpc>
              <a:buFont typeface="Times"/>
              <a:buNone/>
            </a:pPr>
            <a:r>
              <a:rPr lang="en-US" altLang="zh-CN" sz="1200" dirty="0" smtClean="0">
                <a:sym typeface="+mn-ea"/>
              </a:rPr>
              <a:t>28                     </a:t>
            </a:r>
            <a:r>
              <a:rPr lang="en-US" altLang="zh-CN" sz="1200" dirty="0" err="1" smtClean="0">
                <a:sym typeface="+mn-ea"/>
              </a:rPr>
              <a:t>fis.close</a:t>
            </a:r>
            <a:r>
              <a:rPr lang="en-US" altLang="zh-CN" sz="1200" dirty="0" smtClean="0">
                <a:sym typeface="+mn-ea"/>
              </a:rPr>
              <a:t>();</a:t>
            </a:r>
            <a:endParaRPr lang="en-US" altLang="zh-CN" sz="1200" dirty="0" smtClean="0"/>
          </a:p>
          <a:p>
            <a:pPr>
              <a:lnSpc>
                <a:spcPct val="80000"/>
              </a:lnSpc>
              <a:buFont typeface="Times"/>
              <a:buNone/>
            </a:pPr>
            <a:r>
              <a:rPr lang="en-US" altLang="zh-CN" sz="1200" dirty="0" smtClean="0">
                <a:sym typeface="+mn-ea"/>
              </a:rPr>
              <a:t>29                 } catch (</a:t>
            </a:r>
            <a:r>
              <a:rPr lang="en-US" altLang="zh-CN" sz="1200" dirty="0" err="1" smtClean="0">
                <a:sym typeface="+mn-ea"/>
              </a:rPr>
              <a:t>IOException</a:t>
            </a:r>
            <a:r>
              <a:rPr lang="en-US" altLang="zh-CN" sz="1200" dirty="0" smtClean="0">
                <a:sym typeface="+mn-ea"/>
              </a:rPr>
              <a:t> e) {</a:t>
            </a:r>
            <a:endParaRPr lang="en-US" altLang="zh-CN" sz="1200" dirty="0" smtClean="0"/>
          </a:p>
          <a:p>
            <a:pPr>
              <a:lnSpc>
                <a:spcPct val="80000"/>
              </a:lnSpc>
              <a:buFont typeface="Times"/>
              <a:buNone/>
            </a:pPr>
            <a:r>
              <a:rPr lang="en-US" altLang="zh-CN" sz="1200" dirty="0" smtClean="0">
                <a:sym typeface="+mn-ea"/>
              </a:rPr>
              <a:t>30                 }</a:t>
            </a:r>
            <a:endParaRPr lang="en-US" altLang="zh-CN" sz="1200" dirty="0" smtClean="0"/>
          </a:p>
          <a:p>
            <a:pPr>
              <a:lnSpc>
                <a:spcPct val="80000"/>
              </a:lnSpc>
              <a:buFont typeface="Times"/>
              <a:buNone/>
            </a:pPr>
            <a:r>
              <a:rPr lang="en-US" altLang="zh-CN" sz="1200" dirty="0" smtClean="0">
                <a:sym typeface="+mn-ea"/>
              </a:rPr>
              <a:t>31             }</a:t>
            </a:r>
            <a:endParaRPr lang="en-US" altLang="zh-CN" sz="1200" dirty="0" smtClean="0"/>
          </a:p>
          <a:p>
            <a:pPr>
              <a:lnSpc>
                <a:spcPct val="80000"/>
              </a:lnSpc>
              <a:buFont typeface="Times"/>
              <a:buNone/>
            </a:pPr>
            <a:r>
              <a:rPr lang="en-US" altLang="zh-CN" sz="1200" dirty="0" smtClean="0">
                <a:sym typeface="+mn-ea"/>
              </a:rPr>
              <a:t>32         }</a:t>
            </a:r>
            <a:endParaRPr lang="en-US" altLang="zh-CN" sz="1200" dirty="0" smtClean="0"/>
          </a:p>
          <a:p>
            <a:pPr>
              <a:lnSpc>
                <a:spcPct val="80000"/>
              </a:lnSpc>
              <a:buFont typeface="Times"/>
              <a:buNone/>
            </a:pPr>
            <a:r>
              <a:rPr lang="en-US" altLang="zh-CN" sz="1200" dirty="0" smtClean="0">
                <a:sym typeface="+mn-ea"/>
              </a:rPr>
              <a:t>33     }</a:t>
            </a:r>
            <a:endParaRPr lang="en-US" altLang="zh-CN" sz="1200" dirty="0" smtClean="0"/>
          </a:p>
          <a:p>
            <a:pPr>
              <a:lnSpc>
                <a:spcPct val="80000"/>
              </a:lnSpc>
              <a:buFont typeface="Times"/>
              <a:buNone/>
            </a:pPr>
            <a:r>
              <a:rPr lang="en-US" altLang="zh-CN" sz="1200" dirty="0" smtClean="0">
                <a:sym typeface="+mn-ea"/>
              </a:rPr>
              <a:t>34 }</a:t>
            </a:r>
            <a:endParaRPr lang="en-US" altLang="zh-CN" sz="1200" dirty="0" smtClean="0"/>
          </a:p>
          <a:p>
            <a:pPr>
              <a:lnSpc>
                <a:spcPct val="80000"/>
              </a:lnSpc>
              <a:buFont typeface="Times"/>
              <a:buNone/>
            </a:pPr>
            <a:endParaRPr lang="en-US" altLang="zh-CN" sz="1200" dirty="0" smtClean="0">
              <a:solidFill>
                <a:srgbClr val="002060"/>
              </a:solidFill>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序列化规则</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10000"/>
              </a:lnSpc>
              <a:spcBef>
                <a:spcPts val="1000"/>
              </a:spcBef>
              <a:buClr>
                <a:srgbClr val="ED7D31"/>
              </a:buClr>
              <a:buSzTx/>
              <a:buFont typeface="+mj-lt"/>
              <a:buAutoNum type="arabicPeriod"/>
            </a:pPr>
            <a:r>
              <a:rPr lang="zh-CN" altLang="en-US" sz="2000" dirty="0" smtClean="0">
                <a:ea typeface="宋体" panose="02010600030101010101" pitchFamily="2" charset="-122"/>
                <a:sym typeface="+mn-ea"/>
              </a:rPr>
              <a:t>如果对象的某个字段引用了另一个对象，则被引用对象的字段也将被序列化。</a:t>
            </a:r>
            <a:endParaRPr lang="zh-CN" altLang="en-US" sz="2000" dirty="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dirty="0" smtClean="0">
                <a:ea typeface="宋体" panose="02010600030101010101" pitchFamily="2" charset="-122"/>
                <a:sym typeface="+mn-ea"/>
              </a:rPr>
              <a:t>有些对象类（如FileInputStream）是不可序列化的，因为它们的字段表示了与操作系统相关的即时信息。</a:t>
            </a:r>
            <a:endParaRPr lang="zh-CN" altLang="en-US" sz="2000" dirty="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dirty="0" smtClean="0">
                <a:ea typeface="宋体" panose="02010600030101010101" pitchFamily="2" charset="-122"/>
                <a:sym typeface="+mn-ea"/>
              </a:rPr>
              <a:t>访问修饰符（如public、protected、default和private）对序列化的数据字段没有任何影响。</a:t>
            </a:r>
            <a:endParaRPr lang="zh-CN" altLang="en-US" sz="20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10000"/>
              </a:lnSpc>
              <a:spcBef>
                <a:spcPts val="1000"/>
              </a:spcBef>
              <a:buClr>
                <a:srgbClr val="ED7D31"/>
              </a:buClr>
              <a:buSzTx/>
              <a:buFont typeface="+mj-lt"/>
              <a:buAutoNum type="arabicPeriod"/>
            </a:pPr>
            <a:r>
              <a:rPr lang="zh-CN" altLang="en-US" sz="2000" dirty="0" smtClean="0">
                <a:ea typeface="宋体" panose="02010600030101010101" pitchFamily="2" charset="-122"/>
                <a:sym typeface="+mn-ea"/>
              </a:rPr>
              <a:t>编写</a:t>
            </a:r>
            <a:r>
              <a:rPr lang="en-US" altLang="zh-CN" sz="2000" dirty="0" smtClean="0">
                <a:ea typeface="宋体" panose="02010600030101010101" pitchFamily="2" charset="-122"/>
                <a:sym typeface="+mn-ea"/>
              </a:rPr>
              <a:t>Student</a:t>
            </a:r>
            <a:r>
              <a:rPr lang="zh-CN" altLang="en-US" sz="2000" dirty="0" smtClean="0">
                <a:ea typeface="宋体" panose="02010600030101010101" pitchFamily="2" charset="-122"/>
                <a:sym typeface="+mn-ea"/>
              </a:rPr>
              <a:t>类，包含姓名、年龄等属性，提供对应的访问方法；</a:t>
            </a:r>
            <a:endParaRPr lang="zh-CN" altLang="en-US" sz="2000" dirty="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dirty="0" smtClean="0">
                <a:ea typeface="宋体" panose="02010600030101010101" pitchFamily="2" charset="-122"/>
                <a:sym typeface="+mn-ea"/>
              </a:rPr>
              <a:t>编写测试类1，在main方法中创建三个不同的</a:t>
            </a:r>
            <a:r>
              <a:rPr lang="en-US" altLang="zh-CN" sz="2000" dirty="0" smtClean="0">
                <a:ea typeface="宋体" panose="02010600030101010101" pitchFamily="2" charset="-122"/>
                <a:sym typeface="+mn-ea"/>
              </a:rPr>
              <a:t>Student</a:t>
            </a:r>
            <a:r>
              <a:rPr lang="zh-CN" altLang="en-US" sz="2000" dirty="0" smtClean="0">
                <a:ea typeface="宋体" panose="02010600030101010101" pitchFamily="2" charset="-122"/>
                <a:sym typeface="+mn-ea"/>
              </a:rPr>
              <a:t>对象，将这三个对象序列化到文件中；</a:t>
            </a:r>
            <a:endParaRPr lang="zh-CN" altLang="en-US" sz="2000" dirty="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dirty="0" smtClean="0">
                <a:ea typeface="宋体" panose="02010600030101010101" pitchFamily="2" charset="-122"/>
                <a:sym typeface="+mn-ea"/>
              </a:rPr>
              <a:t>编写测试类2，在main方法中从文件中反序列化三个</a:t>
            </a:r>
            <a:r>
              <a:rPr lang="en-US" altLang="zh-CN" sz="2000" dirty="0" smtClean="0">
                <a:ea typeface="宋体" panose="02010600030101010101" pitchFamily="2" charset="-122"/>
                <a:sym typeface="+mn-ea"/>
              </a:rPr>
              <a:t>Student</a:t>
            </a:r>
            <a:r>
              <a:rPr lang="zh-CN" altLang="en-US" sz="2000" dirty="0" smtClean="0">
                <a:ea typeface="宋体" panose="02010600030101010101" pitchFamily="2" charset="-122"/>
                <a:sym typeface="+mn-ea"/>
              </a:rPr>
              <a:t>对象，打印输出。验证序列化的正确；</a:t>
            </a:r>
            <a:endParaRPr lang="zh-CN" altLang="en-US" sz="2000" dirty="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dirty="0" smtClean="0">
                <a:ea typeface="宋体" panose="02010600030101010101" pitchFamily="2" charset="-122"/>
                <a:sym typeface="+mn-ea"/>
              </a:rPr>
              <a:t>在测试类1中，将三个</a:t>
            </a:r>
            <a:r>
              <a:rPr lang="en-US" altLang="zh-CN" sz="2000" dirty="0" smtClean="0">
                <a:ea typeface="宋体" panose="02010600030101010101" pitchFamily="2" charset="-122"/>
                <a:sym typeface="+mn-ea"/>
              </a:rPr>
              <a:t>Student</a:t>
            </a:r>
            <a:r>
              <a:rPr lang="zh-CN" altLang="en-US" sz="2000" dirty="0" smtClean="0">
                <a:ea typeface="宋体" panose="02010600030101010101" pitchFamily="2" charset="-122"/>
                <a:sym typeface="+mn-ea"/>
              </a:rPr>
              <a:t>对象放到数组中，序列化该数组到一个独立的文件中。再将三个</a:t>
            </a:r>
            <a:r>
              <a:rPr lang="en-US" altLang="zh-CN" sz="2000" dirty="0" smtClean="0">
                <a:ea typeface="宋体" panose="02010600030101010101" pitchFamily="2" charset="-122"/>
                <a:sym typeface="+mn-ea"/>
              </a:rPr>
              <a:t>Student</a:t>
            </a:r>
            <a:r>
              <a:rPr lang="zh-CN" altLang="en-US" sz="2000" dirty="0" smtClean="0">
                <a:ea typeface="宋体" panose="02010600030101010101" pitchFamily="2" charset="-122"/>
                <a:sym typeface="+mn-ea"/>
              </a:rPr>
              <a:t>对象放到List集合中，序列化该集合到另一个独立的文件中；</a:t>
            </a:r>
            <a:endParaRPr lang="zh-CN" altLang="en-US" sz="2000" dirty="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dirty="0" smtClean="0">
                <a:ea typeface="宋体" panose="02010600030101010101" pitchFamily="2" charset="-122"/>
                <a:sym typeface="+mn-ea"/>
              </a:rPr>
              <a:t>在测试类2中，将三个</a:t>
            </a:r>
            <a:r>
              <a:rPr lang="en-US" altLang="zh-CN" sz="2000" dirty="0" smtClean="0">
                <a:ea typeface="宋体" panose="02010600030101010101" pitchFamily="2" charset="-122"/>
                <a:sym typeface="+mn-ea"/>
              </a:rPr>
              <a:t>Student</a:t>
            </a:r>
            <a:r>
              <a:rPr lang="zh-CN" altLang="en-US" sz="2000" dirty="0" smtClean="0">
                <a:ea typeface="宋体" panose="02010600030101010101" pitchFamily="2" charset="-122"/>
                <a:sym typeface="+mn-ea"/>
              </a:rPr>
              <a:t>对象从数组文件中反序列化，并打印；</a:t>
            </a:r>
            <a:endParaRPr lang="zh-CN" altLang="en-US" sz="2000" dirty="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dirty="0" smtClean="0">
                <a:ea typeface="宋体" panose="02010600030101010101" pitchFamily="2" charset="-122"/>
                <a:sym typeface="+mn-ea"/>
              </a:rPr>
              <a:t>将三个</a:t>
            </a:r>
            <a:r>
              <a:rPr lang="en-US" altLang="zh-CN" sz="2000" dirty="0" smtClean="0">
                <a:ea typeface="宋体" panose="02010600030101010101" pitchFamily="2" charset="-122"/>
                <a:sym typeface="+mn-ea"/>
              </a:rPr>
              <a:t>Student</a:t>
            </a:r>
            <a:r>
              <a:rPr lang="zh-CN" altLang="en-US" sz="2000" dirty="0" smtClean="0">
                <a:ea typeface="宋体" panose="02010600030101010101" pitchFamily="2" charset="-122"/>
                <a:sym typeface="+mn-ea"/>
              </a:rPr>
              <a:t>对象从List集合文件中反序列，并打印。验证数组对象和集合对象的序列化。</a:t>
            </a:r>
            <a:endParaRPr lang="zh-CN" altLang="en-US" sz="20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pic>
        <p:nvPicPr>
          <p:cNvPr id="6" name="图片 5" descr="5d0495981e06a4beefc1a7ac3c41024d"/>
          <p:cNvPicPr>
            <a:picLocks noChangeAspect="1"/>
          </p:cNvPicPr>
          <p:nvPr>
            <p:custDataLst>
              <p:tags r:id="rId1"/>
            </p:custDataLst>
          </p:nvPr>
        </p:nvPicPr>
        <p:blipFill>
          <a:blip r:embed="rId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3"/>
            </p:custDataLst>
          </p:nvPr>
        </p:nvPicPr>
        <p:blipFill>
          <a:blip r:embed="rId2"/>
          <a:srcRect l="30697"/>
          <a:stretch>
            <a:fillRect/>
          </a:stretch>
        </p:blipFill>
        <p:spPr>
          <a:xfrm>
            <a:off x="8673465" y="-348615"/>
            <a:ext cx="5215255" cy="1497965"/>
          </a:xfrm>
          <a:prstGeom prst="rect">
            <a:avLst/>
          </a:prstGeom>
        </p:spPr>
      </p:pic>
      <p:sp>
        <p:nvSpPr>
          <p:cNvPr id="24" name="直角三角形 23"/>
          <p:cNvSpPr/>
          <p:nvPr>
            <p:custDataLst>
              <p:tags r:id="rId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4209415" y="1847215"/>
            <a:ext cx="0" cy="315595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1167765" y="2648585"/>
            <a:ext cx="2912110" cy="1383665"/>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第六章</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smtClean="0">
                <a:latin typeface="Arial" panose="020B0604020202020204" pitchFamily="34" charset="0"/>
                <a:ea typeface="宋体" panose="02010600030101010101" pitchFamily="2" charset="-122"/>
                <a:sym typeface="+mn-ea"/>
              </a:rPr>
              <a:t>文件与控制台</a:t>
            </a:r>
            <a:endParaRPr kumimoji="0" lang="zh-CN" sz="2400" b="1" i="0" u="none" strike="noStrike" kern="1200" cap="none" spc="300" normalizeH="0" baseline="0" noProof="0" dirty="0" smtClean="0">
              <a:ln>
                <a:noFill/>
              </a:ln>
              <a:solidFill>
                <a:srgbClr val="002060"/>
              </a:solidFill>
              <a:effectLst/>
              <a:uLnTx/>
              <a:uFillTx/>
              <a:latin typeface="Arial" panose="020B0604020202020204" pitchFamily="34" charset="0"/>
              <a:ea typeface="宋体" panose="02010600030101010101" pitchFamily="2" charset="-122"/>
              <a:sym typeface="+mn-ea"/>
            </a:endParaRPr>
          </a:p>
        </p:txBody>
      </p:sp>
      <p:sp>
        <p:nvSpPr>
          <p:cNvPr id="4" name="矩形 3"/>
          <p:cNvSpPr/>
          <p:nvPr/>
        </p:nvSpPr>
        <p:spPr>
          <a:xfrm>
            <a:off x="4618355" y="2350770"/>
            <a:ext cx="5104130" cy="2158365"/>
          </a:xfrm>
          <a:prstGeom prst="rect">
            <a:avLst/>
          </a:prstGeom>
          <a:noFill/>
        </p:spPr>
        <p:txBody>
          <a:bodyPr wrap="square" rtlCol="0">
            <a:spAutoFit/>
          </a:bodyPr>
          <a:p>
            <a:pPr marL="457200" indent="-457200" algn="l">
              <a:lnSpc>
                <a:spcPct val="140000"/>
              </a:lnSpc>
              <a:buClrTx/>
              <a:buSzTx/>
              <a:buFont typeface="+mj-lt"/>
              <a:buAutoNum type="arabicPeriod"/>
            </a:pPr>
            <a:r>
              <a:rPr lang="en-US" altLang="zh-CN" sz="2400" noProof="0" dirty="0">
                <a:ln>
                  <a:noFill/>
                </a:ln>
                <a:effectLst/>
                <a:uLnTx/>
                <a:uFillTx/>
                <a:latin typeface="华文宋体" panose="02010600040101010101" charset="-122"/>
                <a:ea typeface="华文宋体" panose="02010600040101010101" charset="-122"/>
                <a:cs typeface="华文宋体" panose="02010600040101010101" charset="-122"/>
                <a:sym typeface="+mn-ea"/>
              </a:rPr>
              <a:t>File对象</a:t>
            </a:r>
            <a:endParaRPr lang="en-US" altLang="zh-CN" sz="2400" noProof="0" dirty="0">
              <a:ln>
                <a:noFill/>
              </a:ln>
              <a:effectLst/>
              <a:uLnTx/>
              <a:uFillTx/>
              <a:latin typeface="华文宋体" panose="02010600040101010101" charset="-122"/>
              <a:ea typeface="华文宋体" panose="02010600040101010101" charset="-122"/>
              <a:cs typeface="华文宋体" panose="02010600040101010101" charset="-122"/>
            </a:endParaRPr>
          </a:p>
          <a:p>
            <a:pPr marL="457200" indent="-457200" algn="l">
              <a:lnSpc>
                <a:spcPct val="140000"/>
              </a:lnSpc>
              <a:buClrTx/>
              <a:buSzTx/>
              <a:buFont typeface="+mj-lt"/>
              <a:buAutoNum type="arabicPeriod"/>
            </a:pPr>
            <a:r>
              <a:rPr lang="en-US" altLang="zh-CN" sz="2400" noProof="0" dirty="0">
                <a:ln>
                  <a:noFill/>
                </a:ln>
                <a:solidFill>
                  <a:srgbClr val="ED7D31"/>
                </a:solidFill>
                <a:effectLst/>
                <a:uLnTx/>
                <a:uFillTx/>
                <a:latin typeface="华文宋体" panose="02010600040101010101" charset="-122"/>
                <a:ea typeface="华文宋体" panose="02010600040101010101" charset="-122"/>
                <a:cs typeface="华文宋体" panose="02010600040101010101" charset="-122"/>
                <a:sym typeface="+mn-ea"/>
              </a:rPr>
              <a:t>控制台I/O</a:t>
            </a:r>
            <a:endParaRPr lang="en-US" altLang="zh-CN" sz="2400" noProof="0" dirty="0">
              <a:ln>
                <a:noFill/>
              </a:ln>
              <a:solidFill>
                <a:srgbClr val="ED7D31"/>
              </a:solidFill>
              <a:effectLst/>
              <a:uLnTx/>
              <a:uFillTx/>
              <a:latin typeface="华文宋体" panose="02010600040101010101" charset="-122"/>
              <a:ea typeface="华文宋体" panose="02010600040101010101" charset="-122"/>
              <a:cs typeface="华文宋体" panose="02010600040101010101" charset="-122"/>
            </a:endParaRPr>
          </a:p>
          <a:p>
            <a:pPr marL="457200" indent="-457200" algn="l">
              <a:lnSpc>
                <a:spcPct val="140000"/>
              </a:lnSpc>
              <a:buClrTx/>
              <a:buSzTx/>
              <a:buFont typeface="+mj-lt"/>
              <a:buAutoNum type="arabicPeriod"/>
            </a:pPr>
            <a:r>
              <a:rPr lang="zh-CN" altLang="en-US" sz="2400" noProof="0" dirty="0">
                <a:ln>
                  <a:noFill/>
                </a:ln>
                <a:effectLst/>
                <a:uLnTx/>
                <a:uFillTx/>
                <a:latin typeface="华文宋体" panose="02010600040101010101" charset="-122"/>
                <a:ea typeface="华文宋体" panose="02010600040101010101" charset="-122"/>
                <a:cs typeface="华文宋体" panose="02010600040101010101" charset="-122"/>
                <a:sym typeface="+mn-ea"/>
              </a:rPr>
              <a:t>扫描器</a:t>
            </a:r>
            <a:endParaRPr lang="en-US" altLang="zh-CN" sz="2400" noProof="0" dirty="0">
              <a:ln>
                <a:noFill/>
              </a:ln>
              <a:effectLst/>
              <a:uLnTx/>
              <a:uFillTx/>
              <a:latin typeface="华文宋体" panose="02010600040101010101" charset="-122"/>
              <a:ea typeface="华文宋体" panose="02010600040101010101" charset="-122"/>
              <a:cs typeface="华文宋体" panose="02010600040101010101" charset="-122"/>
            </a:endParaRPr>
          </a:p>
          <a:p>
            <a:pPr indent="0" algn="l">
              <a:lnSpc>
                <a:spcPct val="140000"/>
              </a:lnSpc>
              <a:buClrTx/>
              <a:buSzTx/>
              <a:buFont typeface="+mj-lt"/>
              <a:buNone/>
            </a:pPr>
            <a:endParaRPr lang="en-US" altLang="zh-CN" sz="2400" noProof="0" dirty="0">
              <a:ln>
                <a:noFill/>
              </a:ln>
              <a:solidFill>
                <a:srgbClr val="ED7D31"/>
              </a:solidFill>
              <a:effectLst/>
              <a:uLnTx/>
              <a:uFillTx/>
              <a:latin typeface="华文宋体" panose="02010600040101010101" charset="-122"/>
              <a:ea typeface="华文宋体" panose="02010600040101010101" charset="-122"/>
              <a:cs typeface="华文宋体" panose="02010600040101010101"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5" grpId="0"/>
      <p:bldP spid="25" grpId="1" bldLvl="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01600" y="3137535"/>
            <a:ext cx="1179195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第一节 </a:t>
            </a:r>
            <a:r>
              <a:rPr lang="zh-CN" altLang="en-US" sz="6665" dirty="0">
                <a:solidFill>
                  <a:schemeClr val="bg1"/>
                </a:solidFill>
                <a:latin typeface="Arial" panose="020B0604020202020204" pitchFamily="34" charset="0"/>
                <a:ea typeface="宋体" panose="02010600030101010101" pitchFamily="2" charset="-122"/>
                <a:sym typeface="+mn-ea"/>
              </a:rPr>
              <a:t>File对象</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en-US" altLang="zh-CN" sz="2400" smtClean="0">
                <a:ea typeface="宋体" panose="02010600030101010101" pitchFamily="2" charset="-122"/>
                <a:sym typeface="+mn-ea"/>
              </a:rPr>
              <a:t>java.io.File</a:t>
            </a:r>
            <a:r>
              <a:rPr lang="zh-CN" altLang="en-US" sz="2400" smtClean="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可以使用File对象来封装一个文件或目录的信息，包括文件（或目录）名称、所在路径、文件长度等等。</a:t>
            </a:r>
            <a:endParaRPr lang="zh-CN" altLang="en-US" sz="200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File类提供了一些处理和获取文件信息的方法。</a:t>
            </a:r>
            <a:endParaRPr lang="zh-CN" altLang="en-US" sz="200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还可基于File对象来打开一个文件进行读写操作。</a:t>
            </a:r>
            <a:endParaRPr lang="zh-CN" altLang="en-US" sz="2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en-US" altLang="zh-CN" sz="2400" smtClean="0">
                <a:ea typeface="宋体" panose="02010600030101010101" pitchFamily="2" charset="-122"/>
                <a:sym typeface="+mn-ea"/>
              </a:rPr>
              <a:t>File</a:t>
            </a:r>
            <a:r>
              <a:rPr lang="zh-CN" altLang="en-US" sz="2400" smtClean="0">
                <a:ea typeface="宋体" panose="02010600030101010101" pitchFamily="2" charset="-122"/>
                <a:sym typeface="+mn-ea"/>
              </a:rPr>
              <a:t>类的常用方法</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关于文件名称的方法：</a:t>
            </a:r>
            <a:endParaRPr lang="zh-CN" altLang="en-US" sz="2000" smtClean="0">
              <a:ea typeface="宋体" panose="02010600030101010101" pitchFamily="2" charset="-122"/>
            </a:endParaRPr>
          </a:p>
          <a:p>
            <a:pPr marL="704850" lvl="1" indent="-361950">
              <a:buClr>
                <a:srgbClr val="ED7D31"/>
              </a:buClr>
              <a:defRPr/>
            </a:pPr>
            <a:r>
              <a:rPr lang="en-US" altLang="zh-CN" sz="2000" dirty="0" smtClean="0">
                <a:latin typeface="宋体" panose="02010600030101010101" pitchFamily="2" charset="-122"/>
                <a:ea typeface="宋体" panose="02010600030101010101" pitchFamily="2" charset="-122"/>
                <a:cs typeface="宋体" panose="02010600030101010101" pitchFamily="2" charset="-122"/>
                <a:sym typeface="+mn-ea"/>
              </a:rPr>
              <a:t>String </a:t>
            </a:r>
            <a:r>
              <a:rPr lang="en-US" altLang="zh-CN" sz="2000" dirty="0" err="1" smtClean="0">
                <a:latin typeface="宋体" panose="02010600030101010101" pitchFamily="2" charset="-122"/>
                <a:ea typeface="宋体" panose="02010600030101010101" pitchFamily="2" charset="-122"/>
                <a:cs typeface="宋体" panose="02010600030101010101" pitchFamily="2" charset="-122"/>
                <a:sym typeface="+mn-ea"/>
              </a:rPr>
              <a:t>getName</a:t>
            </a:r>
            <a:r>
              <a:rPr lang="en-US" altLang="zh-CN" sz="2000" dirty="0" smtClean="0">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dirty="0" smtClean="0">
                <a:latin typeface="宋体" panose="02010600030101010101" pitchFamily="2" charset="-122"/>
                <a:ea typeface="宋体" panose="02010600030101010101" pitchFamily="2" charset="-122"/>
                <a:cs typeface="宋体" panose="02010600030101010101" pitchFamily="2" charset="-122"/>
                <a:sym typeface="+mn-ea"/>
              </a:rPr>
              <a:t>：返回文件（或目录）名称</a:t>
            </a:r>
            <a:endParaRPr lang="en-US" altLang="zh-CN" sz="2000" dirty="0" smtClean="0">
              <a:latin typeface="宋体" panose="02010600030101010101" pitchFamily="2" charset="-122"/>
              <a:ea typeface="宋体" panose="02010600030101010101" pitchFamily="2" charset="-122"/>
              <a:cs typeface="宋体" panose="02010600030101010101" pitchFamily="2" charset="-122"/>
            </a:endParaRPr>
          </a:p>
          <a:p>
            <a:pPr marL="704850" lvl="1" indent="-361950">
              <a:buClr>
                <a:srgbClr val="ED7D31"/>
              </a:buClr>
              <a:defRPr/>
            </a:pPr>
            <a:r>
              <a:rPr lang="en-US" altLang="zh-CN" sz="2000" dirty="0" smtClean="0">
                <a:latin typeface="宋体" panose="02010600030101010101" pitchFamily="2" charset="-122"/>
                <a:ea typeface="宋体" panose="02010600030101010101" pitchFamily="2" charset="-122"/>
                <a:cs typeface="宋体" panose="02010600030101010101" pitchFamily="2" charset="-122"/>
                <a:sym typeface="+mn-ea"/>
              </a:rPr>
              <a:t>String </a:t>
            </a:r>
            <a:r>
              <a:rPr lang="en-US" altLang="zh-CN" sz="2000" dirty="0" err="1" smtClean="0">
                <a:latin typeface="宋体" panose="02010600030101010101" pitchFamily="2" charset="-122"/>
                <a:ea typeface="宋体" panose="02010600030101010101" pitchFamily="2" charset="-122"/>
                <a:cs typeface="宋体" panose="02010600030101010101" pitchFamily="2" charset="-122"/>
                <a:sym typeface="+mn-ea"/>
              </a:rPr>
              <a:t>getPath</a:t>
            </a:r>
            <a:r>
              <a:rPr lang="en-US" altLang="zh-CN" sz="2000" dirty="0" smtClean="0">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dirty="0" smtClean="0">
                <a:latin typeface="宋体" panose="02010600030101010101" pitchFamily="2" charset="-122"/>
                <a:ea typeface="宋体" panose="02010600030101010101" pitchFamily="2" charset="-122"/>
                <a:cs typeface="宋体" panose="02010600030101010101" pitchFamily="2" charset="-122"/>
                <a:sym typeface="+mn-ea"/>
              </a:rPr>
              <a:t>：返回文件（或目录）的所在路径</a:t>
            </a:r>
            <a:endParaRPr lang="en-US" altLang="zh-CN" sz="2000" dirty="0" smtClean="0">
              <a:latin typeface="宋体" panose="02010600030101010101" pitchFamily="2" charset="-122"/>
              <a:ea typeface="宋体" panose="02010600030101010101" pitchFamily="2" charset="-122"/>
              <a:cs typeface="宋体" panose="02010600030101010101" pitchFamily="2" charset="-122"/>
            </a:endParaRPr>
          </a:p>
          <a:p>
            <a:pPr marL="704850" lvl="1" indent="-361950">
              <a:buClr>
                <a:srgbClr val="ED7D31"/>
              </a:buClr>
              <a:defRPr/>
            </a:pPr>
            <a:r>
              <a:rPr lang="en-US" altLang="zh-CN" sz="2000" dirty="0" smtClean="0">
                <a:latin typeface="宋体" panose="02010600030101010101" pitchFamily="2" charset="-122"/>
                <a:ea typeface="宋体" panose="02010600030101010101" pitchFamily="2" charset="-122"/>
                <a:cs typeface="宋体" panose="02010600030101010101" pitchFamily="2" charset="-122"/>
                <a:sym typeface="+mn-ea"/>
              </a:rPr>
              <a:t>String </a:t>
            </a:r>
            <a:r>
              <a:rPr lang="en-US" altLang="zh-CN" sz="2000" dirty="0" err="1" smtClean="0">
                <a:latin typeface="宋体" panose="02010600030101010101" pitchFamily="2" charset="-122"/>
                <a:ea typeface="宋体" panose="02010600030101010101" pitchFamily="2" charset="-122"/>
                <a:cs typeface="宋体" panose="02010600030101010101" pitchFamily="2" charset="-122"/>
                <a:sym typeface="+mn-ea"/>
              </a:rPr>
              <a:t>getAbsolutePath</a:t>
            </a:r>
            <a:r>
              <a:rPr lang="en-US" altLang="zh-CN" sz="2000" dirty="0" smtClean="0">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dirty="0" smtClean="0">
                <a:latin typeface="宋体" panose="02010600030101010101" pitchFamily="2" charset="-122"/>
                <a:ea typeface="宋体" panose="02010600030101010101" pitchFamily="2" charset="-122"/>
                <a:cs typeface="宋体" panose="02010600030101010101" pitchFamily="2" charset="-122"/>
                <a:sym typeface="+mn-ea"/>
              </a:rPr>
              <a:t>：返回文件（或目录）所在的绝对路径</a:t>
            </a:r>
            <a:endParaRPr lang="en-US" altLang="zh-CN" sz="2000" dirty="0" smtClean="0">
              <a:latin typeface="宋体" panose="02010600030101010101" pitchFamily="2" charset="-122"/>
              <a:ea typeface="宋体" panose="02010600030101010101" pitchFamily="2" charset="-122"/>
              <a:cs typeface="宋体" panose="02010600030101010101" pitchFamily="2" charset="-122"/>
            </a:endParaRPr>
          </a:p>
          <a:p>
            <a:pPr marL="704850" lvl="1" indent="-361950">
              <a:buClr>
                <a:srgbClr val="ED7D31"/>
              </a:buClr>
              <a:defRPr/>
            </a:pPr>
            <a:r>
              <a:rPr lang="en-US" altLang="zh-CN" sz="2000" dirty="0" smtClean="0">
                <a:latin typeface="宋体" panose="02010600030101010101" pitchFamily="2" charset="-122"/>
                <a:ea typeface="宋体" panose="02010600030101010101" pitchFamily="2" charset="-122"/>
                <a:cs typeface="宋体" panose="02010600030101010101" pitchFamily="2" charset="-122"/>
                <a:sym typeface="+mn-ea"/>
              </a:rPr>
              <a:t>String </a:t>
            </a:r>
            <a:r>
              <a:rPr lang="en-US" altLang="zh-CN" sz="2000" dirty="0" err="1" smtClean="0">
                <a:latin typeface="宋体" panose="02010600030101010101" pitchFamily="2" charset="-122"/>
                <a:ea typeface="宋体" panose="02010600030101010101" pitchFamily="2" charset="-122"/>
                <a:cs typeface="宋体" panose="02010600030101010101" pitchFamily="2" charset="-122"/>
                <a:sym typeface="+mn-ea"/>
              </a:rPr>
              <a:t>getParent</a:t>
            </a:r>
            <a:r>
              <a:rPr lang="en-US" altLang="zh-CN" sz="2000" dirty="0" smtClean="0">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dirty="0" smtClean="0">
                <a:latin typeface="宋体" panose="02010600030101010101" pitchFamily="2" charset="-122"/>
                <a:ea typeface="宋体" panose="02010600030101010101" pitchFamily="2" charset="-122"/>
                <a:cs typeface="宋体" panose="02010600030101010101" pitchFamily="2" charset="-122"/>
                <a:sym typeface="+mn-ea"/>
              </a:rPr>
              <a:t>：返回文件（或目录）所在的父目录</a:t>
            </a:r>
            <a:endParaRPr lang="en-US" altLang="zh-CN" sz="2000" dirty="0" smtClean="0">
              <a:latin typeface="宋体" panose="02010600030101010101" pitchFamily="2" charset="-122"/>
              <a:ea typeface="宋体" panose="02010600030101010101" pitchFamily="2" charset="-122"/>
              <a:cs typeface="宋体" panose="02010600030101010101" pitchFamily="2" charset="-122"/>
            </a:endParaRPr>
          </a:p>
          <a:p>
            <a:pPr marL="457200" lvl="2" indent="-457200" algn="l">
              <a:lnSpc>
                <a:spcPct val="110000"/>
              </a:lnSpc>
              <a:spcBef>
                <a:spcPts val="1000"/>
              </a:spcBef>
              <a:buClr>
                <a:srgbClr val="ED7D31"/>
              </a:buClr>
              <a:buSzTx/>
              <a:buFont typeface="+mj-lt"/>
              <a:buAutoNum type="arabicPeriod" startAt="3"/>
            </a:pPr>
            <a:r>
              <a:rPr lang="zh-CN" altLang="en-US" sz="2000" smtClean="0">
                <a:ea typeface="宋体" panose="02010600030101010101" pitchFamily="2" charset="-122"/>
                <a:sym typeface="+mn-ea"/>
              </a:rPr>
              <a:t>关于目录方法：</a:t>
            </a:r>
            <a:endParaRPr lang="zh-CN" altLang="en-US" sz="2000" smtClean="0">
              <a:ea typeface="宋体" panose="02010600030101010101" pitchFamily="2" charset="-122"/>
            </a:endParaRPr>
          </a:p>
          <a:p>
            <a:pPr marL="704850" lvl="1" indent="-361950">
              <a:buClr>
                <a:srgbClr val="ED7D31"/>
              </a:buClr>
              <a:defRPr/>
            </a:pPr>
            <a:r>
              <a:rPr lang="en-US" altLang="zh-CN" sz="2000" dirty="0" smtClean="0">
                <a:latin typeface="宋体" panose="02010600030101010101" pitchFamily="2" charset="-122"/>
                <a:ea typeface="宋体" panose="02010600030101010101" pitchFamily="2" charset="-122"/>
                <a:cs typeface="宋体" panose="02010600030101010101" pitchFamily="2" charset="-122"/>
                <a:sym typeface="+mn-ea"/>
              </a:rPr>
              <a:t>boolean mkdir()：创建相应的目录</a:t>
            </a:r>
            <a:endParaRPr lang="en-US" altLang="zh-CN" sz="2000" dirty="0" smtClean="0">
              <a:latin typeface="宋体" panose="02010600030101010101" pitchFamily="2" charset="-122"/>
              <a:ea typeface="宋体" panose="02010600030101010101" pitchFamily="2" charset="-122"/>
              <a:cs typeface="宋体" panose="02010600030101010101" pitchFamily="2" charset="-122"/>
            </a:endParaRPr>
          </a:p>
          <a:p>
            <a:pPr marL="704850" lvl="1" indent="-361950">
              <a:buClr>
                <a:srgbClr val="ED7D31"/>
              </a:buClr>
              <a:defRPr/>
            </a:pPr>
            <a:r>
              <a:rPr lang="en-US" altLang="zh-CN" sz="2000" dirty="0" smtClean="0">
                <a:latin typeface="宋体" panose="02010600030101010101" pitchFamily="2" charset="-122"/>
                <a:ea typeface="宋体" panose="02010600030101010101" pitchFamily="2" charset="-122"/>
                <a:cs typeface="宋体" panose="02010600030101010101" pitchFamily="2" charset="-122"/>
                <a:sym typeface="+mn-ea"/>
              </a:rPr>
              <a:t>String[] list()：返回目录下的文件列表</a:t>
            </a:r>
            <a:endParaRPr lang="en-US" altLang="zh-CN" sz="2000" dirty="0" smtClean="0">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en-US" altLang="zh-CN" sz="2400" smtClean="0">
                <a:ea typeface="宋体" panose="02010600030101010101" pitchFamily="2" charset="-122"/>
                <a:sym typeface="+mn-ea"/>
              </a:rPr>
              <a:t>File</a:t>
            </a:r>
            <a:r>
              <a:rPr lang="zh-CN" altLang="en-US" sz="2400" smtClean="0">
                <a:ea typeface="宋体" panose="02010600030101010101" pitchFamily="2" charset="-122"/>
                <a:sym typeface="+mn-ea"/>
              </a:rPr>
              <a:t>类的常用方法</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2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关于文件信息的方法：</a:t>
            </a:r>
            <a:endParaRPr lang="zh-CN" altLang="en-US" sz="2000" smtClean="0">
              <a:ea typeface="宋体" panose="02010600030101010101" pitchFamily="2" charset="-122"/>
            </a:endParaRPr>
          </a:p>
          <a:p>
            <a:pPr marL="704850" lvl="1" indent="-361950">
              <a:lnSpc>
                <a:spcPct val="120000"/>
              </a:lnSpc>
              <a:buClr>
                <a:srgbClr val="ED7D31"/>
              </a:buClr>
              <a:defRPr/>
            </a:pPr>
            <a:r>
              <a:rPr lang="en-US" altLang="zh-CN" sz="2000" dirty="0" smtClean="0">
                <a:latin typeface="宋体" panose="02010600030101010101" pitchFamily="2" charset="-122"/>
                <a:ea typeface="宋体" panose="02010600030101010101" pitchFamily="2" charset="-122"/>
                <a:cs typeface="宋体" panose="02010600030101010101" pitchFamily="2" charset="-122"/>
                <a:sym typeface="+mn-ea"/>
              </a:rPr>
              <a:t>long length()</a:t>
            </a:r>
            <a:r>
              <a:rPr lang="zh-CN" altLang="en-US" sz="2000" dirty="0" smtClean="0">
                <a:latin typeface="宋体" panose="02010600030101010101" pitchFamily="2" charset="-122"/>
                <a:ea typeface="宋体" panose="02010600030101010101" pitchFamily="2" charset="-122"/>
                <a:cs typeface="宋体" panose="02010600030101010101" pitchFamily="2" charset="-122"/>
                <a:sym typeface="+mn-ea"/>
              </a:rPr>
              <a:t>：返回文件（或目录）的长度</a:t>
            </a:r>
            <a:endParaRPr lang="en-US" altLang="zh-CN" sz="2000" dirty="0" smtClean="0">
              <a:latin typeface="宋体" panose="02010600030101010101" pitchFamily="2" charset="-122"/>
              <a:ea typeface="宋体" panose="02010600030101010101" pitchFamily="2" charset="-122"/>
              <a:cs typeface="宋体" panose="02010600030101010101" pitchFamily="2" charset="-122"/>
            </a:endParaRPr>
          </a:p>
          <a:p>
            <a:pPr marL="704850" lvl="1" indent="-361950">
              <a:lnSpc>
                <a:spcPct val="120000"/>
              </a:lnSpc>
              <a:buClr>
                <a:srgbClr val="ED7D31"/>
              </a:buClr>
              <a:defRPr/>
            </a:pPr>
            <a:r>
              <a:rPr lang="en-US" altLang="zh-CN" sz="2000" dirty="0" err="1" smtClean="0">
                <a:latin typeface="宋体" panose="02010600030101010101" pitchFamily="2" charset="-122"/>
                <a:ea typeface="宋体" panose="02010600030101010101" pitchFamily="2" charset="-122"/>
                <a:cs typeface="宋体" panose="02010600030101010101" pitchFamily="2" charset="-122"/>
                <a:sym typeface="+mn-ea"/>
              </a:rPr>
              <a:t>boolean</a:t>
            </a:r>
            <a:r>
              <a:rPr lang="en-US" altLang="zh-CN" sz="2000" dirty="0" smtClean="0">
                <a:latin typeface="宋体" panose="02010600030101010101" pitchFamily="2" charset="-122"/>
                <a:ea typeface="宋体" panose="02010600030101010101" pitchFamily="2" charset="-122"/>
                <a:cs typeface="宋体" panose="02010600030101010101" pitchFamily="2" charset="-122"/>
                <a:sym typeface="+mn-ea"/>
              </a:rPr>
              <a:t> delete()</a:t>
            </a:r>
            <a:r>
              <a:rPr lang="zh-CN" altLang="en-US" sz="2000" dirty="0" smtClean="0">
                <a:latin typeface="宋体" panose="02010600030101010101" pitchFamily="2" charset="-122"/>
                <a:ea typeface="宋体" panose="02010600030101010101" pitchFamily="2" charset="-122"/>
                <a:cs typeface="宋体" panose="02010600030101010101" pitchFamily="2" charset="-122"/>
                <a:sym typeface="+mn-ea"/>
              </a:rPr>
              <a:t>：删除文件（或目录）</a:t>
            </a:r>
            <a:endParaRPr lang="en-US" altLang="zh-CN" sz="2000" dirty="0" smtClean="0">
              <a:latin typeface="宋体" panose="02010600030101010101" pitchFamily="2" charset="-122"/>
              <a:ea typeface="宋体" panose="02010600030101010101" pitchFamily="2" charset="-122"/>
              <a:cs typeface="宋体" panose="02010600030101010101" pitchFamily="2" charset="-122"/>
            </a:endParaRPr>
          </a:p>
          <a:p>
            <a:pPr marL="457200" lvl="2" indent="-457200" algn="l">
              <a:lnSpc>
                <a:spcPct val="120000"/>
              </a:lnSpc>
              <a:spcBef>
                <a:spcPts val="1000"/>
              </a:spcBef>
              <a:buClr>
                <a:srgbClr val="ED7D31"/>
              </a:buClr>
              <a:buSzTx/>
              <a:buFont typeface="+mj-lt"/>
              <a:buAutoNum type="arabicPeriod" startAt="2"/>
            </a:pPr>
            <a:r>
              <a:rPr lang="zh-CN" altLang="en-US" sz="2000" smtClean="0">
                <a:ea typeface="宋体" panose="02010600030101010101" pitchFamily="2" charset="-122"/>
                <a:sym typeface="+mn-ea"/>
              </a:rPr>
              <a:t>关于文件判断的方法：</a:t>
            </a:r>
            <a:endParaRPr lang="zh-CN" altLang="en-US" sz="2000" smtClean="0">
              <a:ea typeface="宋体" panose="02010600030101010101" pitchFamily="2" charset="-122"/>
            </a:endParaRPr>
          </a:p>
          <a:p>
            <a:pPr marL="704850" lvl="1" indent="-361950">
              <a:lnSpc>
                <a:spcPct val="120000"/>
              </a:lnSpc>
              <a:buClr>
                <a:srgbClr val="ED7D31"/>
              </a:buClr>
              <a:defRPr/>
            </a:pPr>
            <a:r>
              <a:rPr lang="en-US" altLang="zh-CN" sz="2000" dirty="0" err="1" smtClean="0">
                <a:latin typeface="宋体" panose="02010600030101010101" pitchFamily="2" charset="-122"/>
                <a:ea typeface="宋体" panose="02010600030101010101" pitchFamily="2" charset="-122"/>
                <a:cs typeface="宋体" panose="02010600030101010101" pitchFamily="2" charset="-122"/>
                <a:sym typeface="+mn-ea"/>
              </a:rPr>
              <a:t>boolean</a:t>
            </a:r>
            <a:r>
              <a:rPr lang="en-US" altLang="zh-CN" sz="2000" dirty="0" smtClean="0">
                <a:latin typeface="宋体" panose="02010600030101010101" pitchFamily="2" charset="-122"/>
                <a:ea typeface="宋体" panose="02010600030101010101" pitchFamily="2" charset="-122"/>
                <a:cs typeface="宋体" panose="02010600030101010101" pitchFamily="2" charset="-122"/>
                <a:sym typeface="+mn-ea"/>
              </a:rPr>
              <a:t> exists()</a:t>
            </a:r>
            <a:r>
              <a:rPr lang="zh-CN" altLang="en-US" sz="2000" dirty="0" smtClean="0">
                <a:latin typeface="宋体" panose="02010600030101010101" pitchFamily="2" charset="-122"/>
                <a:ea typeface="宋体" panose="02010600030101010101" pitchFamily="2" charset="-122"/>
                <a:cs typeface="宋体" panose="02010600030101010101" pitchFamily="2" charset="-122"/>
                <a:sym typeface="+mn-ea"/>
              </a:rPr>
              <a:t> ：指示文件（或目录）是否存在</a:t>
            </a:r>
            <a:endParaRPr lang="en-US" altLang="zh-CN" sz="2000" dirty="0" smtClean="0">
              <a:latin typeface="宋体" panose="02010600030101010101" pitchFamily="2" charset="-122"/>
              <a:ea typeface="宋体" panose="02010600030101010101" pitchFamily="2" charset="-122"/>
              <a:cs typeface="宋体" panose="02010600030101010101" pitchFamily="2" charset="-122"/>
            </a:endParaRPr>
          </a:p>
          <a:p>
            <a:pPr marL="704850" lvl="1" indent="-361950">
              <a:lnSpc>
                <a:spcPct val="120000"/>
              </a:lnSpc>
              <a:buClr>
                <a:srgbClr val="ED7D31"/>
              </a:buClr>
              <a:defRPr/>
            </a:pPr>
            <a:r>
              <a:rPr lang="en-US" altLang="zh-CN" sz="2000" dirty="0" err="1" smtClean="0">
                <a:latin typeface="宋体" panose="02010600030101010101" pitchFamily="2" charset="-122"/>
                <a:ea typeface="宋体" panose="02010600030101010101" pitchFamily="2" charset="-122"/>
                <a:cs typeface="宋体" panose="02010600030101010101" pitchFamily="2" charset="-122"/>
                <a:sym typeface="+mn-ea"/>
              </a:rPr>
              <a:t>boolean</a:t>
            </a:r>
            <a:r>
              <a:rPr lang="en-US" altLang="zh-CN" sz="2000" dirty="0" smtClean="0">
                <a:latin typeface="宋体" panose="02010600030101010101" pitchFamily="2" charset="-122"/>
                <a:ea typeface="宋体" panose="02010600030101010101" pitchFamily="2" charset="-122"/>
                <a:cs typeface="宋体" panose="02010600030101010101" pitchFamily="2" charset="-122"/>
                <a:sym typeface="+mn-ea"/>
              </a:rPr>
              <a:t> </a:t>
            </a:r>
            <a:r>
              <a:rPr lang="en-US" altLang="zh-CN" sz="2000" dirty="0" err="1" smtClean="0">
                <a:latin typeface="宋体" panose="02010600030101010101" pitchFamily="2" charset="-122"/>
                <a:ea typeface="宋体" panose="02010600030101010101" pitchFamily="2" charset="-122"/>
                <a:cs typeface="宋体" panose="02010600030101010101" pitchFamily="2" charset="-122"/>
                <a:sym typeface="+mn-ea"/>
              </a:rPr>
              <a:t>isFile</a:t>
            </a:r>
            <a:r>
              <a:rPr lang="en-US" altLang="zh-CN" sz="2000" dirty="0" smtClean="0">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dirty="0" smtClean="0">
                <a:latin typeface="宋体" panose="02010600030101010101" pitchFamily="2" charset="-122"/>
                <a:ea typeface="宋体" panose="02010600030101010101" pitchFamily="2" charset="-122"/>
                <a:cs typeface="宋体" panose="02010600030101010101" pitchFamily="2" charset="-122"/>
                <a:sym typeface="+mn-ea"/>
              </a:rPr>
              <a:t> ：指示该对象所封装的是否为文件</a:t>
            </a:r>
            <a:endParaRPr lang="en-US" altLang="zh-CN" sz="2000" dirty="0" smtClean="0">
              <a:latin typeface="宋体" panose="02010600030101010101" pitchFamily="2" charset="-122"/>
              <a:ea typeface="宋体" panose="02010600030101010101" pitchFamily="2" charset="-122"/>
              <a:cs typeface="宋体" panose="02010600030101010101" pitchFamily="2" charset="-122"/>
            </a:endParaRPr>
          </a:p>
          <a:p>
            <a:pPr marL="704850" lvl="1" indent="-361950">
              <a:lnSpc>
                <a:spcPct val="120000"/>
              </a:lnSpc>
              <a:buClr>
                <a:srgbClr val="ED7D31"/>
              </a:buClr>
              <a:defRPr/>
            </a:pPr>
            <a:r>
              <a:rPr lang="en-US" altLang="zh-CN" sz="2000" dirty="0" err="1" smtClean="0">
                <a:latin typeface="宋体" panose="02010600030101010101" pitchFamily="2" charset="-122"/>
                <a:ea typeface="宋体" panose="02010600030101010101" pitchFamily="2" charset="-122"/>
                <a:cs typeface="宋体" panose="02010600030101010101" pitchFamily="2" charset="-122"/>
                <a:sym typeface="+mn-ea"/>
              </a:rPr>
              <a:t>boolean</a:t>
            </a:r>
            <a:r>
              <a:rPr lang="en-US" altLang="zh-CN" sz="2000" dirty="0" smtClean="0">
                <a:latin typeface="宋体" panose="02010600030101010101" pitchFamily="2" charset="-122"/>
                <a:ea typeface="宋体" panose="02010600030101010101" pitchFamily="2" charset="-122"/>
                <a:cs typeface="宋体" panose="02010600030101010101" pitchFamily="2" charset="-122"/>
                <a:sym typeface="+mn-ea"/>
              </a:rPr>
              <a:t> </a:t>
            </a:r>
            <a:r>
              <a:rPr lang="en-US" altLang="zh-CN" sz="2000" dirty="0" err="1" smtClean="0">
                <a:latin typeface="宋体" panose="02010600030101010101" pitchFamily="2" charset="-122"/>
                <a:ea typeface="宋体" panose="02010600030101010101" pitchFamily="2" charset="-122"/>
                <a:cs typeface="宋体" panose="02010600030101010101" pitchFamily="2" charset="-122"/>
                <a:sym typeface="+mn-ea"/>
              </a:rPr>
              <a:t>isDirectory</a:t>
            </a:r>
            <a:r>
              <a:rPr lang="en-US" altLang="zh-CN" sz="2000" dirty="0" smtClean="0">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dirty="0" smtClean="0">
                <a:latin typeface="宋体" panose="02010600030101010101" pitchFamily="2" charset="-122"/>
                <a:ea typeface="宋体" panose="02010600030101010101" pitchFamily="2" charset="-122"/>
                <a:cs typeface="宋体" panose="02010600030101010101" pitchFamily="2" charset="-122"/>
                <a:sym typeface="+mn-ea"/>
              </a:rPr>
              <a:t> ：指示该对象所封装的是否为目录</a:t>
            </a:r>
            <a:endParaRPr lang="en-US" altLang="zh-CN" sz="2000" dirty="0" smtClean="0">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en-US" altLang="zh-CN" sz="2400" smtClean="0">
                <a:ea typeface="宋体" panose="02010600030101010101" pitchFamily="2" charset="-122"/>
                <a:sym typeface="+mn-ea"/>
              </a:rPr>
              <a:t>File</a:t>
            </a:r>
            <a:r>
              <a:rPr lang="zh-CN" altLang="en-US" sz="2400" smtClean="0">
                <a:ea typeface="宋体" panose="02010600030101010101" pitchFamily="2" charset="-122"/>
                <a:sym typeface="+mn-ea"/>
              </a:rPr>
              <a:t>对象示例 </a:t>
            </a:r>
            <a:r>
              <a:rPr lang="en-US" altLang="zh-CN" sz="2400" smtClean="0">
                <a:ea typeface="宋体" panose="02010600030101010101" pitchFamily="2" charset="-122"/>
                <a:sym typeface="+mn-ea"/>
              </a:rPr>
              <a:t>— </a:t>
            </a:r>
            <a:r>
              <a:rPr lang="en-US" altLang="zh-CN" sz="2400" smtClean="0">
                <a:sym typeface="+mn-ea"/>
              </a:rPr>
              <a:t>TestFile</a:t>
            </a:r>
            <a:r>
              <a:rPr lang="zh-CN" altLang="en-US" sz="2400" smtClean="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lnSpc>
                <a:spcPct val="80000"/>
              </a:lnSpc>
              <a:buFont typeface="Times"/>
              <a:buNone/>
            </a:pPr>
            <a:r>
              <a:rPr lang="en-US" altLang="zh-CN" sz="1200" smtClean="0">
                <a:sym typeface="+mn-ea"/>
              </a:rPr>
              <a:t>1  import java.io.*;</a:t>
            </a:r>
            <a:endParaRPr lang="en-US" altLang="zh-CN" sz="1200" smtClean="0"/>
          </a:p>
          <a:p>
            <a:pPr>
              <a:lnSpc>
                <a:spcPct val="80000"/>
              </a:lnSpc>
              <a:buFont typeface="Times"/>
              <a:buNone/>
            </a:pPr>
            <a:r>
              <a:rPr lang="en-US" altLang="zh-CN" sz="1200" smtClean="0">
                <a:sym typeface="+mn-ea"/>
              </a:rPr>
              <a:t>2  </a:t>
            </a:r>
            <a:endParaRPr lang="en-US" altLang="zh-CN" sz="1200" smtClean="0"/>
          </a:p>
          <a:p>
            <a:pPr>
              <a:lnSpc>
                <a:spcPct val="80000"/>
              </a:lnSpc>
              <a:buFont typeface="Times"/>
              <a:buNone/>
            </a:pPr>
            <a:r>
              <a:rPr lang="en-US" altLang="zh-CN" sz="1200" smtClean="0">
                <a:sym typeface="+mn-ea"/>
              </a:rPr>
              <a:t>3  public class TestFile {</a:t>
            </a:r>
            <a:endParaRPr lang="en-US" altLang="zh-CN" sz="1200" smtClean="0"/>
          </a:p>
          <a:p>
            <a:pPr>
              <a:lnSpc>
                <a:spcPct val="80000"/>
              </a:lnSpc>
              <a:buFont typeface="Times"/>
              <a:buNone/>
            </a:pPr>
            <a:r>
              <a:rPr lang="en-US" altLang="zh-CN" sz="1200" smtClean="0">
                <a:sym typeface="+mn-ea"/>
              </a:rPr>
              <a:t>4      public static void main(String[] args) {</a:t>
            </a:r>
            <a:endParaRPr lang="en-US" altLang="zh-CN" sz="1200" smtClean="0"/>
          </a:p>
          <a:p>
            <a:pPr>
              <a:lnSpc>
                <a:spcPct val="80000"/>
              </a:lnSpc>
              <a:buFont typeface="Times"/>
              <a:buNone/>
            </a:pPr>
            <a:r>
              <a:rPr lang="en-US" altLang="zh-CN" sz="1200" smtClean="0">
                <a:sym typeface="+mn-ea"/>
              </a:rPr>
              <a:t>5          File file = new File(“./JavaSE/TestFile.java");</a:t>
            </a:r>
            <a:endParaRPr lang="en-US" altLang="zh-CN" sz="1200" smtClean="0"/>
          </a:p>
          <a:p>
            <a:pPr>
              <a:lnSpc>
                <a:spcPct val="80000"/>
              </a:lnSpc>
              <a:buFont typeface="Times"/>
              <a:buNone/>
            </a:pPr>
            <a:r>
              <a:rPr lang="en-US" altLang="zh-CN" sz="1200" smtClean="0">
                <a:sym typeface="+mn-ea"/>
              </a:rPr>
              <a:t>6  </a:t>
            </a:r>
            <a:endParaRPr lang="en-US" altLang="zh-CN" sz="1200" smtClean="0"/>
          </a:p>
          <a:p>
            <a:pPr>
              <a:lnSpc>
                <a:spcPct val="80000"/>
              </a:lnSpc>
              <a:buFont typeface="Times"/>
              <a:buNone/>
            </a:pPr>
            <a:r>
              <a:rPr lang="en-US" altLang="zh-CN" sz="1200" smtClean="0">
                <a:sym typeface="+mn-ea"/>
              </a:rPr>
              <a:t>7          System.out.println("Name = " + file.getName());</a:t>
            </a:r>
            <a:endParaRPr lang="en-US" altLang="zh-CN" sz="1200" smtClean="0"/>
          </a:p>
          <a:p>
            <a:pPr>
              <a:lnSpc>
                <a:spcPct val="80000"/>
              </a:lnSpc>
              <a:buFont typeface="Times"/>
              <a:buNone/>
            </a:pPr>
            <a:r>
              <a:rPr lang="en-US" altLang="zh-CN" sz="1200" smtClean="0">
                <a:sym typeface="+mn-ea"/>
              </a:rPr>
              <a:t>8          System.out.println("Parent = " + file.getParent());</a:t>
            </a:r>
            <a:endParaRPr lang="en-US" altLang="zh-CN" sz="1200" smtClean="0"/>
          </a:p>
          <a:p>
            <a:pPr>
              <a:lnSpc>
                <a:spcPct val="80000"/>
              </a:lnSpc>
              <a:buFont typeface="Times"/>
              <a:buNone/>
            </a:pPr>
            <a:r>
              <a:rPr lang="en-US" altLang="zh-CN" sz="1200" smtClean="0">
                <a:sym typeface="+mn-ea"/>
              </a:rPr>
              <a:t>9          System.out.println("Path = " + file.getPath());</a:t>
            </a:r>
            <a:endParaRPr lang="en-US" altLang="zh-CN" sz="1200" smtClean="0"/>
          </a:p>
          <a:p>
            <a:pPr>
              <a:lnSpc>
                <a:spcPct val="80000"/>
              </a:lnSpc>
              <a:buFont typeface="Times"/>
              <a:buNone/>
            </a:pPr>
            <a:r>
              <a:rPr lang="en-US" altLang="zh-CN" sz="1200" smtClean="0">
                <a:sym typeface="+mn-ea"/>
              </a:rPr>
              <a:t>10         System.out.println("isDirectory = " + file.isDirectory());</a:t>
            </a:r>
            <a:endParaRPr lang="en-US" altLang="zh-CN" sz="1200" smtClean="0"/>
          </a:p>
          <a:p>
            <a:pPr>
              <a:lnSpc>
                <a:spcPct val="80000"/>
              </a:lnSpc>
              <a:buFont typeface="Times"/>
              <a:buNone/>
            </a:pPr>
            <a:r>
              <a:rPr lang="en-US" altLang="zh-CN" sz="1200" smtClean="0">
                <a:sym typeface="+mn-ea"/>
              </a:rPr>
              <a:t>11         System.out.println("isFile = " + file.isFile());</a:t>
            </a:r>
            <a:endParaRPr lang="en-US" altLang="zh-CN" sz="1200" smtClean="0"/>
          </a:p>
          <a:p>
            <a:pPr>
              <a:lnSpc>
                <a:spcPct val="80000"/>
              </a:lnSpc>
              <a:buFont typeface="Times"/>
              <a:buNone/>
            </a:pPr>
            <a:r>
              <a:rPr lang="en-US" altLang="zh-CN" sz="1200" smtClean="0">
                <a:sym typeface="+mn-ea"/>
              </a:rPr>
              <a:t>12         System.out.println("lastModified = " + file.lastModified());</a:t>
            </a:r>
            <a:endParaRPr lang="en-US" altLang="zh-CN" sz="1200" smtClean="0"/>
          </a:p>
          <a:p>
            <a:pPr>
              <a:lnSpc>
                <a:spcPct val="80000"/>
              </a:lnSpc>
              <a:buFont typeface="Times"/>
              <a:buNone/>
            </a:pPr>
            <a:r>
              <a:rPr lang="en-US" altLang="zh-CN" sz="1200" smtClean="0">
                <a:sym typeface="+mn-ea"/>
              </a:rPr>
              <a:t>13         System.out.println("length = " + file.length());</a:t>
            </a:r>
            <a:endParaRPr lang="en-US" altLang="zh-CN" sz="1200" smtClean="0"/>
          </a:p>
          <a:p>
            <a:pPr>
              <a:lnSpc>
                <a:spcPct val="80000"/>
              </a:lnSpc>
              <a:buFont typeface="Times"/>
              <a:buNone/>
            </a:pPr>
            <a:r>
              <a:rPr lang="en-US" altLang="zh-CN" sz="1200" smtClean="0">
                <a:sym typeface="+mn-ea"/>
              </a:rPr>
              <a:t>14         System.out.println("---------------------------");</a:t>
            </a:r>
            <a:endParaRPr lang="en-US" altLang="zh-CN" sz="1200" smtClean="0"/>
          </a:p>
          <a:p>
            <a:pPr>
              <a:lnSpc>
                <a:spcPct val="80000"/>
              </a:lnSpc>
              <a:buFont typeface="Times"/>
              <a:buNone/>
            </a:pPr>
            <a:r>
              <a:rPr lang="en-US" altLang="zh-CN" sz="1200" smtClean="0">
                <a:sym typeface="+mn-ea"/>
              </a:rPr>
              <a:t>15 </a:t>
            </a:r>
            <a:endParaRPr lang="en-US" altLang="zh-CN" sz="1200" smtClean="0"/>
          </a:p>
          <a:p>
            <a:pPr>
              <a:lnSpc>
                <a:spcPct val="80000"/>
              </a:lnSpc>
              <a:buFont typeface="Times"/>
              <a:buNone/>
            </a:pPr>
            <a:r>
              <a:rPr lang="en-US" altLang="zh-CN" sz="1200" smtClean="0">
                <a:sym typeface="+mn-ea"/>
              </a:rPr>
              <a:t>16         File dir = new File("test");</a:t>
            </a:r>
            <a:endParaRPr lang="en-US" altLang="zh-CN" sz="1200" smtClean="0"/>
          </a:p>
          <a:p>
            <a:pPr>
              <a:lnSpc>
                <a:spcPct val="80000"/>
              </a:lnSpc>
              <a:buFont typeface="Times"/>
              <a:buNone/>
            </a:pPr>
            <a:r>
              <a:rPr lang="en-US" altLang="zh-CN" sz="1200" smtClean="0">
                <a:sym typeface="+mn-ea"/>
              </a:rPr>
              <a:t>17         dir.mkdir();</a:t>
            </a:r>
            <a:endParaRPr lang="en-US" altLang="zh-CN" sz="1200" smtClean="0"/>
          </a:p>
          <a:p>
            <a:pPr>
              <a:lnSpc>
                <a:spcPct val="80000"/>
              </a:lnSpc>
              <a:buFont typeface="Times"/>
              <a:buNone/>
            </a:pPr>
            <a:r>
              <a:rPr lang="en-US" altLang="zh-CN" sz="1200" smtClean="0">
                <a:sym typeface="+mn-ea"/>
              </a:rPr>
              <a:t>18 </a:t>
            </a:r>
            <a:endParaRPr lang="en-US" altLang="zh-CN" sz="1200" smtClean="0"/>
          </a:p>
          <a:p>
            <a:pPr>
              <a:lnSpc>
                <a:spcPct val="80000"/>
              </a:lnSpc>
              <a:buFont typeface="Times"/>
              <a:buNone/>
            </a:pPr>
            <a:r>
              <a:rPr lang="en-US" altLang="zh-CN" sz="1200" smtClean="0">
                <a:sym typeface="+mn-ea"/>
              </a:rPr>
              <a:t>19         File curDir = new File("./");</a:t>
            </a:r>
            <a:endParaRPr lang="en-US" altLang="zh-CN" sz="1200" dirty="0" smtClean="0">
              <a:solidFill>
                <a:srgbClr val="002060"/>
              </a:solidFill>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en-US" altLang="zh-CN" sz="2400" smtClean="0">
                <a:ea typeface="宋体" panose="02010600030101010101" pitchFamily="2" charset="-122"/>
                <a:sym typeface="+mn-ea"/>
              </a:rPr>
              <a:t>File</a:t>
            </a:r>
            <a:r>
              <a:rPr lang="zh-CN" altLang="en-US" sz="2400" smtClean="0">
                <a:ea typeface="宋体" panose="02010600030101010101" pitchFamily="2" charset="-122"/>
                <a:sym typeface="+mn-ea"/>
              </a:rPr>
              <a:t>对象示例 </a:t>
            </a:r>
            <a:r>
              <a:rPr lang="en-US" altLang="zh-CN" sz="2400" smtClean="0">
                <a:ea typeface="宋体" panose="02010600030101010101" pitchFamily="2" charset="-122"/>
                <a:sym typeface="+mn-ea"/>
              </a:rPr>
              <a:t>— </a:t>
            </a:r>
            <a:r>
              <a:rPr lang="en-US" altLang="zh-CN" sz="2400" smtClean="0">
                <a:sym typeface="+mn-ea"/>
              </a:rPr>
              <a:t>TestFile</a:t>
            </a:r>
            <a:r>
              <a:rPr lang="zh-CN" altLang="en-US" sz="2400" smtClean="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lnSpc>
                <a:spcPct val="80000"/>
              </a:lnSpc>
              <a:buFont typeface="Times"/>
              <a:buNone/>
            </a:pPr>
            <a:r>
              <a:rPr lang="en-US" altLang="zh-CN" sz="1200" smtClean="0">
                <a:sym typeface="+mn-ea"/>
              </a:rPr>
              <a:t>20         String[] strs = curDir.list();</a:t>
            </a:r>
            <a:endParaRPr lang="en-US" altLang="zh-CN" sz="1200" smtClean="0"/>
          </a:p>
          <a:p>
            <a:pPr>
              <a:lnSpc>
                <a:spcPct val="80000"/>
              </a:lnSpc>
              <a:buFont typeface="Times"/>
              <a:buNone/>
            </a:pPr>
            <a:r>
              <a:rPr lang="en-US" altLang="zh-CN" sz="1200" smtClean="0">
                <a:sym typeface="+mn-ea"/>
              </a:rPr>
              <a:t>21         for (String str : strs) {</a:t>
            </a:r>
            <a:endParaRPr lang="en-US" altLang="zh-CN" sz="1200" smtClean="0"/>
          </a:p>
          <a:p>
            <a:pPr>
              <a:lnSpc>
                <a:spcPct val="80000"/>
              </a:lnSpc>
              <a:buFont typeface="Times"/>
              <a:buNone/>
            </a:pPr>
            <a:r>
              <a:rPr lang="en-US" altLang="zh-CN" sz="1200" smtClean="0">
                <a:sym typeface="+mn-ea"/>
              </a:rPr>
              <a:t>22             System.out.println(str);</a:t>
            </a:r>
            <a:endParaRPr lang="en-US" altLang="zh-CN" sz="1200" smtClean="0"/>
          </a:p>
          <a:p>
            <a:pPr>
              <a:lnSpc>
                <a:spcPct val="80000"/>
              </a:lnSpc>
              <a:buFont typeface="Times"/>
              <a:buNone/>
            </a:pPr>
            <a:r>
              <a:rPr lang="en-US" altLang="zh-CN" sz="1200" smtClean="0">
                <a:sym typeface="+mn-ea"/>
              </a:rPr>
              <a:t>23         }</a:t>
            </a:r>
            <a:endParaRPr lang="en-US" altLang="zh-CN" sz="1200" smtClean="0"/>
          </a:p>
          <a:p>
            <a:pPr>
              <a:lnSpc>
                <a:spcPct val="80000"/>
              </a:lnSpc>
              <a:buFont typeface="Times"/>
              <a:buNone/>
            </a:pPr>
            <a:r>
              <a:rPr lang="en-US" altLang="zh-CN" sz="1200" smtClean="0">
                <a:sym typeface="+mn-ea"/>
              </a:rPr>
              <a:t>24         System.out.println("---------------------------");</a:t>
            </a:r>
            <a:endParaRPr lang="en-US" altLang="zh-CN" sz="1200" smtClean="0"/>
          </a:p>
          <a:p>
            <a:pPr>
              <a:lnSpc>
                <a:spcPct val="80000"/>
              </a:lnSpc>
              <a:buFont typeface="Times"/>
              <a:buNone/>
            </a:pPr>
            <a:r>
              <a:rPr lang="en-US" altLang="zh-CN" sz="1200" smtClean="0">
                <a:sym typeface="+mn-ea"/>
              </a:rPr>
              <a:t>25 </a:t>
            </a:r>
            <a:endParaRPr lang="en-US" altLang="zh-CN" sz="1200" smtClean="0"/>
          </a:p>
          <a:p>
            <a:pPr>
              <a:lnSpc>
                <a:spcPct val="80000"/>
              </a:lnSpc>
              <a:buFont typeface="Times"/>
              <a:buNone/>
            </a:pPr>
            <a:r>
              <a:rPr lang="en-US" altLang="zh-CN" sz="1200" smtClean="0">
                <a:sym typeface="+mn-ea"/>
              </a:rPr>
              <a:t>26         FileReader fr = null;</a:t>
            </a:r>
            <a:endParaRPr lang="en-US" altLang="zh-CN" sz="1200" smtClean="0"/>
          </a:p>
          <a:p>
            <a:pPr>
              <a:lnSpc>
                <a:spcPct val="80000"/>
              </a:lnSpc>
              <a:buFont typeface="Times"/>
              <a:buNone/>
            </a:pPr>
            <a:r>
              <a:rPr lang="en-US" altLang="zh-CN" sz="1200" smtClean="0">
                <a:sym typeface="+mn-ea"/>
              </a:rPr>
              <a:t>27         BufferedReader br = null;</a:t>
            </a:r>
            <a:endParaRPr lang="en-US" altLang="zh-CN" sz="1200" smtClean="0"/>
          </a:p>
          <a:p>
            <a:pPr>
              <a:lnSpc>
                <a:spcPct val="80000"/>
              </a:lnSpc>
              <a:buFont typeface="Times"/>
              <a:buNone/>
            </a:pPr>
            <a:r>
              <a:rPr lang="en-US" altLang="zh-CN" sz="1200" smtClean="0">
                <a:sym typeface="+mn-ea"/>
              </a:rPr>
              <a:t>28 </a:t>
            </a:r>
            <a:endParaRPr lang="en-US" altLang="zh-CN" sz="1200" smtClean="0"/>
          </a:p>
          <a:p>
            <a:pPr>
              <a:lnSpc>
                <a:spcPct val="80000"/>
              </a:lnSpc>
              <a:buFont typeface="Times"/>
              <a:buNone/>
            </a:pPr>
            <a:r>
              <a:rPr lang="en-US" altLang="zh-CN" sz="1200" smtClean="0">
                <a:sym typeface="+mn-ea"/>
              </a:rPr>
              <a:t>29         try {</a:t>
            </a:r>
            <a:endParaRPr lang="en-US" altLang="zh-CN" sz="1200" smtClean="0"/>
          </a:p>
          <a:p>
            <a:pPr>
              <a:lnSpc>
                <a:spcPct val="80000"/>
              </a:lnSpc>
              <a:buFont typeface="Times"/>
              <a:buNone/>
            </a:pPr>
            <a:r>
              <a:rPr lang="en-US" altLang="zh-CN" sz="1200" smtClean="0">
                <a:sym typeface="+mn-ea"/>
              </a:rPr>
              <a:t>30             fr = new FileReader(file);</a:t>
            </a:r>
            <a:endParaRPr lang="en-US" altLang="zh-CN" sz="1200" smtClean="0"/>
          </a:p>
          <a:p>
            <a:pPr>
              <a:lnSpc>
                <a:spcPct val="80000"/>
              </a:lnSpc>
              <a:buFont typeface="Times"/>
              <a:buNone/>
            </a:pPr>
            <a:r>
              <a:rPr lang="en-US" altLang="zh-CN" sz="1200" smtClean="0">
                <a:sym typeface="+mn-ea"/>
              </a:rPr>
              <a:t>31             br = new BufferedReader(fr);</a:t>
            </a:r>
            <a:endParaRPr lang="en-US" altLang="zh-CN" sz="1200" smtClean="0"/>
          </a:p>
          <a:p>
            <a:pPr>
              <a:lnSpc>
                <a:spcPct val="80000"/>
              </a:lnSpc>
              <a:buFont typeface="Times"/>
              <a:buNone/>
            </a:pPr>
            <a:r>
              <a:rPr lang="en-US" altLang="zh-CN" sz="1200" smtClean="0">
                <a:sym typeface="+mn-ea"/>
              </a:rPr>
              <a:t>32 </a:t>
            </a:r>
            <a:endParaRPr lang="en-US" altLang="zh-CN" sz="1200" smtClean="0"/>
          </a:p>
          <a:p>
            <a:pPr>
              <a:lnSpc>
                <a:spcPct val="80000"/>
              </a:lnSpc>
              <a:buFont typeface="Times"/>
              <a:buNone/>
            </a:pPr>
            <a:r>
              <a:rPr lang="en-US" altLang="zh-CN" sz="1200" smtClean="0">
                <a:sym typeface="+mn-ea"/>
              </a:rPr>
              <a:t>33             String line = br.readLine();</a:t>
            </a:r>
            <a:endParaRPr lang="en-US" altLang="zh-CN" sz="1200" smtClean="0"/>
          </a:p>
          <a:p>
            <a:pPr>
              <a:lnSpc>
                <a:spcPct val="80000"/>
              </a:lnSpc>
              <a:buFont typeface="Times"/>
              <a:buNone/>
            </a:pPr>
            <a:r>
              <a:rPr lang="en-US" altLang="zh-CN" sz="1200" smtClean="0">
                <a:sym typeface="+mn-ea"/>
              </a:rPr>
              <a:t>34             while (line != null)    {</a:t>
            </a:r>
            <a:endParaRPr lang="en-US" altLang="zh-CN" sz="1200" smtClean="0"/>
          </a:p>
          <a:p>
            <a:pPr>
              <a:lnSpc>
                <a:spcPct val="80000"/>
              </a:lnSpc>
              <a:buFont typeface="Times"/>
              <a:buNone/>
            </a:pPr>
            <a:r>
              <a:rPr lang="en-US" altLang="zh-CN" sz="1200" smtClean="0">
                <a:sym typeface="+mn-ea"/>
              </a:rPr>
              <a:t>35                 System.out.println(line);</a:t>
            </a:r>
            <a:endParaRPr lang="en-US" altLang="zh-CN" sz="1200" smtClean="0"/>
          </a:p>
          <a:p>
            <a:pPr>
              <a:lnSpc>
                <a:spcPct val="80000"/>
              </a:lnSpc>
              <a:buFont typeface="Times"/>
              <a:buNone/>
            </a:pPr>
            <a:r>
              <a:rPr lang="en-US" altLang="zh-CN" sz="1200" smtClean="0">
                <a:sym typeface="+mn-ea"/>
              </a:rPr>
              <a:t>36                 line = br.readLine();</a:t>
            </a:r>
            <a:endParaRPr lang="en-US" altLang="zh-CN" sz="1200" smtClean="0"/>
          </a:p>
          <a:p>
            <a:pPr>
              <a:lnSpc>
                <a:spcPct val="80000"/>
              </a:lnSpc>
              <a:buFont typeface="Times"/>
              <a:buNone/>
            </a:pPr>
            <a:r>
              <a:rPr lang="en-US" altLang="zh-CN" sz="1200" smtClean="0">
                <a:sym typeface="+mn-ea"/>
              </a:rPr>
              <a:t>37             }</a:t>
            </a:r>
            <a:endParaRPr lang="en-US" altLang="zh-CN" sz="1200" smtClean="0"/>
          </a:p>
          <a:p>
            <a:pPr>
              <a:lnSpc>
                <a:spcPct val="80000"/>
              </a:lnSpc>
              <a:buFont typeface="Times"/>
              <a:buNone/>
            </a:pPr>
            <a:r>
              <a:rPr lang="en-US" altLang="zh-CN" sz="1200" smtClean="0">
                <a:sym typeface="+mn-ea"/>
              </a:rPr>
              <a:t>38         } catch (IOException e) {</a:t>
            </a:r>
            <a:endParaRPr lang="en-US" altLang="zh-CN" sz="1200" dirty="0" smtClean="0">
              <a:solidFill>
                <a:srgbClr val="002060"/>
              </a:solidFill>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en-US" altLang="zh-CN" sz="2400" smtClean="0">
                <a:ea typeface="宋体" panose="02010600030101010101" pitchFamily="2" charset="-122"/>
                <a:sym typeface="+mn-ea"/>
              </a:rPr>
              <a:t>File</a:t>
            </a:r>
            <a:r>
              <a:rPr lang="zh-CN" altLang="en-US" sz="2400" smtClean="0">
                <a:ea typeface="宋体" panose="02010600030101010101" pitchFamily="2" charset="-122"/>
                <a:sym typeface="+mn-ea"/>
              </a:rPr>
              <a:t>对象示例 </a:t>
            </a:r>
            <a:r>
              <a:rPr lang="en-US" altLang="zh-CN" sz="2400" smtClean="0">
                <a:ea typeface="宋体" panose="02010600030101010101" pitchFamily="2" charset="-122"/>
                <a:sym typeface="+mn-ea"/>
              </a:rPr>
              <a:t>— </a:t>
            </a:r>
            <a:r>
              <a:rPr lang="en-US" altLang="zh-CN" sz="2400" smtClean="0">
                <a:sym typeface="+mn-ea"/>
              </a:rPr>
              <a:t>TestFile</a:t>
            </a:r>
            <a:r>
              <a:rPr lang="zh-CN" altLang="en-US" sz="2400" smtClean="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lnSpc>
                <a:spcPct val="80000"/>
              </a:lnSpc>
              <a:buFont typeface="Times"/>
              <a:buNone/>
            </a:pPr>
            <a:r>
              <a:rPr lang="en-US" altLang="zh-CN" sz="1200" smtClean="0">
                <a:sym typeface="+mn-ea"/>
              </a:rPr>
              <a:t>39             e.printStackTrace();</a:t>
            </a:r>
            <a:endParaRPr lang="en-US" altLang="zh-CN" sz="1200" smtClean="0"/>
          </a:p>
          <a:p>
            <a:pPr>
              <a:lnSpc>
                <a:spcPct val="80000"/>
              </a:lnSpc>
              <a:buFont typeface="Times"/>
              <a:buNone/>
            </a:pPr>
            <a:r>
              <a:rPr lang="en-US" altLang="zh-CN" sz="1200" smtClean="0">
                <a:sym typeface="+mn-ea"/>
              </a:rPr>
              <a:t>40         } finally {</a:t>
            </a:r>
            <a:endParaRPr lang="en-US" altLang="zh-CN" sz="1200" smtClean="0"/>
          </a:p>
          <a:p>
            <a:pPr>
              <a:lnSpc>
                <a:spcPct val="80000"/>
              </a:lnSpc>
              <a:buFont typeface="Times"/>
              <a:buNone/>
            </a:pPr>
            <a:r>
              <a:rPr lang="en-US" altLang="zh-CN" sz="1200" smtClean="0">
                <a:sym typeface="+mn-ea"/>
              </a:rPr>
              <a:t>41             if (br != null)    {</a:t>
            </a:r>
            <a:endParaRPr lang="en-US" altLang="zh-CN" sz="1200" smtClean="0"/>
          </a:p>
          <a:p>
            <a:pPr>
              <a:lnSpc>
                <a:spcPct val="80000"/>
              </a:lnSpc>
              <a:buFont typeface="Times"/>
              <a:buNone/>
            </a:pPr>
            <a:r>
              <a:rPr lang="en-US" altLang="zh-CN" sz="1200" smtClean="0">
                <a:sym typeface="+mn-ea"/>
              </a:rPr>
              <a:t>42                 try {</a:t>
            </a:r>
            <a:endParaRPr lang="en-US" altLang="zh-CN" sz="1200" smtClean="0"/>
          </a:p>
          <a:p>
            <a:pPr>
              <a:lnSpc>
                <a:spcPct val="80000"/>
              </a:lnSpc>
              <a:buFont typeface="Times"/>
              <a:buNone/>
            </a:pPr>
            <a:r>
              <a:rPr lang="en-US" altLang="zh-CN" sz="1200" smtClean="0">
                <a:sym typeface="+mn-ea"/>
              </a:rPr>
              <a:t>43                     br.close();</a:t>
            </a:r>
            <a:endParaRPr lang="en-US" altLang="zh-CN" sz="1200" smtClean="0"/>
          </a:p>
          <a:p>
            <a:pPr>
              <a:lnSpc>
                <a:spcPct val="80000"/>
              </a:lnSpc>
              <a:buFont typeface="Times"/>
              <a:buNone/>
            </a:pPr>
            <a:r>
              <a:rPr lang="en-US" altLang="zh-CN" sz="1200" smtClean="0">
                <a:sym typeface="+mn-ea"/>
              </a:rPr>
              <a:t>44                 } catch (IOException e) {</a:t>
            </a:r>
            <a:endParaRPr lang="en-US" altLang="zh-CN" sz="1200" smtClean="0"/>
          </a:p>
          <a:p>
            <a:pPr>
              <a:lnSpc>
                <a:spcPct val="80000"/>
              </a:lnSpc>
              <a:buFont typeface="Times"/>
              <a:buNone/>
            </a:pPr>
            <a:r>
              <a:rPr lang="en-US" altLang="zh-CN" sz="1200" smtClean="0">
                <a:sym typeface="+mn-ea"/>
              </a:rPr>
              <a:t>45                 }</a:t>
            </a:r>
            <a:endParaRPr lang="en-US" altLang="zh-CN" sz="1200" smtClean="0"/>
          </a:p>
          <a:p>
            <a:pPr>
              <a:lnSpc>
                <a:spcPct val="80000"/>
              </a:lnSpc>
              <a:buFont typeface="Times"/>
              <a:buNone/>
            </a:pPr>
            <a:r>
              <a:rPr lang="en-US" altLang="zh-CN" sz="1200" smtClean="0">
                <a:sym typeface="+mn-ea"/>
              </a:rPr>
              <a:t>46             }</a:t>
            </a:r>
            <a:endParaRPr lang="en-US" altLang="zh-CN" sz="1200" smtClean="0"/>
          </a:p>
          <a:p>
            <a:pPr>
              <a:lnSpc>
                <a:spcPct val="80000"/>
              </a:lnSpc>
              <a:buFont typeface="Times"/>
              <a:buNone/>
            </a:pPr>
            <a:r>
              <a:rPr lang="en-US" altLang="zh-CN" sz="1200" smtClean="0">
                <a:sym typeface="+mn-ea"/>
              </a:rPr>
              <a:t>47 </a:t>
            </a:r>
            <a:endParaRPr lang="en-US" altLang="zh-CN" sz="1200" smtClean="0"/>
          </a:p>
          <a:p>
            <a:pPr>
              <a:lnSpc>
                <a:spcPct val="80000"/>
              </a:lnSpc>
              <a:buFont typeface="Times"/>
              <a:buNone/>
            </a:pPr>
            <a:r>
              <a:rPr lang="en-US" altLang="zh-CN" sz="1200" smtClean="0">
                <a:sym typeface="+mn-ea"/>
              </a:rPr>
              <a:t>48             if (fr != null)    {</a:t>
            </a:r>
            <a:endParaRPr lang="en-US" altLang="zh-CN" sz="1200" smtClean="0"/>
          </a:p>
          <a:p>
            <a:pPr>
              <a:lnSpc>
                <a:spcPct val="80000"/>
              </a:lnSpc>
              <a:buFont typeface="Times"/>
              <a:buNone/>
            </a:pPr>
            <a:r>
              <a:rPr lang="en-US" altLang="zh-CN" sz="1200" smtClean="0">
                <a:sym typeface="+mn-ea"/>
              </a:rPr>
              <a:t>49                 try {</a:t>
            </a:r>
            <a:endParaRPr lang="en-US" altLang="zh-CN" sz="1200" smtClean="0"/>
          </a:p>
          <a:p>
            <a:pPr>
              <a:lnSpc>
                <a:spcPct val="80000"/>
              </a:lnSpc>
              <a:buFont typeface="Times"/>
              <a:buNone/>
            </a:pPr>
            <a:r>
              <a:rPr lang="en-US" altLang="zh-CN" sz="1200" smtClean="0">
                <a:sym typeface="+mn-ea"/>
              </a:rPr>
              <a:t>50                     fr.close();</a:t>
            </a:r>
            <a:endParaRPr lang="en-US" altLang="zh-CN" sz="1200" smtClean="0"/>
          </a:p>
          <a:p>
            <a:pPr>
              <a:lnSpc>
                <a:spcPct val="80000"/>
              </a:lnSpc>
              <a:buFont typeface="Times"/>
              <a:buNone/>
            </a:pPr>
            <a:r>
              <a:rPr lang="en-US" altLang="zh-CN" sz="1200" smtClean="0">
                <a:sym typeface="+mn-ea"/>
              </a:rPr>
              <a:t>51                 } catch (IOException e) {</a:t>
            </a:r>
            <a:endParaRPr lang="en-US" altLang="zh-CN" sz="1200" smtClean="0"/>
          </a:p>
          <a:p>
            <a:pPr>
              <a:lnSpc>
                <a:spcPct val="80000"/>
              </a:lnSpc>
              <a:buFont typeface="Times"/>
              <a:buNone/>
            </a:pPr>
            <a:r>
              <a:rPr lang="en-US" altLang="zh-CN" sz="1200" smtClean="0">
                <a:sym typeface="+mn-ea"/>
              </a:rPr>
              <a:t>52                 }</a:t>
            </a:r>
            <a:endParaRPr lang="en-US" altLang="zh-CN" sz="1200" smtClean="0"/>
          </a:p>
          <a:p>
            <a:pPr>
              <a:lnSpc>
                <a:spcPct val="80000"/>
              </a:lnSpc>
              <a:buFont typeface="Times"/>
              <a:buNone/>
            </a:pPr>
            <a:r>
              <a:rPr lang="en-US" altLang="zh-CN" sz="1200" smtClean="0">
                <a:sym typeface="+mn-ea"/>
              </a:rPr>
              <a:t>53             }</a:t>
            </a:r>
            <a:endParaRPr lang="en-US" altLang="zh-CN" sz="1200" smtClean="0"/>
          </a:p>
          <a:p>
            <a:pPr>
              <a:lnSpc>
                <a:spcPct val="80000"/>
              </a:lnSpc>
              <a:buFont typeface="Times"/>
              <a:buNone/>
            </a:pPr>
            <a:r>
              <a:rPr lang="en-US" altLang="zh-CN" sz="1200" smtClean="0">
                <a:sym typeface="+mn-ea"/>
              </a:rPr>
              <a:t>54         }</a:t>
            </a:r>
            <a:endParaRPr lang="en-US" altLang="zh-CN" sz="1200" smtClean="0"/>
          </a:p>
          <a:p>
            <a:pPr>
              <a:lnSpc>
                <a:spcPct val="80000"/>
              </a:lnSpc>
              <a:buFont typeface="Times"/>
              <a:buNone/>
            </a:pPr>
            <a:r>
              <a:rPr lang="en-US" altLang="zh-CN" sz="1200" smtClean="0">
                <a:sym typeface="+mn-ea"/>
              </a:rPr>
              <a:t>55     }</a:t>
            </a:r>
            <a:endParaRPr lang="en-US" altLang="zh-CN" sz="1200" smtClean="0"/>
          </a:p>
          <a:p>
            <a:pPr>
              <a:lnSpc>
                <a:spcPct val="80000"/>
              </a:lnSpc>
              <a:buFont typeface="Times"/>
              <a:buNone/>
            </a:pPr>
            <a:r>
              <a:rPr lang="en-US" altLang="zh-CN" sz="1200" smtClean="0">
                <a:sym typeface="+mn-ea"/>
              </a:rPr>
              <a:t>56 }</a:t>
            </a:r>
            <a:endParaRPr lang="en-US" altLang="zh-CN" sz="1200" dirty="0" smtClean="0">
              <a:solidFill>
                <a:srgbClr val="002060"/>
              </a:solidFill>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编写程序，在main方法中，在当前目录</a:t>
            </a:r>
            <a:r>
              <a:rPr lang="en-US" altLang="zh-CN" sz="2000" smtClean="0">
                <a:ea typeface="宋体" panose="02010600030101010101" pitchFamily="2" charset="-122"/>
                <a:sym typeface="+mn-ea"/>
              </a:rPr>
              <a:t>src</a:t>
            </a:r>
            <a:r>
              <a:rPr lang="zh-CN" altLang="en-US" sz="2000" smtClean="0">
                <a:ea typeface="宋体" panose="02010600030101010101" pitchFamily="2" charset="-122"/>
                <a:sym typeface="+mn-ea"/>
              </a:rPr>
              <a:t>下创建一个新目录newDir；</a:t>
            </a:r>
            <a:endParaRPr lang="zh-CN" altLang="en-US" sz="2000" smtClean="0">
              <a:ea typeface="宋体" panose="02010600030101010101" pitchFamily="2" charset="-122"/>
            </a:endParaRPr>
          </a:p>
          <a:p>
            <a:pPr marL="457200" lvl="2" indent="-457200" algn="l">
              <a:lnSpc>
                <a:spcPct val="11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获取当前目录中所有文件列表信息，把这些信息写到目录newDir中的info.txt文件中。</a:t>
            </a:r>
            <a:endParaRPr lang="zh-CN" altLang="en-US" sz="2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01600" y="3137535"/>
            <a:ext cx="1179195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第二节 </a:t>
            </a:r>
            <a:r>
              <a:rPr lang="zh-CN" altLang="en-US" sz="6665" dirty="0">
                <a:solidFill>
                  <a:schemeClr val="bg1"/>
                </a:solidFill>
                <a:latin typeface="Arial" panose="020B0604020202020204" pitchFamily="34" charset="0"/>
                <a:ea typeface="宋体" panose="02010600030101010101" pitchFamily="2" charset="-122"/>
                <a:sym typeface="+mn-ea"/>
              </a:rPr>
              <a:t>控制台I/O</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控制台</a:t>
            </a:r>
            <a:r>
              <a:rPr lang="en-US" altLang="zh-CN" sz="2400" smtClean="0">
                <a:ea typeface="宋体" panose="02010600030101010101" pitchFamily="2" charset="-122"/>
                <a:sym typeface="+mn-ea"/>
              </a:rPr>
              <a:t>I/O</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5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控制台 — 标准输入、输出和错误设备，如键盘、显示器，错误设备通常也是显示器。</a:t>
            </a:r>
            <a:endParaRPr lang="zh-CN" altLang="en-US" sz="2000" smtClean="0">
              <a:ea typeface="宋体" panose="02010600030101010101" pitchFamily="2" charset="-122"/>
            </a:endParaRPr>
          </a:p>
          <a:p>
            <a:pPr marL="457200" lvl="2" indent="-457200" algn="l">
              <a:lnSpc>
                <a:spcPct val="15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使用System.out（ PrintStream 类型）可以将数据写至标准输出设备（显示器）。</a:t>
            </a:r>
            <a:endParaRPr lang="zh-CN" altLang="en-US" sz="2000" smtClean="0">
              <a:ea typeface="宋体" panose="02010600030101010101" pitchFamily="2" charset="-122"/>
            </a:endParaRPr>
          </a:p>
          <a:p>
            <a:pPr marL="457200" lvl="2" indent="-457200" algn="l">
              <a:lnSpc>
                <a:spcPct val="15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使用System.in（ InputStream类型）可以从标准输入设备（键盘）读取数据。</a:t>
            </a:r>
            <a:endParaRPr lang="zh-CN" altLang="en-US" sz="2000" smtClean="0">
              <a:ea typeface="宋体" panose="02010600030101010101" pitchFamily="2" charset="-122"/>
            </a:endParaRPr>
          </a:p>
          <a:p>
            <a:pPr marL="457200" lvl="2" indent="-457200" algn="l">
              <a:lnSpc>
                <a:spcPct val="15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使用System.err（PrintStream 类型）可以将数据写至标准错误设备（显示器）。</a:t>
            </a:r>
            <a:endParaRPr lang="zh-CN" altLang="en-US" sz="2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将字节流转换为字符流</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5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System.in是标准的字节流（ InputStream类型），在使用时，可将其转换为字符流对象。</a:t>
            </a:r>
            <a:endParaRPr lang="zh-CN" altLang="en-US" sz="2000" smtClean="0">
              <a:ea typeface="宋体" panose="02010600030101010101" pitchFamily="2" charset="-122"/>
            </a:endParaRPr>
          </a:p>
          <a:p>
            <a:pPr marL="457200" lvl="2" indent="-457200" algn="l">
              <a:lnSpc>
                <a:spcPct val="15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InputStreamReader可用来将输入字节流转换为输入字符流。</a:t>
            </a:r>
            <a:endParaRPr lang="zh-CN" altLang="en-US" sz="2000" smtClean="0">
              <a:ea typeface="宋体" panose="02010600030101010101" pitchFamily="2" charset="-122"/>
            </a:endParaRPr>
          </a:p>
          <a:p>
            <a:pPr marL="361950" indent="-361950">
              <a:buFont typeface="Times"/>
              <a:buNone/>
              <a:defRPr/>
            </a:pPr>
            <a:r>
              <a:rPr lang="en-US" altLang="zh-CN" sz="2000" dirty="0" smtClean="0">
                <a:ea typeface="宋体" panose="02010600030101010101" pitchFamily="2" charset="-122"/>
                <a:sym typeface="+mn-ea"/>
              </a:rPr>
              <a:t>	 </a:t>
            </a:r>
            <a:r>
              <a:rPr lang="zh-CN" altLang="en-US" sz="2000" dirty="0" smtClean="0">
                <a:solidFill>
                  <a:srgbClr val="ED7D31"/>
                </a:solidFill>
                <a:ea typeface="宋体" panose="02010600030101010101" pitchFamily="2" charset="-122"/>
                <a:sym typeface="+mn-ea"/>
              </a:rPr>
              <a:t>例如，下列代码将字节流转换为字符流：</a:t>
            </a:r>
            <a:endParaRPr lang="zh-CN" altLang="en-US" sz="2000" dirty="0" smtClean="0">
              <a:solidFill>
                <a:srgbClr val="ED7D31"/>
              </a:solidFill>
              <a:ea typeface="宋体" panose="02010600030101010101" pitchFamily="2" charset="-122"/>
            </a:endParaRPr>
          </a:p>
          <a:p>
            <a:pPr marL="361950" indent="-361950">
              <a:buFont typeface="Times"/>
              <a:buNone/>
              <a:defRPr/>
            </a:pPr>
            <a:r>
              <a:rPr lang="en-US" altLang="zh-CN" sz="2000" dirty="0" smtClean="0">
                <a:solidFill>
                  <a:srgbClr val="ED7D31"/>
                </a:solidFill>
                <a:latin typeface="+mj-lt"/>
                <a:ea typeface="宋体" panose="02010600030101010101" pitchFamily="2" charset="-122"/>
                <a:sym typeface="+mn-ea"/>
              </a:rPr>
              <a:t>	</a:t>
            </a:r>
            <a:r>
              <a:rPr lang="en-US" altLang="zh-CN" sz="2000" dirty="0" smtClean="0">
                <a:solidFill>
                  <a:srgbClr val="ED7D31"/>
                </a:solidFill>
                <a:sym typeface="+mn-ea"/>
              </a:rPr>
              <a:t> </a:t>
            </a:r>
            <a:r>
              <a:rPr lang="en-US" altLang="zh-CN" sz="2000" dirty="0" err="1" smtClean="0">
                <a:solidFill>
                  <a:srgbClr val="ED7D31"/>
                </a:solidFill>
                <a:sym typeface="+mn-ea"/>
              </a:rPr>
              <a:t>InputStreamReader</a:t>
            </a:r>
            <a:r>
              <a:rPr lang="en-US" altLang="zh-CN" sz="2000" dirty="0" smtClean="0">
                <a:solidFill>
                  <a:srgbClr val="ED7D31"/>
                </a:solidFill>
                <a:sym typeface="+mn-ea"/>
              </a:rPr>
              <a:t> </a:t>
            </a:r>
            <a:r>
              <a:rPr lang="en-US" altLang="zh-CN" sz="2000" dirty="0" err="1" smtClean="0">
                <a:solidFill>
                  <a:srgbClr val="ED7D31"/>
                </a:solidFill>
                <a:sym typeface="+mn-ea"/>
              </a:rPr>
              <a:t>isr</a:t>
            </a:r>
            <a:r>
              <a:rPr lang="en-US" altLang="zh-CN" sz="2000" dirty="0" smtClean="0">
                <a:solidFill>
                  <a:srgbClr val="ED7D31"/>
                </a:solidFill>
                <a:sym typeface="+mn-ea"/>
              </a:rPr>
              <a:t> = new </a:t>
            </a:r>
            <a:r>
              <a:rPr lang="en-US" altLang="zh-CN" sz="2000" dirty="0" err="1" smtClean="0">
                <a:solidFill>
                  <a:srgbClr val="ED7D31"/>
                </a:solidFill>
                <a:sym typeface="+mn-ea"/>
              </a:rPr>
              <a:t>InputStreamReader</a:t>
            </a:r>
            <a:r>
              <a:rPr lang="en-US" altLang="zh-CN" sz="2000" dirty="0" smtClean="0">
                <a:solidFill>
                  <a:srgbClr val="ED7D31"/>
                </a:solidFill>
                <a:sym typeface="+mn-ea"/>
              </a:rPr>
              <a:t>(</a:t>
            </a:r>
            <a:r>
              <a:rPr lang="en-US" altLang="zh-CN" sz="2000" dirty="0" err="1" smtClean="0">
                <a:solidFill>
                  <a:srgbClr val="ED7D31"/>
                </a:solidFill>
                <a:ea typeface="宋体" panose="02010600030101010101" pitchFamily="2" charset="-122"/>
                <a:sym typeface="+mn-ea"/>
              </a:rPr>
              <a:t>System.in</a:t>
            </a:r>
            <a:r>
              <a:rPr lang="en-US" altLang="zh-CN" sz="2000" dirty="0" smtClean="0">
                <a:solidFill>
                  <a:srgbClr val="ED7D31"/>
                </a:solidFill>
                <a:sym typeface="+mn-ea"/>
              </a:rPr>
              <a:t>);</a:t>
            </a:r>
            <a:endParaRPr lang="en-US" altLang="zh-CN" sz="2000" dirty="0" smtClean="0">
              <a:solidFill>
                <a:srgbClr val="ED7D31"/>
              </a:solidFill>
              <a:latin typeface="+mj-lt"/>
              <a:ea typeface="宋体" panose="02010600030101010101" pitchFamily="2" charset="-122"/>
            </a:endParaRPr>
          </a:p>
          <a:p>
            <a:pPr marL="457200" lvl="2" indent="-457200" algn="l">
              <a:lnSpc>
                <a:spcPct val="150000"/>
              </a:lnSpc>
              <a:spcBef>
                <a:spcPts val="1000"/>
              </a:spcBef>
              <a:buClr>
                <a:srgbClr val="ED7D31"/>
              </a:buClr>
              <a:buSzTx/>
              <a:buFont typeface="+mj-lt"/>
              <a:buAutoNum type="arabicPeriod" startAt="3"/>
            </a:pPr>
            <a:r>
              <a:rPr lang="zh-CN" altLang="en-US" sz="2000" smtClean="0">
                <a:ea typeface="宋体" panose="02010600030101010101" pitchFamily="2" charset="-122"/>
                <a:sym typeface="+mn-ea"/>
              </a:rPr>
              <a:t>OutputStreamWriter 可用来将输出字节流转换为输出字符流。</a:t>
            </a:r>
            <a:endParaRPr lang="zh-CN" altLang="en-US" sz="2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控制台</a:t>
            </a:r>
            <a:r>
              <a:rPr lang="en-US" altLang="zh-CN" sz="2400" dirty="0" smtClean="0">
                <a:ea typeface="宋体" panose="02010600030101010101" pitchFamily="2" charset="-122"/>
                <a:sym typeface="+mn-ea"/>
              </a:rPr>
              <a:t>I/O</a:t>
            </a:r>
            <a:r>
              <a:rPr lang="zh-CN" altLang="en-US" sz="2400" dirty="0" smtClean="0">
                <a:ea typeface="宋体" panose="02010600030101010101" pitchFamily="2" charset="-122"/>
                <a:sym typeface="+mn-ea"/>
              </a:rPr>
              <a:t>示例 </a:t>
            </a:r>
            <a:r>
              <a:rPr lang="en-US" altLang="zh-CN" sz="2400" dirty="0" smtClean="0">
                <a:ea typeface="宋体" panose="02010600030101010101" pitchFamily="2" charset="-122"/>
                <a:sym typeface="+mn-ea"/>
              </a:rPr>
              <a:t>— </a:t>
            </a:r>
            <a:r>
              <a:rPr lang="en-US" altLang="zh-CN" sz="2400" dirty="0" err="1" smtClean="0">
                <a:sym typeface="+mn-ea"/>
              </a:rPr>
              <a:t>TestConsole</a:t>
            </a:r>
            <a:r>
              <a:rPr lang="zh-CN" altLang="en-US" sz="2400" dirty="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lnSpc>
                <a:spcPct val="80000"/>
              </a:lnSpc>
              <a:buFont typeface="Times"/>
              <a:buNone/>
            </a:pPr>
            <a:r>
              <a:rPr lang="en-US" altLang="zh-CN" sz="1400" smtClean="0">
                <a:sym typeface="+mn-ea"/>
              </a:rPr>
              <a:t>1  import java.io.*;</a:t>
            </a:r>
            <a:endParaRPr lang="en-US" altLang="zh-CN" sz="1400" smtClean="0"/>
          </a:p>
          <a:p>
            <a:pPr>
              <a:lnSpc>
                <a:spcPct val="80000"/>
              </a:lnSpc>
              <a:buFont typeface="Times"/>
              <a:buNone/>
            </a:pPr>
            <a:r>
              <a:rPr lang="en-US" altLang="zh-CN" sz="1400" smtClean="0">
                <a:sym typeface="+mn-ea"/>
              </a:rPr>
              <a:t>2  </a:t>
            </a:r>
            <a:endParaRPr lang="en-US" altLang="zh-CN" sz="1400" smtClean="0"/>
          </a:p>
          <a:p>
            <a:pPr>
              <a:lnSpc>
                <a:spcPct val="80000"/>
              </a:lnSpc>
              <a:buFont typeface="Times"/>
              <a:buNone/>
            </a:pPr>
            <a:r>
              <a:rPr lang="en-US" altLang="zh-CN" sz="1400" smtClean="0">
                <a:sym typeface="+mn-ea"/>
              </a:rPr>
              <a:t>3  public class TestConsole {</a:t>
            </a:r>
            <a:endParaRPr lang="en-US" altLang="zh-CN" sz="1400" smtClean="0"/>
          </a:p>
          <a:p>
            <a:pPr>
              <a:lnSpc>
                <a:spcPct val="80000"/>
              </a:lnSpc>
              <a:buFont typeface="Times"/>
              <a:buNone/>
            </a:pPr>
            <a:r>
              <a:rPr lang="en-US" altLang="zh-CN" sz="1400" smtClean="0">
                <a:sym typeface="+mn-ea"/>
              </a:rPr>
              <a:t>4      public static void main(String[] args) {</a:t>
            </a:r>
            <a:endParaRPr lang="en-US" altLang="zh-CN" sz="1400" smtClean="0"/>
          </a:p>
          <a:p>
            <a:pPr>
              <a:lnSpc>
                <a:spcPct val="80000"/>
              </a:lnSpc>
              <a:buFont typeface="Times"/>
              <a:buNone/>
            </a:pPr>
            <a:r>
              <a:rPr lang="en-US" altLang="zh-CN" sz="1400" smtClean="0">
                <a:sym typeface="+mn-ea"/>
              </a:rPr>
              <a:t>5          System.out.println("hello");          </a:t>
            </a:r>
            <a:endParaRPr lang="zh-CN" altLang="en-US" sz="1400" smtClean="0"/>
          </a:p>
          <a:p>
            <a:pPr>
              <a:lnSpc>
                <a:spcPct val="80000"/>
              </a:lnSpc>
              <a:buFont typeface="Times"/>
              <a:buNone/>
            </a:pPr>
            <a:r>
              <a:rPr lang="en-US" altLang="zh-CN" sz="1400" smtClean="0">
                <a:sym typeface="+mn-ea"/>
              </a:rPr>
              <a:t>6          System.err.println("hello err");     </a:t>
            </a:r>
            <a:endParaRPr lang="zh-CN" altLang="en-US" sz="1400" smtClean="0"/>
          </a:p>
          <a:p>
            <a:pPr>
              <a:lnSpc>
                <a:spcPct val="80000"/>
              </a:lnSpc>
              <a:buFont typeface="Times"/>
              <a:buNone/>
            </a:pPr>
            <a:r>
              <a:rPr lang="en-US" altLang="zh-CN" sz="1400" smtClean="0">
                <a:sym typeface="+mn-ea"/>
              </a:rPr>
              <a:t>7  </a:t>
            </a:r>
            <a:endParaRPr lang="en-US" altLang="zh-CN" sz="1400" smtClean="0"/>
          </a:p>
          <a:p>
            <a:pPr>
              <a:lnSpc>
                <a:spcPct val="80000"/>
              </a:lnSpc>
              <a:buFont typeface="Times"/>
              <a:buNone/>
            </a:pPr>
            <a:r>
              <a:rPr lang="en-US" altLang="zh-CN" sz="1400" smtClean="0">
                <a:sym typeface="+mn-ea"/>
              </a:rPr>
              <a:t>8          InputStream is = System.in;          </a:t>
            </a:r>
            <a:endParaRPr lang="zh-CN" altLang="en-US" sz="1400" smtClean="0"/>
          </a:p>
          <a:p>
            <a:pPr>
              <a:lnSpc>
                <a:spcPct val="80000"/>
              </a:lnSpc>
              <a:buFont typeface="Times"/>
              <a:buNone/>
            </a:pPr>
            <a:r>
              <a:rPr lang="en-US" altLang="zh-CN" sz="1400" smtClean="0">
                <a:sym typeface="+mn-ea"/>
              </a:rPr>
              <a:t>9          InputStreamReader isr = new InputStreamReader(is);</a:t>
            </a:r>
            <a:endParaRPr lang="en-US" altLang="zh-CN" sz="1400" smtClean="0"/>
          </a:p>
          <a:p>
            <a:pPr>
              <a:lnSpc>
                <a:spcPct val="80000"/>
              </a:lnSpc>
              <a:buFont typeface="Times"/>
              <a:buNone/>
            </a:pPr>
            <a:r>
              <a:rPr lang="en-US" altLang="zh-CN" sz="1400" smtClean="0">
                <a:sym typeface="+mn-ea"/>
              </a:rPr>
              <a:t>10         BufferedReader br = new BufferedReader(isr);</a:t>
            </a:r>
            <a:endParaRPr lang="en-US" altLang="zh-CN" sz="1400" smtClean="0"/>
          </a:p>
          <a:p>
            <a:pPr>
              <a:lnSpc>
                <a:spcPct val="80000"/>
              </a:lnSpc>
              <a:buFont typeface="Times"/>
              <a:buNone/>
            </a:pPr>
            <a:r>
              <a:rPr lang="en-US" altLang="zh-CN" sz="1400" smtClean="0">
                <a:sym typeface="+mn-ea"/>
              </a:rPr>
              <a:t>11         try {</a:t>
            </a:r>
            <a:endParaRPr lang="en-US" altLang="zh-CN" sz="1400" smtClean="0"/>
          </a:p>
          <a:p>
            <a:pPr>
              <a:lnSpc>
                <a:spcPct val="80000"/>
              </a:lnSpc>
              <a:buFont typeface="Times"/>
              <a:buNone/>
            </a:pPr>
            <a:r>
              <a:rPr lang="en-US" altLang="zh-CN" sz="1400" smtClean="0">
                <a:sym typeface="+mn-ea"/>
              </a:rPr>
              <a:t>12             String line = br.readLine();</a:t>
            </a:r>
            <a:endParaRPr lang="en-US" altLang="zh-CN" sz="1400" smtClean="0"/>
          </a:p>
          <a:p>
            <a:pPr>
              <a:lnSpc>
                <a:spcPct val="80000"/>
              </a:lnSpc>
              <a:buFont typeface="Times"/>
              <a:buNone/>
            </a:pPr>
            <a:r>
              <a:rPr lang="en-US" altLang="zh-CN" sz="1400" smtClean="0">
                <a:sym typeface="+mn-ea"/>
              </a:rPr>
              <a:t>13             while(!info.equals("exit")){</a:t>
            </a:r>
            <a:endParaRPr lang="en-US" altLang="zh-CN" sz="1400" smtClean="0">
              <a:sym typeface="+mn-ea"/>
            </a:endParaRPr>
          </a:p>
          <a:p>
            <a:pPr>
              <a:lnSpc>
                <a:spcPct val="80000"/>
              </a:lnSpc>
              <a:buFont typeface="Times"/>
              <a:buNone/>
            </a:pPr>
            <a:r>
              <a:rPr lang="en-US" altLang="zh-CN" sz="1400" smtClean="0">
                <a:sym typeface="+mn-ea"/>
              </a:rPr>
              <a:t>14                 System.out.println("---" + line);</a:t>
            </a:r>
            <a:endParaRPr lang="en-US" altLang="zh-CN" sz="1400" smtClean="0"/>
          </a:p>
          <a:p>
            <a:pPr>
              <a:lnSpc>
                <a:spcPct val="80000"/>
              </a:lnSpc>
              <a:buFont typeface="Times"/>
              <a:buNone/>
            </a:pPr>
            <a:r>
              <a:rPr lang="en-US" altLang="zh-CN" sz="1400" smtClean="0">
                <a:sym typeface="+mn-ea"/>
              </a:rPr>
              <a:t>15                 line = br.readLine();             </a:t>
            </a:r>
            <a:endParaRPr lang="en-US" altLang="zh-CN" sz="1400" smtClean="0"/>
          </a:p>
          <a:p>
            <a:pPr>
              <a:lnSpc>
                <a:spcPct val="80000"/>
              </a:lnSpc>
              <a:buFont typeface="Times"/>
              <a:buNone/>
            </a:pPr>
            <a:r>
              <a:rPr lang="en-US" altLang="zh-CN" sz="1400" smtClean="0">
                <a:sym typeface="+mn-ea"/>
              </a:rPr>
              <a:t>16             }</a:t>
            </a:r>
            <a:endParaRPr lang="en-US" altLang="zh-CN" sz="1400" smtClean="0"/>
          </a:p>
          <a:p>
            <a:pPr>
              <a:lnSpc>
                <a:spcPct val="80000"/>
              </a:lnSpc>
              <a:buFont typeface="Times"/>
              <a:buNone/>
            </a:pPr>
            <a:r>
              <a:rPr lang="en-US" altLang="zh-CN" sz="1400" smtClean="0">
                <a:sym typeface="+mn-ea"/>
              </a:rPr>
              <a:t>17         } catch (IOException e) {</a:t>
            </a:r>
            <a:endParaRPr lang="en-US" altLang="zh-CN" sz="1400" smtClean="0"/>
          </a:p>
          <a:p>
            <a:pPr>
              <a:lnSpc>
                <a:spcPct val="80000"/>
              </a:lnSpc>
              <a:buFont typeface="Times"/>
              <a:buNone/>
            </a:pPr>
            <a:r>
              <a:rPr lang="en-US" altLang="zh-CN" sz="1400" smtClean="0">
                <a:sym typeface="+mn-ea"/>
              </a:rPr>
              <a:t>18             e.printStackTrace();</a:t>
            </a:r>
            <a:endParaRPr lang="en-US" altLang="zh-CN" sz="14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控制台</a:t>
            </a:r>
            <a:r>
              <a:rPr lang="en-US" altLang="zh-CN" sz="2400" dirty="0" smtClean="0">
                <a:ea typeface="宋体" panose="02010600030101010101" pitchFamily="2" charset="-122"/>
                <a:sym typeface="+mn-ea"/>
              </a:rPr>
              <a:t>I/O</a:t>
            </a:r>
            <a:r>
              <a:rPr lang="zh-CN" altLang="en-US" sz="2400" dirty="0" smtClean="0">
                <a:ea typeface="宋体" panose="02010600030101010101" pitchFamily="2" charset="-122"/>
                <a:sym typeface="+mn-ea"/>
              </a:rPr>
              <a:t>示例 </a:t>
            </a:r>
            <a:r>
              <a:rPr lang="en-US" altLang="zh-CN" sz="2400" dirty="0" smtClean="0">
                <a:ea typeface="宋体" panose="02010600030101010101" pitchFamily="2" charset="-122"/>
                <a:sym typeface="+mn-ea"/>
              </a:rPr>
              <a:t>— </a:t>
            </a:r>
            <a:r>
              <a:rPr lang="en-US" altLang="zh-CN" sz="2400" dirty="0" err="1" smtClean="0">
                <a:sym typeface="+mn-ea"/>
              </a:rPr>
              <a:t>TestConsole</a:t>
            </a:r>
            <a:r>
              <a:rPr lang="zh-CN" altLang="en-US" sz="2400" dirty="0" smtClean="0">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a:lnSpc>
                <a:spcPct val="80000"/>
              </a:lnSpc>
              <a:buFont typeface="Times"/>
              <a:buNone/>
            </a:pPr>
            <a:r>
              <a:rPr lang="en-US" altLang="zh-CN" sz="1400" dirty="0" smtClean="0">
                <a:sym typeface="+mn-ea"/>
              </a:rPr>
              <a:t>19         } finally {</a:t>
            </a:r>
            <a:endParaRPr lang="en-US" altLang="zh-CN" sz="1400" dirty="0" smtClean="0"/>
          </a:p>
          <a:p>
            <a:pPr>
              <a:lnSpc>
                <a:spcPct val="80000"/>
              </a:lnSpc>
              <a:buFont typeface="Times"/>
              <a:buNone/>
            </a:pPr>
            <a:r>
              <a:rPr lang="en-US" altLang="zh-CN" sz="1400" dirty="0" smtClean="0">
                <a:sym typeface="+mn-ea"/>
              </a:rPr>
              <a:t>20             if (</a:t>
            </a:r>
            <a:r>
              <a:rPr lang="en-US" altLang="zh-CN" sz="1400" dirty="0" err="1" smtClean="0">
                <a:sym typeface="+mn-ea"/>
              </a:rPr>
              <a:t>br</a:t>
            </a:r>
            <a:r>
              <a:rPr lang="en-US" altLang="zh-CN" sz="1400" dirty="0" smtClean="0">
                <a:sym typeface="+mn-ea"/>
              </a:rPr>
              <a:t> != null)    {</a:t>
            </a:r>
            <a:endParaRPr lang="en-US" altLang="zh-CN" sz="1400" dirty="0" smtClean="0"/>
          </a:p>
          <a:p>
            <a:pPr>
              <a:lnSpc>
                <a:spcPct val="80000"/>
              </a:lnSpc>
              <a:buFont typeface="Times"/>
              <a:buNone/>
            </a:pPr>
            <a:r>
              <a:rPr lang="en-US" altLang="zh-CN" sz="1400" dirty="0" smtClean="0">
                <a:sym typeface="+mn-ea"/>
              </a:rPr>
              <a:t>21                 try {</a:t>
            </a:r>
            <a:endParaRPr lang="en-US" altLang="zh-CN" sz="1400" dirty="0" smtClean="0"/>
          </a:p>
          <a:p>
            <a:pPr>
              <a:lnSpc>
                <a:spcPct val="80000"/>
              </a:lnSpc>
              <a:buFont typeface="Times"/>
              <a:buNone/>
            </a:pPr>
            <a:r>
              <a:rPr lang="en-US" altLang="zh-CN" sz="1400" dirty="0" smtClean="0">
                <a:sym typeface="+mn-ea"/>
              </a:rPr>
              <a:t>22                     </a:t>
            </a:r>
            <a:r>
              <a:rPr lang="en-US" altLang="zh-CN" sz="1400" dirty="0" err="1" smtClean="0">
                <a:sym typeface="+mn-ea"/>
              </a:rPr>
              <a:t>br.close</a:t>
            </a:r>
            <a:r>
              <a:rPr lang="en-US" altLang="zh-CN" sz="1400" dirty="0" smtClean="0">
                <a:sym typeface="+mn-ea"/>
              </a:rPr>
              <a:t>();</a:t>
            </a:r>
            <a:endParaRPr lang="en-US" altLang="zh-CN" sz="1400" dirty="0" smtClean="0"/>
          </a:p>
          <a:p>
            <a:pPr>
              <a:lnSpc>
                <a:spcPct val="80000"/>
              </a:lnSpc>
              <a:buFont typeface="Times"/>
              <a:buNone/>
            </a:pPr>
            <a:r>
              <a:rPr lang="en-US" altLang="zh-CN" sz="1400" dirty="0" smtClean="0">
                <a:sym typeface="+mn-ea"/>
              </a:rPr>
              <a:t>23                 } catch (</a:t>
            </a:r>
            <a:r>
              <a:rPr lang="en-US" altLang="zh-CN" sz="1400" dirty="0" err="1" smtClean="0">
                <a:sym typeface="+mn-ea"/>
              </a:rPr>
              <a:t>IOException</a:t>
            </a:r>
            <a:r>
              <a:rPr lang="en-US" altLang="zh-CN" sz="1400" dirty="0" smtClean="0">
                <a:sym typeface="+mn-ea"/>
              </a:rPr>
              <a:t> e) {</a:t>
            </a:r>
            <a:endParaRPr lang="en-US" altLang="zh-CN" sz="1400" dirty="0" smtClean="0"/>
          </a:p>
          <a:p>
            <a:pPr>
              <a:lnSpc>
                <a:spcPct val="80000"/>
              </a:lnSpc>
              <a:buFont typeface="Times"/>
              <a:buNone/>
            </a:pPr>
            <a:r>
              <a:rPr lang="en-US" altLang="zh-CN" sz="1400" dirty="0" smtClean="0">
                <a:sym typeface="+mn-ea"/>
              </a:rPr>
              <a:t>24                 }</a:t>
            </a:r>
            <a:endParaRPr lang="en-US" altLang="zh-CN" sz="1400" dirty="0" smtClean="0"/>
          </a:p>
          <a:p>
            <a:pPr>
              <a:lnSpc>
                <a:spcPct val="80000"/>
              </a:lnSpc>
              <a:buFont typeface="Times"/>
              <a:buNone/>
            </a:pPr>
            <a:r>
              <a:rPr lang="en-US" altLang="zh-CN" sz="1400" dirty="0" smtClean="0">
                <a:sym typeface="+mn-ea"/>
              </a:rPr>
              <a:t>25             }</a:t>
            </a:r>
            <a:endParaRPr lang="en-US" altLang="zh-CN" sz="1400" dirty="0" smtClean="0"/>
          </a:p>
          <a:p>
            <a:pPr>
              <a:lnSpc>
                <a:spcPct val="80000"/>
              </a:lnSpc>
              <a:buFont typeface="Times"/>
              <a:buNone/>
            </a:pPr>
            <a:r>
              <a:rPr lang="en-US" altLang="zh-CN" sz="1400" dirty="0" smtClean="0">
                <a:sym typeface="+mn-ea"/>
              </a:rPr>
              <a:t>26         }</a:t>
            </a:r>
            <a:endParaRPr lang="en-US" altLang="zh-CN" sz="1400" dirty="0" smtClean="0"/>
          </a:p>
          <a:p>
            <a:pPr>
              <a:lnSpc>
                <a:spcPct val="80000"/>
              </a:lnSpc>
              <a:buFont typeface="Times"/>
              <a:buNone/>
            </a:pPr>
            <a:r>
              <a:rPr lang="en-US" altLang="zh-CN" sz="1400" dirty="0" smtClean="0">
                <a:sym typeface="+mn-ea"/>
              </a:rPr>
              <a:t>27     }</a:t>
            </a:r>
            <a:endParaRPr lang="en-US" altLang="zh-CN" sz="1400" dirty="0" smtClean="0"/>
          </a:p>
          <a:p>
            <a:pPr>
              <a:lnSpc>
                <a:spcPct val="80000"/>
              </a:lnSpc>
              <a:buFont typeface="Times"/>
              <a:buNone/>
            </a:pPr>
            <a:r>
              <a:rPr lang="en-US" altLang="zh-CN" sz="1400" dirty="0" smtClean="0">
                <a:sym typeface="+mn-ea"/>
              </a:rPr>
              <a:t>28 }</a:t>
            </a:r>
            <a:endParaRPr lang="en-US" altLang="zh-CN" sz="14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5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编写程序，在main方法中读取键盘键入的10组数字，将这些数字保存在num.txt文件中；</a:t>
            </a:r>
            <a:endParaRPr lang="zh-CN" altLang="en-US" sz="2000" smtClean="0">
              <a:ea typeface="宋体" panose="02010600030101010101" pitchFamily="2" charset="-122"/>
            </a:endParaRPr>
          </a:p>
          <a:p>
            <a:pPr marL="457200" lvl="2" indent="-457200" algn="l">
              <a:lnSpc>
                <a:spcPct val="15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查看num.txt文件的内容，验证是否正确。</a:t>
            </a:r>
            <a:endParaRPr lang="zh-CN" altLang="en-US" sz="2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01600" y="3137535"/>
            <a:ext cx="1179195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第三节 </a:t>
            </a:r>
            <a:r>
              <a:rPr lang="zh-CN" altLang="en-US" sz="6665" dirty="0">
                <a:solidFill>
                  <a:schemeClr val="bg1"/>
                </a:solidFill>
                <a:latin typeface="Arial" panose="020B0604020202020204" pitchFamily="34" charset="0"/>
                <a:ea typeface="宋体" panose="02010600030101010101" pitchFamily="2" charset="-122"/>
                <a:sym typeface="+mn-ea"/>
              </a:rPr>
              <a:t>扫描器</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格式化输入</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3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java.util.Scanner类作为扫描器，支持简单的文本扫描输入。</a:t>
            </a:r>
            <a:endParaRPr lang="zh-CN" altLang="en-US" sz="2000" smtClean="0">
              <a:ea typeface="宋体" panose="02010600030101010101" pitchFamily="2" charset="-122"/>
            </a:endParaRPr>
          </a:p>
          <a:p>
            <a:pPr marL="457200" lvl="2" indent="-457200" algn="l">
              <a:lnSpc>
                <a:spcPct val="13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扫描器可以将被扫描目标中的内容按字段读取（各字段间由分隔符分隔），并解析为字符串或基本数据类型（如int、long、double等）。</a:t>
            </a:r>
            <a:endParaRPr lang="zh-CN" altLang="en-US" sz="2000" smtClean="0">
              <a:ea typeface="宋体" panose="02010600030101010101" pitchFamily="2" charset="-122"/>
            </a:endParaRPr>
          </a:p>
          <a:p>
            <a:pPr marL="457200" lvl="2" indent="-457200" algn="l">
              <a:lnSpc>
                <a:spcPct val="13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扫描目标可以是File对象、字节流、字符流或字符串。</a:t>
            </a:r>
            <a:endParaRPr lang="zh-CN" altLang="en-US" sz="2000" smtClean="0">
              <a:ea typeface="宋体" panose="02010600030101010101" pitchFamily="2" charset="-122"/>
            </a:endParaRPr>
          </a:p>
          <a:p>
            <a:pPr marL="457200" lvl="2" indent="-457200" algn="l">
              <a:lnSpc>
                <a:spcPct val="13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缺省情况下，&lt;空格&gt;、&lt;制表符&gt;、&lt;回车换行符&gt;均被视为分隔符。</a:t>
            </a:r>
            <a:endParaRPr lang="zh-CN" altLang="en-US" sz="2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格式化输入示例 </a:t>
            </a:r>
            <a:r>
              <a:rPr lang="en-US" altLang="zh-CN" sz="2400" dirty="0" smtClean="0">
                <a:ea typeface="宋体" panose="02010600030101010101" pitchFamily="2" charset="-122"/>
                <a:sym typeface="+mn-ea"/>
              </a:rPr>
              <a:t>— </a:t>
            </a:r>
            <a:r>
              <a:rPr lang="en-US" altLang="zh-CN" sz="2400" dirty="0" err="1" smtClean="0">
                <a:sym typeface="+mn-ea"/>
              </a:rPr>
              <a:t>TestScanner</a:t>
            </a:r>
            <a:r>
              <a:rPr lang="zh-CN" altLang="en-US" sz="2400" dirty="0" smtClean="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342900" indent="-342900">
              <a:lnSpc>
                <a:spcPct val="80000"/>
              </a:lnSpc>
              <a:buFont typeface="+mj-lt"/>
              <a:buAutoNum type="arabicPeriod"/>
            </a:pPr>
            <a:r>
              <a:rPr lang="en-US" altLang="zh-CN" sz="1400" smtClean="0">
                <a:sym typeface="+mn-ea"/>
              </a:rPr>
              <a:t>public class TestFile07 {</a:t>
            </a:r>
            <a:endParaRPr lang="en-US" altLang="zh-CN" sz="1400" smtClean="0">
              <a:sym typeface="+mn-ea"/>
            </a:endParaRPr>
          </a:p>
          <a:p>
            <a:pPr marL="342900" indent="-342900">
              <a:lnSpc>
                <a:spcPct val="80000"/>
              </a:lnSpc>
              <a:buFont typeface="+mj-lt"/>
              <a:buAutoNum type="arabicPeriod"/>
            </a:pPr>
            <a:r>
              <a:rPr lang="en-US" altLang="zh-CN" sz="1400" smtClean="0">
                <a:sym typeface="+mn-ea"/>
              </a:rPr>
              <a:t>    public static void main(String[] args) throws IOException {</a:t>
            </a:r>
            <a:endParaRPr lang="en-US" altLang="zh-CN" sz="1400" smtClean="0">
              <a:sym typeface="+mn-ea"/>
            </a:endParaRPr>
          </a:p>
          <a:p>
            <a:pPr marL="342900" indent="-342900">
              <a:lnSpc>
                <a:spcPct val="80000"/>
              </a:lnSpc>
              <a:buFont typeface="+mj-lt"/>
              <a:buAutoNum type="arabicPeriod"/>
            </a:pPr>
            <a:endParaRPr lang="en-US" altLang="zh-CN" sz="1400" smtClean="0">
              <a:sym typeface="+mn-ea"/>
            </a:endParaRPr>
          </a:p>
          <a:p>
            <a:pPr marL="342900" indent="-342900">
              <a:lnSpc>
                <a:spcPct val="80000"/>
              </a:lnSpc>
              <a:buFont typeface="+mj-lt"/>
              <a:buAutoNum type="arabicPeriod"/>
            </a:pPr>
            <a:r>
              <a:rPr lang="en-US" altLang="zh-CN" sz="1400" smtClean="0">
                <a:sym typeface="+mn-ea"/>
              </a:rPr>
              <a:t>       /* Scanner scanner = new Scanner(System.in);</a:t>
            </a:r>
            <a:endParaRPr lang="en-US" altLang="zh-CN" sz="1400" smtClean="0">
              <a:sym typeface="+mn-ea"/>
            </a:endParaRPr>
          </a:p>
          <a:p>
            <a:pPr marL="342900" indent="-342900">
              <a:lnSpc>
                <a:spcPct val="80000"/>
              </a:lnSpc>
              <a:buFont typeface="+mj-lt"/>
              <a:buAutoNum type="arabicPeriod"/>
            </a:pPr>
            <a:r>
              <a:rPr lang="en-US" altLang="zh-CN" sz="1400" smtClean="0">
                <a:sym typeface="+mn-ea"/>
              </a:rPr>
              <a:t>        String line = scanner.nextLine();</a:t>
            </a:r>
            <a:endParaRPr lang="en-US" altLang="zh-CN" sz="1400" smtClean="0">
              <a:sym typeface="+mn-ea"/>
            </a:endParaRPr>
          </a:p>
          <a:p>
            <a:pPr marL="342900" indent="-342900">
              <a:lnSpc>
                <a:spcPct val="80000"/>
              </a:lnSpc>
              <a:buFont typeface="+mj-lt"/>
              <a:buAutoNum type="arabicPeriod"/>
            </a:pPr>
            <a:r>
              <a:rPr lang="en-US" altLang="zh-CN" sz="1400" smtClean="0">
                <a:sym typeface="+mn-ea"/>
              </a:rPr>
              <a:t>        System.out.println(line);*/</a:t>
            </a:r>
            <a:endParaRPr lang="en-US" altLang="zh-CN" sz="1400" smtClean="0">
              <a:sym typeface="+mn-ea"/>
            </a:endParaRPr>
          </a:p>
          <a:p>
            <a:pPr marL="342900" indent="-342900">
              <a:lnSpc>
                <a:spcPct val="80000"/>
              </a:lnSpc>
              <a:buFont typeface="+mj-lt"/>
              <a:buAutoNum type="arabicPeriod"/>
            </a:pPr>
            <a:endParaRPr lang="en-US" altLang="zh-CN" sz="1400" smtClean="0">
              <a:sym typeface="+mn-ea"/>
            </a:endParaRPr>
          </a:p>
          <a:p>
            <a:pPr marL="342900" indent="-342900">
              <a:lnSpc>
                <a:spcPct val="80000"/>
              </a:lnSpc>
              <a:buFont typeface="+mj-lt"/>
              <a:buAutoNum type="arabicPeriod"/>
            </a:pPr>
            <a:r>
              <a:rPr lang="en-US" altLang="zh-CN" sz="1400" smtClean="0">
                <a:sym typeface="+mn-ea"/>
              </a:rPr>
              <a:t>        File file = new File("./day20/src/com/bjpowernode/newDir/info.txt");</a:t>
            </a:r>
            <a:endParaRPr lang="en-US" altLang="zh-CN" sz="1400" smtClean="0">
              <a:sym typeface="+mn-ea"/>
            </a:endParaRPr>
          </a:p>
          <a:p>
            <a:pPr marL="342900" indent="-342900">
              <a:lnSpc>
                <a:spcPct val="80000"/>
              </a:lnSpc>
              <a:buFont typeface="+mj-lt"/>
              <a:buAutoNum type="arabicPeriod"/>
            </a:pPr>
            <a:r>
              <a:rPr lang="en-US" altLang="zh-CN" sz="1400" smtClean="0">
                <a:sym typeface="+mn-ea"/>
              </a:rPr>
              <a:t>        Scanner scanner = new Scanner(file);</a:t>
            </a:r>
            <a:endParaRPr lang="en-US" altLang="zh-CN" sz="1400" smtClean="0">
              <a:sym typeface="+mn-ea"/>
            </a:endParaRPr>
          </a:p>
          <a:p>
            <a:pPr marL="342900" indent="-342900">
              <a:lnSpc>
                <a:spcPct val="80000"/>
              </a:lnSpc>
              <a:buFont typeface="+mj-lt"/>
              <a:buAutoNum type="arabicPeriod"/>
            </a:pPr>
            <a:r>
              <a:rPr lang="en-US" altLang="zh-CN" sz="1400" smtClean="0">
                <a:sym typeface="+mn-ea"/>
              </a:rPr>
              <a:t>        while (scanner.hasNext()){</a:t>
            </a:r>
            <a:endParaRPr lang="en-US" altLang="zh-CN" sz="1400" smtClean="0">
              <a:sym typeface="+mn-ea"/>
            </a:endParaRPr>
          </a:p>
          <a:p>
            <a:pPr marL="342900" indent="-342900">
              <a:lnSpc>
                <a:spcPct val="80000"/>
              </a:lnSpc>
              <a:buFont typeface="+mj-lt"/>
              <a:buAutoNum type="arabicPeriod"/>
            </a:pPr>
            <a:r>
              <a:rPr lang="en-US" altLang="zh-CN" sz="1400" smtClean="0">
                <a:sym typeface="+mn-ea"/>
              </a:rPr>
              <a:t>            System.out.println(scanner.next());</a:t>
            </a:r>
            <a:endParaRPr lang="en-US" altLang="zh-CN" sz="1400" smtClean="0">
              <a:sym typeface="+mn-ea"/>
            </a:endParaRPr>
          </a:p>
          <a:p>
            <a:pPr marL="342900" indent="-342900">
              <a:lnSpc>
                <a:spcPct val="80000"/>
              </a:lnSpc>
              <a:buFont typeface="+mj-lt"/>
              <a:buAutoNum type="arabicPeriod"/>
            </a:pPr>
            <a:r>
              <a:rPr lang="en-US" altLang="zh-CN" sz="1400" smtClean="0">
                <a:sym typeface="+mn-ea"/>
              </a:rPr>
              <a:t>        }</a:t>
            </a:r>
            <a:endParaRPr lang="en-US" altLang="zh-CN" sz="1400" smtClean="0">
              <a:sym typeface="+mn-ea"/>
            </a:endParaRPr>
          </a:p>
          <a:p>
            <a:pPr marL="342900" indent="-342900">
              <a:lnSpc>
                <a:spcPct val="80000"/>
              </a:lnSpc>
              <a:buFont typeface="+mj-lt"/>
              <a:buAutoNum type="arabicPeriod"/>
            </a:pPr>
            <a:r>
              <a:rPr lang="en-US" altLang="zh-CN" sz="1400" smtClean="0">
                <a:sym typeface="+mn-ea"/>
              </a:rPr>
              <a:t>        scanner.close();</a:t>
            </a:r>
            <a:endParaRPr lang="en-US" altLang="zh-CN" sz="1400" smtClean="0">
              <a:sym typeface="+mn-ea"/>
            </a:endParaRPr>
          </a:p>
          <a:p>
            <a:pPr marL="342900" indent="-342900">
              <a:lnSpc>
                <a:spcPct val="80000"/>
              </a:lnSpc>
              <a:buFont typeface="+mj-lt"/>
              <a:buAutoNum type="arabicPeriod"/>
            </a:pPr>
            <a:r>
              <a:rPr lang="en-US" altLang="zh-CN" sz="1400" smtClean="0">
                <a:sym typeface="+mn-ea"/>
              </a:rPr>
              <a:t>    }</a:t>
            </a:r>
            <a:endParaRPr lang="en-US" altLang="zh-CN" sz="1400" smtClean="0">
              <a:sym typeface="+mn-ea"/>
            </a:endParaRPr>
          </a:p>
          <a:p>
            <a:pPr marL="342900" indent="-342900">
              <a:lnSpc>
                <a:spcPct val="80000"/>
              </a:lnSpc>
              <a:buFont typeface="+mj-lt"/>
              <a:buAutoNum type="arabicPeriod"/>
            </a:pPr>
            <a:r>
              <a:rPr lang="en-US" altLang="zh-CN" sz="1400" smtClean="0">
                <a:sym typeface="+mn-ea"/>
              </a:rPr>
              <a:t>}</a:t>
            </a:r>
            <a:endParaRPr lang="en-US" altLang="zh-CN" sz="1400" smtClean="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pic>
        <p:nvPicPr>
          <p:cNvPr id="6" name="图片 5" descr="5d0495981e06a4beefc1a7ac3c41024d"/>
          <p:cNvPicPr>
            <a:picLocks noChangeAspect="1"/>
          </p:cNvPicPr>
          <p:nvPr>
            <p:custDataLst>
              <p:tags r:id="rId1"/>
            </p:custDataLst>
          </p:nvPr>
        </p:nvPicPr>
        <p:blipFill>
          <a:blip r:embed="rId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3"/>
            </p:custDataLst>
          </p:nvPr>
        </p:nvPicPr>
        <p:blipFill>
          <a:blip r:embed="rId2"/>
          <a:srcRect l="30697"/>
          <a:stretch>
            <a:fillRect/>
          </a:stretch>
        </p:blipFill>
        <p:spPr>
          <a:xfrm>
            <a:off x="8673465" y="-348615"/>
            <a:ext cx="5215255" cy="1497965"/>
          </a:xfrm>
          <a:prstGeom prst="rect">
            <a:avLst/>
          </a:prstGeom>
        </p:spPr>
      </p:pic>
      <p:sp>
        <p:nvSpPr>
          <p:cNvPr id="24" name="直角三角形 23"/>
          <p:cNvSpPr/>
          <p:nvPr>
            <p:custDataLst>
              <p:tags r:id="rId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4209415" y="1847215"/>
            <a:ext cx="0" cy="315595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1167765" y="2648585"/>
            <a:ext cx="2912110" cy="1383665"/>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第七章</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smtClean="0">
                <a:latin typeface="Arial" panose="020B0604020202020204" pitchFamily="34" charset="0"/>
                <a:ea typeface="宋体" panose="02010600030101010101" pitchFamily="2" charset="-122"/>
                <a:sym typeface="+mn-ea"/>
              </a:rPr>
              <a:t>创建和使用线程</a:t>
            </a:r>
            <a:endParaRPr kumimoji="0" lang="zh-CN" sz="2400" b="1" i="0" u="none" strike="noStrike" kern="1200" cap="none" spc="300" normalizeH="0" baseline="0" noProof="0" dirty="0" smtClean="0">
              <a:ln>
                <a:noFill/>
              </a:ln>
              <a:solidFill>
                <a:srgbClr val="002060"/>
              </a:solidFill>
              <a:effectLst/>
              <a:uLnTx/>
              <a:uFillTx/>
              <a:latin typeface="Arial" panose="020B0604020202020204" pitchFamily="34" charset="0"/>
              <a:ea typeface="宋体" panose="02010600030101010101" pitchFamily="2" charset="-122"/>
              <a:sym typeface="+mn-ea"/>
            </a:endParaRPr>
          </a:p>
        </p:txBody>
      </p:sp>
      <p:sp>
        <p:nvSpPr>
          <p:cNvPr id="4" name="矩形 3"/>
          <p:cNvSpPr/>
          <p:nvPr/>
        </p:nvSpPr>
        <p:spPr>
          <a:xfrm>
            <a:off x="4618355" y="1345565"/>
            <a:ext cx="5104130" cy="5775960"/>
          </a:xfrm>
          <a:prstGeom prst="rect">
            <a:avLst/>
          </a:prstGeom>
          <a:noFill/>
        </p:spPr>
        <p:txBody>
          <a:bodyPr wrap="square" rtlCol="0">
            <a:spAutoFit/>
          </a:bodyPr>
          <a:p>
            <a:pPr marL="457200" indent="-457200" algn="l">
              <a:lnSpc>
                <a:spcPct val="140000"/>
              </a:lnSpc>
              <a:buClrTx/>
              <a:buSzTx/>
              <a:buFont typeface="+mj-lt"/>
              <a:buAutoNum type="arabicPeriod"/>
            </a:pPr>
            <a:r>
              <a:rPr lang="en-US" altLang="zh-CN" sz="2400" noProof="0" dirty="0">
                <a:ln>
                  <a:noFill/>
                </a:ln>
                <a:effectLst/>
                <a:uLnTx/>
                <a:uFillTx/>
                <a:latin typeface="华文宋体" panose="02010600040101010101" charset="-122"/>
                <a:ea typeface="华文宋体" panose="02010600040101010101" charset="-122"/>
                <a:cs typeface="华文宋体" panose="02010600040101010101" charset="-122"/>
                <a:sym typeface="+mn-ea"/>
              </a:rPr>
              <a:t>线程的概念和原理</a:t>
            </a:r>
            <a:endParaRPr lang="en-US" altLang="zh-CN" sz="2400" noProof="0" dirty="0">
              <a:ln>
                <a:noFill/>
              </a:ln>
              <a:effectLst/>
              <a:uLnTx/>
              <a:uFillTx/>
              <a:latin typeface="华文宋体" panose="02010600040101010101" charset="-122"/>
              <a:ea typeface="华文宋体" panose="02010600040101010101" charset="-122"/>
              <a:cs typeface="华文宋体" panose="02010600040101010101" charset="-122"/>
            </a:endParaRPr>
          </a:p>
          <a:p>
            <a:pPr marL="457200" indent="-457200" algn="l">
              <a:lnSpc>
                <a:spcPct val="140000"/>
              </a:lnSpc>
              <a:buClrTx/>
              <a:buSzTx/>
              <a:buFont typeface="+mj-lt"/>
              <a:buAutoNum type="arabicPeriod"/>
            </a:pPr>
            <a:r>
              <a:rPr lang="zh-CN" altLang="en-US" sz="2400" noProof="0" dirty="0">
                <a:ln>
                  <a:noFill/>
                </a:ln>
                <a:effectLst/>
                <a:uLnTx/>
                <a:uFillTx/>
                <a:latin typeface="华文宋体" panose="02010600040101010101" charset="-122"/>
                <a:ea typeface="华文宋体" panose="02010600040101010101" charset="-122"/>
                <a:cs typeface="华文宋体" panose="02010600040101010101" charset="-122"/>
              </a:rPr>
              <a:t>实现</a:t>
            </a:r>
            <a:r>
              <a:rPr lang="zh-CN" altLang="en-US" sz="2400" noProof="0" dirty="0">
                <a:ln>
                  <a:noFill/>
                </a:ln>
                <a:effectLst/>
                <a:uLnTx/>
                <a:uFillTx/>
                <a:latin typeface="华文宋体" panose="02010600040101010101" charset="-122"/>
                <a:ea typeface="华文宋体" panose="02010600040101010101" charset="-122"/>
                <a:cs typeface="华文宋体" panose="02010600040101010101" charset="-122"/>
                <a:sym typeface="+mn-ea"/>
              </a:rPr>
              <a:t>线程</a:t>
            </a:r>
            <a:r>
              <a:rPr lang="zh-CN" altLang="en-US" sz="2400" noProof="0" dirty="0">
                <a:ln>
                  <a:noFill/>
                </a:ln>
                <a:effectLst/>
                <a:uLnTx/>
                <a:uFillTx/>
                <a:latin typeface="华文宋体" panose="02010600040101010101" charset="-122"/>
                <a:ea typeface="华文宋体" panose="02010600040101010101" charset="-122"/>
                <a:cs typeface="华文宋体" panose="02010600040101010101" charset="-122"/>
              </a:rPr>
              <a:t>的两种方式</a:t>
            </a:r>
            <a:endParaRPr lang="zh-CN" altLang="en-US" sz="2400" noProof="0" dirty="0">
              <a:ln>
                <a:noFill/>
              </a:ln>
              <a:effectLst/>
              <a:uLnTx/>
              <a:uFillTx/>
              <a:latin typeface="华文宋体" panose="02010600040101010101" charset="-122"/>
              <a:ea typeface="华文宋体" panose="02010600040101010101" charset="-122"/>
              <a:cs typeface="华文宋体" panose="02010600040101010101" charset="-122"/>
            </a:endParaRPr>
          </a:p>
          <a:p>
            <a:pPr marL="457200" indent="-457200" algn="l">
              <a:lnSpc>
                <a:spcPct val="140000"/>
              </a:lnSpc>
              <a:buClrTx/>
              <a:buSzTx/>
              <a:buFont typeface="+mj-lt"/>
              <a:buAutoNum type="arabicPeriod"/>
            </a:pPr>
            <a:r>
              <a:rPr lang="zh-CN" altLang="en-US" sz="2400" noProof="0" dirty="0">
                <a:ln>
                  <a:noFill/>
                </a:ln>
                <a:effectLst/>
                <a:uLnTx/>
                <a:uFillTx/>
                <a:latin typeface="华文宋体" panose="02010600040101010101" charset="-122"/>
                <a:ea typeface="华文宋体" panose="02010600040101010101" charset="-122"/>
                <a:cs typeface="华文宋体" panose="02010600040101010101" charset="-122"/>
              </a:rPr>
              <a:t>对线程的控制</a:t>
            </a:r>
            <a:endParaRPr lang="en-US" altLang="zh-CN" sz="2400" noProof="0" dirty="0">
              <a:ln>
                <a:noFill/>
              </a:ln>
              <a:effectLst/>
              <a:uLnTx/>
              <a:uFillTx/>
              <a:latin typeface="华文宋体" panose="02010600040101010101" charset="-122"/>
              <a:ea typeface="华文宋体" panose="02010600040101010101" charset="-122"/>
              <a:cs typeface="华文宋体" panose="02010600040101010101" charset="-122"/>
            </a:endParaRPr>
          </a:p>
          <a:p>
            <a:pPr marL="457200" indent="-457200" algn="l">
              <a:lnSpc>
                <a:spcPct val="140000"/>
              </a:lnSpc>
              <a:buClrTx/>
              <a:buSzTx/>
              <a:buFont typeface="+mj-lt"/>
              <a:buAutoNum type="arabicPeriod"/>
            </a:pPr>
            <a:r>
              <a:rPr lang="zh-CN" altLang="en-US" sz="2400" noProof="0" dirty="0">
                <a:ln>
                  <a:noFill/>
                </a:ln>
                <a:solidFill>
                  <a:srgbClr val="ED7D31"/>
                </a:solidFill>
                <a:effectLst/>
                <a:uLnTx/>
                <a:uFillTx/>
                <a:latin typeface="华文宋体" panose="02010600040101010101" charset="-122"/>
                <a:ea typeface="华文宋体" panose="02010600040101010101" charset="-122"/>
                <a:cs typeface="华文宋体" panose="02010600040101010101" charset="-122"/>
                <a:sym typeface="+mn-ea"/>
              </a:rPr>
              <a:t>线程同步</a:t>
            </a:r>
            <a:endParaRPr lang="zh-CN" altLang="en-US" sz="2400" noProof="0" dirty="0">
              <a:ln>
                <a:noFill/>
              </a:ln>
              <a:solidFill>
                <a:srgbClr val="ED7D31"/>
              </a:solidFill>
              <a:effectLst/>
              <a:uLnTx/>
              <a:uFillTx/>
              <a:latin typeface="华文宋体" panose="02010600040101010101" charset="-122"/>
              <a:ea typeface="华文宋体" panose="02010600040101010101" charset="-122"/>
              <a:cs typeface="华文宋体" panose="02010600040101010101" charset="-122"/>
              <a:sym typeface="+mn-ea"/>
            </a:endParaRPr>
          </a:p>
          <a:p>
            <a:pPr marL="457200" indent="-457200" algn="l">
              <a:lnSpc>
                <a:spcPct val="140000"/>
              </a:lnSpc>
              <a:buClrTx/>
              <a:buSzTx/>
              <a:buFont typeface="+mj-lt"/>
              <a:buAutoNum type="arabicPeriod"/>
            </a:pPr>
            <a:r>
              <a:rPr lang="zh-CN" altLang="en-US" sz="2400" noProof="0" dirty="0">
                <a:ln>
                  <a:noFill/>
                </a:ln>
                <a:solidFill>
                  <a:srgbClr val="ED7D31"/>
                </a:solidFill>
                <a:effectLst/>
                <a:uLnTx/>
                <a:uFillTx/>
                <a:latin typeface="华文宋体" panose="02010600040101010101" charset="-122"/>
                <a:ea typeface="华文宋体" panose="02010600040101010101" charset="-122"/>
                <a:cs typeface="华文宋体" panose="02010600040101010101" charset="-122"/>
                <a:sym typeface="+mn-ea"/>
              </a:rPr>
              <a:t>创建线程的其他方式</a:t>
            </a:r>
            <a:endParaRPr lang="zh-CN" altLang="en-US" sz="2400" noProof="0" dirty="0">
              <a:ln>
                <a:noFill/>
              </a:ln>
              <a:solidFill>
                <a:srgbClr val="ED7D31"/>
              </a:solidFill>
              <a:effectLst/>
              <a:uLnTx/>
              <a:uFillTx/>
              <a:latin typeface="华文宋体" panose="02010600040101010101" charset="-122"/>
              <a:ea typeface="华文宋体" panose="02010600040101010101" charset="-122"/>
              <a:cs typeface="华文宋体" panose="02010600040101010101" charset="-122"/>
              <a:sym typeface="+mn-ea"/>
            </a:endParaRPr>
          </a:p>
          <a:p>
            <a:pPr marL="457200" indent="-457200" algn="l">
              <a:lnSpc>
                <a:spcPct val="140000"/>
              </a:lnSpc>
              <a:buClrTx/>
              <a:buSzTx/>
              <a:buFont typeface="+mj-lt"/>
              <a:buAutoNum type="arabicPeriod"/>
            </a:pPr>
            <a:r>
              <a:rPr lang="en-US" altLang="zh-CN" sz="2400" noProof="0" dirty="0">
                <a:ln>
                  <a:noFill/>
                </a:ln>
                <a:solidFill>
                  <a:srgbClr val="ED7D31"/>
                </a:solidFill>
                <a:effectLst/>
                <a:uLnTx/>
                <a:uFillTx/>
                <a:latin typeface="华文宋体" panose="02010600040101010101" charset="-122"/>
                <a:ea typeface="华文宋体" panose="02010600040101010101" charset="-122"/>
                <a:cs typeface="华文宋体" panose="02010600040101010101" charset="-122"/>
                <a:sym typeface="+mn-ea"/>
              </a:rPr>
              <a:t>Timer</a:t>
            </a:r>
            <a:r>
              <a:rPr lang="zh-CN" altLang="en-US" sz="2400" noProof="0" dirty="0">
                <a:ln>
                  <a:noFill/>
                </a:ln>
                <a:solidFill>
                  <a:srgbClr val="ED7D31"/>
                </a:solidFill>
                <a:effectLst/>
                <a:uLnTx/>
                <a:uFillTx/>
                <a:latin typeface="华文宋体" panose="02010600040101010101" charset="-122"/>
                <a:ea typeface="华文宋体" panose="02010600040101010101" charset="-122"/>
                <a:cs typeface="华文宋体" panose="02010600040101010101" charset="-122"/>
                <a:sym typeface="+mn-ea"/>
              </a:rPr>
              <a:t>定时器</a:t>
            </a:r>
            <a:endParaRPr lang="zh-CN" altLang="en-US" sz="2400" noProof="0" dirty="0">
              <a:ln>
                <a:noFill/>
              </a:ln>
              <a:solidFill>
                <a:srgbClr val="ED7D31"/>
              </a:solidFill>
              <a:effectLst/>
              <a:uLnTx/>
              <a:uFillTx/>
              <a:latin typeface="华文宋体" panose="02010600040101010101" charset="-122"/>
              <a:ea typeface="华文宋体" panose="02010600040101010101" charset="-122"/>
              <a:cs typeface="华文宋体" panose="02010600040101010101" charset="-122"/>
              <a:sym typeface="+mn-ea"/>
            </a:endParaRPr>
          </a:p>
          <a:p>
            <a:pPr marL="457200" indent="-457200" algn="l">
              <a:lnSpc>
                <a:spcPct val="140000"/>
              </a:lnSpc>
              <a:buClrTx/>
              <a:buSzTx/>
              <a:buFont typeface="+mj-lt"/>
              <a:buAutoNum type="arabicPeriod"/>
            </a:pPr>
            <a:endParaRPr lang="zh-CN" altLang="en-US" sz="2400" noProof="0" dirty="0">
              <a:ln>
                <a:noFill/>
              </a:ln>
              <a:solidFill>
                <a:srgbClr val="ED7D31"/>
              </a:solidFill>
              <a:effectLst/>
              <a:uLnTx/>
              <a:uFillTx/>
              <a:latin typeface="华文宋体" panose="02010600040101010101" charset="-122"/>
              <a:ea typeface="华文宋体" panose="02010600040101010101" charset="-122"/>
              <a:cs typeface="华文宋体" panose="02010600040101010101" charset="-122"/>
              <a:sym typeface="+mn-ea"/>
            </a:endParaRPr>
          </a:p>
          <a:p>
            <a:pPr marL="457200" indent="-457200" algn="l">
              <a:lnSpc>
                <a:spcPct val="140000"/>
              </a:lnSpc>
              <a:buClrTx/>
              <a:buSzTx/>
              <a:buFont typeface="+mj-lt"/>
              <a:buAutoNum type="arabicPeriod"/>
            </a:pPr>
            <a:endParaRPr lang="zh-CN" altLang="en-US" sz="2400" noProof="0" dirty="0">
              <a:ln>
                <a:noFill/>
              </a:ln>
              <a:solidFill>
                <a:srgbClr val="ED7D31"/>
              </a:solidFill>
              <a:effectLst/>
              <a:uLnTx/>
              <a:uFillTx/>
              <a:latin typeface="华文宋体" panose="02010600040101010101" charset="-122"/>
              <a:ea typeface="华文宋体" panose="02010600040101010101" charset="-122"/>
              <a:cs typeface="华文宋体" panose="02010600040101010101" charset="-122"/>
              <a:sym typeface="+mn-ea"/>
            </a:endParaRPr>
          </a:p>
          <a:p>
            <a:pPr marL="457200" indent="-457200" algn="l">
              <a:lnSpc>
                <a:spcPct val="140000"/>
              </a:lnSpc>
              <a:buClrTx/>
              <a:buSzTx/>
              <a:buFont typeface="+mj-lt"/>
              <a:buAutoNum type="arabicPeriod"/>
            </a:pPr>
            <a:endParaRPr lang="en-US" altLang="zh-CN" sz="2400" noProof="0" dirty="0">
              <a:ln>
                <a:noFill/>
              </a:ln>
              <a:solidFill>
                <a:srgbClr val="ED7D31"/>
              </a:solidFill>
              <a:effectLst/>
              <a:uLnTx/>
              <a:uFillTx/>
              <a:latin typeface="华文宋体" panose="02010600040101010101" charset="-122"/>
              <a:ea typeface="华文宋体" panose="02010600040101010101" charset="-122"/>
              <a:cs typeface="华文宋体" panose="02010600040101010101" charset="-122"/>
            </a:endParaRPr>
          </a:p>
          <a:p>
            <a:pPr marL="457200" indent="-457200" algn="l">
              <a:lnSpc>
                <a:spcPct val="140000"/>
              </a:lnSpc>
              <a:buClrTx/>
              <a:buSzTx/>
              <a:buFont typeface="+mj-lt"/>
              <a:buAutoNum type="arabicPeriod"/>
            </a:pPr>
            <a:endParaRPr lang="en-US" altLang="zh-CN" sz="2400" noProof="0" dirty="0">
              <a:ln>
                <a:noFill/>
              </a:ln>
              <a:solidFill>
                <a:srgbClr val="ED7D31"/>
              </a:solidFill>
              <a:effectLst/>
              <a:uLnTx/>
              <a:uFillTx/>
              <a:latin typeface="华文宋体" panose="02010600040101010101" charset="-122"/>
              <a:ea typeface="华文宋体" panose="02010600040101010101" charset="-122"/>
              <a:cs typeface="华文宋体" panose="02010600040101010101" charset="-122"/>
            </a:endParaRPr>
          </a:p>
          <a:p>
            <a:pPr marL="457200" indent="-457200" algn="l">
              <a:lnSpc>
                <a:spcPct val="140000"/>
              </a:lnSpc>
              <a:buClrTx/>
              <a:buSzTx/>
              <a:buFont typeface="+mj-lt"/>
              <a:buAutoNum type="arabicPeriod"/>
            </a:pPr>
            <a:endParaRPr lang="en-US" altLang="zh-CN" sz="2400" noProof="0" dirty="0">
              <a:ln>
                <a:noFill/>
              </a:ln>
              <a:solidFill>
                <a:srgbClr val="ED7D31"/>
              </a:solidFill>
              <a:effectLst/>
              <a:uLnTx/>
              <a:uFillTx/>
              <a:latin typeface="华文宋体" panose="02010600040101010101" charset="-122"/>
              <a:ea typeface="华文宋体" panose="02010600040101010101" charset="-122"/>
              <a:cs typeface="华文宋体" panose="02010600040101010101"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5" grpId="0"/>
      <p:bldP spid="25" grpId="1" bldLvl="0" animBg="1"/>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01600" y="3137535"/>
            <a:ext cx="1179195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第一节 </a:t>
            </a:r>
            <a:r>
              <a:rPr lang="zh-CN" altLang="en-US" sz="6665" dirty="0">
                <a:solidFill>
                  <a:schemeClr val="bg1"/>
                </a:solidFill>
                <a:latin typeface="Arial" panose="020B0604020202020204" pitchFamily="34" charset="0"/>
                <a:ea typeface="宋体" panose="02010600030101010101" pitchFamily="2" charset="-122"/>
                <a:sym typeface="+mn-ea"/>
              </a:rPr>
              <a:t>线程的概念和原理</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55115"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线程的概念（进程和线程）</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390525" y="306070"/>
            <a:ext cx="11135995" cy="5340350"/>
          </a:xfrm>
        </p:spPr>
        <p:txBody>
          <a:bodyPr>
            <a:noAutofit/>
          </a:bodyPr>
          <a:p>
            <a:pPr marL="0" algn="l" defTabSz="457200" hangingPunct="0">
              <a:lnSpc>
                <a:spcPct val="150000"/>
              </a:lnSpc>
              <a:spcAft>
                <a:spcPts val="0"/>
              </a:spcAft>
              <a:buClrTx/>
              <a:buSzTx/>
              <a:buNone/>
              <a:defRPr/>
            </a:pPr>
            <a:endPar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b="1" kern="0" dirty="0">
                <a:latin typeface="思源黑体 CN Normal" panose="020B0400000000000000" pitchFamily="34" charset="-122"/>
                <a:ea typeface="思源黑体 CN Normal" panose="020B0400000000000000" pitchFamily="34" charset="-122"/>
                <a:cs typeface="微软雅黑" panose="020B0503020204020204" charset="-122"/>
                <a:sym typeface="+mn-ea"/>
              </a:rPr>
              <a:t>什么是进程？什么是线程？它们的区别？</a:t>
            </a:r>
            <a:endParaRPr lang="zh-CN" altLang="en-US" sz="1200" b="1"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进程是指操作系统中的一段程序，它是一个正在执行中的程序实例，具有独立的内存空间和系统资源，如文件、网络端口等。在计算机程序执行时，先创建进程，再在进程中进行程序的执行。一般来说，一个进程可以包含多个线程。</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线程是指进程中的一个执行单元，是进程的一部分，它负责在进程中执行程序代码。每个线程都有自己的栈和程序计数器，并且可以共享进程的资源。多个线程可以在同一时刻执行不同的操作，从而提高了程序的执行效率。</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现代的操作系统是支持多进程的，也就是可以启动多个软件，一个软件就是一个进程。称为：多进程并发。</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通常一个进程都是可以启动多个线程的。称为：多线程并发。</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b="1" kern="0" dirty="0">
                <a:latin typeface="思源黑体 CN Normal" panose="020B0400000000000000" pitchFamily="34" charset="-122"/>
                <a:ea typeface="思源黑体 CN Normal" panose="020B0400000000000000" pitchFamily="34" charset="-122"/>
                <a:cs typeface="微软雅黑" panose="020B0503020204020204" charset="-122"/>
                <a:sym typeface="+mn-ea"/>
              </a:rPr>
              <a:t>多线程的作用？</a:t>
            </a:r>
            <a:endParaRPr lang="zh-CN" altLang="en-US" sz="1200" b="1"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提高处理效率。（多线程的优点之一是能够使 CPU 在处理一个任务时同时处理多个线程，这样可以充分利用 CPU 的资源，提高 CPU 的利用效率。）</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en-US" altLang="zh-CN" sz="1200" b="1" kern="0" dirty="0">
                <a:latin typeface="思源黑体 CN Normal" panose="020B0400000000000000" pitchFamily="34" charset="-122"/>
                <a:ea typeface="思源黑体 CN Normal" panose="020B0400000000000000" pitchFamily="34" charset="-122"/>
                <a:cs typeface="微软雅黑" panose="020B0503020204020204" charset="-122"/>
                <a:sym typeface="+mn-ea"/>
              </a:rPr>
              <a:t>JVM</a:t>
            </a:r>
            <a:r>
              <a:rPr lang="zh-CN" altLang="en-US" sz="1200" b="1" kern="0" dirty="0">
                <a:latin typeface="思源黑体 CN Normal" panose="020B0400000000000000" pitchFamily="34" charset="-122"/>
                <a:ea typeface="思源黑体 CN Normal" panose="020B0400000000000000" pitchFamily="34" charset="-122"/>
                <a:cs typeface="微软雅黑" panose="020B0503020204020204" charset="-122"/>
                <a:sym typeface="+mn-ea"/>
              </a:rPr>
              <a:t>规范中规定：</a:t>
            </a:r>
            <a:endParaRPr lang="zh-CN" altLang="en-US" sz="1200" b="1"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堆内存、方法区</a:t>
            </a:r>
            <a:r>
              <a:rPr lang="en-US" altLang="zh-CN"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 </a:t>
            </a: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是线程共享的。</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虚拟机栈、本地方法栈、程序计数器</a:t>
            </a:r>
            <a:r>
              <a:rPr lang="en-US" altLang="zh-CN"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 </a:t>
            </a: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是每个线程私有的。</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lvl="1" indent="-342900" algn="l" defTabSz="457200" hangingPunct="0">
              <a:lnSpc>
                <a:spcPct val="150000"/>
              </a:lnSpc>
              <a:spcAft>
                <a:spcPts val="0"/>
              </a:spcAft>
              <a:buClrTx/>
              <a:buSzTx/>
              <a:buFont typeface="+mj-ea"/>
              <a:buAutoNum type="circleNumDbPlain" startAt="4"/>
              <a:defRPr/>
            </a:pPr>
            <a:r>
              <a:rPr lang="en-US" altLang="zh-CN" sz="1200" b="1" kern="0" dirty="0">
                <a:latin typeface="思源黑体 CN Normal" panose="020B0400000000000000" pitchFamily="34" charset="-122"/>
                <a:ea typeface="思源黑体 CN Normal" panose="020B0400000000000000" pitchFamily="34" charset="-122"/>
                <a:cs typeface="微软雅黑" panose="020B0503020204020204" charset="-122"/>
                <a:sym typeface="+mn-ea"/>
              </a:rPr>
              <a:t>关于Java程序的运行原理</a:t>
            </a:r>
            <a:endParaRPr lang="en-US" altLang="zh-CN" sz="1200" b="1"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2" indent="-342900" algn="l" defTabSz="457200" hangingPunct="0">
              <a:lnSpc>
                <a:spcPct val="150000"/>
              </a:lnSpc>
              <a:spcAft>
                <a:spcPts val="0"/>
              </a:spcAft>
              <a:buClrTx/>
              <a:buSzTx/>
              <a:buFont typeface="+mj-lt"/>
              <a:buAutoNum type="arabicPeriod"/>
              <a:defRPr/>
            </a:pPr>
            <a:r>
              <a:rPr lang="en-US" altLang="zh-CN"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“java HelloWorld”</a:t>
            </a: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执行后，会启动</a:t>
            </a:r>
            <a:r>
              <a:rPr lang="en-US" altLang="zh-CN"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JVM</a:t>
            </a: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a:t>
            </a:r>
            <a:r>
              <a:rPr lang="en-US" altLang="zh-CN"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JVM</a:t>
            </a: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的启动表示一个进程启动了。</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2" indent="-342900" algn="l" defTabSz="457200" hangingPunct="0">
              <a:lnSpc>
                <a:spcPct val="150000"/>
              </a:lnSpc>
              <a:spcAft>
                <a:spcPts val="0"/>
              </a:spcAft>
              <a:buClrTx/>
              <a:buSzTx/>
              <a:buFont typeface="+mj-lt"/>
              <a:buAutoNum type="arabicPeriod"/>
              <a:defRPr/>
            </a:pPr>
            <a:r>
              <a:rPr lang="en-US" altLang="zh-CN"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JVM</a:t>
            </a: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进程会首先启动一个主线程（</a:t>
            </a:r>
            <a:r>
              <a:rPr lang="en-US" altLang="zh-CN"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main-thread</a:t>
            </a: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），主线程负责调用</a:t>
            </a:r>
            <a:r>
              <a:rPr lang="en-US" altLang="zh-CN"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main</a:t>
            </a: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方法。因此</a:t>
            </a:r>
            <a:r>
              <a:rPr lang="en-US" altLang="zh-CN"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main</a:t>
            </a: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方法是在主线程中运行的。</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2" indent="-342900" algn="l" defTabSz="457200" hangingPunct="0">
              <a:lnSpc>
                <a:spcPct val="150000"/>
              </a:lnSpc>
              <a:spcAft>
                <a:spcPts val="0"/>
              </a:spcAft>
              <a:buClrTx/>
              <a:buSzTx/>
              <a:buFont typeface="+mj-lt"/>
              <a:buAutoNum type="arabicPeriod"/>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除了主线程之外，还启动了一个垃圾回收线程。因此启动</a:t>
            </a:r>
            <a:r>
              <a:rPr lang="en-US" altLang="zh-CN"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JVM</a:t>
            </a: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，至少启动了两个线程。</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2" indent="-342900" algn="l" defTabSz="457200" hangingPunct="0">
              <a:lnSpc>
                <a:spcPct val="150000"/>
              </a:lnSpc>
              <a:spcAft>
                <a:spcPts val="0"/>
              </a:spcAft>
              <a:buClrTx/>
              <a:buSzTx/>
              <a:buFont typeface="+mj-lt"/>
              <a:buAutoNum type="arabicPeriod"/>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在</a:t>
            </a:r>
            <a:r>
              <a:rPr lang="en-US" altLang="zh-CN"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main</a:t>
            </a: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方法的执行过程中，程序员可以手动创建其他线程对象并启动。</a:t>
            </a:r>
            <a:endParaRPr lang="zh-CN" altLang="en-US" sz="1200" kern="0" dirty="0" smtClean="0">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pic>
        <p:nvPicPr>
          <p:cNvPr id="3" name="图片 2" descr="未命名文件 (1)"/>
          <p:cNvPicPr>
            <a:picLocks noChangeAspect="1"/>
          </p:cNvPicPr>
          <p:nvPr>
            <p:custDataLst>
              <p:tags r:id="rId5"/>
            </p:custDataLst>
          </p:nvPr>
        </p:nvPicPr>
        <p:blipFill>
          <a:blip r:embed="rId6"/>
          <a:stretch>
            <a:fillRect/>
          </a:stretch>
        </p:blipFill>
        <p:spPr>
          <a:xfrm>
            <a:off x="8539480" y="3807460"/>
            <a:ext cx="2311400" cy="18154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线程的概念（</a:t>
            </a:r>
            <a:r>
              <a:rPr lang="zh-CN" altLang="en-US" sz="2400" dirty="0">
                <a:latin typeface="思源黑体 CN Medium" panose="020B0600000000000000" pitchFamily="34" charset="-122"/>
                <a:ea typeface="思源黑体 CN Medium" panose="020B0600000000000000" pitchFamily="34" charset="-122"/>
                <a:sym typeface="思源宋体 CN Heavy" panose="02020900000000000000" charset="-122"/>
              </a:rPr>
              <a:t>并发</a:t>
            </a:r>
            <a:r>
              <a:rPr lang="zh-CN" altLang="en-US" sz="2400" smtClean="0">
                <a:ea typeface="宋体" panose="02010600030101010101" pitchFamily="2" charset="-122"/>
                <a:sym typeface="+mn-ea"/>
              </a:rPr>
              <a:t>）</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914400"/>
            <a:ext cx="11037570" cy="5375910"/>
          </a:xfrm>
        </p:spPr>
        <p:txBody>
          <a:bodyPr>
            <a:noAutofit/>
          </a:bodyPr>
          <a:p>
            <a:pPr marL="0" algn="l" defTabSz="457200" hangingPunct="0">
              <a:lnSpc>
                <a:spcPct val="150000"/>
              </a:lnSpc>
              <a:spcAft>
                <a:spcPts val="0"/>
              </a:spcAft>
              <a:buClrTx/>
              <a:buSzTx/>
              <a:buNone/>
              <a:defRPr/>
            </a:pPr>
            <a:r>
              <a:rPr lang="zh-CN" altLang="en-US" sz="1600" dirty="0">
                <a:latin typeface="思源黑体 CN Medium" panose="020B0600000000000000" pitchFamily="34" charset="-122"/>
                <a:ea typeface="思源黑体 CN Medium" panose="020B0600000000000000" pitchFamily="34" charset="-122"/>
                <a:sym typeface="思源宋体 CN Heavy" panose="02020900000000000000" charset="-122"/>
              </a:rPr>
              <a:t>并发（concurrency）</a:t>
            </a:r>
            <a:endParaRPr lang="zh-CN" altLang="en-US" sz="1600" dirty="0">
              <a:solidFill>
                <a:schemeClr val="tx1"/>
              </a:solidFill>
              <a:latin typeface="思源黑体 CN Medium" panose="020B0600000000000000" pitchFamily="34" charset="-122"/>
              <a:ea typeface="思源黑体 CN Medium" panose="020B0600000000000000" pitchFamily="3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6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使用单核CPU的时候，同一时刻只能有一条指令执行，但多个指令被快速的轮换执行，使得在宏观上具有多个指令同时执行的效果，但在微观上并不是同时执行的，只是把时间分成若干端，使多个指令快速交替的执行。</a:t>
            </a:r>
            <a:endParaRPr lang="zh-CN" altLang="en-US" sz="1600" kern="0" dirty="0">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600" kern="0" dirty="0">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600" kern="0" dirty="0">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6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如上图所示，假设只有一个CPU资源，线程之间要竞争得到执行机会。图中的第一个阶段，在A执行的过程中，B、C不会执行，因为这段时间内这个CPU资源被A竞争到了，同理，第二阶段只有B在执行，第三阶段只有C在执行。其实，并发过程中，A、B、C并不是同时进行的（微观角度），但又是同时进行的（宏观角度）。</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6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在同一个时间点上，一个CPU只能支持一个线程在执行。因为CPU运行的速度很快，CPU使用抢占式调度模式在多个线程间进行着高速的切换，因此我们看起来的感觉就像是多线程一样，也就是看上去就是在同一时刻运行。</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457200" lvl="2" indent="-457200" algn="l">
              <a:lnSpc>
                <a:spcPct val="150000"/>
              </a:lnSpc>
              <a:spcBef>
                <a:spcPts val="1000"/>
              </a:spcBef>
              <a:buClr>
                <a:srgbClr val="ED7D31"/>
              </a:buClr>
              <a:buSzTx/>
              <a:buFont typeface="+mj-lt"/>
              <a:buAutoNum type="arabicPeriod"/>
            </a:pPr>
            <a:endParaRPr lang="zh-CN" altLang="en-US" sz="1600" kern="0" dirty="0" smtClean="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pic>
        <p:nvPicPr>
          <p:cNvPr id="3" name="图片 2" descr="图片3"/>
          <p:cNvPicPr>
            <a:picLocks noChangeAspect="1"/>
          </p:cNvPicPr>
          <p:nvPr/>
        </p:nvPicPr>
        <p:blipFill>
          <a:blip r:embed="rId5"/>
          <a:stretch>
            <a:fillRect/>
          </a:stretch>
        </p:blipFill>
        <p:spPr>
          <a:xfrm>
            <a:off x="1551305" y="2261235"/>
            <a:ext cx="5191125" cy="16097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线程的概念（</a:t>
            </a:r>
            <a:r>
              <a:rPr lang="zh-CN" altLang="en-US" sz="2400" dirty="0">
                <a:latin typeface="思源黑体 CN Medium" panose="020B0600000000000000" pitchFamily="34" charset="-122"/>
                <a:ea typeface="思源黑体 CN Medium" panose="020B0600000000000000" pitchFamily="34" charset="-122"/>
                <a:sym typeface="思源宋体 CN Heavy" panose="02020900000000000000" charset="-122"/>
              </a:rPr>
              <a:t>并行</a:t>
            </a:r>
            <a:r>
              <a:rPr lang="zh-CN" altLang="en-US" sz="2400" smtClean="0">
                <a:ea typeface="宋体" panose="02010600030101010101" pitchFamily="2" charset="-122"/>
                <a:sym typeface="+mn-ea"/>
              </a:rPr>
              <a:t>）</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914400"/>
            <a:ext cx="11037570" cy="5375910"/>
          </a:xfrm>
        </p:spPr>
        <p:txBody>
          <a:bodyPr>
            <a:noAutofit/>
          </a:bodyPr>
          <a:p>
            <a:pPr marL="0" algn="l" defTabSz="457200" hangingPunct="0">
              <a:lnSpc>
                <a:spcPct val="150000"/>
              </a:lnSpc>
              <a:spcAft>
                <a:spcPts val="0"/>
              </a:spcAft>
              <a:buClrTx/>
              <a:buSzTx/>
              <a:buNone/>
              <a:defRPr/>
            </a:pPr>
            <a:r>
              <a:rPr lang="zh-CN" altLang="en-US" sz="1600" dirty="0">
                <a:latin typeface="思源黑体 CN Medium" panose="020B0600000000000000" pitchFamily="34" charset="-122"/>
                <a:ea typeface="思源黑体 CN Medium" panose="020B0600000000000000" pitchFamily="34" charset="-122"/>
                <a:sym typeface="思源宋体 CN Heavy" panose="02020900000000000000" charset="-122"/>
              </a:rPr>
              <a:t>并行（parallellism）</a:t>
            </a:r>
            <a:endParaRPr lang="zh-CN" altLang="en-US" sz="1600" dirty="0">
              <a:solidFill>
                <a:schemeClr val="tx1"/>
              </a:solidFill>
              <a:latin typeface="思源黑体 CN Medium" panose="020B0600000000000000" pitchFamily="34" charset="-122"/>
              <a:ea typeface="思源黑体 CN Medium" panose="020B0600000000000000" pitchFamily="3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6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使用多核CPU的时候，同一时刻，有多条指令在多个CPU上同时执行。</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6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如图所示，在同一时刻，ABC都是同时执行（微观、宏观）。</a:t>
            </a:r>
            <a:endParaRPr lang="zh-CN" altLang="en-US" sz="1600" kern="0" dirty="0" smtClean="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pic>
        <p:nvPicPr>
          <p:cNvPr id="8" name="图片 7" descr="图片4"/>
          <p:cNvPicPr>
            <a:picLocks noChangeAspect="1"/>
          </p:cNvPicPr>
          <p:nvPr/>
        </p:nvPicPr>
        <p:blipFill>
          <a:blip r:embed="rId5"/>
          <a:stretch>
            <a:fillRect/>
          </a:stretch>
        </p:blipFill>
        <p:spPr>
          <a:xfrm>
            <a:off x="1420495" y="2091055"/>
            <a:ext cx="6391275" cy="16287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线程的概念（</a:t>
            </a:r>
            <a:r>
              <a:rPr lang="zh-CN" altLang="en-US" sz="2400" dirty="0">
                <a:latin typeface="思源黑体 CN Medium" panose="020B0600000000000000" pitchFamily="34" charset="-122"/>
                <a:ea typeface="思源黑体 CN Medium" panose="020B0600000000000000" pitchFamily="34" charset="-122"/>
                <a:sym typeface="思源宋体 CN Heavy" panose="02020900000000000000" charset="-122"/>
              </a:rPr>
              <a:t>并发与并行编程</a:t>
            </a:r>
            <a:r>
              <a:rPr lang="zh-CN" altLang="en-US" sz="2400" smtClean="0">
                <a:ea typeface="宋体" panose="02010600030101010101" pitchFamily="2" charset="-122"/>
                <a:sym typeface="+mn-ea"/>
              </a:rPr>
              <a:t>）</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914400"/>
            <a:ext cx="11037570" cy="5375910"/>
          </a:xfrm>
        </p:spPr>
        <p:txBody>
          <a:bodyPr>
            <a:noAutofit/>
          </a:bodyPr>
          <a:p>
            <a:pPr marL="0" algn="l" defTabSz="457200" hangingPunct="0">
              <a:lnSpc>
                <a:spcPct val="150000"/>
              </a:lnSpc>
              <a:spcAft>
                <a:spcPts val="0"/>
              </a:spcAft>
              <a:buClrTx/>
              <a:buSzTx/>
              <a:buNone/>
              <a:defRPr/>
            </a:pPr>
            <a:r>
              <a:rPr lang="zh-CN" altLang="en-US" sz="1600" dirty="0">
                <a:latin typeface="思源黑体 CN Medium" panose="020B0600000000000000" pitchFamily="34" charset="-122"/>
                <a:ea typeface="思源黑体 CN Medium" panose="020B0600000000000000" pitchFamily="34" charset="-122"/>
                <a:sym typeface="思源宋体 CN Heavy" panose="02020900000000000000" charset="-122"/>
              </a:rPr>
              <a:t>并发编程与并行编程</a:t>
            </a:r>
            <a:endParaRPr lang="zh-CN" altLang="en-US" sz="1600" dirty="0">
              <a:solidFill>
                <a:schemeClr val="tx1"/>
              </a:solidFill>
              <a:latin typeface="思源黑体 CN Medium" panose="020B0600000000000000" pitchFamily="34" charset="-122"/>
              <a:ea typeface="思源黑体 CN Medium" panose="020B0600000000000000" pitchFamily="3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6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在CPU比较繁忙（假设为单核CPU），如果开启了很多个线程，则只能为一个线程分配仅有的CPU资源，这些线程就会为自己尽量多抢时间片，这就是通过多线程实现并发，线程之间会竞争CPU资源争取执行机会。</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6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在CPU资源比较充足的时候，一个进程内的多个线程，可以被分配到不同的CPU资源，这就是通过多线程实现并行。 </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6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至于多线程实现的是并发还是并行？上面所说，所写多线程可能被分配到一个CPU内核中执行，也可能被分配到不同CPU执行，分配过程是操作系统所为，不可人为控制。有可能是并发也可能是并行。 </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6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总结：单核CPU上的多线程，只是由操作系统来完成多任务间对CPU的运行切换，并非真正意义上的并发。随着多核CPU的出现，也就意味着不同的线程能被不同的CPU核得到真正意义的并行执行，故而多线程技术得到广泛应用。</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6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不管并发还是并行，都提高了程序对CPU资源的利用率，最大限度地利用CPU资源，而我们使用多线程的目的就是为了提高CPU资源的利用率。</a:t>
            </a:r>
            <a:endParaRPr lang="zh-CN" altLang="en-US" sz="1600" kern="0" dirty="0" smtClean="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线程的概念（</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线程的调度策略</a:t>
            </a:r>
            <a:r>
              <a:rPr lang="zh-CN" altLang="en-US" sz="2400" smtClean="0">
                <a:ea typeface="宋体" panose="02010600030101010101" pitchFamily="2" charset="-122"/>
                <a:sym typeface="+mn-ea"/>
              </a:rPr>
              <a:t>）</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914400"/>
            <a:ext cx="11037570" cy="5375910"/>
          </a:xfrm>
        </p:spPr>
        <p:txBody>
          <a:bodyPr>
            <a:noAutofit/>
          </a:bodyPr>
          <a:p>
            <a:pPr marL="0" algn="l" defTabSz="457200" hangingPunct="0">
              <a:lnSpc>
                <a:spcPct val="150000"/>
              </a:lnSpc>
              <a:spcAft>
                <a:spcPts val="0"/>
              </a:spcAft>
              <a:buClrTx/>
              <a:buSzTx/>
              <a:buNone/>
              <a:defRPr/>
            </a:pPr>
            <a:r>
              <a:rPr lang="zh-CN" altLang="en-US" sz="1600" dirty="0">
                <a:latin typeface="思源黑体 CN Medium" panose="020B0600000000000000" pitchFamily="34" charset="-122"/>
                <a:ea typeface="思源黑体 CN Medium" panose="020B0600000000000000" pitchFamily="34" charset="-122"/>
                <a:sym typeface="思源宋体 CN Heavy" panose="02020900000000000000" charset="-122"/>
              </a:rPr>
              <a:t>线程的调度模型</a:t>
            </a:r>
            <a:endParaRPr lang="zh-CN" altLang="en-US" sz="1600" dirty="0">
              <a:solidFill>
                <a:schemeClr val="tx1"/>
              </a:solidFill>
              <a:latin typeface="思源黑体 CN Medium" panose="020B0600000000000000" pitchFamily="34" charset="-122"/>
              <a:ea typeface="思源黑体 CN Medium" panose="020B0600000000000000" pitchFamily="3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6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如果多个线程被分配到一个CPU内核中执行，则同一时刻只能允许有一个线程能获得CPU的执行权，那么进程中的多个线程就会抢夺CPU的执行权，这就是涉及到线程调度策略。</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indent="0" algn="l" defTabSz="457200" hangingPunct="0">
              <a:lnSpc>
                <a:spcPct val="150000"/>
              </a:lnSpc>
              <a:spcAft>
                <a:spcPts val="0"/>
              </a:spcAft>
              <a:buClrTx/>
              <a:buSzTx/>
              <a:buFont typeface="+mj-ea"/>
              <a:buNone/>
              <a:defRPr/>
            </a:pP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startAt="2"/>
              <a:defRPr/>
            </a:pPr>
            <a:r>
              <a:rPr lang="zh-CN" altLang="en-US" sz="16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分时调度模型</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Wingdings" panose="05000000000000000000" charset="0"/>
              <a:buChar char="l"/>
              <a:defRPr/>
            </a:pPr>
            <a:r>
              <a:rPr lang="zh-CN" altLang="en-US" sz="16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所有线程轮流使用CPU的执行权，并且平均的分配每个线程占用的CPU的时间。</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184150" lvl="1" indent="0" algn="l" defTabSz="457200" hangingPunct="0">
              <a:lnSpc>
                <a:spcPct val="150000"/>
              </a:lnSpc>
              <a:spcAft>
                <a:spcPts val="0"/>
              </a:spcAft>
              <a:buClrTx/>
              <a:buSzTx/>
              <a:buFont typeface="Wingdings" panose="05000000000000000000" charset="0"/>
              <a:buNone/>
              <a:defRPr/>
            </a:pP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startAt="2"/>
              <a:defRPr/>
            </a:pPr>
            <a:r>
              <a:rPr lang="zh-CN" altLang="en-US" sz="16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抢占式调度模型</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Wingdings" panose="05000000000000000000" charset="0"/>
              <a:buChar char="l"/>
              <a:defRPr/>
            </a:pPr>
            <a:r>
              <a:rPr lang="zh-CN" altLang="en-US" sz="16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让优先级高的线程以较大的概率优先获得CPU的执行权，如果线程的优先级相同，那么就会随机选择一个线程获得CPU的执行权，而Java采用的就是抢占式调用。</a:t>
            </a:r>
            <a:endParaRPr lang="zh-CN" altLang="en-US" sz="1600" kern="0" dirty="0" smtClean="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01600" y="3137535"/>
            <a:ext cx="11791950" cy="860425"/>
          </a:xfrm>
        </p:spPr>
        <p:txBody>
          <a:bodyPr anchor="b">
            <a:normAutofit fontScale="90000"/>
          </a:bodyPr>
          <a:p>
            <a:pPr algn="ctr">
              <a:buClrTx/>
              <a:buSzTx/>
              <a:buFontTx/>
            </a:pPr>
            <a:r>
              <a:rPr lang="zh-CN" altLang="en-US" sz="6665" dirty="0">
                <a:solidFill>
                  <a:schemeClr val="bg1"/>
                </a:solidFill>
                <a:latin typeface="Arial" panose="020B0604020202020204" pitchFamily="34" charset="0"/>
                <a:ea typeface="宋体" panose="02010600030101010101" pitchFamily="2" charset="-122"/>
              </a:rPr>
              <a:t>第二节 </a:t>
            </a:r>
            <a:r>
              <a:rPr lang="zh-CN" altLang="en-US" sz="6665" dirty="0">
                <a:solidFill>
                  <a:schemeClr val="bg1"/>
                </a:solidFill>
                <a:latin typeface="Arial" panose="020B0604020202020204" pitchFamily="34" charset="0"/>
                <a:ea typeface="宋体" panose="02010600030101010101" pitchFamily="2" charset="-122"/>
                <a:sym typeface="思源黑体 CN Normal" panose="020B0400000000000000" pitchFamily="34" charset="-122"/>
              </a:rPr>
              <a:t>实现线程的两种方式</a:t>
            </a:r>
            <a:endParaRPr lang="en-US" altLang="zh-CN" sz="6665" dirty="0">
              <a:solidFill>
                <a:schemeClr val="bg1"/>
              </a:solidFill>
              <a:latin typeface="Arial" panose="020B0604020202020204" pitchFamily="34" charset="0"/>
              <a:ea typeface="宋体" panose="02010600030101010101" pitchFamily="2" charset="-122"/>
              <a:sym typeface="思源黑体 CN Normal" panose="020B0400000000000000" pitchFamily="34"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实现线程的两种方式</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8" name="文本框 7"/>
          <p:cNvSpPr txBox="1"/>
          <p:nvPr/>
        </p:nvSpPr>
        <p:spPr>
          <a:xfrm>
            <a:off x="1038225" y="934720"/>
            <a:ext cx="9582785" cy="560768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algn="l" defTabSz="457200" hangingPunct="0">
              <a:lnSpc>
                <a:spcPct val="150000"/>
              </a:lnSpc>
              <a:spcAft>
                <a:spcPts val="0"/>
              </a:spcAft>
              <a:buClrTx/>
              <a:buSzTx/>
              <a:buNone/>
              <a:defRPr/>
            </a:pPr>
            <a:r>
              <a:rPr lang="zh-CN" altLang="en-US" sz="12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第一种方式：继承</a:t>
            </a:r>
            <a:r>
              <a:rPr lang="en-US" altLang="zh-CN" sz="12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Thread</a:t>
            </a:r>
            <a:endParaRPr lang="zh-CN" altLang="en-US" sz="1200" dirty="0">
              <a:solidFill>
                <a:schemeClr val="tx1"/>
              </a:solidFill>
              <a:latin typeface="思源黑体 CN Medium" panose="020B0600000000000000" pitchFamily="34" charset="-122"/>
              <a:ea typeface="思源黑体 CN Medium" panose="020B0600000000000000" pitchFamily="3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编写一个类继承</a:t>
            </a:r>
            <a:r>
              <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Thread</a:t>
            </a: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，重写</a:t>
            </a:r>
            <a:r>
              <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run</a:t>
            </a: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方法。</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创建线程对象：</a:t>
            </a:r>
            <a:r>
              <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Thread t = new MyThread();</a:t>
            </a:r>
            <a:endPar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启动线程：</a:t>
            </a:r>
            <a:r>
              <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t.start();</a:t>
            </a:r>
            <a:endPar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indent="0" algn="l" defTabSz="457200" hangingPunct="0">
              <a:lnSpc>
                <a:spcPct val="150000"/>
              </a:lnSpc>
              <a:spcAft>
                <a:spcPts val="0"/>
              </a:spcAft>
              <a:buClrTx/>
              <a:buSzTx/>
              <a:buFont typeface="+mj-ea"/>
              <a:buNone/>
              <a:defRPr/>
            </a:pPr>
            <a:endPar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2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第二种方式：实现</a:t>
            </a:r>
            <a:r>
              <a:rPr lang="en-US" altLang="zh-CN" sz="12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Runnable</a:t>
            </a:r>
            <a:r>
              <a:rPr lang="zh-CN" altLang="en-US" sz="12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接口</a:t>
            </a:r>
            <a:endParaRPr lang="zh-CN" altLang="en-US" sz="12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69850" indent="-342900" algn="l" defTabSz="457200" hangingPunct="0">
              <a:lnSpc>
                <a:spcPct val="150000"/>
              </a:lnSpc>
              <a:spcAft>
                <a:spcPts val="0"/>
              </a:spcAft>
              <a:buClrTx/>
              <a:buSzTx/>
              <a:buFont typeface="+mj-ea"/>
              <a:buAutoNum type="circleNumDbPlain"/>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思源宋体 CN Heavy" panose="02020900000000000000" charset="-122"/>
              </a:rPr>
              <a:t>编写一个类实现Runnable接口，实现run方法。</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思源宋体 CN Heavy" panose="02020900000000000000" charset="-122"/>
            </a:endParaRPr>
          </a:p>
          <a:p>
            <a:pPr marL="69850" indent="-342900" algn="l" defTabSz="457200" hangingPunct="0">
              <a:lnSpc>
                <a:spcPct val="150000"/>
              </a:lnSpc>
              <a:spcAft>
                <a:spcPts val="0"/>
              </a:spcAft>
              <a:buClrTx/>
              <a:buSzTx/>
              <a:buFont typeface="+mj-ea"/>
              <a:buAutoNum type="circleNumDbPlain"/>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思源宋体 CN Heavy" panose="02020900000000000000" charset="-122"/>
              </a:rPr>
              <a:t>创建线程对象：</a:t>
            </a:r>
            <a:r>
              <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思源宋体 CN Heavy" panose="02020900000000000000" charset="-122"/>
              </a:rPr>
              <a:t>Thread t = new Thread(new MyRunnable());</a:t>
            </a:r>
            <a:endPar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思源宋体 CN Heavy" panose="02020900000000000000" charset="-122"/>
            </a:endParaRPr>
          </a:p>
          <a:p>
            <a:pPr marL="69850" indent="-342900" algn="l" defTabSz="457200" hangingPunct="0">
              <a:lnSpc>
                <a:spcPct val="150000"/>
              </a:lnSpc>
              <a:spcAft>
                <a:spcPts val="0"/>
              </a:spcAft>
              <a:buClrTx/>
              <a:buSzTx/>
              <a:buFont typeface="+mj-ea"/>
              <a:buAutoNum type="circleNumDbPlain"/>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思源宋体 CN Heavy" panose="02020900000000000000" charset="-122"/>
              </a:rPr>
              <a:t>启动线程：</a:t>
            </a:r>
            <a:r>
              <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思源宋体 CN Heavy" panose="02020900000000000000" charset="-122"/>
              </a:rPr>
              <a:t>t.start();</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indent="0" algn="l" defTabSz="457200" hangingPunct="0">
              <a:lnSpc>
                <a:spcPct val="150000"/>
              </a:lnSpc>
              <a:spcAft>
                <a:spcPts val="0"/>
              </a:spcAft>
              <a:buClrTx/>
              <a:buSzTx/>
              <a:buFont typeface="+mj-ea"/>
              <a:buNone/>
              <a:defRPr/>
            </a:pPr>
            <a:endPar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indent="0" algn="l" defTabSz="457200" hangingPunct="0">
              <a:lnSpc>
                <a:spcPct val="150000"/>
              </a:lnSpc>
              <a:spcAft>
                <a:spcPts val="0"/>
              </a:spcAft>
              <a:buClrTx/>
              <a:buSzTx/>
              <a:buFont typeface="+mj-ea"/>
              <a:buNone/>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优先选择第二种方式：因为实现接口的同时，保留了类的继承。</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indent="0" algn="l" defTabSz="457200" hangingPunct="0">
              <a:lnSpc>
                <a:spcPct val="150000"/>
              </a:lnSpc>
              <a:spcAft>
                <a:spcPts val="0"/>
              </a:spcAft>
              <a:buClrTx/>
              <a:buSzTx/>
              <a:buFont typeface="+mj-ea"/>
              <a:buNone/>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第二种方式也可以使用匿名内部类。</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indent="0" algn="l" defTabSz="457200" hangingPunct="0">
              <a:lnSpc>
                <a:spcPct val="150000"/>
              </a:lnSpc>
              <a:spcAft>
                <a:spcPts val="0"/>
              </a:spcAft>
              <a:buClrTx/>
              <a:buSzTx/>
              <a:buFont typeface="+mj-ea"/>
              <a:buNone/>
              <a:defRPr/>
            </a:pPr>
            <a:r>
              <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t.start()</a:t>
            </a: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和</a:t>
            </a:r>
            <a:r>
              <a:rPr lang="en-US" altLang="zh-CN"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t.run()</a:t>
            </a: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的本质区别？</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本质上没有区别，都是普通方法调用。只不过两个方法完成的任务不同。</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t.run()是调用run方法。执行run方法中的业务代码。</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t.start()是启动线程，只要线程启动了，start()方法就执行结束了。</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200" dirty="0">
                <a:solidFill>
                  <a:schemeClr val="tx1"/>
                </a:solidFill>
                <a:latin typeface="思源黑体 CN Medium" panose="020B0600000000000000" pitchFamily="34" charset="-122"/>
                <a:ea typeface="思源黑体 CN Medium" panose="020B0600000000000000" pitchFamily="34" charset="-122"/>
                <a:sym typeface="+mn-ea"/>
              </a:rPr>
              <a:t>线程常用的三个方法：</a:t>
            </a:r>
            <a:endParaRPr lang="zh-CN" altLang="en-US" sz="1200" dirty="0">
              <a:solidFill>
                <a:schemeClr val="tx1"/>
              </a:solidFill>
              <a:latin typeface="思源黑体 CN Medium" panose="020B0600000000000000" pitchFamily="34" charset="-122"/>
              <a:ea typeface="思源黑体 CN Medium" panose="020B0600000000000000" pitchFamily="3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实例方法：String getName(); void setName(String name);</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静态方法：static Thread currentThread();</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370693" name="Picture 2"/>
          <p:cNvPicPr>
            <a:picLocks noChangeAspect="1" noChangeArrowheads="1"/>
          </p:cNvPicPr>
          <p:nvPr/>
        </p:nvPicPr>
        <p:blipFill>
          <a:blip r:embed="rId5"/>
          <a:srcRect/>
          <a:stretch>
            <a:fillRect/>
          </a:stretch>
        </p:blipFill>
        <p:spPr bwMode="auto">
          <a:xfrm>
            <a:off x="1545590" y="2730202"/>
            <a:ext cx="7056438" cy="2087562"/>
          </a:xfrm>
          <a:prstGeom prst="rect">
            <a:avLst/>
          </a:prstGeom>
          <a:noFill/>
          <a:ln w="9525">
            <a:noFill/>
            <a:miter lim="800000"/>
            <a:headEnd/>
            <a:tailEnd/>
          </a:ln>
        </p:spPr>
      </p:pic>
      <p:sp>
        <p:nvSpPr>
          <p:cNvPr id="3" name="文本框 2"/>
          <p:cNvSpPr txBox="1"/>
          <p:nvPr/>
        </p:nvSpPr>
        <p:spPr>
          <a:xfrm>
            <a:off x="1545590" y="242570"/>
            <a:ext cx="6463030" cy="460375"/>
          </a:xfrm>
          <a:prstGeom prst="rect">
            <a:avLst/>
          </a:prstGeom>
          <a:noFill/>
        </p:spPr>
        <p:txBody>
          <a:bodyPr wrap="square" rtlCol="0">
            <a:spAutoFit/>
          </a:bodyPr>
          <a:p>
            <a:pPr eaLnBrk="1" hangingPunct="1"/>
            <a:r>
              <a:rPr lang="zh-CN" altLang="en-US" sz="2400" dirty="0">
                <a:latin typeface="思源黑体 CN Medium" panose="020B0600000000000000" pitchFamily="34" charset="-122"/>
                <a:ea typeface="思源黑体 CN Medium" panose="020B0600000000000000" pitchFamily="34" charset="-122"/>
                <a:sym typeface="思源宋体 CN Heavy" panose="02020900000000000000" charset="-122"/>
              </a:rPr>
              <a:t>线程生命周期</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dirty="0">
                <a:latin typeface="思源黑体 CN Medium" panose="020B0600000000000000" pitchFamily="34" charset="-122"/>
                <a:ea typeface="思源黑体 CN Medium" panose="020B0600000000000000" pitchFamily="34" charset="-122"/>
                <a:sym typeface="思源宋体 CN Heavy" panose="02020900000000000000" charset="-122"/>
              </a:rPr>
              <a:t>线程生命周期</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8" name="文本框 7"/>
          <p:cNvSpPr txBox="1"/>
          <p:nvPr/>
        </p:nvSpPr>
        <p:spPr>
          <a:xfrm>
            <a:off x="612140" y="746125"/>
            <a:ext cx="9911080" cy="424116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69850" indent="-342900" algn="l" defTabSz="457200" hangingPunct="0">
              <a:lnSpc>
                <a:spcPct val="150000"/>
              </a:lnSpc>
              <a:spcAft>
                <a:spcPts val="0"/>
              </a:spcAft>
              <a:buClrTx/>
              <a:buSzTx/>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线程生命周期指的是：从线程对象新建，到最终线程死亡的整个过程。</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线程生命周期包括七个重要阶段：</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新建状态（</a:t>
            </a:r>
            <a:r>
              <a:rPr lang="en-US" altLang="zh-CN"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NEW</a:t>
            </a: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就绪状态（</a:t>
            </a:r>
            <a:r>
              <a:rPr lang="en-US" altLang="zh-CN" sz="1600" kern="0" dirty="0">
                <a:solidFill>
                  <a:srgbClr val="FF0000"/>
                </a:solidFill>
                <a:latin typeface="思源黑体 CN Normal" panose="020B0400000000000000" pitchFamily="34" charset="-122"/>
                <a:ea typeface="思源黑体 CN Normal" panose="020B0400000000000000" pitchFamily="34" charset="-122"/>
                <a:cs typeface="微软雅黑" panose="020B0503020204020204" charset="-122"/>
                <a:sym typeface="+mn-ea"/>
              </a:rPr>
              <a:t>RUNNABLE</a:t>
            </a: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运行状态（</a:t>
            </a:r>
            <a:r>
              <a:rPr lang="en-US" altLang="zh-CN" sz="1600" kern="0" dirty="0">
                <a:solidFill>
                  <a:srgbClr val="FF0000"/>
                </a:solidFill>
                <a:latin typeface="思源黑体 CN Normal" panose="020B0400000000000000" pitchFamily="34" charset="-122"/>
                <a:ea typeface="思源黑体 CN Normal" panose="020B0400000000000000" pitchFamily="34" charset="-122"/>
                <a:cs typeface="微软雅黑" panose="020B0503020204020204" charset="-122"/>
                <a:sym typeface="+mn-ea"/>
              </a:rPr>
              <a:t>RUNNABLE</a:t>
            </a: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超时等待状态（</a:t>
            </a:r>
            <a:r>
              <a:rPr lang="en-US" altLang="zh-CN"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TIMED_WAITING</a:t>
            </a: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等待状态（</a:t>
            </a:r>
            <a:r>
              <a:rPr lang="en-US" altLang="zh-CN"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WAITING</a:t>
            </a: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阻塞状态（</a:t>
            </a:r>
            <a:r>
              <a:rPr lang="en-US" altLang="zh-CN"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BLOCKED</a:t>
            </a: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rPr>
              <a:t>死亡状态（TERMINATED）</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01600" y="3137535"/>
            <a:ext cx="1179195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第三节 </a:t>
            </a:r>
            <a:r>
              <a:rPr lang="zh-CN" altLang="en-US" sz="6665" dirty="0">
                <a:solidFill>
                  <a:schemeClr val="bg1"/>
                </a:solidFill>
                <a:latin typeface="Arial" panose="020B0604020202020204" pitchFamily="34" charset="0"/>
                <a:ea typeface="宋体" panose="02010600030101010101" pitchFamily="2" charset="-122"/>
                <a:sym typeface="+mn-ea"/>
              </a:rPr>
              <a:t>线程的控制</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线程的常用方法</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graphicFrame>
        <p:nvGraphicFramePr>
          <p:cNvPr id="3" name="表格 2"/>
          <p:cNvGraphicFramePr/>
          <p:nvPr/>
        </p:nvGraphicFramePr>
        <p:xfrm>
          <a:off x="609600" y="947293"/>
          <a:ext cx="10972800" cy="5364480"/>
        </p:xfrm>
        <a:graphic>
          <a:graphicData uri="http://schemas.openxmlformats.org/drawingml/2006/table">
            <a:tbl>
              <a:tblPr/>
              <a:tblGrid>
                <a:gridCol w="3035935"/>
                <a:gridCol w="7936865"/>
              </a:tblGrid>
              <a:tr h="168275">
                <a:tc>
                  <a:txBody>
                    <a:bodyPr/>
                    <a:p>
                      <a:pPr marL="9525" indent="0" algn="l" fontAlgn="ctr"/>
                      <a:r>
                        <a:rPr lang="zh-CN" altLang="en-US" sz="1800" b="1" i="0">
                          <a:solidFill>
                            <a:srgbClr val="333333"/>
                          </a:solidFill>
                          <a:latin typeface="Open Sans" panose="020B0606030504020204"/>
                          <a:ea typeface="Open Sans" panose="020B0606030504020204"/>
                        </a:rPr>
                        <a:t>方法名</a:t>
                      </a:r>
                      <a:endParaRPr lang="zh-CN" altLang="en-US" sz="1800" b="1" i="0">
                        <a:solidFill>
                          <a:srgbClr val="333333"/>
                        </a:solidFill>
                        <a:latin typeface="Open Sans" panose="020B0606030504020204"/>
                        <a:ea typeface="Open Sans" panose="020B0606030504020204"/>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92D050"/>
                    </a:solidFill>
                  </a:tcPr>
                </a:tc>
                <a:tc>
                  <a:txBody>
                    <a:bodyPr/>
                    <a:p>
                      <a:pPr marL="9525" indent="0" algn="l" fontAlgn="ctr"/>
                      <a:r>
                        <a:rPr lang="zh-CN" altLang="en-US" sz="1800" b="1" i="0">
                          <a:solidFill>
                            <a:srgbClr val="333333"/>
                          </a:solidFill>
                          <a:latin typeface="Arial" panose="020B0604020202020204"/>
                          <a:ea typeface="Arial" panose="020B0604020202020204"/>
                        </a:rPr>
                        <a:t>描述</a:t>
                      </a:r>
                      <a:endParaRPr lang="zh-CN" altLang="en-US" sz="1800" b="1" i="0">
                        <a:solidFill>
                          <a:srgbClr val="333333"/>
                        </a:solidFill>
                        <a:latin typeface="Arial" panose="020B0604020202020204"/>
                        <a:ea typeface="Arial" panose="020B0604020202020204"/>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92D050"/>
                    </a:solidFill>
                  </a:tcPr>
                </a:tc>
              </a:tr>
              <a:tr h="15049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Thread() </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c>
                  <a:txBody>
                    <a:bodyPr/>
                    <a:p>
                      <a:pPr marL="9525" indent="0" algn="l" fontAlgn="ctr"/>
                      <a:r>
                        <a:rPr lang="zh-CN" altLang="en-US" sz="1200" b="0" i="0">
                          <a:solidFill>
                            <a:srgbClr val="000000"/>
                          </a:solidFill>
                          <a:latin typeface="宋体" panose="02010600030101010101" pitchFamily="2" charset="-122"/>
                          <a:ea typeface="宋体" panose="02010600030101010101" pitchFamily="2" charset="-122"/>
                        </a:rPr>
                        <a:t>分配一个新的 </a:t>
                      </a:r>
                      <a:r>
                        <a:rPr lang="en-US" altLang="zh-CN" sz="1200" b="0" i="0">
                          <a:solidFill>
                            <a:srgbClr val="000000"/>
                          </a:solidFill>
                          <a:latin typeface="宋体" panose="02010600030101010101" pitchFamily="2" charset="-122"/>
                          <a:ea typeface="宋体" panose="02010600030101010101" pitchFamily="2" charset="-122"/>
                        </a:rPr>
                        <a:t>Thread</a:t>
                      </a:r>
                      <a:r>
                        <a:rPr lang="zh-CN" altLang="en-US" sz="1200" b="0" i="0">
                          <a:solidFill>
                            <a:srgbClr val="000000"/>
                          </a:solidFill>
                          <a:latin typeface="宋体" panose="02010600030101010101" pitchFamily="2" charset="-122"/>
                          <a:ea typeface="宋体" panose="02010600030101010101" pitchFamily="2" charset="-122"/>
                        </a:rPr>
                        <a:t>对象。 </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r>
              <a:tr h="149860">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Thread(String name) </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8F8F8"/>
                    </a:solidFill>
                  </a:tcPr>
                </a:tc>
                <a:tc>
                  <a:txBody>
                    <a:bodyPr/>
                    <a:p>
                      <a:pPr marL="9525" indent="0" algn="l" fontAlgn="ctr"/>
                      <a:r>
                        <a:rPr lang="zh-CN" altLang="en-US" sz="1200" b="0" i="0">
                          <a:solidFill>
                            <a:srgbClr val="000000"/>
                          </a:solidFill>
                          <a:latin typeface="宋体" panose="02010600030101010101" pitchFamily="2" charset="-122"/>
                          <a:ea typeface="宋体" panose="02010600030101010101" pitchFamily="2" charset="-122"/>
                        </a:rPr>
                        <a:t>分配一个新的 </a:t>
                      </a:r>
                      <a:r>
                        <a:rPr lang="en-US" altLang="zh-CN" sz="1200" b="0" i="0">
                          <a:solidFill>
                            <a:srgbClr val="000000"/>
                          </a:solidFill>
                          <a:latin typeface="宋体" panose="02010600030101010101" pitchFamily="2" charset="-122"/>
                          <a:ea typeface="宋体" panose="02010600030101010101" pitchFamily="2" charset="-122"/>
                        </a:rPr>
                        <a:t>Thread</a:t>
                      </a:r>
                      <a:r>
                        <a:rPr lang="zh-CN" altLang="en-US" sz="1200" b="0" i="0">
                          <a:solidFill>
                            <a:srgbClr val="000000"/>
                          </a:solidFill>
                          <a:latin typeface="宋体" panose="02010600030101010101" pitchFamily="2" charset="-122"/>
                          <a:ea typeface="宋体" panose="02010600030101010101" pitchFamily="2" charset="-122"/>
                        </a:rPr>
                        <a:t>对象。 </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8F8F8"/>
                    </a:solidFill>
                  </a:tcPr>
                </a:tc>
              </a:tr>
              <a:tr h="150495">
                <a:tc>
                  <a:txBody>
                    <a:bodyPr/>
                    <a:p>
                      <a:pPr marL="9525" indent="0" algn="l" fontAlgn="ctr"/>
                      <a:r>
                        <a:rPr lang="en-US" altLang="zh-CN" sz="1200" b="0" i="0">
                          <a:solidFill>
                            <a:srgbClr val="000000"/>
                          </a:solidFill>
                          <a:latin typeface="Arial" panose="020B0604020202020204"/>
                          <a:ea typeface="Arial" panose="020B0604020202020204"/>
                        </a:rPr>
                        <a:t>Thread(Runnable target) </a:t>
                      </a:r>
                      <a:endParaRPr lang="en-US" altLang="zh-CN" sz="1200" b="0" i="0">
                        <a:solidFill>
                          <a:srgbClr val="000000"/>
                        </a:solidFill>
                        <a:latin typeface="Arial" panose="020B0604020202020204"/>
                        <a:ea typeface="Arial" panose="020B0604020202020204"/>
                      </a:endParaRPr>
                    </a:p>
                  </a:txBody>
                  <a:tcPr marL="9842" marR="9842" marT="9842" anchor="ctr" anchorCtr="0">
                    <a:lnL>
                      <a:noFill/>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marL="9525" indent="0" algn="l" fontAlgn="ctr"/>
                      <a:r>
                        <a:rPr lang="zh-CN" altLang="en-US" sz="1200" b="0" i="0">
                          <a:solidFill>
                            <a:srgbClr val="000000"/>
                          </a:solidFill>
                          <a:latin typeface="宋体" panose="02010600030101010101" pitchFamily="2" charset="-122"/>
                          <a:ea typeface="宋体" panose="02010600030101010101" pitchFamily="2" charset="-122"/>
                        </a:rPr>
                        <a:t>分配一个新的 </a:t>
                      </a:r>
                      <a:r>
                        <a:rPr lang="en-US" altLang="zh-CN" sz="1200" b="0" i="0">
                          <a:solidFill>
                            <a:srgbClr val="000000"/>
                          </a:solidFill>
                          <a:latin typeface="宋体" panose="02010600030101010101" pitchFamily="2" charset="-122"/>
                          <a:ea typeface="宋体" panose="02010600030101010101" pitchFamily="2" charset="-122"/>
                        </a:rPr>
                        <a:t>Thread</a:t>
                      </a:r>
                      <a:r>
                        <a:rPr lang="zh-CN" altLang="en-US" sz="1200" b="0" i="0">
                          <a:solidFill>
                            <a:srgbClr val="000000"/>
                          </a:solidFill>
                          <a:latin typeface="宋体" panose="02010600030101010101" pitchFamily="2" charset="-122"/>
                          <a:ea typeface="宋体" panose="02010600030101010101" pitchFamily="2" charset="-122"/>
                        </a:rPr>
                        <a:t>对象。 </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r>
              <a:tr h="149860">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Thread(Runnable target, String name) </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c>
                  <a:txBody>
                    <a:bodyPr/>
                    <a:p>
                      <a:pPr marL="9525" indent="0" algn="l" fontAlgn="ctr"/>
                      <a:r>
                        <a:rPr lang="zh-CN" altLang="en-US" sz="1200" b="0" i="0">
                          <a:solidFill>
                            <a:srgbClr val="000000"/>
                          </a:solidFill>
                          <a:latin typeface="宋体" panose="02010600030101010101" pitchFamily="2" charset="-122"/>
                          <a:ea typeface="宋体" panose="02010600030101010101" pitchFamily="2" charset="-122"/>
                        </a:rPr>
                        <a:t>分配一个新的 </a:t>
                      </a:r>
                      <a:r>
                        <a:rPr lang="en-US" altLang="zh-CN" sz="1200" b="0" i="0">
                          <a:solidFill>
                            <a:srgbClr val="000000"/>
                          </a:solidFill>
                          <a:latin typeface="宋体" panose="02010600030101010101" pitchFamily="2" charset="-122"/>
                          <a:ea typeface="宋体" panose="02010600030101010101" pitchFamily="2" charset="-122"/>
                        </a:rPr>
                        <a:t>Thread</a:t>
                      </a:r>
                      <a:r>
                        <a:rPr lang="zh-CN" altLang="en-US" sz="1200" b="0" i="0">
                          <a:solidFill>
                            <a:srgbClr val="000000"/>
                          </a:solidFill>
                          <a:latin typeface="宋体" panose="02010600030101010101" pitchFamily="2" charset="-122"/>
                          <a:ea typeface="宋体" panose="02010600030101010101" pitchFamily="2" charset="-122"/>
                        </a:rPr>
                        <a:t>对象。 </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r>
              <a:tr h="149860">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public long getId()</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c>
                  <a:txBody>
                    <a:bodyPr/>
                    <a:p>
                      <a:pPr marL="9525" indent="0" algn="l" fontAlgn="ctr"/>
                      <a:r>
                        <a:rPr lang="zh-CN" altLang="en-US" sz="1200" b="0" i="0">
                          <a:solidFill>
                            <a:srgbClr val="000000"/>
                          </a:solidFill>
                          <a:latin typeface="宋体" panose="02010600030101010101" pitchFamily="2" charset="-122"/>
                          <a:ea typeface="宋体" panose="02010600030101010101" pitchFamily="2" charset="-122"/>
                        </a:rPr>
                        <a:t>返回此线程的标识符。 </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r>
              <a:tr h="20764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public static void sleep(long millis) </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c>
                  <a:txBody>
                    <a:bodyPr/>
                    <a:p>
                      <a:pPr marL="9525" indent="0" algn="l" fontAlgn="ctr"/>
                      <a:r>
                        <a:rPr lang="zh-CN" altLang="en-US" sz="1200" b="0" i="0">
                          <a:solidFill>
                            <a:srgbClr val="000000"/>
                          </a:solidFill>
                          <a:latin typeface="宋体" panose="02010600030101010101" pitchFamily="2" charset="-122"/>
                          <a:ea typeface="宋体" panose="02010600030101010101" pitchFamily="2" charset="-122"/>
                        </a:rPr>
                        <a:t>使当前执行的线程在指定的毫秒数内休眠</a:t>
                      </a:r>
                      <a:r>
                        <a:rPr lang="en-US" altLang="zh-CN" sz="1200" b="0" i="0">
                          <a:solidFill>
                            <a:srgbClr val="000000"/>
                          </a:solidFill>
                          <a:latin typeface="宋体" panose="02010600030101010101" pitchFamily="2" charset="-122"/>
                          <a:ea typeface="宋体" panose="02010600030101010101" pitchFamily="2" charset="-122"/>
                        </a:rPr>
                        <a:t>(</a:t>
                      </a:r>
                      <a:r>
                        <a:rPr lang="zh-CN" altLang="en-US" sz="1200" b="0" i="0">
                          <a:solidFill>
                            <a:srgbClr val="000000"/>
                          </a:solidFill>
                          <a:latin typeface="宋体" panose="02010600030101010101" pitchFamily="2" charset="-122"/>
                          <a:ea typeface="宋体" panose="02010600030101010101" pitchFamily="2" charset="-122"/>
                        </a:rPr>
                        <a:t>暂时停止执行</a:t>
                      </a:r>
                      <a:r>
                        <a:rPr lang="en-US" altLang="zh-CN" sz="1200" b="0" i="0">
                          <a:solidFill>
                            <a:srgbClr val="000000"/>
                          </a:solidFill>
                          <a:latin typeface="宋体" panose="02010600030101010101" pitchFamily="2" charset="-122"/>
                          <a:ea typeface="宋体" panose="02010600030101010101" pitchFamily="2" charset="-122"/>
                        </a:rPr>
                        <a:t>)</a:t>
                      </a:r>
                      <a:r>
                        <a:rPr lang="zh-CN" altLang="en-US" sz="1200" b="0" i="0">
                          <a:solidFill>
                            <a:srgbClr val="000000"/>
                          </a:solidFill>
                          <a:latin typeface="宋体" panose="02010600030101010101" pitchFamily="2" charset="-122"/>
                          <a:ea typeface="宋体" panose="02010600030101010101" pitchFamily="2" charset="-122"/>
                        </a:rPr>
                        <a:t>，这取决于系统计时器和调度器的精度和准确性。线程不会失去任何监视器的所有权。参数</a:t>
                      </a:r>
                      <a:r>
                        <a:rPr lang="en-US" altLang="zh-CN" sz="1200" b="0" i="0">
                          <a:solidFill>
                            <a:srgbClr val="000000"/>
                          </a:solidFill>
                          <a:latin typeface="宋体" panose="02010600030101010101" pitchFamily="2" charset="-122"/>
                          <a:ea typeface="宋体" panose="02010600030101010101" pitchFamily="2" charset="-122"/>
                        </a:rPr>
                        <a:t>: </a:t>
                      </a:r>
                      <a:r>
                        <a:rPr lang="zh-CN" altLang="en-US" sz="1200" b="0" i="0">
                          <a:solidFill>
                            <a:srgbClr val="000000"/>
                          </a:solidFill>
                          <a:latin typeface="宋体" panose="02010600030101010101" pitchFamily="2" charset="-122"/>
                          <a:ea typeface="宋体" panose="02010600030101010101" pitchFamily="2" charset="-122"/>
                        </a:rPr>
                        <a:t>以毫秒为单位的睡眠时间长度</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r>
              <a:tr h="20256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public static void sleep(long millis, int nanos)</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c>
                  <a:txBody>
                    <a:bodyPr/>
                    <a:p>
                      <a:pPr marL="9525" indent="0" algn="l" fontAlgn="ctr"/>
                      <a:r>
                        <a:rPr lang="zh-CN" altLang="en-US" sz="1200" b="0" i="0">
                          <a:solidFill>
                            <a:srgbClr val="000000"/>
                          </a:solidFill>
                          <a:latin typeface="宋体" panose="02010600030101010101" pitchFamily="2" charset="-122"/>
                          <a:ea typeface="宋体" panose="02010600030101010101" pitchFamily="2" charset="-122"/>
                        </a:rPr>
                        <a:t>使当前正在执行的线程在指定的毫秒数和指定的纳秒数</a:t>
                      </a:r>
                      <a:r>
                        <a:rPr lang="en-US" altLang="zh-CN" sz="1200" b="0" i="0">
                          <a:solidFill>
                            <a:srgbClr val="000000"/>
                          </a:solidFill>
                          <a:latin typeface="宋体" panose="02010600030101010101" pitchFamily="2" charset="-122"/>
                          <a:ea typeface="宋体" panose="02010600030101010101" pitchFamily="2" charset="-122"/>
                        </a:rPr>
                        <a:t>(</a:t>
                      </a:r>
                      <a:r>
                        <a:rPr lang="zh-CN" altLang="en-US" sz="1200" b="0" i="0">
                          <a:solidFill>
                            <a:srgbClr val="000000"/>
                          </a:solidFill>
                          <a:latin typeface="宋体" panose="02010600030101010101" pitchFamily="2" charset="-122"/>
                          <a:ea typeface="宋体" panose="02010600030101010101" pitchFamily="2" charset="-122"/>
                        </a:rPr>
                        <a:t>取决于系统计时器和调度器的精度和准确性</a:t>
                      </a:r>
                      <a:r>
                        <a:rPr lang="en-US" altLang="zh-CN" sz="1200" b="0" i="0">
                          <a:solidFill>
                            <a:srgbClr val="000000"/>
                          </a:solidFill>
                          <a:latin typeface="宋体" panose="02010600030101010101" pitchFamily="2" charset="-122"/>
                          <a:ea typeface="宋体" panose="02010600030101010101" pitchFamily="2" charset="-122"/>
                        </a:rPr>
                        <a:t>)</a:t>
                      </a:r>
                      <a:r>
                        <a:rPr lang="zh-CN" altLang="en-US" sz="1200" b="0" i="0">
                          <a:solidFill>
                            <a:srgbClr val="000000"/>
                          </a:solidFill>
                          <a:latin typeface="宋体" panose="02010600030101010101" pitchFamily="2" charset="-122"/>
                          <a:ea typeface="宋体" panose="02010600030101010101" pitchFamily="2" charset="-122"/>
                        </a:rPr>
                        <a:t>内休眠</a:t>
                      </a:r>
                      <a:r>
                        <a:rPr lang="en-US" altLang="zh-CN" sz="1200" b="0" i="0">
                          <a:solidFill>
                            <a:srgbClr val="000000"/>
                          </a:solidFill>
                          <a:latin typeface="宋体" panose="02010600030101010101" pitchFamily="2" charset="-122"/>
                          <a:ea typeface="宋体" panose="02010600030101010101" pitchFamily="2" charset="-122"/>
                        </a:rPr>
                        <a:t>(</a:t>
                      </a:r>
                      <a:r>
                        <a:rPr lang="zh-CN" altLang="en-US" sz="1200" b="0" i="0">
                          <a:solidFill>
                            <a:srgbClr val="000000"/>
                          </a:solidFill>
                          <a:latin typeface="宋体" panose="02010600030101010101" pitchFamily="2" charset="-122"/>
                          <a:ea typeface="宋体" panose="02010600030101010101" pitchFamily="2" charset="-122"/>
                        </a:rPr>
                        <a:t>暂时停止执行</a:t>
                      </a:r>
                      <a:r>
                        <a:rPr lang="en-US" altLang="zh-CN" sz="1200" b="0" i="0">
                          <a:solidFill>
                            <a:srgbClr val="000000"/>
                          </a:solidFill>
                          <a:latin typeface="宋体" panose="02010600030101010101" pitchFamily="2" charset="-122"/>
                          <a:ea typeface="宋体" panose="02010600030101010101" pitchFamily="2" charset="-122"/>
                        </a:rPr>
                        <a:t>)</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r>
              <a:tr h="150495">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public final void setPriority(int newPriority)</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c>
                  <a:txBody>
                    <a:bodyPr/>
                    <a:p>
                      <a:pPr marL="9525" indent="0" algn="l" fontAlgn="ctr"/>
                      <a:r>
                        <a:rPr lang="zh-CN" altLang="en-US" sz="1200" b="0" i="0">
                          <a:solidFill>
                            <a:srgbClr val="000000"/>
                          </a:solidFill>
                          <a:latin typeface="宋体" panose="02010600030101010101" pitchFamily="2" charset="-122"/>
                          <a:ea typeface="宋体" panose="02010600030101010101" pitchFamily="2" charset="-122"/>
                        </a:rPr>
                        <a:t>更改此线程的优先级，能够设置</a:t>
                      </a:r>
                      <a:r>
                        <a:rPr lang="en-US" altLang="zh-CN" sz="1200" b="0" i="0">
                          <a:solidFill>
                            <a:srgbClr val="000000"/>
                          </a:solidFill>
                          <a:latin typeface="宋体" panose="02010600030101010101" pitchFamily="2" charset="-122"/>
                          <a:ea typeface="宋体" panose="02010600030101010101" pitchFamily="2" charset="-122"/>
                        </a:rPr>
                        <a:t>[1-10]</a:t>
                      </a:r>
                      <a:r>
                        <a:rPr lang="zh-CN" altLang="en-US" sz="1200" b="0" i="0">
                          <a:solidFill>
                            <a:srgbClr val="000000"/>
                          </a:solidFill>
                          <a:latin typeface="宋体" panose="02010600030101010101" pitchFamily="2" charset="-122"/>
                          <a:ea typeface="宋体" panose="02010600030101010101" pitchFamily="2" charset="-122"/>
                        </a:rPr>
                        <a:t>之间的整数，数值越大，那么优先级越高，默认为</a:t>
                      </a:r>
                      <a:r>
                        <a:rPr lang="en-US" altLang="zh-CN" sz="1200" b="0" i="0">
                          <a:solidFill>
                            <a:srgbClr val="000000"/>
                          </a:solidFill>
                          <a:latin typeface="宋体" panose="02010600030101010101" pitchFamily="2" charset="-122"/>
                          <a:ea typeface="宋体" panose="02010600030101010101" pitchFamily="2" charset="-122"/>
                        </a:rPr>
                        <a:t>5</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r>
              <a:tr h="149860">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public final int getPriority() </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 </a:t>
                      </a:r>
                      <a:r>
                        <a:rPr lang="zh-CN" altLang="en-US" sz="1200" b="0" i="0">
                          <a:solidFill>
                            <a:srgbClr val="000000"/>
                          </a:solidFill>
                          <a:latin typeface="宋体" panose="02010600030101010101" pitchFamily="2" charset="-122"/>
                          <a:ea typeface="宋体" panose="02010600030101010101" pitchFamily="2" charset="-122"/>
                        </a:rPr>
                        <a:t>返回当前线程的优先级。</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r>
              <a:tr h="471805">
                <a:tc>
                  <a:txBody>
                    <a:bodyPr/>
                    <a:p>
                      <a:pPr marL="9525" indent="0" algn="l" fontAlgn="ctr"/>
                      <a:r>
                        <a:rPr lang="en-US" altLang="zh-CN" sz="1200" b="0" i="0">
                          <a:solidFill>
                            <a:srgbClr val="FF0000"/>
                          </a:solidFill>
                          <a:latin typeface="宋体" panose="02010600030101010101" pitchFamily="2" charset="-122"/>
                          <a:ea typeface="宋体" panose="02010600030101010101" pitchFamily="2" charset="-122"/>
                        </a:rPr>
                        <a:t>public static void yield()</a:t>
                      </a:r>
                      <a:endParaRPr lang="en-US" altLang="zh-CN" sz="1200" b="0" i="0">
                        <a:solidFill>
                          <a:srgbClr val="FF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c>
                  <a:txBody>
                    <a:bodyPr/>
                    <a:p>
                      <a:pPr marL="9525" indent="0" algn="l" fontAlgn="ctr"/>
                      <a:r>
                        <a:rPr lang="en-US" altLang="zh-CN" sz="1200" b="0" i="0">
                          <a:solidFill>
                            <a:srgbClr val="FF0000"/>
                          </a:solidFill>
                          <a:latin typeface="宋体" panose="02010600030101010101" pitchFamily="2" charset="-122"/>
                          <a:ea typeface="宋体" panose="02010600030101010101" pitchFamily="2" charset="-122"/>
                        </a:rPr>
                        <a:t>yield()</a:t>
                      </a:r>
                      <a:r>
                        <a:rPr lang="zh-CN" altLang="en-US" sz="1200" b="0" i="0">
                          <a:solidFill>
                            <a:srgbClr val="FF0000"/>
                          </a:solidFill>
                          <a:latin typeface="宋体" panose="02010600030101010101" pitchFamily="2" charset="-122"/>
                          <a:ea typeface="宋体" panose="02010600030101010101" pitchFamily="2" charset="-122"/>
                        </a:rPr>
                        <a:t>方法和</a:t>
                      </a:r>
                      <a:r>
                        <a:rPr lang="en-US" altLang="zh-CN" sz="1200" b="0" i="0">
                          <a:solidFill>
                            <a:srgbClr val="FF0000"/>
                          </a:solidFill>
                          <a:latin typeface="宋体" panose="02010600030101010101" pitchFamily="2" charset="-122"/>
                          <a:ea typeface="宋体" panose="02010600030101010101" pitchFamily="2" charset="-122"/>
                        </a:rPr>
                        <a:t>sleep()</a:t>
                      </a:r>
                      <a:r>
                        <a:rPr lang="zh-CN" altLang="en-US" sz="1200" b="0" i="0">
                          <a:solidFill>
                            <a:srgbClr val="FF0000"/>
                          </a:solidFill>
                          <a:latin typeface="宋体" panose="02010600030101010101" pitchFamily="2" charset="-122"/>
                          <a:ea typeface="宋体" panose="02010600030101010101" pitchFamily="2" charset="-122"/>
                        </a:rPr>
                        <a:t>方法有点相似，</a:t>
                      </a:r>
                      <a:r>
                        <a:rPr lang="en-US" altLang="zh-CN" sz="1200" b="0" i="0">
                          <a:solidFill>
                            <a:srgbClr val="FF0000"/>
                          </a:solidFill>
                          <a:latin typeface="宋体" panose="02010600030101010101" pitchFamily="2" charset="-122"/>
                          <a:ea typeface="宋体" panose="02010600030101010101" pitchFamily="2" charset="-122"/>
                        </a:rPr>
                        <a:t>yield()</a:t>
                      </a:r>
                      <a:r>
                        <a:rPr lang="zh-CN" altLang="en-US" sz="1200" b="0" i="0">
                          <a:solidFill>
                            <a:srgbClr val="FF0000"/>
                          </a:solidFill>
                          <a:latin typeface="宋体" panose="02010600030101010101" pitchFamily="2" charset="-122"/>
                          <a:ea typeface="宋体" panose="02010600030101010101" pitchFamily="2" charset="-122"/>
                        </a:rPr>
                        <a:t>方法也是</a:t>
                      </a:r>
                      <a:r>
                        <a:rPr lang="en-US" altLang="zh-CN" sz="1200" b="0" i="0">
                          <a:solidFill>
                            <a:srgbClr val="FF0000"/>
                          </a:solidFill>
                          <a:latin typeface="宋体" panose="02010600030101010101" pitchFamily="2" charset="-122"/>
                          <a:ea typeface="宋体" panose="02010600030101010101" pitchFamily="2" charset="-122"/>
                        </a:rPr>
                        <a:t>Thread</a:t>
                      </a:r>
                      <a:r>
                        <a:rPr lang="zh-CN" altLang="en-US" sz="1200" b="0" i="0">
                          <a:solidFill>
                            <a:srgbClr val="FF0000"/>
                          </a:solidFill>
                          <a:latin typeface="宋体" panose="02010600030101010101" pitchFamily="2" charset="-122"/>
                          <a:ea typeface="宋体" panose="02010600030101010101" pitchFamily="2" charset="-122"/>
                        </a:rPr>
                        <a:t>类提供的一个静态的方法，它也可以让当前正在执行的线程暂停，让出</a:t>
                      </a:r>
                      <a:r>
                        <a:rPr lang="en-US" altLang="zh-CN" sz="1200" b="0" i="0">
                          <a:solidFill>
                            <a:srgbClr val="FF0000"/>
                          </a:solidFill>
                          <a:latin typeface="宋体" panose="02010600030101010101" pitchFamily="2" charset="-122"/>
                          <a:ea typeface="宋体" panose="02010600030101010101" pitchFamily="2" charset="-122"/>
                        </a:rPr>
                        <a:t>CPU</a:t>
                      </a:r>
                      <a:r>
                        <a:rPr lang="zh-CN" altLang="en-US" sz="1200" b="0" i="0">
                          <a:solidFill>
                            <a:srgbClr val="FF0000"/>
                          </a:solidFill>
                          <a:latin typeface="宋体" panose="02010600030101010101" pitchFamily="2" charset="-122"/>
                          <a:ea typeface="宋体" panose="02010600030101010101" pitchFamily="2" charset="-122"/>
                        </a:rPr>
                        <a:t>资源给其它的线程。但是和</a:t>
                      </a:r>
                      <a:r>
                        <a:rPr lang="en-US" altLang="zh-CN" sz="1200" b="0" i="0">
                          <a:solidFill>
                            <a:srgbClr val="FF0000"/>
                          </a:solidFill>
                          <a:latin typeface="宋体" panose="02010600030101010101" pitchFamily="2" charset="-122"/>
                          <a:ea typeface="宋体" panose="02010600030101010101" pitchFamily="2" charset="-122"/>
                        </a:rPr>
                        <a:t>sleep()</a:t>
                      </a:r>
                      <a:r>
                        <a:rPr lang="zh-CN" altLang="en-US" sz="1200" b="0" i="0">
                          <a:solidFill>
                            <a:srgbClr val="FF0000"/>
                          </a:solidFill>
                          <a:latin typeface="宋体" panose="02010600030101010101" pitchFamily="2" charset="-122"/>
                          <a:ea typeface="宋体" panose="02010600030101010101" pitchFamily="2" charset="-122"/>
                        </a:rPr>
                        <a:t>方法不同的是，它不会进入到阻塞状态，而是进入到就绪状态。</a:t>
                      </a:r>
                      <a:r>
                        <a:rPr lang="en-US" altLang="zh-CN" sz="1200" b="0" i="0">
                          <a:solidFill>
                            <a:srgbClr val="FF0000"/>
                          </a:solidFill>
                          <a:latin typeface="宋体" panose="02010600030101010101" pitchFamily="2" charset="-122"/>
                          <a:ea typeface="宋体" panose="02010600030101010101" pitchFamily="2" charset="-122"/>
                        </a:rPr>
                        <a:t>yield()</a:t>
                      </a:r>
                      <a:r>
                        <a:rPr lang="zh-CN" altLang="en-US" sz="1200" b="0" i="0">
                          <a:solidFill>
                            <a:srgbClr val="FF0000"/>
                          </a:solidFill>
                          <a:latin typeface="宋体" panose="02010600030101010101" pitchFamily="2" charset="-122"/>
                          <a:ea typeface="宋体" panose="02010600030101010101" pitchFamily="2" charset="-122"/>
                        </a:rPr>
                        <a:t>方法只是让当前线程暂停一下，重新进入就绪的线程池中，让系统的线程调度器重新调度器重新调度一次，完全可能出现这样的情况：当某个线程调用</a:t>
                      </a:r>
                      <a:r>
                        <a:rPr lang="en-US" altLang="zh-CN" sz="1200" b="0" i="0">
                          <a:solidFill>
                            <a:srgbClr val="FF0000"/>
                          </a:solidFill>
                          <a:latin typeface="宋体" panose="02010600030101010101" pitchFamily="2" charset="-122"/>
                          <a:ea typeface="宋体" panose="02010600030101010101" pitchFamily="2" charset="-122"/>
                        </a:rPr>
                        <a:t>yield()</a:t>
                      </a:r>
                      <a:r>
                        <a:rPr lang="zh-CN" altLang="en-US" sz="1200" b="0" i="0">
                          <a:solidFill>
                            <a:srgbClr val="FF0000"/>
                          </a:solidFill>
                          <a:latin typeface="宋体" panose="02010600030101010101" pitchFamily="2" charset="-122"/>
                          <a:ea typeface="宋体" panose="02010600030101010101" pitchFamily="2" charset="-122"/>
                        </a:rPr>
                        <a:t>方法之后，线程调度器又将其调度出来重新进入到运行状态执行。</a:t>
                      </a:r>
                      <a:endParaRPr lang="zh-CN" altLang="en-US" sz="1200" b="0" i="0">
                        <a:solidFill>
                          <a:srgbClr val="FF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r>
              <a:tr h="203200">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public final void join()</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c>
                  <a:txBody>
                    <a:bodyPr/>
                    <a:p>
                      <a:pPr marL="9525" indent="0" algn="l" fontAlgn="ctr"/>
                      <a:r>
                        <a:rPr lang="zh-CN" altLang="en-US" sz="1200" b="0" i="0">
                          <a:solidFill>
                            <a:srgbClr val="000000"/>
                          </a:solidFill>
                          <a:latin typeface="宋体" panose="02010600030101010101" pitchFamily="2" charset="-122"/>
                          <a:ea typeface="宋体" panose="02010600030101010101" pitchFamily="2" charset="-122"/>
                        </a:rPr>
                        <a:t>线程的合并就是：线程</a:t>
                      </a:r>
                      <a:r>
                        <a:rPr lang="en-US" altLang="zh-CN" sz="1200" b="0" i="0">
                          <a:solidFill>
                            <a:srgbClr val="000000"/>
                          </a:solidFill>
                          <a:latin typeface="宋体" panose="02010600030101010101" pitchFamily="2" charset="-122"/>
                          <a:ea typeface="宋体" panose="02010600030101010101" pitchFamily="2" charset="-122"/>
                        </a:rPr>
                        <a:t>A</a:t>
                      </a:r>
                      <a:r>
                        <a:rPr lang="zh-CN" altLang="en-US" sz="1200" b="0" i="0">
                          <a:solidFill>
                            <a:srgbClr val="000000"/>
                          </a:solidFill>
                          <a:latin typeface="宋体" panose="02010600030101010101" pitchFamily="2" charset="-122"/>
                          <a:ea typeface="宋体" panose="02010600030101010101" pitchFamily="2" charset="-122"/>
                        </a:rPr>
                        <a:t>在运行期间，可以调用线程</a:t>
                      </a:r>
                      <a:r>
                        <a:rPr lang="en-US" altLang="zh-CN" sz="1200" b="0" i="0">
                          <a:solidFill>
                            <a:srgbClr val="000000"/>
                          </a:solidFill>
                          <a:latin typeface="宋体" panose="02010600030101010101" pitchFamily="2" charset="-122"/>
                          <a:ea typeface="宋体" panose="02010600030101010101" pitchFamily="2" charset="-122"/>
                        </a:rPr>
                        <a:t>B</a:t>
                      </a:r>
                      <a:r>
                        <a:rPr lang="zh-CN" altLang="en-US" sz="1200" b="0" i="0">
                          <a:solidFill>
                            <a:srgbClr val="000000"/>
                          </a:solidFill>
                          <a:latin typeface="宋体" panose="02010600030101010101" pitchFamily="2" charset="-122"/>
                          <a:ea typeface="宋体" panose="02010600030101010101" pitchFamily="2" charset="-122"/>
                        </a:rPr>
                        <a:t>的</a:t>
                      </a:r>
                      <a:r>
                        <a:rPr lang="en-US" altLang="zh-CN" sz="1200" b="0" i="0">
                          <a:solidFill>
                            <a:srgbClr val="000000"/>
                          </a:solidFill>
                          <a:latin typeface="宋体" panose="02010600030101010101" pitchFamily="2" charset="-122"/>
                          <a:ea typeface="宋体" panose="02010600030101010101" pitchFamily="2" charset="-122"/>
                        </a:rPr>
                        <a:t>join()</a:t>
                      </a:r>
                      <a:r>
                        <a:rPr lang="zh-CN" altLang="en-US" sz="1200" b="0" i="0">
                          <a:solidFill>
                            <a:srgbClr val="000000"/>
                          </a:solidFill>
                          <a:latin typeface="宋体" panose="02010600030101010101" pitchFamily="2" charset="-122"/>
                          <a:ea typeface="宋体" panose="02010600030101010101" pitchFamily="2" charset="-122"/>
                        </a:rPr>
                        <a:t>方法，这样线程</a:t>
                      </a:r>
                      <a:r>
                        <a:rPr lang="en-US" altLang="zh-CN" sz="1200" b="0" i="0">
                          <a:solidFill>
                            <a:srgbClr val="000000"/>
                          </a:solidFill>
                          <a:latin typeface="宋体" panose="02010600030101010101" pitchFamily="2" charset="-122"/>
                          <a:ea typeface="宋体" panose="02010600030101010101" pitchFamily="2" charset="-122"/>
                        </a:rPr>
                        <a:t>A</a:t>
                      </a:r>
                      <a:r>
                        <a:rPr lang="zh-CN" altLang="en-US" sz="1200" b="0" i="0">
                          <a:solidFill>
                            <a:srgbClr val="000000"/>
                          </a:solidFill>
                          <a:latin typeface="宋体" panose="02010600030101010101" pitchFamily="2" charset="-122"/>
                          <a:ea typeface="宋体" panose="02010600030101010101" pitchFamily="2" charset="-122"/>
                        </a:rPr>
                        <a:t>就必须等待线程</a:t>
                      </a:r>
                      <a:r>
                        <a:rPr lang="en-US" altLang="zh-CN" sz="1200" b="0" i="0">
                          <a:solidFill>
                            <a:srgbClr val="000000"/>
                          </a:solidFill>
                          <a:latin typeface="宋体" panose="02010600030101010101" pitchFamily="2" charset="-122"/>
                          <a:ea typeface="宋体" panose="02010600030101010101" pitchFamily="2" charset="-122"/>
                        </a:rPr>
                        <a:t>B</a:t>
                      </a:r>
                      <a:r>
                        <a:rPr lang="zh-CN" altLang="en-US" sz="1200" b="0" i="0">
                          <a:solidFill>
                            <a:srgbClr val="000000"/>
                          </a:solidFill>
                          <a:latin typeface="宋体" panose="02010600030101010101" pitchFamily="2" charset="-122"/>
                          <a:ea typeface="宋体" panose="02010600030101010101" pitchFamily="2" charset="-122"/>
                        </a:rPr>
                        <a:t>执行完毕后，才能继续执行</a:t>
                      </a:r>
                      <a:r>
                        <a:rPr lang="en-US" altLang="zh-CN" sz="1200" b="0" i="0">
                          <a:solidFill>
                            <a:srgbClr val="000000"/>
                          </a:solidFill>
                          <a:latin typeface="宋体" panose="02010600030101010101" pitchFamily="2" charset="-122"/>
                          <a:ea typeface="宋体" panose="02010600030101010101" pitchFamily="2" charset="-122"/>
                        </a:rPr>
                        <a:t>A</a:t>
                      </a:r>
                      <a:r>
                        <a:rPr lang="zh-CN" altLang="en-US" sz="1200" b="0" i="0">
                          <a:solidFill>
                            <a:srgbClr val="000000"/>
                          </a:solidFill>
                          <a:latin typeface="宋体" panose="02010600030101010101" pitchFamily="2" charset="-122"/>
                          <a:ea typeface="宋体" panose="02010600030101010101" pitchFamily="2" charset="-122"/>
                        </a:rPr>
                        <a:t>线程。</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r>
              <a:tr h="149860">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public final void join(long millis)</a:t>
                      </a:r>
                      <a:endParaRPr lang="en-US" altLang="zh-CN"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c>
                  <a:txBody>
                    <a:bodyPr/>
                    <a:p>
                      <a:pPr marL="9525" indent="0" algn="l" fontAlgn="ctr"/>
                      <a:r>
                        <a:rPr lang="zh-CN" altLang="en-US" sz="1200" b="0" i="0">
                          <a:solidFill>
                            <a:srgbClr val="000000"/>
                          </a:solidFill>
                          <a:latin typeface="宋体" panose="02010600030101010101" pitchFamily="2" charset="-122"/>
                          <a:ea typeface="宋体" panose="02010600030101010101" pitchFamily="2" charset="-122"/>
                        </a:rPr>
                        <a:t>等待此线程终止的最长毫秒数。</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r>
              <a:tr h="149860">
                <a:tc>
                  <a:txBody>
                    <a:bodyPr/>
                    <a:p>
                      <a:pPr marL="9525" indent="0" algn="l" fontAlgn="ctr"/>
                      <a:r>
                        <a:rPr lang="en-US" altLang="zh-CN" sz="1200" b="0" i="0">
                          <a:solidFill>
                            <a:srgbClr val="000000"/>
                          </a:solidFill>
                          <a:latin typeface="Arial" panose="020B0604020202020204"/>
                          <a:ea typeface="Arial" panose="020B0604020202020204"/>
                        </a:rPr>
                        <a:t>public final void join(long millis, int nanos)</a:t>
                      </a:r>
                      <a:endParaRPr lang="en-US" altLang="zh-CN" sz="1200" b="0" i="0">
                        <a:solidFill>
                          <a:srgbClr val="000000"/>
                        </a:solidFill>
                        <a:latin typeface="Arial" panose="020B0604020202020204"/>
                        <a:ea typeface="Arial" panose="020B0604020202020204"/>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c>
                  <a:txBody>
                    <a:bodyPr/>
                    <a:p>
                      <a:pPr marL="9525" indent="0" algn="l" fontAlgn="ctr"/>
                      <a:r>
                        <a:rPr lang="zh-CN" altLang="en-US" sz="1200" b="0" i="0">
                          <a:solidFill>
                            <a:srgbClr val="000000"/>
                          </a:solidFill>
                          <a:latin typeface="宋体" panose="02010600030101010101" pitchFamily="2" charset="-122"/>
                          <a:ea typeface="宋体" panose="02010600030101010101" pitchFamily="2" charset="-122"/>
                        </a:rPr>
                        <a:t>等待该线程终止的时间最多为毫秒加纳纳秒</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r>
              <a:tr h="150495">
                <a:tc>
                  <a:txBody>
                    <a:bodyPr/>
                    <a:p>
                      <a:pPr marL="9525" indent="0" algn="l" fontAlgn="ctr"/>
                      <a:r>
                        <a:rPr lang="en-US" altLang="zh-CN" sz="1200" b="0" i="0">
                          <a:solidFill>
                            <a:srgbClr val="000000"/>
                          </a:solidFill>
                          <a:latin typeface="Arial" panose="020B0604020202020204"/>
                          <a:ea typeface="Arial" panose="020B0604020202020204"/>
                        </a:rPr>
                        <a:t>public final void setDaemon(boolean on)</a:t>
                      </a:r>
                      <a:endParaRPr lang="en-US" altLang="zh-CN" sz="1200" b="0" i="0">
                        <a:solidFill>
                          <a:srgbClr val="000000"/>
                        </a:solidFill>
                        <a:latin typeface="Arial" panose="020B0604020202020204"/>
                        <a:ea typeface="Arial" panose="020B0604020202020204"/>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c>
                  <a:txBody>
                    <a:bodyPr/>
                    <a:p>
                      <a:pPr marL="9525" indent="0" algn="l" fontAlgn="ctr"/>
                      <a:r>
                        <a:rPr lang="en-US" altLang="zh-CN" sz="1200" b="0" i="0">
                          <a:solidFill>
                            <a:srgbClr val="000000"/>
                          </a:solidFill>
                          <a:latin typeface="宋体" panose="02010600030101010101" pitchFamily="2" charset="-122"/>
                          <a:ea typeface="宋体" panose="02010600030101010101" pitchFamily="2" charset="-122"/>
                        </a:rPr>
                        <a:t>true</a:t>
                      </a:r>
                      <a:r>
                        <a:rPr lang="zh-CN" altLang="en-US" sz="1200" b="0" i="0">
                          <a:solidFill>
                            <a:srgbClr val="000000"/>
                          </a:solidFill>
                          <a:latin typeface="宋体" panose="02010600030101010101" pitchFamily="2" charset="-122"/>
                          <a:ea typeface="宋体" panose="02010600030101010101" pitchFamily="2" charset="-122"/>
                        </a:rPr>
                        <a:t>为守护线程，必须在</a:t>
                      </a:r>
                      <a:r>
                        <a:rPr lang="en-US" altLang="zh-CN" sz="1200" b="0" i="0">
                          <a:solidFill>
                            <a:srgbClr val="000000"/>
                          </a:solidFill>
                          <a:latin typeface="宋体" panose="02010600030101010101" pitchFamily="2" charset="-122"/>
                          <a:ea typeface="宋体" panose="02010600030101010101" pitchFamily="2" charset="-122"/>
                        </a:rPr>
                        <a:t>start</a:t>
                      </a:r>
                      <a:r>
                        <a:rPr lang="zh-CN" altLang="en-US" sz="1200" b="0" i="0">
                          <a:solidFill>
                            <a:srgbClr val="000000"/>
                          </a:solidFill>
                          <a:latin typeface="宋体" panose="02010600030101010101" pitchFamily="2" charset="-122"/>
                          <a:ea typeface="宋体" panose="02010600030101010101" pitchFamily="2" charset="-122"/>
                        </a:rPr>
                        <a:t>前设置，否则会抛出</a:t>
                      </a:r>
                      <a:r>
                        <a:rPr lang="en-US" altLang="zh-CN" sz="1200" b="0" i="0">
                          <a:solidFill>
                            <a:srgbClr val="000000"/>
                          </a:solidFill>
                          <a:latin typeface="宋体" panose="02010600030101010101" pitchFamily="2" charset="-122"/>
                          <a:ea typeface="宋体" panose="02010600030101010101" pitchFamily="2" charset="-122"/>
                        </a:rPr>
                        <a:t>IllegalThreadStateException</a:t>
                      </a:r>
                      <a:r>
                        <a:rPr lang="zh-CN" altLang="en-US" sz="1200" b="0" i="0">
                          <a:solidFill>
                            <a:srgbClr val="000000"/>
                          </a:solidFill>
                          <a:latin typeface="宋体" panose="02010600030101010101" pitchFamily="2" charset="-122"/>
                          <a:ea typeface="宋体" panose="02010600030101010101" pitchFamily="2" charset="-122"/>
                        </a:rPr>
                        <a:t>异常，垃圾回收器就是典型的守护线程</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rgbClr val="FFFFFF"/>
                    </a:solidFill>
                  </a:tcPr>
                </a:tc>
              </a:tr>
              <a:tr h="116840">
                <a:tc>
                  <a:txBody>
                    <a:bodyPr/>
                    <a:p>
                      <a:pPr marL="9525" indent="0" algn="l" fontAlgn="ctr"/>
                      <a:r>
                        <a:rPr lang="en-US" altLang="zh-CN" sz="1200" b="0" i="0">
                          <a:solidFill>
                            <a:srgbClr val="000000"/>
                          </a:solidFill>
                          <a:latin typeface="Arial" panose="020B0604020202020204"/>
                          <a:ea typeface="Arial" panose="020B0604020202020204"/>
                        </a:rPr>
                        <a:t>public void interrupt()</a:t>
                      </a:r>
                      <a:endParaRPr lang="en-US" altLang="zh-CN" sz="1200" b="0" i="0">
                        <a:solidFill>
                          <a:srgbClr val="000000"/>
                        </a:solidFill>
                        <a:latin typeface="Arial" panose="020B0604020202020204"/>
                        <a:ea typeface="Arial" panose="020B0604020202020204"/>
                      </a:endParaRPr>
                    </a:p>
                  </a:txBody>
                  <a:tcPr marL="9842" marR="9842" marT="9842" anchor="ctr" anchorCtr="0">
                    <a:lnL>
                      <a:noFill/>
                    </a:lnL>
                    <a:lnR>
                      <a:noFill/>
                    </a:lnR>
                    <a:lnT w="12700" cap="flat" cmpd="sng">
                      <a:solidFill>
                        <a:srgbClr val="CCCCCC"/>
                      </a:solidFill>
                      <a:prstDash val="solid"/>
                      <a:headEnd type="none" w="med" len="med"/>
                      <a:tailEnd type="none" w="med" len="med"/>
                    </a:lnT>
                    <a:lnB>
                      <a:noFill/>
                    </a:lnB>
                    <a:noFill/>
                  </a:tcPr>
                </a:tc>
                <a:tc>
                  <a:txBody>
                    <a:bodyPr/>
                    <a:p>
                      <a:pPr marL="9525" indent="0" algn="l" fontAlgn="ctr"/>
                      <a:r>
                        <a:rPr lang="zh-CN" altLang="en-US" sz="1200" b="0" i="0">
                          <a:solidFill>
                            <a:srgbClr val="000000"/>
                          </a:solidFill>
                          <a:latin typeface="宋体" panose="02010600030101010101" pitchFamily="2" charset="-122"/>
                          <a:ea typeface="宋体" panose="02010600030101010101" pitchFamily="2" charset="-122"/>
                        </a:rPr>
                        <a:t>以异常的方式唤醒睡眠中的线程</a:t>
                      </a:r>
                      <a:endParaRPr lang="zh-CN" altLang="en-US" sz="1200" b="0" i="0">
                        <a:solidFill>
                          <a:srgbClr val="000000"/>
                        </a:solidFill>
                        <a:latin typeface="宋体" panose="02010600030101010101" pitchFamily="2" charset="-122"/>
                        <a:ea typeface="宋体" panose="02010600030101010101" pitchFamily="2" charset="-122"/>
                      </a:endParaRPr>
                    </a:p>
                  </a:txBody>
                  <a:tcPr marL="9842" marR="9842" marT="9842" anchor="ctr" anchorCtr="0">
                    <a:lnL>
                      <a:noFill/>
                    </a:lnL>
                    <a:lnR>
                      <a:noFill/>
                    </a:lnR>
                    <a:lnT w="12700" cap="flat" cmpd="sng">
                      <a:solidFill>
                        <a:srgbClr val="CCCCCC"/>
                      </a:solidFill>
                      <a:prstDash val="solid"/>
                      <a:headEnd type="none" w="med" len="med"/>
                      <a:tailEnd type="none" w="med" len="med"/>
                    </a:lnT>
                    <a:lnB>
                      <a:noFill/>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使线程睡眠 </a:t>
            </a:r>
            <a:r>
              <a:rPr lang="en-US" altLang="zh-CN" sz="2400" smtClean="0">
                <a:ea typeface="宋体" panose="02010600030101010101" pitchFamily="2" charset="-122"/>
                <a:sym typeface="+mn-ea"/>
              </a:rPr>
              <a:t>— sleep</a:t>
            </a:r>
            <a:r>
              <a:rPr lang="zh-CN" altLang="en-US" sz="2400" smtClean="0">
                <a:ea typeface="宋体" panose="02010600030101010101" pitchFamily="2" charset="-122"/>
                <a:sym typeface="+mn-ea"/>
              </a:rPr>
              <a:t>方法</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3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一个线程在运行过程中，可以调用Thread.sleep()方法以暂停（睡眠）一个指定时间。可能的原因有：</a:t>
            </a:r>
            <a:endParaRPr lang="zh-CN" altLang="en-US" sz="2000" smtClean="0">
              <a:ea typeface="宋体" panose="02010600030101010101" pitchFamily="2" charset="-122"/>
              <a:sym typeface="+mn-ea"/>
            </a:endParaRPr>
          </a:p>
          <a:p>
            <a:pPr marL="704850" lvl="1" indent="-361950">
              <a:lnSpc>
                <a:spcPct val="130000"/>
              </a:lnSpc>
              <a:buClr>
                <a:srgbClr val="ED7D31"/>
              </a:buClr>
              <a:defRPr/>
            </a:pPr>
            <a:r>
              <a:rPr lang="zh-CN" altLang="en-US" dirty="0" smtClean="0">
                <a:latin typeface="+mj-lt"/>
                <a:ea typeface="宋体" panose="02010600030101010101" pitchFamily="2" charset="-122"/>
                <a:sym typeface="+mn-ea"/>
              </a:rPr>
              <a:t>该线程应该给其它线程运行的机会</a:t>
            </a:r>
            <a:endParaRPr lang="en-US" altLang="zh-CN" dirty="0" smtClean="0">
              <a:latin typeface="+mj-lt"/>
              <a:ea typeface="宋体" panose="02010600030101010101" pitchFamily="2" charset="-122"/>
            </a:endParaRPr>
          </a:p>
          <a:p>
            <a:pPr marL="704850" lvl="1" indent="-361950">
              <a:lnSpc>
                <a:spcPct val="130000"/>
              </a:lnSpc>
              <a:buClr>
                <a:srgbClr val="ED7D31"/>
              </a:buClr>
              <a:defRPr/>
            </a:pPr>
            <a:r>
              <a:rPr lang="zh-CN" altLang="en-US" dirty="0" smtClean="0">
                <a:latin typeface="+mj-lt"/>
                <a:ea typeface="宋体" panose="02010600030101010101" pitchFamily="2" charset="-122"/>
                <a:sym typeface="+mn-ea"/>
              </a:rPr>
              <a:t>该线程可能需要等待对某个资源的</a:t>
            </a:r>
            <a:r>
              <a:rPr lang="zh-CN" altLang="en-US" dirty="0" smtClean="0">
                <a:ea typeface="宋体" panose="02010600030101010101" pitchFamily="2" charset="-122"/>
                <a:sym typeface="+mn-ea"/>
              </a:rPr>
              <a:t>访问</a:t>
            </a:r>
            <a:r>
              <a:rPr lang="zh-CN" altLang="en-US" dirty="0" smtClean="0">
                <a:latin typeface="+mj-lt"/>
                <a:ea typeface="宋体" panose="02010600030101010101" pitchFamily="2" charset="-122"/>
                <a:sym typeface="+mn-ea"/>
              </a:rPr>
              <a:t>，直到资源可用时再继续执行。</a:t>
            </a:r>
            <a:endParaRPr lang="zh-CN" altLang="en-US" sz="2000" smtClean="0">
              <a:ea typeface="宋体" panose="02010600030101010101" pitchFamily="2" charset="-122"/>
              <a:sym typeface="+mn-ea"/>
            </a:endParaRPr>
          </a:p>
          <a:p>
            <a:pPr marL="457200" lvl="2" indent="-457200" algn="l">
              <a:lnSpc>
                <a:spcPct val="13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sleep方法是一个静态方法，可使调用该方法的线程暂停一段时间（由参数指定），这也称为睡眠。</a:t>
            </a:r>
            <a:endParaRPr lang="zh-CN" altLang="en-US" sz="2000" smtClean="0">
              <a:ea typeface="宋体" panose="02010600030101010101" pitchFamily="2" charset="-122"/>
            </a:endParaRPr>
          </a:p>
          <a:p>
            <a:pPr marL="457200" lvl="2" indent="-457200" algn="l">
              <a:lnSpc>
                <a:spcPct val="13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睡眠中的线程有两种唤醒方式：</a:t>
            </a:r>
            <a:endParaRPr lang="zh-CN" altLang="en-US" sz="2000" smtClean="0">
              <a:ea typeface="宋体" panose="02010600030101010101" pitchFamily="2" charset="-122"/>
              <a:sym typeface="+mn-ea"/>
            </a:endParaRPr>
          </a:p>
          <a:p>
            <a:pPr marL="704850" lvl="1" indent="-361950">
              <a:lnSpc>
                <a:spcPct val="130000"/>
              </a:lnSpc>
              <a:buClr>
                <a:srgbClr val="ED7D31"/>
              </a:buClr>
              <a:defRPr/>
            </a:pPr>
            <a:r>
              <a:rPr lang="zh-CN" altLang="en-US" dirty="0" smtClean="0">
                <a:ea typeface="宋体" panose="02010600030101010101" pitchFamily="2" charset="-122"/>
                <a:sym typeface="+mn-ea"/>
              </a:rPr>
              <a:t>主动唤醒：当到达指定睡眠时间后</a:t>
            </a:r>
            <a:endParaRPr lang="en-US" altLang="zh-CN" dirty="0" smtClean="0">
              <a:ea typeface="宋体" panose="02010600030101010101" pitchFamily="2" charset="-122"/>
            </a:endParaRPr>
          </a:p>
          <a:p>
            <a:pPr marL="704850" lvl="1" indent="-361950">
              <a:lnSpc>
                <a:spcPct val="130000"/>
              </a:lnSpc>
              <a:buClr>
                <a:srgbClr val="ED7D31"/>
              </a:buClr>
              <a:defRPr/>
            </a:pPr>
            <a:r>
              <a:rPr lang="zh-CN" altLang="en-US" dirty="0" smtClean="0">
                <a:ea typeface="宋体" panose="02010600030101010101" pitchFamily="2" charset="-122"/>
                <a:sym typeface="+mn-ea"/>
              </a:rPr>
              <a:t>被动唤醒：被另一个线程调用了</a:t>
            </a:r>
            <a:r>
              <a:rPr lang="en-US" altLang="zh-CN" dirty="0" smtClean="0">
                <a:ea typeface="宋体" panose="02010600030101010101" pitchFamily="2" charset="-122"/>
                <a:sym typeface="+mn-ea"/>
              </a:rPr>
              <a:t>interrupt</a:t>
            </a:r>
            <a:r>
              <a:rPr lang="zh-CN" altLang="en-US" dirty="0" smtClean="0">
                <a:ea typeface="宋体" panose="02010600030101010101" pitchFamily="2" charset="-122"/>
                <a:sym typeface="+mn-ea"/>
              </a:rPr>
              <a:t>方法，因此而收到</a:t>
            </a:r>
            <a:r>
              <a:rPr lang="en-US" altLang="zh-CN" dirty="0" err="1" smtClean="0">
                <a:ea typeface="宋体" panose="02010600030101010101" pitchFamily="2" charset="-122"/>
                <a:sym typeface="+mn-ea"/>
              </a:rPr>
              <a:t>InterruptedException</a:t>
            </a:r>
            <a:r>
              <a:rPr lang="zh-CN" altLang="en-US" dirty="0" smtClean="0">
                <a:ea typeface="宋体" panose="02010600030101010101" pitchFamily="2" charset="-122"/>
                <a:sym typeface="+mn-ea"/>
              </a:rPr>
              <a:t>唤醒信号。</a:t>
            </a:r>
            <a:endParaRPr lang="en-US" altLang="zh-CN" dirty="0" smtClean="0">
              <a:ea typeface="宋体" panose="02010600030101010101" pitchFamily="2" charset="-122"/>
            </a:endParaRPr>
          </a:p>
          <a:p>
            <a:pPr marL="914400" lvl="3" indent="-457200" algn="l">
              <a:lnSpc>
                <a:spcPct val="130000"/>
              </a:lnSpc>
              <a:spcBef>
                <a:spcPts val="1000"/>
              </a:spcBef>
              <a:buClr>
                <a:srgbClr val="ED7D31"/>
              </a:buClr>
              <a:buSzTx/>
              <a:buFont typeface="+mj-lt"/>
              <a:buAutoNum type="arabicPeriod"/>
            </a:pPr>
            <a:endParaRPr lang="zh-CN" altLang="en-US" sz="2000" smtClean="0">
              <a:ea typeface="宋体" panose="02010600030101010101" pitchFamily="2" charset="-122"/>
            </a:endParaRPr>
          </a:p>
          <a:p>
            <a:pPr marL="457200" lvl="2" indent="-457200" algn="l">
              <a:lnSpc>
                <a:spcPct val="130000"/>
              </a:lnSpc>
              <a:spcBef>
                <a:spcPts val="1000"/>
              </a:spcBef>
              <a:buClr>
                <a:srgbClr val="ED7D31"/>
              </a:buClr>
              <a:buSzTx/>
              <a:buFont typeface="+mj-lt"/>
              <a:buAutoNum type="arabicPeriod"/>
            </a:pPr>
            <a:endParaRPr lang="zh-CN" altLang="en-US" sz="2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线程的阻塞状态</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3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当线程调用了Thread.sleep()方法后，进入阻塞状态。</a:t>
            </a:r>
            <a:endParaRPr lang="zh-CN" altLang="en-US" sz="2000" smtClean="0">
              <a:ea typeface="宋体" panose="02010600030101010101" pitchFamily="2" charset="-122"/>
            </a:endParaRPr>
          </a:p>
          <a:p>
            <a:pPr marL="457200" lvl="2" indent="-457200" algn="l">
              <a:lnSpc>
                <a:spcPct val="13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当被阻塞线程醒来后，将回到可运行状态。当然这并不意味着其立即执行，而是需要等待被调度到运行状态后才能继续执行。</a:t>
            </a:r>
            <a:endParaRPr lang="zh-CN" altLang="en-US" sz="2000" smtClean="0">
              <a:ea typeface="宋体" panose="02010600030101010101" pitchFamily="2" charset="-122"/>
              <a:sym typeface="+mn-ea"/>
            </a:endParaRPr>
          </a:p>
          <a:p>
            <a:pPr marL="457200" lvl="2" indent="-457200" algn="l">
              <a:lnSpc>
                <a:spcPct val="130000"/>
              </a:lnSpc>
              <a:spcBef>
                <a:spcPts val="1000"/>
              </a:spcBef>
              <a:buClr>
                <a:srgbClr val="ED7D31"/>
              </a:buClr>
              <a:buSzTx/>
              <a:buFont typeface="+mj-lt"/>
              <a:buAutoNum type="arabicPeriod"/>
            </a:pPr>
            <a:endParaRPr lang="zh-CN" altLang="en-US" sz="2000" smtClean="0">
              <a:ea typeface="宋体" panose="02010600030101010101" pitchFamily="2" charset="-122"/>
            </a:endParaRPr>
          </a:p>
          <a:p>
            <a:pPr marL="914400" lvl="3" indent="-457200" algn="l">
              <a:lnSpc>
                <a:spcPct val="130000"/>
              </a:lnSpc>
              <a:spcBef>
                <a:spcPts val="1000"/>
              </a:spcBef>
              <a:buClr>
                <a:srgbClr val="ED7D31"/>
              </a:buClr>
              <a:buSzTx/>
              <a:buFont typeface="+mj-lt"/>
              <a:buAutoNum type="arabicPeriod"/>
            </a:pPr>
            <a:endParaRPr lang="zh-CN" altLang="en-US" sz="2000" smtClean="0">
              <a:ea typeface="宋体" panose="02010600030101010101" pitchFamily="2" charset="-122"/>
            </a:endParaRPr>
          </a:p>
          <a:p>
            <a:pPr marL="457200" lvl="2" indent="-457200" algn="l">
              <a:lnSpc>
                <a:spcPct val="130000"/>
              </a:lnSpc>
              <a:spcBef>
                <a:spcPts val="1000"/>
              </a:spcBef>
              <a:buClr>
                <a:srgbClr val="ED7D31"/>
              </a:buClr>
              <a:buSzTx/>
              <a:buFont typeface="+mj-lt"/>
              <a:buAutoNum type="arabicPeriod"/>
            </a:pPr>
            <a:endParaRPr lang="zh-CN" altLang="en-US" sz="2000" smtClean="0">
              <a:ea typeface="宋体" panose="02010600030101010101" pitchFamily="2" charset="-122"/>
              <a:sym typeface="+mn-ea"/>
            </a:endParaRPr>
          </a:p>
        </p:txBody>
      </p:sp>
      <p:pic>
        <p:nvPicPr>
          <p:cNvPr id="385029" name="图片 1"/>
          <p:cNvPicPr>
            <a:picLocks noChangeAspect="1" noChangeArrowheads="1"/>
          </p:cNvPicPr>
          <p:nvPr/>
        </p:nvPicPr>
        <p:blipFill>
          <a:blip r:embed="rId5"/>
          <a:srcRect/>
          <a:stretch>
            <a:fillRect/>
          </a:stretch>
        </p:blipFill>
        <p:spPr bwMode="auto">
          <a:xfrm>
            <a:off x="1883093" y="2473027"/>
            <a:ext cx="6985000" cy="3001963"/>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使线程睡眠 </a:t>
            </a:r>
            <a:r>
              <a:rPr lang="en-US" altLang="zh-CN" sz="2400" smtClean="0">
                <a:ea typeface="宋体" panose="02010600030101010101" pitchFamily="2" charset="-122"/>
                <a:sym typeface="+mn-ea"/>
              </a:rPr>
              <a:t>— join</a:t>
            </a:r>
            <a:r>
              <a:rPr lang="zh-CN" altLang="en-US" sz="2400" smtClean="0">
                <a:ea typeface="宋体" panose="02010600030101010101" pitchFamily="2" charset="-122"/>
                <a:sym typeface="+mn-ea"/>
              </a:rPr>
              <a:t>方法</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4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join方法会使当前线程进入阻塞状态，直到join方法所在的线程结束，或到达指定的时间。</a:t>
            </a:r>
            <a:endParaRPr lang="zh-CN" altLang="en-US" sz="2000" smtClean="0">
              <a:ea typeface="宋体" panose="02010600030101010101" pitchFamily="2" charset="-122"/>
            </a:endParaRPr>
          </a:p>
          <a:p>
            <a:pPr marL="457200" lvl="2" indent="-457200" algn="l">
              <a:lnSpc>
                <a:spcPct val="14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与sleep方法不同， join方法是一个实例方法。</a:t>
            </a:r>
            <a:endParaRPr lang="zh-CN" altLang="en-US" sz="2000" smtClean="0">
              <a:ea typeface="宋体" panose="02010600030101010101" pitchFamily="2" charset="-122"/>
            </a:endParaRPr>
          </a:p>
          <a:p>
            <a:pPr marL="457200" lvl="2" indent="-457200" algn="l">
              <a:lnSpc>
                <a:spcPct val="14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因调用join方法而阻塞的线程有三种唤醒方式：</a:t>
            </a:r>
            <a:endParaRPr lang="zh-CN" altLang="en-US" sz="2000" smtClean="0">
              <a:ea typeface="宋体" panose="02010600030101010101" pitchFamily="2" charset="-122"/>
              <a:sym typeface="+mn-ea"/>
            </a:endParaRPr>
          </a:p>
          <a:p>
            <a:pPr marL="704850" lvl="1" indent="-361950">
              <a:lnSpc>
                <a:spcPct val="140000"/>
              </a:lnSpc>
              <a:buClr>
                <a:srgbClr val="ED7D31"/>
              </a:buClr>
              <a:defRPr/>
            </a:pPr>
            <a:r>
              <a:rPr lang="zh-CN" altLang="en-US" dirty="0" smtClean="0">
                <a:ea typeface="宋体" panose="02010600030101010101" pitchFamily="2" charset="-122"/>
                <a:sym typeface="+mn-ea"/>
              </a:rPr>
              <a:t>线程结束唤醒：当所</a:t>
            </a:r>
            <a:r>
              <a:rPr lang="en-US" altLang="zh-CN" dirty="0" smtClean="0">
                <a:ea typeface="宋体" panose="02010600030101010101" pitchFamily="2" charset="-122"/>
                <a:sym typeface="+mn-ea"/>
              </a:rPr>
              <a:t>join</a:t>
            </a:r>
            <a:r>
              <a:rPr lang="zh-CN" altLang="en-US" dirty="0" smtClean="0">
                <a:ea typeface="宋体" panose="02010600030101010101" pitchFamily="2" charset="-122"/>
                <a:sym typeface="+mn-ea"/>
              </a:rPr>
              <a:t>的线程运行结束后</a:t>
            </a:r>
            <a:endParaRPr lang="en-US" altLang="zh-CN" dirty="0" smtClean="0">
              <a:ea typeface="宋体" panose="02010600030101010101" pitchFamily="2" charset="-122"/>
            </a:endParaRPr>
          </a:p>
          <a:p>
            <a:pPr marL="704850" lvl="1" indent="-361950">
              <a:lnSpc>
                <a:spcPct val="140000"/>
              </a:lnSpc>
              <a:buClr>
                <a:srgbClr val="ED7D31"/>
              </a:buClr>
              <a:defRPr/>
            </a:pPr>
            <a:r>
              <a:rPr lang="zh-CN" altLang="en-US" dirty="0" smtClean="0">
                <a:ea typeface="宋体" panose="02010600030101010101" pitchFamily="2" charset="-122"/>
                <a:sym typeface="+mn-ea"/>
              </a:rPr>
              <a:t>主动唤醒：当到达指定阻塞时间后</a:t>
            </a:r>
            <a:endParaRPr lang="en-US" altLang="zh-CN" dirty="0" smtClean="0">
              <a:ea typeface="宋体" panose="02010600030101010101" pitchFamily="2" charset="-122"/>
            </a:endParaRPr>
          </a:p>
          <a:p>
            <a:pPr marL="704850" lvl="1" indent="-361950">
              <a:lnSpc>
                <a:spcPct val="140000"/>
              </a:lnSpc>
              <a:buClr>
                <a:srgbClr val="ED7D31"/>
              </a:buClr>
              <a:defRPr/>
            </a:pPr>
            <a:r>
              <a:rPr lang="zh-CN" altLang="en-US" dirty="0" smtClean="0">
                <a:ea typeface="宋体" panose="02010600030101010101" pitchFamily="2" charset="-122"/>
                <a:sym typeface="+mn-ea"/>
              </a:rPr>
              <a:t>被动唤醒：被另一个线程调用了</a:t>
            </a:r>
            <a:r>
              <a:rPr lang="en-US" altLang="zh-CN" dirty="0" smtClean="0">
                <a:ea typeface="宋体" panose="02010600030101010101" pitchFamily="2" charset="-122"/>
                <a:sym typeface="+mn-ea"/>
              </a:rPr>
              <a:t>interrupt</a:t>
            </a:r>
            <a:r>
              <a:rPr lang="zh-CN" altLang="en-US" dirty="0" smtClean="0">
                <a:ea typeface="宋体" panose="02010600030101010101" pitchFamily="2" charset="-122"/>
                <a:sym typeface="+mn-ea"/>
              </a:rPr>
              <a:t>方法，因此而收到</a:t>
            </a:r>
            <a:r>
              <a:rPr lang="en-US" altLang="zh-CN" dirty="0" err="1" smtClean="0">
                <a:ea typeface="宋体" panose="02010600030101010101" pitchFamily="2" charset="-122"/>
                <a:sym typeface="+mn-ea"/>
              </a:rPr>
              <a:t>InterruptedException</a:t>
            </a:r>
            <a:r>
              <a:rPr lang="zh-CN" altLang="en-US" dirty="0" smtClean="0">
                <a:ea typeface="宋体" panose="02010600030101010101" pitchFamily="2" charset="-122"/>
                <a:sym typeface="+mn-ea"/>
              </a:rPr>
              <a:t>唤醒信号。</a:t>
            </a:r>
            <a:endParaRPr lang="en-US" altLang="zh-CN" dirty="0" smtClean="0">
              <a:ea typeface="宋体" panose="02010600030101010101" pitchFamily="2" charset="-122"/>
            </a:endParaRPr>
          </a:p>
          <a:p>
            <a:pPr marL="914400" lvl="3" indent="-457200" algn="l">
              <a:lnSpc>
                <a:spcPct val="140000"/>
              </a:lnSpc>
              <a:spcBef>
                <a:spcPts val="1000"/>
              </a:spcBef>
              <a:buClr>
                <a:srgbClr val="ED7D31"/>
              </a:buClr>
              <a:buSzTx/>
              <a:buFont typeface="+mj-lt"/>
              <a:buAutoNum type="arabicPeriod"/>
            </a:pPr>
            <a:endParaRPr lang="zh-CN" altLang="en-US" sz="2000" smtClean="0">
              <a:ea typeface="宋体" panose="02010600030101010101" pitchFamily="2" charset="-122"/>
            </a:endParaRPr>
          </a:p>
          <a:p>
            <a:pPr marL="914400" lvl="3" indent="-457200" algn="l">
              <a:lnSpc>
                <a:spcPct val="140000"/>
              </a:lnSpc>
              <a:spcBef>
                <a:spcPts val="1000"/>
              </a:spcBef>
              <a:buClr>
                <a:srgbClr val="ED7D31"/>
              </a:buClr>
              <a:buSzTx/>
              <a:buFont typeface="+mj-lt"/>
              <a:buAutoNum type="arabicPeriod"/>
            </a:pPr>
            <a:endParaRPr lang="zh-CN" altLang="en-US" sz="2000" smtClean="0">
              <a:ea typeface="宋体" panose="02010600030101010101" pitchFamily="2" charset="-122"/>
            </a:endParaRPr>
          </a:p>
          <a:p>
            <a:pPr marL="457200" lvl="2" indent="-457200" algn="l">
              <a:lnSpc>
                <a:spcPct val="130000"/>
              </a:lnSpc>
              <a:spcBef>
                <a:spcPts val="1000"/>
              </a:spcBef>
              <a:buClr>
                <a:srgbClr val="ED7D31"/>
              </a:buClr>
              <a:buSzTx/>
              <a:buFont typeface="+mj-lt"/>
              <a:buAutoNum type="arabicPeriod"/>
            </a:pPr>
            <a:endParaRPr lang="zh-CN" altLang="en-US" sz="2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dirty="0">
                <a:latin typeface="思源黑体 CN Medium" panose="020B0600000000000000" pitchFamily="34" charset="-122"/>
                <a:ea typeface="思源黑体 CN Medium" panose="020B0600000000000000" pitchFamily="34" charset="-122"/>
                <a:sym typeface="思源宋体 CN Heavy" panose="02020900000000000000" charset="-122"/>
              </a:rPr>
              <a:t>如何正确终止一个线程的执行</a:t>
            </a:r>
            <a:endParaRPr lang="zh-CN" altLang="en-US" sz="2400" spc="300" dirty="0">
              <a:solidFill>
                <a:srgbClr val="002060"/>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935990"/>
            <a:ext cx="11037570" cy="5375910"/>
          </a:xfrm>
        </p:spPr>
        <p:txBody>
          <a:bodyPr>
            <a:noAutofit/>
          </a:bodyPr>
          <a:p>
            <a:pPr marL="0" algn="l" defTabSz="457200" hangingPunct="0">
              <a:lnSpc>
                <a:spcPct val="150000"/>
              </a:lnSpc>
              <a:spcAft>
                <a:spcPts val="0"/>
              </a:spcAft>
              <a:buClrTx/>
              <a:buSzTx/>
              <a:buNone/>
              <a:defRPr/>
            </a:pPr>
            <a:r>
              <a:rPr lang="en-US" altLang="zh-CN" sz="1000" kern="0" dirty="0">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这种方式适用于线程内部有循环等待或长时间执行却需要随时判断是否要退出的场景。开发者需要在循环内部定期检查退出标记以决定是否要退出循环，实现的方式如下：</a:t>
            </a:r>
            <a:endParaRPr lang="en-US" altLang="zh-CN" sz="10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000" kern="0" dirty="0">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public class StoppableTask extends Thread {</a:t>
            </a:r>
            <a:endParaRPr lang="en-US" altLang="zh-CN" sz="10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000" kern="0" dirty="0">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    private boolean stopRequested;</a:t>
            </a:r>
            <a:endParaRPr lang="en-US" altLang="zh-CN" sz="10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000" kern="0" dirty="0">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    @Override</a:t>
            </a:r>
            <a:endParaRPr lang="en-US" altLang="zh-CN" sz="10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000" kern="0" dirty="0">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    public void run() {</a:t>
            </a:r>
            <a:endParaRPr lang="en-US" altLang="zh-CN" sz="10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000" kern="0" dirty="0">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        while (!stopRequested) {</a:t>
            </a:r>
            <a:endParaRPr lang="en-US" altLang="zh-CN" sz="10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000" kern="0" dirty="0">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            // do something</a:t>
            </a:r>
            <a:endParaRPr lang="en-US" altLang="zh-CN" sz="10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000" kern="0" dirty="0">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        }</a:t>
            </a:r>
            <a:endParaRPr lang="en-US" altLang="zh-CN" sz="10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000" kern="0" dirty="0">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    }</a:t>
            </a:r>
            <a:endParaRPr lang="en-US" altLang="zh-CN" sz="10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000" kern="0" dirty="0">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    public void requestStop() {</a:t>
            </a:r>
            <a:endParaRPr lang="en-US" altLang="zh-CN" sz="10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000" kern="0" dirty="0">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        stopRequested = true;</a:t>
            </a:r>
            <a:endParaRPr lang="en-US" altLang="zh-CN" sz="10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000" kern="0" dirty="0">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    }</a:t>
            </a:r>
            <a:endParaRPr lang="en-US" altLang="zh-CN" sz="10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000" kern="0" dirty="0">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a:t>
            </a:r>
            <a:endParaRPr lang="en-US" altLang="zh-CN" sz="10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0" algn="l" defTabSz="457200" hangingPunct="0">
              <a:lnSpc>
                <a:spcPct val="150000"/>
              </a:lnSpc>
              <a:spcAft>
                <a:spcPts val="0"/>
              </a:spcAft>
              <a:buClrTx/>
              <a:buSzTx/>
              <a:buNone/>
              <a:defRPr/>
            </a:pPr>
            <a:r>
              <a:rPr lang="en-US" altLang="zh-CN" sz="1000" kern="0" dirty="0">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rPr>
              <a:t>当代码调用`requestStop()`方法时，`StoppableTask`的线程将在下一次检查到`stopRequested`时退出循环。</a:t>
            </a:r>
            <a:endParaRPr lang="en-US" altLang="zh-CN" sz="1000" kern="0" dirty="0">
              <a:solidFill>
                <a:schemeClr val="tx1"/>
              </a:solidFill>
              <a:latin typeface="思源黑体 CN Medium" panose="020B0600000000000000" pitchFamily="34" charset="-122"/>
              <a:ea typeface="思源黑体 CN Medium" panose="020B0600000000000000" pitchFamily="34" charset="-122"/>
              <a:cs typeface="微软雅黑" panose="020B0503020204020204" charset="-122"/>
              <a:sym typeface="思源宋体 CN Heavy" panose="02020900000000000000" charset="-122"/>
            </a:endParaRPr>
          </a:p>
          <a:p>
            <a:pPr marL="457200" lvl="3" indent="0" algn="l">
              <a:lnSpc>
                <a:spcPct val="140000"/>
              </a:lnSpc>
              <a:spcBef>
                <a:spcPts val="1000"/>
              </a:spcBef>
              <a:buClr>
                <a:srgbClr val="ED7D31"/>
              </a:buClr>
              <a:buSzTx/>
              <a:buFont typeface="+mj-lt"/>
              <a:buNone/>
            </a:pPr>
            <a:endParaRPr lang="zh-CN" altLang="en-US" sz="1000" smtClean="0">
              <a:ea typeface="宋体" panose="02010600030101010101" pitchFamily="2" charset="-122"/>
            </a:endParaRPr>
          </a:p>
          <a:p>
            <a:pPr marL="914400" lvl="3" indent="-457200" algn="l">
              <a:lnSpc>
                <a:spcPct val="140000"/>
              </a:lnSpc>
              <a:spcBef>
                <a:spcPts val="1000"/>
              </a:spcBef>
              <a:buClr>
                <a:srgbClr val="ED7D31"/>
              </a:buClr>
              <a:buSzTx/>
              <a:buFont typeface="+mj-lt"/>
              <a:buAutoNum type="arabicPeriod"/>
            </a:pPr>
            <a:endParaRPr lang="zh-CN" altLang="en-US" sz="1000" smtClean="0">
              <a:ea typeface="宋体" panose="02010600030101010101" pitchFamily="2" charset="-122"/>
            </a:endParaRPr>
          </a:p>
          <a:p>
            <a:pPr marL="457200" lvl="2" indent="-457200" algn="l">
              <a:lnSpc>
                <a:spcPct val="130000"/>
              </a:lnSpc>
              <a:spcBef>
                <a:spcPts val="1000"/>
              </a:spcBef>
              <a:buClr>
                <a:srgbClr val="ED7D31"/>
              </a:buClr>
              <a:buSzTx/>
              <a:buFont typeface="+mj-lt"/>
              <a:buAutoNum type="arabicPeriod"/>
            </a:pPr>
            <a:endParaRPr lang="zh-CN" altLang="en-US" sz="1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线程的优先级</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4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在Java语言中，线程共分为10个优先级，用数值1~10表示。Thread 类定义了下列优先级常量：</a:t>
            </a:r>
            <a:endParaRPr lang="zh-CN" altLang="en-US" sz="2000" smtClean="0">
              <a:ea typeface="宋体" panose="02010600030101010101" pitchFamily="2" charset="-122"/>
              <a:sym typeface="+mn-ea"/>
            </a:endParaRPr>
          </a:p>
          <a:p>
            <a:pPr marL="704850" lvl="1" indent="-361950">
              <a:buClr>
                <a:srgbClr val="ED7D31"/>
              </a:buClr>
              <a:defRPr/>
            </a:pPr>
            <a:r>
              <a:rPr lang="zh-CN" altLang="en-US" smtClean="0">
                <a:ea typeface="宋体" panose="02010600030101010101" pitchFamily="2" charset="-122"/>
                <a:sym typeface="+mn-ea"/>
              </a:rPr>
              <a:t>Thread.MIN_PRIORITY = 1</a:t>
            </a:r>
            <a:endParaRPr lang="zh-CN" altLang="en-US" smtClean="0">
              <a:ea typeface="宋体" panose="02010600030101010101" pitchFamily="2" charset="-122"/>
            </a:endParaRPr>
          </a:p>
          <a:p>
            <a:pPr marL="704850" lvl="1" indent="-361950">
              <a:buClr>
                <a:srgbClr val="ED7D31"/>
              </a:buClr>
              <a:defRPr/>
            </a:pPr>
            <a:r>
              <a:rPr lang="zh-CN" altLang="en-US" smtClean="0">
                <a:ea typeface="宋体" panose="02010600030101010101" pitchFamily="2" charset="-122"/>
                <a:sym typeface="+mn-ea"/>
              </a:rPr>
              <a:t>Thread.NORM_PRIORITY = 5</a:t>
            </a:r>
            <a:endParaRPr lang="zh-CN" altLang="en-US" smtClean="0">
              <a:ea typeface="宋体" panose="02010600030101010101" pitchFamily="2" charset="-122"/>
            </a:endParaRPr>
          </a:p>
          <a:p>
            <a:pPr marL="704850" lvl="1" indent="-361950">
              <a:buClr>
                <a:srgbClr val="ED7D31"/>
              </a:buClr>
              <a:defRPr/>
            </a:pPr>
            <a:r>
              <a:rPr lang="zh-CN" altLang="en-US" smtClean="0">
                <a:ea typeface="宋体" panose="02010600030101010101" pitchFamily="2" charset="-122"/>
                <a:sym typeface="+mn-ea"/>
              </a:rPr>
              <a:t>Thread.MAX_PRIORITY = 10</a:t>
            </a:r>
            <a:endParaRPr lang="zh-CN" altLang="en-US" sz="2000" smtClean="0">
              <a:ea typeface="宋体" panose="02010600030101010101" pitchFamily="2" charset="-122"/>
              <a:sym typeface="+mn-ea"/>
            </a:endParaRPr>
          </a:p>
          <a:p>
            <a:pPr marL="457200" lvl="2" indent="-457200" algn="l">
              <a:lnSpc>
                <a:spcPct val="14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线程的缺省优先级是NORM_PRIORITY。</a:t>
            </a:r>
            <a:endParaRPr lang="zh-CN" altLang="en-US" sz="2000" smtClean="0">
              <a:ea typeface="宋体" panose="02010600030101010101" pitchFamily="2" charset="-122"/>
            </a:endParaRPr>
          </a:p>
          <a:p>
            <a:pPr marL="457200" lvl="2" indent="-457200" algn="l">
              <a:lnSpc>
                <a:spcPct val="14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高优先级的线程将获得更多被调度的机会。</a:t>
            </a:r>
            <a:endParaRPr lang="zh-CN" altLang="en-US" sz="2000" smtClean="0">
              <a:ea typeface="宋体" panose="02010600030101010101" pitchFamily="2" charset="-122"/>
            </a:endParaRPr>
          </a:p>
          <a:p>
            <a:pPr marL="457200" lvl="2" indent="-457200" algn="l">
              <a:lnSpc>
                <a:spcPct val="14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访问线程优先级的方法:</a:t>
            </a:r>
            <a:endParaRPr lang="zh-CN" altLang="en-US" sz="2000" smtClean="0">
              <a:ea typeface="宋体" panose="02010600030101010101" pitchFamily="2" charset="-122"/>
              <a:sym typeface="+mn-ea"/>
            </a:endParaRPr>
          </a:p>
          <a:p>
            <a:pPr marL="704850" lvl="1" indent="-361950" algn="l">
              <a:buClr>
                <a:srgbClr val="ED7D31"/>
              </a:buClr>
              <a:buSzTx/>
              <a:defRPr/>
            </a:pPr>
            <a:r>
              <a:rPr lang="zh-CN" altLang="en-US" smtClean="0">
                <a:ea typeface="宋体" panose="02010600030101010101" pitchFamily="2" charset="-122"/>
                <a:sym typeface="+mn-ea"/>
              </a:rPr>
              <a:t>getPriority()：获取线程的优先级</a:t>
            </a:r>
            <a:endParaRPr lang="zh-CN" altLang="en-US" smtClean="0">
              <a:ea typeface="宋体" panose="02010600030101010101" pitchFamily="2" charset="-122"/>
            </a:endParaRPr>
          </a:p>
          <a:p>
            <a:pPr marL="704850" lvl="1" indent="-361950" algn="l">
              <a:buClr>
                <a:srgbClr val="ED7D31"/>
              </a:buClr>
              <a:buSzTx/>
              <a:defRPr/>
            </a:pPr>
            <a:r>
              <a:rPr lang="zh-CN" altLang="en-US" smtClean="0">
                <a:ea typeface="宋体" panose="02010600030101010101" pitchFamily="2" charset="-122"/>
                <a:sym typeface="+mn-ea"/>
              </a:rPr>
              <a:t>setPriority() ：设置线程的优先级</a:t>
            </a:r>
            <a:endParaRPr lang="zh-CN" altLang="en-US" smtClean="0">
              <a:ea typeface="宋体" panose="02010600030101010101" pitchFamily="2" charset="-122"/>
            </a:endParaRPr>
          </a:p>
          <a:p>
            <a:pPr marL="914400" lvl="3" indent="-457200" algn="l">
              <a:lnSpc>
                <a:spcPct val="140000"/>
              </a:lnSpc>
              <a:spcBef>
                <a:spcPts val="1000"/>
              </a:spcBef>
              <a:buClr>
                <a:srgbClr val="ED7D31"/>
              </a:buClr>
              <a:buSzTx/>
              <a:buFont typeface="+mj-lt"/>
              <a:buAutoNum type="arabicPeriod"/>
            </a:pPr>
            <a:endParaRPr lang="zh-CN" altLang="en-US" sz="2000" smtClean="0">
              <a:ea typeface="宋体" panose="02010600030101010101" pitchFamily="2" charset="-122"/>
            </a:endParaRPr>
          </a:p>
          <a:p>
            <a:pPr marL="914400" lvl="3" indent="-457200" algn="l">
              <a:lnSpc>
                <a:spcPct val="140000"/>
              </a:lnSpc>
              <a:spcBef>
                <a:spcPts val="1000"/>
              </a:spcBef>
              <a:buClr>
                <a:srgbClr val="ED7D31"/>
              </a:buClr>
              <a:buSzTx/>
              <a:buFont typeface="+mj-lt"/>
              <a:buAutoNum type="arabicPeriod"/>
            </a:pPr>
            <a:endParaRPr lang="zh-CN" altLang="en-US" sz="2000" smtClean="0">
              <a:ea typeface="宋体" panose="02010600030101010101" pitchFamily="2" charset="-122"/>
            </a:endParaRPr>
          </a:p>
          <a:p>
            <a:pPr marL="914400" lvl="3" indent="-457200" algn="l">
              <a:lnSpc>
                <a:spcPct val="140000"/>
              </a:lnSpc>
              <a:spcBef>
                <a:spcPts val="1000"/>
              </a:spcBef>
              <a:buClr>
                <a:srgbClr val="ED7D31"/>
              </a:buClr>
              <a:buSzTx/>
              <a:buFont typeface="+mj-lt"/>
              <a:buAutoNum type="arabicPeriod"/>
            </a:pPr>
            <a:endParaRPr lang="zh-CN" altLang="en-US" sz="2000" smtClean="0">
              <a:ea typeface="宋体" panose="02010600030101010101" pitchFamily="2" charset="-122"/>
            </a:endParaRPr>
          </a:p>
          <a:p>
            <a:pPr marL="457200" lvl="2" indent="-457200" algn="l">
              <a:lnSpc>
                <a:spcPct val="130000"/>
              </a:lnSpc>
              <a:spcBef>
                <a:spcPts val="1000"/>
              </a:spcBef>
              <a:buClr>
                <a:srgbClr val="ED7D31"/>
              </a:buClr>
              <a:buSzTx/>
              <a:buFont typeface="+mj-lt"/>
              <a:buAutoNum type="arabicPeriod"/>
            </a:pPr>
            <a:endParaRPr lang="zh-CN" altLang="en-US" sz="2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守护线程</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4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线程可以分为:</a:t>
            </a:r>
            <a:endParaRPr lang="zh-CN" altLang="en-US" sz="2000" smtClean="0">
              <a:ea typeface="宋体" panose="02010600030101010101" pitchFamily="2" charset="-122"/>
              <a:sym typeface="+mn-ea"/>
            </a:endParaRPr>
          </a:p>
          <a:p>
            <a:pPr marL="914400" lvl="3" indent="-457200" algn="l">
              <a:lnSpc>
                <a:spcPct val="140000"/>
              </a:lnSpc>
              <a:spcBef>
                <a:spcPts val="1000"/>
              </a:spcBef>
              <a:buClr>
                <a:srgbClr val="ED7D31"/>
              </a:buClr>
              <a:buSzTx/>
              <a:buFont typeface="Arial" panose="020B0604020202020204" pitchFamily="34" charset="0"/>
              <a:buChar char="•"/>
            </a:pPr>
            <a:r>
              <a:rPr lang="zh-CN" altLang="en-US" sz="2000" smtClean="0">
                <a:ea typeface="宋体" panose="02010600030101010101" pitchFamily="2" charset="-122"/>
                <a:sym typeface="+mn-ea"/>
              </a:rPr>
              <a:t>用户线程(以上讲的都是用户线程)</a:t>
            </a:r>
            <a:endParaRPr lang="zh-CN" altLang="en-US" sz="2000" smtClean="0">
              <a:ea typeface="宋体" panose="02010600030101010101" pitchFamily="2" charset="-122"/>
              <a:sym typeface="+mn-ea"/>
            </a:endParaRPr>
          </a:p>
          <a:p>
            <a:pPr marL="914400" lvl="3" indent="-457200" algn="l">
              <a:lnSpc>
                <a:spcPct val="140000"/>
              </a:lnSpc>
              <a:spcBef>
                <a:spcPts val="1000"/>
              </a:spcBef>
              <a:buClr>
                <a:srgbClr val="ED7D31"/>
              </a:buClr>
              <a:buSzTx/>
              <a:buFont typeface="Arial" panose="020B0604020202020204" pitchFamily="34" charset="0"/>
              <a:buChar char="•"/>
            </a:pPr>
            <a:r>
              <a:rPr lang="zh-CN" altLang="en-US" sz="2000" smtClean="0">
                <a:ea typeface="宋体" panose="02010600030101010101" pitchFamily="2" charset="-122"/>
                <a:sym typeface="+mn-ea"/>
              </a:rPr>
              <a:t>守护线程</a:t>
            </a:r>
            <a:endParaRPr lang="en-US" altLang="zh-CN" sz="2000" smtClean="0">
              <a:ea typeface="宋体" panose="02010600030101010101" pitchFamily="2" charset="-122"/>
              <a:sym typeface="+mn-ea"/>
            </a:endParaRPr>
          </a:p>
          <a:p>
            <a:pPr marL="457200" lvl="2" indent="-457200" algn="l">
              <a:lnSpc>
                <a:spcPct val="14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守护线程:主要为主线程提供服务，用户线程结束生命周期，守护线程才会结束生命周期，只要有一个用户线程存在，那么守护线程就不会结束</a:t>
            </a:r>
            <a:endParaRPr lang="zh-CN" altLang="en-US" sz="2000" smtClean="0">
              <a:ea typeface="宋体" panose="02010600030101010101" pitchFamily="2" charset="-122"/>
              <a:sym typeface="+mn-ea"/>
            </a:endParaRPr>
          </a:p>
          <a:p>
            <a:pPr marL="457200" lvl="2" indent="-457200" algn="l">
              <a:lnSpc>
                <a:spcPct val="14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设置守护线程使用setDaemon(true)，注意守护线程必须在线程启动之前设置；</a:t>
            </a:r>
            <a:endParaRPr lang="zh-CN" altLang="en-US" sz="2000" smtClean="0">
              <a:ea typeface="宋体" panose="02010600030101010101" pitchFamily="2" charset="-122"/>
              <a:sym typeface="+mn-ea"/>
            </a:endParaRPr>
          </a:p>
          <a:p>
            <a:pPr marL="457200" lvl="2" indent="-457200" algn="l">
              <a:lnSpc>
                <a:spcPct val="14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例如:java中著名的垃圾回收器就是一个典型的守护线程，当我们的程序中不再有任何运行中的非守护线程，程序就不会再产生垃圾，</a:t>
            </a:r>
            <a:r>
              <a:rPr lang="zh-CN" altLang="en-US" sz="2000" smtClean="0">
                <a:ea typeface="宋体" panose="02010600030101010101" pitchFamily="2" charset="-122"/>
                <a:sym typeface="+mn-ea"/>
              </a:rPr>
              <a:t>垃圾</a:t>
            </a:r>
            <a:r>
              <a:rPr lang="zh-CN" altLang="en-US" sz="2000" smtClean="0">
                <a:ea typeface="宋体" panose="02010600030101010101" pitchFamily="2" charset="-122"/>
                <a:sym typeface="+mn-ea"/>
              </a:rPr>
              <a:t>回收器也就无事可做，</a:t>
            </a:r>
            <a:r>
              <a:rPr lang="zh-CN" altLang="en-US" sz="2000" smtClean="0">
                <a:ea typeface="宋体" panose="02010600030101010101" pitchFamily="2" charset="-122"/>
                <a:sym typeface="+mn-ea"/>
              </a:rPr>
              <a:t>垃圾</a:t>
            </a:r>
            <a:r>
              <a:rPr lang="zh-CN" altLang="en-US" sz="2000" smtClean="0">
                <a:ea typeface="宋体" panose="02010600030101010101" pitchFamily="2" charset="-122"/>
                <a:sym typeface="+mn-ea"/>
              </a:rPr>
              <a:t>回收线程就会结束，Java虚拟机会也会自动终止。</a:t>
            </a:r>
            <a:endParaRPr lang="zh-CN" altLang="en-US" sz="2000" smtClean="0">
              <a:ea typeface="宋体" panose="02010600030101010101" pitchFamily="2" charset="-122"/>
              <a:sym typeface="+mn-ea"/>
            </a:endParaRPr>
          </a:p>
          <a:p>
            <a:pPr marL="457200" lvl="3" indent="0" algn="l">
              <a:lnSpc>
                <a:spcPct val="140000"/>
              </a:lnSpc>
              <a:spcBef>
                <a:spcPts val="1000"/>
              </a:spcBef>
              <a:buClr>
                <a:srgbClr val="ED7D31"/>
              </a:buClr>
              <a:buSzTx/>
              <a:buFont typeface="+mj-lt"/>
              <a:buNone/>
            </a:pPr>
            <a:endParaRPr lang="zh-CN" altLang="en-US" sz="2000" smtClean="0">
              <a:ea typeface="宋体" panose="02010600030101010101" pitchFamily="2" charset="-122"/>
            </a:endParaRPr>
          </a:p>
          <a:p>
            <a:pPr marL="914400" lvl="3" indent="-457200" algn="l">
              <a:lnSpc>
                <a:spcPct val="140000"/>
              </a:lnSpc>
              <a:spcBef>
                <a:spcPts val="1000"/>
              </a:spcBef>
              <a:buClr>
                <a:srgbClr val="ED7D31"/>
              </a:buClr>
              <a:buSzTx/>
              <a:buFont typeface="+mj-lt"/>
              <a:buAutoNum type="arabicPeriod"/>
            </a:pPr>
            <a:endParaRPr lang="zh-CN" altLang="en-US" sz="2000" smtClean="0">
              <a:ea typeface="宋体" panose="02010600030101010101" pitchFamily="2" charset="-122"/>
            </a:endParaRPr>
          </a:p>
          <a:p>
            <a:pPr marL="914400" lvl="3" indent="-457200" algn="l">
              <a:lnSpc>
                <a:spcPct val="140000"/>
              </a:lnSpc>
              <a:spcBef>
                <a:spcPts val="1000"/>
              </a:spcBef>
              <a:buClr>
                <a:srgbClr val="ED7D31"/>
              </a:buClr>
              <a:buSzTx/>
              <a:buFont typeface="+mj-lt"/>
              <a:buAutoNum type="arabicPeriod"/>
            </a:pPr>
            <a:endParaRPr lang="zh-CN" altLang="en-US" sz="2000" smtClean="0">
              <a:ea typeface="宋体" panose="02010600030101010101" pitchFamily="2" charset="-122"/>
            </a:endParaRPr>
          </a:p>
          <a:p>
            <a:pPr marL="457200" lvl="2" indent="-457200" algn="l">
              <a:lnSpc>
                <a:spcPct val="130000"/>
              </a:lnSpc>
              <a:spcBef>
                <a:spcPts val="1000"/>
              </a:spcBef>
              <a:buClr>
                <a:srgbClr val="ED7D31"/>
              </a:buClr>
              <a:buSzTx/>
              <a:buFont typeface="+mj-lt"/>
              <a:buAutoNum type="arabicPeriod"/>
            </a:pPr>
            <a:endParaRPr lang="zh-CN" altLang="en-US" sz="2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01600" y="3137535"/>
            <a:ext cx="1179195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第四节 </a:t>
            </a:r>
            <a:r>
              <a:rPr lang="zh-CN" altLang="en-US" sz="6665" dirty="0">
                <a:solidFill>
                  <a:schemeClr val="bg1"/>
                </a:solidFill>
                <a:latin typeface="Arial" panose="020B0604020202020204" pitchFamily="34" charset="0"/>
                <a:ea typeface="宋体" panose="02010600030101010101" pitchFamily="2" charset="-122"/>
                <a:sym typeface="+mn-ea"/>
              </a:rPr>
              <a:t>线程同步</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91310" y="97790"/>
            <a:ext cx="6463030" cy="645160"/>
          </a:xfrm>
          <a:prstGeom prst="rect">
            <a:avLst/>
          </a:prstGeom>
          <a:noFill/>
        </p:spPr>
        <p:txBody>
          <a:bodyPr wrap="square" rtlCol="0">
            <a:spAutoFit/>
          </a:bodyPr>
          <a:lstStyle/>
          <a:p>
            <a:pPr marL="0" algn="l" defTabSz="457200" hangingPunct="0">
              <a:lnSpc>
                <a:spcPct val="150000"/>
              </a:lnSpc>
              <a:spcAft>
                <a:spcPts val="0"/>
              </a:spcAft>
              <a:buClrTx/>
              <a:buSzTx/>
              <a:buNone/>
              <a:defRPr/>
            </a:pPr>
            <a:r>
              <a:rPr lang="zh-CN" altLang="en-US" sz="2400" dirty="0">
                <a:latin typeface="思源黑体 CN Medium" panose="020B0600000000000000" pitchFamily="34" charset="-122"/>
                <a:ea typeface="思源黑体 CN Medium" panose="020B0600000000000000" pitchFamily="34" charset="-122"/>
                <a:sym typeface="思源宋体 CN Heavy" panose="02020900000000000000" charset="-122"/>
              </a:rPr>
              <a:t>什么是线程安全问题</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349375"/>
            <a:ext cx="11037570" cy="5375910"/>
          </a:xfrm>
        </p:spPr>
        <p:txBody>
          <a:bodyPr>
            <a:noAutofit/>
          </a:bodyPr>
          <a:p>
            <a:pPr marL="0" algn="l" defTabSz="457200" hangingPunct="0">
              <a:lnSpc>
                <a:spcPct val="150000"/>
              </a:lnSpc>
              <a:spcAft>
                <a:spcPts val="0"/>
              </a:spcAft>
              <a:buClrTx/>
              <a:buSzTx/>
              <a:buNone/>
              <a:defRPr/>
            </a:pPr>
            <a:r>
              <a:rPr lang="zh-CN" altLang="en-US" sz="2000" dirty="0">
                <a:latin typeface="思源黑体 CN Medium" panose="020B0600000000000000" pitchFamily="34" charset="-122"/>
                <a:ea typeface="思源黑体 CN Medium" panose="020B0600000000000000" pitchFamily="34" charset="-122"/>
                <a:sym typeface="+mn-ea"/>
              </a:rPr>
              <a:t>在Java中，线程安全问题指的是多个线程同时操作同一个共享资源（如变量、对象等），导致出现不正确的结果或者抛出异常的问题。多个线程同时修改同一个变量或对象，导致最终结果与预期不符的问题。这种问题通常发生在并发编程中，因为多个线程在执行过程中是无法预测的，它们的执行顺序和执行时间是不确定的，如果不加以控制，就有可能数据安全问题。</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mn-ea"/>
            </a:endParaRPr>
          </a:p>
          <a:p>
            <a:pPr marL="457200" lvl="3" indent="0" algn="l">
              <a:lnSpc>
                <a:spcPct val="140000"/>
              </a:lnSpc>
              <a:spcBef>
                <a:spcPts val="1000"/>
              </a:spcBef>
              <a:buClr>
                <a:srgbClr val="ED7D31"/>
              </a:buClr>
              <a:buSzTx/>
              <a:buFont typeface="+mj-lt"/>
              <a:buNone/>
            </a:pPr>
            <a:endParaRPr lang="zh-CN" altLang="en-US" sz="2000" smtClean="0">
              <a:ea typeface="宋体" panose="02010600030101010101" pitchFamily="2" charset="-122"/>
            </a:endParaRPr>
          </a:p>
          <a:p>
            <a:pPr marL="914400" lvl="3" indent="-457200" algn="l">
              <a:lnSpc>
                <a:spcPct val="140000"/>
              </a:lnSpc>
              <a:spcBef>
                <a:spcPts val="1000"/>
              </a:spcBef>
              <a:buClr>
                <a:srgbClr val="ED7D31"/>
              </a:buClr>
              <a:buSzTx/>
              <a:buFont typeface="+mj-lt"/>
              <a:buAutoNum type="arabicPeriod"/>
            </a:pPr>
            <a:endParaRPr lang="zh-CN" altLang="en-US" sz="2000" smtClean="0">
              <a:ea typeface="宋体" panose="02010600030101010101" pitchFamily="2" charset="-122"/>
            </a:endParaRPr>
          </a:p>
          <a:p>
            <a:pPr marL="914400" lvl="3" indent="-457200" algn="l">
              <a:lnSpc>
                <a:spcPct val="140000"/>
              </a:lnSpc>
              <a:spcBef>
                <a:spcPts val="1000"/>
              </a:spcBef>
              <a:buClr>
                <a:srgbClr val="ED7D31"/>
              </a:buClr>
              <a:buSzTx/>
              <a:buFont typeface="+mj-lt"/>
              <a:buAutoNum type="arabicPeriod"/>
            </a:pPr>
            <a:endParaRPr lang="zh-CN" altLang="en-US" sz="2000" smtClean="0">
              <a:ea typeface="宋体" panose="02010600030101010101" pitchFamily="2" charset="-122"/>
            </a:endParaRPr>
          </a:p>
          <a:p>
            <a:pPr marL="457200" lvl="2" indent="-457200" algn="l">
              <a:lnSpc>
                <a:spcPct val="130000"/>
              </a:lnSpc>
              <a:spcBef>
                <a:spcPts val="1000"/>
              </a:spcBef>
              <a:buClr>
                <a:srgbClr val="ED7D31"/>
              </a:buClr>
              <a:buSzTx/>
              <a:buFont typeface="+mj-lt"/>
              <a:buAutoNum type="arabicPeriod"/>
            </a:pPr>
            <a:endParaRPr lang="zh-CN" altLang="en-US" sz="2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smtClean="0">
                <a:solidFill>
                  <a:srgbClr val="002060"/>
                </a:solidFill>
                <a:latin typeface="思源黑体 CN Bold" panose="020B0800000000000000" pitchFamily="34" charset="-122"/>
                <a:ea typeface="宋体" panose="02010600030101010101" pitchFamily="2" charset="-122"/>
                <a:sym typeface="+mn-ea"/>
              </a:rPr>
              <a:t>线程安全的解决方案</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40000"/>
              </a:lnSpc>
              <a:spcBef>
                <a:spcPts val="1000"/>
              </a:spcBef>
              <a:buClr>
                <a:srgbClr val="ED7D31"/>
              </a:buClr>
              <a:buSzTx/>
              <a:buFont typeface="+mj-lt"/>
              <a:buAutoNum type="arabicPeriod"/>
            </a:pPr>
            <a:r>
              <a:rPr lang="zh-CN" altLang="en-US" sz="2000" b="1" dirty="0">
                <a:solidFill>
                  <a:srgbClr val="FF0000"/>
                </a:solidFill>
                <a:latin typeface="思源黑体 CN Medium" panose="020B0600000000000000" pitchFamily="34" charset="-122"/>
                <a:ea typeface="思源黑体 CN Medium" panose="020B0600000000000000" pitchFamily="34" charset="-122"/>
                <a:sym typeface="思源宋体 CN Heavy" panose="02020900000000000000" charset="-122"/>
              </a:rPr>
              <a:t>同步代码块</a:t>
            </a:r>
            <a:endParaRPr lang="zh-CN" altLang="en-US" sz="2000" b="1" dirty="0">
              <a:solidFill>
                <a:srgbClr val="FF0000"/>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457200" lvl="2" indent="-457200" algn="l">
              <a:lnSpc>
                <a:spcPct val="140000"/>
              </a:lnSpc>
              <a:spcBef>
                <a:spcPts val="1000"/>
              </a:spcBef>
              <a:buClr>
                <a:srgbClr val="ED7D31"/>
              </a:buClr>
              <a:buSzTx/>
              <a:buFont typeface="+mj-lt"/>
              <a:buAutoNum type="arabicPeriod"/>
            </a:pPr>
            <a:r>
              <a:rPr lang="zh-CN" altLang="en-US" sz="2000" b="1" dirty="0">
                <a:solidFill>
                  <a:srgbClr val="FF0000"/>
                </a:solidFill>
                <a:latin typeface="思源黑体 CN Medium" panose="020B0600000000000000" pitchFamily="34" charset="-122"/>
                <a:ea typeface="思源黑体 CN Medium" panose="020B0600000000000000" pitchFamily="34" charset="-122"/>
                <a:sym typeface="思源宋体 CN Heavy" panose="02020900000000000000" charset="-122"/>
              </a:rPr>
              <a:t>同步实例方法</a:t>
            </a:r>
            <a:endParaRPr lang="zh-CN" altLang="en-US" sz="2000" b="1" dirty="0">
              <a:solidFill>
                <a:srgbClr val="FF0000"/>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457200" lvl="2" indent="-457200" algn="l">
              <a:lnSpc>
                <a:spcPct val="140000"/>
              </a:lnSpc>
              <a:spcBef>
                <a:spcPts val="1000"/>
              </a:spcBef>
              <a:buClr>
                <a:srgbClr val="ED7D31"/>
              </a:buClr>
              <a:buSzTx/>
              <a:buFont typeface="+mj-lt"/>
              <a:buAutoNum type="arabicPeriod"/>
            </a:pPr>
            <a:r>
              <a:rPr lang="zh-CN" altLang="en-US" sz="2000" dirty="0">
                <a:latin typeface="思源黑体 CN Medium" panose="020B0600000000000000" pitchFamily="34" charset="-122"/>
                <a:ea typeface="思源黑体 CN Medium" panose="020B0600000000000000" pitchFamily="34" charset="-122"/>
                <a:sym typeface="思源宋体 CN Heavy" panose="02020900000000000000" charset="-122"/>
              </a:rPr>
              <a:t>同步静态方法</a:t>
            </a:r>
            <a:endParaRPr lang="zh-CN" altLang="en-US" sz="2000" dirty="0">
              <a:latin typeface="思源黑体 CN Medium" panose="020B0600000000000000" pitchFamily="34" charset="-122"/>
              <a:ea typeface="思源黑体 CN Medium" panose="020B0600000000000000" pitchFamily="34" charset="-122"/>
              <a:sym typeface="思源宋体 CN Heavy" panose="02020900000000000000" charset="-122"/>
            </a:endParaRPr>
          </a:p>
          <a:p>
            <a:pPr marL="457200" lvl="2" indent="-457200" algn="l">
              <a:lnSpc>
                <a:spcPct val="140000"/>
              </a:lnSpc>
              <a:spcBef>
                <a:spcPts val="1000"/>
              </a:spcBef>
              <a:buClr>
                <a:srgbClr val="ED7D31"/>
              </a:buClr>
              <a:buSzTx/>
              <a:buFont typeface="+mj-lt"/>
              <a:buAutoNum type="arabicPeriod"/>
            </a:pPr>
            <a:r>
              <a:rPr lang="zh-CN" altLang="en-US" sz="2000" dirty="0">
                <a:latin typeface="思源黑体 CN Medium" panose="020B0600000000000000" pitchFamily="34" charset="-122"/>
                <a:ea typeface="思源黑体 CN Medium" panose="020B0600000000000000" pitchFamily="34" charset="-122"/>
                <a:sym typeface="思源宋体 CN Heavy" panose="02020900000000000000" charset="-122"/>
              </a:rPr>
              <a:t>类锁</a:t>
            </a:r>
            <a:endParaRPr lang="zh-CN" altLang="en-US" sz="2000" dirty="0">
              <a:latin typeface="思源黑体 CN Medium" panose="020B0600000000000000" pitchFamily="34" charset="-122"/>
              <a:ea typeface="思源黑体 CN Medium" panose="020B0600000000000000" pitchFamily="34" charset="-122"/>
              <a:sym typeface="思源宋体 CN Heavy" panose="02020900000000000000" charset="-122"/>
            </a:endParaRPr>
          </a:p>
          <a:p>
            <a:pPr marL="457200" lvl="2" indent="-457200" algn="l">
              <a:lnSpc>
                <a:spcPct val="140000"/>
              </a:lnSpc>
              <a:spcBef>
                <a:spcPts val="1000"/>
              </a:spcBef>
              <a:buClr>
                <a:srgbClr val="ED7D31"/>
              </a:buClr>
              <a:buSzTx/>
              <a:buFont typeface="+mj-lt"/>
              <a:buAutoNum type="arabicPeriod"/>
            </a:pPr>
            <a:r>
              <a:rPr lang="zh-CN" altLang="en-US" sz="2000" dirty="0">
                <a:latin typeface="思源黑体 CN Medium" panose="020B0600000000000000" pitchFamily="34" charset="-122"/>
                <a:ea typeface="思源黑体 CN Medium" panose="020B0600000000000000" pitchFamily="34" charset="-122"/>
                <a:sym typeface="思源宋体 CN Heavy" panose="02020900000000000000" charset="-122"/>
              </a:rPr>
              <a:t>死锁</a:t>
            </a:r>
            <a:endParaRPr lang="zh-CN" altLang="en-US" sz="2000" dirty="0">
              <a:latin typeface="思源黑体 CN Medium" panose="020B0600000000000000" pitchFamily="34" charset="-122"/>
              <a:ea typeface="思源黑体 CN Medium" panose="020B0600000000000000" pitchFamily="34" charset="-122"/>
              <a:sym typeface="思源宋体 CN Heavy" panose="02020900000000000000" charset="-122"/>
            </a:endParaRPr>
          </a:p>
          <a:p>
            <a:pPr marL="457200" lvl="3" indent="0" algn="l">
              <a:lnSpc>
                <a:spcPct val="140000"/>
              </a:lnSpc>
              <a:spcBef>
                <a:spcPts val="1000"/>
              </a:spcBef>
              <a:buClr>
                <a:srgbClr val="ED7D31"/>
              </a:buClr>
              <a:buSzTx/>
              <a:buFont typeface="+mj-lt"/>
              <a:buNone/>
            </a:pPr>
            <a:r>
              <a:rPr lang="zh-CN" altLang="en-US" sz="20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死锁指的是多个线程或者进程在执行过程中，互相持有对方需要的资源而造成的一种互相等待的状态，导致所有线程都无法继续执行下去，从而发生了一种僵局。</a:t>
            </a:r>
            <a:endParaRPr lang="zh-CN" altLang="en-US" sz="20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914400" lvl="3" indent="-457200" algn="l">
              <a:lnSpc>
                <a:spcPct val="140000"/>
              </a:lnSpc>
              <a:spcBef>
                <a:spcPts val="1000"/>
              </a:spcBef>
              <a:buClr>
                <a:srgbClr val="ED7D31"/>
              </a:buClr>
              <a:buSzTx/>
              <a:buFont typeface="+mj-lt"/>
              <a:buAutoNum type="arabicPeriod"/>
            </a:pPr>
            <a:endParaRPr lang="zh-CN" altLang="en-US" sz="2000" dirty="0">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lvl="2" indent="0" algn="l">
              <a:lnSpc>
                <a:spcPct val="140000"/>
              </a:lnSpc>
              <a:spcBef>
                <a:spcPts val="1000"/>
              </a:spcBef>
              <a:buClr>
                <a:srgbClr val="ED7D31"/>
              </a:buClr>
              <a:buSzTx/>
              <a:buFont typeface="+mj-lt"/>
              <a:buNone/>
            </a:pPr>
            <a:endParaRPr lang="zh-CN" altLang="en-US" sz="2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smtClean="0">
                <a:solidFill>
                  <a:srgbClr val="002060"/>
                </a:solidFill>
                <a:latin typeface="思源黑体 CN Bold" panose="020B0800000000000000" pitchFamily="34" charset="-122"/>
                <a:ea typeface="宋体" panose="02010600030101010101" pitchFamily="2" charset="-122"/>
                <a:sym typeface="+mn-ea"/>
              </a:rPr>
              <a:t>线程间的通讯</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942975"/>
            <a:ext cx="11037570" cy="5375910"/>
          </a:xfrm>
        </p:spPr>
        <p:txBody>
          <a:bodyPr>
            <a:noAutofit/>
          </a:bodyPr>
          <a:p>
            <a:pPr marL="0" algn="l" defTabSz="457200" hangingPunct="0">
              <a:lnSpc>
                <a:spcPct val="150000"/>
              </a:lnSpc>
              <a:spcAft>
                <a:spcPts val="0"/>
              </a:spcAft>
              <a:buClrTx/>
              <a:buSzTx/>
              <a:buNone/>
              <a:defRPr/>
            </a:pPr>
            <a:r>
              <a:rPr lang="zh-CN" altLang="en-US" sz="1200" dirty="0">
                <a:latin typeface="思源黑体 CN Medium" panose="020B0600000000000000" pitchFamily="34" charset="-122"/>
                <a:ea typeface="思源黑体 CN Medium" panose="020B0600000000000000" pitchFamily="34" charset="-122"/>
                <a:sym typeface="思源宋体 CN Heavy" panose="02020900000000000000" charset="-122"/>
              </a:rPr>
              <a:t>线程通信的三个方法：</a:t>
            </a:r>
            <a:r>
              <a:rPr lang="en-US" altLang="zh-CN" sz="1200" dirty="0">
                <a:latin typeface="思源黑体 CN Medium" panose="020B0600000000000000" pitchFamily="34" charset="-122"/>
                <a:ea typeface="思源黑体 CN Medium" panose="020B0600000000000000" pitchFamily="34" charset="-122"/>
                <a:sym typeface="思源宋体 CN Heavy" panose="02020900000000000000" charset="-122"/>
              </a:rPr>
              <a:t>wait()</a:t>
            </a:r>
            <a:r>
              <a:rPr lang="zh-CN" altLang="en-US" sz="1200" dirty="0">
                <a:latin typeface="思源黑体 CN Medium" panose="020B0600000000000000" pitchFamily="34" charset="-122"/>
                <a:ea typeface="思源黑体 CN Medium" panose="020B0600000000000000" pitchFamily="34" charset="-122"/>
                <a:sym typeface="思源宋体 CN Heavy" panose="02020900000000000000" charset="-122"/>
              </a:rPr>
              <a:t>、</a:t>
            </a:r>
            <a:r>
              <a:rPr lang="en-US" altLang="zh-CN" sz="1200" dirty="0">
                <a:latin typeface="思源黑体 CN Medium" panose="020B0600000000000000" pitchFamily="34" charset="-122"/>
                <a:ea typeface="思源黑体 CN Medium" panose="020B0600000000000000" pitchFamily="34" charset="-122"/>
                <a:sym typeface="思源宋体 CN Heavy" panose="02020900000000000000" charset="-122"/>
              </a:rPr>
              <a:t>notify()</a:t>
            </a:r>
            <a:r>
              <a:rPr lang="zh-CN" altLang="en-US" sz="1200" dirty="0">
                <a:latin typeface="思源黑体 CN Medium" panose="020B0600000000000000" pitchFamily="34" charset="-122"/>
                <a:ea typeface="思源黑体 CN Medium" panose="020B0600000000000000" pitchFamily="34" charset="-122"/>
                <a:sym typeface="思源宋体 CN Heavy" panose="02020900000000000000" charset="-122"/>
              </a:rPr>
              <a:t>、</a:t>
            </a:r>
            <a:r>
              <a:rPr lang="en-US" altLang="zh-CN" sz="1200" dirty="0">
                <a:latin typeface="思源黑体 CN Medium" panose="020B0600000000000000" pitchFamily="34" charset="-122"/>
                <a:ea typeface="思源黑体 CN Medium" panose="020B0600000000000000" pitchFamily="34" charset="-122"/>
                <a:sym typeface="思源宋体 CN Heavy" panose="02020900000000000000" charset="-122"/>
              </a:rPr>
              <a:t>notifyAll()</a:t>
            </a:r>
            <a:endParaRPr lang="zh-CN" altLang="en-US" sz="1200" dirty="0">
              <a:solidFill>
                <a:schemeClr val="tx1"/>
              </a:solidFill>
              <a:latin typeface="思源黑体 CN Medium" panose="020B0600000000000000" pitchFamily="34" charset="-122"/>
              <a:ea typeface="思源黑体 CN Medium" panose="020B0600000000000000" pitchFamily="3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wait(): 线程执行该方法后，进入等待状态，并且释放对象锁。</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notify(): 唤醒优先级最高的那个等待状态的线程。【优先级相同的，随机选一个】。被唤醒的线程从当初wait()的位置继续执行。</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notifyAll(): 唤醒所有wait()的线程</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需要注意的：</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以上三个方法在使用时，必须在同步代码块中或同步方法中。</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调用这三个方法的对象必须是共享的锁对象。</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lt"/>
              <a:buAutoNum type="arabicPeriod"/>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这三个方法都是Object类的方法。</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wait()和sleep的区别？</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ea"/>
              <a:buAutoNum type="circleNumDbPlain"/>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相同点：都会阻塞。</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527050" lvl="1" indent="-342900" algn="l" defTabSz="457200" hangingPunct="0">
              <a:lnSpc>
                <a:spcPct val="150000"/>
              </a:lnSpc>
              <a:spcAft>
                <a:spcPts val="0"/>
              </a:spcAft>
              <a:buClrTx/>
              <a:buSzTx/>
              <a:buFont typeface="+mj-ea"/>
              <a:buAutoNum type="circleNumDbPlain"/>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不同点：</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984250" lvl="2" indent="-342900" algn="l" defTabSz="457200" hangingPunct="0">
              <a:lnSpc>
                <a:spcPct val="150000"/>
              </a:lnSpc>
              <a:spcAft>
                <a:spcPts val="0"/>
              </a:spcAft>
              <a:buClrTx/>
              <a:buSzTx/>
              <a:buFont typeface="+mj-ea"/>
              <a:buAutoNum type="circleNumDbPlain"/>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wait是Object类的实例方法。sleep是Thread的静态方法。</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984250" lvl="2" indent="-342900" algn="l" defTabSz="457200" hangingPunct="0">
              <a:lnSpc>
                <a:spcPct val="150000"/>
              </a:lnSpc>
              <a:spcAft>
                <a:spcPts val="0"/>
              </a:spcAft>
              <a:buClrTx/>
              <a:buSzTx/>
              <a:buFont typeface="+mj-ea"/>
              <a:buAutoNum type="circleNumDbPlain"/>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wait只能用在同步代码块或同步方法中。sleep随意。</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984250" lvl="2" indent="-342900" algn="l" defTabSz="457200" hangingPunct="0">
              <a:lnSpc>
                <a:spcPct val="150000"/>
              </a:lnSpc>
              <a:spcAft>
                <a:spcPts val="0"/>
              </a:spcAft>
              <a:buClrTx/>
              <a:buSzTx/>
              <a:buFont typeface="+mj-ea"/>
              <a:buAutoNum type="circleNumDbPlain"/>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wait方法执行会释放对象锁。sleep不会。</a:t>
            </a:r>
            <a:endParaRPr lang="zh-CN" altLang="en-US" sz="12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984250" lvl="2" indent="-342900" algn="l" defTabSz="457200" hangingPunct="0">
              <a:lnSpc>
                <a:spcPct val="150000"/>
              </a:lnSpc>
              <a:spcAft>
                <a:spcPts val="0"/>
              </a:spcAft>
              <a:buClrTx/>
              <a:buSzTx/>
              <a:buFont typeface="+mj-ea"/>
              <a:buAutoNum type="circleNumDbPlain"/>
              <a:defRPr/>
            </a:pPr>
            <a:r>
              <a:rPr lang="zh-CN" altLang="en-US" sz="12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wait结束时机是notify唤醒，或达到指定时间。sleep结束时机是到达指定时间</a:t>
            </a:r>
            <a:endParaRPr lang="zh-CN" altLang="en-US" sz="12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单例模式的线程安全问题</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942975"/>
            <a:ext cx="11037570" cy="5375910"/>
          </a:xfrm>
        </p:spPr>
        <p:txBody>
          <a:bodyPr>
            <a:noAutofit/>
          </a:bodyPr>
          <a:p>
            <a:pPr marL="0" indent="0" algn="l" defTabSz="457200" hangingPunct="0">
              <a:lnSpc>
                <a:spcPct val="150000"/>
              </a:lnSpc>
              <a:spcAft>
                <a:spcPts val="0"/>
              </a:spcAft>
              <a:buClrTx/>
              <a:buSzTx/>
              <a:buFont typeface="+mj-ea"/>
              <a:buNone/>
              <a:defRPr/>
            </a:pPr>
            <a:r>
              <a:rPr lang="zh-CN" altLang="en-US" sz="16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使用`synchronized`关键字来实现单例模式可以在一定程度上确保线程安全。在多线程环境下，`synchronized`能够保证同步代码块串行执行，从而避免了多个线程同时创建实例的问题。下面是使用`synchronized`实现单例模式的示例代码：</a:t>
            </a:r>
            <a:endParaRPr lang="zh-CN" altLang="en-US" sz="16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457200" lvl="3" indent="0" algn="l">
              <a:lnSpc>
                <a:spcPct val="140000"/>
              </a:lnSpc>
              <a:spcBef>
                <a:spcPts val="1000"/>
              </a:spcBef>
              <a:buClr>
                <a:srgbClr val="ED7D31"/>
              </a:buClr>
              <a:buSzTx/>
              <a:buFont typeface="+mj-lt"/>
              <a:buNone/>
            </a:pPr>
            <a:endParaRPr lang="zh-CN" altLang="en-US" sz="1600" kern="0" dirty="0" smtClean="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pic>
        <p:nvPicPr>
          <p:cNvPr id="3" name="图片 2"/>
          <p:cNvPicPr>
            <a:picLocks noChangeAspect="1"/>
          </p:cNvPicPr>
          <p:nvPr/>
        </p:nvPicPr>
        <p:blipFill>
          <a:blip r:embed="rId5"/>
          <a:stretch>
            <a:fillRect/>
          </a:stretch>
        </p:blipFill>
        <p:spPr>
          <a:xfrm>
            <a:off x="895350" y="2544445"/>
            <a:ext cx="6068695" cy="26625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可重入锁</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942975"/>
            <a:ext cx="11037570" cy="5375910"/>
          </a:xfrm>
        </p:spPr>
        <p:txBody>
          <a:bodyPr>
            <a:noAutofit/>
          </a:bodyPr>
          <a:p>
            <a:pPr marL="0" algn="l" defTabSz="457200" hangingPunct="0">
              <a:lnSpc>
                <a:spcPct val="150000"/>
              </a:lnSpc>
              <a:spcAft>
                <a:spcPts val="0"/>
              </a:spcAft>
              <a:buClrTx/>
              <a:buSzTx/>
              <a:buNone/>
              <a:defRPr/>
            </a:pPr>
            <a:r>
              <a:rPr lang="zh-CN" altLang="en-US" sz="1400" dirty="0">
                <a:latin typeface="思源黑体 CN Medium" panose="020B0600000000000000" pitchFamily="34" charset="-122"/>
                <a:ea typeface="思源黑体 CN Medium" panose="020B0600000000000000" pitchFamily="34" charset="-122"/>
                <a:sym typeface="思源宋体 CN Heavy" panose="02020900000000000000" charset="-122"/>
              </a:rPr>
              <a:t>可重入锁解决线程安全问题</a:t>
            </a:r>
            <a:endParaRPr lang="zh-CN" altLang="en-US" sz="1400" dirty="0">
              <a:solidFill>
                <a:schemeClr val="tx1"/>
              </a:solidFill>
              <a:latin typeface="思源黑体 CN Medium" panose="020B0600000000000000" pitchFamily="34" charset="-122"/>
              <a:ea typeface="思源黑体 CN Medium" panose="020B0600000000000000" pitchFamily="3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4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可重入锁是一种线程同步的机制，也称为重入锁或者递归锁。当一个线程获得了锁之后，在不释放锁的情况下，仍然可以重复进入同步代码块。这种机制可以避免死锁的发生，也提高了代码的</a:t>
            </a:r>
            <a:r>
              <a:rPr lang="zh-CN" altLang="en-US" sz="1400" kern="0" dirty="0">
                <a:solidFill>
                  <a:srgbClr val="FF0000"/>
                </a:solidFill>
                <a:latin typeface="思源黑体 CN Normal" panose="020B0400000000000000" pitchFamily="34" charset="-122"/>
                <a:ea typeface="思源黑体 CN Normal" panose="020B0400000000000000" pitchFamily="34" charset="-122"/>
                <a:cs typeface="微软雅黑" panose="020B0503020204020204" charset="-122"/>
                <a:sym typeface="+mn-ea"/>
              </a:rPr>
              <a:t>灵活性</a:t>
            </a:r>
            <a:r>
              <a:rPr lang="zh-CN" altLang="en-US" sz="14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和可读性。</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4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在Java中，`ReentrantLock`类就是可重入锁的实现类。它提供了与`synchronized`关键字类似的锁机制，但优势在于其更高的灵活性和可扩展性。下面是一个示例代码：</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4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在这个示例中，我们创建了一个`ReentrantLock`对象`lock`，然后在两个线程中使用它来锁定同一段代码块。一个线程两次获取锁之后再释放，另一个线程只是获取一次，之后再释放。</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4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需要注意的是，在使用`ReentrantLock`时需要注意其与`synchronized`关键字的区别。`ReentrantLock`需要在`try...finally`语句中手动释放锁，否则可能会出现死锁的问题。同时，`ReentrantLock`的性能较差，只有在某些情况下才会比`synchronized`优越，需要仔细评估情况来选择合适的锁机制。</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457200" lvl="3" indent="0" algn="l">
              <a:lnSpc>
                <a:spcPct val="140000"/>
              </a:lnSpc>
              <a:spcBef>
                <a:spcPts val="1000"/>
              </a:spcBef>
              <a:buClr>
                <a:srgbClr val="ED7D31"/>
              </a:buClr>
              <a:buSzTx/>
              <a:buFont typeface="+mj-lt"/>
              <a:buNone/>
            </a:pPr>
            <a:endParaRPr lang="zh-CN" altLang="en-US" sz="1400" kern="0" dirty="0" smtClean="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01600" y="3137535"/>
            <a:ext cx="1179195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第五节 </a:t>
            </a:r>
            <a:r>
              <a:rPr lang="zh-CN" sz="6665" dirty="0">
                <a:solidFill>
                  <a:schemeClr val="bg1"/>
                </a:solidFill>
                <a:latin typeface="Arial" panose="020B0604020202020204" pitchFamily="34" charset="0"/>
                <a:ea typeface="宋体" panose="02010600030101010101" pitchFamily="2" charset="-122"/>
                <a:sym typeface="+mn-ea"/>
              </a:rPr>
              <a:t>实现线程的其他方式</a:t>
            </a:r>
            <a:endParaRPr lang="zh-CN" sz="6665" dirty="0">
              <a:solidFill>
                <a:schemeClr val="bg1"/>
              </a:solidFill>
              <a:latin typeface="Arial" panose="020B0604020202020204" pitchFamily="34" charset="0"/>
              <a:ea typeface="宋体" panose="02010600030101010101" pitchFamily="2" charset="-122"/>
              <a:sym typeface="+mn-ea"/>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Callable</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实现线程</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942975"/>
            <a:ext cx="11037570" cy="5375910"/>
          </a:xfrm>
        </p:spPr>
        <p:txBody>
          <a:bodyPr>
            <a:noAutofit/>
          </a:bodyPr>
          <a:p>
            <a:pPr marL="69850" indent="-342900" algn="l" defTabSz="457200" hangingPunct="0">
              <a:lnSpc>
                <a:spcPct val="150000"/>
              </a:lnSpc>
              <a:spcAft>
                <a:spcPts val="0"/>
              </a:spcAft>
              <a:buClrTx/>
              <a:buSzTx/>
              <a:buFont typeface="+mj-ea"/>
              <a:buAutoNum type="circleNumDbPlain"/>
              <a:defRPr/>
            </a:pPr>
            <a:r>
              <a:rPr lang="zh-CN" altLang="en-US" sz="14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使用`Callable`接口创建线程相对于其他方式的区别在于它可以返回一个值或者抛出一个异常，而其他方式都没有这个特性。这使得`Callable`在某些场景下更加灵活和方便。</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4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要使用`Callable`接口创建线程，需要实现`Callable`接口并重写`call()`方法。`call()`方法会在`Thread`对象中通过`start()`方法运行。下面是一个简单的示例代码：</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4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在这个示例中，我们创建了一个类`CallableDemo`，实现了`Callable&lt;Integer&gt;`接口，并重写了`call()`方法。`call()`方法计算了1到10的和，并返回结果。在`main`方法中，我们创建了`CallableDemo`对象，并调用`call()`方法，获取到了计算结果。</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4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需要注意的是，在实际应用中，一般是利用`Executor`接口来启动`Callable`任务，可以通过线程池来重用线程和减少线程创建和销毁的开销。</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69850" indent="-342900" algn="l" defTabSz="457200" hangingPunct="0">
              <a:lnSpc>
                <a:spcPct val="150000"/>
              </a:lnSpc>
              <a:spcAft>
                <a:spcPts val="0"/>
              </a:spcAft>
              <a:buClrTx/>
              <a:buSzTx/>
              <a:buFont typeface="+mj-ea"/>
              <a:buAutoNum type="circleNumDbPlain"/>
              <a:defRPr/>
            </a:pPr>
            <a:r>
              <a:rPr lang="zh-CN" altLang="en-US" sz="14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相对于其他方式，`Callable`接口的主要优点在于可以返回一个值或者抛出异常，这可以方便地获取到线程执行的结果或者处理异常。此外，`Callable`接口还支持泛型，可以避免类型不匹配的问题。但是由于需要手动启动`Thread`对象，相对来说比较繁琐，还需要利用`Executor`接口进行管理，需要在实际应用中进行评估选用。</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457200" lvl="3" indent="0" algn="l">
              <a:lnSpc>
                <a:spcPct val="140000"/>
              </a:lnSpc>
              <a:spcBef>
                <a:spcPts val="1000"/>
              </a:spcBef>
              <a:buClr>
                <a:srgbClr val="ED7D31"/>
              </a:buClr>
              <a:buSzTx/>
              <a:buFont typeface="+mj-lt"/>
              <a:buNone/>
            </a:pPr>
            <a:endParaRPr lang="zh-CN" altLang="en-US" sz="1400" kern="0" dirty="0" smtClean="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lvl="0">
              <a:defRPr/>
            </a:pP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线程池实现线程</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942975"/>
            <a:ext cx="11037570" cy="5375910"/>
          </a:xfrm>
        </p:spPr>
        <p:txBody>
          <a:bodyPr>
            <a:noAutofit/>
          </a:bodyPr>
          <a:p>
            <a:pPr marL="0" algn="l" defTabSz="457200" hangingPunct="0">
              <a:lnSpc>
                <a:spcPct val="150000"/>
              </a:lnSpc>
              <a:spcAft>
                <a:spcPts val="0"/>
              </a:spcAft>
              <a:buClrTx/>
              <a:buSzTx/>
              <a:buNone/>
              <a:defRPr/>
            </a:pPr>
            <a:r>
              <a:rPr lang="zh-CN" altLang="en-US" sz="14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在Java中，可以使用JavaSE中的线程池来实现线程。JavaSE中提供了`Executor`框架，它提供了线程池的实现和管理。</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线程池是一种线程的集合，其中的线程可以被复用，从而避免了线程频繁地创建和销毁的开销。线程池可以接受任务并分配给可用的线程进行执行，使得任务可以异步地执行。</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图中是一个使用JavaSE中线程池的示例代码：</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在这个示例中，我们首先创建一个线程池，有3个线程。然后循环提交10个任务到线程池执行。每个任务都会打印出自己的编号。任务执行完毕后，线程会自动返回线程池中进行下一次任务的执行。</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使用线程池主要有以下两个优点：</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1. 节约线程创建和销毁的开销，提高程序运行效率。</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2. 可以保证线程的可控性和资源的不会浪费。如果线程池中的线程数量达到线程池的上限，那么线程池会将当前的任务放入队列等待空余线程去执行，从而保证不会同时执行过多的任务导致系统资源的浪费。</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0" algn="l" defTabSz="457200" hangingPunct="0">
              <a:lnSpc>
                <a:spcPct val="150000"/>
              </a:lnSpc>
              <a:spcAft>
                <a:spcPts val="0"/>
              </a:spcAft>
              <a:buClrTx/>
              <a:buSzTx/>
              <a:buNone/>
              <a:defRPr/>
            </a:pPr>
            <a:r>
              <a:rPr lang="zh-CN" altLang="en-US" sz="1400" kern="0" dirty="0">
                <a:latin typeface="思源黑体 CN Normal" panose="020B0400000000000000" pitchFamily="34" charset="-122"/>
                <a:ea typeface="思源黑体 CN Normal" panose="020B0400000000000000" pitchFamily="34" charset="-122"/>
                <a:cs typeface="微软雅黑" panose="020B0503020204020204" charset="-122"/>
                <a:sym typeface="+mn-ea"/>
              </a:rPr>
              <a:t>需要注意的是，在使用线程池时需要仔细考虑线程池的配置参数，如线程池最大线程数、线程最大等待时间等，以及线程池中的任务的执行时间等因素，来充分发挥线程池的优势。</a:t>
            </a:r>
            <a:endParaRPr lang="zh-CN" altLang="en-US" sz="1400" kern="0" dirty="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a:p>
            <a:pPr marL="457200" lvl="3" indent="0" algn="l">
              <a:lnSpc>
                <a:spcPct val="140000"/>
              </a:lnSpc>
              <a:spcBef>
                <a:spcPts val="1000"/>
              </a:spcBef>
              <a:buClr>
                <a:srgbClr val="ED7D31"/>
              </a:buClr>
              <a:buSzTx/>
              <a:buFont typeface="+mj-lt"/>
              <a:buNone/>
            </a:pPr>
            <a:endParaRPr lang="zh-CN" altLang="en-US" sz="1400" kern="0" dirty="0" smtClean="0">
              <a:solidFill>
                <a:schemeClr val="tx1"/>
              </a:solidFill>
              <a:latin typeface="思源黑体 CN Normal" panose="020B0400000000000000" pitchFamily="34" charset="-122"/>
              <a:ea typeface="思源黑体 CN Normal" panose="020B0400000000000000" pitchFamily="34" charset="-122"/>
              <a:cs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01600" y="3137535"/>
            <a:ext cx="1179195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第六节 </a:t>
            </a:r>
            <a:r>
              <a:rPr lang="en-US" altLang="zh-CN" sz="6665" dirty="0">
                <a:solidFill>
                  <a:schemeClr val="bg1"/>
                </a:solidFill>
                <a:latin typeface="Arial" panose="020B0604020202020204" pitchFamily="34" charset="0"/>
                <a:ea typeface="宋体" panose="02010600030101010101" pitchFamily="2" charset="-122"/>
                <a:sym typeface="+mn-ea"/>
              </a:rPr>
              <a:t>Timer</a:t>
            </a:r>
            <a:r>
              <a:rPr lang="zh-CN" altLang="en-US" sz="6665" dirty="0">
                <a:solidFill>
                  <a:schemeClr val="bg1"/>
                </a:solidFill>
                <a:latin typeface="Arial" panose="020B0604020202020204" pitchFamily="34" charset="0"/>
                <a:ea typeface="宋体" panose="02010600030101010101" pitchFamily="2" charset="-122"/>
                <a:sym typeface="+mn-ea"/>
              </a:rPr>
              <a:t>定时器</a:t>
            </a:r>
            <a:endParaRPr lang="zh-CN" altLang="en-US" sz="6665" dirty="0">
              <a:solidFill>
                <a:schemeClr val="bg1"/>
              </a:solidFill>
              <a:latin typeface="Arial" panose="020B0604020202020204" pitchFamily="34" charset="0"/>
              <a:ea typeface="宋体" panose="02010600030101010101" pitchFamily="2" charset="-122"/>
              <a:sym typeface="+mn-ea"/>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创建定时器步骤</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457200" lvl="2" indent="-457200" algn="l">
              <a:lnSpc>
                <a:spcPct val="14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编写一个类</a:t>
            </a:r>
            <a:r>
              <a:rPr lang="en-US" altLang="zh-CN" sz="2000" smtClean="0">
                <a:ea typeface="宋体" panose="02010600030101010101" pitchFamily="2" charset="-122"/>
                <a:sym typeface="+mn-ea"/>
              </a:rPr>
              <a:t> </a:t>
            </a:r>
            <a:r>
              <a:rPr lang="zh-CN" altLang="en-US" sz="2000" smtClean="0">
                <a:ea typeface="宋体" panose="02010600030101010101" pitchFamily="2" charset="-122"/>
                <a:sym typeface="+mn-ea"/>
              </a:rPr>
              <a:t>extends TimerTask </a:t>
            </a:r>
            <a:endParaRPr lang="zh-CN" altLang="en-US" sz="2000" smtClean="0">
              <a:ea typeface="宋体" panose="02010600030101010101" pitchFamily="2" charset="-122"/>
              <a:sym typeface="+mn-ea"/>
            </a:endParaRPr>
          </a:p>
          <a:p>
            <a:pPr marL="457200" lvl="2" indent="-457200" algn="l">
              <a:lnSpc>
                <a:spcPct val="14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重写</a:t>
            </a:r>
            <a:r>
              <a:rPr lang="en-US" altLang="zh-CN" sz="2000" smtClean="0">
                <a:ea typeface="宋体" panose="02010600030101010101" pitchFamily="2" charset="-122"/>
                <a:sym typeface="+mn-ea"/>
              </a:rPr>
              <a:t>TimerTask</a:t>
            </a:r>
            <a:r>
              <a:rPr lang="zh-CN" altLang="en-US" sz="2000" smtClean="0">
                <a:ea typeface="宋体" panose="02010600030101010101" pitchFamily="2" charset="-122"/>
                <a:sym typeface="+mn-ea"/>
              </a:rPr>
              <a:t>的</a:t>
            </a:r>
            <a:r>
              <a:rPr lang="en-US" altLang="zh-CN" sz="2000" smtClean="0">
                <a:ea typeface="宋体" panose="02010600030101010101" pitchFamily="2" charset="-122"/>
                <a:sym typeface="+mn-ea"/>
              </a:rPr>
              <a:t>run</a:t>
            </a:r>
            <a:r>
              <a:rPr lang="zh-CN" altLang="en-US" sz="2000" smtClean="0">
                <a:ea typeface="宋体" panose="02010600030101010101" pitchFamily="2" charset="-122"/>
                <a:sym typeface="+mn-ea"/>
              </a:rPr>
              <a:t>方法</a:t>
            </a:r>
            <a:endParaRPr lang="zh-CN" altLang="en-US" sz="2000" smtClean="0">
              <a:ea typeface="宋体" panose="02010600030101010101" pitchFamily="2" charset="-122"/>
              <a:sym typeface="+mn-ea"/>
            </a:endParaRPr>
          </a:p>
          <a:p>
            <a:pPr marL="457200" lvl="2" indent="-457200" algn="l">
              <a:lnSpc>
                <a:spcPct val="140000"/>
              </a:lnSpc>
              <a:spcBef>
                <a:spcPts val="1000"/>
              </a:spcBef>
              <a:buClr>
                <a:srgbClr val="ED7D31"/>
              </a:buClr>
              <a:buSzTx/>
              <a:buFont typeface="+mj-lt"/>
              <a:buAutoNum type="arabicPeriod"/>
            </a:pPr>
            <a:r>
              <a:rPr lang="zh-CN" altLang="en-US" sz="2000" smtClean="0">
                <a:ea typeface="宋体" panose="02010600030101010101" pitchFamily="2" charset="-122"/>
                <a:sym typeface="+mn-ea"/>
              </a:rPr>
              <a:t>注册定时器，可设置起止时间和间隔时间</a:t>
            </a:r>
            <a:endParaRPr lang="zh-CN" altLang="en-US" sz="2000" smtClean="0">
              <a:ea typeface="宋体" panose="02010600030101010101" pitchFamily="2" charset="-122"/>
              <a:sym typeface="+mn-ea"/>
            </a:endParaRPr>
          </a:p>
          <a:p>
            <a:pPr marL="914400" lvl="3" indent="-457200" algn="l">
              <a:lnSpc>
                <a:spcPct val="140000"/>
              </a:lnSpc>
              <a:spcBef>
                <a:spcPts val="1000"/>
              </a:spcBef>
              <a:buClr>
                <a:srgbClr val="ED7D31"/>
              </a:buClr>
              <a:buSzTx/>
              <a:buFont typeface="+mj-lt"/>
              <a:buAutoNum type="arabicPeriod"/>
            </a:pPr>
            <a:endParaRPr lang="zh-CN" altLang="en-US" sz="14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案例代码</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914400" lvl="3" indent="-457200" algn="l">
              <a:lnSpc>
                <a:spcPct val="140000"/>
              </a:lnSpc>
              <a:spcBef>
                <a:spcPts val="1000"/>
              </a:spcBef>
              <a:buClr>
                <a:srgbClr val="ED7D31"/>
              </a:buClr>
              <a:buSzTx/>
              <a:buFont typeface="+mj-lt"/>
              <a:buAutoNum type="arabicPeriod"/>
            </a:pPr>
            <a:r>
              <a:rPr lang="zh-CN" altLang="en-US" sz="1400" smtClean="0">
                <a:ea typeface="宋体" panose="02010600030101010101" pitchFamily="2" charset="-122"/>
                <a:sym typeface="+mn-ea"/>
              </a:rPr>
              <a:t>public class MyTimerTask extends TimerTask {</a:t>
            </a:r>
            <a:endParaRPr lang="zh-CN" altLang="en-US" sz="1400" smtClean="0">
              <a:ea typeface="宋体" panose="02010600030101010101" pitchFamily="2" charset="-122"/>
              <a:sym typeface="+mn-ea"/>
            </a:endParaRPr>
          </a:p>
          <a:p>
            <a:pPr marL="914400" lvl="3" indent="-457200" algn="l">
              <a:lnSpc>
                <a:spcPct val="140000"/>
              </a:lnSpc>
              <a:spcBef>
                <a:spcPts val="1000"/>
              </a:spcBef>
              <a:buClr>
                <a:srgbClr val="ED7D31"/>
              </a:buClr>
              <a:buSzTx/>
              <a:buFont typeface="+mj-lt"/>
              <a:buAutoNum type="arabicPeriod"/>
            </a:pPr>
            <a:r>
              <a:rPr lang="zh-CN" altLang="en-US" sz="1400" smtClean="0">
                <a:ea typeface="宋体" panose="02010600030101010101" pitchFamily="2" charset="-122"/>
                <a:sym typeface="+mn-ea"/>
              </a:rPr>
              <a:t>    @Override</a:t>
            </a:r>
            <a:endParaRPr lang="zh-CN" altLang="en-US" sz="1400" smtClean="0">
              <a:ea typeface="宋体" panose="02010600030101010101" pitchFamily="2" charset="-122"/>
              <a:sym typeface="+mn-ea"/>
            </a:endParaRPr>
          </a:p>
          <a:p>
            <a:pPr marL="914400" lvl="3" indent="-457200" algn="l">
              <a:lnSpc>
                <a:spcPct val="140000"/>
              </a:lnSpc>
              <a:spcBef>
                <a:spcPts val="1000"/>
              </a:spcBef>
              <a:buClr>
                <a:srgbClr val="ED7D31"/>
              </a:buClr>
              <a:buSzTx/>
              <a:buFont typeface="+mj-lt"/>
              <a:buAutoNum type="arabicPeriod"/>
            </a:pPr>
            <a:r>
              <a:rPr lang="zh-CN" altLang="en-US" sz="1400" smtClean="0">
                <a:ea typeface="宋体" panose="02010600030101010101" pitchFamily="2" charset="-122"/>
                <a:sym typeface="+mn-ea"/>
              </a:rPr>
              <a:t>    public void run() {</a:t>
            </a:r>
            <a:endParaRPr lang="zh-CN" altLang="en-US" sz="1400" smtClean="0">
              <a:ea typeface="宋体" panose="02010600030101010101" pitchFamily="2" charset="-122"/>
              <a:sym typeface="+mn-ea"/>
            </a:endParaRPr>
          </a:p>
          <a:p>
            <a:pPr marL="914400" lvl="3" indent="-457200" algn="l">
              <a:lnSpc>
                <a:spcPct val="140000"/>
              </a:lnSpc>
              <a:spcBef>
                <a:spcPts val="1000"/>
              </a:spcBef>
              <a:buClr>
                <a:srgbClr val="ED7D31"/>
              </a:buClr>
              <a:buSzTx/>
              <a:buFont typeface="+mj-lt"/>
              <a:buAutoNum type="arabicPeriod"/>
            </a:pPr>
            <a:r>
              <a:rPr lang="zh-CN" altLang="en-US" sz="1400" smtClean="0">
                <a:ea typeface="宋体" panose="02010600030101010101" pitchFamily="2" charset="-122"/>
                <a:sym typeface="+mn-ea"/>
              </a:rPr>
              <a:t>        System.out.println(new Date());</a:t>
            </a:r>
            <a:endParaRPr lang="zh-CN" altLang="en-US" sz="1400" smtClean="0">
              <a:ea typeface="宋体" panose="02010600030101010101" pitchFamily="2" charset="-122"/>
              <a:sym typeface="+mn-ea"/>
            </a:endParaRPr>
          </a:p>
          <a:p>
            <a:pPr marL="914400" lvl="3" indent="-457200" algn="l">
              <a:lnSpc>
                <a:spcPct val="140000"/>
              </a:lnSpc>
              <a:spcBef>
                <a:spcPts val="1000"/>
              </a:spcBef>
              <a:buClr>
                <a:srgbClr val="ED7D31"/>
              </a:buClr>
              <a:buSzTx/>
              <a:buFont typeface="+mj-lt"/>
              <a:buAutoNum type="arabicPeriod"/>
            </a:pPr>
            <a:r>
              <a:rPr lang="zh-CN" altLang="en-US" sz="1400" smtClean="0">
                <a:ea typeface="宋体" panose="02010600030101010101" pitchFamily="2" charset="-122"/>
                <a:sym typeface="+mn-ea"/>
              </a:rPr>
              <a:t>    }</a:t>
            </a:r>
            <a:endParaRPr lang="zh-CN" altLang="en-US" sz="1400" smtClean="0">
              <a:ea typeface="宋体" panose="02010600030101010101" pitchFamily="2" charset="-122"/>
              <a:sym typeface="+mn-ea"/>
            </a:endParaRPr>
          </a:p>
          <a:p>
            <a:pPr marL="914400" lvl="3" indent="-457200" algn="l">
              <a:lnSpc>
                <a:spcPct val="140000"/>
              </a:lnSpc>
              <a:spcBef>
                <a:spcPts val="1000"/>
              </a:spcBef>
              <a:buClr>
                <a:srgbClr val="ED7D31"/>
              </a:buClr>
              <a:buSzTx/>
              <a:buFont typeface="+mj-lt"/>
              <a:buAutoNum type="arabicPeriod"/>
            </a:pPr>
            <a:r>
              <a:rPr lang="zh-CN" altLang="en-US" sz="1400" smtClean="0">
                <a:ea typeface="宋体" panose="02010600030101010101" pitchFamily="2" charset="-122"/>
                <a:sym typeface="+mn-ea"/>
              </a:rPr>
              <a:t>}</a:t>
            </a:r>
            <a:endParaRPr lang="zh-CN" altLang="en-US" sz="14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案例代码</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19175"/>
            <a:ext cx="11037570" cy="5375910"/>
          </a:xfrm>
        </p:spPr>
        <p:txBody>
          <a:bodyPr>
            <a:noAutofit/>
          </a:bodyPr>
          <a:p>
            <a:pPr marL="914400" lvl="3" indent="-457200" algn="l">
              <a:lnSpc>
                <a:spcPct val="140000"/>
              </a:lnSpc>
              <a:spcBef>
                <a:spcPts val="1000"/>
              </a:spcBef>
              <a:buClr>
                <a:srgbClr val="ED7D31"/>
              </a:buClr>
              <a:buSzTx/>
              <a:buFont typeface="+mj-lt"/>
              <a:buAutoNum type="arabicPeriod"/>
            </a:pPr>
            <a:r>
              <a:rPr lang="zh-CN" altLang="en-US" sz="1400" smtClean="0">
                <a:ea typeface="宋体" panose="02010600030101010101" pitchFamily="2" charset="-122"/>
                <a:sym typeface="+mn-ea"/>
              </a:rPr>
              <a:t>public class Test {</a:t>
            </a:r>
            <a:endParaRPr lang="zh-CN" altLang="en-US" sz="1400" smtClean="0">
              <a:ea typeface="宋体" panose="02010600030101010101" pitchFamily="2" charset="-122"/>
              <a:sym typeface="+mn-ea"/>
            </a:endParaRPr>
          </a:p>
          <a:p>
            <a:pPr marL="914400" lvl="3" indent="-457200" algn="l">
              <a:lnSpc>
                <a:spcPct val="140000"/>
              </a:lnSpc>
              <a:spcBef>
                <a:spcPts val="1000"/>
              </a:spcBef>
              <a:buClr>
                <a:srgbClr val="ED7D31"/>
              </a:buClr>
              <a:buSzTx/>
              <a:buFont typeface="+mj-lt"/>
              <a:buAutoNum type="arabicPeriod"/>
            </a:pPr>
            <a:r>
              <a:rPr lang="zh-CN" altLang="en-US" sz="1400" smtClean="0">
                <a:ea typeface="宋体" panose="02010600030101010101" pitchFamily="2" charset="-122"/>
                <a:sym typeface="+mn-ea"/>
              </a:rPr>
              <a:t>    public static void main(String[] args) {</a:t>
            </a:r>
            <a:endParaRPr lang="zh-CN" altLang="en-US" sz="1400" smtClean="0">
              <a:ea typeface="宋体" panose="02010600030101010101" pitchFamily="2" charset="-122"/>
              <a:sym typeface="+mn-ea"/>
            </a:endParaRPr>
          </a:p>
          <a:p>
            <a:pPr marL="914400" lvl="3" indent="-457200" algn="l">
              <a:lnSpc>
                <a:spcPct val="140000"/>
              </a:lnSpc>
              <a:spcBef>
                <a:spcPts val="1000"/>
              </a:spcBef>
              <a:buClr>
                <a:srgbClr val="ED7D31"/>
              </a:buClr>
              <a:buSzTx/>
              <a:buFont typeface="+mj-lt"/>
              <a:buAutoNum type="arabicPeriod"/>
            </a:pPr>
            <a:r>
              <a:rPr lang="zh-CN" altLang="en-US" sz="1400" smtClean="0">
                <a:ea typeface="宋体" panose="02010600030101010101" pitchFamily="2" charset="-122"/>
                <a:sym typeface="+mn-ea"/>
              </a:rPr>
              <a:t>        Timer timer = new Timer();</a:t>
            </a:r>
            <a:endParaRPr lang="zh-CN" altLang="en-US" sz="1400" smtClean="0">
              <a:ea typeface="宋体" panose="02010600030101010101" pitchFamily="2" charset="-122"/>
              <a:sym typeface="+mn-ea"/>
            </a:endParaRPr>
          </a:p>
          <a:p>
            <a:pPr marL="914400" lvl="3" indent="-457200" algn="l">
              <a:lnSpc>
                <a:spcPct val="140000"/>
              </a:lnSpc>
              <a:spcBef>
                <a:spcPts val="1000"/>
              </a:spcBef>
              <a:buClr>
                <a:srgbClr val="ED7D31"/>
              </a:buClr>
              <a:buSzTx/>
              <a:buFont typeface="+mj-lt"/>
              <a:buAutoNum type="arabicPeriod"/>
            </a:pPr>
            <a:r>
              <a:rPr lang="zh-CN" altLang="en-US" sz="1400" smtClean="0">
                <a:ea typeface="宋体" panose="02010600030101010101" pitchFamily="2" charset="-122"/>
                <a:sym typeface="+mn-ea"/>
              </a:rPr>
              <a:t>        /**</a:t>
            </a:r>
            <a:endParaRPr lang="zh-CN" altLang="en-US" sz="1400" smtClean="0">
              <a:ea typeface="宋体" panose="02010600030101010101" pitchFamily="2" charset="-122"/>
              <a:sym typeface="+mn-ea"/>
            </a:endParaRPr>
          </a:p>
          <a:p>
            <a:pPr marL="914400" lvl="3" indent="-457200" algn="l">
              <a:lnSpc>
                <a:spcPct val="140000"/>
              </a:lnSpc>
              <a:spcBef>
                <a:spcPts val="1000"/>
              </a:spcBef>
              <a:buClr>
                <a:srgbClr val="ED7D31"/>
              </a:buClr>
              <a:buSzTx/>
              <a:buFont typeface="+mj-lt"/>
              <a:buAutoNum type="arabicPeriod"/>
            </a:pPr>
            <a:r>
              <a:rPr lang="zh-CN" altLang="en-US" sz="1400" smtClean="0">
                <a:ea typeface="宋体" panose="02010600030101010101" pitchFamily="2" charset="-122"/>
                <a:sym typeface="+mn-ea"/>
              </a:rPr>
              <a:t>         * TimerTask task  -- 注册一个定时器</a:t>
            </a:r>
            <a:endParaRPr lang="zh-CN" altLang="en-US" sz="1400" smtClean="0">
              <a:ea typeface="宋体" panose="02010600030101010101" pitchFamily="2" charset="-122"/>
              <a:sym typeface="+mn-ea"/>
            </a:endParaRPr>
          </a:p>
          <a:p>
            <a:pPr marL="914400" lvl="3" indent="-457200" algn="l">
              <a:lnSpc>
                <a:spcPct val="140000"/>
              </a:lnSpc>
              <a:spcBef>
                <a:spcPts val="1000"/>
              </a:spcBef>
              <a:buClr>
                <a:srgbClr val="ED7D31"/>
              </a:buClr>
              <a:buSzTx/>
              <a:buFont typeface="+mj-lt"/>
              <a:buAutoNum type="arabicPeriod"/>
            </a:pPr>
            <a:r>
              <a:rPr lang="zh-CN" altLang="en-US" sz="1400" smtClean="0">
                <a:ea typeface="宋体" panose="02010600030101010101" pitchFamily="2" charset="-122"/>
                <a:sym typeface="+mn-ea"/>
              </a:rPr>
              <a:t>         * Date firstTime -- 起始时间</a:t>
            </a:r>
            <a:endParaRPr lang="zh-CN" altLang="en-US" sz="1400" smtClean="0">
              <a:ea typeface="宋体" panose="02010600030101010101" pitchFamily="2" charset="-122"/>
              <a:sym typeface="+mn-ea"/>
            </a:endParaRPr>
          </a:p>
          <a:p>
            <a:pPr marL="914400" lvl="3" indent="-457200" algn="l">
              <a:lnSpc>
                <a:spcPct val="140000"/>
              </a:lnSpc>
              <a:spcBef>
                <a:spcPts val="1000"/>
              </a:spcBef>
              <a:buClr>
                <a:srgbClr val="ED7D31"/>
              </a:buClr>
              <a:buSzTx/>
              <a:buFont typeface="+mj-lt"/>
              <a:buAutoNum type="arabicPeriod"/>
            </a:pPr>
            <a:r>
              <a:rPr lang="zh-CN" altLang="en-US" sz="1400" smtClean="0">
                <a:ea typeface="宋体" panose="02010600030101010101" pitchFamily="2" charset="-122"/>
                <a:sym typeface="+mn-ea"/>
              </a:rPr>
              <a:t>         * long period -- 间隔时间</a:t>
            </a:r>
            <a:endParaRPr lang="zh-CN" altLang="en-US" sz="1400" smtClean="0">
              <a:ea typeface="宋体" panose="02010600030101010101" pitchFamily="2" charset="-122"/>
              <a:sym typeface="+mn-ea"/>
            </a:endParaRPr>
          </a:p>
          <a:p>
            <a:pPr marL="914400" lvl="3" indent="-457200" algn="l">
              <a:lnSpc>
                <a:spcPct val="140000"/>
              </a:lnSpc>
              <a:spcBef>
                <a:spcPts val="1000"/>
              </a:spcBef>
              <a:buClr>
                <a:srgbClr val="ED7D31"/>
              </a:buClr>
              <a:buSzTx/>
              <a:buFont typeface="+mj-lt"/>
              <a:buAutoNum type="arabicPeriod"/>
            </a:pPr>
            <a:r>
              <a:rPr lang="zh-CN" altLang="en-US" sz="1400" smtClean="0">
                <a:ea typeface="宋体" panose="02010600030101010101" pitchFamily="2" charset="-122"/>
                <a:sym typeface="+mn-ea"/>
              </a:rPr>
              <a:t>         */</a:t>
            </a:r>
            <a:endParaRPr lang="zh-CN" altLang="en-US" sz="1400" smtClean="0">
              <a:ea typeface="宋体" panose="02010600030101010101" pitchFamily="2" charset="-122"/>
              <a:sym typeface="+mn-ea"/>
            </a:endParaRPr>
          </a:p>
          <a:p>
            <a:pPr marL="914400" lvl="3" indent="-457200" algn="l">
              <a:lnSpc>
                <a:spcPct val="140000"/>
              </a:lnSpc>
              <a:spcBef>
                <a:spcPts val="1000"/>
              </a:spcBef>
              <a:buClr>
                <a:srgbClr val="ED7D31"/>
              </a:buClr>
              <a:buSzTx/>
              <a:buFont typeface="+mj-lt"/>
              <a:buAutoNum type="arabicPeriod"/>
            </a:pPr>
            <a:r>
              <a:rPr lang="zh-CN" altLang="en-US" sz="1400" smtClean="0">
                <a:ea typeface="宋体" panose="02010600030101010101" pitchFamily="2" charset="-122"/>
                <a:sym typeface="+mn-ea"/>
              </a:rPr>
              <a:t>        timer.schedule(new MyTimerTask(),new Date(),1000);</a:t>
            </a:r>
            <a:endParaRPr lang="zh-CN" altLang="en-US" sz="1400" smtClean="0">
              <a:ea typeface="宋体" panose="02010600030101010101" pitchFamily="2" charset="-122"/>
              <a:sym typeface="+mn-ea"/>
            </a:endParaRPr>
          </a:p>
          <a:p>
            <a:pPr marL="914400" lvl="3" indent="-457200" algn="l">
              <a:lnSpc>
                <a:spcPct val="140000"/>
              </a:lnSpc>
              <a:spcBef>
                <a:spcPts val="1000"/>
              </a:spcBef>
              <a:buClr>
                <a:srgbClr val="ED7D31"/>
              </a:buClr>
              <a:buSzTx/>
              <a:buFont typeface="+mj-lt"/>
              <a:buAutoNum type="arabicPeriod"/>
            </a:pPr>
            <a:r>
              <a:rPr lang="zh-CN" altLang="en-US" sz="1400" smtClean="0">
                <a:ea typeface="宋体" panose="02010600030101010101" pitchFamily="2" charset="-122"/>
                <a:sym typeface="+mn-ea"/>
              </a:rPr>
              <a:t>    }</a:t>
            </a:r>
            <a:endParaRPr lang="zh-CN" altLang="en-US" sz="1400" smtClean="0">
              <a:ea typeface="宋体" panose="02010600030101010101" pitchFamily="2" charset="-122"/>
              <a:sym typeface="+mn-ea"/>
            </a:endParaRPr>
          </a:p>
          <a:p>
            <a:pPr marL="914400" lvl="3" indent="-457200" algn="l">
              <a:lnSpc>
                <a:spcPct val="140000"/>
              </a:lnSpc>
              <a:spcBef>
                <a:spcPts val="1000"/>
              </a:spcBef>
              <a:buClr>
                <a:srgbClr val="ED7D31"/>
              </a:buClr>
              <a:buSzTx/>
              <a:buFont typeface="+mj-lt"/>
              <a:buAutoNum type="arabicPeriod"/>
            </a:pPr>
            <a:r>
              <a:rPr lang="zh-CN" altLang="en-US" sz="1400" smtClean="0">
                <a:ea typeface="宋体" panose="02010600030101010101" pitchFamily="2" charset="-122"/>
                <a:sym typeface="+mn-ea"/>
              </a:rPr>
              <a:t>}</a:t>
            </a:r>
            <a:endParaRPr lang="zh-CN" altLang="en-US" sz="14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直角三角形 79"/>
          <p:cNvSpPr/>
          <p:nvPr/>
        </p:nvSpPr>
        <p:spPr>
          <a:xfrm flipV="1">
            <a:off x="0" y="0"/>
            <a:ext cx="1537639" cy="1537639"/>
          </a:xfrm>
          <a:prstGeom prst="rtTriangle">
            <a:avLst/>
          </a:prstGeom>
          <a:solidFill>
            <a:srgbClr val="2C3173">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flipH="1">
            <a:off x="3412274" y="0"/>
            <a:ext cx="8132956" cy="6858000"/>
          </a:xfrm>
          <a:custGeom>
            <a:avLst/>
            <a:gdLst>
              <a:gd name="connsiteX0" fmla="*/ 1274956 w 8132956"/>
              <a:gd name="connsiteY0" fmla="*/ 0 h 6858000"/>
              <a:gd name="connsiteX1" fmla="*/ 0 w 8132956"/>
              <a:gd name="connsiteY1" fmla="*/ 0 h 6858000"/>
              <a:gd name="connsiteX2" fmla="*/ 0 w 8132956"/>
              <a:gd name="connsiteY2" fmla="*/ 6858000 h 6858000"/>
              <a:gd name="connsiteX3" fmla="*/ 8132956 w 813295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32956" h="6858000">
                <a:moveTo>
                  <a:pt x="1274956" y="0"/>
                </a:moveTo>
                <a:lnTo>
                  <a:pt x="0" y="0"/>
                </a:lnTo>
                <a:lnTo>
                  <a:pt x="0" y="6858000"/>
                </a:lnTo>
                <a:lnTo>
                  <a:pt x="8132956" y="68580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nvSpPr>
        <p:spPr>
          <a:xfrm flipH="1">
            <a:off x="4059044" y="0"/>
            <a:ext cx="8132956" cy="6858000"/>
          </a:xfrm>
          <a:custGeom>
            <a:avLst/>
            <a:gdLst>
              <a:gd name="connsiteX0" fmla="*/ 1274956 w 8132956"/>
              <a:gd name="connsiteY0" fmla="*/ 0 h 6858000"/>
              <a:gd name="connsiteX1" fmla="*/ 0 w 8132956"/>
              <a:gd name="connsiteY1" fmla="*/ 0 h 6858000"/>
              <a:gd name="connsiteX2" fmla="*/ 0 w 8132956"/>
              <a:gd name="connsiteY2" fmla="*/ 6858000 h 6858000"/>
              <a:gd name="connsiteX3" fmla="*/ 8132956 w 813295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32956" h="6858000">
                <a:moveTo>
                  <a:pt x="1274956" y="0"/>
                </a:moveTo>
                <a:lnTo>
                  <a:pt x="0" y="0"/>
                </a:lnTo>
                <a:lnTo>
                  <a:pt x="0" y="6858000"/>
                </a:lnTo>
                <a:lnTo>
                  <a:pt x="8132956"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flipH="1">
            <a:off x="7627434" y="2283274"/>
            <a:ext cx="4564566" cy="4564566"/>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6632575" y="1537335"/>
            <a:ext cx="4479290" cy="4239260"/>
          </a:xfrm>
          <a:prstGeom prst="ellipse">
            <a:avLst/>
          </a:prstGeom>
          <a:solidFill>
            <a:schemeClr val="bg1"/>
          </a:solidFill>
          <a:ln w="22225" cap="flat" cmpd="sng" algn="ctr">
            <a:noFill/>
            <a:prstDash val="solid"/>
            <a:miter lim="800000"/>
          </a:ln>
          <a:effectLst>
            <a:outerShdw blurRad="939800" dist="266700" sx="99000" sy="99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ea typeface="思源黑体 CN Medium" panose="020B0600000000000000" pitchFamily="34" charset="-122"/>
              <a:sym typeface="思源黑体 CN Medium" panose="020B0600000000000000" pitchFamily="34" charset="-122"/>
            </a:endParaRPr>
          </a:p>
        </p:txBody>
      </p:sp>
      <p:sp>
        <p:nvSpPr>
          <p:cNvPr id="14" name="椭圆 13"/>
          <p:cNvSpPr/>
          <p:nvPr/>
        </p:nvSpPr>
        <p:spPr>
          <a:xfrm>
            <a:off x="6837680" y="1727200"/>
            <a:ext cx="4105910" cy="3859530"/>
          </a:xfrm>
          <a:prstGeom prst="ellipse">
            <a:avLst/>
          </a:prstGeom>
          <a:noFill/>
          <a:ln>
            <a:solidFill>
              <a:srgbClr val="2C3173">
                <a:alpha val="32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1459B"/>
              </a:solidFill>
            </a:endParaRPr>
          </a:p>
        </p:txBody>
      </p:sp>
      <p:grpSp>
        <p:nvGrpSpPr>
          <p:cNvPr id="32" name="组合 31"/>
          <p:cNvGrpSpPr/>
          <p:nvPr/>
        </p:nvGrpSpPr>
        <p:grpSpPr>
          <a:xfrm>
            <a:off x="5434330" y="2151380"/>
            <a:ext cx="586105" cy="245110"/>
            <a:chOff x="8225" y="1632"/>
            <a:chExt cx="923" cy="386"/>
          </a:xfrm>
          <a:solidFill>
            <a:srgbClr val="002562"/>
          </a:solidFill>
        </p:grpSpPr>
        <p:grpSp>
          <p:nvGrpSpPr>
            <p:cNvPr id="6" name="组合 5"/>
            <p:cNvGrpSpPr/>
            <p:nvPr/>
          </p:nvGrpSpPr>
          <p:grpSpPr>
            <a:xfrm>
              <a:off x="8225" y="1632"/>
              <a:ext cx="416" cy="387"/>
              <a:chOff x="4218240" y="1782762"/>
              <a:chExt cx="525790" cy="489777"/>
            </a:xfrm>
            <a:grpFill/>
          </p:grpSpPr>
          <p:sp>
            <p:nvSpPr>
              <p:cNvPr id="77" name="椭圆 76"/>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8732" y="1632"/>
              <a:ext cx="416" cy="387"/>
              <a:chOff x="4218240" y="1782762"/>
              <a:chExt cx="525790" cy="489777"/>
            </a:xfrm>
            <a:grpFill/>
          </p:grpSpPr>
          <p:sp>
            <p:nvSpPr>
              <p:cNvPr id="3" name="椭圆 2"/>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51" name="组合 50"/>
          <p:cNvGrpSpPr/>
          <p:nvPr/>
        </p:nvGrpSpPr>
        <p:grpSpPr>
          <a:xfrm>
            <a:off x="10789920" y="5880100"/>
            <a:ext cx="586105" cy="245110"/>
            <a:chOff x="8225" y="1632"/>
            <a:chExt cx="923" cy="386"/>
          </a:xfrm>
          <a:solidFill>
            <a:srgbClr val="ED7D31"/>
          </a:solidFill>
        </p:grpSpPr>
        <p:grpSp>
          <p:nvGrpSpPr>
            <p:cNvPr id="52" name="组合 51"/>
            <p:cNvGrpSpPr/>
            <p:nvPr/>
          </p:nvGrpSpPr>
          <p:grpSpPr>
            <a:xfrm>
              <a:off x="8225" y="1632"/>
              <a:ext cx="416" cy="387"/>
              <a:chOff x="4218240" y="1782762"/>
              <a:chExt cx="525790" cy="489777"/>
            </a:xfrm>
            <a:grpFill/>
          </p:grpSpPr>
          <p:sp>
            <p:nvSpPr>
              <p:cNvPr id="53" name="椭圆 52"/>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2" name="组合 61"/>
            <p:cNvGrpSpPr/>
            <p:nvPr/>
          </p:nvGrpSpPr>
          <p:grpSpPr>
            <a:xfrm>
              <a:off x="8732" y="1632"/>
              <a:ext cx="416" cy="387"/>
              <a:chOff x="4218240" y="1782762"/>
              <a:chExt cx="525790" cy="489777"/>
            </a:xfrm>
            <a:grpFill/>
          </p:grpSpPr>
          <p:sp>
            <p:nvSpPr>
              <p:cNvPr id="63" name="椭圆 62"/>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83" name="PA_矩形 29"/>
          <p:cNvSpPr/>
          <p:nvPr>
            <p:custDataLst>
              <p:tags r:id="rId1"/>
            </p:custDataLst>
          </p:nvPr>
        </p:nvSpPr>
        <p:spPr>
          <a:xfrm>
            <a:off x="570123" y="2582387"/>
            <a:ext cx="5490317" cy="2062103"/>
          </a:xfrm>
          <a:prstGeom prst="rect">
            <a:avLst/>
          </a:prstGeom>
          <a:ln>
            <a:noFill/>
          </a:ln>
          <a:effectLst/>
        </p:spPr>
        <p:txBody>
          <a:bodyPr wrap="square">
            <a:spAutoFit/>
          </a:bodyPr>
          <a:lstStyle/>
          <a:p>
            <a:pPr algn="dist"/>
            <a:r>
              <a:rPr lang="zh-CN" altLang="en-US" sz="6400" b="1" dirty="0">
                <a:solidFill>
                  <a:srgbClr val="ED7D31"/>
                </a:solidFill>
                <a:latin typeface="思源黑体 CN Bold" panose="020B0800000000000000" pitchFamily="34" charset="-122"/>
                <a:ea typeface="思源黑体 CN Bold" panose="020B0800000000000000" pitchFamily="34" charset="-122"/>
                <a:cs typeface="Open Sans" panose="020B0606030504020204" pitchFamily="34" charset="0"/>
              </a:rPr>
              <a:t>口口相传的</a:t>
            </a:r>
            <a:r>
              <a:rPr lang="en-US" altLang="zh-CN" sz="6400" b="1" dirty="0">
                <a:solidFill>
                  <a:srgbClr val="ED7D31"/>
                </a:solidFill>
                <a:latin typeface="思源黑体 CN Bold" panose="020B0800000000000000" pitchFamily="34" charset="-122"/>
                <a:ea typeface="思源黑体 CN Bold" panose="020B0800000000000000" pitchFamily="34" charset="-122"/>
                <a:cs typeface="Open Sans" panose="020B0606030504020204" pitchFamily="34" charset="0"/>
              </a:rPr>
              <a:t>Java</a:t>
            </a:r>
            <a:r>
              <a:rPr lang="zh-CN" altLang="en-US" sz="6400" b="1" dirty="0">
                <a:solidFill>
                  <a:srgbClr val="ED7D31"/>
                </a:solidFill>
                <a:latin typeface="思源黑体 CN Bold" panose="020B0800000000000000" pitchFamily="34" charset="-122"/>
                <a:ea typeface="思源黑体 CN Bold" panose="020B0800000000000000" pitchFamily="34" charset="-122"/>
                <a:cs typeface="Open Sans" panose="020B0606030504020204" pitchFamily="34" charset="0"/>
              </a:rPr>
              <a:t>黄埔军校</a:t>
            </a:r>
            <a:endParaRPr lang="zh-CN" altLang="en-US" sz="6400" b="1" dirty="0">
              <a:latin typeface="思源黑体 CN Bold" panose="020B0800000000000000" pitchFamily="34" charset="-122"/>
              <a:ea typeface="思源黑体 CN Bold" panose="020B0800000000000000" pitchFamily="34" charset="-122"/>
              <a:cs typeface="Open Sans" panose="020B0606030504020204" pitchFamily="34" charset="0"/>
            </a:endParaRPr>
          </a:p>
        </p:txBody>
      </p:sp>
      <p:sp>
        <p:nvSpPr>
          <p:cNvPr id="84" name="PA_圆角矩形 31"/>
          <p:cNvSpPr/>
          <p:nvPr>
            <p:custDataLst>
              <p:tags r:id="rId2"/>
            </p:custDataLst>
          </p:nvPr>
        </p:nvSpPr>
        <p:spPr>
          <a:xfrm>
            <a:off x="632213" y="5080777"/>
            <a:ext cx="1351751" cy="338839"/>
          </a:xfrm>
          <a:prstGeom prst="roundRect">
            <a:avLst/>
          </a:prstGeom>
          <a:solidFill>
            <a:srgbClr val="00235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a:t>
            </a:r>
            <a:endParaRPr lang="en-US" altLang="zh-CN" sz="1200" dirty="0">
              <a:solidFill>
                <a:schemeClr val="bg1"/>
              </a:solidFill>
              <a:latin typeface="思源黑体 CN Regular" panose="020B0500000000000000" pitchFamily="34" charset="-122"/>
              <a:ea typeface="思源黑体 CN Regular" panose="020B0500000000000000" pitchFamily="34" charset="-122"/>
            </a:endParaRPr>
          </a:p>
        </p:txBody>
      </p:sp>
      <p:sp>
        <p:nvSpPr>
          <p:cNvPr id="86" name="PA_圆角矩形 31"/>
          <p:cNvSpPr/>
          <p:nvPr>
            <p:custDataLst>
              <p:tags r:id="rId3"/>
            </p:custDataLst>
          </p:nvPr>
        </p:nvSpPr>
        <p:spPr>
          <a:xfrm>
            <a:off x="2720523" y="5080777"/>
            <a:ext cx="1351751" cy="338839"/>
          </a:xfrm>
          <a:prstGeom prst="roundRect">
            <a:avLst/>
          </a:prstGeom>
          <a:solidFill>
            <a:srgbClr val="ED7D3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a:t>
            </a:r>
            <a:endParaRPr lang="en-US" altLang="zh-CN" sz="1200" dirty="0">
              <a:solidFill>
                <a:schemeClr val="bg1"/>
              </a:solidFill>
              <a:latin typeface="思源黑体 CN Regular" panose="020B0500000000000000" pitchFamily="34" charset="-122"/>
              <a:ea typeface="思源黑体 CN Regular" panose="020B0500000000000000" pitchFamily="34" charset="-122"/>
            </a:endParaRPr>
          </a:p>
        </p:txBody>
      </p:sp>
      <p:grpSp>
        <p:nvGrpSpPr>
          <p:cNvPr id="89" name="组合 88"/>
          <p:cNvGrpSpPr/>
          <p:nvPr/>
        </p:nvGrpSpPr>
        <p:grpSpPr>
          <a:xfrm>
            <a:off x="695960" y="416560"/>
            <a:ext cx="1627505" cy="390525"/>
            <a:chOff x="7621368" y="4710754"/>
            <a:chExt cx="2609603" cy="626238"/>
          </a:xfrm>
          <a:solidFill>
            <a:schemeClr val="accent2"/>
          </a:solidFill>
        </p:grpSpPr>
        <p:sp>
          <p:nvSpPr>
            <p:cNvPr id="90" name="check-mark_2431"/>
            <p:cNvSpPr/>
            <p:nvPr/>
          </p:nvSpPr>
          <p:spPr>
            <a:xfrm>
              <a:off x="8621327" y="4727994"/>
              <a:ext cx="609685" cy="608998"/>
            </a:xfrm>
            <a:custGeom>
              <a:avLst/>
              <a:gdLst>
                <a:gd name="T0" fmla="*/ 213 w 427"/>
                <a:gd name="T1" fmla="*/ 0 h 427"/>
                <a:gd name="T2" fmla="*/ 0 w 427"/>
                <a:gd name="T3" fmla="*/ 213 h 427"/>
                <a:gd name="T4" fmla="*/ 213 w 427"/>
                <a:gd name="T5" fmla="*/ 427 h 427"/>
                <a:gd name="T6" fmla="*/ 427 w 427"/>
                <a:gd name="T7" fmla="*/ 213 h 427"/>
                <a:gd name="T8" fmla="*/ 213 w 427"/>
                <a:gd name="T9" fmla="*/ 0 h 427"/>
                <a:gd name="T10" fmla="*/ 180 w 427"/>
                <a:gd name="T11" fmla="*/ 312 h 427"/>
                <a:gd name="T12" fmla="*/ 82 w 427"/>
                <a:gd name="T13" fmla="*/ 214 h 427"/>
                <a:gd name="T14" fmla="*/ 120 w 427"/>
                <a:gd name="T15" fmla="*/ 176 h 427"/>
                <a:gd name="T16" fmla="*/ 180 w 427"/>
                <a:gd name="T17" fmla="*/ 236 h 427"/>
                <a:gd name="T18" fmla="*/ 308 w 427"/>
                <a:gd name="T19" fmla="*/ 108 h 427"/>
                <a:gd name="T20" fmla="*/ 346 w 427"/>
                <a:gd name="T21" fmla="*/ 146 h 427"/>
                <a:gd name="T22" fmla="*/ 180 w 427"/>
                <a:gd name="T23" fmla="*/ 312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7" h="427">
                  <a:moveTo>
                    <a:pt x="213" y="0"/>
                  </a:moveTo>
                  <a:cubicBezTo>
                    <a:pt x="96" y="0"/>
                    <a:pt x="0" y="96"/>
                    <a:pt x="0" y="213"/>
                  </a:cubicBezTo>
                  <a:cubicBezTo>
                    <a:pt x="0" y="331"/>
                    <a:pt x="96" y="427"/>
                    <a:pt x="213" y="427"/>
                  </a:cubicBezTo>
                  <a:cubicBezTo>
                    <a:pt x="331" y="427"/>
                    <a:pt x="427" y="331"/>
                    <a:pt x="427" y="213"/>
                  </a:cubicBezTo>
                  <a:cubicBezTo>
                    <a:pt x="427" y="96"/>
                    <a:pt x="331" y="0"/>
                    <a:pt x="213" y="0"/>
                  </a:cubicBezTo>
                  <a:close/>
                  <a:moveTo>
                    <a:pt x="180" y="312"/>
                  </a:moveTo>
                  <a:lnTo>
                    <a:pt x="82" y="214"/>
                  </a:lnTo>
                  <a:lnTo>
                    <a:pt x="120" y="176"/>
                  </a:lnTo>
                  <a:lnTo>
                    <a:pt x="180" y="236"/>
                  </a:lnTo>
                  <a:lnTo>
                    <a:pt x="308" y="108"/>
                  </a:lnTo>
                  <a:lnTo>
                    <a:pt x="346" y="146"/>
                  </a:lnTo>
                  <a:lnTo>
                    <a:pt x="180" y="312"/>
                  </a:lnTo>
                  <a:close/>
                </a:path>
              </a:pathLst>
            </a:cu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iconfont-1191-866891"/>
            <p:cNvSpPr/>
            <p:nvPr/>
          </p:nvSpPr>
          <p:spPr>
            <a:xfrm>
              <a:off x="7621368" y="4710754"/>
              <a:ext cx="609685" cy="609522"/>
            </a:xfrm>
            <a:custGeom>
              <a:avLst/>
              <a:gdLst>
                <a:gd name="T0" fmla="*/ 3884 w 7768"/>
                <a:gd name="T1" fmla="*/ 0 h 7766"/>
                <a:gd name="T2" fmla="*/ 0 w 7768"/>
                <a:gd name="T3" fmla="*/ 3883 h 7766"/>
                <a:gd name="T4" fmla="*/ 3884 w 7768"/>
                <a:gd name="T5" fmla="*/ 7766 h 7766"/>
                <a:gd name="T6" fmla="*/ 7768 w 7768"/>
                <a:gd name="T7" fmla="*/ 3883 h 7766"/>
                <a:gd name="T8" fmla="*/ 3884 w 7768"/>
                <a:gd name="T9" fmla="*/ 0 h 7766"/>
                <a:gd name="T10" fmla="*/ 3884 w 7768"/>
                <a:gd name="T11" fmla="*/ 6041 h 7766"/>
                <a:gd name="T12" fmla="*/ 3453 w 7768"/>
                <a:gd name="T13" fmla="*/ 5609 h 7766"/>
                <a:gd name="T14" fmla="*/ 3884 w 7768"/>
                <a:gd name="T15" fmla="*/ 5178 h 7766"/>
                <a:gd name="T16" fmla="*/ 4315 w 7768"/>
                <a:gd name="T17" fmla="*/ 5609 h 7766"/>
                <a:gd name="T18" fmla="*/ 3884 w 7768"/>
                <a:gd name="T19" fmla="*/ 6041 h 7766"/>
                <a:gd name="T20" fmla="*/ 4295 w 7768"/>
                <a:gd name="T21" fmla="*/ 4313 h 7766"/>
                <a:gd name="T22" fmla="*/ 3888 w 7768"/>
                <a:gd name="T23" fmla="*/ 4737 h 7766"/>
                <a:gd name="T24" fmla="*/ 3933 w 7768"/>
                <a:gd name="T25" fmla="*/ 4746 h 7766"/>
                <a:gd name="T26" fmla="*/ 3843 w 7768"/>
                <a:gd name="T27" fmla="*/ 4746 h 7766"/>
                <a:gd name="T28" fmla="*/ 3888 w 7768"/>
                <a:gd name="T29" fmla="*/ 4737 h 7766"/>
                <a:gd name="T30" fmla="*/ 3485 w 7768"/>
                <a:gd name="T31" fmla="*/ 4313 h 7766"/>
                <a:gd name="T32" fmla="*/ 3386 w 7768"/>
                <a:gd name="T33" fmla="*/ 2158 h 7766"/>
                <a:gd name="T34" fmla="*/ 3800 w 7768"/>
                <a:gd name="T35" fmla="*/ 1725 h 7766"/>
                <a:gd name="T36" fmla="*/ 3999 w 7768"/>
                <a:gd name="T37" fmla="*/ 1725 h 7766"/>
                <a:gd name="T38" fmla="*/ 4410 w 7768"/>
                <a:gd name="T39" fmla="*/ 2158 h 7766"/>
                <a:gd name="T40" fmla="*/ 4295 w 7768"/>
                <a:gd name="T41" fmla="*/ 4313 h 7766"/>
                <a:gd name="T42" fmla="*/ 4295 w 7768"/>
                <a:gd name="T43" fmla="*/ 4313 h 7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768" h="7766">
                  <a:moveTo>
                    <a:pt x="3884" y="0"/>
                  </a:moveTo>
                  <a:cubicBezTo>
                    <a:pt x="1739" y="0"/>
                    <a:pt x="0" y="1738"/>
                    <a:pt x="0" y="3883"/>
                  </a:cubicBezTo>
                  <a:cubicBezTo>
                    <a:pt x="0" y="6028"/>
                    <a:pt x="1739" y="7766"/>
                    <a:pt x="3884" y="7766"/>
                  </a:cubicBezTo>
                  <a:cubicBezTo>
                    <a:pt x="6029" y="7766"/>
                    <a:pt x="7768" y="6028"/>
                    <a:pt x="7768" y="3883"/>
                  </a:cubicBezTo>
                  <a:cubicBezTo>
                    <a:pt x="7768" y="1738"/>
                    <a:pt x="6029" y="0"/>
                    <a:pt x="3884" y="0"/>
                  </a:cubicBezTo>
                  <a:close/>
                  <a:moveTo>
                    <a:pt x="3884" y="6041"/>
                  </a:moveTo>
                  <a:cubicBezTo>
                    <a:pt x="3646" y="6041"/>
                    <a:pt x="3453" y="5847"/>
                    <a:pt x="3453" y="5609"/>
                  </a:cubicBezTo>
                  <a:cubicBezTo>
                    <a:pt x="3453" y="5371"/>
                    <a:pt x="3646" y="5178"/>
                    <a:pt x="3884" y="5178"/>
                  </a:cubicBezTo>
                  <a:cubicBezTo>
                    <a:pt x="4122" y="5178"/>
                    <a:pt x="4315" y="5371"/>
                    <a:pt x="4315" y="5609"/>
                  </a:cubicBezTo>
                  <a:cubicBezTo>
                    <a:pt x="4315" y="5847"/>
                    <a:pt x="4122" y="6041"/>
                    <a:pt x="3884" y="6041"/>
                  </a:cubicBezTo>
                  <a:close/>
                  <a:moveTo>
                    <a:pt x="4295" y="4313"/>
                  </a:moveTo>
                  <a:cubicBezTo>
                    <a:pt x="4284" y="4537"/>
                    <a:pt x="4103" y="4714"/>
                    <a:pt x="3888" y="4737"/>
                  </a:cubicBezTo>
                  <a:cubicBezTo>
                    <a:pt x="3904" y="4739"/>
                    <a:pt x="3917" y="4746"/>
                    <a:pt x="3933" y="4746"/>
                  </a:cubicBezTo>
                  <a:lnTo>
                    <a:pt x="3843" y="4746"/>
                  </a:lnTo>
                  <a:cubicBezTo>
                    <a:pt x="3859" y="4746"/>
                    <a:pt x="3873" y="4739"/>
                    <a:pt x="3888" y="4737"/>
                  </a:cubicBezTo>
                  <a:cubicBezTo>
                    <a:pt x="3672" y="4714"/>
                    <a:pt x="3495" y="4541"/>
                    <a:pt x="3485" y="4313"/>
                  </a:cubicBezTo>
                  <a:lnTo>
                    <a:pt x="3386" y="2158"/>
                  </a:lnTo>
                  <a:cubicBezTo>
                    <a:pt x="3375" y="1919"/>
                    <a:pt x="3562" y="1725"/>
                    <a:pt x="3800" y="1725"/>
                  </a:cubicBezTo>
                  <a:lnTo>
                    <a:pt x="3999" y="1725"/>
                  </a:lnTo>
                  <a:cubicBezTo>
                    <a:pt x="4239" y="1725"/>
                    <a:pt x="4424" y="1914"/>
                    <a:pt x="4410" y="2158"/>
                  </a:cubicBezTo>
                  <a:lnTo>
                    <a:pt x="4295" y="4313"/>
                  </a:lnTo>
                  <a:close/>
                  <a:moveTo>
                    <a:pt x="4295" y="4313"/>
                  </a:moveTo>
                  <a:close/>
                </a:path>
              </a:pathLst>
            </a:cu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play-button_91268"/>
            <p:cNvSpPr/>
            <p:nvPr/>
          </p:nvSpPr>
          <p:spPr>
            <a:xfrm>
              <a:off x="9621286" y="4727994"/>
              <a:ext cx="609685" cy="608766"/>
            </a:xfrm>
            <a:custGeom>
              <a:avLst/>
              <a:gdLst>
                <a:gd name="T0" fmla="*/ 267 w 533"/>
                <a:gd name="T1" fmla="*/ 0 h 533"/>
                <a:gd name="T2" fmla="*/ 0 w 533"/>
                <a:gd name="T3" fmla="*/ 267 h 533"/>
                <a:gd name="T4" fmla="*/ 267 w 533"/>
                <a:gd name="T5" fmla="*/ 533 h 533"/>
                <a:gd name="T6" fmla="*/ 533 w 533"/>
                <a:gd name="T7" fmla="*/ 267 h 533"/>
                <a:gd name="T8" fmla="*/ 267 w 533"/>
                <a:gd name="T9" fmla="*/ 0 h 533"/>
                <a:gd name="T10" fmla="*/ 356 w 533"/>
                <a:gd name="T11" fmla="*/ 285 h 533"/>
                <a:gd name="T12" fmla="*/ 199 w 533"/>
                <a:gd name="T13" fmla="*/ 376 h 533"/>
                <a:gd name="T14" fmla="*/ 167 w 533"/>
                <a:gd name="T15" fmla="*/ 357 h 533"/>
                <a:gd name="T16" fmla="*/ 167 w 533"/>
                <a:gd name="T17" fmla="*/ 176 h 533"/>
                <a:gd name="T18" fmla="*/ 199 w 533"/>
                <a:gd name="T19" fmla="*/ 157 h 533"/>
                <a:gd name="T20" fmla="*/ 356 w 533"/>
                <a:gd name="T21" fmla="*/ 248 h 533"/>
                <a:gd name="T22" fmla="*/ 356 w 533"/>
                <a:gd name="T23" fmla="*/ 285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3" h="533">
                  <a:moveTo>
                    <a:pt x="267" y="0"/>
                  </a:moveTo>
                  <a:cubicBezTo>
                    <a:pt x="119" y="0"/>
                    <a:pt x="0" y="119"/>
                    <a:pt x="0" y="267"/>
                  </a:cubicBezTo>
                  <a:cubicBezTo>
                    <a:pt x="0" y="414"/>
                    <a:pt x="119" y="533"/>
                    <a:pt x="267" y="533"/>
                  </a:cubicBezTo>
                  <a:cubicBezTo>
                    <a:pt x="414" y="533"/>
                    <a:pt x="533" y="414"/>
                    <a:pt x="533" y="267"/>
                  </a:cubicBezTo>
                  <a:cubicBezTo>
                    <a:pt x="533" y="119"/>
                    <a:pt x="414" y="0"/>
                    <a:pt x="267" y="0"/>
                  </a:cubicBezTo>
                  <a:close/>
                  <a:moveTo>
                    <a:pt x="356" y="285"/>
                  </a:moveTo>
                  <a:lnTo>
                    <a:pt x="199" y="376"/>
                  </a:lnTo>
                  <a:cubicBezTo>
                    <a:pt x="185" y="384"/>
                    <a:pt x="167" y="374"/>
                    <a:pt x="167" y="357"/>
                  </a:cubicBezTo>
                  <a:lnTo>
                    <a:pt x="167" y="176"/>
                  </a:lnTo>
                  <a:cubicBezTo>
                    <a:pt x="167" y="160"/>
                    <a:pt x="185" y="149"/>
                    <a:pt x="199" y="157"/>
                  </a:cubicBezTo>
                  <a:lnTo>
                    <a:pt x="356" y="248"/>
                  </a:lnTo>
                  <a:cubicBezTo>
                    <a:pt x="370" y="256"/>
                    <a:pt x="370" y="277"/>
                    <a:pt x="356" y="285"/>
                  </a:cubicBezTo>
                  <a:close/>
                </a:path>
              </a:pathLst>
            </a:cu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6" name="组合 95"/>
          <p:cNvGrpSpPr/>
          <p:nvPr/>
        </p:nvGrpSpPr>
        <p:grpSpPr>
          <a:xfrm>
            <a:off x="695960" y="2163445"/>
            <a:ext cx="482600" cy="145415"/>
            <a:chOff x="1339" y="8078"/>
            <a:chExt cx="760" cy="229"/>
          </a:xfrm>
        </p:grpSpPr>
        <p:sp>
          <p:nvSpPr>
            <p:cNvPr id="97" name="椭圆 96"/>
            <p:cNvSpPr/>
            <p:nvPr>
              <p:custDataLst>
                <p:tags r:id="rId4"/>
              </p:custDataLst>
            </p:nvPr>
          </p:nvSpPr>
          <p:spPr>
            <a:xfrm rot="16200000">
              <a:off x="1339" y="8127"/>
              <a:ext cx="140" cy="140"/>
            </a:xfrm>
            <a:prstGeom prst="ellipse">
              <a:avLst/>
            </a:prstGeom>
            <a:solidFill>
              <a:srgbClr val="00256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sp>
          <p:nvSpPr>
            <p:cNvPr id="98" name="椭圆 97"/>
            <p:cNvSpPr/>
            <p:nvPr>
              <p:custDataLst>
                <p:tags r:id="rId5"/>
              </p:custDataLst>
            </p:nvPr>
          </p:nvSpPr>
          <p:spPr>
            <a:xfrm rot="16200000">
              <a:off x="1959" y="8127"/>
              <a:ext cx="140" cy="140"/>
            </a:xfrm>
            <a:prstGeom prst="ellipse">
              <a:avLst/>
            </a:prstGeom>
            <a:solidFill>
              <a:srgbClr val="00256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sp>
          <p:nvSpPr>
            <p:cNvPr id="99" name="椭圆 98"/>
            <p:cNvSpPr/>
            <p:nvPr>
              <p:custDataLst>
                <p:tags r:id="rId6"/>
              </p:custDataLst>
            </p:nvPr>
          </p:nvSpPr>
          <p:spPr>
            <a:xfrm rot="16200000">
              <a:off x="1609" y="8078"/>
              <a:ext cx="229" cy="229"/>
            </a:xfrm>
            <a:prstGeom prst="ellipse">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grpSp>
      <p:pic>
        <p:nvPicPr>
          <p:cNvPr id="16" name="图片 15"/>
          <p:cNvPicPr>
            <a:picLocks noChangeAspect="1"/>
          </p:cNvPicPr>
          <p:nvPr>
            <p:custDataLst>
              <p:tags r:id="rId7"/>
            </p:custDataLst>
          </p:nvPr>
        </p:nvPicPr>
        <p:blipFill>
          <a:blip r:embed="rId8"/>
          <a:stretch>
            <a:fillRect/>
          </a:stretch>
        </p:blipFill>
        <p:spPr>
          <a:xfrm>
            <a:off x="7499985" y="2397125"/>
            <a:ext cx="2743835" cy="2570480"/>
          </a:xfrm>
          <a:prstGeom prst="rect">
            <a:avLst/>
          </a:prstGeom>
        </p:spPr>
      </p:pic>
    </p:spTree>
    <p:custDataLst>
      <p:tags r:id="rId9"/>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83" grpId="0" bldLvl="0" animBg="1"/>
      <p:bldP spid="84" grpId="0" bldLvl="0" animBg="1"/>
      <p:bldP spid="86" grpId="0" bldLvl="0" animBg="1"/>
    </p:bldLst>
  </p:timing>
</p:sld>
</file>

<file path=ppt/tags/tag1.xml><?xml version="1.0" encoding="utf-8"?>
<p:tagLst xmlns:p="http://schemas.openxmlformats.org/presentationml/2006/main">
  <p:tag name="PA" val="v5.2.11"/>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PA" val="v5.2.11"/>
</p:tagLst>
</file>

<file path=ppt/tags/tag5.xml><?xml version="1.0" encoding="utf-8"?>
<p:tagLst xmlns:p="http://schemas.openxmlformats.org/presentationml/2006/main">
  <p:tag name="PA" val="v5.2.11"/>
</p:tagLst>
</file>

<file path=ppt/tags/tag6.xml><?xml version="1.0" encoding="utf-8"?>
<p:tagLst xmlns:p="http://schemas.openxmlformats.org/presentationml/2006/main">
  <p:tag name="PA" val="v5.2.11"/>
</p:tagLst>
</file>

<file path=ppt/tags/tag7.xml><?xml version="1.0" encoding="utf-8"?>
<p:tagLst xmlns:p="http://schemas.openxmlformats.org/presentationml/2006/main">
  <p:tag name="ISLIDE.ICON" val="#176715;"/>
</p:tagLst>
</file>

<file path=ppt/tags/tag8.xml><?xml version="1.0" encoding="utf-8"?>
<p:tagLst xmlns:p="http://schemas.openxmlformats.org/presentationml/2006/main">
  <p:tag name="KSO_WM_DIAGRAM_VIRTUALLY_FRAME" val="{&quot;height&quot;:269.68858267716536,&quot;left&quot;:18.45,&quot;top&quot;:199.81141732283464,&quot;width&quot;:918.65}"/>
</p:tagLst>
</file>

<file path=ppt/tags/tag9.xml><?xml version="1.0" encoding="utf-8"?>
<p:tagLst xmlns:p="http://schemas.openxmlformats.org/presentationml/2006/main">
  <p:tag name="KSO_WM_DIAGRAM_VIRTUALLY_FRAME" val="{&quot;height&quot;:269.68858267716536,&quot;left&quot;:18.45,&quot;top&quot;:199.81141732283464,&quot;width&quot;:918.65}"/>
</p:tagLst>
</file>

<file path=ppt/tags/tag10.xml><?xml version="1.0" encoding="utf-8"?>
<p:tagLst xmlns:p="http://schemas.openxmlformats.org/presentationml/2006/main">
  <p:tag name="KSO_WM_DIAGRAM_VIRTUALLY_FRAME" val="{&quot;height&quot;:269.68858267716536,&quot;left&quot;:18.45,&quot;top&quot;:199.81141732283464,&quot;width&quot;:918.65}"/>
</p:tagLst>
</file>

<file path=ppt/tags/tag11.xml><?xml version="1.0" encoding="utf-8"?>
<p:tagLst xmlns:p="http://schemas.openxmlformats.org/presentationml/2006/main">
  <p:tag name="KSO_WM_DIAGRAM_VIRTUALLY_FRAME" val="{&quot;height&quot;:269.68858267716536,&quot;left&quot;:18.45,&quot;top&quot;:199.81141732283464,&quot;width&quot;:918.65}"/>
</p:tagLst>
</file>

<file path=ppt/tags/tag12.xml><?xml version="1.0" encoding="utf-8"?>
<p:tagLst xmlns:p="http://schemas.openxmlformats.org/presentationml/2006/main">
  <p:tag name="KSO_WM_DIAGRAM_VIRTUALLY_FRAME" val="{&quot;height&quot;:269.68858267716536,&quot;left&quot;:18.45,&quot;top&quot;:199.81141732283464,&quot;width&quot;:918.65}"/>
</p:tagLst>
</file>

<file path=ppt/tags/tag13.xml><?xml version="1.0" encoding="utf-8"?>
<p:tagLst xmlns:p="http://schemas.openxmlformats.org/presentationml/2006/main">
  <p:tag name="KSO_WM_DIAGRAM_VIRTUALLY_FRAME" val="{&quot;height&quot;:269.68858267716536,&quot;left&quot;:18.45,&quot;top&quot;:199.81141732283464,&quot;width&quot;:918.65}"/>
</p:tagLst>
</file>

<file path=ppt/tags/tag14.xml><?xml version="1.0" encoding="utf-8"?>
<p:tagLst xmlns:p="http://schemas.openxmlformats.org/presentationml/2006/main">
  <p:tag name="KSO_WM_DIAGRAM_VIRTUALLY_FRAME" val="{&quot;height&quot;:269.68858267716536,&quot;left&quot;:18.45,&quot;top&quot;:199.81141732283464,&quot;width&quot;:918.65}"/>
</p:tagLst>
</file>

<file path=ppt/tags/tag15.xml><?xml version="1.0" encoding="utf-8"?>
<p:tagLst xmlns:p="http://schemas.openxmlformats.org/presentationml/2006/main">
  <p:tag name="KSO_WM_DIAGRAM_VIRTUALLY_FRAME" val="{&quot;height&quot;:269.68858267716536,&quot;left&quot;:18.45,&quot;top&quot;:199.81141732283464,&quot;width&quot;:918.65}"/>
</p:tagLst>
</file>

<file path=ppt/tags/tag16.xml><?xml version="1.0" encoding="utf-8"?>
<p:tagLst xmlns:p="http://schemas.openxmlformats.org/presentationml/2006/main">
  <p:tag name="KSO_WM_DIAGRAM_VIRTUALLY_FRAME" val="{&quot;height&quot;:269.68858267716536,&quot;left&quot;:18.45,&quot;top&quot;:199.81141732283464,&quot;width&quot;:918.65}"/>
</p:tagLst>
</file>

<file path=ppt/tags/tag17.xml><?xml version="1.0" encoding="utf-8"?>
<p:tagLst xmlns:p="http://schemas.openxmlformats.org/presentationml/2006/main">
  <p:tag name="KSO_WM_DIAGRAM_VIRTUALLY_FRAME" val="{&quot;height&quot;:269.68858267716536,&quot;left&quot;:18.45,&quot;top&quot;:199.81141732283464,&quot;width&quot;:918.65}"/>
</p:tagLst>
</file>

<file path=ppt/tags/tag18.xml><?xml version="1.0" encoding="utf-8"?>
<p:tagLst xmlns:p="http://schemas.openxmlformats.org/presentationml/2006/main">
  <p:tag name="KSO_WM_DIAGRAM_VIRTUALLY_FRAME" val="{&quot;height&quot;:269.68858267716536,&quot;left&quot;:18.45,&quot;top&quot;:199.81141732283464,&quot;width&quot;:918.65}"/>
</p:tagLst>
</file>

<file path=ppt/tags/tag19.xml><?xml version="1.0" encoding="utf-8"?>
<p:tagLst xmlns:p="http://schemas.openxmlformats.org/presentationml/2006/main">
  <p:tag name="KSO_WM_DIAGRAM_VIRTUALLY_FRAME" val="{&quot;height&quot;:269.68858267716536,&quot;left&quot;:18.45,&quot;top&quot;:199.81141732283464,&quot;width&quot;:918.65}"/>
</p:tagLst>
</file>

<file path=ppt/tags/tag20.xml><?xml version="1.0" encoding="utf-8"?>
<p:tagLst xmlns:p="http://schemas.openxmlformats.org/presentationml/2006/main">
  <p:tag name="KSO_WM_DIAGRAM_VIRTUALLY_FRAME" val="{&quot;height&quot;:269.68858267716536,&quot;left&quot;:18.45,&quot;top&quot;:199.81141732283464,&quot;width&quot;:918.65}"/>
</p:tagLst>
</file>

<file path=ppt/tags/tag21.xml><?xml version="1.0" encoding="utf-8"?>
<p:tagLst xmlns:p="http://schemas.openxmlformats.org/presentationml/2006/main">
  <p:tag name="KSO_WM_DIAGRAM_VIRTUALLY_FRAME" val="{&quot;height&quot;:269.68858267716536,&quot;left&quot;:18.45,&quot;top&quot;:199.81141732283464,&quot;width&quot;:918.65}"/>
</p:tagLst>
</file>

<file path=ppt/tags/tag22.xml><?xml version="1.0" encoding="utf-8"?>
<p:tagLst xmlns:p="http://schemas.openxmlformats.org/presentationml/2006/main">
  <p:tag name="KSO_WM_DIAGRAM_VIRTUALLY_FRAME" val="{&quot;height&quot;:269.68858267716536,&quot;left&quot;:18.45,&quot;top&quot;:199.81141732283464,&quot;width&quot;:918.65}"/>
</p:tagLst>
</file>

<file path=ppt/tags/tag23.xml><?xml version="1.0" encoding="utf-8"?>
<p:tagLst xmlns:p="http://schemas.openxmlformats.org/presentationml/2006/main">
  <p:tag name="KSO_WM_DIAGRAM_VIRTUALLY_FRAME" val="{&quot;height&quot;:269.68858267716536,&quot;left&quot;:18.45,&quot;top&quot;:199.81141732283464,&quot;width&quot;:918.65}"/>
</p:tagLst>
</file>

<file path=ppt/tags/tag24.xml><?xml version="1.0" encoding="utf-8"?>
<p:tagLst xmlns:p="http://schemas.openxmlformats.org/presentationml/2006/main">
  <p:tag name="KSO_WM_DIAGRAM_VIRTUALLY_FRAME" val="{&quot;height&quot;:269.68858267716536,&quot;left&quot;:18.45,&quot;top&quot;:199.81141732283464,&quot;width&quot;:918.65}"/>
</p:tagLst>
</file>

<file path=ppt/tags/tag25.xml><?xml version="1.0" encoding="utf-8"?>
<p:tagLst xmlns:p="http://schemas.openxmlformats.org/presentationml/2006/main">
  <p:tag name="KSO_WM_DIAGRAM_VIRTUALLY_FRAME" val="{&quot;height&quot;:269.68858267716536,&quot;left&quot;:18.45,&quot;top&quot;:199.81141732283464,&quot;width&quot;:918.65}"/>
</p:tagLst>
</file>

<file path=ppt/tags/tag26.xml><?xml version="1.0" encoding="utf-8"?>
<p:tagLst xmlns:p="http://schemas.openxmlformats.org/presentationml/2006/main">
  <p:tag name="KSO_WM_DIAGRAM_VIRTUALLY_FRAME" val="{&quot;height&quot;:269.68858267716536,&quot;left&quot;:18.45,&quot;top&quot;:199.81141732283464,&quot;width&quot;:918.65}"/>
</p:tagLst>
</file>

<file path=ppt/tags/tag27.xml><?xml version="1.0" encoding="utf-8"?>
<p:tagLst xmlns:p="http://schemas.openxmlformats.org/presentationml/2006/main">
  <p:tag name="KSO_WM_DIAGRAM_VIRTUALLY_FRAME" val="{&quot;height&quot;:269.68858267716536,&quot;left&quot;:18.45,&quot;top&quot;:199.81141732283464,&quot;width&quot;:918.65}"/>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DIAGRAM_VIRTUALLY_FRAME" val="{&quot;height&quot;:248.4982677165354,&quot;left&quot;:31.95,&quot;top&quot;:199.81141732283464,&quot;width&quot;:894.05}"/>
</p:tagLst>
</file>

<file path=ppt/tags/tag33.xml><?xml version="1.0" encoding="utf-8"?>
<p:tagLst xmlns:p="http://schemas.openxmlformats.org/presentationml/2006/main">
  <p:tag name="KSO_WM_DIAGRAM_VIRTUALLY_FRAME" val="{&quot;height&quot;:248.4982677165354,&quot;left&quot;:31.95,&quot;top&quot;:199.81141732283464,&quot;width&quot;:894.05}"/>
</p:tagLst>
</file>

<file path=ppt/tags/tag34.xml><?xml version="1.0" encoding="utf-8"?>
<p:tagLst xmlns:p="http://schemas.openxmlformats.org/presentationml/2006/main">
  <p:tag name="KSO_WM_DIAGRAM_VIRTUALLY_FRAME" val="{&quot;height&quot;:248.4982677165354,&quot;left&quot;:31.95,&quot;top&quot;:199.81141732283464,&quot;width&quot;:894.05}"/>
</p:tagLst>
</file>

<file path=ppt/tags/tag35.xml><?xml version="1.0" encoding="utf-8"?>
<p:tagLst xmlns:p="http://schemas.openxmlformats.org/presentationml/2006/main">
  <p:tag name="KSO_WM_DIAGRAM_VIRTUALLY_FRAME" val="{&quot;height&quot;:248.4982677165354,&quot;left&quot;:31.95,&quot;top&quot;:199.81141732283464,&quot;width&quot;:894.05}"/>
</p:tagLst>
</file>

<file path=ppt/tags/tag36.xml><?xml version="1.0" encoding="utf-8"?>
<p:tagLst xmlns:p="http://schemas.openxmlformats.org/presentationml/2006/main">
  <p:tag name="KSO_WM_DIAGRAM_VIRTUALLY_FRAME" val="{&quot;height&quot;:248.4982677165354,&quot;left&quot;:31.95,&quot;top&quot;:199.81141732283464,&quot;width&quot;:894.05}"/>
</p:tagLst>
</file>

<file path=ppt/tags/tag37.xml><?xml version="1.0" encoding="utf-8"?>
<p:tagLst xmlns:p="http://schemas.openxmlformats.org/presentationml/2006/main">
  <p:tag name="KSO_WM_DIAGRAM_VIRTUALLY_FRAME" val="{&quot;height&quot;:248.4982677165354,&quot;left&quot;:31.95,&quot;top&quot;:199.81141732283464,&quot;width&quot;:894.05}"/>
</p:tagLst>
</file>

<file path=ppt/tags/tag38.xml><?xml version="1.0" encoding="utf-8"?>
<p:tagLst xmlns:p="http://schemas.openxmlformats.org/presentationml/2006/main">
  <p:tag name="KSO_WM_DIAGRAM_VIRTUALLY_FRAME" val="{&quot;height&quot;:248.4982677165354,&quot;left&quot;:31.95,&quot;top&quot;:199.81141732283464,&quot;width&quot;:894.05}"/>
</p:tagLst>
</file>

<file path=ppt/tags/tag39.xml><?xml version="1.0" encoding="utf-8"?>
<p:tagLst xmlns:p="http://schemas.openxmlformats.org/presentationml/2006/main">
  <p:tag name="KSO_WM_DIAGRAM_VIRTUALLY_FRAME" val="{&quot;height&quot;:248.4982677165354,&quot;left&quot;:31.95,&quot;top&quot;:199.81141732283464,&quot;width&quot;:894.05}"/>
</p:tagLst>
</file>

<file path=ppt/tags/tag40.xml><?xml version="1.0" encoding="utf-8"?>
<p:tagLst xmlns:p="http://schemas.openxmlformats.org/presentationml/2006/main">
  <p:tag name="KSO_WM_DIAGRAM_VIRTUALLY_FRAME" val="{&quot;height&quot;:248.4982677165354,&quot;left&quot;:31.95,&quot;top&quot;:199.81141732283464,&quot;width&quot;:894.05}"/>
</p:tagLst>
</file>

<file path=ppt/tags/tag41.xml><?xml version="1.0" encoding="utf-8"?>
<p:tagLst xmlns:p="http://schemas.openxmlformats.org/presentationml/2006/main">
  <p:tag name="KSO_WM_DIAGRAM_VIRTUALLY_FRAME" val="{&quot;height&quot;:248.4982677165354,&quot;left&quot;:31.95,&quot;top&quot;:199.81141732283464,&quot;width&quot;:894.05}"/>
</p:tagLst>
</file>

<file path=ppt/tags/tag42.xml><?xml version="1.0" encoding="utf-8"?>
<p:tagLst xmlns:p="http://schemas.openxmlformats.org/presentationml/2006/main">
  <p:tag name="KSO_WM_DIAGRAM_VIRTUALLY_FRAME" val="{&quot;height&quot;:248.4982677165354,&quot;left&quot;:31.95,&quot;top&quot;:199.81141732283464,&quot;width&quot;:894.05}"/>
</p:tagLst>
</file>

<file path=ppt/tags/tag43.xml><?xml version="1.0" encoding="utf-8"?>
<p:tagLst xmlns:p="http://schemas.openxmlformats.org/presentationml/2006/main">
  <p:tag name="KSO_WM_DIAGRAM_VIRTUALLY_FRAME" val="{&quot;height&quot;:248.4982677165354,&quot;left&quot;:31.95,&quot;top&quot;:199.81141732283464,&quot;width&quot;:894.05}"/>
</p:tagLst>
</file>

<file path=ppt/tags/tag44.xml><?xml version="1.0" encoding="utf-8"?>
<p:tagLst xmlns:p="http://schemas.openxmlformats.org/presentationml/2006/main">
  <p:tag name="KSO_WM_DIAGRAM_VIRTUALLY_FRAME" val="{&quot;height&quot;:248.4982677165354,&quot;left&quot;:31.95,&quot;top&quot;:199.81141732283464,&quot;width&quot;:894.05}"/>
</p:tagLst>
</file>

<file path=ppt/tags/tag45.xml><?xml version="1.0" encoding="utf-8"?>
<p:tagLst xmlns:p="http://schemas.openxmlformats.org/presentationml/2006/main">
  <p:tag name="KSO_WM_DIAGRAM_VIRTUALLY_FRAME" val="{&quot;height&quot;:248.4982677165354,&quot;left&quot;:31.95,&quot;top&quot;:199.81141732283464,&quot;width&quot;:894.05}"/>
</p:tagLst>
</file>

<file path=ppt/tags/tag46.xml><?xml version="1.0" encoding="utf-8"?>
<p:tagLst xmlns:p="http://schemas.openxmlformats.org/presentationml/2006/main">
  <p:tag name="KSO_WM_DIAGRAM_VIRTUALLY_FRAME" val="{&quot;height&quot;:248.4982677165354,&quot;left&quot;:31.95,&quot;top&quot;:199.81141732283464,&quot;width&quot;:894.05}"/>
</p:tagLst>
</file>

<file path=ppt/tags/tag47.xml><?xml version="1.0" encoding="utf-8"?>
<p:tagLst xmlns:p="http://schemas.openxmlformats.org/presentationml/2006/main">
  <p:tag name="KSO_WM_DIAGRAM_VIRTUALLY_FRAME" val="{&quot;height&quot;:248.4982677165354,&quot;left&quot;:31.95,&quot;top&quot;:199.81141732283464,&quot;width&quot;:894.05}"/>
</p:tagLst>
</file>

<file path=ppt/tags/tag48.xml><?xml version="1.0" encoding="utf-8"?>
<p:tagLst xmlns:p="http://schemas.openxmlformats.org/presentationml/2006/main">
  <p:tag name="KSO_WM_DIAGRAM_VIRTUALLY_FRAME" val="{&quot;height&quot;:248.4982677165354,&quot;left&quot;:31.95,&quot;top&quot;:199.81141732283464,&quot;width&quot;:894.05}"/>
</p:tagLst>
</file>

<file path=ppt/tags/tag49.xml><?xml version="1.0" encoding="utf-8"?>
<p:tagLst xmlns:p="http://schemas.openxmlformats.org/presentationml/2006/main">
  <p:tag name="KSO_WM_DIAGRAM_VIRTUALLY_FRAME" val="{&quot;height&quot;:248.4982677165354,&quot;left&quot;:31.95,&quot;top&quot;:199.81141732283464,&quot;width&quot;:894.05}"/>
</p:tagLst>
</file>

<file path=ppt/tags/tag50.xml><?xml version="1.0" encoding="utf-8"?>
<p:tagLst xmlns:p="http://schemas.openxmlformats.org/presentationml/2006/main">
  <p:tag name="KSO_WM_DIAGRAM_VIRTUALLY_FRAME" val="{&quot;height&quot;:248.4982677165354,&quot;left&quot;:31.95,&quot;top&quot;:199.81141732283464,&quot;width&quot;:894.05}"/>
</p:tagLst>
</file>

<file path=ppt/tags/tag51.xml><?xml version="1.0" encoding="utf-8"?>
<p:tagLst xmlns:p="http://schemas.openxmlformats.org/presentationml/2006/main">
  <p:tag name="KSO_WM_DIAGRAM_VIRTUALLY_FRAME" val="{&quot;height&quot;:248.4982677165354,&quot;left&quot;:31.95,&quot;top&quot;:199.81141732283464,&quot;width&quot;:894.05}"/>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ISLIDE.ICON" val="#176715;"/>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TABLE_ENDDRAG_ORIGIN_RECT" val="784*115"/>
  <p:tag name="TABLE_ENDDRAG_RECT" val="64*200*784*115"/>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ISLIDE.ICON" val="#176715;"/>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ISLIDE.ICON" val="#176715;"/>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ISLIDE.ICON" val="#176715;"/>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ISLIDE.ICON" val="#176715;"/>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ISLIDE.ICON" val="#176715;"/>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ISLIDE.ICON" val="#176715;"/>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ISLIDE.ICON" val="#176715;"/>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TABLE_ENDDRAG_ORIGIN_RECT" val="648*268"/>
  <p:tag name="TABLE_ENDDRAG_RECT" val="139*226*648*268"/>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ISLIDE.ICON" val="#176715;"/>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TABLE_ENDDRAG_ORIGIN_RECT" val="786*383"/>
  <p:tag name="TABLE_ENDDRAG_RECT" val="91*91*786*383"/>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TABLE_ENDDRAG_ORIGIN_RECT" val="748*407"/>
  <p:tag name="TABLE_ENDDRAG_RECT" val="132*58*748*407"/>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TABLE_ENDDRAG_ORIGIN_RECT" val="748*407"/>
  <p:tag name="TABLE_ENDDRAG_RECT" val="132*58*748*407"/>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TABLE_ENDDRAG_ORIGIN_RECT" val="748*407"/>
  <p:tag name="TABLE_ENDDRAG_RECT" val="132*58*748*407"/>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TABLE_ENDDRAG_ORIGIN_RECT" val="748*407"/>
  <p:tag name="TABLE_ENDDRAG_RECT" val="132*58*748*407"/>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ISLIDE.ICON" val="#176715;"/>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TABLE_ENDDRAG_ORIGIN_RECT" val="855*350"/>
  <p:tag name="TABLE_ENDDRAG_RECT" val="-7*101*855*350"/>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TABLE_ENDDRAG_ORIGIN_RECT" val="748*407"/>
  <p:tag name="TABLE_ENDDRAG_RECT" val="132*58*748*407"/>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ISLIDE.ICON" val="#176715;"/>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TABLE_ENDDRAG_ORIGIN_RECT" val="784*115"/>
  <p:tag name="TABLE_ENDDRAG_RECT" val="64*200*784*115"/>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TABLE_ENDDRAG_ORIGIN_RECT" val="779*220"/>
  <p:tag name="TABLE_ENDDRAG_RECT" val="85*241*779*220"/>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ISLIDE.ICON" val="#176715;"/>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TABLE_ENDDRAG_ORIGIN_RECT" val="784*115"/>
  <p:tag name="TABLE_ENDDRAG_RECT" val="64*200*784*115"/>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TABLE_ENDDRAG_ORIGIN_RECT" val="784*115"/>
  <p:tag name="TABLE_ENDDRAG_RECT" val="64*200*784*115"/>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ISLIDE.ICON" val="#176715;"/>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ISLIDE.ICON" val="#176715;"/>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TABLE_ENDDRAG_ORIGIN_RECT" val="784*115"/>
  <p:tag name="TABLE_ENDDRAG_RECT" val="64*200*784*115"/>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ISLIDE.ICON" val="#176715;"/>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ISLIDE.ICON" val="#176715;"/>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ISLIDE.ICON" val="#176715;"/>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ISLIDE.ICON" val="#176715;"/>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BEAUTIFY_FLAG" val=""/>
</p:tagLst>
</file>

<file path=ppt/tags/tag448.xml><?xml version="1.0" encoding="utf-8"?>
<p:tagLst xmlns:p="http://schemas.openxmlformats.org/presentationml/2006/main">
  <p:tag name="KSO_WM_BEAUTIFY_FLAG" val=""/>
</p:tagLst>
</file>

<file path=ppt/tags/tag449.xml><?xml version="1.0" encoding="utf-8"?>
<p:tagLst xmlns:p="http://schemas.openxmlformats.org/presentationml/2006/main">
  <p:tag name="KSO_WM_BEAUTIFY_FLAG" val=""/>
</p:tagLst>
</file>

<file path=ppt/tags/tag450.xml><?xml version="1.0" encoding="utf-8"?>
<p:tagLst xmlns:p="http://schemas.openxmlformats.org/presentationml/2006/main">
  <p:tag name="KSO_WM_BEAUTIFY_FLAG" val=""/>
</p:tagLst>
</file>

<file path=ppt/tags/tag451.xml><?xml version="1.0" encoding="utf-8"?>
<p:tagLst xmlns:p="http://schemas.openxmlformats.org/presentationml/2006/main">
  <p:tag name="KSO_WM_BEAUTIFY_FLAG" val=""/>
</p:tagLst>
</file>

<file path=ppt/tags/tag452.xml><?xml version="1.0" encoding="utf-8"?>
<p:tagLst xmlns:p="http://schemas.openxmlformats.org/presentationml/2006/main">
  <p:tag name="KSO_WM_BEAUTIFY_FLAG" val=""/>
</p:tagLst>
</file>

<file path=ppt/tags/tag453.xml><?xml version="1.0" encoding="utf-8"?>
<p:tagLst xmlns:p="http://schemas.openxmlformats.org/presentationml/2006/main">
  <p:tag name="KSO_WM_BEAUTIFY_FLAG" val=""/>
</p:tagLst>
</file>

<file path=ppt/tags/tag454.xml><?xml version="1.0" encoding="utf-8"?>
<p:tagLst xmlns:p="http://schemas.openxmlformats.org/presentationml/2006/main">
  <p:tag name="KSO_WM_BEAUTIFY_FLAG" val=""/>
</p:tagLst>
</file>

<file path=ppt/tags/tag455.xml><?xml version="1.0" encoding="utf-8"?>
<p:tagLst xmlns:p="http://schemas.openxmlformats.org/presentationml/2006/main">
  <p:tag name="KSO_WM_BEAUTIFY_FLAG" val=""/>
</p:tagLst>
</file>

<file path=ppt/tags/tag456.xml><?xml version="1.0" encoding="utf-8"?>
<p:tagLst xmlns:p="http://schemas.openxmlformats.org/presentationml/2006/main">
  <p:tag name="KSO_WM_BEAUTIFY_FLAG" val=""/>
</p:tagLst>
</file>

<file path=ppt/tags/tag457.xml><?xml version="1.0" encoding="utf-8"?>
<p:tagLst xmlns:p="http://schemas.openxmlformats.org/presentationml/2006/main">
  <p:tag name="KSO_WM_BEAUTIFY_FLAG" val=""/>
</p:tagLst>
</file>

<file path=ppt/tags/tag458.xml><?xml version="1.0" encoding="utf-8"?>
<p:tagLst xmlns:p="http://schemas.openxmlformats.org/presentationml/2006/main">
  <p:tag name="KSO_WM_BEAUTIFY_FLAG" val=""/>
</p:tagLst>
</file>

<file path=ppt/tags/tag459.xml><?xml version="1.0" encoding="utf-8"?>
<p:tagLst xmlns:p="http://schemas.openxmlformats.org/presentationml/2006/main">
  <p:tag name="KSO_WM_BEAUTIFY_FLAG" val=""/>
</p:tagLst>
</file>

<file path=ppt/tags/tag460.xml><?xml version="1.0" encoding="utf-8"?>
<p:tagLst xmlns:p="http://schemas.openxmlformats.org/presentationml/2006/main">
  <p:tag name="KSO_WM_BEAUTIFY_FLAG" val=""/>
</p:tagLst>
</file>

<file path=ppt/tags/tag461.xml><?xml version="1.0" encoding="utf-8"?>
<p:tagLst xmlns:p="http://schemas.openxmlformats.org/presentationml/2006/main">
  <p:tag name="KSO_WM_BEAUTIFY_FLAG" val=""/>
</p:tagLst>
</file>

<file path=ppt/tags/tag462.xml><?xml version="1.0" encoding="utf-8"?>
<p:tagLst xmlns:p="http://schemas.openxmlformats.org/presentationml/2006/main">
  <p:tag name="KSO_WM_BEAUTIFY_FLAG" val=""/>
</p:tagLst>
</file>

<file path=ppt/tags/tag463.xml><?xml version="1.0" encoding="utf-8"?>
<p:tagLst xmlns:p="http://schemas.openxmlformats.org/presentationml/2006/main">
  <p:tag name="KSO_WM_BEAUTIFY_FLAG" val=""/>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ISLIDE.ICON" val="#176715;"/>
</p:tagLst>
</file>

<file path=ppt/tags/tag469.xml><?xml version="1.0" encoding="utf-8"?>
<p:tagLst xmlns:p="http://schemas.openxmlformats.org/presentationml/2006/main">
  <p:tag name="KSO_WM_BEAUTIFY_FLAG" val=""/>
</p:tagLst>
</file>

<file path=ppt/tags/tag470.xml><?xml version="1.0" encoding="utf-8"?>
<p:tagLst xmlns:p="http://schemas.openxmlformats.org/presentationml/2006/main">
  <p:tag name="KSO_WM_BEAUTIFY_FLAG" val=""/>
</p:tagLst>
</file>

<file path=ppt/tags/tag471.xml><?xml version="1.0" encoding="utf-8"?>
<p:tagLst xmlns:p="http://schemas.openxmlformats.org/presentationml/2006/main">
  <p:tag name="KSO_WM_BEAUTIFY_FLAG" val=""/>
</p:tagLst>
</file>

<file path=ppt/tags/tag472.xml><?xml version="1.0" encoding="utf-8"?>
<p:tagLst xmlns:p="http://schemas.openxmlformats.org/presentationml/2006/main">
  <p:tag name="KSO_WM_BEAUTIFY_FLAG" val=""/>
</p:tagLst>
</file>

<file path=ppt/tags/tag473.xml><?xml version="1.0" encoding="utf-8"?>
<p:tagLst xmlns:p="http://schemas.openxmlformats.org/presentationml/2006/main">
  <p:tag name="KSO_WM_BEAUTIFY_FLAG" val=""/>
</p:tagLst>
</file>

<file path=ppt/tags/tag474.xml><?xml version="1.0" encoding="utf-8"?>
<p:tagLst xmlns:p="http://schemas.openxmlformats.org/presentationml/2006/main">
  <p:tag name="KSO_WM_BEAUTIFY_FLAG" val=""/>
</p:tagLst>
</file>

<file path=ppt/tags/tag475.xml><?xml version="1.0" encoding="utf-8"?>
<p:tagLst xmlns:p="http://schemas.openxmlformats.org/presentationml/2006/main">
  <p:tag name="KSO_WM_BEAUTIFY_FLAG" val=""/>
</p:tagLst>
</file>

<file path=ppt/tags/tag476.xml><?xml version="1.0" encoding="utf-8"?>
<p:tagLst xmlns:p="http://schemas.openxmlformats.org/presentationml/2006/main">
  <p:tag name="KSO_WM_BEAUTIFY_FLAG" val=""/>
</p:tagLst>
</file>

<file path=ppt/tags/tag477.xml><?xml version="1.0" encoding="utf-8"?>
<p:tagLst xmlns:p="http://schemas.openxmlformats.org/presentationml/2006/main">
  <p:tag name="KSO_WM_BEAUTIFY_FLAG" val=""/>
</p:tagLst>
</file>

<file path=ppt/tags/tag478.xml><?xml version="1.0" encoding="utf-8"?>
<p:tagLst xmlns:p="http://schemas.openxmlformats.org/presentationml/2006/main">
  <p:tag name="KSO_WM_BEAUTIFY_FLAG" val=""/>
</p:tagLst>
</file>

<file path=ppt/tags/tag479.xml><?xml version="1.0" encoding="utf-8"?>
<p:tagLst xmlns:p="http://schemas.openxmlformats.org/presentationml/2006/main">
  <p:tag name="KSO_WM_BEAUTIFY_FLAG" val=""/>
</p:tagLst>
</file>

<file path=ppt/tags/tag480.xml><?xml version="1.0" encoding="utf-8"?>
<p:tagLst xmlns:p="http://schemas.openxmlformats.org/presentationml/2006/main">
  <p:tag name="KSO_WM_BEAUTIFY_FLAG" val=""/>
</p:tagLst>
</file>

<file path=ppt/tags/tag481.xml><?xml version="1.0" encoding="utf-8"?>
<p:tagLst xmlns:p="http://schemas.openxmlformats.org/presentationml/2006/main">
  <p:tag name="KSO_WM_BEAUTIFY_FLAG" val=""/>
</p:tagLst>
</file>

<file path=ppt/tags/tag482.xml><?xml version="1.0" encoding="utf-8"?>
<p:tagLst xmlns:p="http://schemas.openxmlformats.org/presentationml/2006/main">
  <p:tag name="KSO_WM_BEAUTIFY_FLAG" val=""/>
</p:tagLst>
</file>

<file path=ppt/tags/tag483.xml><?xml version="1.0" encoding="utf-8"?>
<p:tagLst xmlns:p="http://schemas.openxmlformats.org/presentationml/2006/main">
  <p:tag name="KSO_WM_BEAUTIFY_FLAG" val=""/>
</p:tagLst>
</file>

<file path=ppt/tags/tag484.xml><?xml version="1.0" encoding="utf-8"?>
<p:tagLst xmlns:p="http://schemas.openxmlformats.org/presentationml/2006/main">
  <p:tag name="KSO_WM_BEAUTIFY_FLAG" val=""/>
</p:tagLst>
</file>

<file path=ppt/tags/tag485.xml><?xml version="1.0" encoding="utf-8"?>
<p:tagLst xmlns:p="http://schemas.openxmlformats.org/presentationml/2006/main">
  <p:tag name="KSO_WM_BEAUTIFY_FLAG" val=""/>
</p:tagLst>
</file>

<file path=ppt/tags/tag486.xml><?xml version="1.0" encoding="utf-8"?>
<p:tagLst xmlns:p="http://schemas.openxmlformats.org/presentationml/2006/main">
  <p:tag name="KSO_WM_BEAUTIFY_FLAG" val=""/>
</p:tagLst>
</file>

<file path=ppt/tags/tag487.xml><?xml version="1.0" encoding="utf-8"?>
<p:tagLst xmlns:p="http://schemas.openxmlformats.org/presentationml/2006/main">
  <p:tag name="KSO_WM_BEAUTIFY_FLAG" val=""/>
</p:tagLst>
</file>

<file path=ppt/tags/tag488.xml><?xml version="1.0" encoding="utf-8"?>
<p:tagLst xmlns:p="http://schemas.openxmlformats.org/presentationml/2006/main">
  <p:tag name="KSO_WM_BEAUTIFY_FLAG" val=""/>
</p:tagLst>
</file>

<file path=ppt/tags/tag489.xml><?xml version="1.0" encoding="utf-8"?>
<p:tagLst xmlns:p="http://schemas.openxmlformats.org/presentationml/2006/main">
  <p:tag name="KSO_WM_BEAUTIFY_FLAG" val=""/>
</p:tagLst>
</file>

<file path=ppt/tags/tag490.xml><?xml version="1.0" encoding="utf-8"?>
<p:tagLst xmlns:p="http://schemas.openxmlformats.org/presentationml/2006/main">
  <p:tag name="KSO_WM_BEAUTIFY_FLAG" val=""/>
</p:tagLst>
</file>

<file path=ppt/tags/tag491.xml><?xml version="1.0" encoding="utf-8"?>
<p:tagLst xmlns:p="http://schemas.openxmlformats.org/presentationml/2006/main">
  <p:tag name="KSO_WM_BEAUTIFY_FLAG" val=""/>
</p:tagLst>
</file>

<file path=ppt/tags/tag492.xml><?xml version="1.0" encoding="utf-8"?>
<p:tagLst xmlns:p="http://schemas.openxmlformats.org/presentationml/2006/main">
  <p:tag name="KSO_WM_BEAUTIFY_FLAG" val=""/>
</p:tagLst>
</file>

<file path=ppt/tags/tag493.xml><?xml version="1.0" encoding="utf-8"?>
<p:tagLst xmlns:p="http://schemas.openxmlformats.org/presentationml/2006/main">
  <p:tag name="KSO_WM_BEAUTIFY_FLAG" val=""/>
</p:tagLst>
</file>

<file path=ppt/tags/tag494.xml><?xml version="1.0" encoding="utf-8"?>
<p:tagLst xmlns:p="http://schemas.openxmlformats.org/presentationml/2006/main">
  <p:tag name="KSO_WM_BEAUTIFY_FLAG" val=""/>
</p:tagLst>
</file>

<file path=ppt/tags/tag495.xml><?xml version="1.0" encoding="utf-8"?>
<p:tagLst xmlns:p="http://schemas.openxmlformats.org/presentationml/2006/main">
  <p:tag name="KSO_WM_BEAUTIFY_FLAG" val=""/>
</p:tagLst>
</file>

<file path=ppt/tags/tag496.xml><?xml version="1.0" encoding="utf-8"?>
<p:tagLst xmlns:p="http://schemas.openxmlformats.org/presentationml/2006/main">
  <p:tag name="KSO_WM_BEAUTIFY_FLAG" val=""/>
</p:tagLst>
</file>

<file path=ppt/tags/tag497.xml><?xml version="1.0" encoding="utf-8"?>
<p:tagLst xmlns:p="http://schemas.openxmlformats.org/presentationml/2006/main">
  <p:tag name="KSO_WM_BEAUTIFY_FLAG" val=""/>
</p:tagLst>
</file>

<file path=ppt/tags/tag498.xml><?xml version="1.0" encoding="utf-8"?>
<p:tagLst xmlns:p="http://schemas.openxmlformats.org/presentationml/2006/main">
  <p:tag name="KSO_WM_BEAUTIFY_FLAG" val=""/>
</p:tagLst>
</file>

<file path=ppt/tags/tag499.xml><?xml version="1.0" encoding="utf-8"?>
<p:tagLst xmlns:p="http://schemas.openxmlformats.org/presentationml/2006/main">
  <p:tag name="KSO_WM_BEAUTIFY_FLAG" val=""/>
</p:tagLst>
</file>

<file path=ppt/tags/tag500.xml><?xml version="1.0" encoding="utf-8"?>
<p:tagLst xmlns:p="http://schemas.openxmlformats.org/presentationml/2006/main">
  <p:tag name="KSO_WM_BEAUTIFY_FLAG" val=""/>
</p:tagLst>
</file>

<file path=ppt/tags/tag501.xml><?xml version="1.0" encoding="utf-8"?>
<p:tagLst xmlns:p="http://schemas.openxmlformats.org/presentationml/2006/main">
  <p:tag name="KSO_WM_BEAUTIFY_FLAG" val=""/>
</p:tagLst>
</file>

<file path=ppt/tags/tag502.xml><?xml version="1.0" encoding="utf-8"?>
<p:tagLst xmlns:p="http://schemas.openxmlformats.org/presentationml/2006/main">
  <p:tag name="KSO_WM_BEAUTIFY_FLAG" val=""/>
</p:tagLst>
</file>

<file path=ppt/tags/tag503.xml><?xml version="1.0" encoding="utf-8"?>
<p:tagLst xmlns:p="http://schemas.openxmlformats.org/presentationml/2006/main">
  <p:tag name="KSO_WM_BEAUTIFY_FLAG" val=""/>
</p:tagLst>
</file>

<file path=ppt/tags/tag504.xml><?xml version="1.0" encoding="utf-8"?>
<p:tagLst xmlns:p="http://schemas.openxmlformats.org/presentationml/2006/main">
  <p:tag name="KSO_WM_BEAUTIFY_FLAG" val=""/>
</p:tagLst>
</file>

<file path=ppt/tags/tag505.xml><?xml version="1.0" encoding="utf-8"?>
<p:tagLst xmlns:p="http://schemas.openxmlformats.org/presentationml/2006/main">
  <p:tag name="KSO_WM_BEAUTIFY_FLAG" val=""/>
</p:tagLst>
</file>

<file path=ppt/tags/tag506.xml><?xml version="1.0" encoding="utf-8"?>
<p:tagLst xmlns:p="http://schemas.openxmlformats.org/presentationml/2006/main">
  <p:tag name="ISLIDE.ICON" val="#176715;"/>
</p:tagLst>
</file>

<file path=ppt/tags/tag507.xml><?xml version="1.0" encoding="utf-8"?>
<p:tagLst xmlns:p="http://schemas.openxmlformats.org/presentationml/2006/main">
  <p:tag name="KSO_WM_BEAUTIFY_FLAG" val=""/>
</p:tagLst>
</file>

<file path=ppt/tags/tag508.xml><?xml version="1.0" encoding="utf-8"?>
<p:tagLst xmlns:p="http://schemas.openxmlformats.org/presentationml/2006/main">
  <p:tag name="KSO_WM_BEAUTIFY_FLAG" val=""/>
</p:tagLst>
</file>

<file path=ppt/tags/tag509.xml><?xml version="1.0" encoding="utf-8"?>
<p:tagLst xmlns:p="http://schemas.openxmlformats.org/presentationml/2006/main">
  <p:tag name="KSO_WM_BEAUTIFY_FLAG" val=""/>
</p:tagLst>
</file>

<file path=ppt/tags/tag510.xml><?xml version="1.0" encoding="utf-8"?>
<p:tagLst xmlns:p="http://schemas.openxmlformats.org/presentationml/2006/main">
  <p:tag name="KSO_WM_BEAUTIFY_FLAG" val=""/>
</p:tagLst>
</file>

<file path=ppt/tags/tag511.xml><?xml version="1.0" encoding="utf-8"?>
<p:tagLst xmlns:p="http://schemas.openxmlformats.org/presentationml/2006/main">
  <p:tag name="KSO_WM_BEAUTIFY_FLAG" val=""/>
</p:tagLst>
</file>

<file path=ppt/tags/tag512.xml><?xml version="1.0" encoding="utf-8"?>
<p:tagLst xmlns:p="http://schemas.openxmlformats.org/presentationml/2006/main">
  <p:tag name="KSO_WM_BEAUTIFY_FLAG" val=""/>
</p:tagLst>
</file>

<file path=ppt/tags/tag513.xml><?xml version="1.0" encoding="utf-8"?>
<p:tagLst xmlns:p="http://schemas.openxmlformats.org/presentationml/2006/main">
  <p:tag name="KSO_WM_BEAUTIFY_FLAG" val=""/>
</p:tagLst>
</file>

<file path=ppt/tags/tag514.xml><?xml version="1.0" encoding="utf-8"?>
<p:tagLst xmlns:p="http://schemas.openxmlformats.org/presentationml/2006/main">
  <p:tag name="KSO_WM_BEAUTIFY_FLAG" val=""/>
</p:tagLst>
</file>

<file path=ppt/tags/tag515.xml><?xml version="1.0" encoding="utf-8"?>
<p:tagLst xmlns:p="http://schemas.openxmlformats.org/presentationml/2006/main">
  <p:tag name="KSO_WM_BEAUTIFY_FLAG" val=""/>
</p:tagLst>
</file>

<file path=ppt/tags/tag516.xml><?xml version="1.0" encoding="utf-8"?>
<p:tagLst xmlns:p="http://schemas.openxmlformats.org/presentationml/2006/main">
  <p:tag name="KSO_WM_BEAUTIFY_FLAG" val=""/>
</p:tagLst>
</file>

<file path=ppt/tags/tag517.xml><?xml version="1.0" encoding="utf-8"?>
<p:tagLst xmlns:p="http://schemas.openxmlformats.org/presentationml/2006/main">
  <p:tag name="KSO_WM_BEAUTIFY_FLAG" val=""/>
</p:tagLst>
</file>

<file path=ppt/tags/tag518.xml><?xml version="1.0" encoding="utf-8"?>
<p:tagLst xmlns:p="http://schemas.openxmlformats.org/presentationml/2006/main">
  <p:tag name="KSO_WM_BEAUTIFY_FLAG" val=""/>
</p:tagLst>
</file>

<file path=ppt/tags/tag519.xml><?xml version="1.0" encoding="utf-8"?>
<p:tagLst xmlns:p="http://schemas.openxmlformats.org/presentationml/2006/main">
  <p:tag name="KSO_WM_BEAUTIFY_FLAG" val=""/>
</p:tagLst>
</file>

<file path=ppt/tags/tag520.xml><?xml version="1.0" encoding="utf-8"?>
<p:tagLst xmlns:p="http://schemas.openxmlformats.org/presentationml/2006/main">
  <p:tag name="KSO_WM_BEAUTIFY_FLAG" val=""/>
</p:tagLst>
</file>

<file path=ppt/tags/tag521.xml><?xml version="1.0" encoding="utf-8"?>
<p:tagLst xmlns:p="http://schemas.openxmlformats.org/presentationml/2006/main">
  <p:tag name="KSO_WM_BEAUTIFY_FLAG" val=""/>
</p:tagLst>
</file>

<file path=ppt/tags/tag522.xml><?xml version="1.0" encoding="utf-8"?>
<p:tagLst xmlns:p="http://schemas.openxmlformats.org/presentationml/2006/main">
  <p:tag name="KSO_WM_BEAUTIFY_FLAG" val=""/>
</p:tagLst>
</file>

<file path=ppt/tags/tag523.xml><?xml version="1.0" encoding="utf-8"?>
<p:tagLst xmlns:p="http://schemas.openxmlformats.org/presentationml/2006/main">
  <p:tag name="KSO_WM_BEAUTIFY_FLAG" val=""/>
</p:tagLst>
</file>

<file path=ppt/tags/tag524.xml><?xml version="1.0" encoding="utf-8"?>
<p:tagLst xmlns:p="http://schemas.openxmlformats.org/presentationml/2006/main">
  <p:tag name="KSO_WM_BEAUTIFY_FLAG" val=""/>
</p:tagLst>
</file>

<file path=ppt/tags/tag525.xml><?xml version="1.0" encoding="utf-8"?>
<p:tagLst xmlns:p="http://schemas.openxmlformats.org/presentationml/2006/main">
  <p:tag name="KSO_WM_BEAUTIFY_FLAG" val=""/>
</p:tagLst>
</file>

<file path=ppt/tags/tag526.xml><?xml version="1.0" encoding="utf-8"?>
<p:tagLst xmlns:p="http://schemas.openxmlformats.org/presentationml/2006/main">
  <p:tag name="KSO_WM_BEAUTIFY_FLAG" val=""/>
</p:tagLst>
</file>

<file path=ppt/tags/tag527.xml><?xml version="1.0" encoding="utf-8"?>
<p:tagLst xmlns:p="http://schemas.openxmlformats.org/presentationml/2006/main">
  <p:tag name="KSO_WM_BEAUTIFY_FLAG" val=""/>
</p:tagLst>
</file>

<file path=ppt/tags/tag528.xml><?xml version="1.0" encoding="utf-8"?>
<p:tagLst xmlns:p="http://schemas.openxmlformats.org/presentationml/2006/main">
  <p:tag name="KSO_WM_BEAUTIFY_FLAG" val=""/>
</p:tagLst>
</file>

<file path=ppt/tags/tag529.xml><?xml version="1.0" encoding="utf-8"?>
<p:tagLst xmlns:p="http://schemas.openxmlformats.org/presentationml/2006/main">
  <p:tag name="KSO_WM_BEAUTIFY_FLAG" val=""/>
</p:tagLst>
</file>

<file path=ppt/tags/tag530.xml><?xml version="1.0" encoding="utf-8"?>
<p:tagLst xmlns:p="http://schemas.openxmlformats.org/presentationml/2006/main">
  <p:tag name="KSO_WM_BEAUTIFY_FLAG" val=""/>
</p:tagLst>
</file>

<file path=ppt/tags/tag531.xml><?xml version="1.0" encoding="utf-8"?>
<p:tagLst xmlns:p="http://schemas.openxmlformats.org/presentationml/2006/main">
  <p:tag name="ISLIDE.ICON" val="#176715;"/>
</p:tagLst>
</file>

<file path=ppt/tags/tag532.xml><?xml version="1.0" encoding="utf-8"?>
<p:tagLst xmlns:p="http://schemas.openxmlformats.org/presentationml/2006/main">
  <p:tag name="KSO_WM_BEAUTIFY_FLAG" val=""/>
</p:tagLst>
</file>

<file path=ppt/tags/tag533.xml><?xml version="1.0" encoding="utf-8"?>
<p:tagLst xmlns:p="http://schemas.openxmlformats.org/presentationml/2006/main">
  <p:tag name="KSO_WM_BEAUTIFY_FLAG" val=""/>
</p:tagLst>
</file>

<file path=ppt/tags/tag534.xml><?xml version="1.0" encoding="utf-8"?>
<p:tagLst xmlns:p="http://schemas.openxmlformats.org/presentationml/2006/main">
  <p:tag name="KSO_WM_BEAUTIFY_FLAG" val=""/>
</p:tagLst>
</file>

<file path=ppt/tags/tag535.xml><?xml version="1.0" encoding="utf-8"?>
<p:tagLst xmlns:p="http://schemas.openxmlformats.org/presentationml/2006/main">
  <p:tag name="KSO_WM_BEAUTIFY_FLAG" val=""/>
</p:tagLst>
</file>

<file path=ppt/tags/tag536.xml><?xml version="1.0" encoding="utf-8"?>
<p:tagLst xmlns:p="http://schemas.openxmlformats.org/presentationml/2006/main">
  <p:tag name="KSO_WM_BEAUTIFY_FLAG" val=""/>
</p:tagLst>
</file>

<file path=ppt/tags/tag537.xml><?xml version="1.0" encoding="utf-8"?>
<p:tagLst xmlns:p="http://schemas.openxmlformats.org/presentationml/2006/main">
  <p:tag name="KSO_WM_BEAUTIFY_FLAG" val=""/>
</p:tagLst>
</file>

<file path=ppt/tags/tag538.xml><?xml version="1.0" encoding="utf-8"?>
<p:tagLst xmlns:p="http://schemas.openxmlformats.org/presentationml/2006/main">
  <p:tag name="KSO_WM_BEAUTIFY_FLAG" val=""/>
</p:tagLst>
</file>

<file path=ppt/tags/tag539.xml><?xml version="1.0" encoding="utf-8"?>
<p:tagLst xmlns:p="http://schemas.openxmlformats.org/presentationml/2006/main">
  <p:tag name="KSO_WM_BEAUTIFY_FLAG" val=""/>
</p:tagLst>
</file>

<file path=ppt/tags/tag540.xml><?xml version="1.0" encoding="utf-8"?>
<p:tagLst xmlns:p="http://schemas.openxmlformats.org/presentationml/2006/main">
  <p:tag name="KSO_WM_BEAUTIFY_FLAG" val=""/>
</p:tagLst>
</file>

<file path=ppt/tags/tag541.xml><?xml version="1.0" encoding="utf-8"?>
<p:tagLst xmlns:p="http://schemas.openxmlformats.org/presentationml/2006/main">
  <p:tag name="KSO_WM_BEAUTIFY_FLAG" val=""/>
</p:tagLst>
</file>

<file path=ppt/tags/tag542.xml><?xml version="1.0" encoding="utf-8"?>
<p:tagLst xmlns:p="http://schemas.openxmlformats.org/presentationml/2006/main">
  <p:tag name="KSO_WM_BEAUTIFY_FLAG" val=""/>
</p:tagLst>
</file>

<file path=ppt/tags/tag543.xml><?xml version="1.0" encoding="utf-8"?>
<p:tagLst xmlns:p="http://schemas.openxmlformats.org/presentationml/2006/main">
  <p:tag name="KSO_WM_BEAUTIFY_FLAG" val=""/>
</p:tagLst>
</file>

<file path=ppt/tags/tag544.xml><?xml version="1.0" encoding="utf-8"?>
<p:tagLst xmlns:p="http://schemas.openxmlformats.org/presentationml/2006/main">
  <p:tag name="KSO_WM_BEAUTIFY_FLAG" val=""/>
</p:tagLst>
</file>

<file path=ppt/tags/tag545.xml><?xml version="1.0" encoding="utf-8"?>
<p:tagLst xmlns:p="http://schemas.openxmlformats.org/presentationml/2006/main">
  <p:tag name="KSO_WM_BEAUTIFY_FLAG" val=""/>
</p:tagLst>
</file>

<file path=ppt/tags/tag546.xml><?xml version="1.0" encoding="utf-8"?>
<p:tagLst xmlns:p="http://schemas.openxmlformats.org/presentationml/2006/main">
  <p:tag name="KSO_WM_BEAUTIFY_FLAG" val=""/>
</p:tagLst>
</file>

<file path=ppt/tags/tag547.xml><?xml version="1.0" encoding="utf-8"?>
<p:tagLst xmlns:p="http://schemas.openxmlformats.org/presentationml/2006/main">
  <p:tag name="KSO_WM_BEAUTIFY_FLAG" val=""/>
</p:tagLst>
</file>

<file path=ppt/tags/tag548.xml><?xml version="1.0" encoding="utf-8"?>
<p:tagLst xmlns:p="http://schemas.openxmlformats.org/presentationml/2006/main">
  <p:tag name="KSO_WM_BEAUTIFY_FLAG" val=""/>
</p:tagLst>
</file>

<file path=ppt/tags/tag549.xml><?xml version="1.0" encoding="utf-8"?>
<p:tagLst xmlns:p="http://schemas.openxmlformats.org/presentationml/2006/main">
  <p:tag name="KSO_WM_BEAUTIFY_FLAG" val=""/>
</p:tagLst>
</file>

<file path=ppt/tags/tag550.xml><?xml version="1.0" encoding="utf-8"?>
<p:tagLst xmlns:p="http://schemas.openxmlformats.org/presentationml/2006/main">
  <p:tag name="ISLIDE.ICON" val="#176715;"/>
</p:tagLst>
</file>

<file path=ppt/tags/tag551.xml><?xml version="1.0" encoding="utf-8"?>
<p:tagLst xmlns:p="http://schemas.openxmlformats.org/presentationml/2006/main">
  <p:tag name="KSO_WM_BEAUTIFY_FLAG" val=""/>
</p:tagLst>
</file>

<file path=ppt/tags/tag552.xml><?xml version="1.0" encoding="utf-8"?>
<p:tagLst xmlns:p="http://schemas.openxmlformats.org/presentationml/2006/main">
  <p:tag name="KSO_WM_BEAUTIFY_FLAG" val=""/>
</p:tagLst>
</file>

<file path=ppt/tags/tag553.xml><?xml version="1.0" encoding="utf-8"?>
<p:tagLst xmlns:p="http://schemas.openxmlformats.org/presentationml/2006/main">
  <p:tag name="KSO_WM_BEAUTIFY_FLAG" val=""/>
</p:tagLst>
</file>

<file path=ppt/tags/tag554.xml><?xml version="1.0" encoding="utf-8"?>
<p:tagLst xmlns:p="http://schemas.openxmlformats.org/presentationml/2006/main">
  <p:tag name="KSO_WM_BEAUTIFY_FLAG" val=""/>
</p:tagLst>
</file>

<file path=ppt/tags/tag555.xml><?xml version="1.0" encoding="utf-8"?>
<p:tagLst xmlns:p="http://schemas.openxmlformats.org/presentationml/2006/main">
  <p:tag name="KSO_WM_BEAUTIFY_FLAG" val=""/>
</p:tagLst>
</file>

<file path=ppt/tags/tag556.xml><?xml version="1.0" encoding="utf-8"?>
<p:tagLst xmlns:p="http://schemas.openxmlformats.org/presentationml/2006/main">
  <p:tag name="KSO_WM_BEAUTIFY_FLAG" val=""/>
</p:tagLst>
</file>

<file path=ppt/tags/tag557.xml><?xml version="1.0" encoding="utf-8"?>
<p:tagLst xmlns:p="http://schemas.openxmlformats.org/presentationml/2006/main">
  <p:tag name="KSO_WM_BEAUTIFY_FLAG" val=""/>
</p:tagLst>
</file>

<file path=ppt/tags/tag558.xml><?xml version="1.0" encoding="utf-8"?>
<p:tagLst xmlns:p="http://schemas.openxmlformats.org/presentationml/2006/main">
  <p:tag name="KSO_WM_BEAUTIFY_FLAG" val=""/>
</p:tagLst>
</file>

<file path=ppt/tags/tag559.xml><?xml version="1.0" encoding="utf-8"?>
<p:tagLst xmlns:p="http://schemas.openxmlformats.org/presentationml/2006/main">
  <p:tag name="KSO_WM_BEAUTIFY_FLAG" val=""/>
</p:tagLst>
</file>

<file path=ppt/tags/tag560.xml><?xml version="1.0" encoding="utf-8"?>
<p:tagLst xmlns:p="http://schemas.openxmlformats.org/presentationml/2006/main">
  <p:tag name="KSO_WM_BEAUTIFY_FLAG" val=""/>
</p:tagLst>
</file>

<file path=ppt/tags/tag561.xml><?xml version="1.0" encoding="utf-8"?>
<p:tagLst xmlns:p="http://schemas.openxmlformats.org/presentationml/2006/main">
  <p:tag name="KSO_WM_BEAUTIFY_FLAG" val=""/>
</p:tagLst>
</file>

<file path=ppt/tags/tag562.xml><?xml version="1.0" encoding="utf-8"?>
<p:tagLst xmlns:p="http://schemas.openxmlformats.org/presentationml/2006/main">
  <p:tag name="KSO_WM_BEAUTIFY_FLAG" val=""/>
</p:tagLst>
</file>

<file path=ppt/tags/tag563.xml><?xml version="1.0" encoding="utf-8"?>
<p:tagLst xmlns:p="http://schemas.openxmlformats.org/presentationml/2006/main">
  <p:tag name="KSO_WM_BEAUTIFY_FLAG" val=""/>
</p:tagLst>
</file>

<file path=ppt/tags/tag564.xml><?xml version="1.0" encoding="utf-8"?>
<p:tagLst xmlns:p="http://schemas.openxmlformats.org/presentationml/2006/main">
  <p:tag name="ISLIDE.ICON" val="#176715;"/>
</p:tagLst>
</file>

<file path=ppt/tags/tag565.xml><?xml version="1.0" encoding="utf-8"?>
<p:tagLst xmlns:p="http://schemas.openxmlformats.org/presentationml/2006/main">
  <p:tag name="KSO_WM_BEAUTIFY_FLAG" val=""/>
</p:tagLst>
</file>

<file path=ppt/tags/tag566.xml><?xml version="1.0" encoding="utf-8"?>
<p:tagLst xmlns:p="http://schemas.openxmlformats.org/presentationml/2006/main">
  <p:tag name="KSO_WM_BEAUTIFY_FLAG" val=""/>
</p:tagLst>
</file>

<file path=ppt/tags/tag567.xml><?xml version="1.0" encoding="utf-8"?>
<p:tagLst xmlns:p="http://schemas.openxmlformats.org/presentationml/2006/main">
  <p:tag name="KSO_WM_BEAUTIFY_FLAG" val=""/>
</p:tagLst>
</file>

<file path=ppt/tags/tag568.xml><?xml version="1.0" encoding="utf-8"?>
<p:tagLst xmlns:p="http://schemas.openxmlformats.org/presentationml/2006/main">
  <p:tag name="KSO_WM_BEAUTIFY_FLAG" val=""/>
</p:tagLst>
</file>

<file path=ppt/tags/tag569.xml><?xml version="1.0" encoding="utf-8"?>
<p:tagLst xmlns:p="http://schemas.openxmlformats.org/presentationml/2006/main">
  <p:tag name="KSO_WM_BEAUTIFY_FLAG" val=""/>
</p:tagLst>
</file>

<file path=ppt/tags/tag570.xml><?xml version="1.0" encoding="utf-8"?>
<p:tagLst xmlns:p="http://schemas.openxmlformats.org/presentationml/2006/main">
  <p:tag name="KSO_WM_BEAUTIFY_FLAG" val=""/>
</p:tagLst>
</file>

<file path=ppt/tags/tag571.xml><?xml version="1.0" encoding="utf-8"?>
<p:tagLst xmlns:p="http://schemas.openxmlformats.org/presentationml/2006/main">
  <p:tag name="KSO_WM_BEAUTIFY_FLAG" val=""/>
</p:tagLst>
</file>

<file path=ppt/tags/tag572.xml><?xml version="1.0" encoding="utf-8"?>
<p:tagLst xmlns:p="http://schemas.openxmlformats.org/presentationml/2006/main">
  <p:tag name="KSO_WM_BEAUTIFY_FLAG" val=""/>
</p:tagLst>
</file>

<file path=ppt/tags/tag573.xml><?xml version="1.0" encoding="utf-8"?>
<p:tagLst xmlns:p="http://schemas.openxmlformats.org/presentationml/2006/main">
  <p:tag name="KSO_WM_BEAUTIFY_FLAG" val=""/>
</p:tagLst>
</file>

<file path=ppt/tags/tag574.xml><?xml version="1.0" encoding="utf-8"?>
<p:tagLst xmlns:p="http://schemas.openxmlformats.org/presentationml/2006/main">
  <p:tag name="KSO_WM_BEAUTIFY_FLAG" val=""/>
</p:tagLst>
</file>

<file path=ppt/tags/tag575.xml><?xml version="1.0" encoding="utf-8"?>
<p:tagLst xmlns:p="http://schemas.openxmlformats.org/presentationml/2006/main">
  <p:tag name="KSO_WM_BEAUTIFY_FLAG" val=""/>
</p:tagLst>
</file>

<file path=ppt/tags/tag576.xml><?xml version="1.0" encoding="utf-8"?>
<p:tagLst xmlns:p="http://schemas.openxmlformats.org/presentationml/2006/main">
  <p:tag name="KSO_WM_BEAUTIFY_FLAG" val=""/>
</p:tagLst>
</file>

<file path=ppt/tags/tag577.xml><?xml version="1.0" encoding="utf-8"?>
<p:tagLst xmlns:p="http://schemas.openxmlformats.org/presentationml/2006/main">
  <p:tag name="KSO_WM_BEAUTIFY_FLAG" val=""/>
</p:tagLst>
</file>

<file path=ppt/tags/tag578.xml><?xml version="1.0" encoding="utf-8"?>
<p:tagLst xmlns:p="http://schemas.openxmlformats.org/presentationml/2006/main">
  <p:tag name="KSO_WM_BEAUTIFY_FLAG" val=""/>
</p:tagLst>
</file>

<file path=ppt/tags/tag579.xml><?xml version="1.0" encoding="utf-8"?>
<p:tagLst xmlns:p="http://schemas.openxmlformats.org/presentationml/2006/main">
  <p:tag name="KSO_WM_BEAUTIFY_FLAG" val=""/>
</p:tagLst>
</file>

<file path=ppt/tags/tag580.xml><?xml version="1.0" encoding="utf-8"?>
<p:tagLst xmlns:p="http://schemas.openxmlformats.org/presentationml/2006/main">
  <p:tag name="KSO_WM_BEAUTIFY_FLAG" val=""/>
</p:tagLst>
</file>

<file path=ppt/tags/tag581.xml><?xml version="1.0" encoding="utf-8"?>
<p:tagLst xmlns:p="http://schemas.openxmlformats.org/presentationml/2006/main">
  <p:tag name="KSO_WM_BEAUTIFY_FLAG" val=""/>
</p:tagLst>
</file>

<file path=ppt/tags/tag582.xml><?xml version="1.0" encoding="utf-8"?>
<p:tagLst xmlns:p="http://schemas.openxmlformats.org/presentationml/2006/main">
  <p:tag name="KSO_WM_BEAUTIFY_FLAG" val=""/>
</p:tagLst>
</file>

<file path=ppt/tags/tag583.xml><?xml version="1.0" encoding="utf-8"?>
<p:tagLst xmlns:p="http://schemas.openxmlformats.org/presentationml/2006/main">
  <p:tag name="KSO_WM_BEAUTIFY_FLAG" val=""/>
</p:tagLst>
</file>

<file path=ppt/tags/tag584.xml><?xml version="1.0" encoding="utf-8"?>
<p:tagLst xmlns:p="http://schemas.openxmlformats.org/presentationml/2006/main">
  <p:tag name="ISLIDE.ICON" val="#176715;"/>
</p:tagLst>
</file>

<file path=ppt/tags/tag585.xml><?xml version="1.0" encoding="utf-8"?>
<p:tagLst xmlns:p="http://schemas.openxmlformats.org/presentationml/2006/main">
  <p:tag name="KSO_WM_BEAUTIFY_FLAG" val=""/>
</p:tagLst>
</file>

<file path=ppt/tags/tag586.xml><?xml version="1.0" encoding="utf-8"?>
<p:tagLst xmlns:p="http://schemas.openxmlformats.org/presentationml/2006/main">
  <p:tag name="KSO_WM_BEAUTIFY_FLAG" val=""/>
</p:tagLst>
</file>

<file path=ppt/tags/tag587.xml><?xml version="1.0" encoding="utf-8"?>
<p:tagLst xmlns:p="http://schemas.openxmlformats.org/presentationml/2006/main">
  <p:tag name="KSO_WM_BEAUTIFY_FLAG" val=""/>
</p:tagLst>
</file>

<file path=ppt/tags/tag588.xml><?xml version="1.0" encoding="utf-8"?>
<p:tagLst xmlns:p="http://schemas.openxmlformats.org/presentationml/2006/main">
  <p:tag name="KSO_WM_BEAUTIFY_FLAG" val=""/>
</p:tagLst>
</file>

<file path=ppt/tags/tag589.xml><?xml version="1.0" encoding="utf-8"?>
<p:tagLst xmlns:p="http://schemas.openxmlformats.org/presentationml/2006/main">
  <p:tag name="KSO_WM_BEAUTIFY_FLAG" val=""/>
</p:tagLst>
</file>

<file path=ppt/tags/tag590.xml><?xml version="1.0" encoding="utf-8"?>
<p:tagLst xmlns:p="http://schemas.openxmlformats.org/presentationml/2006/main">
  <p:tag name="KSO_WM_BEAUTIFY_FLAG" val=""/>
</p:tagLst>
</file>

<file path=ppt/tags/tag591.xml><?xml version="1.0" encoding="utf-8"?>
<p:tagLst xmlns:p="http://schemas.openxmlformats.org/presentationml/2006/main">
  <p:tag name="KSO_WM_BEAUTIFY_FLAG" val=""/>
</p:tagLst>
</file>

<file path=ppt/tags/tag592.xml><?xml version="1.0" encoding="utf-8"?>
<p:tagLst xmlns:p="http://schemas.openxmlformats.org/presentationml/2006/main">
  <p:tag name="KSO_WM_BEAUTIFY_FLAG" val=""/>
</p:tagLst>
</file>

<file path=ppt/tags/tag593.xml><?xml version="1.0" encoding="utf-8"?>
<p:tagLst xmlns:p="http://schemas.openxmlformats.org/presentationml/2006/main">
  <p:tag name="KSO_WM_BEAUTIFY_FLAG" val=""/>
</p:tagLst>
</file>

<file path=ppt/tags/tag594.xml><?xml version="1.0" encoding="utf-8"?>
<p:tagLst xmlns:p="http://schemas.openxmlformats.org/presentationml/2006/main">
  <p:tag name="KSO_WM_BEAUTIFY_FLAG" val=""/>
</p:tagLst>
</file>

<file path=ppt/tags/tag595.xml><?xml version="1.0" encoding="utf-8"?>
<p:tagLst xmlns:p="http://schemas.openxmlformats.org/presentationml/2006/main">
  <p:tag name="KSO_WM_BEAUTIFY_FLAG" val=""/>
</p:tagLst>
</file>

<file path=ppt/tags/tag596.xml><?xml version="1.0" encoding="utf-8"?>
<p:tagLst xmlns:p="http://schemas.openxmlformats.org/presentationml/2006/main">
  <p:tag name="KSO_WM_BEAUTIFY_FLAG" val=""/>
</p:tagLst>
</file>

<file path=ppt/tags/tag597.xml><?xml version="1.0" encoding="utf-8"?>
<p:tagLst xmlns:p="http://schemas.openxmlformats.org/presentationml/2006/main">
  <p:tag name="ISLIDE.ICON" val="#176715;"/>
</p:tagLst>
</file>

<file path=ppt/tags/tag598.xml><?xml version="1.0" encoding="utf-8"?>
<p:tagLst xmlns:p="http://schemas.openxmlformats.org/presentationml/2006/main">
  <p:tag name="KSO_WM_BEAUTIFY_FLAG" val=""/>
</p:tagLst>
</file>

<file path=ppt/tags/tag599.xml><?xml version="1.0" encoding="utf-8"?>
<p:tagLst xmlns:p="http://schemas.openxmlformats.org/presentationml/2006/main">
  <p:tag name="KSO_WM_BEAUTIFY_FLAG" val=""/>
</p:tagLst>
</file>

<file path=ppt/tags/tag600.xml><?xml version="1.0" encoding="utf-8"?>
<p:tagLst xmlns:p="http://schemas.openxmlformats.org/presentationml/2006/main">
  <p:tag name="KSO_WM_BEAUTIFY_FLAG" val=""/>
</p:tagLst>
</file>

<file path=ppt/tags/tag601.xml><?xml version="1.0" encoding="utf-8"?>
<p:tagLst xmlns:p="http://schemas.openxmlformats.org/presentationml/2006/main">
  <p:tag name="KSO_WM_BEAUTIFY_FLAG" val=""/>
</p:tagLst>
</file>

<file path=ppt/tags/tag602.xml><?xml version="1.0" encoding="utf-8"?>
<p:tagLst xmlns:p="http://schemas.openxmlformats.org/presentationml/2006/main">
  <p:tag name="KSO_WM_BEAUTIFY_FLAG" val=""/>
</p:tagLst>
</file>

<file path=ppt/tags/tag603.xml><?xml version="1.0" encoding="utf-8"?>
<p:tagLst xmlns:p="http://schemas.openxmlformats.org/presentationml/2006/main">
  <p:tag name="KSO_WM_BEAUTIFY_FLAG" val=""/>
</p:tagLst>
</file>

<file path=ppt/tags/tag604.xml><?xml version="1.0" encoding="utf-8"?>
<p:tagLst xmlns:p="http://schemas.openxmlformats.org/presentationml/2006/main">
  <p:tag name="KSO_WM_BEAUTIFY_FLAG" val=""/>
</p:tagLst>
</file>

<file path=ppt/tags/tag605.xml><?xml version="1.0" encoding="utf-8"?>
<p:tagLst xmlns:p="http://schemas.openxmlformats.org/presentationml/2006/main">
  <p:tag name="KSO_WM_BEAUTIFY_FLAG" val=""/>
</p:tagLst>
</file>

<file path=ppt/tags/tag606.xml><?xml version="1.0" encoding="utf-8"?>
<p:tagLst xmlns:p="http://schemas.openxmlformats.org/presentationml/2006/main">
  <p:tag name="KSO_WM_BEAUTIFY_FLAG" val=""/>
</p:tagLst>
</file>

<file path=ppt/tags/tag607.xml><?xml version="1.0" encoding="utf-8"?>
<p:tagLst xmlns:p="http://schemas.openxmlformats.org/presentationml/2006/main">
  <p:tag name="KSO_WM_BEAUTIFY_FLAG" val=""/>
</p:tagLst>
</file>

<file path=ppt/tags/tag608.xml><?xml version="1.0" encoding="utf-8"?>
<p:tagLst xmlns:p="http://schemas.openxmlformats.org/presentationml/2006/main">
  <p:tag name="KSO_WM_BEAUTIFY_FLAG" val=""/>
</p:tagLst>
</file>

<file path=ppt/tags/tag609.xml><?xml version="1.0" encoding="utf-8"?>
<p:tagLst xmlns:p="http://schemas.openxmlformats.org/presentationml/2006/main">
  <p:tag name="KSO_WM_BEAUTIFY_FLAG" val=""/>
</p:tagLst>
</file>

<file path=ppt/tags/tag610.xml><?xml version="1.0" encoding="utf-8"?>
<p:tagLst xmlns:p="http://schemas.openxmlformats.org/presentationml/2006/main">
  <p:tag name="KSO_WM_BEAUTIFY_FLAG" val=""/>
</p:tagLst>
</file>

<file path=ppt/tags/tag611.xml><?xml version="1.0" encoding="utf-8"?>
<p:tagLst xmlns:p="http://schemas.openxmlformats.org/presentationml/2006/main">
  <p:tag name="KSO_WM_BEAUTIFY_FLAG" val=""/>
</p:tagLst>
</file>

<file path=ppt/tags/tag612.xml><?xml version="1.0" encoding="utf-8"?>
<p:tagLst xmlns:p="http://schemas.openxmlformats.org/presentationml/2006/main">
  <p:tag name="KSO_WM_BEAUTIFY_FLAG" val=""/>
</p:tagLst>
</file>

<file path=ppt/tags/tag613.xml><?xml version="1.0" encoding="utf-8"?>
<p:tagLst xmlns:p="http://schemas.openxmlformats.org/presentationml/2006/main">
  <p:tag name="KSO_WM_BEAUTIFY_FLAG" val=""/>
</p:tagLst>
</file>

<file path=ppt/tags/tag614.xml><?xml version="1.0" encoding="utf-8"?>
<p:tagLst xmlns:p="http://schemas.openxmlformats.org/presentationml/2006/main">
  <p:tag name="KSO_WM_BEAUTIFY_FLAG" val=""/>
</p:tagLst>
</file>

<file path=ppt/tags/tag615.xml><?xml version="1.0" encoding="utf-8"?>
<p:tagLst xmlns:p="http://schemas.openxmlformats.org/presentationml/2006/main">
  <p:tag name="KSO_WM_BEAUTIFY_FLAG" val=""/>
</p:tagLst>
</file>

<file path=ppt/tags/tag616.xml><?xml version="1.0" encoding="utf-8"?>
<p:tagLst xmlns:p="http://schemas.openxmlformats.org/presentationml/2006/main">
  <p:tag name="KSO_WM_BEAUTIFY_FLAG" val=""/>
</p:tagLst>
</file>

<file path=ppt/tags/tag617.xml><?xml version="1.0" encoding="utf-8"?>
<p:tagLst xmlns:p="http://schemas.openxmlformats.org/presentationml/2006/main">
  <p:tag name="KSO_WM_BEAUTIFY_FLAG" val=""/>
</p:tagLst>
</file>

<file path=ppt/tags/tag618.xml><?xml version="1.0" encoding="utf-8"?>
<p:tagLst xmlns:p="http://schemas.openxmlformats.org/presentationml/2006/main">
  <p:tag name="KSO_WM_BEAUTIFY_FLAG" val=""/>
</p:tagLst>
</file>

<file path=ppt/tags/tag619.xml><?xml version="1.0" encoding="utf-8"?>
<p:tagLst xmlns:p="http://schemas.openxmlformats.org/presentationml/2006/main">
  <p:tag name="KSO_WM_BEAUTIFY_FLAG" val=""/>
</p:tagLst>
</file>

<file path=ppt/tags/tag620.xml><?xml version="1.0" encoding="utf-8"?>
<p:tagLst xmlns:p="http://schemas.openxmlformats.org/presentationml/2006/main">
  <p:tag name="KSO_WM_BEAUTIFY_FLAG" val=""/>
</p:tagLst>
</file>

<file path=ppt/tags/tag621.xml><?xml version="1.0" encoding="utf-8"?>
<p:tagLst xmlns:p="http://schemas.openxmlformats.org/presentationml/2006/main">
  <p:tag name="KSO_WM_BEAUTIFY_FLAG" val=""/>
</p:tagLst>
</file>

<file path=ppt/tags/tag622.xml><?xml version="1.0" encoding="utf-8"?>
<p:tagLst xmlns:p="http://schemas.openxmlformats.org/presentationml/2006/main">
  <p:tag name="ISLIDE.ICON" val="#176715;"/>
</p:tagLst>
</file>

<file path=ppt/tags/tag623.xml><?xml version="1.0" encoding="utf-8"?>
<p:tagLst xmlns:p="http://schemas.openxmlformats.org/presentationml/2006/main">
  <p:tag name="KSO_WM_BEAUTIFY_FLAG" val=""/>
</p:tagLst>
</file>

<file path=ppt/tags/tag624.xml><?xml version="1.0" encoding="utf-8"?>
<p:tagLst xmlns:p="http://schemas.openxmlformats.org/presentationml/2006/main">
  <p:tag name="KSO_WM_BEAUTIFY_FLAG" val=""/>
</p:tagLst>
</file>

<file path=ppt/tags/tag625.xml><?xml version="1.0" encoding="utf-8"?>
<p:tagLst xmlns:p="http://schemas.openxmlformats.org/presentationml/2006/main">
  <p:tag name="KSO_WM_BEAUTIFY_FLAG" val=""/>
</p:tagLst>
</file>

<file path=ppt/tags/tag626.xml><?xml version="1.0" encoding="utf-8"?>
<p:tagLst xmlns:p="http://schemas.openxmlformats.org/presentationml/2006/main">
  <p:tag name="KSO_WM_BEAUTIFY_FLAG" val=""/>
</p:tagLst>
</file>

<file path=ppt/tags/tag627.xml><?xml version="1.0" encoding="utf-8"?>
<p:tagLst xmlns:p="http://schemas.openxmlformats.org/presentationml/2006/main">
  <p:tag name="KSO_WM_BEAUTIFY_FLAG" val=""/>
</p:tagLst>
</file>

<file path=ppt/tags/tag628.xml><?xml version="1.0" encoding="utf-8"?>
<p:tagLst xmlns:p="http://schemas.openxmlformats.org/presentationml/2006/main">
  <p:tag name="KSO_WM_BEAUTIFY_FLAG" val=""/>
</p:tagLst>
</file>

<file path=ppt/tags/tag629.xml><?xml version="1.0" encoding="utf-8"?>
<p:tagLst xmlns:p="http://schemas.openxmlformats.org/presentationml/2006/main">
  <p:tag name="KSO_WM_BEAUTIFY_FLAG" val=""/>
</p:tagLst>
</file>

<file path=ppt/tags/tag630.xml><?xml version="1.0" encoding="utf-8"?>
<p:tagLst xmlns:p="http://schemas.openxmlformats.org/presentationml/2006/main">
  <p:tag name="KSO_WM_BEAUTIFY_FLAG" val=""/>
</p:tagLst>
</file>

<file path=ppt/tags/tag631.xml><?xml version="1.0" encoding="utf-8"?>
<p:tagLst xmlns:p="http://schemas.openxmlformats.org/presentationml/2006/main">
  <p:tag name="KSO_WM_BEAUTIFY_FLAG" val=""/>
</p:tagLst>
</file>

<file path=ppt/tags/tag632.xml><?xml version="1.0" encoding="utf-8"?>
<p:tagLst xmlns:p="http://schemas.openxmlformats.org/presentationml/2006/main">
  <p:tag name="KSO_WM_BEAUTIFY_FLAG" val=""/>
</p:tagLst>
</file>

<file path=ppt/tags/tag633.xml><?xml version="1.0" encoding="utf-8"?>
<p:tagLst xmlns:p="http://schemas.openxmlformats.org/presentationml/2006/main">
  <p:tag name="KSO_WM_BEAUTIFY_FLAG" val=""/>
</p:tagLst>
</file>

<file path=ppt/tags/tag634.xml><?xml version="1.0" encoding="utf-8"?>
<p:tagLst xmlns:p="http://schemas.openxmlformats.org/presentationml/2006/main">
  <p:tag name="KSO_WM_BEAUTIFY_FLAG" val=""/>
</p:tagLst>
</file>

<file path=ppt/tags/tag635.xml><?xml version="1.0" encoding="utf-8"?>
<p:tagLst xmlns:p="http://schemas.openxmlformats.org/presentationml/2006/main">
  <p:tag name="KSO_WM_BEAUTIFY_FLAG" val=""/>
</p:tagLst>
</file>

<file path=ppt/tags/tag636.xml><?xml version="1.0" encoding="utf-8"?>
<p:tagLst xmlns:p="http://schemas.openxmlformats.org/presentationml/2006/main">
  <p:tag name="KSO_WM_BEAUTIFY_FLAG" val=""/>
</p:tagLst>
</file>

<file path=ppt/tags/tag637.xml><?xml version="1.0" encoding="utf-8"?>
<p:tagLst xmlns:p="http://schemas.openxmlformats.org/presentationml/2006/main">
  <p:tag name="KSO_WM_BEAUTIFY_FLAG" val=""/>
</p:tagLst>
</file>

<file path=ppt/tags/tag638.xml><?xml version="1.0" encoding="utf-8"?>
<p:tagLst xmlns:p="http://schemas.openxmlformats.org/presentationml/2006/main">
  <p:tag name="KSO_WM_BEAUTIFY_FLAG" val=""/>
</p:tagLst>
</file>

<file path=ppt/tags/tag639.xml><?xml version="1.0" encoding="utf-8"?>
<p:tagLst xmlns:p="http://schemas.openxmlformats.org/presentationml/2006/main">
  <p:tag name="KSO_WM_BEAUTIFY_FLAG" val=""/>
</p:tagLst>
</file>

<file path=ppt/tags/tag640.xml><?xml version="1.0" encoding="utf-8"?>
<p:tagLst xmlns:p="http://schemas.openxmlformats.org/presentationml/2006/main">
  <p:tag name="KSO_WM_BEAUTIFY_FLAG" val=""/>
</p:tagLst>
</file>

<file path=ppt/tags/tag641.xml><?xml version="1.0" encoding="utf-8"?>
<p:tagLst xmlns:p="http://schemas.openxmlformats.org/presentationml/2006/main">
  <p:tag name="ISLIDE.ICON" val="#176715;"/>
</p:tagLst>
</file>

<file path=ppt/tags/tag642.xml><?xml version="1.0" encoding="utf-8"?>
<p:tagLst xmlns:p="http://schemas.openxmlformats.org/presentationml/2006/main">
  <p:tag name="KSO_WM_BEAUTIFY_FLAG" val=""/>
</p:tagLst>
</file>

<file path=ppt/tags/tag643.xml><?xml version="1.0" encoding="utf-8"?>
<p:tagLst xmlns:p="http://schemas.openxmlformats.org/presentationml/2006/main">
  <p:tag name="KSO_WM_BEAUTIFY_FLAG" val=""/>
</p:tagLst>
</file>

<file path=ppt/tags/tag644.xml><?xml version="1.0" encoding="utf-8"?>
<p:tagLst xmlns:p="http://schemas.openxmlformats.org/presentationml/2006/main">
  <p:tag name="KSO_WM_BEAUTIFY_FLAG" val=""/>
</p:tagLst>
</file>

<file path=ppt/tags/tag645.xml><?xml version="1.0" encoding="utf-8"?>
<p:tagLst xmlns:p="http://schemas.openxmlformats.org/presentationml/2006/main">
  <p:tag name="KSO_WM_BEAUTIFY_FLAG" val=""/>
</p:tagLst>
</file>

<file path=ppt/tags/tag646.xml><?xml version="1.0" encoding="utf-8"?>
<p:tagLst xmlns:p="http://schemas.openxmlformats.org/presentationml/2006/main">
  <p:tag name="KSO_WM_BEAUTIFY_FLAG" val=""/>
</p:tagLst>
</file>

<file path=ppt/tags/tag647.xml><?xml version="1.0" encoding="utf-8"?>
<p:tagLst xmlns:p="http://schemas.openxmlformats.org/presentationml/2006/main">
  <p:tag name="KSO_WM_BEAUTIFY_FLAG" val=""/>
</p:tagLst>
</file>

<file path=ppt/tags/tag648.xml><?xml version="1.0" encoding="utf-8"?>
<p:tagLst xmlns:p="http://schemas.openxmlformats.org/presentationml/2006/main">
  <p:tag name="KSO_WM_BEAUTIFY_FLAG" val=""/>
</p:tagLst>
</file>

<file path=ppt/tags/tag649.xml><?xml version="1.0" encoding="utf-8"?>
<p:tagLst xmlns:p="http://schemas.openxmlformats.org/presentationml/2006/main">
  <p:tag name="KSO_WM_BEAUTIFY_FLAG" val=""/>
</p:tagLst>
</file>

<file path=ppt/tags/tag650.xml><?xml version="1.0" encoding="utf-8"?>
<p:tagLst xmlns:p="http://schemas.openxmlformats.org/presentationml/2006/main">
  <p:tag name="KSO_WM_BEAUTIFY_FLAG" val=""/>
</p:tagLst>
</file>

<file path=ppt/tags/tag651.xml><?xml version="1.0" encoding="utf-8"?>
<p:tagLst xmlns:p="http://schemas.openxmlformats.org/presentationml/2006/main">
  <p:tag name="ISLIDE.ICON" val="#176715;"/>
</p:tagLst>
</file>

<file path=ppt/tags/tag652.xml><?xml version="1.0" encoding="utf-8"?>
<p:tagLst xmlns:p="http://schemas.openxmlformats.org/presentationml/2006/main">
  <p:tag name="KSO_WM_BEAUTIFY_FLAG" val=""/>
</p:tagLst>
</file>

<file path=ppt/tags/tag653.xml><?xml version="1.0" encoding="utf-8"?>
<p:tagLst xmlns:p="http://schemas.openxmlformats.org/presentationml/2006/main">
  <p:tag name="KSO_WM_BEAUTIFY_FLAG" val=""/>
</p:tagLst>
</file>

<file path=ppt/tags/tag654.xml><?xml version="1.0" encoding="utf-8"?>
<p:tagLst xmlns:p="http://schemas.openxmlformats.org/presentationml/2006/main">
  <p:tag name="KSO_WM_BEAUTIFY_FLAG" val=""/>
</p:tagLst>
</file>

<file path=ppt/tags/tag655.xml><?xml version="1.0" encoding="utf-8"?>
<p:tagLst xmlns:p="http://schemas.openxmlformats.org/presentationml/2006/main">
  <p:tag name="KSO_WM_BEAUTIFY_FLAG" val=""/>
</p:tagLst>
</file>

<file path=ppt/tags/tag656.xml><?xml version="1.0" encoding="utf-8"?>
<p:tagLst xmlns:p="http://schemas.openxmlformats.org/presentationml/2006/main">
  <p:tag name="KSO_WM_BEAUTIFY_FLAG" val=""/>
</p:tagLst>
</file>

<file path=ppt/tags/tag657.xml><?xml version="1.0" encoding="utf-8"?>
<p:tagLst xmlns:p="http://schemas.openxmlformats.org/presentationml/2006/main">
  <p:tag name="KSO_WM_BEAUTIFY_FLAG" val=""/>
</p:tagLst>
</file>

<file path=ppt/tags/tag658.xml><?xml version="1.0" encoding="utf-8"?>
<p:tagLst xmlns:p="http://schemas.openxmlformats.org/presentationml/2006/main">
  <p:tag name="KSO_WM_BEAUTIFY_FLAG" val=""/>
</p:tagLst>
</file>

<file path=ppt/tags/tag659.xml><?xml version="1.0" encoding="utf-8"?>
<p:tagLst xmlns:p="http://schemas.openxmlformats.org/presentationml/2006/main">
  <p:tag name="KSO_WM_BEAUTIFY_FLAG" val=""/>
</p:tagLst>
</file>

<file path=ppt/tags/tag660.xml><?xml version="1.0" encoding="utf-8"?>
<p:tagLst xmlns:p="http://schemas.openxmlformats.org/presentationml/2006/main">
  <p:tag name="KSO_WM_BEAUTIFY_FLAG" val=""/>
</p:tagLst>
</file>

<file path=ppt/tags/tag661.xml><?xml version="1.0" encoding="utf-8"?>
<p:tagLst xmlns:p="http://schemas.openxmlformats.org/presentationml/2006/main">
  <p:tag name="PA" val="v5.2.11"/>
  <p:tag name="RESOURCELIBID_ANIM" val="439"/>
</p:tagLst>
</file>

<file path=ppt/tags/tag662.xml><?xml version="1.0" encoding="utf-8"?>
<p:tagLst xmlns:p="http://schemas.openxmlformats.org/presentationml/2006/main">
  <p:tag name="PA" val="v3.0.1"/>
</p:tagLst>
</file>

<file path=ppt/tags/tag663.xml><?xml version="1.0" encoding="utf-8"?>
<p:tagLst xmlns:p="http://schemas.openxmlformats.org/presentationml/2006/main">
  <p:tag name="PA" val="v3.0.1"/>
</p:tagLst>
</file>

<file path=ppt/tags/tag664.xml><?xml version="1.0" encoding="utf-8"?>
<p:tagLst xmlns:p="http://schemas.openxmlformats.org/presentationml/2006/main">
  <p:tag name="PA" val="v5.2.11"/>
</p:tagLst>
</file>

<file path=ppt/tags/tag665.xml><?xml version="1.0" encoding="utf-8"?>
<p:tagLst xmlns:p="http://schemas.openxmlformats.org/presentationml/2006/main">
  <p:tag name="PA" val="v5.2.11"/>
</p:tagLst>
</file>

<file path=ppt/tags/tag666.xml><?xml version="1.0" encoding="utf-8"?>
<p:tagLst xmlns:p="http://schemas.openxmlformats.org/presentationml/2006/main">
  <p:tag name="PA" val="v5.2.11"/>
</p:tagLst>
</file>

<file path=ppt/tags/tag667.xml><?xml version="1.0" encoding="utf-8"?>
<p:tagLst xmlns:p="http://schemas.openxmlformats.org/presentationml/2006/main">
  <p:tag name="KSO_WM_BEAUTIFY_FLAG" val=""/>
</p:tagLst>
</file>

<file path=ppt/tags/tag668.xml><?xml version="1.0" encoding="utf-8"?>
<p:tagLst xmlns:p="http://schemas.openxmlformats.org/presentationml/2006/main">
  <p:tag name="ISLIDE.ICON" val="#176715;"/>
</p:tagLst>
</file>

<file path=ppt/tags/tag669.xml><?xml version="1.0" encoding="utf-8"?>
<p:tagLst xmlns:p="http://schemas.openxmlformats.org/presentationml/2006/main">
  <p:tag name="COMMONDATA" val="eyJoZGlkIjoiYTcyYmVjMTcwOWFmNjA4YzMzMmY4MjU1YmU4YjVjNjcifQ=="/>
  <p:tag name="commondata" val="eyJoZGlkIjoiMTU4OTZhZjc1ZDdkODZlNGE4NzFkYWZhYjAxM2IzZW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50239</Words>
  <Application>WPS 演示</Application>
  <PresentationFormat>宽屏</PresentationFormat>
  <Paragraphs>3086</Paragraphs>
  <Slides>189</Slides>
  <Notes>0</Notes>
  <HiddenSlides>0</HiddenSlides>
  <MMClips>0</MMClips>
  <ScaleCrop>false</ScaleCrop>
  <HeadingPairs>
    <vt:vector size="6" baseType="variant">
      <vt:variant>
        <vt:lpstr>已用的字体</vt:lpstr>
      </vt:variant>
      <vt:variant>
        <vt:i4>30</vt:i4>
      </vt:variant>
      <vt:variant>
        <vt:lpstr>主题</vt:lpstr>
      </vt:variant>
      <vt:variant>
        <vt:i4>1</vt:i4>
      </vt:variant>
      <vt:variant>
        <vt:lpstr>幻灯片标题</vt:lpstr>
      </vt:variant>
      <vt:variant>
        <vt:i4>189</vt:i4>
      </vt:variant>
    </vt:vector>
  </HeadingPairs>
  <TitlesOfParts>
    <vt:vector size="220" baseType="lpstr">
      <vt:lpstr>Arial</vt:lpstr>
      <vt:lpstr>宋体</vt:lpstr>
      <vt:lpstr>Wingdings</vt:lpstr>
      <vt:lpstr>思源黑体 CN Normal</vt:lpstr>
      <vt:lpstr>思源黑体 CN Medium</vt:lpstr>
      <vt:lpstr>黑体</vt:lpstr>
      <vt:lpstr>思源黑体 CN Light</vt:lpstr>
      <vt:lpstr>思源黑体 CN Regular</vt:lpstr>
      <vt:lpstr>思源黑体 CN Bold</vt:lpstr>
      <vt:lpstr>思源宋体 CN Light</vt:lpstr>
      <vt:lpstr>Times</vt:lpstr>
      <vt:lpstr>微软雅黑</vt:lpstr>
      <vt:lpstr>Arial Unicode MS</vt:lpstr>
      <vt:lpstr>Arial Black</vt:lpstr>
      <vt:lpstr>Open Sans</vt:lpstr>
      <vt:lpstr>Times</vt:lpstr>
      <vt:lpstr>Wingdings</vt:lpstr>
      <vt:lpstr>等线</vt:lpstr>
      <vt:lpstr>仿宋</vt:lpstr>
      <vt:lpstr>华文宋体</vt:lpstr>
      <vt:lpstr>Times New Roman</vt:lpstr>
      <vt:lpstr>Gulim</vt:lpstr>
      <vt:lpstr>思源宋体 CN Heavy</vt:lpstr>
      <vt:lpstr>Calibri Light</vt:lpstr>
      <vt:lpstr>Symbol</vt:lpstr>
      <vt:lpstr>Open Sans</vt:lpstr>
      <vt:lpstr>Arial</vt:lpstr>
      <vt:lpstr>Open Sans</vt:lpstr>
      <vt:lpstr>Malgun Gothic</vt:lpstr>
      <vt:lpstr>Segoe Print</vt:lpstr>
      <vt:lpstr>Office 主题​​</vt:lpstr>
      <vt:lpstr>PowerPoint 演示文稿</vt:lpstr>
      <vt:lpstr>PowerPoint 演示文稿</vt:lpstr>
      <vt:lpstr>PowerPoint 演示文稿</vt:lpstr>
      <vt:lpstr>PowerPoint 演示文稿</vt:lpstr>
      <vt:lpstr>第一节 声明和使用数组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第二节 使用多维数组</vt:lpstr>
      <vt:lpstr>PowerPoint 演示文稿</vt:lpstr>
      <vt:lpstr>PowerPoint 演示文稿</vt:lpstr>
      <vt:lpstr>PowerPoint 演示文稿</vt:lpstr>
      <vt:lpstr>PowerPoint 演示文稿</vt:lpstr>
      <vt:lpstr>PowerPoint 演示文稿</vt:lpstr>
      <vt:lpstr>--------------------</vt:lpstr>
      <vt:lpstr>PowerPoint 演示文稿</vt:lpstr>
      <vt:lpstr>第三节 枚举</vt:lpstr>
      <vt:lpstr>PowerPoint 演示文稿</vt:lpstr>
      <vt:lpstr>PowerPoint 演示文稿</vt:lpstr>
      <vt:lpstr>PowerPoint 演示文稿</vt:lpstr>
      <vt:lpstr>PowerPoint 演示文稿</vt:lpstr>
      <vt:lpstr>PowerPoint 演示文稿</vt:lpstr>
      <vt:lpstr>第一节 异常的原理</vt:lpstr>
      <vt:lpstr>PowerPoint 演示文稿</vt:lpstr>
      <vt:lpstr>PowerPoint 演示文稿</vt:lpstr>
      <vt:lpstr>PowerPoint 演示文稿</vt:lpstr>
      <vt:lpstr>PowerPoint 演示文稿</vt:lpstr>
      <vt:lpstr>PowerPoint 演示文稿</vt:lpstr>
      <vt:lpstr>PowerPoint 演示文稿</vt:lpstr>
      <vt:lpstr>第二节 异常处理的三种方式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第三节 自定义异常</vt:lpstr>
      <vt:lpstr>PowerPoint 演示文稿</vt:lpstr>
      <vt:lpstr>PowerPoint 演示文稿</vt:lpstr>
      <vt:lpstr>PowerPoint 演示文稿</vt:lpstr>
      <vt:lpstr>PowerPoint 演示文稿</vt:lpstr>
      <vt:lpstr>PowerPoint 演示文稿</vt:lpstr>
      <vt:lpstr>PowerPoint 演示文稿</vt:lpstr>
      <vt:lpstr>第一节 基本类型与包装类</vt:lpstr>
      <vt:lpstr>PowerPoint 演示文稿</vt:lpstr>
      <vt:lpstr>PowerPoint 演示文稿</vt:lpstr>
      <vt:lpstr>第二节 String相关类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第三节 日期处理相关类</vt:lpstr>
      <vt:lpstr>PowerPoint 演示文稿</vt:lpstr>
      <vt:lpstr>PowerPoint 演示文稿</vt:lpstr>
      <vt:lpstr>PowerPoint 演示文稿</vt:lpstr>
      <vt:lpstr>PowerPoint 演示文稿</vt:lpstr>
      <vt:lpstr>第四节 工具类</vt:lpstr>
      <vt:lpstr>PowerPoint 演示文稿</vt:lpstr>
      <vt:lpstr>PowerPoint 演示文稿</vt:lpstr>
      <vt:lpstr>PowerPoint 演示文稿</vt:lpstr>
      <vt:lpstr>PowerPoint 演示文稿</vt:lpstr>
      <vt:lpstr>PowerPoint 演示文稿</vt:lpstr>
      <vt:lpstr>第一节 Collection系列集合与泛型</vt:lpstr>
      <vt:lpstr>PowerPoint 演示文稿</vt:lpstr>
      <vt:lpstr>PowerPoint 演示文稿</vt:lpstr>
      <vt:lpstr>PowerPoint 演示文稿</vt:lpstr>
      <vt:lpstr>PowerPoint 演示文稿</vt:lpstr>
      <vt:lpstr>PowerPoint 演示文稿</vt:lpstr>
      <vt:lpstr>第二节 使用迭代器遍历集合</vt:lpstr>
      <vt:lpstr>PowerPoint 演示文稿</vt:lpstr>
      <vt:lpstr>PowerPoint 演示文稿</vt:lpstr>
      <vt:lpstr>PowerPoint 演示文稿</vt:lpstr>
      <vt:lpstr>第三节 Map系列映射集合</vt:lpstr>
      <vt:lpstr>PowerPoint 演示文稿</vt:lpstr>
      <vt:lpstr>PowerPoint 演示文稿</vt:lpstr>
      <vt:lpstr>PowerPoint 演示文稿</vt:lpstr>
      <vt:lpstr>PowerPoint 演示文稿</vt:lpstr>
      <vt:lpstr>第四节 泛型的通配符类型参数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第一节 I/O流与文本文件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第二节 字符流的包装与链接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第三节 字节流的包装与链接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第四节 对象的序列化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第一节 File对象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第二节 控制台I/O</vt:lpstr>
      <vt:lpstr>PowerPoint 演示文稿</vt:lpstr>
      <vt:lpstr>PowerPoint 演示文稿</vt:lpstr>
      <vt:lpstr>PowerPoint 演示文稿</vt:lpstr>
      <vt:lpstr>PowerPoint 演示文稿</vt:lpstr>
      <vt:lpstr>PowerPoint 演示文稿</vt:lpstr>
      <vt:lpstr>第三节 扫描器</vt:lpstr>
      <vt:lpstr>PowerPoint 演示文稿</vt:lpstr>
      <vt:lpstr>PowerPoint 演示文稿</vt:lpstr>
      <vt:lpstr>PowerPoint 演示文稿</vt:lpstr>
      <vt:lpstr>第一节 线程的概念和原理</vt:lpstr>
      <vt:lpstr>PowerPoint 演示文稿</vt:lpstr>
      <vt:lpstr>PowerPoint 演示文稿</vt:lpstr>
      <vt:lpstr>PowerPoint 演示文稿</vt:lpstr>
      <vt:lpstr>PowerPoint 演示文稿</vt:lpstr>
      <vt:lpstr>PowerPoint 演示文稿</vt:lpstr>
      <vt:lpstr>第二节 实现线程的两种方式</vt:lpstr>
      <vt:lpstr>PowerPoint 演示文稿</vt:lpstr>
      <vt:lpstr>PowerPoint 演示文稿</vt:lpstr>
      <vt:lpstr>PowerPoint 演示文稿</vt:lpstr>
      <vt:lpstr>第三节 线程的控制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第四节 线程同步</vt:lpstr>
      <vt:lpstr>PowerPoint 演示文稿</vt:lpstr>
      <vt:lpstr>PowerPoint 演示文稿</vt:lpstr>
      <vt:lpstr>PowerPoint 演示文稿</vt:lpstr>
      <vt:lpstr>PowerPoint 演示文稿</vt:lpstr>
      <vt:lpstr>PowerPoint 演示文稿</vt:lpstr>
      <vt:lpstr>第五节 实现线程的其他方式</vt:lpstr>
      <vt:lpstr>PowerPoint 演示文稿</vt:lpstr>
      <vt:lpstr>PowerPoint 演示文稿</vt:lpstr>
      <vt:lpstr>第六节 Timer定时器</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柯媛媛</dc:creator>
  <cp:lastModifiedBy>Administrator</cp:lastModifiedBy>
  <cp:revision>4257</cp:revision>
  <dcterms:created xsi:type="dcterms:W3CDTF">2019-09-19T02:01:00Z</dcterms:created>
  <dcterms:modified xsi:type="dcterms:W3CDTF">2025-07-14T09:05:53Z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6D88039E787E4BB4AFD8E8A21E678F56_12</vt:lpwstr>
  </property>
</Properties>
</file>
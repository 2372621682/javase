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59"/>
  </p:handoutMasterIdLst>
  <p:sldIdLst>
    <p:sldId id="274" r:id="rId3"/>
    <p:sldId id="273" r:id="rId4"/>
    <p:sldId id="298" r:id="rId6"/>
    <p:sldId id="605" r:id="rId7"/>
    <p:sldId id="606" r:id="rId8"/>
    <p:sldId id="295" r:id="rId9"/>
    <p:sldId id="294" r:id="rId10"/>
    <p:sldId id="299" r:id="rId11"/>
    <p:sldId id="320" r:id="rId12"/>
    <p:sldId id="321" r:id="rId13"/>
    <p:sldId id="322" r:id="rId14"/>
    <p:sldId id="1010" r:id="rId15"/>
    <p:sldId id="329" r:id="rId16"/>
    <p:sldId id="330" r:id="rId17"/>
    <p:sldId id="331" r:id="rId18"/>
    <p:sldId id="332" r:id="rId19"/>
    <p:sldId id="333" r:id="rId20"/>
    <p:sldId id="334" r:id="rId21"/>
    <p:sldId id="335" r:id="rId22"/>
    <p:sldId id="2791" r:id="rId23"/>
    <p:sldId id="336" r:id="rId24"/>
    <p:sldId id="337" r:id="rId25"/>
    <p:sldId id="338" r:id="rId26"/>
    <p:sldId id="339" r:id="rId27"/>
    <p:sldId id="340" r:id="rId28"/>
    <p:sldId id="341" r:id="rId29"/>
    <p:sldId id="342" r:id="rId30"/>
    <p:sldId id="343" r:id="rId31"/>
    <p:sldId id="344" r:id="rId32"/>
    <p:sldId id="345" r:id="rId33"/>
    <p:sldId id="346" r:id="rId34"/>
    <p:sldId id="347" r:id="rId35"/>
    <p:sldId id="2192" r:id="rId36"/>
    <p:sldId id="2191" r:id="rId37"/>
    <p:sldId id="325" r:id="rId38"/>
    <p:sldId id="326" r:id="rId39"/>
    <p:sldId id="348" r:id="rId40"/>
    <p:sldId id="349" r:id="rId41"/>
    <p:sldId id="350" r:id="rId42"/>
    <p:sldId id="351" r:id="rId43"/>
    <p:sldId id="374" r:id="rId44"/>
    <p:sldId id="376" r:id="rId45"/>
    <p:sldId id="377" r:id="rId46"/>
    <p:sldId id="378" r:id="rId47"/>
    <p:sldId id="379" r:id="rId48"/>
    <p:sldId id="380" r:id="rId49"/>
    <p:sldId id="381" r:id="rId50"/>
    <p:sldId id="382" r:id="rId51"/>
    <p:sldId id="383" r:id="rId52"/>
    <p:sldId id="385" r:id="rId53"/>
    <p:sldId id="384" r:id="rId54"/>
    <p:sldId id="386" r:id="rId55"/>
    <p:sldId id="389" r:id="rId56"/>
    <p:sldId id="390" r:id="rId57"/>
    <p:sldId id="391" r:id="rId58"/>
    <p:sldId id="392" r:id="rId59"/>
    <p:sldId id="393" r:id="rId60"/>
    <p:sldId id="1395" r:id="rId61"/>
    <p:sldId id="1396" r:id="rId62"/>
    <p:sldId id="394" r:id="rId63"/>
    <p:sldId id="395" r:id="rId64"/>
    <p:sldId id="396" r:id="rId65"/>
    <p:sldId id="397" r:id="rId66"/>
    <p:sldId id="398" r:id="rId67"/>
    <p:sldId id="399" r:id="rId68"/>
    <p:sldId id="400" r:id="rId69"/>
    <p:sldId id="327" r:id="rId70"/>
    <p:sldId id="328" r:id="rId71"/>
    <p:sldId id="401" r:id="rId72"/>
    <p:sldId id="402" r:id="rId73"/>
    <p:sldId id="403" r:id="rId74"/>
    <p:sldId id="404" r:id="rId75"/>
    <p:sldId id="405" r:id="rId76"/>
    <p:sldId id="406" r:id="rId77"/>
    <p:sldId id="407" r:id="rId78"/>
    <p:sldId id="408" r:id="rId79"/>
    <p:sldId id="411" r:id="rId80"/>
    <p:sldId id="409" r:id="rId81"/>
    <p:sldId id="410" r:id="rId82"/>
    <p:sldId id="2515" r:id="rId83"/>
    <p:sldId id="412" r:id="rId84"/>
    <p:sldId id="2516" r:id="rId85"/>
    <p:sldId id="413" r:id="rId86"/>
    <p:sldId id="414" r:id="rId87"/>
    <p:sldId id="415" r:id="rId88"/>
    <p:sldId id="416" r:id="rId89"/>
    <p:sldId id="417" r:id="rId90"/>
    <p:sldId id="418" r:id="rId91"/>
    <p:sldId id="419" r:id="rId92"/>
    <p:sldId id="420" r:id="rId93"/>
    <p:sldId id="421" r:id="rId94"/>
    <p:sldId id="422" r:id="rId95"/>
    <p:sldId id="423" r:id="rId96"/>
    <p:sldId id="424" r:id="rId97"/>
    <p:sldId id="425" r:id="rId98"/>
    <p:sldId id="426" r:id="rId99"/>
    <p:sldId id="427" r:id="rId100"/>
    <p:sldId id="429" r:id="rId101"/>
    <p:sldId id="430" r:id="rId102"/>
    <p:sldId id="431" r:id="rId103"/>
    <p:sldId id="432" r:id="rId104"/>
    <p:sldId id="433" r:id="rId105"/>
    <p:sldId id="434" r:id="rId106"/>
    <p:sldId id="435" r:id="rId107"/>
    <p:sldId id="436" r:id="rId108"/>
    <p:sldId id="318" r:id="rId109"/>
    <p:sldId id="438" r:id="rId110"/>
    <p:sldId id="439" r:id="rId111"/>
    <p:sldId id="440" r:id="rId112"/>
    <p:sldId id="441" r:id="rId113"/>
    <p:sldId id="442" r:id="rId114"/>
    <p:sldId id="443" r:id="rId115"/>
    <p:sldId id="444" r:id="rId116"/>
    <p:sldId id="445" r:id="rId117"/>
    <p:sldId id="446" r:id="rId118"/>
    <p:sldId id="447" r:id="rId119"/>
    <p:sldId id="449" r:id="rId120"/>
    <p:sldId id="448" r:id="rId121"/>
    <p:sldId id="450" r:id="rId122"/>
    <p:sldId id="452" r:id="rId123"/>
    <p:sldId id="453" r:id="rId124"/>
    <p:sldId id="454" r:id="rId125"/>
    <p:sldId id="455" r:id="rId126"/>
    <p:sldId id="456" r:id="rId127"/>
    <p:sldId id="457" r:id="rId128"/>
    <p:sldId id="458" r:id="rId129"/>
    <p:sldId id="459" r:id="rId130"/>
    <p:sldId id="460" r:id="rId131"/>
    <p:sldId id="461" r:id="rId132"/>
    <p:sldId id="437" r:id="rId133"/>
    <p:sldId id="463" r:id="rId134"/>
    <p:sldId id="465" r:id="rId135"/>
    <p:sldId id="467" r:id="rId136"/>
    <p:sldId id="468" r:id="rId137"/>
    <p:sldId id="466" r:id="rId138"/>
    <p:sldId id="469" r:id="rId139"/>
    <p:sldId id="470" r:id="rId140"/>
    <p:sldId id="471" r:id="rId141"/>
    <p:sldId id="472" r:id="rId142"/>
    <p:sldId id="473" r:id="rId143"/>
    <p:sldId id="474" r:id="rId144"/>
    <p:sldId id="475" r:id="rId145"/>
    <p:sldId id="476" r:id="rId146"/>
    <p:sldId id="477" r:id="rId147"/>
    <p:sldId id="478" r:id="rId148"/>
    <p:sldId id="479" r:id="rId149"/>
    <p:sldId id="480" r:id="rId150"/>
    <p:sldId id="481" r:id="rId151"/>
    <p:sldId id="482" r:id="rId152"/>
    <p:sldId id="483" r:id="rId153"/>
    <p:sldId id="462" r:id="rId154"/>
    <p:sldId id="485" r:id="rId155"/>
    <p:sldId id="486" r:id="rId156"/>
    <p:sldId id="487" r:id="rId157"/>
    <p:sldId id="488" r:id="rId158"/>
    <p:sldId id="489" r:id="rId159"/>
    <p:sldId id="490" r:id="rId160"/>
    <p:sldId id="491" r:id="rId161"/>
    <p:sldId id="492" r:id="rId162"/>
    <p:sldId id="493" r:id="rId163"/>
    <p:sldId id="494" r:id="rId164"/>
    <p:sldId id="495" r:id="rId165"/>
    <p:sldId id="496" r:id="rId166"/>
    <p:sldId id="497" r:id="rId167"/>
    <p:sldId id="498" r:id="rId168"/>
    <p:sldId id="499" r:id="rId169"/>
    <p:sldId id="484" r:id="rId170"/>
    <p:sldId id="519" r:id="rId171"/>
    <p:sldId id="520" r:id="rId172"/>
    <p:sldId id="521" r:id="rId173"/>
    <p:sldId id="522" r:id="rId174"/>
    <p:sldId id="523" r:id="rId175"/>
    <p:sldId id="524" r:id="rId176"/>
    <p:sldId id="525" r:id="rId177"/>
    <p:sldId id="526" r:id="rId178"/>
    <p:sldId id="527" r:id="rId179"/>
    <p:sldId id="528" r:id="rId180"/>
    <p:sldId id="529" r:id="rId181"/>
    <p:sldId id="530" r:id="rId182"/>
    <p:sldId id="531" r:id="rId183"/>
    <p:sldId id="532" r:id="rId184"/>
    <p:sldId id="533" r:id="rId185"/>
    <p:sldId id="534" r:id="rId186"/>
    <p:sldId id="535" r:id="rId187"/>
    <p:sldId id="536" r:id="rId188"/>
    <p:sldId id="537" r:id="rId189"/>
    <p:sldId id="538" r:id="rId190"/>
    <p:sldId id="539" r:id="rId191"/>
    <p:sldId id="540" r:id="rId192"/>
    <p:sldId id="541" r:id="rId193"/>
    <p:sldId id="542" r:id="rId194"/>
    <p:sldId id="543" r:id="rId195"/>
    <p:sldId id="544" r:id="rId196"/>
    <p:sldId id="545" r:id="rId197"/>
    <p:sldId id="546" r:id="rId198"/>
    <p:sldId id="547" r:id="rId199"/>
    <p:sldId id="548" r:id="rId200"/>
    <p:sldId id="549" r:id="rId201"/>
    <p:sldId id="550" r:id="rId202"/>
    <p:sldId id="551" r:id="rId203"/>
    <p:sldId id="552" r:id="rId204"/>
    <p:sldId id="554" r:id="rId205"/>
    <p:sldId id="555" r:id="rId206"/>
    <p:sldId id="556" r:id="rId207"/>
    <p:sldId id="557" r:id="rId208"/>
    <p:sldId id="558" r:id="rId209"/>
    <p:sldId id="2193" r:id="rId210"/>
    <p:sldId id="2195" r:id="rId211"/>
    <p:sldId id="2194" r:id="rId212"/>
    <p:sldId id="611" r:id="rId213"/>
    <p:sldId id="612" r:id="rId214"/>
    <p:sldId id="615" r:id="rId215"/>
    <p:sldId id="618" r:id="rId216"/>
    <p:sldId id="619" r:id="rId217"/>
    <p:sldId id="620" r:id="rId218"/>
    <p:sldId id="621" r:id="rId219"/>
    <p:sldId id="622" r:id="rId220"/>
    <p:sldId id="623" r:id="rId221"/>
    <p:sldId id="624" r:id="rId222"/>
    <p:sldId id="625" r:id="rId223"/>
    <p:sldId id="626" r:id="rId224"/>
    <p:sldId id="627" r:id="rId225"/>
    <p:sldId id="628" r:id="rId226"/>
    <p:sldId id="629" r:id="rId227"/>
    <p:sldId id="630" r:id="rId228"/>
    <p:sldId id="632" r:id="rId229"/>
    <p:sldId id="613" r:id="rId230"/>
    <p:sldId id="633" r:id="rId231"/>
    <p:sldId id="1809" r:id="rId232"/>
    <p:sldId id="634" r:id="rId233"/>
    <p:sldId id="635" r:id="rId234"/>
    <p:sldId id="636" r:id="rId235"/>
    <p:sldId id="637" r:id="rId236"/>
    <p:sldId id="616" r:id="rId237"/>
    <p:sldId id="638" r:id="rId238"/>
    <p:sldId id="639" r:id="rId239"/>
    <p:sldId id="642" r:id="rId240"/>
    <p:sldId id="643" r:id="rId241"/>
    <p:sldId id="614" r:id="rId242"/>
    <p:sldId id="617" r:id="rId243"/>
    <p:sldId id="646" r:id="rId244"/>
    <p:sldId id="1991" r:id="rId245"/>
    <p:sldId id="651" r:id="rId246"/>
    <p:sldId id="652" r:id="rId247"/>
    <p:sldId id="653" r:id="rId248"/>
    <p:sldId id="656" r:id="rId249"/>
    <p:sldId id="657" r:id="rId250"/>
    <p:sldId id="658" r:id="rId251"/>
    <p:sldId id="659" r:id="rId252"/>
    <p:sldId id="660" r:id="rId253"/>
    <p:sldId id="661" r:id="rId254"/>
    <p:sldId id="663" r:id="rId255"/>
    <p:sldId id="664" r:id="rId256"/>
    <p:sldId id="666" r:id="rId257"/>
    <p:sldId id="667" r:id="rId258"/>
    <p:sldId id="668" r:id="rId259"/>
    <p:sldId id="2196" r:id="rId260"/>
    <p:sldId id="1993" r:id="rId261"/>
    <p:sldId id="1994" r:id="rId262"/>
    <p:sldId id="1995" r:id="rId263"/>
    <p:sldId id="1997" r:id="rId264"/>
    <p:sldId id="1996" r:id="rId265"/>
    <p:sldId id="1992" r:id="rId266"/>
    <p:sldId id="1998" r:id="rId267"/>
    <p:sldId id="1999" r:id="rId268"/>
    <p:sldId id="684" r:id="rId269"/>
    <p:sldId id="2000" r:id="rId270"/>
    <p:sldId id="2001" r:id="rId271"/>
    <p:sldId id="2150" r:id="rId272"/>
    <p:sldId id="685" r:id="rId273"/>
    <p:sldId id="687" r:id="rId274"/>
    <p:sldId id="689" r:id="rId275"/>
    <p:sldId id="690" r:id="rId276"/>
    <p:sldId id="692" r:id="rId277"/>
    <p:sldId id="686" r:id="rId278"/>
    <p:sldId id="688" r:id="rId279"/>
    <p:sldId id="2151" r:id="rId280"/>
    <p:sldId id="2152" r:id="rId281"/>
    <p:sldId id="693" r:id="rId282"/>
    <p:sldId id="2153" r:id="rId283"/>
    <p:sldId id="2155" r:id="rId284"/>
    <p:sldId id="2154" r:id="rId285"/>
    <p:sldId id="3126" r:id="rId286"/>
    <p:sldId id="2197" r:id="rId287"/>
    <p:sldId id="697" r:id="rId288"/>
    <p:sldId id="699" r:id="rId289"/>
    <p:sldId id="700" r:id="rId290"/>
    <p:sldId id="2157" r:id="rId291"/>
    <p:sldId id="2198" r:id="rId292"/>
    <p:sldId id="2158" r:id="rId293"/>
    <p:sldId id="2159" r:id="rId294"/>
    <p:sldId id="2160" r:id="rId295"/>
    <p:sldId id="2161" r:id="rId296"/>
    <p:sldId id="921" r:id="rId297"/>
    <p:sldId id="2164" r:id="rId298"/>
    <p:sldId id="922" r:id="rId299"/>
    <p:sldId id="698" r:id="rId300"/>
    <p:sldId id="928" r:id="rId301"/>
    <p:sldId id="941" r:id="rId302"/>
    <p:sldId id="942" r:id="rId303"/>
    <p:sldId id="945" r:id="rId304"/>
    <p:sldId id="946" r:id="rId305"/>
    <p:sldId id="610" r:id="rId306"/>
    <p:sldId id="951" r:id="rId307"/>
    <p:sldId id="954" r:id="rId308"/>
    <p:sldId id="2165" r:id="rId309"/>
    <p:sldId id="2166" r:id="rId310"/>
    <p:sldId id="957" r:id="rId311"/>
    <p:sldId id="2199" r:id="rId312"/>
    <p:sldId id="953" r:id="rId313"/>
    <p:sldId id="962" r:id="rId314"/>
    <p:sldId id="963" r:id="rId315"/>
    <p:sldId id="965" r:id="rId316"/>
    <p:sldId id="2167" r:id="rId317"/>
    <p:sldId id="975" r:id="rId318"/>
    <p:sldId id="2169" r:id="rId319"/>
    <p:sldId id="2170" r:id="rId320"/>
    <p:sldId id="2171" r:id="rId321"/>
    <p:sldId id="2172" r:id="rId322"/>
    <p:sldId id="2175" r:id="rId323"/>
    <p:sldId id="2176" r:id="rId324"/>
    <p:sldId id="2183" r:id="rId325"/>
    <p:sldId id="2182" r:id="rId326"/>
    <p:sldId id="985" r:id="rId327"/>
    <p:sldId id="986" r:id="rId328"/>
    <p:sldId id="989" r:id="rId329"/>
    <p:sldId id="990" r:id="rId330"/>
    <p:sldId id="991" r:id="rId331"/>
    <p:sldId id="992" r:id="rId332"/>
    <p:sldId id="993" r:id="rId333"/>
    <p:sldId id="994" r:id="rId334"/>
    <p:sldId id="987" r:id="rId335"/>
    <p:sldId id="995" r:id="rId336"/>
    <p:sldId id="997" r:id="rId337"/>
    <p:sldId id="998" r:id="rId338"/>
    <p:sldId id="999" r:id="rId339"/>
    <p:sldId id="988" r:id="rId340"/>
    <p:sldId id="996" r:id="rId341"/>
    <p:sldId id="2185" r:id="rId342"/>
    <p:sldId id="2186" r:id="rId343"/>
    <p:sldId id="1002" r:id="rId344"/>
    <p:sldId id="1767" r:id="rId345"/>
    <p:sldId id="1768" r:id="rId346"/>
    <p:sldId id="1773" r:id="rId347"/>
    <p:sldId id="2188" r:id="rId348"/>
    <p:sldId id="1769" r:id="rId349"/>
    <p:sldId id="1774" r:id="rId350"/>
    <p:sldId id="2187" r:id="rId351"/>
    <p:sldId id="1770" r:id="rId352"/>
    <p:sldId id="1775" r:id="rId353"/>
    <p:sldId id="2189" r:id="rId354"/>
    <p:sldId id="1771" r:id="rId355"/>
    <p:sldId id="1776" r:id="rId356"/>
    <p:sldId id="2190" r:id="rId357"/>
    <p:sldId id="258" r:id="rId358"/>
  </p:sldIdLst>
  <p:sldSz cx="12192000" cy="6858000"/>
  <p:notesSz cx="7103745" cy="10234295"/>
  <p:custDataLst>
    <p:tags r:id="rId3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2" userDrawn="1">
          <p15:clr>
            <a:srgbClr val="A4A3A4"/>
          </p15:clr>
        </p15:guide>
        <p15:guide id="2" pos="3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ED7D31"/>
    <a:srgbClr val="002562"/>
    <a:srgbClr val="01255A"/>
    <a:srgbClr val="002358"/>
    <a:srgbClr val="001D52"/>
    <a:srgbClr val="B2B2B2"/>
    <a:srgbClr val="202020"/>
    <a:srgbClr val="323232"/>
    <a:srgbClr val="CC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65" autoAdjust="0"/>
    <p:restoredTop sz="94660"/>
  </p:normalViewPr>
  <p:slideViewPr>
    <p:cSldViewPr snapToGrid="0" showGuides="1">
      <p:cViewPr varScale="1">
        <p:scale>
          <a:sx n="116" d="100"/>
          <a:sy n="116" d="100"/>
        </p:scale>
        <p:origin x="608" y="192"/>
      </p:cViewPr>
      <p:guideLst>
        <p:guide orient="horz" pos="2222"/>
        <p:guide pos="3892"/>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3" Type="http://schemas.openxmlformats.org/officeDocument/2006/relationships/tags" Target="tags/tag1222.xml"/><Relationship Id="rId362" Type="http://schemas.openxmlformats.org/officeDocument/2006/relationships/tableStyles" Target="tableStyles.xml"/><Relationship Id="rId361" Type="http://schemas.openxmlformats.org/officeDocument/2006/relationships/viewProps" Target="viewProps.xml"/><Relationship Id="rId360" Type="http://schemas.openxmlformats.org/officeDocument/2006/relationships/presProps" Target="presProps.xml"/><Relationship Id="rId36" Type="http://schemas.openxmlformats.org/officeDocument/2006/relationships/slide" Target="slides/slide33.xml"/><Relationship Id="rId359" Type="http://schemas.openxmlformats.org/officeDocument/2006/relationships/handoutMaster" Target="handoutMasters/handoutMaster1.xml"/><Relationship Id="rId358" Type="http://schemas.openxmlformats.org/officeDocument/2006/relationships/slide" Target="slides/slide355.xml"/><Relationship Id="rId357" Type="http://schemas.openxmlformats.org/officeDocument/2006/relationships/slide" Target="slides/slide354.xml"/><Relationship Id="rId356" Type="http://schemas.openxmlformats.org/officeDocument/2006/relationships/slide" Target="slides/slide353.xml"/><Relationship Id="rId355" Type="http://schemas.openxmlformats.org/officeDocument/2006/relationships/slide" Target="slides/slide352.xml"/><Relationship Id="rId354" Type="http://schemas.openxmlformats.org/officeDocument/2006/relationships/slide" Target="slides/slide351.xml"/><Relationship Id="rId353" Type="http://schemas.openxmlformats.org/officeDocument/2006/relationships/slide" Target="slides/slide350.xml"/><Relationship Id="rId352" Type="http://schemas.openxmlformats.org/officeDocument/2006/relationships/slide" Target="slides/slide349.xml"/><Relationship Id="rId351" Type="http://schemas.openxmlformats.org/officeDocument/2006/relationships/slide" Target="slides/slide348.xml"/><Relationship Id="rId350" Type="http://schemas.openxmlformats.org/officeDocument/2006/relationships/slide" Target="slides/slide347.xml"/><Relationship Id="rId35" Type="http://schemas.openxmlformats.org/officeDocument/2006/relationships/slide" Target="slides/slide32.xml"/><Relationship Id="rId349" Type="http://schemas.openxmlformats.org/officeDocument/2006/relationships/slide" Target="slides/slide346.xml"/><Relationship Id="rId348" Type="http://schemas.openxmlformats.org/officeDocument/2006/relationships/slide" Target="slides/slide345.xml"/><Relationship Id="rId347" Type="http://schemas.openxmlformats.org/officeDocument/2006/relationships/slide" Target="slides/slide344.xml"/><Relationship Id="rId346" Type="http://schemas.openxmlformats.org/officeDocument/2006/relationships/slide" Target="slides/slide343.xml"/><Relationship Id="rId345" Type="http://schemas.openxmlformats.org/officeDocument/2006/relationships/slide" Target="slides/slide342.xml"/><Relationship Id="rId344" Type="http://schemas.openxmlformats.org/officeDocument/2006/relationships/slide" Target="slides/slide341.xml"/><Relationship Id="rId343" Type="http://schemas.openxmlformats.org/officeDocument/2006/relationships/slide" Target="slides/slide340.xml"/><Relationship Id="rId342" Type="http://schemas.openxmlformats.org/officeDocument/2006/relationships/slide" Target="slides/slide339.xml"/><Relationship Id="rId341" Type="http://schemas.openxmlformats.org/officeDocument/2006/relationships/slide" Target="slides/slide338.xml"/><Relationship Id="rId340" Type="http://schemas.openxmlformats.org/officeDocument/2006/relationships/slide" Target="slides/slide337.xml"/><Relationship Id="rId34" Type="http://schemas.openxmlformats.org/officeDocument/2006/relationships/slide" Target="slides/slide31.xml"/><Relationship Id="rId339" Type="http://schemas.openxmlformats.org/officeDocument/2006/relationships/slide" Target="slides/slide336.xml"/><Relationship Id="rId338" Type="http://schemas.openxmlformats.org/officeDocument/2006/relationships/slide" Target="slides/slide335.xml"/><Relationship Id="rId337" Type="http://schemas.openxmlformats.org/officeDocument/2006/relationships/slide" Target="slides/slide334.xml"/><Relationship Id="rId336" Type="http://schemas.openxmlformats.org/officeDocument/2006/relationships/slide" Target="slides/slide333.xml"/><Relationship Id="rId335" Type="http://schemas.openxmlformats.org/officeDocument/2006/relationships/slide" Target="slides/slide332.xml"/><Relationship Id="rId334" Type="http://schemas.openxmlformats.org/officeDocument/2006/relationships/slide" Target="slides/slide331.xml"/><Relationship Id="rId333" Type="http://schemas.openxmlformats.org/officeDocument/2006/relationships/slide" Target="slides/slide330.xml"/><Relationship Id="rId332" Type="http://schemas.openxmlformats.org/officeDocument/2006/relationships/slide" Target="slides/slide329.xml"/><Relationship Id="rId331" Type="http://schemas.openxmlformats.org/officeDocument/2006/relationships/slide" Target="slides/slide328.xml"/><Relationship Id="rId330" Type="http://schemas.openxmlformats.org/officeDocument/2006/relationships/slide" Target="slides/slide327.xml"/><Relationship Id="rId33" Type="http://schemas.openxmlformats.org/officeDocument/2006/relationships/slide" Target="slides/slide30.xml"/><Relationship Id="rId329" Type="http://schemas.openxmlformats.org/officeDocument/2006/relationships/slide" Target="slides/slide326.xml"/><Relationship Id="rId328" Type="http://schemas.openxmlformats.org/officeDocument/2006/relationships/slide" Target="slides/slide325.xml"/><Relationship Id="rId327" Type="http://schemas.openxmlformats.org/officeDocument/2006/relationships/slide" Target="slides/slide324.xml"/><Relationship Id="rId326" Type="http://schemas.openxmlformats.org/officeDocument/2006/relationships/slide" Target="slides/slide323.xml"/><Relationship Id="rId325" Type="http://schemas.openxmlformats.org/officeDocument/2006/relationships/slide" Target="slides/slide322.xml"/><Relationship Id="rId324" Type="http://schemas.openxmlformats.org/officeDocument/2006/relationships/slide" Target="slides/slide321.xml"/><Relationship Id="rId323" Type="http://schemas.openxmlformats.org/officeDocument/2006/relationships/slide" Target="slides/slide320.xml"/><Relationship Id="rId322" Type="http://schemas.openxmlformats.org/officeDocument/2006/relationships/slide" Target="slides/slide319.xml"/><Relationship Id="rId321" Type="http://schemas.openxmlformats.org/officeDocument/2006/relationships/slide" Target="slides/slide318.xml"/><Relationship Id="rId320" Type="http://schemas.openxmlformats.org/officeDocument/2006/relationships/slide" Target="slides/slide317.xml"/><Relationship Id="rId32" Type="http://schemas.openxmlformats.org/officeDocument/2006/relationships/slide" Target="slides/slide29.xml"/><Relationship Id="rId319" Type="http://schemas.openxmlformats.org/officeDocument/2006/relationships/slide" Target="slides/slide316.xml"/><Relationship Id="rId318" Type="http://schemas.openxmlformats.org/officeDocument/2006/relationships/slide" Target="slides/slide315.xml"/><Relationship Id="rId317" Type="http://schemas.openxmlformats.org/officeDocument/2006/relationships/slide" Target="slides/slide314.xml"/><Relationship Id="rId316" Type="http://schemas.openxmlformats.org/officeDocument/2006/relationships/slide" Target="slides/slide313.xml"/><Relationship Id="rId315" Type="http://schemas.openxmlformats.org/officeDocument/2006/relationships/slide" Target="slides/slide312.xml"/><Relationship Id="rId314" Type="http://schemas.openxmlformats.org/officeDocument/2006/relationships/slide" Target="slides/slide311.xml"/><Relationship Id="rId313" Type="http://schemas.openxmlformats.org/officeDocument/2006/relationships/slide" Target="slides/slide310.xml"/><Relationship Id="rId312" Type="http://schemas.openxmlformats.org/officeDocument/2006/relationships/slide" Target="slides/slide309.xml"/><Relationship Id="rId311" Type="http://schemas.openxmlformats.org/officeDocument/2006/relationships/slide" Target="slides/slide308.xml"/><Relationship Id="rId310" Type="http://schemas.openxmlformats.org/officeDocument/2006/relationships/slide" Target="slides/slide307.xml"/><Relationship Id="rId31" Type="http://schemas.openxmlformats.org/officeDocument/2006/relationships/slide" Target="slides/slide28.xml"/><Relationship Id="rId309" Type="http://schemas.openxmlformats.org/officeDocument/2006/relationships/slide" Target="slides/slide306.xml"/><Relationship Id="rId308" Type="http://schemas.openxmlformats.org/officeDocument/2006/relationships/slide" Target="slides/slide305.xml"/><Relationship Id="rId307" Type="http://schemas.openxmlformats.org/officeDocument/2006/relationships/slide" Target="slides/slide304.xml"/><Relationship Id="rId306" Type="http://schemas.openxmlformats.org/officeDocument/2006/relationships/slide" Target="slides/slide303.xml"/><Relationship Id="rId305" Type="http://schemas.openxmlformats.org/officeDocument/2006/relationships/slide" Target="slides/slide302.xml"/><Relationship Id="rId304" Type="http://schemas.openxmlformats.org/officeDocument/2006/relationships/slide" Target="slides/slide301.xml"/><Relationship Id="rId303" Type="http://schemas.openxmlformats.org/officeDocument/2006/relationships/slide" Target="slides/slide300.xml"/><Relationship Id="rId302" Type="http://schemas.openxmlformats.org/officeDocument/2006/relationships/slide" Target="slides/slide299.xml"/><Relationship Id="rId301" Type="http://schemas.openxmlformats.org/officeDocument/2006/relationships/slide" Target="slides/slide298.xml"/><Relationship Id="rId300" Type="http://schemas.openxmlformats.org/officeDocument/2006/relationships/slide" Target="slides/slide297.xml"/><Relationship Id="rId30" Type="http://schemas.openxmlformats.org/officeDocument/2006/relationships/slide" Target="slides/slide27.xml"/><Relationship Id="rId3" Type="http://schemas.openxmlformats.org/officeDocument/2006/relationships/slide" Target="slides/slide1.xml"/><Relationship Id="rId299" Type="http://schemas.openxmlformats.org/officeDocument/2006/relationships/slide" Target="slides/slide296.xml"/><Relationship Id="rId298" Type="http://schemas.openxmlformats.org/officeDocument/2006/relationships/slide" Target="slides/slide295.xml"/><Relationship Id="rId297" Type="http://schemas.openxmlformats.org/officeDocument/2006/relationships/slide" Target="slides/slide294.xml"/><Relationship Id="rId296" Type="http://schemas.openxmlformats.org/officeDocument/2006/relationships/slide" Target="slides/slide293.xml"/><Relationship Id="rId295" Type="http://schemas.openxmlformats.org/officeDocument/2006/relationships/slide" Target="slides/slide292.xml"/><Relationship Id="rId294" Type="http://schemas.openxmlformats.org/officeDocument/2006/relationships/slide" Target="slides/slide291.xml"/><Relationship Id="rId293" Type="http://schemas.openxmlformats.org/officeDocument/2006/relationships/slide" Target="slides/slide290.xml"/><Relationship Id="rId292" Type="http://schemas.openxmlformats.org/officeDocument/2006/relationships/slide" Target="slides/slide289.xml"/><Relationship Id="rId291" Type="http://schemas.openxmlformats.org/officeDocument/2006/relationships/slide" Target="slides/slide288.xml"/><Relationship Id="rId290" Type="http://schemas.openxmlformats.org/officeDocument/2006/relationships/slide" Target="slides/slide287.xml"/><Relationship Id="rId29" Type="http://schemas.openxmlformats.org/officeDocument/2006/relationships/slide" Target="slides/slide26.xml"/><Relationship Id="rId289" Type="http://schemas.openxmlformats.org/officeDocument/2006/relationships/slide" Target="slides/slide286.xml"/><Relationship Id="rId288" Type="http://schemas.openxmlformats.org/officeDocument/2006/relationships/slide" Target="slides/slide285.xml"/><Relationship Id="rId287" Type="http://schemas.openxmlformats.org/officeDocument/2006/relationships/slide" Target="slides/slide284.xml"/><Relationship Id="rId286" Type="http://schemas.openxmlformats.org/officeDocument/2006/relationships/slide" Target="slides/slide283.xml"/><Relationship Id="rId285" Type="http://schemas.openxmlformats.org/officeDocument/2006/relationships/slide" Target="slides/slide282.xml"/><Relationship Id="rId284" Type="http://schemas.openxmlformats.org/officeDocument/2006/relationships/slide" Target="slides/slide281.xml"/><Relationship Id="rId283" Type="http://schemas.openxmlformats.org/officeDocument/2006/relationships/slide" Target="slides/slide280.xml"/><Relationship Id="rId282" Type="http://schemas.openxmlformats.org/officeDocument/2006/relationships/slide" Target="slides/slide279.xml"/><Relationship Id="rId281" Type="http://schemas.openxmlformats.org/officeDocument/2006/relationships/slide" Target="slides/slide278.xml"/><Relationship Id="rId280" Type="http://schemas.openxmlformats.org/officeDocument/2006/relationships/slide" Target="slides/slide277.xml"/><Relationship Id="rId28" Type="http://schemas.openxmlformats.org/officeDocument/2006/relationships/slide" Target="slides/slide25.xml"/><Relationship Id="rId279" Type="http://schemas.openxmlformats.org/officeDocument/2006/relationships/slide" Target="slides/slide276.xml"/><Relationship Id="rId278" Type="http://schemas.openxmlformats.org/officeDocument/2006/relationships/slide" Target="slides/slide275.xml"/><Relationship Id="rId277" Type="http://schemas.openxmlformats.org/officeDocument/2006/relationships/slide" Target="slides/slide274.xml"/><Relationship Id="rId276" Type="http://schemas.openxmlformats.org/officeDocument/2006/relationships/slide" Target="slides/slide273.xml"/><Relationship Id="rId275" Type="http://schemas.openxmlformats.org/officeDocument/2006/relationships/slide" Target="slides/slide272.xml"/><Relationship Id="rId274" Type="http://schemas.openxmlformats.org/officeDocument/2006/relationships/slide" Target="slides/slide271.xml"/><Relationship Id="rId273" Type="http://schemas.openxmlformats.org/officeDocument/2006/relationships/slide" Target="slides/slide270.xml"/><Relationship Id="rId272" Type="http://schemas.openxmlformats.org/officeDocument/2006/relationships/slide" Target="slides/slide269.xml"/><Relationship Id="rId271" Type="http://schemas.openxmlformats.org/officeDocument/2006/relationships/slide" Target="slides/slide268.xml"/><Relationship Id="rId270" Type="http://schemas.openxmlformats.org/officeDocument/2006/relationships/slide" Target="slides/slide267.xml"/><Relationship Id="rId27" Type="http://schemas.openxmlformats.org/officeDocument/2006/relationships/slide" Target="slides/slide24.xml"/><Relationship Id="rId269" Type="http://schemas.openxmlformats.org/officeDocument/2006/relationships/slide" Target="slides/slide266.xml"/><Relationship Id="rId268" Type="http://schemas.openxmlformats.org/officeDocument/2006/relationships/slide" Target="slides/slide265.xml"/><Relationship Id="rId267" Type="http://schemas.openxmlformats.org/officeDocument/2006/relationships/slide" Target="slides/slide264.xml"/><Relationship Id="rId266" Type="http://schemas.openxmlformats.org/officeDocument/2006/relationships/slide" Target="slides/slide263.xml"/><Relationship Id="rId265" Type="http://schemas.openxmlformats.org/officeDocument/2006/relationships/slide" Target="slides/slide262.xml"/><Relationship Id="rId264" Type="http://schemas.openxmlformats.org/officeDocument/2006/relationships/slide" Target="slides/slide261.xml"/><Relationship Id="rId263" Type="http://schemas.openxmlformats.org/officeDocument/2006/relationships/slide" Target="slides/slide260.xml"/><Relationship Id="rId262" Type="http://schemas.openxmlformats.org/officeDocument/2006/relationships/slide" Target="slides/slide259.xml"/><Relationship Id="rId261" Type="http://schemas.openxmlformats.org/officeDocument/2006/relationships/slide" Target="slides/slide258.xml"/><Relationship Id="rId260" Type="http://schemas.openxmlformats.org/officeDocument/2006/relationships/slide" Target="slides/slide257.xml"/><Relationship Id="rId26" Type="http://schemas.openxmlformats.org/officeDocument/2006/relationships/slide" Target="slides/slide23.xml"/><Relationship Id="rId259" Type="http://schemas.openxmlformats.org/officeDocument/2006/relationships/slide" Target="slides/slide256.xml"/><Relationship Id="rId258" Type="http://schemas.openxmlformats.org/officeDocument/2006/relationships/slide" Target="slides/slide255.xml"/><Relationship Id="rId257" Type="http://schemas.openxmlformats.org/officeDocument/2006/relationships/slide" Target="slides/slide254.xml"/><Relationship Id="rId256" Type="http://schemas.openxmlformats.org/officeDocument/2006/relationships/slide" Target="slides/slide253.xml"/><Relationship Id="rId255" Type="http://schemas.openxmlformats.org/officeDocument/2006/relationships/slide" Target="slides/slide252.xml"/><Relationship Id="rId254" Type="http://schemas.openxmlformats.org/officeDocument/2006/relationships/slide" Target="slides/slide251.xml"/><Relationship Id="rId253" Type="http://schemas.openxmlformats.org/officeDocument/2006/relationships/slide" Target="slides/slide250.xml"/><Relationship Id="rId252" Type="http://schemas.openxmlformats.org/officeDocument/2006/relationships/slide" Target="slides/slide249.xml"/><Relationship Id="rId251" Type="http://schemas.openxmlformats.org/officeDocument/2006/relationships/slide" Target="slides/slide248.xml"/><Relationship Id="rId250" Type="http://schemas.openxmlformats.org/officeDocument/2006/relationships/slide" Target="slides/slide247.xml"/><Relationship Id="rId25" Type="http://schemas.openxmlformats.org/officeDocument/2006/relationships/slide" Target="slides/slide22.xml"/><Relationship Id="rId249" Type="http://schemas.openxmlformats.org/officeDocument/2006/relationships/slide" Target="slides/slide246.xml"/><Relationship Id="rId248" Type="http://schemas.openxmlformats.org/officeDocument/2006/relationships/slide" Target="slides/slide245.xml"/><Relationship Id="rId247" Type="http://schemas.openxmlformats.org/officeDocument/2006/relationships/slide" Target="slides/slide244.xml"/><Relationship Id="rId246" Type="http://schemas.openxmlformats.org/officeDocument/2006/relationships/slide" Target="slides/slide243.xml"/><Relationship Id="rId245" Type="http://schemas.openxmlformats.org/officeDocument/2006/relationships/slide" Target="slides/slide242.xml"/><Relationship Id="rId244" Type="http://schemas.openxmlformats.org/officeDocument/2006/relationships/slide" Target="slides/slide241.xml"/><Relationship Id="rId243" Type="http://schemas.openxmlformats.org/officeDocument/2006/relationships/slide" Target="slides/slide240.xml"/><Relationship Id="rId242" Type="http://schemas.openxmlformats.org/officeDocument/2006/relationships/slide" Target="slides/slide239.xml"/><Relationship Id="rId241" Type="http://schemas.openxmlformats.org/officeDocument/2006/relationships/slide" Target="slides/slide238.xml"/><Relationship Id="rId240" Type="http://schemas.openxmlformats.org/officeDocument/2006/relationships/slide" Target="slides/slide237.xml"/><Relationship Id="rId24" Type="http://schemas.openxmlformats.org/officeDocument/2006/relationships/slide" Target="slides/slide21.xml"/><Relationship Id="rId239" Type="http://schemas.openxmlformats.org/officeDocument/2006/relationships/slide" Target="slides/slide236.xml"/><Relationship Id="rId238" Type="http://schemas.openxmlformats.org/officeDocument/2006/relationships/slide" Target="slides/slide235.xml"/><Relationship Id="rId237" Type="http://schemas.openxmlformats.org/officeDocument/2006/relationships/slide" Target="slides/slide234.xml"/><Relationship Id="rId236" Type="http://schemas.openxmlformats.org/officeDocument/2006/relationships/slide" Target="slides/slide233.xml"/><Relationship Id="rId235" Type="http://schemas.openxmlformats.org/officeDocument/2006/relationships/slide" Target="slides/slide232.xml"/><Relationship Id="rId234" Type="http://schemas.openxmlformats.org/officeDocument/2006/relationships/slide" Target="slides/slide231.xml"/><Relationship Id="rId233" Type="http://schemas.openxmlformats.org/officeDocument/2006/relationships/slide" Target="slides/slide230.xml"/><Relationship Id="rId232" Type="http://schemas.openxmlformats.org/officeDocument/2006/relationships/slide" Target="slides/slide229.xml"/><Relationship Id="rId231" Type="http://schemas.openxmlformats.org/officeDocument/2006/relationships/slide" Target="slides/slide228.xml"/><Relationship Id="rId230" Type="http://schemas.openxmlformats.org/officeDocument/2006/relationships/slide" Target="slides/slide227.xml"/><Relationship Id="rId23" Type="http://schemas.openxmlformats.org/officeDocument/2006/relationships/slide" Target="slides/slide20.xml"/><Relationship Id="rId229" Type="http://schemas.openxmlformats.org/officeDocument/2006/relationships/slide" Target="slides/slide226.xml"/><Relationship Id="rId228" Type="http://schemas.openxmlformats.org/officeDocument/2006/relationships/slide" Target="slides/slide225.xml"/><Relationship Id="rId227" Type="http://schemas.openxmlformats.org/officeDocument/2006/relationships/slide" Target="slides/slide224.xml"/><Relationship Id="rId226" Type="http://schemas.openxmlformats.org/officeDocument/2006/relationships/slide" Target="slides/slide223.xml"/><Relationship Id="rId225" Type="http://schemas.openxmlformats.org/officeDocument/2006/relationships/slide" Target="slides/slide222.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https://developer.oracle.com/</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public class Student {</a:t>
            </a:r>
            <a:endParaRPr lang="zh-CN" altLang="en-US"/>
          </a:p>
          <a:p>
            <a:r>
              <a:rPr lang="zh-CN" altLang="en-US"/>
              <a:t>    private static int currentStudnetNO = 0;</a:t>
            </a:r>
            <a:endParaRPr lang="zh-CN" altLang="en-US"/>
          </a:p>
          <a:p>
            <a:r>
              <a:rPr lang="zh-CN" altLang="en-US"/>
              <a:t>    public static  int getCurrentStudnetNO(){</a:t>
            </a:r>
            <a:endParaRPr lang="zh-CN" altLang="en-US"/>
          </a:p>
          <a:p>
            <a:r>
              <a:rPr lang="zh-CN" altLang="en-US"/>
              <a:t>        return  ++ currentStudnetNO;</a:t>
            </a:r>
            <a:endParaRPr lang="zh-CN" altLang="en-US"/>
          </a:p>
          <a:p>
            <a:r>
              <a:rPr lang="zh-CN" altLang="en-US"/>
              <a:t>    }</a:t>
            </a:r>
            <a:endParaRPr lang="zh-CN" altLang="en-US"/>
          </a:p>
          <a:p>
            <a:r>
              <a:rPr lang="zh-CN" altLang="en-US"/>
              <a:t>}</a:t>
            </a:r>
            <a:endParaRPr lang="zh-CN" altLang="en-US"/>
          </a:p>
          <a:p>
            <a:r>
              <a:rPr lang="zh-CN" altLang="en-US"/>
              <a:t>class Test{</a:t>
            </a:r>
            <a:endParaRPr lang="zh-CN" altLang="en-US"/>
          </a:p>
          <a:p>
            <a:r>
              <a:rPr lang="zh-CN" altLang="en-US"/>
              <a:t>    public static void main(String[] args) {</a:t>
            </a:r>
            <a:endParaRPr lang="zh-CN" altLang="en-US"/>
          </a:p>
          <a:p>
            <a:r>
              <a:rPr lang="zh-CN" altLang="en-US"/>
              <a:t>        System.out.println(Student.getCurrentStudnetNO());</a:t>
            </a:r>
            <a:endParaRPr lang="zh-CN" altLang="en-US"/>
          </a:p>
          <a:p>
            <a:r>
              <a:rPr lang="zh-CN" altLang="en-US"/>
              <a:t>        System.out.println(Student.getCurrentStudnetNO());</a:t>
            </a:r>
            <a:endParaRPr lang="zh-CN" altLang="en-US"/>
          </a:p>
          <a:p>
            <a:r>
              <a:rPr lang="zh-CN" altLang="en-US"/>
              <a:t>        Student student = new Student();</a:t>
            </a:r>
            <a:endParaRPr lang="zh-CN" altLang="en-US"/>
          </a:p>
          <a:p>
            <a:r>
              <a:rPr lang="zh-CN" altLang="en-US"/>
              <a:t>        System.out.println(student.getCurrentStudnetNO());</a:t>
            </a:r>
            <a:endParaRPr lang="zh-CN" altLang="en-US"/>
          </a:p>
          <a:p>
            <a:r>
              <a:rPr lang="zh-CN" altLang="en-US"/>
              <a:t>    }</a:t>
            </a:r>
            <a:endParaRPr lang="zh-CN" altLang="en-US"/>
          </a:p>
          <a:p>
            <a:r>
              <a:rPr lang="zh-CN" altLang="en-US"/>
              <a:t>}</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slow" p14:dur="2000" advTm="3000">
        <p:random/>
      </p:transition>
    </mc:Choice>
    <mc:Fallback>
      <p:transition spd="slow" advTm="3000">
        <p:random/>
      </p:transition>
    </mc:Fallback>
  </mc:AlternateConten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3.png"/><Relationship Id="rId5" Type="http://schemas.openxmlformats.org/officeDocument/2006/relationships/tags" Target="../tags/tag3.xml"/><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slideLayout" Target="../slideLayouts/slideLayout1.xml"/><Relationship Id="rId10" Type="http://schemas.openxmlformats.org/officeDocument/2006/relationships/tags" Target="../tags/tag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7" Type="http://schemas.openxmlformats.org/officeDocument/2006/relationships/notesSlide" Target="../notesSlides/notesSlide1.xml"/><Relationship Id="rId26" Type="http://schemas.openxmlformats.org/officeDocument/2006/relationships/slideLayout" Target="../slideLayouts/slideLayout2.xml"/><Relationship Id="rId25" Type="http://schemas.openxmlformats.org/officeDocument/2006/relationships/tags" Target="../tags/tag31.xml"/><Relationship Id="rId24" Type="http://schemas.openxmlformats.org/officeDocument/2006/relationships/tags" Target="../tags/tag30.xml"/><Relationship Id="rId23" Type="http://schemas.openxmlformats.org/officeDocument/2006/relationships/tags" Target="../tags/tag29.xml"/><Relationship Id="rId22" Type="http://schemas.openxmlformats.org/officeDocument/2006/relationships/image" Target="../media/image3.png"/><Relationship Id="rId21" Type="http://schemas.openxmlformats.org/officeDocument/2006/relationships/tags" Target="../tags/tag28.xml"/><Relationship Id="rId20" Type="http://schemas.openxmlformats.org/officeDocument/2006/relationships/tags" Target="../tags/tag27.xml"/><Relationship Id="rId2" Type="http://schemas.openxmlformats.org/officeDocument/2006/relationships/tags" Target="../tags/tag9.xml"/><Relationship Id="rId19" Type="http://schemas.openxmlformats.org/officeDocument/2006/relationships/tags" Target="../tags/tag26.xml"/><Relationship Id="rId18" Type="http://schemas.openxmlformats.org/officeDocument/2006/relationships/tags" Target="../tags/tag25.xml"/><Relationship Id="rId17" Type="http://schemas.openxmlformats.org/officeDocument/2006/relationships/tags" Target="../tags/tag24.xml"/><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7" Type="http://schemas.openxmlformats.org/officeDocument/2006/relationships/notesSlide" Target="../notesSlides/notesSlide2.xml"/><Relationship Id="rId26" Type="http://schemas.openxmlformats.org/officeDocument/2006/relationships/slideLayout" Target="../slideLayouts/slideLayout2.xml"/><Relationship Id="rId25" Type="http://schemas.openxmlformats.org/officeDocument/2006/relationships/tags" Target="../tags/tag55.xml"/><Relationship Id="rId24" Type="http://schemas.openxmlformats.org/officeDocument/2006/relationships/tags" Target="../tags/tag54.xml"/><Relationship Id="rId23" Type="http://schemas.openxmlformats.org/officeDocument/2006/relationships/tags" Target="../tags/tag53.xml"/><Relationship Id="rId22" Type="http://schemas.openxmlformats.org/officeDocument/2006/relationships/image" Target="../media/image3.png"/><Relationship Id="rId21" Type="http://schemas.openxmlformats.org/officeDocument/2006/relationships/tags" Target="../tags/tag52.xml"/><Relationship Id="rId20" Type="http://schemas.openxmlformats.org/officeDocument/2006/relationships/tags" Target="../tags/tag51.xml"/><Relationship Id="rId2" Type="http://schemas.openxmlformats.org/officeDocument/2006/relationships/tags" Target="../tags/tag33.xml"/><Relationship Id="rId19" Type="http://schemas.openxmlformats.org/officeDocument/2006/relationships/tags" Target="../tags/tag50.xml"/><Relationship Id="rId18" Type="http://schemas.openxmlformats.org/officeDocument/2006/relationships/tags" Target="../tags/tag49.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tags" Target="../tags/tag32.xml"/></Relationships>
</file>

<file path=ppt/slides/_rels/slide4.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7" Type="http://schemas.openxmlformats.org/officeDocument/2006/relationships/notesSlide" Target="../notesSlides/notesSlide3.xml"/><Relationship Id="rId26" Type="http://schemas.openxmlformats.org/officeDocument/2006/relationships/slideLayout" Target="../slideLayouts/slideLayout2.xml"/><Relationship Id="rId25" Type="http://schemas.openxmlformats.org/officeDocument/2006/relationships/tags" Target="../tags/tag79.xml"/><Relationship Id="rId24" Type="http://schemas.openxmlformats.org/officeDocument/2006/relationships/tags" Target="../tags/tag78.xml"/><Relationship Id="rId23" Type="http://schemas.openxmlformats.org/officeDocument/2006/relationships/tags" Target="../tags/tag77.xml"/><Relationship Id="rId22" Type="http://schemas.openxmlformats.org/officeDocument/2006/relationships/image" Target="../media/image3.png"/><Relationship Id="rId21" Type="http://schemas.openxmlformats.org/officeDocument/2006/relationships/tags" Target="../tags/tag76.xml"/><Relationship Id="rId20" Type="http://schemas.openxmlformats.org/officeDocument/2006/relationships/tags" Target="../tags/tag75.xml"/><Relationship Id="rId2" Type="http://schemas.openxmlformats.org/officeDocument/2006/relationships/tags" Target="../tags/tag57.xml"/><Relationship Id="rId19" Type="http://schemas.openxmlformats.org/officeDocument/2006/relationships/tags" Target="../tags/tag74.xml"/><Relationship Id="rId18" Type="http://schemas.openxmlformats.org/officeDocument/2006/relationships/tags" Target="../tags/tag73.xml"/><Relationship Id="rId17" Type="http://schemas.openxmlformats.org/officeDocument/2006/relationships/tags" Target="../tags/tag72.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5.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7" Type="http://schemas.openxmlformats.org/officeDocument/2006/relationships/notesSlide" Target="../notesSlides/notesSlide4.xml"/><Relationship Id="rId26" Type="http://schemas.openxmlformats.org/officeDocument/2006/relationships/slideLayout" Target="../slideLayouts/slideLayout2.xml"/><Relationship Id="rId25" Type="http://schemas.openxmlformats.org/officeDocument/2006/relationships/tags" Target="../tags/tag103.xml"/><Relationship Id="rId24" Type="http://schemas.openxmlformats.org/officeDocument/2006/relationships/tags" Target="../tags/tag102.xml"/><Relationship Id="rId23" Type="http://schemas.openxmlformats.org/officeDocument/2006/relationships/tags" Target="../tags/tag101.xml"/><Relationship Id="rId22" Type="http://schemas.openxmlformats.org/officeDocument/2006/relationships/image" Target="../media/image3.png"/><Relationship Id="rId21" Type="http://schemas.openxmlformats.org/officeDocument/2006/relationships/tags" Target="../tags/tag100.xml"/><Relationship Id="rId20" Type="http://schemas.openxmlformats.org/officeDocument/2006/relationships/tags" Target="../tags/tag99.xml"/><Relationship Id="rId2" Type="http://schemas.openxmlformats.org/officeDocument/2006/relationships/tags" Target="../tags/tag81.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tags" Target="../tags/tag80.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image" Target="../media/image3.png"/><Relationship Id="rId1" Type="http://schemas.openxmlformats.org/officeDocument/2006/relationships/tags" Target="../tags/tag104.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image" Target="../media/image3.png"/><Relationship Id="rId2" Type="http://schemas.openxmlformats.org/officeDocument/2006/relationships/tags" Target="../tags/tag108.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tags" Target="../tags/tag128.xml"/><Relationship Id="rId3" Type="http://schemas.openxmlformats.org/officeDocument/2006/relationships/image" Target="../media/image3.png"/><Relationship Id="rId2" Type="http://schemas.openxmlformats.org/officeDocument/2006/relationships/tags" Target="../tags/tag127.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5.png"/><Relationship Id="rId4" Type="http://schemas.openxmlformats.org/officeDocument/2006/relationships/image" Target="../media/image3.png"/><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3.png"/><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image" Target="../media/image3.png"/><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0.xml"/><Relationship Id="rId5" Type="http://schemas.openxmlformats.org/officeDocument/2006/relationships/image" Target="../media/image8.png"/><Relationship Id="rId4" Type="http://schemas.openxmlformats.org/officeDocument/2006/relationships/image" Target="../media/image3.png"/><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9.png"/><Relationship Id="rId4" Type="http://schemas.openxmlformats.org/officeDocument/2006/relationships/image" Target="../media/image3.png"/><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image" Target="../media/image3.png"/><Relationship Id="rId2" Type="http://schemas.openxmlformats.org/officeDocument/2006/relationships/tags" Target="../tags/tag152.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3.png"/><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image" Target="../media/image3.png"/><Relationship Id="rId2" Type="http://schemas.openxmlformats.org/officeDocument/2006/relationships/tags" Target="../tags/tag177.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3.png"/><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s>
</file>

<file path=ppt/slides/_rels/slide3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image" Target="../media/image3.png"/><Relationship Id="rId2" Type="http://schemas.openxmlformats.org/officeDocument/2006/relationships/tags" Target="../tags/tag193.xml"/><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tags" Target="../tags/tag200.xml"/><Relationship Id="rId4" Type="http://schemas.openxmlformats.org/officeDocument/2006/relationships/tags" Target="../tags/tag199.xml"/><Relationship Id="rId3" Type="http://schemas.openxmlformats.org/officeDocument/2006/relationships/tags" Target="../tags/tag198.xml"/><Relationship Id="rId2" Type="http://schemas.openxmlformats.org/officeDocument/2006/relationships/image" Target="../media/image3.png"/><Relationship Id="rId1" Type="http://schemas.openxmlformats.org/officeDocument/2006/relationships/tags" Target="../tags/tag197.xml"/></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image" Target="../media/image3.png"/><Relationship Id="rId2" Type="http://schemas.openxmlformats.org/officeDocument/2006/relationships/tags" Target="../tags/tag201.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28.xml"/><Relationship Id="rId2" Type="http://schemas.openxmlformats.org/officeDocument/2006/relationships/tags" Target="../tags/tag227.xml"/><Relationship Id="rId1" Type="http://schemas.openxmlformats.org/officeDocument/2006/relationships/tags" Target="../tags/tag226.xml"/></Relationships>
</file>

<file path=ppt/slides/_rels/slide4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image" Target="../media/image3.png"/><Relationship Id="rId2" Type="http://schemas.openxmlformats.org/officeDocument/2006/relationships/tags" Target="../tags/tag229.xml"/><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36.xml"/><Relationship Id="rId4" Type="http://schemas.openxmlformats.org/officeDocument/2006/relationships/image" Target="../media/image3.png"/><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s>
</file>

<file path=ppt/slides/_rels/slide47.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40.xml"/><Relationship Id="rId4" Type="http://schemas.openxmlformats.org/officeDocument/2006/relationships/image" Target="../media/image3.png"/><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46.xml"/><Relationship Id="rId2" Type="http://schemas.openxmlformats.org/officeDocument/2006/relationships/tags" Target="../tags/tag245.xml"/><Relationship Id="rId1" Type="http://schemas.openxmlformats.org/officeDocument/2006/relationships/tags" Target="../tags/tag244.xml"/></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49.xml"/><Relationship Id="rId2" Type="http://schemas.openxmlformats.org/officeDocument/2006/relationships/tags" Target="../tags/tag248.xml"/><Relationship Id="rId1" Type="http://schemas.openxmlformats.org/officeDocument/2006/relationships/tags" Target="../tags/tag247.xml"/></Relationships>
</file>

<file path=ppt/slides/_rels/slide51.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53.xml"/><Relationship Id="rId4" Type="http://schemas.openxmlformats.org/officeDocument/2006/relationships/image" Target="../media/image3.png"/><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57.xml"/><Relationship Id="rId4" Type="http://schemas.openxmlformats.org/officeDocument/2006/relationships/image" Target="../media/image3.png"/><Relationship Id="rId3" Type="http://schemas.openxmlformats.org/officeDocument/2006/relationships/tags" Target="../tags/tag256.xml"/><Relationship Id="rId2" Type="http://schemas.openxmlformats.org/officeDocument/2006/relationships/tags" Target="../tags/tag255.xml"/><Relationship Id="rId1" Type="http://schemas.openxmlformats.org/officeDocument/2006/relationships/tags" Target="../tags/tag254.xml"/></Relationships>
</file>

<file path=ppt/slides/_rels/slide5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61.xml"/><Relationship Id="rId5" Type="http://schemas.openxmlformats.org/officeDocument/2006/relationships/tags" Target="../tags/tag260.xml"/><Relationship Id="rId4" Type="http://schemas.openxmlformats.org/officeDocument/2006/relationships/tags" Target="../tags/tag259.xml"/><Relationship Id="rId3" Type="http://schemas.openxmlformats.org/officeDocument/2006/relationships/image" Target="../media/image3.png"/><Relationship Id="rId2" Type="http://schemas.openxmlformats.org/officeDocument/2006/relationships/tags" Target="../tags/tag258.xml"/><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tags" Target="../tags/tag262.xml"/></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67.xml"/><Relationship Id="rId2" Type="http://schemas.openxmlformats.org/officeDocument/2006/relationships/tags" Target="../tags/tag266.xml"/><Relationship Id="rId1" Type="http://schemas.openxmlformats.org/officeDocument/2006/relationships/tags" Target="../tags/tag265.xml"/></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73.xml"/><Relationship Id="rId2" Type="http://schemas.openxmlformats.org/officeDocument/2006/relationships/tags" Target="../tags/tag272.xml"/><Relationship Id="rId1" Type="http://schemas.openxmlformats.org/officeDocument/2006/relationships/tags" Target="../tags/tag271.xml"/></Relationships>
</file>

<file path=ppt/slides/_rels/slide58.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77.xml"/><Relationship Id="rId4" Type="http://schemas.openxmlformats.org/officeDocument/2006/relationships/image" Target="../media/image3.png"/><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s>
</file>

<file path=ppt/slides/_rels/slide59.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281.xml"/><Relationship Id="rId4" Type="http://schemas.openxmlformats.org/officeDocument/2006/relationships/image" Target="../media/image3.png"/><Relationship Id="rId3" Type="http://schemas.openxmlformats.org/officeDocument/2006/relationships/tags" Target="../tags/tag280.xml"/><Relationship Id="rId2" Type="http://schemas.openxmlformats.org/officeDocument/2006/relationships/tags" Target="../tags/tag279.xml"/><Relationship Id="rId1" Type="http://schemas.openxmlformats.org/officeDocument/2006/relationships/tags" Target="../tags/tag278.xml"/></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s>
</file>

<file path=ppt/slides/_rels/slide61.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3.png"/><Relationship Id="rId3" Type="http://schemas.openxmlformats.org/officeDocument/2006/relationships/tags" Target="../tags/tag287.xml"/><Relationship Id="rId2" Type="http://schemas.openxmlformats.org/officeDocument/2006/relationships/tags" Target="../tags/tag286.xml"/><Relationship Id="rId1" Type="http://schemas.openxmlformats.org/officeDocument/2006/relationships/tags" Target="../tags/tag285.xml"/></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tags" Target="../tags/tag288.xml"/></Relationships>
</file>

<file path=ppt/slides/_rels/slide6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94.xml"/><Relationship Id="rId5" Type="http://schemas.openxmlformats.org/officeDocument/2006/relationships/tags" Target="../tags/tag293.xml"/><Relationship Id="rId4" Type="http://schemas.openxmlformats.org/officeDocument/2006/relationships/tags" Target="../tags/tag292.xml"/><Relationship Id="rId3" Type="http://schemas.openxmlformats.org/officeDocument/2006/relationships/image" Target="../media/image3.png"/><Relationship Id="rId2" Type="http://schemas.openxmlformats.org/officeDocument/2006/relationships/tags" Target="../tags/tag291.xml"/><Relationship Id="rId1" Type="http://schemas.openxmlformats.org/officeDocument/2006/relationships/image" Target="../media/image1.png"/></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tags" Target="../tags/tag295.xml"/></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tags" Target="../tags/tag298.xml"/></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03.xml"/><Relationship Id="rId2" Type="http://schemas.openxmlformats.org/officeDocument/2006/relationships/tags" Target="../tags/tag302.xml"/><Relationship Id="rId1" Type="http://schemas.openxmlformats.org/officeDocument/2006/relationships/tags" Target="../tags/tag301.xml"/></Relationships>
</file>

<file path=ppt/slides/_rels/slide67.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tags" Target="../tags/tag307.xml"/><Relationship Id="rId4" Type="http://schemas.openxmlformats.org/officeDocument/2006/relationships/tags" Target="../tags/tag306.xml"/><Relationship Id="rId3" Type="http://schemas.openxmlformats.org/officeDocument/2006/relationships/tags" Target="../tags/tag305.xml"/><Relationship Id="rId2" Type="http://schemas.openxmlformats.org/officeDocument/2006/relationships/image" Target="../media/image3.png"/><Relationship Id="rId1" Type="http://schemas.openxmlformats.org/officeDocument/2006/relationships/tags" Target="../tags/tag304.xml"/></Relationships>
</file>

<file path=ppt/slides/_rels/slide6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 Id="rId3" Type="http://schemas.openxmlformats.org/officeDocument/2006/relationships/image" Target="../media/image3.png"/><Relationship Id="rId2" Type="http://schemas.openxmlformats.org/officeDocument/2006/relationships/tags" Target="../tags/tag308.xml"/><Relationship Id="rId1" Type="http://schemas.openxmlformats.org/officeDocument/2006/relationships/image" Target="../media/image1.png"/></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14.xml"/><Relationship Id="rId2" Type="http://schemas.openxmlformats.org/officeDocument/2006/relationships/tags" Target="../tags/tag313.xml"/><Relationship Id="rId1" Type="http://schemas.openxmlformats.org/officeDocument/2006/relationships/tags" Target="../tags/tag312.xml"/></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s>
</file>

<file path=ppt/slides/_rels/slide7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20.xml"/><Relationship Id="rId2" Type="http://schemas.openxmlformats.org/officeDocument/2006/relationships/tags" Target="../tags/tag319.xml"/><Relationship Id="rId1" Type="http://schemas.openxmlformats.org/officeDocument/2006/relationships/tags" Target="../tags/tag318.xml"/></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23.xml"/><Relationship Id="rId2" Type="http://schemas.openxmlformats.org/officeDocument/2006/relationships/tags" Target="../tags/tag322.xml"/><Relationship Id="rId1" Type="http://schemas.openxmlformats.org/officeDocument/2006/relationships/tags" Target="../tags/tag321.xml"/></Relationships>
</file>

<file path=ppt/slides/_rels/slide7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26.xml"/><Relationship Id="rId2" Type="http://schemas.openxmlformats.org/officeDocument/2006/relationships/tags" Target="../tags/tag325.xml"/><Relationship Id="rId1" Type="http://schemas.openxmlformats.org/officeDocument/2006/relationships/tags" Target="../tags/tag324.xml"/></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29.xml"/><Relationship Id="rId2" Type="http://schemas.openxmlformats.org/officeDocument/2006/relationships/tags" Target="../tags/tag328.xml"/><Relationship Id="rId1" Type="http://schemas.openxmlformats.org/officeDocument/2006/relationships/tags" Target="../tags/tag327.xml"/></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32.xml"/><Relationship Id="rId2" Type="http://schemas.openxmlformats.org/officeDocument/2006/relationships/tags" Target="../tags/tag331.xml"/><Relationship Id="rId1" Type="http://schemas.openxmlformats.org/officeDocument/2006/relationships/tags" Target="../tags/tag330.xml"/></Relationships>
</file>

<file path=ppt/slides/_rels/slide7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35.xml"/><Relationship Id="rId2" Type="http://schemas.openxmlformats.org/officeDocument/2006/relationships/tags" Target="../tags/tag334.xml"/><Relationship Id="rId1" Type="http://schemas.openxmlformats.org/officeDocument/2006/relationships/tags" Target="../tags/tag333.xml"/></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38.xml"/><Relationship Id="rId2" Type="http://schemas.openxmlformats.org/officeDocument/2006/relationships/tags" Target="../tags/tag337.xml"/><Relationship Id="rId1" Type="http://schemas.openxmlformats.org/officeDocument/2006/relationships/tags" Target="../tags/tag336.xml"/></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41.xml"/><Relationship Id="rId2" Type="http://schemas.openxmlformats.org/officeDocument/2006/relationships/tags" Target="../tags/tag340.xml"/><Relationship Id="rId1" Type="http://schemas.openxmlformats.org/officeDocument/2006/relationships/tags" Target="../tags/tag339.xml"/></Relationships>
</file>

<file path=ppt/slides/_rels/slide7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44.xml"/><Relationship Id="rId2" Type="http://schemas.openxmlformats.org/officeDocument/2006/relationships/tags" Target="../tags/tag343.xml"/><Relationship Id="rId1" Type="http://schemas.openxmlformats.org/officeDocument/2006/relationships/tags" Target="../tags/tag342.xml"/></Relationships>
</file>

<file path=ppt/slides/_rels/slide8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47.xml"/><Relationship Id="rId2" Type="http://schemas.openxmlformats.org/officeDocument/2006/relationships/tags" Target="../tags/tag346.xml"/><Relationship Id="rId1" Type="http://schemas.openxmlformats.org/officeDocument/2006/relationships/tags" Target="../tags/tag345.xml"/></Relationships>
</file>

<file path=ppt/slides/_rels/slide8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50.xml"/><Relationship Id="rId2" Type="http://schemas.openxmlformats.org/officeDocument/2006/relationships/tags" Target="../tags/tag349.xml"/><Relationship Id="rId1" Type="http://schemas.openxmlformats.org/officeDocument/2006/relationships/tags" Target="../tags/tag348.xml"/></Relationships>
</file>

<file path=ppt/slides/_rels/slide8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53.xml"/><Relationship Id="rId2" Type="http://schemas.openxmlformats.org/officeDocument/2006/relationships/tags" Target="../tags/tag352.xml"/><Relationship Id="rId1" Type="http://schemas.openxmlformats.org/officeDocument/2006/relationships/tags" Target="../tags/tag351.xml"/></Relationships>
</file>

<file path=ppt/slides/_rels/slide8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357.xml"/><Relationship Id="rId5" Type="http://schemas.openxmlformats.org/officeDocument/2006/relationships/tags" Target="../tags/tag356.xml"/><Relationship Id="rId4" Type="http://schemas.openxmlformats.org/officeDocument/2006/relationships/tags" Target="../tags/tag355.xml"/><Relationship Id="rId3" Type="http://schemas.openxmlformats.org/officeDocument/2006/relationships/image" Target="../media/image3.png"/><Relationship Id="rId2" Type="http://schemas.openxmlformats.org/officeDocument/2006/relationships/tags" Target="../tags/tag354.xml"/><Relationship Id="rId1" Type="http://schemas.openxmlformats.org/officeDocument/2006/relationships/image" Target="../media/image1.png"/></Relationships>
</file>

<file path=ppt/slides/_rels/slide8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60.xml"/><Relationship Id="rId2" Type="http://schemas.openxmlformats.org/officeDocument/2006/relationships/tags" Target="../tags/tag359.xml"/><Relationship Id="rId1" Type="http://schemas.openxmlformats.org/officeDocument/2006/relationships/tags" Target="../tags/tag358.xml"/></Relationships>
</file>

<file path=ppt/slides/_rels/slide8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63.xml"/><Relationship Id="rId2" Type="http://schemas.openxmlformats.org/officeDocument/2006/relationships/tags" Target="../tags/tag362.xml"/><Relationship Id="rId1" Type="http://schemas.openxmlformats.org/officeDocument/2006/relationships/tags" Target="../tags/tag361.xml"/></Relationships>
</file>

<file path=ppt/slides/_rels/slide8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66.xml"/><Relationship Id="rId2" Type="http://schemas.openxmlformats.org/officeDocument/2006/relationships/tags" Target="../tags/tag365.xml"/><Relationship Id="rId1" Type="http://schemas.openxmlformats.org/officeDocument/2006/relationships/tags" Target="../tags/tag364.xml"/></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69.xml"/><Relationship Id="rId2" Type="http://schemas.openxmlformats.org/officeDocument/2006/relationships/tags" Target="../tags/tag368.xml"/><Relationship Id="rId1" Type="http://schemas.openxmlformats.org/officeDocument/2006/relationships/tags" Target="../tags/tag367.xml"/></Relationships>
</file>

<file path=ppt/slides/_rels/slide8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72.xml"/><Relationship Id="rId2" Type="http://schemas.openxmlformats.org/officeDocument/2006/relationships/tags" Target="../tags/tag371.xml"/><Relationship Id="rId1" Type="http://schemas.openxmlformats.org/officeDocument/2006/relationships/tags" Target="../tags/tag370.xml"/></Relationships>
</file>

<file path=ppt/slides/_rels/slide8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tags" Target="../tags/tag373.xml"/></Relationships>
</file>

<file path=ppt/slides/_rels/slide9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78.xml"/><Relationship Id="rId2" Type="http://schemas.openxmlformats.org/officeDocument/2006/relationships/tags" Target="../tags/tag377.xml"/><Relationship Id="rId1" Type="http://schemas.openxmlformats.org/officeDocument/2006/relationships/tags" Target="../tags/tag376.xml"/></Relationships>
</file>

<file path=ppt/slides/_rels/slide9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81.xml"/><Relationship Id="rId2" Type="http://schemas.openxmlformats.org/officeDocument/2006/relationships/tags" Target="../tags/tag380.xml"/><Relationship Id="rId1" Type="http://schemas.openxmlformats.org/officeDocument/2006/relationships/tags" Target="../tags/tag379.xml"/></Relationships>
</file>

<file path=ppt/slides/_rels/slide9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84.xml"/><Relationship Id="rId2" Type="http://schemas.openxmlformats.org/officeDocument/2006/relationships/tags" Target="../tags/tag383.xml"/><Relationship Id="rId1" Type="http://schemas.openxmlformats.org/officeDocument/2006/relationships/tags" Target="../tags/tag382.xml"/></Relationships>
</file>

<file path=ppt/slides/_rels/slide9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87.xml"/><Relationship Id="rId2" Type="http://schemas.openxmlformats.org/officeDocument/2006/relationships/tags" Target="../tags/tag386.xml"/><Relationship Id="rId1" Type="http://schemas.openxmlformats.org/officeDocument/2006/relationships/tags" Target="../tags/tag385.xml"/></Relationships>
</file>

<file path=ppt/slides/_rels/slide9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90.xml"/><Relationship Id="rId2" Type="http://schemas.openxmlformats.org/officeDocument/2006/relationships/tags" Target="../tags/tag389.xml"/><Relationship Id="rId1" Type="http://schemas.openxmlformats.org/officeDocument/2006/relationships/tags" Target="../tags/tag388.xml"/></Relationships>
</file>

<file path=ppt/slides/_rels/slide9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93.xml"/><Relationship Id="rId2" Type="http://schemas.openxmlformats.org/officeDocument/2006/relationships/tags" Target="../tags/tag392.xml"/><Relationship Id="rId1" Type="http://schemas.openxmlformats.org/officeDocument/2006/relationships/tags" Target="../tags/tag391.xml"/></Relationships>
</file>

<file path=ppt/slides/_rels/slide9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96.xml"/><Relationship Id="rId2" Type="http://schemas.openxmlformats.org/officeDocument/2006/relationships/tags" Target="../tags/tag395.xml"/><Relationship Id="rId1" Type="http://schemas.openxmlformats.org/officeDocument/2006/relationships/tags" Target="../tags/tag394.xml"/></Relationships>
</file>

<file path=ppt/slides/_rels/slide9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399.xml"/><Relationship Id="rId2" Type="http://schemas.openxmlformats.org/officeDocument/2006/relationships/tags" Target="../tags/tag398.xml"/><Relationship Id="rId1" Type="http://schemas.openxmlformats.org/officeDocument/2006/relationships/tags" Target="../tags/tag397.xml"/></Relationships>
</file>

<file path=ppt/slides/_rels/slide9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02.xml"/><Relationship Id="rId2" Type="http://schemas.openxmlformats.org/officeDocument/2006/relationships/tags" Target="../tags/tag401.xml"/><Relationship Id="rId1" Type="http://schemas.openxmlformats.org/officeDocument/2006/relationships/tags" Target="../tags/tag400.xml"/></Relationships>
</file>

<file path=ppt/slides/_rels/slide9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05.xml"/><Relationship Id="rId2" Type="http://schemas.openxmlformats.org/officeDocument/2006/relationships/tags" Target="../tags/tag404.xml"/><Relationship Id="rId1" Type="http://schemas.openxmlformats.org/officeDocument/2006/relationships/tags" Target="../tags/tag403.xml"/></Relationships>
</file>

<file path=ppt/slides/_rels/slide10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08.xml"/><Relationship Id="rId2" Type="http://schemas.openxmlformats.org/officeDocument/2006/relationships/tags" Target="../tags/tag407.xml"/><Relationship Id="rId1" Type="http://schemas.openxmlformats.org/officeDocument/2006/relationships/tags" Target="../tags/tag406.xml"/></Relationships>
</file>

<file path=ppt/slides/_rels/slide10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11.xml"/><Relationship Id="rId2" Type="http://schemas.openxmlformats.org/officeDocument/2006/relationships/tags" Target="../tags/tag410.xml"/><Relationship Id="rId1" Type="http://schemas.openxmlformats.org/officeDocument/2006/relationships/tags" Target="../tags/tag409.xml"/></Relationships>
</file>

<file path=ppt/slides/_rels/slide10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14.xml"/><Relationship Id="rId2" Type="http://schemas.openxmlformats.org/officeDocument/2006/relationships/tags" Target="../tags/tag413.xml"/><Relationship Id="rId1" Type="http://schemas.openxmlformats.org/officeDocument/2006/relationships/tags" Target="../tags/tag412.xml"/></Relationships>
</file>

<file path=ppt/slides/_rels/slide10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17.xml"/><Relationship Id="rId2" Type="http://schemas.openxmlformats.org/officeDocument/2006/relationships/tags" Target="../tags/tag416.xml"/><Relationship Id="rId1" Type="http://schemas.openxmlformats.org/officeDocument/2006/relationships/tags" Target="../tags/tag415.xml"/></Relationships>
</file>

<file path=ppt/slides/_rels/slide10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20.xml"/><Relationship Id="rId2" Type="http://schemas.openxmlformats.org/officeDocument/2006/relationships/tags" Target="../tags/tag419.xml"/><Relationship Id="rId1" Type="http://schemas.openxmlformats.org/officeDocument/2006/relationships/tags" Target="../tags/tag418.xml"/></Relationships>
</file>

<file path=ppt/slides/_rels/slide10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23.xml"/><Relationship Id="rId2" Type="http://schemas.openxmlformats.org/officeDocument/2006/relationships/tags" Target="../tags/tag422.xml"/><Relationship Id="rId1" Type="http://schemas.openxmlformats.org/officeDocument/2006/relationships/tags" Target="../tags/tag421.xml"/></Relationships>
</file>

<file path=ppt/slides/_rels/slide106.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tags" Target="../tags/tag427.xml"/><Relationship Id="rId4" Type="http://schemas.openxmlformats.org/officeDocument/2006/relationships/tags" Target="../tags/tag426.xml"/><Relationship Id="rId3" Type="http://schemas.openxmlformats.org/officeDocument/2006/relationships/tags" Target="../tags/tag425.xml"/><Relationship Id="rId2" Type="http://schemas.openxmlformats.org/officeDocument/2006/relationships/image" Target="../media/image3.png"/><Relationship Id="rId1" Type="http://schemas.openxmlformats.org/officeDocument/2006/relationships/tags" Target="../tags/tag424.xml"/></Relationships>
</file>

<file path=ppt/slides/_rels/slide10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431.xml"/><Relationship Id="rId5" Type="http://schemas.openxmlformats.org/officeDocument/2006/relationships/tags" Target="../tags/tag430.xml"/><Relationship Id="rId4" Type="http://schemas.openxmlformats.org/officeDocument/2006/relationships/tags" Target="../tags/tag429.xml"/><Relationship Id="rId3" Type="http://schemas.openxmlformats.org/officeDocument/2006/relationships/image" Target="../media/image3.png"/><Relationship Id="rId2" Type="http://schemas.openxmlformats.org/officeDocument/2006/relationships/tags" Target="../tags/tag428.xml"/><Relationship Id="rId1" Type="http://schemas.openxmlformats.org/officeDocument/2006/relationships/image" Target="../media/image1.png"/></Relationships>
</file>

<file path=ppt/slides/_rels/slide10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34.xml"/><Relationship Id="rId2" Type="http://schemas.openxmlformats.org/officeDocument/2006/relationships/tags" Target="../tags/tag433.xml"/><Relationship Id="rId1" Type="http://schemas.openxmlformats.org/officeDocument/2006/relationships/tags" Target="../tags/tag432.xml"/></Relationships>
</file>

<file path=ppt/slides/_rels/slide10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37.xml"/><Relationship Id="rId2" Type="http://schemas.openxmlformats.org/officeDocument/2006/relationships/tags" Target="../tags/tag436.xml"/><Relationship Id="rId1" Type="http://schemas.openxmlformats.org/officeDocument/2006/relationships/tags" Target="../tags/tag435.xml"/></Relationships>
</file>

<file path=ppt/slides/_rels/slide11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40.xml"/><Relationship Id="rId2" Type="http://schemas.openxmlformats.org/officeDocument/2006/relationships/tags" Target="../tags/tag439.xml"/><Relationship Id="rId1" Type="http://schemas.openxmlformats.org/officeDocument/2006/relationships/tags" Target="../tags/tag438.xml"/></Relationships>
</file>

<file path=ppt/slides/_rels/slide11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43.xml"/><Relationship Id="rId2" Type="http://schemas.openxmlformats.org/officeDocument/2006/relationships/tags" Target="../tags/tag442.xml"/><Relationship Id="rId1" Type="http://schemas.openxmlformats.org/officeDocument/2006/relationships/tags" Target="../tags/tag441.xml"/></Relationships>
</file>

<file path=ppt/slides/_rels/slide11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46.xml"/><Relationship Id="rId2" Type="http://schemas.openxmlformats.org/officeDocument/2006/relationships/tags" Target="../tags/tag445.xml"/><Relationship Id="rId1" Type="http://schemas.openxmlformats.org/officeDocument/2006/relationships/tags" Target="../tags/tag444.xml"/></Relationships>
</file>

<file path=ppt/slides/_rels/slide11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49.xml"/><Relationship Id="rId2" Type="http://schemas.openxmlformats.org/officeDocument/2006/relationships/tags" Target="../tags/tag448.xml"/><Relationship Id="rId1" Type="http://schemas.openxmlformats.org/officeDocument/2006/relationships/tags" Target="../tags/tag447.xml"/></Relationships>
</file>

<file path=ppt/slides/_rels/slide11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52.xml"/><Relationship Id="rId2" Type="http://schemas.openxmlformats.org/officeDocument/2006/relationships/tags" Target="../tags/tag451.xml"/><Relationship Id="rId1" Type="http://schemas.openxmlformats.org/officeDocument/2006/relationships/tags" Target="../tags/tag450.xml"/></Relationships>
</file>

<file path=ppt/slides/_rels/slide11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55.xml"/><Relationship Id="rId2" Type="http://schemas.openxmlformats.org/officeDocument/2006/relationships/tags" Target="../tags/tag454.xml"/><Relationship Id="rId1" Type="http://schemas.openxmlformats.org/officeDocument/2006/relationships/tags" Target="../tags/tag453.xml"/></Relationships>
</file>

<file path=ppt/slides/_rels/slide11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58.xml"/><Relationship Id="rId2" Type="http://schemas.openxmlformats.org/officeDocument/2006/relationships/tags" Target="../tags/tag457.xml"/><Relationship Id="rId1" Type="http://schemas.openxmlformats.org/officeDocument/2006/relationships/tags" Target="../tags/tag456.xml"/></Relationships>
</file>

<file path=ppt/slides/_rels/slide11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61.xml"/><Relationship Id="rId2" Type="http://schemas.openxmlformats.org/officeDocument/2006/relationships/tags" Target="../tags/tag460.xml"/><Relationship Id="rId1" Type="http://schemas.openxmlformats.org/officeDocument/2006/relationships/tags" Target="../tags/tag459.xml"/></Relationships>
</file>

<file path=ppt/slides/_rels/slide11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64.xml"/><Relationship Id="rId2" Type="http://schemas.openxmlformats.org/officeDocument/2006/relationships/tags" Target="../tags/tag463.xml"/><Relationship Id="rId1" Type="http://schemas.openxmlformats.org/officeDocument/2006/relationships/tags" Target="../tags/tag462.xml"/></Relationships>
</file>

<file path=ppt/slides/_rels/slide11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67.xml"/><Relationship Id="rId2" Type="http://schemas.openxmlformats.org/officeDocument/2006/relationships/tags" Target="../tags/tag466.xml"/><Relationship Id="rId1" Type="http://schemas.openxmlformats.org/officeDocument/2006/relationships/tags" Target="../tags/tag465.xml"/></Relationships>
</file>

<file path=ppt/slides/_rels/slide12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471.xml"/><Relationship Id="rId5" Type="http://schemas.openxmlformats.org/officeDocument/2006/relationships/tags" Target="../tags/tag470.xml"/><Relationship Id="rId4" Type="http://schemas.openxmlformats.org/officeDocument/2006/relationships/tags" Target="../tags/tag469.xml"/><Relationship Id="rId3" Type="http://schemas.openxmlformats.org/officeDocument/2006/relationships/image" Target="../media/image3.png"/><Relationship Id="rId2" Type="http://schemas.openxmlformats.org/officeDocument/2006/relationships/tags" Target="../tags/tag468.xml"/><Relationship Id="rId1" Type="http://schemas.openxmlformats.org/officeDocument/2006/relationships/image" Target="../media/image1.png"/></Relationships>
</file>

<file path=ppt/slides/_rels/slide12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74.xml"/><Relationship Id="rId2" Type="http://schemas.openxmlformats.org/officeDocument/2006/relationships/tags" Target="../tags/tag473.xml"/><Relationship Id="rId1" Type="http://schemas.openxmlformats.org/officeDocument/2006/relationships/tags" Target="../tags/tag472.xml"/></Relationships>
</file>

<file path=ppt/slides/_rels/slide12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77.xml"/><Relationship Id="rId2" Type="http://schemas.openxmlformats.org/officeDocument/2006/relationships/tags" Target="../tags/tag476.xml"/><Relationship Id="rId1" Type="http://schemas.openxmlformats.org/officeDocument/2006/relationships/tags" Target="../tags/tag475.xml"/></Relationships>
</file>

<file path=ppt/slides/_rels/slide12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80.xml"/><Relationship Id="rId2" Type="http://schemas.openxmlformats.org/officeDocument/2006/relationships/tags" Target="../tags/tag479.xml"/><Relationship Id="rId1" Type="http://schemas.openxmlformats.org/officeDocument/2006/relationships/tags" Target="../tags/tag478.xml"/></Relationships>
</file>

<file path=ppt/slides/_rels/slide12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484.xml"/><Relationship Id="rId5" Type="http://schemas.openxmlformats.org/officeDocument/2006/relationships/tags" Target="../tags/tag483.xml"/><Relationship Id="rId4" Type="http://schemas.openxmlformats.org/officeDocument/2006/relationships/tags" Target="../tags/tag482.xml"/><Relationship Id="rId3" Type="http://schemas.openxmlformats.org/officeDocument/2006/relationships/image" Target="../media/image3.png"/><Relationship Id="rId2" Type="http://schemas.openxmlformats.org/officeDocument/2006/relationships/tags" Target="../tags/tag481.xml"/><Relationship Id="rId1" Type="http://schemas.openxmlformats.org/officeDocument/2006/relationships/image" Target="../media/image1.png"/></Relationships>
</file>

<file path=ppt/slides/_rels/slide12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87.xml"/><Relationship Id="rId2" Type="http://schemas.openxmlformats.org/officeDocument/2006/relationships/tags" Target="../tags/tag486.xml"/><Relationship Id="rId1" Type="http://schemas.openxmlformats.org/officeDocument/2006/relationships/tags" Target="../tags/tag485.xml"/></Relationships>
</file>

<file path=ppt/slides/_rels/slide12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90.xml"/><Relationship Id="rId2" Type="http://schemas.openxmlformats.org/officeDocument/2006/relationships/tags" Target="../tags/tag489.xml"/><Relationship Id="rId1" Type="http://schemas.openxmlformats.org/officeDocument/2006/relationships/tags" Target="../tags/tag488.xml"/></Relationships>
</file>

<file path=ppt/slides/_rels/slide12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93.xml"/><Relationship Id="rId2" Type="http://schemas.openxmlformats.org/officeDocument/2006/relationships/tags" Target="../tags/tag492.xml"/><Relationship Id="rId1" Type="http://schemas.openxmlformats.org/officeDocument/2006/relationships/tags" Target="../tags/tag491.xml"/></Relationships>
</file>

<file path=ppt/slides/_rels/slide12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96.xml"/><Relationship Id="rId2" Type="http://schemas.openxmlformats.org/officeDocument/2006/relationships/tags" Target="../tags/tag495.xml"/><Relationship Id="rId1" Type="http://schemas.openxmlformats.org/officeDocument/2006/relationships/tags" Target="../tags/tag494.xml"/></Relationships>
</file>

<file path=ppt/slides/_rels/slide12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499.xml"/><Relationship Id="rId2" Type="http://schemas.openxmlformats.org/officeDocument/2006/relationships/tags" Target="../tags/tag498.xml"/><Relationship Id="rId1" Type="http://schemas.openxmlformats.org/officeDocument/2006/relationships/tags" Target="../tags/tag497.xml"/></Relationships>
</file>

<file path=ppt/slides/_rels/slide13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tags" Target="../tags/tag503.xml"/><Relationship Id="rId4" Type="http://schemas.openxmlformats.org/officeDocument/2006/relationships/tags" Target="../tags/tag502.xml"/><Relationship Id="rId3" Type="http://schemas.openxmlformats.org/officeDocument/2006/relationships/tags" Target="../tags/tag501.xml"/><Relationship Id="rId2" Type="http://schemas.openxmlformats.org/officeDocument/2006/relationships/image" Target="../media/image3.png"/><Relationship Id="rId1" Type="http://schemas.openxmlformats.org/officeDocument/2006/relationships/tags" Target="../tags/tag500.xml"/></Relationships>
</file>

<file path=ppt/slides/_rels/slide13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07.xml"/><Relationship Id="rId5" Type="http://schemas.openxmlformats.org/officeDocument/2006/relationships/tags" Target="../tags/tag506.xml"/><Relationship Id="rId4" Type="http://schemas.openxmlformats.org/officeDocument/2006/relationships/tags" Target="../tags/tag505.xml"/><Relationship Id="rId3" Type="http://schemas.openxmlformats.org/officeDocument/2006/relationships/image" Target="../media/image3.png"/><Relationship Id="rId2" Type="http://schemas.openxmlformats.org/officeDocument/2006/relationships/tags" Target="../tags/tag504.xml"/><Relationship Id="rId1" Type="http://schemas.openxmlformats.org/officeDocument/2006/relationships/image" Target="../media/image1.png"/></Relationships>
</file>

<file path=ppt/slides/_rels/slide13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10.xml"/><Relationship Id="rId2" Type="http://schemas.openxmlformats.org/officeDocument/2006/relationships/tags" Target="../tags/tag509.xml"/><Relationship Id="rId1" Type="http://schemas.openxmlformats.org/officeDocument/2006/relationships/tags" Target="../tags/tag508.xml"/></Relationships>
</file>

<file path=ppt/slides/_rels/slide13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13.xml"/><Relationship Id="rId2" Type="http://schemas.openxmlformats.org/officeDocument/2006/relationships/tags" Target="../tags/tag512.xml"/><Relationship Id="rId1" Type="http://schemas.openxmlformats.org/officeDocument/2006/relationships/tags" Target="../tags/tag511.xml"/></Relationships>
</file>

<file path=ppt/slides/_rels/slide13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16.xml"/><Relationship Id="rId2" Type="http://schemas.openxmlformats.org/officeDocument/2006/relationships/tags" Target="../tags/tag515.xml"/><Relationship Id="rId1" Type="http://schemas.openxmlformats.org/officeDocument/2006/relationships/tags" Target="../tags/tag514.xml"/></Relationships>
</file>

<file path=ppt/slides/_rels/slide13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19.xml"/><Relationship Id="rId2" Type="http://schemas.openxmlformats.org/officeDocument/2006/relationships/tags" Target="../tags/tag518.xml"/><Relationship Id="rId1" Type="http://schemas.openxmlformats.org/officeDocument/2006/relationships/tags" Target="../tags/tag517.xml"/></Relationships>
</file>

<file path=ppt/slides/_rels/slide13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22.xml"/><Relationship Id="rId2" Type="http://schemas.openxmlformats.org/officeDocument/2006/relationships/tags" Target="../tags/tag521.xml"/><Relationship Id="rId1" Type="http://schemas.openxmlformats.org/officeDocument/2006/relationships/tags" Target="../tags/tag520.xml"/></Relationships>
</file>

<file path=ppt/slides/_rels/slide13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25.xml"/><Relationship Id="rId2" Type="http://schemas.openxmlformats.org/officeDocument/2006/relationships/tags" Target="../tags/tag524.xml"/><Relationship Id="rId1" Type="http://schemas.openxmlformats.org/officeDocument/2006/relationships/tags" Target="../tags/tag523.xml"/></Relationships>
</file>

<file path=ppt/slides/_rels/slide13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28.xml"/><Relationship Id="rId2" Type="http://schemas.openxmlformats.org/officeDocument/2006/relationships/tags" Target="../tags/tag527.xml"/><Relationship Id="rId1" Type="http://schemas.openxmlformats.org/officeDocument/2006/relationships/tags" Target="../tags/tag526.xml"/></Relationships>
</file>

<file path=ppt/slides/_rels/slide13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31.xml"/><Relationship Id="rId2" Type="http://schemas.openxmlformats.org/officeDocument/2006/relationships/tags" Target="../tags/tag530.xml"/><Relationship Id="rId1" Type="http://schemas.openxmlformats.org/officeDocument/2006/relationships/tags" Target="../tags/tag529.xml"/></Relationships>
</file>

<file path=ppt/slides/_rels/slide14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34.xml"/><Relationship Id="rId2" Type="http://schemas.openxmlformats.org/officeDocument/2006/relationships/tags" Target="../tags/tag533.xml"/><Relationship Id="rId1" Type="http://schemas.openxmlformats.org/officeDocument/2006/relationships/tags" Target="../tags/tag532.xml"/></Relationships>
</file>

<file path=ppt/slides/_rels/slide14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38.xml"/><Relationship Id="rId5" Type="http://schemas.openxmlformats.org/officeDocument/2006/relationships/tags" Target="../tags/tag537.xml"/><Relationship Id="rId4" Type="http://schemas.openxmlformats.org/officeDocument/2006/relationships/tags" Target="../tags/tag536.xml"/><Relationship Id="rId3" Type="http://schemas.openxmlformats.org/officeDocument/2006/relationships/image" Target="../media/image3.png"/><Relationship Id="rId2" Type="http://schemas.openxmlformats.org/officeDocument/2006/relationships/tags" Target="../tags/tag535.xml"/><Relationship Id="rId1" Type="http://schemas.openxmlformats.org/officeDocument/2006/relationships/image" Target="../media/image1.png"/></Relationships>
</file>

<file path=ppt/slides/_rels/slide14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41.xml"/><Relationship Id="rId2" Type="http://schemas.openxmlformats.org/officeDocument/2006/relationships/tags" Target="../tags/tag540.xml"/><Relationship Id="rId1" Type="http://schemas.openxmlformats.org/officeDocument/2006/relationships/tags" Target="../tags/tag539.xml"/></Relationships>
</file>

<file path=ppt/slides/_rels/slide14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44.xml"/><Relationship Id="rId2" Type="http://schemas.openxmlformats.org/officeDocument/2006/relationships/tags" Target="../tags/tag543.xml"/><Relationship Id="rId1" Type="http://schemas.openxmlformats.org/officeDocument/2006/relationships/tags" Target="../tags/tag542.xml"/></Relationships>
</file>

<file path=ppt/slides/_rels/slide144.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3.png"/><Relationship Id="rId3" Type="http://schemas.openxmlformats.org/officeDocument/2006/relationships/tags" Target="../tags/tag547.xml"/><Relationship Id="rId2" Type="http://schemas.openxmlformats.org/officeDocument/2006/relationships/tags" Target="../tags/tag546.xml"/><Relationship Id="rId1" Type="http://schemas.openxmlformats.org/officeDocument/2006/relationships/tags" Target="../tags/tag545.xml"/></Relationships>
</file>

<file path=ppt/slides/_rels/slide14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50.xml"/><Relationship Id="rId2" Type="http://schemas.openxmlformats.org/officeDocument/2006/relationships/tags" Target="../tags/tag549.xml"/><Relationship Id="rId1" Type="http://schemas.openxmlformats.org/officeDocument/2006/relationships/tags" Target="../tags/tag548.xml"/></Relationships>
</file>

<file path=ppt/slides/_rels/slide14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53.xml"/><Relationship Id="rId2" Type="http://schemas.openxmlformats.org/officeDocument/2006/relationships/tags" Target="../tags/tag552.xml"/><Relationship Id="rId1" Type="http://schemas.openxmlformats.org/officeDocument/2006/relationships/tags" Target="../tags/tag551.xml"/></Relationships>
</file>

<file path=ppt/slides/_rels/slide14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57.xml"/><Relationship Id="rId5" Type="http://schemas.openxmlformats.org/officeDocument/2006/relationships/tags" Target="../tags/tag556.xml"/><Relationship Id="rId4" Type="http://schemas.openxmlformats.org/officeDocument/2006/relationships/tags" Target="../tags/tag555.xml"/><Relationship Id="rId3" Type="http://schemas.openxmlformats.org/officeDocument/2006/relationships/image" Target="../media/image3.png"/><Relationship Id="rId2" Type="http://schemas.openxmlformats.org/officeDocument/2006/relationships/tags" Target="../tags/tag554.xml"/><Relationship Id="rId1" Type="http://schemas.openxmlformats.org/officeDocument/2006/relationships/image" Target="../media/image1.png"/></Relationships>
</file>

<file path=ppt/slides/_rels/slide148.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4.png"/><Relationship Id="rId4" Type="http://schemas.openxmlformats.org/officeDocument/2006/relationships/image" Target="../media/image3.png"/><Relationship Id="rId3" Type="http://schemas.openxmlformats.org/officeDocument/2006/relationships/tags" Target="../tags/tag560.xml"/><Relationship Id="rId2" Type="http://schemas.openxmlformats.org/officeDocument/2006/relationships/tags" Target="../tags/tag559.xml"/><Relationship Id="rId1" Type="http://schemas.openxmlformats.org/officeDocument/2006/relationships/tags" Target="../tags/tag558.xml"/></Relationships>
</file>

<file path=ppt/slides/_rels/slide149.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image" Target="../media/image3.png"/><Relationship Id="rId3" Type="http://schemas.openxmlformats.org/officeDocument/2006/relationships/tags" Target="../tags/tag563.xml"/><Relationship Id="rId2" Type="http://schemas.openxmlformats.org/officeDocument/2006/relationships/tags" Target="../tags/tag562.xml"/><Relationship Id="rId1" Type="http://schemas.openxmlformats.org/officeDocument/2006/relationships/tags" Target="../tags/tag561.xml"/></Relationships>
</file>

<file path=ppt/slides/_rels/slide15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66.xml"/><Relationship Id="rId2" Type="http://schemas.openxmlformats.org/officeDocument/2006/relationships/tags" Target="../tags/tag565.xml"/><Relationship Id="rId1" Type="http://schemas.openxmlformats.org/officeDocument/2006/relationships/tags" Target="../tags/tag564.xml"/></Relationships>
</file>

<file path=ppt/slides/_rels/slide15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tags" Target="../tags/tag570.xml"/><Relationship Id="rId4" Type="http://schemas.openxmlformats.org/officeDocument/2006/relationships/tags" Target="../tags/tag569.xml"/><Relationship Id="rId3" Type="http://schemas.openxmlformats.org/officeDocument/2006/relationships/tags" Target="../tags/tag568.xml"/><Relationship Id="rId2" Type="http://schemas.openxmlformats.org/officeDocument/2006/relationships/image" Target="../media/image3.png"/><Relationship Id="rId1" Type="http://schemas.openxmlformats.org/officeDocument/2006/relationships/tags" Target="../tags/tag567.xml"/></Relationships>
</file>

<file path=ppt/slides/_rels/slide15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74.xml"/><Relationship Id="rId5" Type="http://schemas.openxmlformats.org/officeDocument/2006/relationships/tags" Target="../tags/tag573.xml"/><Relationship Id="rId4" Type="http://schemas.openxmlformats.org/officeDocument/2006/relationships/tags" Target="../tags/tag572.xml"/><Relationship Id="rId3" Type="http://schemas.openxmlformats.org/officeDocument/2006/relationships/image" Target="../media/image3.png"/><Relationship Id="rId2" Type="http://schemas.openxmlformats.org/officeDocument/2006/relationships/tags" Target="../tags/tag571.xml"/><Relationship Id="rId1" Type="http://schemas.openxmlformats.org/officeDocument/2006/relationships/image" Target="../media/image1.png"/></Relationships>
</file>

<file path=ppt/slides/_rels/slide15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77.xml"/><Relationship Id="rId2" Type="http://schemas.openxmlformats.org/officeDocument/2006/relationships/tags" Target="../tags/tag576.xml"/><Relationship Id="rId1" Type="http://schemas.openxmlformats.org/officeDocument/2006/relationships/tags" Target="../tags/tag575.xml"/></Relationships>
</file>

<file path=ppt/slides/_rels/slide15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80.xml"/><Relationship Id="rId2" Type="http://schemas.openxmlformats.org/officeDocument/2006/relationships/tags" Target="../tags/tag579.xml"/><Relationship Id="rId1" Type="http://schemas.openxmlformats.org/officeDocument/2006/relationships/tags" Target="../tags/tag578.xml"/></Relationships>
</file>

<file path=ppt/slides/_rels/slide15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83.xml"/><Relationship Id="rId2" Type="http://schemas.openxmlformats.org/officeDocument/2006/relationships/tags" Target="../tags/tag582.xml"/><Relationship Id="rId1" Type="http://schemas.openxmlformats.org/officeDocument/2006/relationships/tags" Target="../tags/tag581.xml"/></Relationships>
</file>

<file path=ppt/slides/_rels/slide15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86.xml"/><Relationship Id="rId2" Type="http://schemas.openxmlformats.org/officeDocument/2006/relationships/tags" Target="../tags/tag585.xml"/><Relationship Id="rId1" Type="http://schemas.openxmlformats.org/officeDocument/2006/relationships/tags" Target="../tags/tag584.xml"/></Relationships>
</file>

<file path=ppt/slides/_rels/slide15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89.xml"/><Relationship Id="rId2" Type="http://schemas.openxmlformats.org/officeDocument/2006/relationships/tags" Target="../tags/tag588.xml"/><Relationship Id="rId1" Type="http://schemas.openxmlformats.org/officeDocument/2006/relationships/tags" Target="../tags/tag587.xml"/></Relationships>
</file>

<file path=ppt/slides/_rels/slide15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92.xml"/><Relationship Id="rId2" Type="http://schemas.openxmlformats.org/officeDocument/2006/relationships/tags" Target="../tags/tag591.xml"/><Relationship Id="rId1" Type="http://schemas.openxmlformats.org/officeDocument/2006/relationships/tags" Target="../tags/tag590.xml"/></Relationships>
</file>

<file path=ppt/slides/_rels/slide15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595.xml"/><Relationship Id="rId2" Type="http://schemas.openxmlformats.org/officeDocument/2006/relationships/tags" Target="../tags/tag594.xml"/><Relationship Id="rId1" Type="http://schemas.openxmlformats.org/officeDocument/2006/relationships/tags" Target="../tags/tag593.xml"/></Relationships>
</file>

<file path=ppt/slides/_rels/slide16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99.xml"/><Relationship Id="rId5" Type="http://schemas.openxmlformats.org/officeDocument/2006/relationships/tags" Target="../tags/tag598.xml"/><Relationship Id="rId4" Type="http://schemas.openxmlformats.org/officeDocument/2006/relationships/tags" Target="../tags/tag597.xml"/><Relationship Id="rId3" Type="http://schemas.openxmlformats.org/officeDocument/2006/relationships/image" Target="../media/image3.png"/><Relationship Id="rId2" Type="http://schemas.openxmlformats.org/officeDocument/2006/relationships/tags" Target="../tags/tag596.xml"/><Relationship Id="rId1" Type="http://schemas.openxmlformats.org/officeDocument/2006/relationships/image" Target="../media/image1.png"/></Relationships>
</file>

<file path=ppt/slides/_rels/slide16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02.xml"/><Relationship Id="rId2" Type="http://schemas.openxmlformats.org/officeDocument/2006/relationships/tags" Target="../tags/tag601.xml"/><Relationship Id="rId1" Type="http://schemas.openxmlformats.org/officeDocument/2006/relationships/tags" Target="../tags/tag600.xml"/></Relationships>
</file>

<file path=ppt/slides/_rels/slide16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05.xml"/><Relationship Id="rId2" Type="http://schemas.openxmlformats.org/officeDocument/2006/relationships/tags" Target="../tags/tag604.xml"/><Relationship Id="rId1" Type="http://schemas.openxmlformats.org/officeDocument/2006/relationships/tags" Target="../tags/tag603.xml"/></Relationships>
</file>

<file path=ppt/slides/_rels/slide16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08.xml"/><Relationship Id="rId2" Type="http://schemas.openxmlformats.org/officeDocument/2006/relationships/tags" Target="../tags/tag607.xml"/><Relationship Id="rId1" Type="http://schemas.openxmlformats.org/officeDocument/2006/relationships/tags" Target="../tags/tag606.xml"/></Relationships>
</file>

<file path=ppt/slides/_rels/slide16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11.xml"/><Relationship Id="rId2" Type="http://schemas.openxmlformats.org/officeDocument/2006/relationships/tags" Target="../tags/tag610.xml"/><Relationship Id="rId1" Type="http://schemas.openxmlformats.org/officeDocument/2006/relationships/tags" Target="../tags/tag609.xml"/></Relationships>
</file>

<file path=ppt/slides/_rels/slide16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14.xml"/><Relationship Id="rId2" Type="http://schemas.openxmlformats.org/officeDocument/2006/relationships/tags" Target="../tags/tag613.xml"/><Relationship Id="rId1" Type="http://schemas.openxmlformats.org/officeDocument/2006/relationships/tags" Target="../tags/tag612.xml"/></Relationships>
</file>

<file path=ppt/slides/_rels/slide16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17.xml"/><Relationship Id="rId2" Type="http://schemas.openxmlformats.org/officeDocument/2006/relationships/tags" Target="../tags/tag616.xml"/><Relationship Id="rId1" Type="http://schemas.openxmlformats.org/officeDocument/2006/relationships/tags" Target="../tags/tag615.xml"/></Relationships>
</file>

<file path=ppt/slides/_rels/slide167.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2.xml"/><Relationship Id="rId5" Type="http://schemas.openxmlformats.org/officeDocument/2006/relationships/tags" Target="../tags/tag621.xml"/><Relationship Id="rId4" Type="http://schemas.openxmlformats.org/officeDocument/2006/relationships/tags" Target="../tags/tag620.xml"/><Relationship Id="rId3" Type="http://schemas.openxmlformats.org/officeDocument/2006/relationships/tags" Target="../tags/tag619.xml"/><Relationship Id="rId2" Type="http://schemas.openxmlformats.org/officeDocument/2006/relationships/image" Target="../media/image3.png"/><Relationship Id="rId1" Type="http://schemas.openxmlformats.org/officeDocument/2006/relationships/tags" Target="../tags/tag618.xml"/></Relationships>
</file>

<file path=ppt/slides/_rels/slide16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625.xml"/><Relationship Id="rId5" Type="http://schemas.openxmlformats.org/officeDocument/2006/relationships/tags" Target="../tags/tag624.xml"/><Relationship Id="rId4" Type="http://schemas.openxmlformats.org/officeDocument/2006/relationships/tags" Target="../tags/tag623.xml"/><Relationship Id="rId3" Type="http://schemas.openxmlformats.org/officeDocument/2006/relationships/image" Target="../media/image3.png"/><Relationship Id="rId2" Type="http://schemas.openxmlformats.org/officeDocument/2006/relationships/tags" Target="../tags/tag622.xml"/><Relationship Id="rId1" Type="http://schemas.openxmlformats.org/officeDocument/2006/relationships/image" Target="../media/image1.png"/></Relationships>
</file>

<file path=ppt/slides/_rels/slide16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28.xml"/><Relationship Id="rId2" Type="http://schemas.openxmlformats.org/officeDocument/2006/relationships/tags" Target="../tags/tag627.xml"/><Relationship Id="rId1" Type="http://schemas.openxmlformats.org/officeDocument/2006/relationships/tags" Target="../tags/tag626.xml"/></Relationships>
</file>

<file path=ppt/slides/_rels/slide17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31.xml"/><Relationship Id="rId2" Type="http://schemas.openxmlformats.org/officeDocument/2006/relationships/tags" Target="../tags/tag630.xml"/><Relationship Id="rId1" Type="http://schemas.openxmlformats.org/officeDocument/2006/relationships/tags" Target="../tags/tag629.xml"/></Relationships>
</file>

<file path=ppt/slides/_rels/slide17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34.xml"/><Relationship Id="rId2" Type="http://schemas.openxmlformats.org/officeDocument/2006/relationships/tags" Target="../tags/tag633.xml"/><Relationship Id="rId1" Type="http://schemas.openxmlformats.org/officeDocument/2006/relationships/tags" Target="../tags/tag632.xml"/></Relationships>
</file>

<file path=ppt/slides/_rels/slide17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37.xml"/><Relationship Id="rId2" Type="http://schemas.openxmlformats.org/officeDocument/2006/relationships/tags" Target="../tags/tag636.xml"/><Relationship Id="rId1" Type="http://schemas.openxmlformats.org/officeDocument/2006/relationships/tags" Target="../tags/tag635.xml"/></Relationships>
</file>

<file path=ppt/slides/_rels/slide17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40.xml"/><Relationship Id="rId2" Type="http://schemas.openxmlformats.org/officeDocument/2006/relationships/tags" Target="../tags/tag639.xml"/><Relationship Id="rId1" Type="http://schemas.openxmlformats.org/officeDocument/2006/relationships/tags" Target="../tags/tag638.xml"/></Relationships>
</file>

<file path=ppt/slides/_rels/slide17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43.xml"/><Relationship Id="rId2" Type="http://schemas.openxmlformats.org/officeDocument/2006/relationships/tags" Target="../tags/tag642.xml"/><Relationship Id="rId1" Type="http://schemas.openxmlformats.org/officeDocument/2006/relationships/tags" Target="../tags/tag641.xml"/></Relationships>
</file>

<file path=ppt/slides/_rels/slide17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46.xml"/><Relationship Id="rId2" Type="http://schemas.openxmlformats.org/officeDocument/2006/relationships/tags" Target="../tags/tag645.xml"/><Relationship Id="rId1" Type="http://schemas.openxmlformats.org/officeDocument/2006/relationships/tags" Target="../tags/tag644.xml"/></Relationships>
</file>

<file path=ppt/slides/_rels/slide17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49.xml"/><Relationship Id="rId2" Type="http://schemas.openxmlformats.org/officeDocument/2006/relationships/tags" Target="../tags/tag648.xml"/><Relationship Id="rId1" Type="http://schemas.openxmlformats.org/officeDocument/2006/relationships/tags" Target="../tags/tag647.xml"/></Relationships>
</file>

<file path=ppt/slides/_rels/slide17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52.xml"/><Relationship Id="rId2" Type="http://schemas.openxmlformats.org/officeDocument/2006/relationships/tags" Target="../tags/tag651.xml"/><Relationship Id="rId1" Type="http://schemas.openxmlformats.org/officeDocument/2006/relationships/tags" Target="../tags/tag650.xml"/></Relationships>
</file>

<file path=ppt/slides/_rels/slide17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55.xml"/><Relationship Id="rId2" Type="http://schemas.openxmlformats.org/officeDocument/2006/relationships/tags" Target="../tags/tag654.xml"/><Relationship Id="rId1" Type="http://schemas.openxmlformats.org/officeDocument/2006/relationships/tags" Target="../tags/tag653.xml"/></Relationships>
</file>

<file path=ppt/slides/_rels/slide17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58.xml"/><Relationship Id="rId2" Type="http://schemas.openxmlformats.org/officeDocument/2006/relationships/tags" Target="../tags/tag657.xml"/><Relationship Id="rId1" Type="http://schemas.openxmlformats.org/officeDocument/2006/relationships/tags" Target="../tags/tag656.xml"/></Relationships>
</file>

<file path=ppt/slides/_rels/slide18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61.xml"/><Relationship Id="rId2" Type="http://schemas.openxmlformats.org/officeDocument/2006/relationships/tags" Target="../tags/tag660.xml"/><Relationship Id="rId1" Type="http://schemas.openxmlformats.org/officeDocument/2006/relationships/tags" Target="../tags/tag659.xml"/></Relationships>
</file>

<file path=ppt/slides/_rels/slide18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64.xml"/><Relationship Id="rId2" Type="http://schemas.openxmlformats.org/officeDocument/2006/relationships/tags" Target="../tags/tag663.xml"/><Relationship Id="rId1" Type="http://schemas.openxmlformats.org/officeDocument/2006/relationships/tags" Target="../tags/tag662.xml"/></Relationships>
</file>

<file path=ppt/slides/_rels/slide18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67.xml"/><Relationship Id="rId2" Type="http://schemas.openxmlformats.org/officeDocument/2006/relationships/tags" Target="../tags/tag666.xml"/><Relationship Id="rId1" Type="http://schemas.openxmlformats.org/officeDocument/2006/relationships/tags" Target="../tags/tag665.xml"/></Relationships>
</file>

<file path=ppt/slides/_rels/slide18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70.xml"/><Relationship Id="rId2" Type="http://schemas.openxmlformats.org/officeDocument/2006/relationships/tags" Target="../tags/tag669.xml"/><Relationship Id="rId1" Type="http://schemas.openxmlformats.org/officeDocument/2006/relationships/tags" Target="../tags/tag668.xml"/></Relationships>
</file>

<file path=ppt/slides/_rels/slide18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73.xml"/><Relationship Id="rId2" Type="http://schemas.openxmlformats.org/officeDocument/2006/relationships/tags" Target="../tags/tag672.xml"/><Relationship Id="rId1" Type="http://schemas.openxmlformats.org/officeDocument/2006/relationships/tags" Target="../tags/tag671.xml"/></Relationships>
</file>

<file path=ppt/slides/_rels/slide18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76.xml"/><Relationship Id="rId2" Type="http://schemas.openxmlformats.org/officeDocument/2006/relationships/tags" Target="../tags/tag675.xml"/><Relationship Id="rId1" Type="http://schemas.openxmlformats.org/officeDocument/2006/relationships/tags" Target="../tags/tag674.xml"/></Relationships>
</file>

<file path=ppt/slides/_rels/slide18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79.xml"/><Relationship Id="rId2" Type="http://schemas.openxmlformats.org/officeDocument/2006/relationships/tags" Target="../tags/tag678.xml"/><Relationship Id="rId1" Type="http://schemas.openxmlformats.org/officeDocument/2006/relationships/tags" Target="../tags/tag677.xml"/></Relationships>
</file>

<file path=ppt/slides/_rels/slide18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683.xml"/><Relationship Id="rId5" Type="http://schemas.openxmlformats.org/officeDocument/2006/relationships/tags" Target="../tags/tag682.xml"/><Relationship Id="rId4" Type="http://schemas.openxmlformats.org/officeDocument/2006/relationships/tags" Target="../tags/tag681.xml"/><Relationship Id="rId3" Type="http://schemas.openxmlformats.org/officeDocument/2006/relationships/image" Target="../media/image3.png"/><Relationship Id="rId2" Type="http://schemas.openxmlformats.org/officeDocument/2006/relationships/tags" Target="../tags/tag680.xml"/><Relationship Id="rId1" Type="http://schemas.openxmlformats.org/officeDocument/2006/relationships/image" Target="../media/image1.png"/></Relationships>
</file>

<file path=ppt/slides/_rels/slide18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86.xml"/><Relationship Id="rId2" Type="http://schemas.openxmlformats.org/officeDocument/2006/relationships/tags" Target="../tags/tag685.xml"/><Relationship Id="rId1" Type="http://schemas.openxmlformats.org/officeDocument/2006/relationships/tags" Target="../tags/tag684.xml"/></Relationships>
</file>

<file path=ppt/slides/_rels/slide18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89.xml"/><Relationship Id="rId2" Type="http://schemas.openxmlformats.org/officeDocument/2006/relationships/tags" Target="../tags/tag688.xml"/><Relationship Id="rId1" Type="http://schemas.openxmlformats.org/officeDocument/2006/relationships/tags" Target="../tags/tag687.xml"/></Relationships>
</file>

<file path=ppt/slides/_rels/slide19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92.xml"/><Relationship Id="rId2" Type="http://schemas.openxmlformats.org/officeDocument/2006/relationships/tags" Target="../tags/tag691.xml"/><Relationship Id="rId1" Type="http://schemas.openxmlformats.org/officeDocument/2006/relationships/tags" Target="../tags/tag690.xml"/></Relationships>
</file>

<file path=ppt/slides/_rels/slide19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95.xml"/><Relationship Id="rId2" Type="http://schemas.openxmlformats.org/officeDocument/2006/relationships/tags" Target="../tags/tag694.xml"/><Relationship Id="rId1" Type="http://schemas.openxmlformats.org/officeDocument/2006/relationships/tags" Target="../tags/tag693.xml"/></Relationships>
</file>

<file path=ppt/slides/_rels/slide19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698.xml"/><Relationship Id="rId2" Type="http://schemas.openxmlformats.org/officeDocument/2006/relationships/tags" Target="../tags/tag697.xml"/><Relationship Id="rId1" Type="http://schemas.openxmlformats.org/officeDocument/2006/relationships/tags" Target="../tags/tag696.xml"/></Relationships>
</file>

<file path=ppt/slides/_rels/slide19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01.xml"/><Relationship Id="rId2" Type="http://schemas.openxmlformats.org/officeDocument/2006/relationships/tags" Target="../tags/tag700.xml"/><Relationship Id="rId1" Type="http://schemas.openxmlformats.org/officeDocument/2006/relationships/tags" Target="../tags/tag699.xml"/></Relationships>
</file>

<file path=ppt/slides/_rels/slide19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04.xml"/><Relationship Id="rId2" Type="http://schemas.openxmlformats.org/officeDocument/2006/relationships/tags" Target="../tags/tag703.xml"/><Relationship Id="rId1" Type="http://schemas.openxmlformats.org/officeDocument/2006/relationships/tags" Target="../tags/tag702.xml"/></Relationships>
</file>

<file path=ppt/slides/_rels/slide19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07.xml"/><Relationship Id="rId2" Type="http://schemas.openxmlformats.org/officeDocument/2006/relationships/tags" Target="../tags/tag706.xml"/><Relationship Id="rId1" Type="http://schemas.openxmlformats.org/officeDocument/2006/relationships/tags" Target="../tags/tag705.xml"/></Relationships>
</file>

<file path=ppt/slides/_rels/slide19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10.xml"/><Relationship Id="rId2" Type="http://schemas.openxmlformats.org/officeDocument/2006/relationships/tags" Target="../tags/tag709.xml"/><Relationship Id="rId1" Type="http://schemas.openxmlformats.org/officeDocument/2006/relationships/tags" Target="../tags/tag708.xml"/></Relationships>
</file>

<file path=ppt/slides/_rels/slide19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13.xml"/><Relationship Id="rId2" Type="http://schemas.openxmlformats.org/officeDocument/2006/relationships/tags" Target="../tags/tag712.xml"/><Relationship Id="rId1" Type="http://schemas.openxmlformats.org/officeDocument/2006/relationships/tags" Target="../tags/tag711.xml"/></Relationships>
</file>

<file path=ppt/slides/_rels/slide19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16.xml"/><Relationship Id="rId2" Type="http://schemas.openxmlformats.org/officeDocument/2006/relationships/tags" Target="../tags/tag715.xml"/><Relationship Id="rId1" Type="http://schemas.openxmlformats.org/officeDocument/2006/relationships/tags" Target="../tags/tag714.xml"/></Relationships>
</file>

<file path=ppt/slides/_rels/slide19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720.xml"/><Relationship Id="rId5" Type="http://schemas.openxmlformats.org/officeDocument/2006/relationships/tags" Target="../tags/tag719.xml"/><Relationship Id="rId4" Type="http://schemas.openxmlformats.org/officeDocument/2006/relationships/tags" Target="../tags/tag718.xml"/><Relationship Id="rId3" Type="http://schemas.openxmlformats.org/officeDocument/2006/relationships/image" Target="../media/image3.png"/><Relationship Id="rId2" Type="http://schemas.openxmlformats.org/officeDocument/2006/relationships/tags" Target="../tags/tag717.xml"/><Relationship Id="rId1" Type="http://schemas.openxmlformats.org/officeDocument/2006/relationships/image" Target="../media/image1.png"/></Relationships>
</file>

<file path=ppt/slides/_rels/slide20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23.xml"/><Relationship Id="rId2" Type="http://schemas.openxmlformats.org/officeDocument/2006/relationships/tags" Target="../tags/tag722.xml"/><Relationship Id="rId1" Type="http://schemas.openxmlformats.org/officeDocument/2006/relationships/tags" Target="../tags/tag721.xml"/></Relationships>
</file>

<file path=ppt/slides/_rels/slide20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26.xml"/><Relationship Id="rId2" Type="http://schemas.openxmlformats.org/officeDocument/2006/relationships/tags" Target="../tags/tag725.xml"/><Relationship Id="rId1" Type="http://schemas.openxmlformats.org/officeDocument/2006/relationships/tags" Target="../tags/tag724.xml"/></Relationships>
</file>

<file path=ppt/slides/_rels/slide202.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3.png"/><Relationship Id="rId3" Type="http://schemas.openxmlformats.org/officeDocument/2006/relationships/tags" Target="../tags/tag729.xml"/><Relationship Id="rId2" Type="http://schemas.openxmlformats.org/officeDocument/2006/relationships/tags" Target="../tags/tag728.xml"/><Relationship Id="rId1" Type="http://schemas.openxmlformats.org/officeDocument/2006/relationships/tags" Target="../tags/tag727.xml"/></Relationships>
</file>

<file path=ppt/slides/_rels/slide203.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image" Target="../media/image3.png"/><Relationship Id="rId3" Type="http://schemas.openxmlformats.org/officeDocument/2006/relationships/tags" Target="../tags/tag732.xml"/><Relationship Id="rId2" Type="http://schemas.openxmlformats.org/officeDocument/2006/relationships/tags" Target="../tags/tag731.xml"/><Relationship Id="rId1" Type="http://schemas.openxmlformats.org/officeDocument/2006/relationships/tags" Target="../tags/tag730.xml"/></Relationships>
</file>

<file path=ppt/slides/_rels/slide204.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image" Target="../media/image3.png"/><Relationship Id="rId3" Type="http://schemas.openxmlformats.org/officeDocument/2006/relationships/tags" Target="../tags/tag735.xml"/><Relationship Id="rId2" Type="http://schemas.openxmlformats.org/officeDocument/2006/relationships/tags" Target="../tags/tag734.xml"/><Relationship Id="rId1" Type="http://schemas.openxmlformats.org/officeDocument/2006/relationships/tags" Target="../tags/tag733.xml"/></Relationships>
</file>

<file path=ppt/slides/_rels/slide205.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3.png"/><Relationship Id="rId3" Type="http://schemas.openxmlformats.org/officeDocument/2006/relationships/tags" Target="../tags/tag738.xml"/><Relationship Id="rId2" Type="http://schemas.openxmlformats.org/officeDocument/2006/relationships/tags" Target="../tags/tag737.xml"/><Relationship Id="rId1" Type="http://schemas.openxmlformats.org/officeDocument/2006/relationships/tags" Target="../tags/tag736.xml"/></Relationships>
</file>

<file path=ppt/slides/_rels/slide206.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20.png"/><Relationship Id="rId4" Type="http://schemas.openxmlformats.org/officeDocument/2006/relationships/image" Target="../media/image3.png"/><Relationship Id="rId3" Type="http://schemas.openxmlformats.org/officeDocument/2006/relationships/tags" Target="../tags/tag741.xml"/><Relationship Id="rId2" Type="http://schemas.openxmlformats.org/officeDocument/2006/relationships/tags" Target="../tags/tag740.xml"/><Relationship Id="rId1" Type="http://schemas.openxmlformats.org/officeDocument/2006/relationships/tags" Target="../tags/tag739.xml"/></Relationships>
</file>

<file path=ppt/slides/_rels/slide20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44.xml"/><Relationship Id="rId2" Type="http://schemas.openxmlformats.org/officeDocument/2006/relationships/tags" Target="../tags/tag743.xml"/><Relationship Id="rId1" Type="http://schemas.openxmlformats.org/officeDocument/2006/relationships/tags" Target="../tags/tag742.xml"/></Relationships>
</file>

<file path=ppt/slides/_rels/slide20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47.xml"/><Relationship Id="rId2" Type="http://schemas.openxmlformats.org/officeDocument/2006/relationships/tags" Target="../tags/tag746.xml"/><Relationship Id="rId1" Type="http://schemas.openxmlformats.org/officeDocument/2006/relationships/tags" Target="../tags/tag745.xml"/></Relationships>
</file>

<file path=ppt/slides/_rels/slide20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50.xml"/><Relationship Id="rId2" Type="http://schemas.openxmlformats.org/officeDocument/2006/relationships/tags" Target="../tags/tag749.xml"/><Relationship Id="rId1" Type="http://schemas.openxmlformats.org/officeDocument/2006/relationships/tags" Target="../tags/tag748.xml"/></Relationships>
</file>

<file path=ppt/slides/_rels/slide210.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2.xml"/><Relationship Id="rId5" Type="http://schemas.openxmlformats.org/officeDocument/2006/relationships/tags" Target="../tags/tag754.xml"/><Relationship Id="rId4" Type="http://schemas.openxmlformats.org/officeDocument/2006/relationships/tags" Target="../tags/tag753.xml"/><Relationship Id="rId3" Type="http://schemas.openxmlformats.org/officeDocument/2006/relationships/tags" Target="../tags/tag752.xml"/><Relationship Id="rId2" Type="http://schemas.openxmlformats.org/officeDocument/2006/relationships/image" Target="../media/image3.png"/><Relationship Id="rId1" Type="http://schemas.openxmlformats.org/officeDocument/2006/relationships/tags" Target="../tags/tag751.xml"/></Relationships>
</file>

<file path=ppt/slides/_rels/slide21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758.xml"/><Relationship Id="rId5" Type="http://schemas.openxmlformats.org/officeDocument/2006/relationships/tags" Target="../tags/tag757.xml"/><Relationship Id="rId4" Type="http://schemas.openxmlformats.org/officeDocument/2006/relationships/tags" Target="../tags/tag756.xml"/><Relationship Id="rId3" Type="http://schemas.openxmlformats.org/officeDocument/2006/relationships/image" Target="../media/image3.png"/><Relationship Id="rId2" Type="http://schemas.openxmlformats.org/officeDocument/2006/relationships/tags" Target="../tags/tag755.xml"/><Relationship Id="rId1" Type="http://schemas.openxmlformats.org/officeDocument/2006/relationships/image" Target="../media/image1.png"/></Relationships>
</file>

<file path=ppt/slides/_rels/slide21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61.xml"/><Relationship Id="rId2" Type="http://schemas.openxmlformats.org/officeDocument/2006/relationships/tags" Target="../tags/tag760.xml"/><Relationship Id="rId1" Type="http://schemas.openxmlformats.org/officeDocument/2006/relationships/tags" Target="../tags/tag759.xml"/></Relationships>
</file>

<file path=ppt/slides/_rels/slide213.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21.png"/><Relationship Id="rId4" Type="http://schemas.openxmlformats.org/officeDocument/2006/relationships/image" Target="../media/image3.png"/><Relationship Id="rId3" Type="http://schemas.openxmlformats.org/officeDocument/2006/relationships/tags" Target="../tags/tag764.xml"/><Relationship Id="rId2" Type="http://schemas.openxmlformats.org/officeDocument/2006/relationships/tags" Target="../tags/tag763.xml"/><Relationship Id="rId1" Type="http://schemas.openxmlformats.org/officeDocument/2006/relationships/tags" Target="../tags/tag762.xml"/></Relationships>
</file>

<file path=ppt/slides/_rels/slide214.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22.png"/><Relationship Id="rId4" Type="http://schemas.openxmlformats.org/officeDocument/2006/relationships/image" Target="../media/image3.png"/><Relationship Id="rId3" Type="http://schemas.openxmlformats.org/officeDocument/2006/relationships/tags" Target="../tags/tag767.xml"/><Relationship Id="rId2" Type="http://schemas.openxmlformats.org/officeDocument/2006/relationships/tags" Target="../tags/tag766.xml"/><Relationship Id="rId1" Type="http://schemas.openxmlformats.org/officeDocument/2006/relationships/tags" Target="../tags/tag765.xml"/></Relationships>
</file>

<file path=ppt/slides/_rels/slide21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70.xml"/><Relationship Id="rId2" Type="http://schemas.openxmlformats.org/officeDocument/2006/relationships/tags" Target="../tags/tag769.xml"/><Relationship Id="rId1" Type="http://schemas.openxmlformats.org/officeDocument/2006/relationships/tags" Target="../tags/tag768.xml"/></Relationships>
</file>

<file path=ppt/slides/_rels/slide21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73.xml"/><Relationship Id="rId2" Type="http://schemas.openxmlformats.org/officeDocument/2006/relationships/tags" Target="../tags/tag772.xml"/><Relationship Id="rId1" Type="http://schemas.openxmlformats.org/officeDocument/2006/relationships/tags" Target="../tags/tag771.xml"/></Relationships>
</file>

<file path=ppt/slides/_rels/slide21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76.xml"/><Relationship Id="rId2" Type="http://schemas.openxmlformats.org/officeDocument/2006/relationships/tags" Target="../tags/tag775.xml"/><Relationship Id="rId1" Type="http://schemas.openxmlformats.org/officeDocument/2006/relationships/tags" Target="../tags/tag774.xml"/></Relationships>
</file>

<file path=ppt/slides/_rels/slide21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79.xml"/><Relationship Id="rId2" Type="http://schemas.openxmlformats.org/officeDocument/2006/relationships/tags" Target="../tags/tag778.xml"/><Relationship Id="rId1" Type="http://schemas.openxmlformats.org/officeDocument/2006/relationships/tags" Target="../tags/tag777.xml"/></Relationships>
</file>

<file path=ppt/slides/_rels/slide21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82.xml"/><Relationship Id="rId2" Type="http://schemas.openxmlformats.org/officeDocument/2006/relationships/tags" Target="../tags/tag781.xml"/><Relationship Id="rId1" Type="http://schemas.openxmlformats.org/officeDocument/2006/relationships/tags" Target="../tags/tag780.xml"/></Relationships>
</file>

<file path=ppt/slides/_rels/slide22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85.xml"/><Relationship Id="rId2" Type="http://schemas.openxmlformats.org/officeDocument/2006/relationships/tags" Target="../tags/tag784.xml"/><Relationship Id="rId1" Type="http://schemas.openxmlformats.org/officeDocument/2006/relationships/tags" Target="../tags/tag783.xml"/></Relationships>
</file>

<file path=ppt/slides/_rels/slide22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88.xml"/><Relationship Id="rId2" Type="http://schemas.openxmlformats.org/officeDocument/2006/relationships/tags" Target="../tags/tag787.xml"/><Relationship Id="rId1" Type="http://schemas.openxmlformats.org/officeDocument/2006/relationships/tags" Target="../tags/tag786.xml"/></Relationships>
</file>

<file path=ppt/slides/_rels/slide22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91.xml"/><Relationship Id="rId2" Type="http://schemas.openxmlformats.org/officeDocument/2006/relationships/tags" Target="../tags/tag790.xml"/><Relationship Id="rId1" Type="http://schemas.openxmlformats.org/officeDocument/2006/relationships/tags" Target="../tags/tag789.xml"/></Relationships>
</file>

<file path=ppt/slides/_rels/slide22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94.xml"/><Relationship Id="rId2" Type="http://schemas.openxmlformats.org/officeDocument/2006/relationships/tags" Target="../tags/tag793.xml"/><Relationship Id="rId1" Type="http://schemas.openxmlformats.org/officeDocument/2006/relationships/tags" Target="../tags/tag792.xml"/></Relationships>
</file>

<file path=ppt/slides/_rels/slide22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797.xml"/><Relationship Id="rId2" Type="http://schemas.openxmlformats.org/officeDocument/2006/relationships/tags" Target="../tags/tag796.xml"/><Relationship Id="rId1" Type="http://schemas.openxmlformats.org/officeDocument/2006/relationships/tags" Target="../tags/tag795.xml"/></Relationships>
</file>

<file path=ppt/slides/_rels/slide22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00.xml"/><Relationship Id="rId2" Type="http://schemas.openxmlformats.org/officeDocument/2006/relationships/tags" Target="../tags/tag799.xml"/><Relationship Id="rId1" Type="http://schemas.openxmlformats.org/officeDocument/2006/relationships/tags" Target="../tags/tag798.xml"/></Relationships>
</file>

<file path=ppt/slides/_rels/slide22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03.xml"/><Relationship Id="rId2" Type="http://schemas.openxmlformats.org/officeDocument/2006/relationships/tags" Target="../tags/tag802.xml"/><Relationship Id="rId1" Type="http://schemas.openxmlformats.org/officeDocument/2006/relationships/tags" Target="../tags/tag801.xml"/></Relationships>
</file>

<file path=ppt/slides/_rels/slide22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807.xml"/><Relationship Id="rId5" Type="http://schemas.openxmlformats.org/officeDocument/2006/relationships/tags" Target="../tags/tag806.xml"/><Relationship Id="rId4" Type="http://schemas.openxmlformats.org/officeDocument/2006/relationships/tags" Target="../tags/tag805.xml"/><Relationship Id="rId3" Type="http://schemas.openxmlformats.org/officeDocument/2006/relationships/image" Target="../media/image3.png"/><Relationship Id="rId2" Type="http://schemas.openxmlformats.org/officeDocument/2006/relationships/tags" Target="../tags/tag804.xml"/><Relationship Id="rId1" Type="http://schemas.openxmlformats.org/officeDocument/2006/relationships/image" Target="../media/image1.png"/></Relationships>
</file>

<file path=ppt/slides/_rels/slide22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10.xml"/><Relationship Id="rId2" Type="http://schemas.openxmlformats.org/officeDocument/2006/relationships/tags" Target="../tags/tag809.xml"/><Relationship Id="rId1" Type="http://schemas.openxmlformats.org/officeDocument/2006/relationships/tags" Target="../tags/tag808.xml"/></Relationships>
</file>

<file path=ppt/slides/_rels/slide229.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814.xml"/><Relationship Id="rId4" Type="http://schemas.openxmlformats.org/officeDocument/2006/relationships/image" Target="../media/image3.png"/><Relationship Id="rId3" Type="http://schemas.openxmlformats.org/officeDocument/2006/relationships/tags" Target="../tags/tag813.xml"/><Relationship Id="rId2" Type="http://schemas.openxmlformats.org/officeDocument/2006/relationships/tags" Target="../tags/tag812.xml"/><Relationship Id="rId1" Type="http://schemas.openxmlformats.org/officeDocument/2006/relationships/tags" Target="../tags/tag811.xml"/></Relationships>
</file>

<file path=ppt/slides/_rels/slide23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17.xml"/><Relationship Id="rId2" Type="http://schemas.openxmlformats.org/officeDocument/2006/relationships/tags" Target="../tags/tag816.xml"/><Relationship Id="rId1" Type="http://schemas.openxmlformats.org/officeDocument/2006/relationships/tags" Target="../tags/tag815.xml"/></Relationships>
</file>

<file path=ppt/slides/_rels/slide23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20.xml"/><Relationship Id="rId2" Type="http://schemas.openxmlformats.org/officeDocument/2006/relationships/tags" Target="../tags/tag819.xml"/><Relationship Id="rId1" Type="http://schemas.openxmlformats.org/officeDocument/2006/relationships/tags" Target="../tags/tag818.xml"/></Relationships>
</file>

<file path=ppt/slides/_rels/slide23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23.xml"/><Relationship Id="rId2" Type="http://schemas.openxmlformats.org/officeDocument/2006/relationships/tags" Target="../tags/tag822.xml"/><Relationship Id="rId1" Type="http://schemas.openxmlformats.org/officeDocument/2006/relationships/tags" Target="../tags/tag821.xml"/></Relationships>
</file>

<file path=ppt/slides/_rels/slide23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26.xml"/><Relationship Id="rId2" Type="http://schemas.openxmlformats.org/officeDocument/2006/relationships/tags" Target="../tags/tag825.xml"/><Relationship Id="rId1" Type="http://schemas.openxmlformats.org/officeDocument/2006/relationships/tags" Target="../tags/tag824.xml"/></Relationships>
</file>

<file path=ppt/slides/_rels/slide23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29.xml"/><Relationship Id="rId2" Type="http://schemas.openxmlformats.org/officeDocument/2006/relationships/tags" Target="../tags/tag828.xml"/><Relationship Id="rId1" Type="http://schemas.openxmlformats.org/officeDocument/2006/relationships/tags" Target="../tags/tag827.xml"/></Relationships>
</file>

<file path=ppt/slides/_rels/slide23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32.xml"/><Relationship Id="rId2" Type="http://schemas.openxmlformats.org/officeDocument/2006/relationships/tags" Target="../tags/tag831.xml"/><Relationship Id="rId1" Type="http://schemas.openxmlformats.org/officeDocument/2006/relationships/tags" Target="../tags/tag830.xml"/></Relationships>
</file>

<file path=ppt/slides/_rels/slide23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35.xml"/><Relationship Id="rId2" Type="http://schemas.openxmlformats.org/officeDocument/2006/relationships/tags" Target="../tags/tag834.xml"/><Relationship Id="rId1" Type="http://schemas.openxmlformats.org/officeDocument/2006/relationships/tags" Target="../tags/tag833.xml"/></Relationships>
</file>

<file path=ppt/slides/_rels/slide23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38.xml"/><Relationship Id="rId2" Type="http://schemas.openxmlformats.org/officeDocument/2006/relationships/tags" Target="../tags/tag837.xml"/><Relationship Id="rId1" Type="http://schemas.openxmlformats.org/officeDocument/2006/relationships/tags" Target="../tags/tag836.xml"/></Relationships>
</file>

<file path=ppt/slides/_rels/slide23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41.xml"/><Relationship Id="rId2" Type="http://schemas.openxmlformats.org/officeDocument/2006/relationships/tags" Target="../tags/tag840.xml"/><Relationship Id="rId1" Type="http://schemas.openxmlformats.org/officeDocument/2006/relationships/tags" Target="../tags/tag839.xml"/></Relationships>
</file>

<file path=ppt/slides/_rels/slide23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845.xml"/><Relationship Id="rId5" Type="http://schemas.openxmlformats.org/officeDocument/2006/relationships/tags" Target="../tags/tag844.xml"/><Relationship Id="rId4" Type="http://schemas.openxmlformats.org/officeDocument/2006/relationships/tags" Target="../tags/tag843.xml"/><Relationship Id="rId3" Type="http://schemas.openxmlformats.org/officeDocument/2006/relationships/image" Target="../media/image3.png"/><Relationship Id="rId2" Type="http://schemas.openxmlformats.org/officeDocument/2006/relationships/tags" Target="../tags/tag842.xml"/><Relationship Id="rId1" Type="http://schemas.openxmlformats.org/officeDocument/2006/relationships/image" Target="../media/image1.png"/></Relationships>
</file>

<file path=ppt/slides/_rels/slide24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48.xml"/><Relationship Id="rId2" Type="http://schemas.openxmlformats.org/officeDocument/2006/relationships/tags" Target="../tags/tag847.xml"/><Relationship Id="rId1" Type="http://schemas.openxmlformats.org/officeDocument/2006/relationships/tags" Target="../tags/tag846.xml"/></Relationships>
</file>

<file path=ppt/slides/_rels/slide24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51.xml"/><Relationship Id="rId2" Type="http://schemas.openxmlformats.org/officeDocument/2006/relationships/tags" Target="../tags/tag850.xml"/><Relationship Id="rId1" Type="http://schemas.openxmlformats.org/officeDocument/2006/relationships/tags" Target="../tags/tag849.xml"/></Relationships>
</file>

<file path=ppt/slides/_rels/slide24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54.xml"/><Relationship Id="rId2" Type="http://schemas.openxmlformats.org/officeDocument/2006/relationships/tags" Target="../tags/tag853.xml"/><Relationship Id="rId1" Type="http://schemas.openxmlformats.org/officeDocument/2006/relationships/tags" Target="../tags/tag852.xml"/></Relationships>
</file>

<file path=ppt/slides/_rels/slide24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57.xml"/><Relationship Id="rId2" Type="http://schemas.openxmlformats.org/officeDocument/2006/relationships/tags" Target="../tags/tag856.xml"/><Relationship Id="rId1" Type="http://schemas.openxmlformats.org/officeDocument/2006/relationships/tags" Target="../tags/tag855.xml"/></Relationships>
</file>

<file path=ppt/slides/_rels/slide24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60.xml"/><Relationship Id="rId2" Type="http://schemas.openxmlformats.org/officeDocument/2006/relationships/tags" Target="../tags/tag859.xml"/><Relationship Id="rId1" Type="http://schemas.openxmlformats.org/officeDocument/2006/relationships/tags" Target="../tags/tag858.xml"/></Relationships>
</file>

<file path=ppt/slides/_rels/slide24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63.xml"/><Relationship Id="rId2" Type="http://schemas.openxmlformats.org/officeDocument/2006/relationships/tags" Target="../tags/tag862.xml"/><Relationship Id="rId1" Type="http://schemas.openxmlformats.org/officeDocument/2006/relationships/tags" Target="../tags/tag861.xml"/></Relationships>
</file>

<file path=ppt/slides/_rels/slide24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66.xml"/><Relationship Id="rId2" Type="http://schemas.openxmlformats.org/officeDocument/2006/relationships/tags" Target="../tags/tag865.xml"/><Relationship Id="rId1" Type="http://schemas.openxmlformats.org/officeDocument/2006/relationships/tags" Target="../tags/tag864.xml"/></Relationships>
</file>

<file path=ppt/slides/_rels/slide24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69.xml"/><Relationship Id="rId2" Type="http://schemas.openxmlformats.org/officeDocument/2006/relationships/tags" Target="../tags/tag868.xml"/><Relationship Id="rId1" Type="http://schemas.openxmlformats.org/officeDocument/2006/relationships/tags" Target="../tags/tag867.xml"/></Relationships>
</file>

<file path=ppt/slides/_rels/slide24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72.xml"/><Relationship Id="rId2" Type="http://schemas.openxmlformats.org/officeDocument/2006/relationships/tags" Target="../tags/tag871.xml"/><Relationship Id="rId1" Type="http://schemas.openxmlformats.org/officeDocument/2006/relationships/tags" Target="../tags/tag870.xml"/></Relationships>
</file>

<file path=ppt/slides/_rels/slide24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75.xml"/><Relationship Id="rId2" Type="http://schemas.openxmlformats.org/officeDocument/2006/relationships/tags" Target="../tags/tag874.xml"/><Relationship Id="rId1" Type="http://schemas.openxmlformats.org/officeDocument/2006/relationships/tags" Target="../tags/tag873.xml"/></Relationships>
</file>

<file path=ppt/slides/_rels/slide25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78.xml"/><Relationship Id="rId2" Type="http://schemas.openxmlformats.org/officeDocument/2006/relationships/tags" Target="../tags/tag877.xml"/><Relationship Id="rId1" Type="http://schemas.openxmlformats.org/officeDocument/2006/relationships/tags" Target="../tags/tag876.xml"/></Relationships>
</file>

<file path=ppt/slides/_rels/slide25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81.xml"/><Relationship Id="rId2" Type="http://schemas.openxmlformats.org/officeDocument/2006/relationships/tags" Target="../tags/tag880.xml"/><Relationship Id="rId1" Type="http://schemas.openxmlformats.org/officeDocument/2006/relationships/tags" Target="../tags/tag879.xml"/></Relationships>
</file>

<file path=ppt/slides/_rels/slide252.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xml"/><Relationship Id="rId5" Type="http://schemas.openxmlformats.org/officeDocument/2006/relationships/tags" Target="../tags/tag885.xml"/><Relationship Id="rId4" Type="http://schemas.openxmlformats.org/officeDocument/2006/relationships/tags" Target="../tags/tag884.xml"/><Relationship Id="rId3" Type="http://schemas.openxmlformats.org/officeDocument/2006/relationships/tags" Target="../tags/tag883.xml"/><Relationship Id="rId2" Type="http://schemas.openxmlformats.org/officeDocument/2006/relationships/image" Target="../media/image3.png"/><Relationship Id="rId1" Type="http://schemas.openxmlformats.org/officeDocument/2006/relationships/tags" Target="../tags/tag882.xml"/></Relationships>
</file>

<file path=ppt/slides/_rels/slide25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889.xml"/><Relationship Id="rId5" Type="http://schemas.openxmlformats.org/officeDocument/2006/relationships/tags" Target="../tags/tag888.xml"/><Relationship Id="rId4" Type="http://schemas.openxmlformats.org/officeDocument/2006/relationships/tags" Target="../tags/tag887.xml"/><Relationship Id="rId3" Type="http://schemas.openxmlformats.org/officeDocument/2006/relationships/image" Target="../media/image3.png"/><Relationship Id="rId2" Type="http://schemas.openxmlformats.org/officeDocument/2006/relationships/tags" Target="../tags/tag886.xml"/><Relationship Id="rId1" Type="http://schemas.openxmlformats.org/officeDocument/2006/relationships/image" Target="../media/image1.png"/></Relationships>
</file>

<file path=ppt/slides/_rels/slide25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92.xml"/><Relationship Id="rId2" Type="http://schemas.openxmlformats.org/officeDocument/2006/relationships/tags" Target="../tags/tag891.xml"/><Relationship Id="rId1" Type="http://schemas.openxmlformats.org/officeDocument/2006/relationships/tags" Target="../tags/tag890.xml"/></Relationships>
</file>

<file path=ppt/slides/_rels/slide25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95.xml"/><Relationship Id="rId2" Type="http://schemas.openxmlformats.org/officeDocument/2006/relationships/tags" Target="../tags/tag894.xml"/><Relationship Id="rId1" Type="http://schemas.openxmlformats.org/officeDocument/2006/relationships/tags" Target="../tags/tag893.xml"/></Relationships>
</file>

<file path=ppt/slides/_rels/slide25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898.xml"/><Relationship Id="rId2" Type="http://schemas.openxmlformats.org/officeDocument/2006/relationships/tags" Target="../tags/tag897.xml"/><Relationship Id="rId1" Type="http://schemas.openxmlformats.org/officeDocument/2006/relationships/tags" Target="../tags/tag896.xml"/></Relationships>
</file>

<file path=ppt/slides/_rels/slide25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01.xml"/><Relationship Id="rId2" Type="http://schemas.openxmlformats.org/officeDocument/2006/relationships/tags" Target="../tags/tag900.xml"/><Relationship Id="rId1" Type="http://schemas.openxmlformats.org/officeDocument/2006/relationships/tags" Target="../tags/tag899.xml"/></Relationships>
</file>

<file path=ppt/slides/_rels/slide25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905.xml"/><Relationship Id="rId5" Type="http://schemas.openxmlformats.org/officeDocument/2006/relationships/tags" Target="../tags/tag904.xml"/><Relationship Id="rId4" Type="http://schemas.openxmlformats.org/officeDocument/2006/relationships/tags" Target="../tags/tag903.xml"/><Relationship Id="rId3" Type="http://schemas.openxmlformats.org/officeDocument/2006/relationships/image" Target="../media/image3.png"/><Relationship Id="rId2" Type="http://schemas.openxmlformats.org/officeDocument/2006/relationships/tags" Target="../tags/tag902.xml"/><Relationship Id="rId1" Type="http://schemas.openxmlformats.org/officeDocument/2006/relationships/image" Target="../media/image1.png"/></Relationships>
</file>

<file path=ppt/slides/_rels/slide25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08.xml"/><Relationship Id="rId2" Type="http://schemas.openxmlformats.org/officeDocument/2006/relationships/tags" Target="../tags/tag907.xml"/><Relationship Id="rId1" Type="http://schemas.openxmlformats.org/officeDocument/2006/relationships/tags" Target="../tags/tag906.xml"/></Relationships>
</file>

<file path=ppt/slides/_rels/slide26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11.xml"/><Relationship Id="rId2" Type="http://schemas.openxmlformats.org/officeDocument/2006/relationships/tags" Target="../tags/tag910.xml"/><Relationship Id="rId1" Type="http://schemas.openxmlformats.org/officeDocument/2006/relationships/tags" Target="../tags/tag909.xml"/></Relationships>
</file>

<file path=ppt/slides/_rels/slide26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14.xml"/><Relationship Id="rId2" Type="http://schemas.openxmlformats.org/officeDocument/2006/relationships/tags" Target="../tags/tag913.xml"/><Relationship Id="rId1" Type="http://schemas.openxmlformats.org/officeDocument/2006/relationships/tags" Target="../tags/tag912.xml"/></Relationships>
</file>

<file path=ppt/slides/_rels/slide26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17.xml"/><Relationship Id="rId2" Type="http://schemas.openxmlformats.org/officeDocument/2006/relationships/tags" Target="../tags/tag916.xml"/><Relationship Id="rId1" Type="http://schemas.openxmlformats.org/officeDocument/2006/relationships/tags" Target="../tags/tag915.xml"/></Relationships>
</file>

<file path=ppt/slides/_rels/slide26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921.xml"/><Relationship Id="rId5" Type="http://schemas.openxmlformats.org/officeDocument/2006/relationships/tags" Target="../tags/tag920.xml"/><Relationship Id="rId4" Type="http://schemas.openxmlformats.org/officeDocument/2006/relationships/tags" Target="../tags/tag919.xml"/><Relationship Id="rId3" Type="http://schemas.openxmlformats.org/officeDocument/2006/relationships/image" Target="../media/image3.png"/><Relationship Id="rId2" Type="http://schemas.openxmlformats.org/officeDocument/2006/relationships/tags" Target="../tags/tag918.xml"/><Relationship Id="rId1" Type="http://schemas.openxmlformats.org/officeDocument/2006/relationships/image" Target="../media/image1.png"/></Relationships>
</file>

<file path=ppt/slides/_rels/slide26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24.xml"/><Relationship Id="rId2" Type="http://schemas.openxmlformats.org/officeDocument/2006/relationships/tags" Target="../tags/tag923.xml"/><Relationship Id="rId1" Type="http://schemas.openxmlformats.org/officeDocument/2006/relationships/tags" Target="../tags/tag922.xml"/></Relationships>
</file>

<file path=ppt/slides/_rels/slide26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27.xml"/><Relationship Id="rId2" Type="http://schemas.openxmlformats.org/officeDocument/2006/relationships/tags" Target="../tags/tag926.xml"/><Relationship Id="rId1" Type="http://schemas.openxmlformats.org/officeDocument/2006/relationships/tags" Target="../tags/tag925.xml"/></Relationships>
</file>

<file path=ppt/slides/_rels/slide266.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xml"/><Relationship Id="rId5" Type="http://schemas.openxmlformats.org/officeDocument/2006/relationships/tags" Target="../tags/tag931.xml"/><Relationship Id="rId4" Type="http://schemas.openxmlformats.org/officeDocument/2006/relationships/tags" Target="../tags/tag930.xml"/><Relationship Id="rId3" Type="http://schemas.openxmlformats.org/officeDocument/2006/relationships/tags" Target="../tags/tag929.xml"/><Relationship Id="rId2" Type="http://schemas.openxmlformats.org/officeDocument/2006/relationships/image" Target="../media/image3.png"/><Relationship Id="rId1" Type="http://schemas.openxmlformats.org/officeDocument/2006/relationships/tags" Target="../tags/tag928.xml"/></Relationships>
</file>

<file path=ppt/slides/_rels/slide26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935.xml"/><Relationship Id="rId5" Type="http://schemas.openxmlformats.org/officeDocument/2006/relationships/tags" Target="../tags/tag934.xml"/><Relationship Id="rId4" Type="http://schemas.openxmlformats.org/officeDocument/2006/relationships/tags" Target="../tags/tag933.xml"/><Relationship Id="rId3" Type="http://schemas.openxmlformats.org/officeDocument/2006/relationships/image" Target="../media/image3.png"/><Relationship Id="rId2" Type="http://schemas.openxmlformats.org/officeDocument/2006/relationships/tags" Target="../tags/tag932.xml"/><Relationship Id="rId1" Type="http://schemas.openxmlformats.org/officeDocument/2006/relationships/image" Target="../media/image1.png"/></Relationships>
</file>

<file path=ppt/slides/_rels/slide26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38.xml"/><Relationship Id="rId2" Type="http://schemas.openxmlformats.org/officeDocument/2006/relationships/tags" Target="../tags/tag937.xml"/><Relationship Id="rId1" Type="http://schemas.openxmlformats.org/officeDocument/2006/relationships/tags" Target="../tags/tag936.xml"/></Relationships>
</file>

<file path=ppt/slides/_rels/slide26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41.xml"/><Relationship Id="rId2" Type="http://schemas.openxmlformats.org/officeDocument/2006/relationships/tags" Target="../tags/tag940.xml"/><Relationship Id="rId1" Type="http://schemas.openxmlformats.org/officeDocument/2006/relationships/tags" Target="../tags/tag939.xml"/></Relationships>
</file>

<file path=ppt/slides/_rels/slide27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945.xml"/><Relationship Id="rId5" Type="http://schemas.openxmlformats.org/officeDocument/2006/relationships/tags" Target="../tags/tag944.xml"/><Relationship Id="rId4" Type="http://schemas.openxmlformats.org/officeDocument/2006/relationships/tags" Target="../tags/tag943.xml"/><Relationship Id="rId3" Type="http://schemas.openxmlformats.org/officeDocument/2006/relationships/image" Target="../media/image3.png"/><Relationship Id="rId2" Type="http://schemas.openxmlformats.org/officeDocument/2006/relationships/tags" Target="../tags/tag942.xml"/><Relationship Id="rId1" Type="http://schemas.openxmlformats.org/officeDocument/2006/relationships/image" Target="../media/image1.png"/></Relationships>
</file>

<file path=ppt/slides/_rels/slide27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48.xml"/><Relationship Id="rId2" Type="http://schemas.openxmlformats.org/officeDocument/2006/relationships/tags" Target="../tags/tag947.xml"/><Relationship Id="rId1" Type="http://schemas.openxmlformats.org/officeDocument/2006/relationships/tags" Target="../tags/tag946.xml"/></Relationships>
</file>

<file path=ppt/slides/_rels/slide27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51.xml"/><Relationship Id="rId2" Type="http://schemas.openxmlformats.org/officeDocument/2006/relationships/tags" Target="../tags/tag950.xml"/><Relationship Id="rId1" Type="http://schemas.openxmlformats.org/officeDocument/2006/relationships/tags" Target="../tags/tag949.xml"/></Relationships>
</file>

<file path=ppt/slides/_rels/slide27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54.xml"/><Relationship Id="rId2" Type="http://schemas.openxmlformats.org/officeDocument/2006/relationships/tags" Target="../tags/tag953.xml"/><Relationship Id="rId1" Type="http://schemas.openxmlformats.org/officeDocument/2006/relationships/tags" Target="../tags/tag952.xml"/></Relationships>
</file>

<file path=ppt/slides/_rels/slide27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57.xml"/><Relationship Id="rId2" Type="http://schemas.openxmlformats.org/officeDocument/2006/relationships/tags" Target="../tags/tag956.xml"/><Relationship Id="rId1" Type="http://schemas.openxmlformats.org/officeDocument/2006/relationships/tags" Target="../tags/tag955.xml"/></Relationships>
</file>

<file path=ppt/slides/_rels/slide27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961.xml"/><Relationship Id="rId5" Type="http://schemas.openxmlformats.org/officeDocument/2006/relationships/tags" Target="../tags/tag960.xml"/><Relationship Id="rId4" Type="http://schemas.openxmlformats.org/officeDocument/2006/relationships/tags" Target="../tags/tag959.xml"/><Relationship Id="rId3" Type="http://schemas.openxmlformats.org/officeDocument/2006/relationships/image" Target="../media/image3.png"/><Relationship Id="rId2" Type="http://schemas.openxmlformats.org/officeDocument/2006/relationships/tags" Target="../tags/tag958.xml"/><Relationship Id="rId1" Type="http://schemas.openxmlformats.org/officeDocument/2006/relationships/image" Target="../media/image1.png"/></Relationships>
</file>

<file path=ppt/slides/_rels/slide27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64.xml"/><Relationship Id="rId2" Type="http://schemas.openxmlformats.org/officeDocument/2006/relationships/tags" Target="../tags/tag963.xml"/><Relationship Id="rId1" Type="http://schemas.openxmlformats.org/officeDocument/2006/relationships/tags" Target="../tags/tag962.xml"/></Relationships>
</file>

<file path=ppt/slides/_rels/slide27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67.xml"/><Relationship Id="rId2" Type="http://schemas.openxmlformats.org/officeDocument/2006/relationships/tags" Target="../tags/tag966.xml"/><Relationship Id="rId1" Type="http://schemas.openxmlformats.org/officeDocument/2006/relationships/tags" Target="../tags/tag965.xml"/></Relationships>
</file>

<file path=ppt/slides/_rels/slide27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70.xml"/><Relationship Id="rId2" Type="http://schemas.openxmlformats.org/officeDocument/2006/relationships/tags" Target="../tags/tag969.xml"/><Relationship Id="rId1" Type="http://schemas.openxmlformats.org/officeDocument/2006/relationships/tags" Target="../tags/tag968.xml"/></Relationships>
</file>

<file path=ppt/slides/_rels/slide27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73.xml"/><Relationship Id="rId2" Type="http://schemas.openxmlformats.org/officeDocument/2006/relationships/tags" Target="../tags/tag972.xml"/><Relationship Id="rId1" Type="http://schemas.openxmlformats.org/officeDocument/2006/relationships/tags" Target="../tags/tag971.xml"/></Relationships>
</file>

<file path=ppt/slides/_rels/slide28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76.xml"/><Relationship Id="rId2" Type="http://schemas.openxmlformats.org/officeDocument/2006/relationships/tags" Target="../tags/tag975.xml"/><Relationship Id="rId1" Type="http://schemas.openxmlformats.org/officeDocument/2006/relationships/tags" Target="../tags/tag974.xml"/></Relationships>
</file>

<file path=ppt/slides/_rels/slide28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79.xml"/><Relationship Id="rId2" Type="http://schemas.openxmlformats.org/officeDocument/2006/relationships/tags" Target="../tags/tag978.xml"/><Relationship Id="rId1" Type="http://schemas.openxmlformats.org/officeDocument/2006/relationships/tags" Target="../tags/tag977.xml"/></Relationships>
</file>

<file path=ppt/slides/_rels/slide28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82.xml"/><Relationship Id="rId2" Type="http://schemas.openxmlformats.org/officeDocument/2006/relationships/tags" Target="../tags/tag981.xml"/><Relationship Id="rId1" Type="http://schemas.openxmlformats.org/officeDocument/2006/relationships/tags" Target="../tags/tag980.xml"/></Relationships>
</file>

<file path=ppt/slides/_rels/slide28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85.xml"/><Relationship Id="rId2" Type="http://schemas.openxmlformats.org/officeDocument/2006/relationships/tags" Target="../tags/tag984.xml"/><Relationship Id="rId1" Type="http://schemas.openxmlformats.org/officeDocument/2006/relationships/tags" Target="../tags/tag983.xml"/></Relationships>
</file>

<file path=ppt/slides/_rels/slide28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88.xml"/><Relationship Id="rId2" Type="http://schemas.openxmlformats.org/officeDocument/2006/relationships/tags" Target="../tags/tag987.xml"/><Relationship Id="rId1" Type="http://schemas.openxmlformats.org/officeDocument/2006/relationships/tags" Target="../tags/tag986.xml"/></Relationships>
</file>

<file path=ppt/slides/_rels/slide285.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xml"/><Relationship Id="rId5" Type="http://schemas.openxmlformats.org/officeDocument/2006/relationships/tags" Target="../tags/tag992.xml"/><Relationship Id="rId4" Type="http://schemas.openxmlformats.org/officeDocument/2006/relationships/tags" Target="../tags/tag991.xml"/><Relationship Id="rId3" Type="http://schemas.openxmlformats.org/officeDocument/2006/relationships/tags" Target="../tags/tag990.xml"/><Relationship Id="rId2" Type="http://schemas.openxmlformats.org/officeDocument/2006/relationships/image" Target="../media/image3.png"/><Relationship Id="rId1" Type="http://schemas.openxmlformats.org/officeDocument/2006/relationships/tags" Target="../tags/tag989.xml"/></Relationships>
</file>

<file path=ppt/slides/_rels/slide28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996.xml"/><Relationship Id="rId5" Type="http://schemas.openxmlformats.org/officeDocument/2006/relationships/tags" Target="../tags/tag995.xml"/><Relationship Id="rId4" Type="http://schemas.openxmlformats.org/officeDocument/2006/relationships/tags" Target="../tags/tag994.xml"/><Relationship Id="rId3" Type="http://schemas.openxmlformats.org/officeDocument/2006/relationships/image" Target="../media/image3.png"/><Relationship Id="rId2" Type="http://schemas.openxmlformats.org/officeDocument/2006/relationships/tags" Target="../tags/tag993.xml"/><Relationship Id="rId1" Type="http://schemas.openxmlformats.org/officeDocument/2006/relationships/image" Target="../media/image1.png"/></Relationships>
</file>

<file path=ppt/slides/_rels/slide28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999.xml"/><Relationship Id="rId2" Type="http://schemas.openxmlformats.org/officeDocument/2006/relationships/tags" Target="../tags/tag998.xml"/><Relationship Id="rId1" Type="http://schemas.openxmlformats.org/officeDocument/2006/relationships/tags" Target="../tags/tag997.xml"/></Relationships>
</file>

<file path=ppt/slides/_rels/slide28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02.xml"/><Relationship Id="rId2" Type="http://schemas.openxmlformats.org/officeDocument/2006/relationships/tags" Target="../tags/tag1001.xml"/><Relationship Id="rId1" Type="http://schemas.openxmlformats.org/officeDocument/2006/relationships/tags" Target="../tags/tag1000.xml"/></Relationships>
</file>

<file path=ppt/slides/_rels/slide289.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05.xml"/><Relationship Id="rId2" Type="http://schemas.openxmlformats.org/officeDocument/2006/relationships/tags" Target="../tags/tag1004.xml"/><Relationship Id="rId1" Type="http://schemas.openxmlformats.org/officeDocument/2006/relationships/tags" Target="../tags/tag1003.xml"/></Relationships>
</file>

<file path=ppt/slides/_rels/slide29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08.xml"/><Relationship Id="rId2" Type="http://schemas.openxmlformats.org/officeDocument/2006/relationships/tags" Target="../tags/tag1007.xml"/><Relationship Id="rId1" Type="http://schemas.openxmlformats.org/officeDocument/2006/relationships/tags" Target="../tags/tag1006.xml"/></Relationships>
</file>

<file path=ppt/slides/_rels/slide29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11.xml"/><Relationship Id="rId2" Type="http://schemas.openxmlformats.org/officeDocument/2006/relationships/tags" Target="../tags/tag1010.xml"/><Relationship Id="rId1" Type="http://schemas.openxmlformats.org/officeDocument/2006/relationships/tags" Target="../tags/tag1009.xml"/></Relationships>
</file>

<file path=ppt/slides/_rels/slide29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14.xml"/><Relationship Id="rId2" Type="http://schemas.openxmlformats.org/officeDocument/2006/relationships/tags" Target="../tags/tag1013.xml"/><Relationship Id="rId1" Type="http://schemas.openxmlformats.org/officeDocument/2006/relationships/tags" Target="../tags/tag1012.xml"/></Relationships>
</file>

<file path=ppt/slides/_rels/slide29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17.xml"/><Relationship Id="rId2" Type="http://schemas.openxmlformats.org/officeDocument/2006/relationships/tags" Target="../tags/tag1016.xml"/><Relationship Id="rId1" Type="http://schemas.openxmlformats.org/officeDocument/2006/relationships/tags" Target="../tags/tag1015.xml"/></Relationships>
</file>

<file path=ppt/slides/_rels/slide29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20.xml"/><Relationship Id="rId2" Type="http://schemas.openxmlformats.org/officeDocument/2006/relationships/tags" Target="../tags/tag1019.xml"/><Relationship Id="rId1" Type="http://schemas.openxmlformats.org/officeDocument/2006/relationships/tags" Target="../tags/tag1018.xml"/></Relationships>
</file>

<file path=ppt/slides/_rels/slide29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23.xml"/><Relationship Id="rId2" Type="http://schemas.openxmlformats.org/officeDocument/2006/relationships/tags" Target="../tags/tag1022.xml"/><Relationship Id="rId1" Type="http://schemas.openxmlformats.org/officeDocument/2006/relationships/tags" Target="../tags/tag1021.xml"/></Relationships>
</file>

<file path=ppt/slides/_rels/slide29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26.xml"/><Relationship Id="rId2" Type="http://schemas.openxmlformats.org/officeDocument/2006/relationships/tags" Target="../tags/tag1025.xml"/><Relationship Id="rId1" Type="http://schemas.openxmlformats.org/officeDocument/2006/relationships/tags" Target="../tags/tag1024.xml"/></Relationships>
</file>

<file path=ppt/slides/_rels/slide29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030.xml"/><Relationship Id="rId5" Type="http://schemas.openxmlformats.org/officeDocument/2006/relationships/tags" Target="../tags/tag1029.xml"/><Relationship Id="rId4" Type="http://schemas.openxmlformats.org/officeDocument/2006/relationships/tags" Target="../tags/tag1028.xml"/><Relationship Id="rId3" Type="http://schemas.openxmlformats.org/officeDocument/2006/relationships/image" Target="../media/image3.png"/><Relationship Id="rId2" Type="http://schemas.openxmlformats.org/officeDocument/2006/relationships/tags" Target="../tags/tag1027.xml"/><Relationship Id="rId1" Type="http://schemas.openxmlformats.org/officeDocument/2006/relationships/image" Target="../media/image1.png"/></Relationships>
</file>

<file path=ppt/slides/_rels/slide29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33.xml"/><Relationship Id="rId2" Type="http://schemas.openxmlformats.org/officeDocument/2006/relationships/tags" Target="../tags/tag1032.xml"/><Relationship Id="rId1" Type="http://schemas.openxmlformats.org/officeDocument/2006/relationships/tags" Target="../tags/tag1031.xml"/></Relationships>
</file>

<file path=ppt/slides/_rels/slide29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36.xml"/><Relationship Id="rId2" Type="http://schemas.openxmlformats.org/officeDocument/2006/relationships/tags" Target="../tags/tag1035.xml"/><Relationship Id="rId1" Type="http://schemas.openxmlformats.org/officeDocument/2006/relationships/tags" Target="../tags/tag1034.xml"/></Relationships>
</file>

<file path=ppt/slides/_rels/slide30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39.xml"/><Relationship Id="rId2" Type="http://schemas.openxmlformats.org/officeDocument/2006/relationships/tags" Target="../tags/tag1038.xml"/><Relationship Id="rId1" Type="http://schemas.openxmlformats.org/officeDocument/2006/relationships/tags" Target="../tags/tag1037.xml"/></Relationships>
</file>

<file path=ppt/slides/_rels/slide30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42.xml"/><Relationship Id="rId2" Type="http://schemas.openxmlformats.org/officeDocument/2006/relationships/tags" Target="../tags/tag1041.xml"/><Relationship Id="rId1" Type="http://schemas.openxmlformats.org/officeDocument/2006/relationships/tags" Target="../tags/tag1040.xml"/></Relationships>
</file>

<file path=ppt/slides/_rels/slide30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45.xml"/><Relationship Id="rId2" Type="http://schemas.openxmlformats.org/officeDocument/2006/relationships/tags" Target="../tags/tag1044.xml"/><Relationship Id="rId1" Type="http://schemas.openxmlformats.org/officeDocument/2006/relationships/tags" Target="../tags/tag1043.xml"/></Relationships>
</file>

<file path=ppt/slides/_rels/slide303.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2.xml"/><Relationship Id="rId5" Type="http://schemas.openxmlformats.org/officeDocument/2006/relationships/tags" Target="../tags/tag1049.xml"/><Relationship Id="rId4" Type="http://schemas.openxmlformats.org/officeDocument/2006/relationships/tags" Target="../tags/tag1048.xml"/><Relationship Id="rId3" Type="http://schemas.openxmlformats.org/officeDocument/2006/relationships/tags" Target="../tags/tag1047.xml"/><Relationship Id="rId2" Type="http://schemas.openxmlformats.org/officeDocument/2006/relationships/image" Target="../media/image3.png"/><Relationship Id="rId1" Type="http://schemas.openxmlformats.org/officeDocument/2006/relationships/tags" Target="../tags/tag1046.xml"/></Relationships>
</file>

<file path=ppt/slides/_rels/slide30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053.xml"/><Relationship Id="rId5" Type="http://schemas.openxmlformats.org/officeDocument/2006/relationships/tags" Target="../tags/tag1052.xml"/><Relationship Id="rId4" Type="http://schemas.openxmlformats.org/officeDocument/2006/relationships/tags" Target="../tags/tag1051.xml"/><Relationship Id="rId3" Type="http://schemas.openxmlformats.org/officeDocument/2006/relationships/image" Target="../media/image3.png"/><Relationship Id="rId2" Type="http://schemas.openxmlformats.org/officeDocument/2006/relationships/tags" Target="../tags/tag1050.xml"/><Relationship Id="rId1" Type="http://schemas.openxmlformats.org/officeDocument/2006/relationships/image" Target="../media/image1.png"/></Relationships>
</file>

<file path=ppt/slides/_rels/slide30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56.xml"/><Relationship Id="rId2" Type="http://schemas.openxmlformats.org/officeDocument/2006/relationships/tags" Target="../tags/tag1055.xml"/><Relationship Id="rId1" Type="http://schemas.openxmlformats.org/officeDocument/2006/relationships/tags" Target="../tags/tag1054.xml"/></Relationships>
</file>

<file path=ppt/slides/_rels/slide30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59.xml"/><Relationship Id="rId2" Type="http://schemas.openxmlformats.org/officeDocument/2006/relationships/tags" Target="../tags/tag1058.xml"/><Relationship Id="rId1" Type="http://schemas.openxmlformats.org/officeDocument/2006/relationships/tags" Target="../tags/tag1057.xml"/></Relationships>
</file>

<file path=ppt/slides/_rels/slide30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62.xml"/><Relationship Id="rId2" Type="http://schemas.openxmlformats.org/officeDocument/2006/relationships/tags" Target="../tags/tag1061.xml"/><Relationship Id="rId1" Type="http://schemas.openxmlformats.org/officeDocument/2006/relationships/tags" Target="../tags/tag1060.xml"/></Relationships>
</file>

<file path=ppt/slides/_rels/slide30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65.xml"/><Relationship Id="rId2" Type="http://schemas.openxmlformats.org/officeDocument/2006/relationships/tags" Target="../tags/tag1064.xml"/><Relationship Id="rId1" Type="http://schemas.openxmlformats.org/officeDocument/2006/relationships/tags" Target="../tags/tag1063.xml"/></Relationships>
</file>

<file path=ppt/slides/_rels/slide30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68.xml"/><Relationship Id="rId2" Type="http://schemas.openxmlformats.org/officeDocument/2006/relationships/tags" Target="../tags/tag1067.xml"/><Relationship Id="rId1" Type="http://schemas.openxmlformats.org/officeDocument/2006/relationships/tags" Target="../tags/tag1066.xml"/></Relationships>
</file>

<file path=ppt/slides/_rels/slide31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072.xml"/><Relationship Id="rId5" Type="http://schemas.openxmlformats.org/officeDocument/2006/relationships/tags" Target="../tags/tag1071.xml"/><Relationship Id="rId4" Type="http://schemas.openxmlformats.org/officeDocument/2006/relationships/tags" Target="../tags/tag1070.xml"/><Relationship Id="rId3" Type="http://schemas.openxmlformats.org/officeDocument/2006/relationships/image" Target="../media/image3.png"/><Relationship Id="rId2" Type="http://schemas.openxmlformats.org/officeDocument/2006/relationships/tags" Target="../tags/tag1069.xml"/><Relationship Id="rId1" Type="http://schemas.openxmlformats.org/officeDocument/2006/relationships/image" Target="../media/image1.png"/></Relationships>
</file>

<file path=ppt/slides/_rels/slide31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75.xml"/><Relationship Id="rId2" Type="http://schemas.openxmlformats.org/officeDocument/2006/relationships/tags" Target="../tags/tag1074.xml"/><Relationship Id="rId1" Type="http://schemas.openxmlformats.org/officeDocument/2006/relationships/tags" Target="../tags/tag1073.xml"/></Relationships>
</file>

<file path=ppt/slides/_rels/slide31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78.xml"/><Relationship Id="rId2" Type="http://schemas.openxmlformats.org/officeDocument/2006/relationships/tags" Target="../tags/tag1077.xml"/><Relationship Id="rId1" Type="http://schemas.openxmlformats.org/officeDocument/2006/relationships/tags" Target="../tags/tag1076.xml"/></Relationships>
</file>

<file path=ppt/slides/_rels/slide31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81.xml"/><Relationship Id="rId2" Type="http://schemas.openxmlformats.org/officeDocument/2006/relationships/tags" Target="../tags/tag1080.xml"/><Relationship Id="rId1" Type="http://schemas.openxmlformats.org/officeDocument/2006/relationships/tags" Target="../tags/tag1079.xml"/></Relationships>
</file>

<file path=ppt/slides/_rels/slide31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84.xml"/><Relationship Id="rId2" Type="http://schemas.openxmlformats.org/officeDocument/2006/relationships/tags" Target="../tags/tag1083.xml"/><Relationship Id="rId1" Type="http://schemas.openxmlformats.org/officeDocument/2006/relationships/tags" Target="../tags/tag1082.xml"/></Relationships>
</file>

<file path=ppt/slides/_rels/slide31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87.xml"/><Relationship Id="rId2" Type="http://schemas.openxmlformats.org/officeDocument/2006/relationships/tags" Target="../tags/tag1086.xml"/><Relationship Id="rId1" Type="http://schemas.openxmlformats.org/officeDocument/2006/relationships/tags" Target="../tags/tag1085.xml"/></Relationships>
</file>

<file path=ppt/slides/_rels/slide31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90.xml"/><Relationship Id="rId2" Type="http://schemas.openxmlformats.org/officeDocument/2006/relationships/tags" Target="../tags/tag1089.xml"/><Relationship Id="rId1" Type="http://schemas.openxmlformats.org/officeDocument/2006/relationships/tags" Target="../tags/tag1088.xml"/></Relationships>
</file>

<file path=ppt/slides/_rels/slide31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93.xml"/><Relationship Id="rId2" Type="http://schemas.openxmlformats.org/officeDocument/2006/relationships/tags" Target="../tags/tag1092.xml"/><Relationship Id="rId1" Type="http://schemas.openxmlformats.org/officeDocument/2006/relationships/tags" Target="../tags/tag1091.xml"/></Relationships>
</file>

<file path=ppt/slides/_rels/slide31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96.xml"/><Relationship Id="rId2" Type="http://schemas.openxmlformats.org/officeDocument/2006/relationships/tags" Target="../tags/tag1095.xml"/><Relationship Id="rId1" Type="http://schemas.openxmlformats.org/officeDocument/2006/relationships/tags" Target="../tags/tag1094.xml"/></Relationships>
</file>

<file path=ppt/slides/_rels/slide31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099.xml"/><Relationship Id="rId2" Type="http://schemas.openxmlformats.org/officeDocument/2006/relationships/tags" Target="../tags/tag1098.xml"/><Relationship Id="rId1" Type="http://schemas.openxmlformats.org/officeDocument/2006/relationships/tags" Target="../tags/tag1097.xml"/></Relationships>
</file>

<file path=ppt/slides/_rels/slide32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02.xml"/><Relationship Id="rId2" Type="http://schemas.openxmlformats.org/officeDocument/2006/relationships/tags" Target="../tags/tag1101.xml"/><Relationship Id="rId1" Type="http://schemas.openxmlformats.org/officeDocument/2006/relationships/tags" Target="../tags/tag1100.xml"/></Relationships>
</file>

<file path=ppt/slides/_rels/slide32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05.xml"/><Relationship Id="rId2" Type="http://schemas.openxmlformats.org/officeDocument/2006/relationships/tags" Target="../tags/tag1104.xml"/><Relationship Id="rId1" Type="http://schemas.openxmlformats.org/officeDocument/2006/relationships/tags" Target="../tags/tag1103.xml"/></Relationships>
</file>

<file path=ppt/slides/_rels/slide32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08.xml"/><Relationship Id="rId2" Type="http://schemas.openxmlformats.org/officeDocument/2006/relationships/tags" Target="../tags/tag1107.xml"/><Relationship Id="rId1" Type="http://schemas.openxmlformats.org/officeDocument/2006/relationships/tags" Target="../tags/tag1106.xml"/></Relationships>
</file>

<file path=ppt/slides/_rels/slide32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11.xml"/><Relationship Id="rId2" Type="http://schemas.openxmlformats.org/officeDocument/2006/relationships/tags" Target="../tags/tag1110.xml"/><Relationship Id="rId1" Type="http://schemas.openxmlformats.org/officeDocument/2006/relationships/tags" Target="../tags/tag1109.xml"/></Relationships>
</file>

<file path=ppt/slides/_rels/slide324.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2.xml"/><Relationship Id="rId5" Type="http://schemas.openxmlformats.org/officeDocument/2006/relationships/tags" Target="../tags/tag1115.xml"/><Relationship Id="rId4" Type="http://schemas.openxmlformats.org/officeDocument/2006/relationships/tags" Target="../tags/tag1114.xml"/><Relationship Id="rId3" Type="http://schemas.openxmlformats.org/officeDocument/2006/relationships/tags" Target="../tags/tag1113.xml"/><Relationship Id="rId2" Type="http://schemas.openxmlformats.org/officeDocument/2006/relationships/image" Target="../media/image3.png"/><Relationship Id="rId1" Type="http://schemas.openxmlformats.org/officeDocument/2006/relationships/tags" Target="../tags/tag1112.xml"/></Relationships>
</file>

<file path=ppt/slides/_rels/slide32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119.xml"/><Relationship Id="rId5" Type="http://schemas.openxmlformats.org/officeDocument/2006/relationships/tags" Target="../tags/tag1118.xml"/><Relationship Id="rId4" Type="http://schemas.openxmlformats.org/officeDocument/2006/relationships/tags" Target="../tags/tag1117.xml"/><Relationship Id="rId3" Type="http://schemas.openxmlformats.org/officeDocument/2006/relationships/image" Target="../media/image3.png"/><Relationship Id="rId2" Type="http://schemas.openxmlformats.org/officeDocument/2006/relationships/tags" Target="../tags/tag1116.xml"/><Relationship Id="rId1" Type="http://schemas.openxmlformats.org/officeDocument/2006/relationships/image" Target="../media/image1.png"/></Relationships>
</file>

<file path=ppt/slides/_rels/slide32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22.xml"/><Relationship Id="rId2" Type="http://schemas.openxmlformats.org/officeDocument/2006/relationships/tags" Target="../tags/tag1121.xml"/><Relationship Id="rId1" Type="http://schemas.openxmlformats.org/officeDocument/2006/relationships/tags" Target="../tags/tag1120.xml"/></Relationships>
</file>

<file path=ppt/slides/_rels/slide32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25.xml"/><Relationship Id="rId2" Type="http://schemas.openxmlformats.org/officeDocument/2006/relationships/tags" Target="../tags/tag1124.xml"/><Relationship Id="rId1" Type="http://schemas.openxmlformats.org/officeDocument/2006/relationships/tags" Target="../tags/tag1123.xml"/></Relationships>
</file>

<file path=ppt/slides/_rels/slide32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28.xml"/><Relationship Id="rId2" Type="http://schemas.openxmlformats.org/officeDocument/2006/relationships/tags" Target="../tags/tag1127.xml"/><Relationship Id="rId1" Type="http://schemas.openxmlformats.org/officeDocument/2006/relationships/tags" Target="../tags/tag1126.xml"/></Relationships>
</file>

<file path=ppt/slides/_rels/slide32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31.xml"/><Relationship Id="rId2" Type="http://schemas.openxmlformats.org/officeDocument/2006/relationships/tags" Target="../tags/tag1130.xml"/><Relationship Id="rId1" Type="http://schemas.openxmlformats.org/officeDocument/2006/relationships/tags" Target="../tags/tag1129.xml"/></Relationships>
</file>

<file path=ppt/slides/_rels/slide33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34.xml"/><Relationship Id="rId2" Type="http://schemas.openxmlformats.org/officeDocument/2006/relationships/tags" Target="../tags/tag1133.xml"/><Relationship Id="rId1" Type="http://schemas.openxmlformats.org/officeDocument/2006/relationships/tags" Target="../tags/tag1132.xml"/></Relationships>
</file>

<file path=ppt/slides/_rels/slide33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37.xml"/><Relationship Id="rId2" Type="http://schemas.openxmlformats.org/officeDocument/2006/relationships/tags" Target="../tags/tag1136.xml"/><Relationship Id="rId1" Type="http://schemas.openxmlformats.org/officeDocument/2006/relationships/tags" Target="../tags/tag1135.xml"/></Relationships>
</file>

<file path=ppt/slides/_rels/slide33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141.xml"/><Relationship Id="rId5" Type="http://schemas.openxmlformats.org/officeDocument/2006/relationships/tags" Target="../tags/tag1140.xml"/><Relationship Id="rId4" Type="http://schemas.openxmlformats.org/officeDocument/2006/relationships/tags" Target="../tags/tag1139.xml"/><Relationship Id="rId3" Type="http://schemas.openxmlformats.org/officeDocument/2006/relationships/image" Target="../media/image3.png"/><Relationship Id="rId2" Type="http://schemas.openxmlformats.org/officeDocument/2006/relationships/tags" Target="../tags/tag1138.xml"/><Relationship Id="rId1" Type="http://schemas.openxmlformats.org/officeDocument/2006/relationships/image" Target="../media/image1.png"/></Relationships>
</file>

<file path=ppt/slides/_rels/slide33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44.xml"/><Relationship Id="rId2" Type="http://schemas.openxmlformats.org/officeDocument/2006/relationships/tags" Target="../tags/tag1143.xml"/><Relationship Id="rId1" Type="http://schemas.openxmlformats.org/officeDocument/2006/relationships/tags" Target="../tags/tag1142.xml"/></Relationships>
</file>

<file path=ppt/slides/_rels/slide33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47.xml"/><Relationship Id="rId2" Type="http://schemas.openxmlformats.org/officeDocument/2006/relationships/tags" Target="../tags/tag1146.xml"/><Relationship Id="rId1" Type="http://schemas.openxmlformats.org/officeDocument/2006/relationships/tags" Target="../tags/tag1145.xml"/></Relationships>
</file>

<file path=ppt/slides/_rels/slide33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50.xml"/><Relationship Id="rId2" Type="http://schemas.openxmlformats.org/officeDocument/2006/relationships/tags" Target="../tags/tag1149.xml"/><Relationship Id="rId1" Type="http://schemas.openxmlformats.org/officeDocument/2006/relationships/tags" Target="../tags/tag1148.xml"/></Relationships>
</file>

<file path=ppt/slides/_rels/slide336.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53.xml"/><Relationship Id="rId2" Type="http://schemas.openxmlformats.org/officeDocument/2006/relationships/tags" Target="../tags/tag1152.xml"/><Relationship Id="rId1" Type="http://schemas.openxmlformats.org/officeDocument/2006/relationships/tags" Target="../tags/tag1151.xml"/></Relationships>
</file>

<file path=ppt/slides/_rels/slide33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157.xml"/><Relationship Id="rId5" Type="http://schemas.openxmlformats.org/officeDocument/2006/relationships/tags" Target="../tags/tag1156.xml"/><Relationship Id="rId4" Type="http://schemas.openxmlformats.org/officeDocument/2006/relationships/tags" Target="../tags/tag1155.xml"/><Relationship Id="rId3" Type="http://schemas.openxmlformats.org/officeDocument/2006/relationships/image" Target="../media/image3.png"/><Relationship Id="rId2" Type="http://schemas.openxmlformats.org/officeDocument/2006/relationships/tags" Target="../tags/tag1154.xml"/><Relationship Id="rId1" Type="http://schemas.openxmlformats.org/officeDocument/2006/relationships/image" Target="../media/image1.png"/></Relationships>
</file>

<file path=ppt/slides/_rels/slide33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60.xml"/><Relationship Id="rId2" Type="http://schemas.openxmlformats.org/officeDocument/2006/relationships/tags" Target="../tags/tag1159.xml"/><Relationship Id="rId1" Type="http://schemas.openxmlformats.org/officeDocument/2006/relationships/tags" Target="../tags/tag1158.xml"/></Relationships>
</file>

<file path=ppt/slides/_rels/slide339.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63.xml"/><Relationship Id="rId2" Type="http://schemas.openxmlformats.org/officeDocument/2006/relationships/tags" Target="../tags/tag1162.xml"/><Relationship Id="rId1" Type="http://schemas.openxmlformats.org/officeDocument/2006/relationships/tags" Target="../tags/tag1161.xml"/></Relationships>
</file>

<file path=ppt/slides/_rels/slide34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66.xml"/><Relationship Id="rId2" Type="http://schemas.openxmlformats.org/officeDocument/2006/relationships/tags" Target="../tags/tag1165.xml"/><Relationship Id="rId1" Type="http://schemas.openxmlformats.org/officeDocument/2006/relationships/tags" Target="../tags/tag1164.xml"/></Relationships>
</file>

<file path=ppt/slides/_rels/slide34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69.xml"/><Relationship Id="rId2" Type="http://schemas.openxmlformats.org/officeDocument/2006/relationships/tags" Target="../tags/tag1168.xml"/><Relationship Id="rId1" Type="http://schemas.openxmlformats.org/officeDocument/2006/relationships/tags" Target="../tags/tag1167.xml"/></Relationships>
</file>

<file path=ppt/slides/_rels/slide342.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xml"/><Relationship Id="rId5" Type="http://schemas.openxmlformats.org/officeDocument/2006/relationships/tags" Target="../tags/tag1173.xml"/><Relationship Id="rId4" Type="http://schemas.openxmlformats.org/officeDocument/2006/relationships/tags" Target="../tags/tag1172.xml"/><Relationship Id="rId3" Type="http://schemas.openxmlformats.org/officeDocument/2006/relationships/tags" Target="../tags/tag1171.xml"/><Relationship Id="rId2" Type="http://schemas.openxmlformats.org/officeDocument/2006/relationships/image" Target="../media/image3.png"/><Relationship Id="rId1" Type="http://schemas.openxmlformats.org/officeDocument/2006/relationships/tags" Target="../tags/tag1170.xml"/></Relationships>
</file>

<file path=ppt/slides/_rels/slide34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177.xml"/><Relationship Id="rId5" Type="http://schemas.openxmlformats.org/officeDocument/2006/relationships/tags" Target="../tags/tag1176.xml"/><Relationship Id="rId4" Type="http://schemas.openxmlformats.org/officeDocument/2006/relationships/tags" Target="../tags/tag1175.xml"/><Relationship Id="rId3" Type="http://schemas.openxmlformats.org/officeDocument/2006/relationships/image" Target="../media/image3.png"/><Relationship Id="rId2" Type="http://schemas.openxmlformats.org/officeDocument/2006/relationships/tags" Target="../tags/tag1174.xml"/><Relationship Id="rId1" Type="http://schemas.openxmlformats.org/officeDocument/2006/relationships/image" Target="../media/image1.png"/></Relationships>
</file>

<file path=ppt/slides/_rels/slide34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80.xml"/><Relationship Id="rId2" Type="http://schemas.openxmlformats.org/officeDocument/2006/relationships/tags" Target="../tags/tag1179.xml"/><Relationship Id="rId1" Type="http://schemas.openxmlformats.org/officeDocument/2006/relationships/tags" Target="../tags/tag1178.xml"/></Relationships>
</file>

<file path=ppt/slides/_rels/slide34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83.xml"/><Relationship Id="rId2" Type="http://schemas.openxmlformats.org/officeDocument/2006/relationships/tags" Target="../tags/tag1182.xml"/><Relationship Id="rId1" Type="http://schemas.openxmlformats.org/officeDocument/2006/relationships/tags" Target="../tags/tag1181.xml"/></Relationships>
</file>

<file path=ppt/slides/_rels/slide34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187.xml"/><Relationship Id="rId5" Type="http://schemas.openxmlformats.org/officeDocument/2006/relationships/tags" Target="../tags/tag1186.xml"/><Relationship Id="rId4" Type="http://schemas.openxmlformats.org/officeDocument/2006/relationships/tags" Target="../tags/tag1185.xml"/><Relationship Id="rId3" Type="http://schemas.openxmlformats.org/officeDocument/2006/relationships/image" Target="../media/image3.png"/><Relationship Id="rId2" Type="http://schemas.openxmlformats.org/officeDocument/2006/relationships/tags" Target="../tags/tag1184.xml"/><Relationship Id="rId1" Type="http://schemas.openxmlformats.org/officeDocument/2006/relationships/image" Target="../media/image1.png"/></Relationships>
</file>

<file path=ppt/slides/_rels/slide347.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90.xml"/><Relationship Id="rId2" Type="http://schemas.openxmlformats.org/officeDocument/2006/relationships/tags" Target="../tags/tag1189.xml"/><Relationship Id="rId1" Type="http://schemas.openxmlformats.org/officeDocument/2006/relationships/tags" Target="../tags/tag1188.xml"/></Relationships>
</file>

<file path=ppt/slides/_rels/slide348.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193.xml"/><Relationship Id="rId2" Type="http://schemas.openxmlformats.org/officeDocument/2006/relationships/tags" Target="../tags/tag1192.xml"/><Relationship Id="rId1" Type="http://schemas.openxmlformats.org/officeDocument/2006/relationships/tags" Target="../tags/tag1191.xml"/></Relationships>
</file>

<file path=ppt/slides/_rels/slide34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197.xml"/><Relationship Id="rId5" Type="http://schemas.openxmlformats.org/officeDocument/2006/relationships/tags" Target="../tags/tag1196.xml"/><Relationship Id="rId4" Type="http://schemas.openxmlformats.org/officeDocument/2006/relationships/tags" Target="../tags/tag1195.xml"/><Relationship Id="rId3" Type="http://schemas.openxmlformats.org/officeDocument/2006/relationships/image" Target="../media/image3.png"/><Relationship Id="rId2" Type="http://schemas.openxmlformats.org/officeDocument/2006/relationships/tags" Target="../tags/tag1194.xml"/><Relationship Id="rId1" Type="http://schemas.openxmlformats.org/officeDocument/2006/relationships/image" Target="../media/image1.png"/></Relationships>
</file>

<file path=ppt/slides/_rels/slide35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200.xml"/><Relationship Id="rId2" Type="http://schemas.openxmlformats.org/officeDocument/2006/relationships/tags" Target="../tags/tag1199.xml"/><Relationship Id="rId1" Type="http://schemas.openxmlformats.org/officeDocument/2006/relationships/tags" Target="../tags/tag1198.xml"/></Relationships>
</file>

<file path=ppt/slides/_rels/slide35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203.xml"/><Relationship Id="rId2" Type="http://schemas.openxmlformats.org/officeDocument/2006/relationships/tags" Target="../tags/tag1202.xml"/><Relationship Id="rId1" Type="http://schemas.openxmlformats.org/officeDocument/2006/relationships/tags" Target="../tags/tag1201.xml"/></Relationships>
</file>

<file path=ppt/slides/_rels/slide35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207.xml"/><Relationship Id="rId5" Type="http://schemas.openxmlformats.org/officeDocument/2006/relationships/tags" Target="../tags/tag1206.xml"/><Relationship Id="rId4" Type="http://schemas.openxmlformats.org/officeDocument/2006/relationships/tags" Target="../tags/tag1205.xml"/><Relationship Id="rId3" Type="http://schemas.openxmlformats.org/officeDocument/2006/relationships/image" Target="../media/image3.png"/><Relationship Id="rId2" Type="http://schemas.openxmlformats.org/officeDocument/2006/relationships/tags" Target="../tags/tag1204.xml"/><Relationship Id="rId1" Type="http://schemas.openxmlformats.org/officeDocument/2006/relationships/image" Target="../media/image1.png"/></Relationships>
</file>

<file path=ppt/slides/_rels/slide353.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210.xml"/><Relationship Id="rId2" Type="http://schemas.openxmlformats.org/officeDocument/2006/relationships/tags" Target="../tags/tag1209.xml"/><Relationship Id="rId1" Type="http://schemas.openxmlformats.org/officeDocument/2006/relationships/tags" Target="../tags/tag1208.xml"/></Relationships>
</file>

<file path=ppt/slides/_rels/slide354.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3.png"/><Relationship Id="rId3" Type="http://schemas.openxmlformats.org/officeDocument/2006/relationships/tags" Target="../tags/tag1213.xml"/><Relationship Id="rId2" Type="http://schemas.openxmlformats.org/officeDocument/2006/relationships/tags" Target="../tags/tag1212.xml"/><Relationship Id="rId1" Type="http://schemas.openxmlformats.org/officeDocument/2006/relationships/tags" Target="../tags/tag1211.xml"/></Relationships>
</file>

<file path=ppt/slides/_rels/slide355.xml.rels><?xml version="1.0" encoding="UTF-8" standalone="yes"?>
<Relationships xmlns="http://schemas.openxmlformats.org/package/2006/relationships"><Relationship Id="rId9" Type="http://schemas.openxmlformats.org/officeDocument/2006/relationships/tags" Target="../tags/tag1221.xml"/><Relationship Id="rId8" Type="http://schemas.openxmlformats.org/officeDocument/2006/relationships/image" Target="../media/image2.png"/><Relationship Id="rId7" Type="http://schemas.openxmlformats.org/officeDocument/2006/relationships/tags" Target="../tags/tag1220.xml"/><Relationship Id="rId6" Type="http://schemas.openxmlformats.org/officeDocument/2006/relationships/tags" Target="../tags/tag1219.xml"/><Relationship Id="rId5" Type="http://schemas.openxmlformats.org/officeDocument/2006/relationships/tags" Target="../tags/tag1218.xml"/><Relationship Id="rId4" Type="http://schemas.openxmlformats.org/officeDocument/2006/relationships/tags" Target="../tags/tag1217.xml"/><Relationship Id="rId3" Type="http://schemas.openxmlformats.org/officeDocument/2006/relationships/tags" Target="../tags/tag1216.xml"/><Relationship Id="rId2" Type="http://schemas.openxmlformats.org/officeDocument/2006/relationships/tags" Target="../tags/tag1215.xml"/><Relationship Id="rId10" Type="http://schemas.openxmlformats.org/officeDocument/2006/relationships/slideLayout" Target="../slideLayouts/slideLayout1.xml"/><Relationship Id="rId1" Type="http://schemas.openxmlformats.org/officeDocument/2006/relationships/tags" Target="../tags/tag12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flipH="1">
            <a:off x="-22225" y="-1270"/>
            <a:ext cx="8779726" cy="6858000"/>
            <a:chOff x="5374" y="0"/>
            <a:chExt cx="13826" cy="10800"/>
          </a:xfrm>
        </p:grpSpPr>
        <p:sp>
          <p:nvSpPr>
            <p:cNvPr id="9" name="任意多边形 8"/>
            <p:cNvSpPr/>
            <p:nvPr/>
          </p:nvSpPr>
          <p:spPr>
            <a:xfrm flipH="1">
              <a:off x="5374" y="0"/>
              <a:ext cx="12808" cy="108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flipH="1">
              <a:off x="6392" y="0"/>
              <a:ext cx="12808" cy="108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12012" y="3612"/>
              <a:ext cx="7188" cy="7188"/>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2164" y="2083"/>
              <a:ext cx="5002" cy="4970"/>
            </a:xfrm>
            <a:prstGeom prst="ellipse">
              <a:avLst/>
            </a:prstGeom>
            <a:solidFill>
              <a:schemeClr val="bg1"/>
            </a:solidFill>
            <a:ln w="22225" cap="flat" cmpd="sng" algn="ctr">
              <a:noFill/>
              <a:prstDash val="solid"/>
              <a:miter lim="800000"/>
            </a:ln>
            <a:effectLst>
              <a:outerShdw blurRad="939800" dist="266700" sx="99000" sy="99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ea typeface="思源黑体 CN Medium" panose="020B0600000000000000" pitchFamily="34" charset="-122"/>
                <a:sym typeface="思源黑体 CN Medium" panose="020B0600000000000000" pitchFamily="34" charset="-122"/>
              </a:endParaRPr>
            </a:p>
          </p:txBody>
        </p:sp>
        <p:sp>
          <p:nvSpPr>
            <p:cNvPr id="14" name="椭圆 13"/>
            <p:cNvSpPr/>
            <p:nvPr/>
          </p:nvSpPr>
          <p:spPr>
            <a:xfrm>
              <a:off x="12330" y="2282"/>
              <a:ext cx="4662" cy="4600"/>
            </a:xfrm>
            <a:prstGeom prst="ellipse">
              <a:avLst/>
            </a:prstGeom>
            <a:noFill/>
            <a:ln>
              <a:solidFill>
                <a:srgbClr val="2C3173">
                  <a:alpha val="32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1459B"/>
                </a:solidFill>
              </a:endParaRPr>
            </a:p>
          </p:txBody>
        </p:sp>
        <p:grpSp>
          <p:nvGrpSpPr>
            <p:cNvPr id="51" name="组合 50"/>
            <p:cNvGrpSpPr/>
            <p:nvPr/>
          </p:nvGrpSpPr>
          <p:grpSpPr>
            <a:xfrm>
              <a:off x="16992" y="9260"/>
              <a:ext cx="923" cy="386"/>
              <a:chOff x="8225" y="1632"/>
              <a:chExt cx="923" cy="386"/>
            </a:xfrm>
            <a:solidFill>
              <a:srgbClr val="ED7D31"/>
            </a:solidFill>
          </p:grpSpPr>
          <p:grpSp>
            <p:nvGrpSpPr>
              <p:cNvPr id="52" name="组合 51"/>
              <p:cNvGrpSpPr/>
              <p:nvPr/>
            </p:nvGrpSpPr>
            <p:grpSpPr>
              <a:xfrm>
                <a:off x="8225" y="1632"/>
                <a:ext cx="416" cy="387"/>
                <a:chOff x="4218240" y="1782762"/>
                <a:chExt cx="525790" cy="489777"/>
              </a:xfrm>
              <a:grpFill/>
            </p:grpSpPr>
            <p:sp>
              <p:nvSpPr>
                <p:cNvPr id="53" name="椭圆 5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2" name="组合 61"/>
              <p:cNvGrpSpPr/>
              <p:nvPr/>
            </p:nvGrpSpPr>
            <p:grpSpPr>
              <a:xfrm>
                <a:off x="8732" y="1632"/>
                <a:ext cx="416" cy="387"/>
                <a:chOff x="4218240" y="1782762"/>
                <a:chExt cx="525790" cy="489777"/>
              </a:xfrm>
              <a:grpFill/>
            </p:grpSpPr>
            <p:sp>
              <p:nvSpPr>
                <p:cNvPr id="63" name="椭圆 6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pic>
        <p:nvPicPr>
          <p:cNvPr id="17" name="图片 16"/>
          <p:cNvPicPr>
            <a:picLocks noChangeAspect="1"/>
          </p:cNvPicPr>
          <p:nvPr/>
        </p:nvPicPr>
        <p:blipFill>
          <a:blip r:embed="rId1"/>
          <a:stretch>
            <a:fillRect/>
          </a:stretch>
        </p:blipFill>
        <p:spPr>
          <a:xfrm>
            <a:off x="5083810" y="5756275"/>
            <a:ext cx="7391400" cy="1781175"/>
          </a:xfrm>
          <a:prstGeom prst="rect">
            <a:avLst/>
          </a:prstGeom>
        </p:spPr>
      </p:pic>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PA-文本框 88"/>
          <p:cNvSpPr txBox="1"/>
          <p:nvPr>
            <p:custDataLst>
              <p:tags r:id="rId2"/>
            </p:custDataLst>
          </p:nvPr>
        </p:nvSpPr>
        <p:spPr>
          <a:xfrm>
            <a:off x="5602605" y="2630170"/>
            <a:ext cx="5172075" cy="830580"/>
          </a:xfrm>
          <a:prstGeom prst="rect">
            <a:avLst/>
          </a:prstGeom>
          <a:noFill/>
        </p:spPr>
        <p:txBody>
          <a:bodyPr wrap="square" lIns="0" tIns="0" rIns="0" bIns="0" rtlCol="0">
            <a:spAutoFit/>
          </a:bodyPr>
          <a:lstStyle/>
          <a:p>
            <a:pPr marL="0" marR="0" lvl="0" indent="0" algn="r" defTabSz="914400" rtl="0" eaLnBrk="1" fontAlgn="auto" latinLnBrk="0" hangingPunct="0">
              <a:lnSpc>
                <a:spcPct val="150000"/>
              </a:lnSpc>
              <a:spcBef>
                <a:spcPts val="0"/>
              </a:spcBef>
              <a:spcAft>
                <a:spcPts val="0"/>
              </a:spcAft>
              <a:buClrTx/>
              <a:buSzTx/>
              <a:buFontTx/>
              <a:buNone/>
              <a:defRPr/>
            </a:pPr>
            <a:r>
              <a:rPr kumimoji="0" lang="en-US" altLang="zh-CN"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JavaSE </a:t>
            </a:r>
            <a:r>
              <a:rPr kumimoji="0" lang="zh-CN" altLang="en-US"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基</a:t>
            </a:r>
            <a:r>
              <a:rPr kumimoji="0" lang="en-US" altLang="zh-CN"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 </a:t>
            </a:r>
            <a:r>
              <a:rPr kumimoji="0" lang="zh-CN" altLang="en-US"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础</a:t>
            </a:r>
            <a:r>
              <a:rPr kumimoji="0" lang="en-US" altLang="zh-CN"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 </a:t>
            </a:r>
            <a:r>
              <a:rPr kumimoji="0" lang="zh-CN" altLang="en-US"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课</a:t>
            </a:r>
            <a:r>
              <a:rPr kumimoji="0" lang="en-US" altLang="zh-CN"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 </a:t>
            </a:r>
            <a:r>
              <a:rPr kumimoji="0" lang="zh-CN" altLang="en-US"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rPr>
              <a:t>程</a:t>
            </a:r>
            <a:endParaRPr kumimoji="0" lang="zh-CN" altLang="en-US" sz="3600" b="0" i="0" u="none" strike="noStrike" kern="1200" cap="none" spc="0" normalizeH="0" baseline="0" noProof="0" dirty="0" err="1">
              <a:ln>
                <a:noFill/>
              </a:ln>
              <a:effectLst/>
              <a:uLnTx/>
              <a:uFillTx/>
              <a:latin typeface="黑体" panose="02010609060101010101" charset="-122"/>
              <a:ea typeface="黑体" panose="02010609060101010101" charset="-122"/>
              <a:cs typeface="+mn-ea"/>
              <a:sym typeface="+mn-lt"/>
            </a:endParaRPr>
          </a:p>
        </p:txBody>
      </p: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pic>
        <p:nvPicPr>
          <p:cNvPr id="16" name="图片 15"/>
          <p:cNvPicPr>
            <a:picLocks noChangeAspect="1"/>
          </p:cNvPicPr>
          <p:nvPr>
            <p:custDataLst>
              <p:tags r:id="rId3"/>
            </p:custDataLst>
          </p:nvPr>
        </p:nvPicPr>
        <p:blipFill>
          <a:blip r:embed="rId4"/>
          <a:stretch>
            <a:fillRect/>
          </a:stretch>
        </p:blipFill>
        <p:spPr>
          <a:xfrm>
            <a:off x="1883410" y="2059305"/>
            <a:ext cx="1823720" cy="1708150"/>
          </a:xfrm>
          <a:prstGeom prst="rect">
            <a:avLst/>
          </a:prstGeom>
        </p:spPr>
      </p:pic>
      <p:pic>
        <p:nvPicPr>
          <p:cNvPr id="3" name="图片 2" descr="5d0495981e06a4beefc1a7ac3c41024d"/>
          <p:cNvPicPr>
            <a:picLocks noChangeAspect="1"/>
          </p:cNvPicPr>
          <p:nvPr>
            <p:custDataLst>
              <p:tags r:id="rId5"/>
            </p:custDataLst>
          </p:nvPr>
        </p:nvPicPr>
        <p:blipFill>
          <a:blip r:embed="rId6"/>
          <a:srcRect l="30319"/>
          <a:stretch>
            <a:fillRect/>
          </a:stretch>
        </p:blipFill>
        <p:spPr>
          <a:xfrm>
            <a:off x="8416925" y="0"/>
            <a:ext cx="5876925" cy="1679575"/>
          </a:xfrm>
          <a:prstGeom prst="rect">
            <a:avLst/>
          </a:prstGeom>
        </p:spPr>
      </p:pic>
      <p:grpSp>
        <p:nvGrpSpPr>
          <p:cNvPr id="43" name="组合 42"/>
          <p:cNvGrpSpPr/>
          <p:nvPr/>
        </p:nvGrpSpPr>
        <p:grpSpPr>
          <a:xfrm>
            <a:off x="9162793" y="4072729"/>
            <a:ext cx="482600" cy="145415"/>
            <a:chOff x="1339" y="8078"/>
            <a:chExt cx="760" cy="229"/>
          </a:xfrm>
        </p:grpSpPr>
        <p:sp>
          <p:nvSpPr>
            <p:cNvPr id="44" name="椭圆 43"/>
            <p:cNvSpPr/>
            <p:nvPr>
              <p:custDataLst>
                <p:tags r:id="rId7"/>
              </p:custDataLst>
            </p:nvPr>
          </p:nvSpPr>
          <p:spPr>
            <a:xfrm rot="16200000">
              <a:off x="133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45" name="椭圆 44"/>
            <p:cNvSpPr/>
            <p:nvPr>
              <p:custDataLst>
                <p:tags r:id="rId8"/>
              </p:custDataLst>
            </p:nvPr>
          </p:nvSpPr>
          <p:spPr>
            <a:xfrm rot="16200000">
              <a:off x="195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46" name="椭圆 45"/>
            <p:cNvSpPr/>
            <p:nvPr>
              <p:custDataLst>
                <p:tags r:id="rId9"/>
              </p:custDataLst>
            </p:nvPr>
          </p:nvSpPr>
          <p:spPr>
            <a:xfrm rot="16200000">
              <a:off x="1609" y="8078"/>
              <a:ext cx="229" cy="229"/>
            </a:xfrm>
            <a:prstGeom prst="ellipse">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grpSp>
      <p:sp>
        <p:nvSpPr>
          <p:cNvPr id="2" name="文本框 1"/>
          <p:cNvSpPr txBox="1"/>
          <p:nvPr/>
        </p:nvSpPr>
        <p:spPr>
          <a:xfrm>
            <a:off x="9862185" y="5688965"/>
            <a:ext cx="4064000" cy="368300"/>
          </a:xfrm>
          <a:prstGeom prst="rect">
            <a:avLst/>
          </a:prstGeom>
          <a:noFill/>
        </p:spPr>
        <p:txBody>
          <a:bodyPr wrap="square" rtlCol="0">
            <a:spAutoFit/>
          </a:bodyPr>
          <a:p>
            <a:r>
              <a:rPr lang="zh-CN" altLang="en-US">
                <a:solidFill>
                  <a:schemeClr val="bg1">
                    <a:lumMod val="75000"/>
                  </a:schemeClr>
                </a:solidFill>
              </a:rPr>
              <a:t>讲师</a:t>
            </a:r>
            <a:r>
              <a:rPr lang="en-US" altLang="zh-CN">
                <a:solidFill>
                  <a:schemeClr val="bg1">
                    <a:lumMod val="75000"/>
                  </a:schemeClr>
                </a:solidFill>
              </a:rPr>
              <a:t>-</a:t>
            </a:r>
            <a:r>
              <a:rPr lang="zh-CN" altLang="en-US">
                <a:solidFill>
                  <a:schemeClr val="bg1">
                    <a:lumMod val="75000"/>
                  </a:schemeClr>
                </a:solidFill>
              </a:rPr>
              <a:t>羽飞扬</a:t>
            </a:r>
            <a:endParaRPr lang="zh-CN" altLang="en-US">
              <a:solidFill>
                <a:schemeClr val="bg1">
                  <a:lumMod val="75000"/>
                </a:schemeClr>
              </a:solidFill>
            </a:endParaRPr>
          </a:p>
        </p:txBody>
      </p:sp>
      <p:sp>
        <p:nvSpPr>
          <p:cNvPr id="18" name="图形"/>
          <p:cNvSpPr/>
          <p:nvPr/>
        </p:nvSpPr>
        <p:spPr>
          <a:xfrm>
            <a:off x="10619740" y="4664205"/>
            <a:ext cx="311948" cy="311948"/>
          </a:xfrm>
          <a:prstGeom prst="rect">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黑体 CN Light" panose="020B0300000000000000" pitchFamily="34" charset="-122"/>
            </a:endParaRPr>
          </a:p>
        </p:txBody>
      </p:sp>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flipH="1">
            <a:off x="10724254" y="481938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ustDataLst>
      <p:tags r:id="rId10"/>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grpSp>
        <p:nvGrpSpPr>
          <p:cNvPr id="63" name="组合 62"/>
          <p:cNvGrpSpPr/>
          <p:nvPr>
            <p:custDataLst>
              <p:tags r:id="rId1"/>
            </p:custDataLst>
          </p:nvPr>
        </p:nvGrpSpPr>
        <p:grpSpPr>
          <a:xfrm>
            <a:off x="976125" y="2537605"/>
            <a:ext cx="10108667" cy="3155928"/>
            <a:chOff x="1037721" y="2414315"/>
            <a:chExt cx="10108667" cy="3155928"/>
          </a:xfrm>
        </p:grpSpPr>
        <p:cxnSp>
          <p:nvCxnSpPr>
            <p:cNvPr id="4" name="直接连接符 3"/>
            <p:cNvCxnSpPr/>
            <p:nvPr>
              <p:custDataLst>
                <p:tags r:id="rId2"/>
              </p:custDataLst>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3"/>
              </p:custDataLst>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custDataLst>
                <p:tags r:id="rId5"/>
              </p:custDataLst>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custDataLst>
                <p:tags r:id="rId6"/>
              </p:custDataLst>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custDataLst>
                <p:tags r:id="rId7"/>
              </p:custDataLst>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custDataLst>
                <p:tags r:id="rId8"/>
              </p:custDataLst>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custDataLst>
              <p:tags r:id="rId9"/>
            </p:custDataLst>
          </p:nvPr>
        </p:nvSpPr>
        <p:spPr>
          <a:xfrm>
            <a:off x="234315" y="4769485"/>
            <a:ext cx="292798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认  识  </a:t>
            </a:r>
            <a:r>
              <a:rPr lang="en-US" altLang="zh-CN" sz="2400" dirty="0" smtClean="0">
                <a:solidFill>
                  <a:srgbClr val="000000"/>
                </a:solidFill>
                <a:ea typeface="宋体" panose="02010600030101010101" pitchFamily="2" charset="-122"/>
                <a:sym typeface="+mn-ea"/>
              </a:rPr>
              <a:t>JAVA </a:t>
            </a:r>
            <a:r>
              <a:rPr lang="zh-CN" altLang="en-US" sz="2400" dirty="0" smtClean="0">
                <a:solidFill>
                  <a:srgbClr val="000000"/>
                </a:solidFill>
                <a:ea typeface="宋体" panose="02010600030101010101" pitchFamily="2" charset="-122"/>
                <a:sym typeface="+mn-ea"/>
              </a:rPr>
              <a:t>语 言</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2" name="文本框 41"/>
          <p:cNvSpPr txBox="1"/>
          <p:nvPr>
            <p:custDataLst>
              <p:tags r:id="rId10"/>
            </p:custDataLst>
          </p:nvPr>
        </p:nvSpPr>
        <p:spPr>
          <a:xfrm>
            <a:off x="767715" y="5229726"/>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67" name="矩形 66"/>
          <p:cNvSpPr/>
          <p:nvPr>
            <p:custDataLst>
              <p:tags r:id="rId11"/>
            </p:custDataLst>
          </p:nvPr>
        </p:nvSpPr>
        <p:spPr>
          <a:xfrm>
            <a:off x="3079750" y="4763770"/>
            <a:ext cx="295084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变 量 和 数 据 类 型</a:t>
            </a:r>
            <a:endParaRPr lang="en-US" altLang="zh-CN" sz="2400" dirty="0">
              <a:solidFill>
                <a:srgbClr val="000000"/>
              </a:solidFill>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0" name="文本框 69"/>
          <p:cNvSpPr txBox="1"/>
          <p:nvPr>
            <p:custDataLst>
              <p:tags r:id="rId12"/>
            </p:custDataLst>
          </p:nvPr>
        </p:nvSpPr>
        <p:spPr>
          <a:xfrm>
            <a:off x="369485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3" name="矩形 72"/>
          <p:cNvSpPr/>
          <p:nvPr>
            <p:custDataLst>
              <p:tags r:id="rId13"/>
            </p:custDataLst>
          </p:nvPr>
        </p:nvSpPr>
        <p:spPr>
          <a:xfrm>
            <a:off x="6031230" y="4763770"/>
            <a:ext cx="30981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分  支  和  循  环</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4" name="矩形 73"/>
          <p:cNvSpPr/>
          <p:nvPr>
            <p:custDataLst>
              <p:tags r:id="rId14"/>
            </p:custDataLst>
          </p:nvPr>
        </p:nvSpPr>
        <p:spPr>
          <a:xfrm>
            <a:off x="8981440" y="4802505"/>
            <a:ext cx="291973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声 明 和 使 用 方 法</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5" name="文本框 74"/>
          <p:cNvSpPr txBox="1"/>
          <p:nvPr>
            <p:custDataLst>
              <p:tags r:id="rId15"/>
            </p:custDataLst>
          </p:nvPr>
        </p:nvSpPr>
        <p:spPr>
          <a:xfrm>
            <a:off x="666054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6" name="文本框 75"/>
          <p:cNvSpPr txBox="1"/>
          <p:nvPr>
            <p:custDataLst>
              <p:tags r:id="rId16"/>
            </p:custDataLst>
          </p:nvPr>
        </p:nvSpPr>
        <p:spPr>
          <a:xfrm>
            <a:off x="9550254" y="5262979"/>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7" name="矩形 76"/>
          <p:cNvSpPr/>
          <p:nvPr/>
        </p:nvSpPr>
        <p:spPr>
          <a:xfrm>
            <a:off x="4562112" y="934197"/>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8" name="文本框 77"/>
          <p:cNvSpPr txBox="1"/>
          <p:nvPr/>
        </p:nvSpPr>
        <p:spPr>
          <a:xfrm>
            <a:off x="6546191" y="114930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custDataLst>
              <p:tags r:id="rId17"/>
            </p:custDataLst>
          </p:nvPr>
        </p:nvSpPr>
        <p:spPr>
          <a:xfrm>
            <a:off x="954799" y="2985340"/>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custDataLst>
              <p:tags r:id="rId18"/>
            </p:custDataLst>
          </p:nvPr>
        </p:nvSpPr>
        <p:spPr>
          <a:xfrm>
            <a:off x="3887918" y="2983717"/>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custDataLst>
              <p:tags r:id="rId19"/>
            </p:custDataLst>
          </p:nvPr>
        </p:nvSpPr>
        <p:spPr>
          <a:xfrm>
            <a:off x="6851938" y="3019115"/>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custDataLst>
              <p:tags r:id="rId20"/>
            </p:custDataLst>
          </p:nvPr>
        </p:nvSpPr>
        <p:spPr>
          <a:xfrm>
            <a:off x="9785057" y="3017492"/>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6" name="图片 5" descr="5d0495981e06a4beefc1a7ac3c41024d"/>
          <p:cNvPicPr>
            <a:picLocks noChangeAspect="1"/>
          </p:cNvPicPr>
          <p:nvPr>
            <p:custDataLst>
              <p:tags r:id="rId21"/>
            </p:custDataLst>
          </p:nvPr>
        </p:nvPicPr>
        <p:blipFill>
          <a:blip r:embed="rId2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23"/>
            </p:custDataLst>
          </p:nvPr>
        </p:nvPicPr>
        <p:blipFill>
          <a:blip r:embed="rId22"/>
          <a:srcRect l="30697"/>
          <a:stretch>
            <a:fillRect/>
          </a:stretch>
        </p:blipFill>
        <p:spPr>
          <a:xfrm>
            <a:off x="8673465" y="-348615"/>
            <a:ext cx="5215255" cy="1497965"/>
          </a:xfrm>
          <a:prstGeom prst="rect">
            <a:avLst/>
          </a:prstGeom>
        </p:spPr>
      </p:pic>
      <p:sp>
        <p:nvSpPr>
          <p:cNvPr id="24" name="直角三角形 23"/>
          <p:cNvSpPr/>
          <p:nvPr>
            <p:custDataLst>
              <p:tags r:id="rId2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2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38" grpId="0"/>
      <p:bldP spid="38" grpId="1"/>
      <p:bldP spid="42" grpId="0"/>
      <p:bldP spid="67" grpId="0"/>
      <p:bldP spid="67" grpId="1"/>
      <p:bldP spid="70" grpId="0"/>
      <p:bldP spid="73" grpId="0"/>
      <p:bldP spid="73" grpId="1"/>
      <p:bldP spid="74" grpId="0"/>
      <p:bldP spid="74" grpId="1"/>
      <p:bldP spid="75" grpId="0"/>
      <p:bldP spid="76" grpId="0"/>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grpSp>
        <p:nvGrpSpPr>
          <p:cNvPr id="63" name="组合 62"/>
          <p:cNvGrpSpPr/>
          <p:nvPr>
            <p:custDataLst>
              <p:tags r:id="rId1"/>
            </p:custDataLst>
          </p:nvPr>
        </p:nvGrpSpPr>
        <p:grpSpPr>
          <a:xfrm>
            <a:off x="976125" y="2537605"/>
            <a:ext cx="10108667" cy="3155928"/>
            <a:chOff x="1037721" y="2414315"/>
            <a:chExt cx="10108667" cy="3155928"/>
          </a:xfrm>
        </p:grpSpPr>
        <p:cxnSp>
          <p:nvCxnSpPr>
            <p:cNvPr id="4" name="直接连接符 3"/>
            <p:cNvCxnSpPr/>
            <p:nvPr>
              <p:custDataLst>
                <p:tags r:id="rId2"/>
              </p:custDataLst>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3"/>
              </p:custDataLst>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custDataLst>
                <p:tags r:id="rId5"/>
              </p:custDataLst>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custDataLst>
                <p:tags r:id="rId6"/>
              </p:custDataLst>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custDataLst>
                <p:tags r:id="rId7"/>
              </p:custDataLst>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custDataLst>
                <p:tags r:id="rId8"/>
              </p:custDataLst>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custDataLst>
              <p:tags r:id="rId9"/>
            </p:custDataLst>
          </p:nvPr>
        </p:nvSpPr>
        <p:spPr>
          <a:xfrm>
            <a:off x="405765" y="4769485"/>
            <a:ext cx="232346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类  和  对 象</a:t>
            </a:r>
            <a:endParaRPr lang="en-US" altLang="zh-CN" sz="2400" dirty="0">
              <a:solidFill>
                <a:srgbClr val="000000"/>
              </a:solidFill>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2" name="文本框 41"/>
          <p:cNvSpPr txBox="1"/>
          <p:nvPr>
            <p:custDataLst>
              <p:tags r:id="rId10"/>
            </p:custDataLst>
          </p:nvPr>
        </p:nvSpPr>
        <p:spPr>
          <a:xfrm>
            <a:off x="767715" y="5229726"/>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67" name="矩形 66"/>
          <p:cNvSpPr/>
          <p:nvPr>
            <p:custDataLst>
              <p:tags r:id="rId11"/>
            </p:custDataLst>
          </p:nvPr>
        </p:nvSpPr>
        <p:spPr>
          <a:xfrm>
            <a:off x="3316362" y="4763502"/>
            <a:ext cx="249110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类 的 封 装</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0" name="文本框 69"/>
          <p:cNvSpPr txBox="1"/>
          <p:nvPr>
            <p:custDataLst>
              <p:tags r:id="rId12"/>
            </p:custDataLst>
          </p:nvPr>
        </p:nvSpPr>
        <p:spPr>
          <a:xfrm>
            <a:off x="369485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3" name="矩形 72"/>
          <p:cNvSpPr/>
          <p:nvPr>
            <p:custDataLst>
              <p:tags r:id="rId13"/>
            </p:custDataLst>
          </p:nvPr>
        </p:nvSpPr>
        <p:spPr>
          <a:xfrm>
            <a:off x="5949315" y="4763770"/>
            <a:ext cx="313118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声 明 和 使 用 构造器</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4" name="矩形 73"/>
          <p:cNvSpPr/>
          <p:nvPr>
            <p:custDataLst>
              <p:tags r:id="rId14"/>
            </p:custDataLst>
          </p:nvPr>
        </p:nvSpPr>
        <p:spPr>
          <a:xfrm>
            <a:off x="8980805" y="4802505"/>
            <a:ext cx="277939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类   的   继   承</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5" name="文本框 74"/>
          <p:cNvSpPr txBox="1"/>
          <p:nvPr>
            <p:custDataLst>
              <p:tags r:id="rId15"/>
            </p:custDataLst>
          </p:nvPr>
        </p:nvSpPr>
        <p:spPr>
          <a:xfrm>
            <a:off x="666054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6" name="文本框 75"/>
          <p:cNvSpPr txBox="1"/>
          <p:nvPr>
            <p:custDataLst>
              <p:tags r:id="rId16"/>
            </p:custDataLst>
          </p:nvPr>
        </p:nvSpPr>
        <p:spPr>
          <a:xfrm>
            <a:off x="9550254" y="5262979"/>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7" name="矩形 76"/>
          <p:cNvSpPr/>
          <p:nvPr/>
        </p:nvSpPr>
        <p:spPr>
          <a:xfrm>
            <a:off x="4562112" y="934197"/>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8" name="文本框 77"/>
          <p:cNvSpPr txBox="1"/>
          <p:nvPr/>
        </p:nvSpPr>
        <p:spPr>
          <a:xfrm>
            <a:off x="6546191" y="114930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custDataLst>
              <p:tags r:id="rId17"/>
            </p:custDataLst>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custDataLst>
              <p:tags r:id="rId18"/>
            </p:custDataLst>
          </p:nvPr>
        </p:nvSpPr>
        <p:spPr>
          <a:xfrm>
            <a:off x="3887918" y="2983717"/>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custDataLst>
              <p:tags r:id="rId19"/>
            </p:custDataLst>
          </p:nvPr>
        </p:nvSpPr>
        <p:spPr>
          <a:xfrm>
            <a:off x="6851938" y="3019115"/>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custDataLst>
              <p:tags r:id="rId20"/>
            </p:custDataLst>
          </p:nvPr>
        </p:nvSpPr>
        <p:spPr>
          <a:xfrm>
            <a:off x="9785057" y="3017492"/>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6" name="图片 5" descr="5d0495981e06a4beefc1a7ac3c41024d"/>
          <p:cNvPicPr>
            <a:picLocks noChangeAspect="1"/>
          </p:cNvPicPr>
          <p:nvPr>
            <p:custDataLst>
              <p:tags r:id="rId21"/>
            </p:custDataLst>
          </p:nvPr>
        </p:nvPicPr>
        <p:blipFill>
          <a:blip r:embed="rId2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23"/>
            </p:custDataLst>
          </p:nvPr>
        </p:nvPicPr>
        <p:blipFill>
          <a:blip r:embed="rId22"/>
          <a:srcRect l="30697"/>
          <a:stretch>
            <a:fillRect/>
          </a:stretch>
        </p:blipFill>
        <p:spPr>
          <a:xfrm>
            <a:off x="8673465" y="-348615"/>
            <a:ext cx="5215255" cy="1497965"/>
          </a:xfrm>
          <a:prstGeom prst="rect">
            <a:avLst/>
          </a:prstGeom>
        </p:spPr>
      </p:pic>
      <p:sp>
        <p:nvSpPr>
          <p:cNvPr id="24" name="直角三角形 23"/>
          <p:cNvSpPr/>
          <p:nvPr>
            <p:custDataLst>
              <p:tags r:id="rId2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2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38" grpId="0"/>
      <p:bldP spid="38" grpId="1"/>
      <p:bldP spid="42" grpId="0"/>
      <p:bldP spid="67" grpId="0"/>
      <p:bldP spid="67" grpId="1"/>
      <p:bldP spid="70" grpId="0"/>
      <p:bldP spid="73" grpId="0"/>
      <p:bldP spid="73" grpId="1"/>
      <p:bldP spid="74" grpId="0"/>
      <p:bldP spid="74" grpId="1"/>
      <p:bldP spid="75" grpId="0"/>
      <p:bldP spid="76" grpId="0"/>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grpSp>
        <p:nvGrpSpPr>
          <p:cNvPr id="63" name="组合 62"/>
          <p:cNvGrpSpPr/>
          <p:nvPr>
            <p:custDataLst>
              <p:tags r:id="rId1"/>
            </p:custDataLst>
          </p:nvPr>
        </p:nvGrpSpPr>
        <p:grpSpPr>
          <a:xfrm>
            <a:off x="976125" y="2537605"/>
            <a:ext cx="10108667" cy="3155928"/>
            <a:chOff x="1037721" y="2414315"/>
            <a:chExt cx="10108667" cy="3155928"/>
          </a:xfrm>
        </p:grpSpPr>
        <p:cxnSp>
          <p:nvCxnSpPr>
            <p:cNvPr id="4" name="直接连接符 3"/>
            <p:cNvCxnSpPr/>
            <p:nvPr>
              <p:custDataLst>
                <p:tags r:id="rId2"/>
              </p:custDataLst>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3"/>
              </p:custDataLst>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custDataLst>
                <p:tags r:id="rId5"/>
              </p:custDataLst>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custDataLst>
                <p:tags r:id="rId6"/>
              </p:custDataLst>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custDataLst>
                <p:tags r:id="rId7"/>
              </p:custDataLst>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custDataLst>
                <p:tags r:id="rId8"/>
              </p:custDataLst>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custDataLst>
              <p:tags r:id="rId9"/>
            </p:custDataLst>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多             态</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2" name="文本框 41"/>
          <p:cNvSpPr txBox="1"/>
          <p:nvPr>
            <p:custDataLst>
              <p:tags r:id="rId10"/>
            </p:custDataLst>
          </p:nvPr>
        </p:nvSpPr>
        <p:spPr>
          <a:xfrm>
            <a:off x="767715" y="5229726"/>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67" name="矩形 66"/>
          <p:cNvSpPr/>
          <p:nvPr>
            <p:custDataLst>
              <p:tags r:id="rId11"/>
            </p:custDataLst>
          </p:nvPr>
        </p:nvSpPr>
        <p:spPr>
          <a:xfrm>
            <a:off x="3026410" y="4763770"/>
            <a:ext cx="332422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对象关联与</a:t>
            </a:r>
            <a:r>
              <a:rPr lang="en-US" altLang="zh-CN" sz="2400" dirty="0" smtClean="0">
                <a:solidFill>
                  <a:srgbClr val="000000"/>
                </a:solidFill>
                <a:ea typeface="宋体" panose="02010600030101010101" pitchFamily="2" charset="-122"/>
                <a:sym typeface="+mn-ea"/>
              </a:rPr>
              <a:t>Object</a:t>
            </a:r>
            <a:r>
              <a:rPr lang="zh-CN" altLang="en-US" sz="2400" dirty="0" smtClean="0">
                <a:solidFill>
                  <a:srgbClr val="000000"/>
                </a:solidFill>
                <a:ea typeface="宋体" panose="02010600030101010101" pitchFamily="2" charset="-122"/>
                <a:sym typeface="+mn-ea"/>
              </a:rPr>
              <a:t>类</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0" name="文本框 69"/>
          <p:cNvSpPr txBox="1"/>
          <p:nvPr>
            <p:custDataLst>
              <p:tags r:id="rId12"/>
            </p:custDataLst>
          </p:nvPr>
        </p:nvSpPr>
        <p:spPr>
          <a:xfrm>
            <a:off x="369485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3" name="矩形 72"/>
          <p:cNvSpPr/>
          <p:nvPr>
            <p:custDataLst>
              <p:tags r:id="rId13"/>
            </p:custDataLst>
          </p:nvPr>
        </p:nvSpPr>
        <p:spPr>
          <a:xfrm>
            <a:off x="5949315" y="4763770"/>
            <a:ext cx="313118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static与final修饰符</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4" name="矩形 73"/>
          <p:cNvSpPr/>
          <p:nvPr>
            <p:custDataLst>
              <p:tags r:id="rId14"/>
            </p:custDataLst>
          </p:nvPr>
        </p:nvSpPr>
        <p:spPr>
          <a:xfrm>
            <a:off x="8980805" y="4802505"/>
            <a:ext cx="2779395" cy="460375"/>
          </a:xfrm>
          <a:prstGeom prst="rect">
            <a:avLst/>
          </a:prstGeom>
          <a:noFill/>
        </p:spPr>
        <p:txBody>
          <a:bodyPr wrap="square" rtlCol="0">
            <a:spAutoFit/>
          </a:bodyPr>
          <a:lstStyle/>
          <a:p>
            <a:pPr algn="ctr" eaLnBrk="0" hangingPunct="0"/>
            <a:r>
              <a:rPr lang="zh-CN" altLang="en-US" sz="2400" dirty="0" smtClean="0">
                <a:solidFill>
                  <a:srgbClr val="000000"/>
                </a:solidFill>
                <a:ea typeface="宋体" panose="02010600030101010101" pitchFamily="2" charset="-122"/>
                <a:sym typeface="+mn-ea"/>
              </a:rPr>
              <a:t>抽象类</a:t>
            </a:r>
            <a:r>
              <a:rPr lang="en-US" altLang="zh-CN" sz="2400" dirty="0" smtClean="0">
                <a:solidFill>
                  <a:srgbClr val="000000"/>
                </a:solidFill>
                <a:ea typeface="宋体" panose="02010600030101010101" pitchFamily="2" charset="-122"/>
                <a:sym typeface="+mn-ea"/>
              </a:rPr>
              <a:t>,</a:t>
            </a:r>
            <a:r>
              <a:rPr lang="zh-CN" altLang="en-US" sz="2400" dirty="0" smtClean="0">
                <a:solidFill>
                  <a:srgbClr val="000000"/>
                </a:solidFill>
                <a:ea typeface="宋体" panose="02010600030101010101" pitchFamily="2" charset="-122"/>
                <a:sym typeface="+mn-ea"/>
              </a:rPr>
              <a:t>接口</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5" name="文本框 74"/>
          <p:cNvSpPr txBox="1"/>
          <p:nvPr>
            <p:custDataLst>
              <p:tags r:id="rId15"/>
            </p:custDataLst>
          </p:nvPr>
        </p:nvSpPr>
        <p:spPr>
          <a:xfrm>
            <a:off x="666054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6" name="文本框 75"/>
          <p:cNvSpPr txBox="1"/>
          <p:nvPr>
            <p:custDataLst>
              <p:tags r:id="rId16"/>
            </p:custDataLst>
          </p:nvPr>
        </p:nvSpPr>
        <p:spPr>
          <a:xfrm>
            <a:off x="9550254" y="5262979"/>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7" name="矩形 76"/>
          <p:cNvSpPr/>
          <p:nvPr/>
        </p:nvSpPr>
        <p:spPr>
          <a:xfrm>
            <a:off x="4562112" y="934197"/>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8" name="文本框 77"/>
          <p:cNvSpPr txBox="1"/>
          <p:nvPr/>
        </p:nvSpPr>
        <p:spPr>
          <a:xfrm>
            <a:off x="6546191" y="114930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custDataLst>
              <p:tags r:id="rId17"/>
            </p:custDataLst>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custDataLst>
              <p:tags r:id="rId18"/>
            </p:custDataLst>
          </p:nvPr>
        </p:nvSpPr>
        <p:spPr>
          <a:xfrm>
            <a:off x="3887918" y="2983717"/>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custDataLst>
              <p:tags r:id="rId19"/>
            </p:custDataLst>
          </p:nvPr>
        </p:nvSpPr>
        <p:spPr>
          <a:xfrm>
            <a:off x="6851938" y="3019115"/>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11</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custDataLst>
              <p:tags r:id="rId20"/>
            </p:custDataLst>
          </p:nvPr>
        </p:nvSpPr>
        <p:spPr>
          <a:xfrm>
            <a:off x="9785057" y="3017492"/>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12</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6" name="图片 5" descr="5d0495981e06a4beefc1a7ac3c41024d"/>
          <p:cNvPicPr>
            <a:picLocks noChangeAspect="1"/>
          </p:cNvPicPr>
          <p:nvPr>
            <p:custDataLst>
              <p:tags r:id="rId21"/>
            </p:custDataLst>
          </p:nvPr>
        </p:nvPicPr>
        <p:blipFill>
          <a:blip r:embed="rId2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23"/>
            </p:custDataLst>
          </p:nvPr>
        </p:nvPicPr>
        <p:blipFill>
          <a:blip r:embed="rId22"/>
          <a:srcRect l="30697"/>
          <a:stretch>
            <a:fillRect/>
          </a:stretch>
        </p:blipFill>
        <p:spPr>
          <a:xfrm>
            <a:off x="8673465" y="-348615"/>
            <a:ext cx="5215255" cy="1497965"/>
          </a:xfrm>
          <a:prstGeom prst="rect">
            <a:avLst/>
          </a:prstGeom>
        </p:spPr>
      </p:pic>
      <p:sp>
        <p:nvSpPr>
          <p:cNvPr id="24" name="直角三角形 23"/>
          <p:cNvSpPr/>
          <p:nvPr>
            <p:custDataLst>
              <p:tags r:id="rId2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2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38" grpId="0"/>
      <p:bldP spid="38" grpId="1"/>
      <p:bldP spid="42" grpId="0"/>
      <p:bldP spid="67" grpId="0"/>
      <p:bldP spid="67" grpId="1"/>
      <p:bldP spid="70" grpId="0"/>
      <p:bldP spid="73" grpId="0"/>
      <p:bldP spid="73" grpId="1"/>
      <p:bldP spid="74" grpId="0"/>
      <p:bldP spid="74" grpId="1"/>
      <p:bldP spid="75" grpId="0"/>
      <p:bldP spid="76" grpId="0"/>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grpSp>
        <p:nvGrpSpPr>
          <p:cNvPr id="63" name="组合 62"/>
          <p:cNvGrpSpPr/>
          <p:nvPr>
            <p:custDataLst>
              <p:tags r:id="rId1"/>
            </p:custDataLst>
          </p:nvPr>
        </p:nvGrpSpPr>
        <p:grpSpPr>
          <a:xfrm>
            <a:off x="976125" y="2537605"/>
            <a:ext cx="10108667" cy="3155928"/>
            <a:chOff x="1037721" y="2414315"/>
            <a:chExt cx="10108667" cy="3155928"/>
          </a:xfrm>
        </p:grpSpPr>
        <p:cxnSp>
          <p:nvCxnSpPr>
            <p:cNvPr id="4" name="直接连接符 3"/>
            <p:cNvCxnSpPr/>
            <p:nvPr>
              <p:custDataLst>
                <p:tags r:id="rId2"/>
              </p:custDataLst>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3"/>
              </p:custDataLst>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4"/>
              </p:custDataLst>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custDataLst>
                <p:tags r:id="rId5"/>
              </p:custDataLst>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custDataLst>
                <p:tags r:id="rId6"/>
              </p:custDataLst>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custDataLst>
                <p:tags r:id="rId7"/>
              </p:custDataLst>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custDataLst>
                <p:tags r:id="rId8"/>
              </p:custDataLst>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custDataLst>
              <p:tags r:id="rId9"/>
            </p:custDataLst>
          </p:nvPr>
        </p:nvSpPr>
        <p:spPr>
          <a:xfrm>
            <a:off x="223520" y="4769485"/>
            <a:ext cx="293878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思源黑体 CN Light" panose="020B0300000000000000" pitchFamily="34" charset="-122"/>
              </a:rPr>
              <a:t>包 的 使 用</a:t>
            </a:r>
            <a:endParaRPr lang="en-US" altLang="zh-CN" sz="2400" dirty="0">
              <a:solidFill>
                <a:srgbClr val="000000"/>
              </a:solidFill>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2" name="文本框 41"/>
          <p:cNvSpPr txBox="1"/>
          <p:nvPr>
            <p:custDataLst>
              <p:tags r:id="rId10"/>
            </p:custDataLst>
          </p:nvPr>
        </p:nvSpPr>
        <p:spPr>
          <a:xfrm>
            <a:off x="767715" y="5229726"/>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67" name="矩形 66"/>
          <p:cNvSpPr/>
          <p:nvPr>
            <p:custDataLst>
              <p:tags r:id="rId11"/>
            </p:custDataLst>
          </p:nvPr>
        </p:nvSpPr>
        <p:spPr>
          <a:xfrm>
            <a:off x="3316362" y="4763502"/>
            <a:ext cx="2491105" cy="460375"/>
          </a:xfrm>
          <a:prstGeom prst="rect">
            <a:avLst/>
          </a:prstGeom>
          <a:noFill/>
        </p:spPr>
        <p:txBody>
          <a:bodyPr wrap="square" rtlCol="0">
            <a:spAutoFit/>
          </a:bodyPr>
          <a:lstStyle/>
          <a:p>
            <a:pPr marL="0" marR="0" lvl="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dirty="0" smtClean="0">
                <a:solidFill>
                  <a:srgbClr val="000000"/>
                </a:solidFill>
                <a:ea typeface="宋体" panose="02010600030101010101" pitchFamily="2" charset="-122"/>
                <a:sym typeface="思源黑体 CN Light" panose="020B0300000000000000" pitchFamily="34" charset="-122"/>
              </a:rPr>
              <a:t>内</a:t>
            </a:r>
            <a:r>
              <a:rPr kumimoji="0" lang="en-US" altLang="zh-CN" sz="2400" b="0" i="0" u="none" strike="noStrike" kern="1200" cap="none" spc="0" normalizeH="0" baseline="0" dirty="0" smtClean="0">
                <a:solidFill>
                  <a:srgbClr val="000000"/>
                </a:solidFill>
                <a:ea typeface="宋体" panose="02010600030101010101" pitchFamily="2" charset="-122"/>
                <a:sym typeface="思源黑体 CN Light" panose="020B0300000000000000" pitchFamily="34" charset="-122"/>
              </a:rPr>
              <a:t> </a:t>
            </a:r>
            <a:r>
              <a:rPr kumimoji="0" lang="zh-CN" altLang="en-US" sz="2400" b="0" i="0" u="none" strike="noStrike" kern="1200" cap="none" spc="0" normalizeH="0" baseline="0" dirty="0" smtClean="0">
                <a:solidFill>
                  <a:srgbClr val="000000"/>
                </a:solidFill>
                <a:ea typeface="宋体" panose="02010600030101010101" pitchFamily="2" charset="-122"/>
                <a:sym typeface="思源黑体 CN Light" panose="020B0300000000000000" pitchFamily="34" charset="-122"/>
              </a:rPr>
              <a:t>部</a:t>
            </a:r>
            <a:r>
              <a:rPr kumimoji="0" lang="en-US" altLang="zh-CN" sz="2400" b="0" i="0" u="none" strike="noStrike" kern="1200" cap="none" spc="0" normalizeH="0" baseline="0" dirty="0" smtClean="0">
                <a:solidFill>
                  <a:srgbClr val="000000"/>
                </a:solidFill>
                <a:ea typeface="宋体" panose="02010600030101010101" pitchFamily="2" charset="-122"/>
                <a:sym typeface="思源黑体 CN Light" panose="020B0300000000000000" pitchFamily="34" charset="-122"/>
              </a:rPr>
              <a:t> </a:t>
            </a:r>
            <a:r>
              <a:rPr kumimoji="0" lang="zh-CN" altLang="en-US" sz="2400" b="0" i="0" u="none" strike="noStrike" kern="1200" cap="none" spc="0" normalizeH="0" baseline="0" dirty="0" smtClean="0">
                <a:solidFill>
                  <a:srgbClr val="000000"/>
                </a:solidFill>
                <a:ea typeface="宋体" panose="02010600030101010101" pitchFamily="2" charset="-122"/>
                <a:sym typeface="思源黑体 CN Light" panose="020B0300000000000000" pitchFamily="34" charset="-122"/>
              </a:rPr>
              <a:t>类</a:t>
            </a:r>
            <a:endParaRPr kumimoji="0" lang="zh-CN" altLang="en-US" sz="2400" b="0" i="0" u="none" strike="noStrike" kern="1200" cap="none" spc="0" normalizeH="0" baseline="0" dirty="0" smtClean="0">
              <a:solidFill>
                <a:srgbClr val="000000"/>
              </a:solidFill>
              <a:ea typeface="宋体" panose="02010600030101010101" pitchFamily="2" charset="-122"/>
              <a:sym typeface="思源黑体 CN Light" panose="020B0300000000000000" pitchFamily="34" charset="-122"/>
            </a:endParaRPr>
          </a:p>
        </p:txBody>
      </p:sp>
      <p:sp>
        <p:nvSpPr>
          <p:cNvPr id="70" name="文本框 69"/>
          <p:cNvSpPr txBox="1"/>
          <p:nvPr>
            <p:custDataLst>
              <p:tags r:id="rId12"/>
            </p:custDataLst>
          </p:nvPr>
        </p:nvSpPr>
        <p:spPr>
          <a:xfrm>
            <a:off x="369485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3" name="矩形 72"/>
          <p:cNvSpPr/>
          <p:nvPr>
            <p:custDataLst>
              <p:tags r:id="rId13"/>
            </p:custDataLst>
          </p:nvPr>
        </p:nvSpPr>
        <p:spPr>
          <a:xfrm>
            <a:off x="5949315" y="4763770"/>
            <a:ext cx="313118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a:t>
            </a:r>
            <a:endParaRPr kumimoji="0" lang="zh-CN" altLang="en-US" sz="2400" b="0" i="0" u="none" strike="noStrike" kern="1200" cap="none" spc="0" normalizeH="0" baseline="0" noProof="0" dirty="0" smtClean="0">
              <a:ln>
                <a:noFill/>
              </a:ln>
              <a:solidFill>
                <a:srgbClr val="000000"/>
              </a:solidFill>
              <a:effectLst/>
              <a:uLnTx/>
              <a:uFillTx/>
              <a:latin typeface="思源黑体 CN Bold" panose="020B0800000000000000" pitchFamily="34" charset="-122"/>
              <a:ea typeface="宋体" panose="02010600030101010101" pitchFamily="2" charset="-122"/>
              <a:sym typeface="+mn-ea"/>
            </a:endParaRPr>
          </a:p>
        </p:txBody>
      </p:sp>
      <p:sp>
        <p:nvSpPr>
          <p:cNvPr id="74" name="矩形 73"/>
          <p:cNvSpPr/>
          <p:nvPr>
            <p:custDataLst>
              <p:tags r:id="rId14"/>
            </p:custDataLst>
          </p:nvPr>
        </p:nvSpPr>
        <p:spPr>
          <a:xfrm>
            <a:off x="8980805" y="4802505"/>
            <a:ext cx="277939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rgbClr val="000000"/>
                </a:solidFill>
                <a:ea typeface="宋体" panose="02010600030101010101" pitchFamily="2" charset="-122"/>
                <a:sym typeface="+mn-ea"/>
              </a:rPr>
              <a:t>。。。。。。</a:t>
            </a:r>
            <a:endPar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5" name="文本框 74"/>
          <p:cNvSpPr txBox="1"/>
          <p:nvPr>
            <p:custDataLst>
              <p:tags r:id="rId15"/>
            </p:custDataLst>
          </p:nvPr>
        </p:nvSpPr>
        <p:spPr>
          <a:xfrm>
            <a:off x="6660544" y="5223877"/>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6" name="文本框 75"/>
          <p:cNvSpPr txBox="1"/>
          <p:nvPr>
            <p:custDataLst>
              <p:tags r:id="rId16"/>
            </p:custDataLst>
          </p:nvPr>
        </p:nvSpPr>
        <p:spPr>
          <a:xfrm>
            <a:off x="9550254" y="5262979"/>
            <a:ext cx="1802765" cy="398780"/>
          </a:xfrm>
          <a:prstGeom prst="rect">
            <a:avLst/>
          </a:prstGeom>
          <a:noFill/>
        </p:spPr>
        <p:txBody>
          <a:bodyPr wrap="square" rtlCol="0" anchor="t">
            <a:spAutoFit/>
          </a:bodyPr>
          <a:lstStyle/>
          <a:p>
            <a:pPr algn="ctr"/>
            <a:r>
              <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rPr>
              <a:t>Enter the relevant content you need here.</a:t>
            </a:r>
            <a:endParaRPr lang="en-GB" altLang="zh-CN" sz="1000">
              <a:solidFill>
                <a:schemeClr val="bg1">
                  <a:lumMod val="65000"/>
                </a:schemeClr>
              </a:solidFill>
              <a:latin typeface="思源宋体 CN Light" panose="02020300000000000000" pitchFamily="18" charset="-122"/>
              <a:ea typeface="思源宋体 CN Light" panose="02020300000000000000" pitchFamily="18" charset="-122"/>
              <a:sym typeface="+mn-ea"/>
            </a:endParaRPr>
          </a:p>
        </p:txBody>
      </p:sp>
      <p:sp>
        <p:nvSpPr>
          <p:cNvPr id="77" name="矩形 76"/>
          <p:cNvSpPr/>
          <p:nvPr/>
        </p:nvSpPr>
        <p:spPr>
          <a:xfrm>
            <a:off x="4562112" y="934197"/>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8" name="文本框 77"/>
          <p:cNvSpPr txBox="1"/>
          <p:nvPr/>
        </p:nvSpPr>
        <p:spPr>
          <a:xfrm>
            <a:off x="6546191" y="114930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custDataLst>
              <p:tags r:id="rId17"/>
            </p:custDataLst>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13</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custDataLst>
              <p:tags r:id="rId18"/>
            </p:custDataLst>
          </p:nvPr>
        </p:nvSpPr>
        <p:spPr>
          <a:xfrm>
            <a:off x="3887918" y="2983717"/>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14</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custDataLst>
              <p:tags r:id="rId19"/>
            </p:custDataLst>
          </p:nvPr>
        </p:nvSpPr>
        <p:spPr>
          <a:xfrm>
            <a:off x="6851938" y="3019115"/>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custDataLst>
              <p:tags r:id="rId20"/>
            </p:custDataLst>
          </p:nvPr>
        </p:nvSpPr>
        <p:spPr>
          <a:xfrm>
            <a:off x="9785057" y="3017492"/>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6" name="图片 5" descr="5d0495981e06a4beefc1a7ac3c41024d"/>
          <p:cNvPicPr>
            <a:picLocks noChangeAspect="1"/>
          </p:cNvPicPr>
          <p:nvPr>
            <p:custDataLst>
              <p:tags r:id="rId21"/>
            </p:custDataLst>
          </p:nvPr>
        </p:nvPicPr>
        <p:blipFill>
          <a:blip r:embed="rId2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23"/>
            </p:custDataLst>
          </p:nvPr>
        </p:nvPicPr>
        <p:blipFill>
          <a:blip r:embed="rId22"/>
          <a:srcRect l="30697"/>
          <a:stretch>
            <a:fillRect/>
          </a:stretch>
        </p:blipFill>
        <p:spPr>
          <a:xfrm>
            <a:off x="8673465" y="-348615"/>
            <a:ext cx="5215255" cy="1497965"/>
          </a:xfrm>
          <a:prstGeom prst="rect">
            <a:avLst/>
          </a:prstGeom>
        </p:spPr>
      </p:pic>
      <p:sp>
        <p:nvSpPr>
          <p:cNvPr id="24" name="直角三角形 23"/>
          <p:cNvSpPr/>
          <p:nvPr>
            <p:custDataLst>
              <p:tags r:id="rId2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2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38" grpId="0"/>
      <p:bldP spid="38" grpId="1"/>
      <p:bldP spid="42" grpId="0"/>
      <p:bldP spid="67" grpId="0"/>
      <p:bldP spid="67" grpId="1"/>
      <p:bldP spid="70" grpId="0"/>
      <p:bldP spid="73" grpId="0"/>
      <p:bldP spid="73" grpId="1"/>
      <p:bldP spid="74" grpId="0"/>
      <p:bldP spid="74" grpId="1"/>
      <p:bldP spid="75" grpId="0"/>
      <p:bldP spid="76" grpId="0"/>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3368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1831975"/>
            <a:ext cx="5661025" cy="4446270"/>
          </a:xfrm>
          <a:prstGeom prst="rect">
            <a:avLst/>
          </a:prstGeom>
          <a:noFill/>
        </p:spPr>
        <p:txBody>
          <a:bodyPr wrap="square" rtlCol="0">
            <a:spAutoFit/>
          </a:bodyPr>
          <a:lstStyle/>
          <a:p>
            <a:pPr marR="0" lvl="0" indent="0" algn="l" defTabSz="914400" rtl="0" eaLnBrk="1" fontAlgn="auto" latinLnBrk="0" hangingPunct="1">
              <a:lnSpc>
                <a:spcPct val="18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en-US" sz="2400" dirty="0">
                <a:latin typeface="+mj-ea"/>
                <a:ea typeface="+mj-ea"/>
                <a:cs typeface="+mj-ea"/>
                <a:sym typeface="+mn-ea"/>
              </a:rPr>
              <a:t>Java</a:t>
            </a:r>
            <a:r>
              <a:rPr lang="zh-CN" altLang="en-US" sz="2400" dirty="0">
                <a:latin typeface="+mj-ea"/>
                <a:ea typeface="+mj-ea"/>
                <a:cs typeface="+mj-ea"/>
                <a:sym typeface="+mn-ea"/>
              </a:rPr>
              <a:t>概述</a:t>
            </a:r>
            <a:endParaRPr lang="zh-CN" altLang="en-US" sz="2400" dirty="0">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r>
              <a:rPr lang="en-US" altLang="zh-CN" sz="2400" noProof="0" dirty="0">
                <a:ln>
                  <a:noFill/>
                </a:ln>
                <a:solidFill>
                  <a:srgbClr val="ED7D31"/>
                </a:solidFill>
                <a:effectLst/>
                <a:uLnTx/>
                <a:uFillTx/>
                <a:latin typeface="+mj-ea"/>
                <a:ea typeface="+mj-ea"/>
                <a:cs typeface="+mj-ea"/>
                <a:sym typeface="思源黑体 CN Light" panose="020B0300000000000000" pitchFamily="34" charset="-122"/>
              </a:rPr>
              <a:t>2.</a:t>
            </a:r>
            <a:r>
              <a:rPr lang="en-US" sz="2400" dirty="0">
                <a:solidFill>
                  <a:srgbClr val="ED7D31"/>
                </a:solidFill>
                <a:latin typeface="+mj-ea"/>
                <a:ea typeface="+mj-ea"/>
                <a:cs typeface="+mj-ea"/>
                <a:sym typeface="+mn-ea"/>
              </a:rPr>
              <a:t>Java</a:t>
            </a:r>
            <a:r>
              <a:rPr lang="zh-CN" altLang="en-US" sz="2400" dirty="0">
                <a:solidFill>
                  <a:srgbClr val="ED7D31"/>
                </a:solidFill>
                <a:latin typeface="+mj-ea"/>
                <a:ea typeface="+mj-ea"/>
                <a:cs typeface="+mj-ea"/>
                <a:sym typeface="+mn-ea"/>
              </a:rPr>
              <a:t>应用程序与开发环境</a:t>
            </a:r>
            <a:endParaRPr lang="zh-CN" altLang="en-US" sz="2400" dirty="0">
              <a:solidFill>
                <a:srgbClr val="ED7D31"/>
              </a:solidFill>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r>
              <a:rPr lang="en-US" altLang="zh-CN" sz="2400" noProof="0" dirty="0">
                <a:ln>
                  <a:noFill/>
                </a:ln>
                <a:effectLst/>
                <a:uLnTx/>
                <a:uFillTx/>
                <a:latin typeface="+mj-ea"/>
                <a:ea typeface="+mj-ea"/>
                <a:cs typeface="+mj-ea"/>
                <a:sym typeface="思源黑体 CN Light" panose="020B0300000000000000" pitchFamily="34" charset="-122"/>
              </a:rPr>
              <a:t>3.</a:t>
            </a:r>
            <a:r>
              <a:rPr lang="zh-CN" altLang="en-US" sz="2400" dirty="0">
                <a:latin typeface="+mj-ea"/>
                <a:ea typeface="+mj-ea"/>
                <a:cs typeface="+mj-ea"/>
                <a:sym typeface="+mn-ea"/>
              </a:rPr>
              <a:t>开发简单的</a:t>
            </a:r>
            <a:r>
              <a:rPr lang="en-US" sz="2400" dirty="0">
                <a:latin typeface="+mj-ea"/>
                <a:ea typeface="+mj-ea"/>
                <a:cs typeface="+mj-ea"/>
                <a:sym typeface="+mn-ea"/>
              </a:rPr>
              <a:t>Java</a:t>
            </a:r>
            <a:r>
              <a:rPr lang="zh-CN" altLang="en-US" sz="2400" dirty="0" smtClean="0">
                <a:latin typeface="+mj-ea"/>
                <a:ea typeface="+mj-ea"/>
                <a:cs typeface="+mj-ea"/>
                <a:sym typeface="+mn-ea"/>
              </a:rPr>
              <a:t>应用程序</a:t>
            </a:r>
            <a:endParaRPr lang="zh-CN" altLang="en-US" sz="2400" dirty="0" smtClean="0">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r>
              <a:rPr lang="en-US" altLang="zh-CN" sz="2400" noProof="0" dirty="0">
                <a:ln>
                  <a:noFill/>
                </a:ln>
                <a:solidFill>
                  <a:srgbClr val="ED7D31"/>
                </a:solidFill>
                <a:effectLst/>
                <a:uLnTx/>
                <a:uFillTx/>
                <a:latin typeface="+mj-ea"/>
                <a:ea typeface="+mj-ea"/>
                <a:cs typeface="+mj-ea"/>
                <a:sym typeface="思源黑体 CN Light" panose="020B0300000000000000" pitchFamily="34" charset="-122"/>
              </a:rPr>
              <a:t>4.</a:t>
            </a:r>
            <a:r>
              <a:rPr lang="zh-CN" altLang="en-US" sz="2400" noProof="0" dirty="0">
                <a:ln>
                  <a:noFill/>
                </a:ln>
                <a:solidFill>
                  <a:srgbClr val="ED7D31"/>
                </a:solidFill>
                <a:effectLst/>
                <a:uLnTx/>
                <a:uFillTx/>
                <a:latin typeface="+mj-ea"/>
                <a:ea typeface="+mj-ea"/>
                <a:cs typeface="+mj-ea"/>
                <a:sym typeface="思源黑体 CN Light" panose="020B0300000000000000" pitchFamily="34" charset="-122"/>
              </a:rPr>
              <a:t>标识符</a:t>
            </a:r>
            <a:r>
              <a:rPr lang="zh-CN" altLang="en-US" sz="2400" dirty="0" smtClean="0">
                <a:solidFill>
                  <a:srgbClr val="ED7D31"/>
                </a:solidFill>
                <a:latin typeface="+mj-ea"/>
                <a:ea typeface="+mj-ea"/>
                <a:cs typeface="+mj-ea"/>
                <a:sym typeface="+mn-ea"/>
              </a:rPr>
              <a:t>与注释</a:t>
            </a:r>
            <a:endParaRPr lang="en-US" altLang="en-US" sz="2400" dirty="0">
              <a:solidFill>
                <a:srgbClr val="ED7D31"/>
              </a:solidFill>
              <a:latin typeface="+mj-ea"/>
              <a:ea typeface="+mj-ea"/>
              <a:cs typeface="+mj-ea"/>
            </a:endParaRPr>
          </a:p>
          <a:p>
            <a:pPr marR="0" lvl="0" indent="0" algn="l" defTabSz="914400" rtl="0" eaLnBrk="1" fontAlgn="auto" latinLnBrk="0" hangingPunct="1">
              <a:lnSpc>
                <a:spcPct val="180000"/>
              </a:lnSpc>
              <a:spcBef>
                <a:spcPts val="0"/>
              </a:spcBef>
              <a:spcAft>
                <a:spcPts val="0"/>
              </a:spcAft>
              <a:buClrTx/>
              <a:buSzTx/>
              <a:buFont typeface="+mj-lt"/>
              <a:buNone/>
              <a:defRPr/>
            </a:pPr>
            <a:endParaRPr lang="en-US" altLang="zh-CN" sz="2400" dirty="0" smtClean="0">
              <a:latin typeface="+mj-ea"/>
              <a:ea typeface="+mj-ea"/>
              <a:cs typeface="+mj-ea"/>
            </a:endParaRPr>
          </a:p>
          <a:p>
            <a:pPr marR="0" lvl="0" indent="0" algn="l" defTabSz="914400" rtl="0" eaLnBrk="1" fontAlgn="auto" latinLnBrk="0" hangingPunct="1">
              <a:lnSpc>
                <a:spcPct val="18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solidFill>
                <a:srgbClr val="ED7D31"/>
              </a:solidFill>
              <a:effectLst/>
              <a:uLnTx/>
              <a:uFillTx/>
              <a:latin typeface="+mj-ea"/>
              <a:ea typeface="+mj-ea"/>
              <a:cs typeface="+mj-ea"/>
              <a:sym typeface="+mn-ea"/>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第一章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认识</a:t>
            </a:r>
            <a:r>
              <a:rPr kumimoji="0" lang="en-US" altLang="zh-CN"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Java</a:t>
            </a:r>
            <a:r>
              <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语言</a:t>
            </a:r>
            <a:endPar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Java概述</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lvl="0">
              <a:defRPr/>
            </a:pPr>
            <a:r>
              <a:rPr lang="zh-CN" altLang="en-US" sz="2400" b="1">
                <a:ea typeface="宋体" panose="02010600030101010101" pitchFamily="2" charset="-122"/>
                <a:sym typeface="+mn-ea"/>
              </a:rPr>
              <a:t>Java语言与计算机语言的关系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3" name="矩形 22"/>
          <p:cNvSpPr/>
          <p:nvPr/>
        </p:nvSpPr>
        <p:spPr>
          <a:xfrm>
            <a:off x="1197610" y="1497965"/>
            <a:ext cx="9719945" cy="829945"/>
          </a:xfrm>
          <a:prstGeom prst="rect">
            <a:avLst/>
          </a:prstGeom>
          <a:noFill/>
        </p:spPr>
        <p:txBody>
          <a:bodyPr wrap="square" rtlCol="0">
            <a:spAutoFit/>
          </a:bodyPr>
          <a:p>
            <a:pPr marL="457200" marR="0" lvl="0" indent="-457200" algn="l" defTabSz="914400" rtl="0" eaLnBrk="1" fontAlgn="auto" latinLnBrk="0" hangingPunct="1">
              <a:lnSpc>
                <a:spcPct val="100000"/>
              </a:lnSpc>
              <a:spcBef>
                <a:spcPts val="0"/>
              </a:spcBef>
              <a:spcAft>
                <a:spcPts val="0"/>
              </a:spcAft>
              <a:buClr>
                <a:srgbClr val="ED7D31"/>
              </a:buClr>
              <a:buSzTx/>
              <a:buFont typeface="+mj-lt"/>
              <a:buAutoNum type="arabicPeriod"/>
              <a:defRPr/>
            </a:pPr>
            <a:r>
              <a:rPr lang="zh-CN" altLang="en-US" sz="2400" dirty="0">
                <a:sym typeface="+mn-ea"/>
              </a:rPr>
              <a:t>计算机语</a:t>
            </a:r>
            <a:r>
              <a:rPr lang="zh-CN" altLang="en-US" sz="2400" dirty="0">
                <a:ea typeface="宋体" panose="02010600030101010101" pitchFamily="2" charset="-122"/>
                <a:sym typeface="+mn-ea"/>
              </a:rPr>
              <a:t>言（</a:t>
            </a:r>
            <a:r>
              <a:rPr lang="en-US" sz="2400" dirty="0">
                <a:sym typeface="+mn-ea"/>
              </a:rPr>
              <a:t>Computer Language</a:t>
            </a:r>
            <a:r>
              <a:rPr lang="zh-CN" altLang="en-US" sz="2400" dirty="0">
                <a:sym typeface="+mn-ea"/>
              </a:rPr>
              <a:t>） </a:t>
            </a:r>
            <a:r>
              <a:rPr lang="zh-CN" altLang="en-US" sz="2400" dirty="0">
                <a:ea typeface="宋体" panose="02010600030101010101" pitchFamily="2" charset="-122"/>
                <a:sym typeface="+mn-ea"/>
              </a:rPr>
              <a:t>：人与计算机交互的一种方式。如果需要人机交互我们就需要学习计算机语言。</a:t>
            </a:r>
            <a:endParaRPr kumimoji="0" lang="zh-CN" altLang="en-US" sz="240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7" name="矩形 36"/>
          <p:cNvSpPr/>
          <p:nvPr/>
        </p:nvSpPr>
        <p:spPr>
          <a:xfrm>
            <a:off x="1235710" y="2734945"/>
            <a:ext cx="9719310" cy="1198880"/>
          </a:xfrm>
          <a:prstGeom prst="rect">
            <a:avLst/>
          </a:prstGeom>
          <a:noFill/>
        </p:spPr>
        <p:txBody>
          <a:bodyPr wrap="square" rtlCol="0">
            <a:spAutoFit/>
          </a:bodyPr>
          <a:p>
            <a:pPr marL="457200" indent="-457200" eaLnBrk="1" hangingPunct="1">
              <a:buClr>
                <a:srgbClr val="ED7D31"/>
              </a:buClr>
              <a:buFont typeface="+mj-lt"/>
              <a:buAutoNum type="arabicPeriod" startAt="2"/>
            </a:pPr>
            <a:r>
              <a:rPr lang="zh-CN" altLang="en-US" sz="2400" dirty="0">
                <a:solidFill>
                  <a:schemeClr val="tx1"/>
                </a:solidFill>
                <a:ea typeface="宋体" panose="02010600030101010101" pitchFamily="2" charset="-122"/>
                <a:sym typeface="+mn-ea"/>
              </a:rPr>
              <a:t>市场上有很多种计算机语言：</a:t>
            </a:r>
            <a:endParaRPr lang="en-US" sz="2400" dirty="0">
              <a:solidFill>
                <a:schemeClr val="tx1"/>
              </a:solidFill>
              <a:ea typeface="宋体" panose="02010600030101010101" pitchFamily="2" charset="-122"/>
            </a:endParaRPr>
          </a:p>
          <a:p>
            <a:pPr marL="361950" indent="-361950" eaLnBrk="1" hangingPunct="1">
              <a:buFont typeface="Times"/>
              <a:buNone/>
            </a:pPr>
            <a:r>
              <a:rPr lang="zh-CN" altLang="en-US" sz="2400" dirty="0">
                <a:solidFill>
                  <a:schemeClr val="tx1"/>
                </a:solidFill>
                <a:ea typeface="宋体" panose="02010600030101010101" pitchFamily="2" charset="-122"/>
                <a:sym typeface="+mn-ea"/>
              </a:rPr>
              <a:t>            如：</a:t>
            </a:r>
            <a:r>
              <a:rPr lang="en-US" sz="2400" dirty="0">
                <a:solidFill>
                  <a:schemeClr val="tx1"/>
                </a:solidFill>
                <a:ea typeface="宋体" panose="02010600030101010101" pitchFamily="2" charset="-122"/>
                <a:sym typeface="+mn-ea"/>
              </a:rPr>
              <a:t>C</a:t>
            </a:r>
            <a:r>
              <a:rPr lang="zh-CN" altLang="en-US" sz="2400" dirty="0">
                <a:solidFill>
                  <a:schemeClr val="tx1"/>
                </a:solidFill>
                <a:ea typeface="宋体" panose="02010600030101010101" pitchFamily="2" charset="-122"/>
                <a:sym typeface="+mn-ea"/>
              </a:rPr>
              <a:t>，</a:t>
            </a:r>
            <a:r>
              <a:rPr lang="en-US" sz="2400" dirty="0">
                <a:solidFill>
                  <a:schemeClr val="tx1"/>
                </a:solidFill>
                <a:ea typeface="宋体" panose="02010600030101010101" pitchFamily="2" charset="-122"/>
                <a:sym typeface="+mn-ea"/>
              </a:rPr>
              <a:t>C++</a:t>
            </a:r>
            <a:r>
              <a:rPr lang="zh-CN" altLang="en-US" sz="2400" dirty="0">
                <a:solidFill>
                  <a:schemeClr val="tx1"/>
                </a:solidFill>
                <a:ea typeface="宋体" panose="02010600030101010101" pitchFamily="2" charset="-122"/>
                <a:sym typeface="+mn-ea"/>
              </a:rPr>
              <a:t>，</a:t>
            </a:r>
            <a:r>
              <a:rPr lang="en-US" sz="2400" dirty="0">
                <a:solidFill>
                  <a:schemeClr val="tx1"/>
                </a:solidFill>
                <a:ea typeface="宋体" panose="02010600030101010101" pitchFamily="2" charset="-122"/>
                <a:sym typeface="+mn-ea"/>
              </a:rPr>
              <a:t>Java</a:t>
            </a:r>
            <a:r>
              <a:rPr lang="zh-CN" altLang="en-US" sz="2400" dirty="0">
                <a:solidFill>
                  <a:schemeClr val="tx1"/>
                </a:solidFill>
                <a:ea typeface="宋体" panose="02010600030101010101" pitchFamily="2" charset="-122"/>
                <a:sym typeface="+mn-ea"/>
              </a:rPr>
              <a:t>，</a:t>
            </a:r>
            <a:r>
              <a:rPr lang="en-US" sz="2400" dirty="0">
                <a:solidFill>
                  <a:schemeClr val="tx1"/>
                </a:solidFill>
                <a:ea typeface="宋体" panose="02010600030101010101" pitchFamily="2" charset="-122"/>
                <a:sym typeface="+mn-ea"/>
              </a:rPr>
              <a:t>PHP</a:t>
            </a:r>
            <a:r>
              <a:rPr lang="zh-CN" altLang="en-US" sz="2400" dirty="0">
                <a:solidFill>
                  <a:schemeClr val="tx1"/>
                </a:solidFill>
                <a:ea typeface="宋体" panose="02010600030101010101" pitchFamily="2" charset="-122"/>
                <a:sym typeface="+mn-ea"/>
              </a:rPr>
              <a:t>等。这里我们要学习的是</a:t>
            </a:r>
            <a:r>
              <a:rPr lang="en-US" sz="2400" dirty="0">
                <a:solidFill>
                  <a:schemeClr val="tx1"/>
                </a:solidFill>
                <a:ea typeface="宋体" panose="02010600030101010101" pitchFamily="2" charset="-122"/>
                <a:sym typeface="+mn-ea"/>
              </a:rPr>
              <a:t>————Java</a:t>
            </a:r>
            <a:r>
              <a:rPr lang="zh-CN" altLang="en-US" sz="2400" dirty="0">
                <a:solidFill>
                  <a:schemeClr val="tx1"/>
                </a:solidFill>
                <a:ea typeface="宋体" panose="02010600030101010101" pitchFamily="2" charset="-122"/>
                <a:sym typeface="+mn-ea"/>
              </a:rPr>
              <a:t>语言。</a:t>
            </a:r>
            <a:endParaRPr kumimoji="0" lang="zh-CN" altLang="en-US" sz="2400" b="0" i="0" u="none" strike="noStrike" kern="1200" cap="none" spc="0" normalizeH="0" baseline="0" noProof="0" dirty="0">
              <a:ln>
                <a:noFill/>
              </a:ln>
              <a:solidFill>
                <a:schemeClr val="tx1"/>
              </a:solidFill>
              <a:effectLst/>
              <a:uLnTx/>
              <a:uFillTx/>
              <a:latin typeface="思源黑体 CN Bold" panose="020B0800000000000000" pitchFamily="34" charset="-122"/>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37" grpId="0"/>
      <p:bldP spid="37"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lvl="0">
              <a:defRPr/>
            </a:pPr>
            <a:r>
              <a:rPr lang="zh-CN" altLang="en-US" sz="2400" b="1">
                <a:ea typeface="宋体" panose="02010600030101010101" pitchFamily="2" charset="-122"/>
                <a:sym typeface="+mn-ea"/>
              </a:rPr>
              <a:t>Java编程语言发展简史</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3" name="矩形 22"/>
          <p:cNvSpPr/>
          <p:nvPr/>
        </p:nvSpPr>
        <p:spPr>
          <a:xfrm>
            <a:off x="1235710" y="1517015"/>
            <a:ext cx="9719945" cy="4678680"/>
          </a:xfrm>
          <a:prstGeom prst="rect">
            <a:avLst/>
          </a:prstGeom>
          <a:noFill/>
        </p:spPr>
        <p:txBody>
          <a:bodyPr wrap="square" rtlCol="0">
            <a:noAutofit/>
          </a:bodyPr>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a:ea typeface="宋体" panose="02010600030101010101" pitchFamily="2" charset="-122"/>
                <a:sym typeface="+mn-ea"/>
              </a:rPr>
              <a:t>最初命名为</a:t>
            </a:r>
            <a:r>
              <a:rPr lang="en-US" sz="2400" dirty="0" err="1">
                <a:ea typeface="宋体" panose="02010600030101010101" pitchFamily="2" charset="-122"/>
                <a:sym typeface="+mn-ea"/>
              </a:rPr>
              <a:t>Oak（橡树</a:t>
            </a:r>
            <a:r>
              <a:rPr lang="en-US" sz="2400" dirty="0">
                <a:ea typeface="宋体" panose="02010600030101010101" pitchFamily="2" charset="-122"/>
                <a:sym typeface="+mn-ea"/>
              </a:rPr>
              <a:t>）</a:t>
            </a:r>
            <a:endParaRPr lang="en-US" sz="2400" dirty="0">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en-US" sz="2400" dirty="0">
                <a:ea typeface="宋体" panose="02010600030101010101" pitchFamily="2" charset="-122"/>
                <a:sym typeface="+mn-ea"/>
              </a:rPr>
              <a:t>Green </a:t>
            </a:r>
            <a:r>
              <a:rPr lang="en-US" sz="2400" dirty="0" err="1">
                <a:ea typeface="宋体" panose="02010600030101010101" pitchFamily="2" charset="-122"/>
                <a:sym typeface="+mn-ea"/>
              </a:rPr>
              <a:t>Team小组成员James</a:t>
            </a:r>
            <a:r>
              <a:rPr lang="en-US" sz="2400" dirty="0">
                <a:ea typeface="宋体" panose="02010600030101010101" pitchFamily="2" charset="-122"/>
                <a:sym typeface="+mn-ea"/>
              </a:rPr>
              <a:t> </a:t>
            </a:r>
            <a:r>
              <a:rPr lang="en-US" sz="2400" dirty="0" err="1">
                <a:ea typeface="宋体" panose="02010600030101010101" pitchFamily="2" charset="-122"/>
                <a:sym typeface="+mn-ea"/>
              </a:rPr>
              <a:t>Gosling、Bill</a:t>
            </a:r>
            <a:r>
              <a:rPr lang="en-US" sz="2400" dirty="0">
                <a:ea typeface="宋体" panose="02010600030101010101" pitchFamily="2" charset="-122"/>
                <a:sym typeface="+mn-ea"/>
              </a:rPr>
              <a:t> </a:t>
            </a:r>
            <a:r>
              <a:rPr lang="en-US" sz="2400" dirty="0" err="1">
                <a:ea typeface="宋体" panose="02010600030101010101" pitchFamily="2" charset="-122"/>
                <a:sym typeface="+mn-ea"/>
              </a:rPr>
              <a:t>Joy、Patrick</a:t>
            </a:r>
            <a:r>
              <a:rPr lang="en-US" sz="2400" dirty="0">
                <a:ea typeface="宋体" panose="02010600030101010101" pitchFamily="2" charset="-122"/>
                <a:sym typeface="+mn-ea"/>
              </a:rPr>
              <a:t> </a:t>
            </a:r>
            <a:r>
              <a:rPr lang="en-US" sz="2400" dirty="0" err="1">
                <a:ea typeface="宋体" panose="02010600030101010101" pitchFamily="2" charset="-122"/>
                <a:sym typeface="+mn-ea"/>
              </a:rPr>
              <a:t>Naughton、Mike</a:t>
            </a:r>
            <a:r>
              <a:rPr lang="en-US" sz="2400" dirty="0">
                <a:ea typeface="宋体" panose="02010600030101010101" pitchFamily="2" charset="-122"/>
                <a:sym typeface="+mn-ea"/>
              </a:rPr>
              <a:t> Sheridan</a:t>
            </a:r>
            <a:endParaRPr lang="en-US" sz="2400" dirty="0">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a:ea typeface="宋体" panose="02010600030101010101" pitchFamily="2" charset="-122"/>
                <a:sym typeface="+mn-ea"/>
              </a:rPr>
              <a:t>最初的目的：与家电一起使用</a:t>
            </a:r>
            <a:endParaRPr lang="zh-CN" altLang="en-US" sz="2400" dirty="0">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en-US" sz="2400" dirty="0">
                <a:ea typeface="宋体" panose="02010600030101010101" pitchFamily="2" charset="-122"/>
                <a:sym typeface="+mn-ea"/>
              </a:rPr>
              <a:t>1994年，小组</a:t>
            </a:r>
            <a:r>
              <a:rPr lang="zh-CN" altLang="en-US" sz="2400" dirty="0">
                <a:ea typeface="宋体" panose="02010600030101010101" pitchFamily="2" charset="-122"/>
                <a:sym typeface="+mn-ea"/>
              </a:rPr>
              <a:t>决定将</a:t>
            </a:r>
            <a:r>
              <a:rPr lang="en-US" sz="2400" dirty="0">
                <a:ea typeface="宋体" panose="02010600030101010101" pitchFamily="2" charset="-122"/>
                <a:sym typeface="+mn-ea"/>
              </a:rPr>
              <a:t> Oak</a:t>
            </a:r>
            <a:r>
              <a:rPr lang="zh-CN" altLang="en-US" sz="2400" dirty="0">
                <a:ea typeface="宋体" panose="02010600030101010101" pitchFamily="2" charset="-122"/>
                <a:sym typeface="+mn-ea"/>
              </a:rPr>
              <a:t>应用</a:t>
            </a:r>
            <a:r>
              <a:rPr lang="en-US" sz="2400" dirty="0" err="1">
                <a:ea typeface="宋体" panose="02010600030101010101" pitchFamily="2" charset="-122"/>
                <a:sym typeface="+mn-ea"/>
              </a:rPr>
              <a:t>于互联网</a:t>
            </a:r>
            <a:endParaRPr lang="en-US" sz="2400" dirty="0" err="1">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a:ea typeface="宋体" panose="02010600030101010101" pitchFamily="2" charset="-122"/>
                <a:sym typeface="+mn-ea"/>
              </a:rPr>
              <a:t>于</a:t>
            </a:r>
            <a:r>
              <a:rPr lang="en-US" sz="2400" dirty="0">
                <a:ea typeface="宋体" panose="02010600030101010101" pitchFamily="2" charset="-122"/>
                <a:sym typeface="+mn-ea"/>
              </a:rPr>
              <a:t>1995年5月发布，定名为Java</a:t>
            </a:r>
            <a:endParaRPr lang="en-US" sz="2400" dirty="0">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a:ea typeface="宋体" panose="02010600030101010101" pitchFamily="2" charset="-122"/>
                <a:sym typeface="+mn-ea"/>
              </a:rPr>
              <a:t>正式版本于</a:t>
            </a:r>
            <a:r>
              <a:rPr lang="en-US" sz="2400" dirty="0">
                <a:ea typeface="宋体" panose="02010600030101010101" pitchFamily="2" charset="-122"/>
                <a:sym typeface="+mn-ea"/>
              </a:rPr>
              <a:t>1996年发布</a:t>
            </a:r>
            <a:endParaRPr lang="en-US" sz="2400" dirty="0">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a:ea typeface="宋体" panose="02010600030101010101" pitchFamily="2" charset="-122"/>
                <a:sym typeface="+mn-ea"/>
              </a:rPr>
              <a:t>。。。。。。</a:t>
            </a:r>
            <a:endParaRPr kumimoji="0" lang="zh-CN" altLang="en-US" sz="2400" b="0" i="0" u="none" strike="noStrike" kern="1200" cap="none" spc="0" normalizeH="0" baseline="0" noProof="0" dirty="0">
              <a:ln>
                <a:noFill/>
              </a:ln>
              <a:solidFill>
                <a:schemeClr val="tx1"/>
              </a:solidFill>
              <a:effectLst/>
              <a:uLnTx/>
              <a:uFillTx/>
              <a:latin typeface="思源黑体 CN Bold" panose="020B0800000000000000" pitchFamily="34" charset="-122"/>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endParaRPr kumimoji="0" lang="en-US" altLang="en-US" sz="2400" b="0" i="0" u="none" strike="noStrike" kern="1200" cap="none" spc="0" normalizeH="0" baseline="0" noProof="0" dirty="0">
              <a:ln>
                <a:noFill/>
              </a:ln>
              <a:solidFill>
                <a:schemeClr val="tx1"/>
              </a:solidFill>
              <a:effectLst/>
              <a:uLnTx/>
              <a:uFillTx/>
              <a:latin typeface="思源黑体 CN Bold" panose="020B0800000000000000" pitchFamily="34" charset="-122"/>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endParaRPr lang="en-US" sz="2400" dirty="0">
              <a:ea typeface="宋体" panose="02010600030101010101" pitchFamily="2" charset="-122"/>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7" name="矩形 36"/>
          <p:cNvSpPr/>
          <p:nvPr/>
        </p:nvSpPr>
        <p:spPr>
          <a:xfrm>
            <a:off x="1235710" y="2058670"/>
            <a:ext cx="9719310" cy="423545"/>
          </a:xfrm>
          <a:prstGeom prst="rect">
            <a:avLst/>
          </a:prstGeom>
          <a:noFill/>
        </p:spPr>
        <p:txBody>
          <a:bodyPr wrap="square" rtlCol="0">
            <a:spAutoFit/>
          </a:bodyPr>
          <a:p>
            <a:pPr marL="361950" indent="-361950" eaLnBrk="1" hangingPunct="1">
              <a:lnSpc>
                <a:spcPct val="90000"/>
              </a:lnSpc>
            </a:pPr>
            <a:endParaRPr kumimoji="0" lang="en-US" altLang="en-US" sz="2400" b="0" i="0" u="none" strike="noStrike" kern="1200" cap="none" spc="0" normalizeH="0" baseline="0" noProof="0" dirty="0">
              <a:ln>
                <a:noFill/>
              </a:ln>
              <a:solidFill>
                <a:schemeClr val="tx1"/>
              </a:solidFill>
              <a:effectLst/>
              <a:uLnTx/>
              <a:uFillTx/>
              <a:latin typeface="思源黑体 CN Bold" panose="020B0800000000000000" pitchFamily="34" charset="-122"/>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37" grpId="0"/>
      <p:bldP spid="37"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Java编程语言的主要特征</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3" name="矩形 22"/>
          <p:cNvSpPr/>
          <p:nvPr/>
        </p:nvSpPr>
        <p:spPr>
          <a:xfrm>
            <a:off x="1235710" y="1517015"/>
            <a:ext cx="9719945" cy="5219700"/>
          </a:xfrm>
          <a:prstGeom prst="rect">
            <a:avLst/>
          </a:prstGeom>
          <a:noFill/>
        </p:spPr>
        <p:txBody>
          <a:bodyPr wrap="square" rtlCol="0">
            <a:spAutoFit/>
          </a:bodyPr>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smtClean="0">
                <a:ea typeface="宋体" panose="02010600030101010101" pitchFamily="2" charset="-122"/>
                <a:sym typeface="+mn-ea"/>
              </a:rPr>
              <a:t>简单性</a:t>
            </a:r>
            <a:endParaRPr lang="zh-CN" altLang="en-US" sz="2400" dirty="0" smtClean="0">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smtClean="0">
                <a:ea typeface="宋体" panose="02010600030101010101" pitchFamily="2" charset="-122"/>
                <a:sym typeface="+mn-ea"/>
              </a:rPr>
              <a:t>面向对象</a:t>
            </a:r>
            <a:endParaRPr lang="zh-CN" altLang="en-US" sz="2400" dirty="0" smtClean="0">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a:ea typeface="宋体" panose="02010600030101010101" pitchFamily="2" charset="-122"/>
                <a:sym typeface="+mn-ea"/>
              </a:rPr>
              <a:t>分布式</a:t>
            </a:r>
            <a:endParaRPr lang="zh-CN" altLang="en-US" sz="2400" dirty="0">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a:ea typeface="宋体" panose="02010600030101010101" pitchFamily="2" charset="-122"/>
                <a:sym typeface="+mn-ea"/>
              </a:rPr>
              <a:t>多线程</a:t>
            </a:r>
            <a:endParaRPr lang="zh-CN" altLang="en-US" sz="2400" dirty="0">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a:ea typeface="宋体" panose="02010600030101010101" pitchFamily="2" charset="-122"/>
                <a:sym typeface="+mn-ea"/>
              </a:rPr>
              <a:t>安全</a:t>
            </a:r>
            <a:endParaRPr lang="zh-CN" altLang="en-US" sz="2400" dirty="0">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a:ea typeface="宋体" panose="02010600030101010101" pitchFamily="2" charset="-122"/>
                <a:sym typeface="+mn-ea"/>
              </a:rPr>
              <a:t>丰富的</a:t>
            </a:r>
            <a:r>
              <a:rPr lang="en-US" sz="2400" dirty="0">
                <a:ea typeface="宋体" panose="02010600030101010101" pitchFamily="2" charset="-122"/>
                <a:sym typeface="+mn-ea"/>
              </a:rPr>
              <a:t>API</a:t>
            </a:r>
            <a:endParaRPr lang="en-US" sz="2400" dirty="0">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r>
              <a:rPr lang="zh-CN" altLang="en-US" sz="2400" dirty="0">
                <a:ea typeface="宋体" panose="02010600030101010101" pitchFamily="2" charset="-122"/>
                <a:sym typeface="+mn-ea"/>
              </a:rPr>
              <a:t>跨平台移植（</a:t>
            </a:r>
            <a:r>
              <a:rPr lang="en-US" sz="2400" dirty="0">
                <a:ea typeface="宋体" panose="02010600030101010101" pitchFamily="2" charset="-122"/>
                <a:sym typeface="+mn-ea"/>
              </a:rPr>
              <a:t>Write once, Run Anywhere）</a:t>
            </a:r>
            <a:endParaRPr kumimoji="0" lang="zh-CN" altLang="en-US" sz="2400" b="0" i="0" u="none" strike="noStrike" kern="1200" cap="none" spc="0" normalizeH="0" baseline="0" noProof="0" dirty="0">
              <a:ln>
                <a:noFill/>
              </a:ln>
              <a:solidFill>
                <a:schemeClr val="tx1"/>
              </a:solidFill>
              <a:effectLst/>
              <a:uLnTx/>
              <a:uFillTx/>
              <a:latin typeface="思源黑体 CN Bold" panose="020B0800000000000000" pitchFamily="34" charset="-122"/>
              <a:ea typeface="宋体" panose="02010600030101010101" pitchFamily="2" charset="-122"/>
              <a:sym typeface="+mn-ea"/>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endParaRPr lang="en-US" sz="2400" dirty="0">
              <a:ea typeface="宋体" panose="02010600030101010101" pitchFamily="2" charset="-122"/>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endParaRPr lang="en-US" sz="2400" dirty="0">
              <a:ea typeface="宋体" panose="02010600030101010101" pitchFamily="2" charset="-122"/>
            </a:endParaRPr>
          </a:p>
          <a:p>
            <a:pPr marL="457200" marR="0" lvl="0" indent="-457200" algn="l" defTabSz="914400" rtl="0" eaLnBrk="1" fontAlgn="auto" latinLnBrk="0" hangingPunct="1">
              <a:lnSpc>
                <a:spcPct val="130000"/>
              </a:lnSpc>
              <a:spcBef>
                <a:spcPts val="0"/>
              </a:spcBef>
              <a:spcAft>
                <a:spcPts val="0"/>
              </a:spcAft>
              <a:buClr>
                <a:srgbClr val="ED7D31"/>
              </a:buClr>
              <a:buSzTx/>
              <a:buFont typeface="+mj-lt"/>
              <a:buAutoNum type="arabicPeriod"/>
              <a:defRPr/>
            </a:pPr>
            <a:endParaRPr lang="en-US" altLang="zh-CN" sz="2400" dirty="0" smtClean="0">
              <a:ea typeface="宋体" panose="02010600030101010101" pitchFamily="2" charset="-122"/>
            </a:endParaRPr>
          </a:p>
          <a:p>
            <a:pPr marR="0" lvl="0" indent="0" algn="l" defTabSz="914400" rtl="0" eaLnBrk="1" fontAlgn="auto" latinLnBrk="0" hangingPunct="1">
              <a:lnSpc>
                <a:spcPct val="90000"/>
              </a:lnSpc>
              <a:spcBef>
                <a:spcPts val="0"/>
              </a:spcBef>
              <a:spcAft>
                <a:spcPts val="0"/>
              </a:spcAft>
              <a:buClrTx/>
              <a:buSzTx/>
              <a:buFont typeface="+mj-lt"/>
              <a:buNone/>
              <a:defRPr/>
            </a:pPr>
            <a:endParaRPr kumimoji="0" lang="zh-CN" altLang="en-US" sz="240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Java语言的三大平台</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3" name="矩形 22"/>
          <p:cNvSpPr/>
          <p:nvPr/>
        </p:nvSpPr>
        <p:spPr>
          <a:xfrm>
            <a:off x="1235710" y="1345565"/>
            <a:ext cx="9719945" cy="1494155"/>
          </a:xfrm>
          <a:prstGeom prst="rect">
            <a:avLst/>
          </a:prstGeom>
          <a:noFill/>
        </p:spPr>
        <p:txBody>
          <a:bodyPr wrap="square" rtlCol="0">
            <a:spAutoFit/>
          </a:bodyPr>
          <a:p>
            <a:pPr marL="457200" indent="-457200" eaLnBrk="1" hangingPunct="1">
              <a:buClr>
                <a:srgbClr val="ED7D31"/>
              </a:buClr>
              <a:buFont typeface="+mj-lt"/>
              <a:buAutoNum type="arabicPeriod"/>
            </a:pPr>
            <a:r>
              <a:rPr lang="en-US" sz="2400" dirty="0">
                <a:ea typeface="宋体" panose="02010600030101010101" pitchFamily="2" charset="-122"/>
                <a:sym typeface="+mn-ea"/>
              </a:rPr>
              <a:t>Java™</a:t>
            </a:r>
            <a:r>
              <a:rPr lang="zh-CN" altLang="en-US" sz="2400" dirty="0">
                <a:ea typeface="宋体" panose="02010600030101010101" pitchFamily="2" charset="-122"/>
                <a:sym typeface="+mn-ea"/>
              </a:rPr>
              <a:t>平台标准版（</a:t>
            </a:r>
            <a:r>
              <a:rPr lang="en-US" sz="2400" dirty="0">
                <a:ea typeface="宋体" panose="02010600030101010101" pitchFamily="2" charset="-122"/>
                <a:sym typeface="+mn-ea"/>
              </a:rPr>
              <a:t>Java SE</a:t>
            </a:r>
            <a:r>
              <a:rPr lang="zh-CN" altLang="en-US" sz="2400" dirty="0">
                <a:ea typeface="宋体" panose="02010600030101010101" pitchFamily="2" charset="-122"/>
                <a:sym typeface="+mn-ea"/>
              </a:rPr>
              <a:t>）</a:t>
            </a:r>
            <a:endParaRPr lang="en-US" sz="2400" dirty="0">
              <a:ea typeface="宋体" panose="02010600030101010101" pitchFamily="2" charset="-122"/>
            </a:endParaRPr>
          </a:p>
          <a:p>
            <a:pPr marL="361950" indent="-361950" eaLnBrk="1" hangingPunct="1">
              <a:buFont typeface="Times"/>
              <a:buNone/>
            </a:pPr>
            <a:r>
              <a:rPr lang="en-US" sz="2400" dirty="0">
                <a:ea typeface="宋体" panose="02010600030101010101" pitchFamily="2" charset="-122"/>
                <a:sym typeface="+mn-ea"/>
              </a:rPr>
              <a:t>	</a:t>
            </a:r>
            <a:r>
              <a:rPr lang="zh-CN" altLang="en-US" sz="2400" dirty="0">
                <a:ea typeface="宋体" panose="02010600030101010101" pitchFamily="2" charset="-122"/>
                <a:sym typeface="+mn-ea"/>
              </a:rPr>
              <a:t>适于开发桌面应用程序，</a:t>
            </a:r>
            <a:r>
              <a:rPr lang="en-US" sz="2400" dirty="0">
                <a:ea typeface="宋体" panose="02010600030101010101" pitchFamily="2" charset="-122"/>
                <a:sym typeface="+mn-ea"/>
              </a:rPr>
              <a:t>C/S</a:t>
            </a:r>
            <a:r>
              <a:rPr lang="zh-CN" altLang="en-US" sz="2400" dirty="0">
                <a:ea typeface="宋体" panose="02010600030101010101" pitchFamily="2" charset="-122"/>
                <a:sym typeface="+mn-ea"/>
              </a:rPr>
              <a:t>架构应用程序</a:t>
            </a:r>
            <a:endParaRPr lang="zh-CN" altLang="en-US" sz="2400" dirty="0">
              <a:ea typeface="宋体" panose="02010600030101010101" pitchFamily="2" charset="-122"/>
            </a:endParaRPr>
          </a:p>
          <a:p>
            <a:pPr marR="0" lvl="0" indent="0" algn="l" defTabSz="914400" rtl="0" eaLnBrk="1" fontAlgn="auto" latinLnBrk="0" hangingPunct="1">
              <a:lnSpc>
                <a:spcPct val="90000"/>
              </a:lnSpc>
              <a:spcBef>
                <a:spcPts val="0"/>
              </a:spcBef>
              <a:spcAft>
                <a:spcPts val="0"/>
              </a:spcAft>
              <a:buClrTx/>
              <a:buSzTx/>
              <a:buFont typeface="+mj-lt"/>
              <a:buNone/>
              <a:defRPr/>
            </a:pPr>
            <a:endParaRPr lang="en-US" altLang="zh-CN" sz="2400" dirty="0" smtClean="0">
              <a:ea typeface="宋体" panose="02010600030101010101" pitchFamily="2" charset="-122"/>
            </a:endParaRPr>
          </a:p>
          <a:p>
            <a:pPr marR="0" lvl="0" indent="0" algn="l" defTabSz="914400" rtl="0" eaLnBrk="1" fontAlgn="auto" latinLnBrk="0" hangingPunct="1">
              <a:lnSpc>
                <a:spcPct val="90000"/>
              </a:lnSpc>
              <a:spcBef>
                <a:spcPts val="0"/>
              </a:spcBef>
              <a:spcAft>
                <a:spcPts val="0"/>
              </a:spcAft>
              <a:buClrTx/>
              <a:buSzTx/>
              <a:buFont typeface="+mj-lt"/>
              <a:buNone/>
              <a:defRPr/>
            </a:pPr>
            <a:endParaRPr kumimoji="0" lang="zh-CN" altLang="en-US" sz="240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7" name="矩形 36"/>
          <p:cNvSpPr/>
          <p:nvPr/>
        </p:nvSpPr>
        <p:spPr>
          <a:xfrm>
            <a:off x="1235710" y="2201545"/>
            <a:ext cx="9719310" cy="829945"/>
          </a:xfrm>
          <a:prstGeom prst="rect">
            <a:avLst/>
          </a:prstGeom>
          <a:noFill/>
        </p:spPr>
        <p:txBody>
          <a:bodyPr wrap="square" rtlCol="0">
            <a:spAutoFit/>
          </a:bodyPr>
          <a:p>
            <a:pPr marL="457200" indent="-457200" eaLnBrk="1" hangingPunct="1">
              <a:buClr>
                <a:srgbClr val="ED7D31"/>
              </a:buClr>
              <a:buFont typeface="+mj-lt"/>
              <a:buAutoNum type="arabicPeriod" startAt="2"/>
            </a:pPr>
            <a:r>
              <a:rPr lang="en-US" sz="2400" dirty="0">
                <a:ea typeface="宋体" panose="02010600030101010101" pitchFamily="2" charset="-122"/>
                <a:sym typeface="+mn-ea"/>
              </a:rPr>
              <a:t>Java™</a:t>
            </a:r>
            <a:r>
              <a:rPr lang="zh-CN" altLang="en-US" sz="2400" dirty="0">
                <a:ea typeface="宋体" panose="02010600030101010101" pitchFamily="2" charset="-122"/>
                <a:sym typeface="+mn-ea"/>
              </a:rPr>
              <a:t>平台企业版（</a:t>
            </a:r>
            <a:r>
              <a:rPr lang="en-US" sz="2400" dirty="0">
                <a:ea typeface="宋体" panose="02010600030101010101" pitchFamily="2" charset="-122"/>
                <a:sym typeface="+mn-ea"/>
              </a:rPr>
              <a:t>Java EE</a:t>
            </a:r>
            <a:r>
              <a:rPr lang="zh-CN" altLang="en-US" sz="2400" dirty="0">
                <a:ea typeface="宋体" panose="02010600030101010101" pitchFamily="2" charset="-122"/>
                <a:sym typeface="+mn-ea"/>
              </a:rPr>
              <a:t>）</a:t>
            </a:r>
            <a:endParaRPr lang="en-US" sz="2400" dirty="0">
              <a:ea typeface="宋体" panose="02010600030101010101" pitchFamily="2" charset="-122"/>
            </a:endParaRPr>
          </a:p>
          <a:p>
            <a:pPr marL="361950" indent="-361950" eaLnBrk="1" hangingPunct="1">
              <a:buFont typeface="Times"/>
              <a:buNone/>
            </a:pPr>
            <a:r>
              <a:rPr lang="en-US" sz="2400" dirty="0">
                <a:ea typeface="宋体" panose="02010600030101010101" pitchFamily="2" charset="-122"/>
                <a:sym typeface="+mn-ea"/>
              </a:rPr>
              <a:t>	</a:t>
            </a:r>
            <a:r>
              <a:rPr lang="zh-CN" altLang="en-US" sz="2400" dirty="0">
                <a:ea typeface="宋体" panose="02010600030101010101" pitchFamily="2" charset="-122"/>
                <a:sym typeface="+mn-ea"/>
              </a:rPr>
              <a:t>适于开发小、中、大型的企业级应用程序</a:t>
            </a:r>
            <a:endParaRPr kumimoji="0" lang="en-US" altLang="en-US" sz="2400" b="0" i="0" u="none" strike="noStrike" kern="1200" cap="none" spc="0" normalizeH="0" baseline="0" noProof="0" dirty="0">
              <a:ln>
                <a:noFill/>
              </a:ln>
              <a:solidFill>
                <a:schemeClr val="tx1"/>
              </a:solidFill>
              <a:effectLst/>
              <a:uLnTx/>
              <a:uFillTx/>
              <a:latin typeface="思源黑体 CN Bold" panose="020B0800000000000000" pitchFamily="34" charset="-122"/>
              <a:ea typeface="宋体" panose="02010600030101010101" pitchFamily="2" charset="-122"/>
              <a:sym typeface="+mn-ea"/>
            </a:endParaRPr>
          </a:p>
        </p:txBody>
      </p:sp>
      <p:sp>
        <p:nvSpPr>
          <p:cNvPr id="3" name="矩形 2"/>
          <p:cNvSpPr/>
          <p:nvPr/>
        </p:nvSpPr>
        <p:spPr>
          <a:xfrm>
            <a:off x="1235710" y="3169285"/>
            <a:ext cx="9719945" cy="514985"/>
          </a:xfrm>
          <a:prstGeom prst="rect">
            <a:avLst/>
          </a:prstGeom>
          <a:noFill/>
        </p:spPr>
        <p:txBody>
          <a:bodyPr wrap="square" rtlCol="0">
            <a:noAutofit/>
          </a:bodyPr>
          <a:p>
            <a:pPr marL="457200" indent="-457200" eaLnBrk="1" hangingPunct="1">
              <a:buClr>
                <a:srgbClr val="ED7D31"/>
              </a:buClr>
              <a:buFont typeface="+mj-lt"/>
              <a:buAutoNum type="arabicPeriod" startAt="3"/>
            </a:pPr>
            <a:r>
              <a:rPr lang="en-US" sz="2400" dirty="0">
                <a:ea typeface="宋体" panose="02010600030101010101" pitchFamily="2" charset="-122"/>
                <a:sym typeface="+mn-ea"/>
              </a:rPr>
              <a:t>Java™</a:t>
            </a:r>
            <a:r>
              <a:rPr lang="zh-CN" altLang="en-US" sz="2400" dirty="0">
                <a:ea typeface="宋体" panose="02010600030101010101" pitchFamily="2" charset="-122"/>
                <a:sym typeface="+mn-ea"/>
              </a:rPr>
              <a:t>平台，微型版（</a:t>
            </a:r>
            <a:r>
              <a:rPr lang="en-US" sz="2400" dirty="0">
                <a:ea typeface="宋体" panose="02010600030101010101" pitchFamily="2" charset="-122"/>
                <a:sym typeface="+mn-ea"/>
              </a:rPr>
              <a:t>Java ME</a:t>
            </a:r>
            <a:r>
              <a:rPr lang="zh-CN" altLang="en-US" sz="2400" dirty="0">
                <a:ea typeface="宋体" panose="02010600030101010101" pitchFamily="2" charset="-122"/>
                <a:sym typeface="+mn-ea"/>
              </a:rPr>
              <a:t>）</a:t>
            </a:r>
            <a:endParaRPr lang="en-US" sz="2400" dirty="0">
              <a:ea typeface="宋体" panose="02010600030101010101" pitchFamily="2" charset="-122"/>
            </a:endParaRPr>
          </a:p>
          <a:p>
            <a:pPr marL="361950" indent="-361950" eaLnBrk="1" hangingPunct="1">
              <a:buFont typeface="Times"/>
              <a:buNone/>
            </a:pPr>
            <a:r>
              <a:rPr lang="en-US" sz="2400" dirty="0">
                <a:ea typeface="宋体" panose="02010600030101010101" pitchFamily="2" charset="-122"/>
                <a:sym typeface="+mn-ea"/>
              </a:rPr>
              <a:t>	</a:t>
            </a:r>
            <a:r>
              <a:rPr lang="zh-CN" altLang="en-US" sz="2400" dirty="0">
                <a:ea typeface="宋体" panose="02010600030101010101" pitchFamily="2" charset="-122"/>
                <a:sym typeface="+mn-ea"/>
              </a:rPr>
              <a:t>适合于开发微型平台的应用程序，如手机，</a:t>
            </a:r>
            <a:r>
              <a:rPr lang="en-US" sz="2400" dirty="0">
                <a:ea typeface="宋体" panose="02010600030101010101" pitchFamily="2" charset="-122"/>
                <a:sym typeface="+mn-ea"/>
              </a:rPr>
              <a:t>GPS</a:t>
            </a:r>
            <a:endParaRPr lang="en-US" sz="2400" dirty="0">
              <a:ea typeface="宋体" panose="02010600030101010101" pitchFamily="2" charset="-122"/>
            </a:endParaRPr>
          </a:p>
          <a:p>
            <a:pPr marR="0" lvl="0" indent="0" algn="l" defTabSz="914400" rtl="0" eaLnBrk="1" fontAlgn="auto" latinLnBrk="0" hangingPunct="1">
              <a:lnSpc>
                <a:spcPct val="90000"/>
              </a:lnSpc>
              <a:spcBef>
                <a:spcPts val="0"/>
              </a:spcBef>
              <a:spcAft>
                <a:spcPts val="0"/>
              </a:spcAft>
              <a:buClrTx/>
              <a:buSzTx/>
              <a:buFont typeface="+mj-lt"/>
              <a:buNone/>
              <a:defRPr/>
            </a:pPr>
            <a:endParaRPr lang="en-US" sz="2400" dirty="0">
              <a:ea typeface="宋体" panose="02010600030101010101" pitchFamily="2" charset="-122"/>
            </a:endParaRPr>
          </a:p>
          <a:p>
            <a:pPr marR="0" lvl="0" indent="0" algn="l" defTabSz="914400" rtl="0" eaLnBrk="1" fontAlgn="auto" latinLnBrk="0" hangingPunct="1">
              <a:lnSpc>
                <a:spcPct val="90000"/>
              </a:lnSpc>
              <a:spcBef>
                <a:spcPts val="0"/>
              </a:spcBef>
              <a:spcAft>
                <a:spcPts val="0"/>
              </a:spcAft>
              <a:buClrTx/>
              <a:buSzTx/>
              <a:buFont typeface="+mj-lt"/>
              <a:buNone/>
              <a:defRPr/>
            </a:pPr>
            <a:endParaRPr lang="en-US" sz="2400" dirty="0">
              <a:ea typeface="宋体" panose="02010600030101010101" pitchFamily="2" charset="-122"/>
            </a:endParaRPr>
          </a:p>
          <a:p>
            <a:pPr marR="0" lvl="0" indent="0" algn="l" defTabSz="914400" rtl="0" eaLnBrk="1" fontAlgn="auto" latinLnBrk="0" hangingPunct="1">
              <a:lnSpc>
                <a:spcPct val="90000"/>
              </a:lnSpc>
              <a:spcBef>
                <a:spcPts val="0"/>
              </a:spcBef>
              <a:spcAft>
                <a:spcPts val="0"/>
              </a:spcAft>
              <a:buClrTx/>
              <a:buSzTx/>
              <a:buFont typeface="+mj-lt"/>
              <a:buNone/>
              <a:defRPr/>
            </a:pPr>
            <a:endParaRPr lang="en-US" sz="2400" dirty="0">
              <a:ea typeface="宋体" panose="02010600030101010101" pitchFamily="2" charset="-122"/>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13317" name="Picture 2" descr="01-11"/>
          <p:cNvPicPr>
            <a:picLocks noChangeAspect="1" noChangeArrowheads="1"/>
          </p:cNvPicPr>
          <p:nvPr/>
        </p:nvPicPr>
        <p:blipFill>
          <a:blip r:embed="rId5"/>
          <a:srcRect/>
          <a:stretch>
            <a:fillRect/>
          </a:stretch>
        </p:blipFill>
        <p:spPr bwMode="auto">
          <a:xfrm>
            <a:off x="2137410" y="4145937"/>
            <a:ext cx="6624638" cy="227012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37" grpId="0"/>
      <p:bldP spid="37" grpId="1"/>
      <p:bldP spid="3" grpId="0"/>
      <p:bldP spid="3"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Java语言开发的应用程序</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3" name="矩形 22"/>
          <p:cNvSpPr/>
          <p:nvPr/>
        </p:nvSpPr>
        <p:spPr>
          <a:xfrm>
            <a:off x="1181735" y="1160145"/>
            <a:ext cx="9719945" cy="4411345"/>
          </a:xfrm>
          <a:prstGeom prst="rect">
            <a:avLst/>
          </a:prstGeom>
          <a:noFill/>
        </p:spPr>
        <p:txBody>
          <a:bodyPr wrap="square" rtlCol="0">
            <a:spAutoFit/>
          </a:bodyPr>
          <a:p>
            <a:pPr marL="457200" indent="-457200" eaLnBrk="1" hangingPunct="1">
              <a:lnSpc>
                <a:spcPct val="120000"/>
              </a:lnSpc>
              <a:buClr>
                <a:srgbClr val="ED7D31"/>
              </a:buClr>
              <a:buFont typeface="+mj-lt"/>
              <a:buAutoNum type="arabicPeriod"/>
            </a:pPr>
            <a:r>
              <a:rPr sz="2400" dirty="0">
                <a:ea typeface="宋体" panose="02010600030101010101" pitchFamily="2" charset="-122"/>
                <a:sym typeface="+mn-ea"/>
              </a:rPr>
              <a:t>操作系统（Solaris）</a:t>
            </a:r>
            <a:endParaRPr sz="2400" dirty="0">
              <a:ea typeface="宋体" panose="02010600030101010101" pitchFamily="2" charset="-122"/>
              <a:sym typeface="+mn-ea"/>
            </a:endParaRPr>
          </a:p>
          <a:p>
            <a:pPr marL="457200" indent="-457200" eaLnBrk="1" hangingPunct="1">
              <a:lnSpc>
                <a:spcPct val="120000"/>
              </a:lnSpc>
              <a:buClr>
                <a:srgbClr val="ED7D31"/>
              </a:buClr>
              <a:buFont typeface="+mj-lt"/>
              <a:buAutoNum type="arabicPeriod"/>
            </a:pPr>
            <a:r>
              <a:rPr lang="en-US" sz="2400" dirty="0">
                <a:ea typeface="宋体" panose="02010600030101010101" pitchFamily="2" charset="-122"/>
                <a:sym typeface="+mn-ea"/>
              </a:rPr>
              <a:t>开发工具（NetBeans）</a:t>
            </a:r>
            <a:endParaRPr lang="en-US" sz="2400" dirty="0">
              <a:ea typeface="宋体" panose="02010600030101010101" pitchFamily="2" charset="-122"/>
              <a:sym typeface="+mn-ea"/>
            </a:endParaRPr>
          </a:p>
          <a:p>
            <a:pPr marL="457200" indent="-457200" eaLnBrk="1" hangingPunct="1">
              <a:lnSpc>
                <a:spcPct val="120000"/>
              </a:lnSpc>
              <a:buClr>
                <a:srgbClr val="ED7D31"/>
              </a:buClr>
              <a:buFont typeface="+mj-lt"/>
              <a:buAutoNum type="arabicPeriod"/>
            </a:pPr>
            <a:r>
              <a:rPr lang="en-US" sz="2400" dirty="0">
                <a:ea typeface="宋体" panose="02010600030101010101" pitchFamily="2" charset="-122"/>
                <a:sym typeface="+mn-ea"/>
              </a:rPr>
              <a:t>数据库（Derby）</a:t>
            </a:r>
            <a:endParaRPr lang="en-US" sz="2400" dirty="0">
              <a:ea typeface="宋体" panose="02010600030101010101" pitchFamily="2" charset="-122"/>
              <a:sym typeface="+mn-ea"/>
            </a:endParaRPr>
          </a:p>
          <a:p>
            <a:pPr marL="457200" indent="-457200" eaLnBrk="1" hangingPunct="1">
              <a:lnSpc>
                <a:spcPct val="120000"/>
              </a:lnSpc>
              <a:buClr>
                <a:srgbClr val="ED7D31"/>
              </a:buClr>
              <a:buFont typeface="+mj-lt"/>
              <a:buAutoNum type="arabicPeriod"/>
            </a:pPr>
            <a:r>
              <a:rPr lang="en-US" sz="2400" dirty="0">
                <a:ea typeface="宋体" panose="02010600030101010101" pitchFamily="2" charset="-122"/>
                <a:sym typeface="+mn-ea"/>
              </a:rPr>
              <a:t>浏览器（Hotjava）	</a:t>
            </a:r>
            <a:endParaRPr lang="en-US" sz="2400" dirty="0">
              <a:ea typeface="宋体" panose="02010600030101010101" pitchFamily="2" charset="-122"/>
              <a:sym typeface="+mn-ea"/>
            </a:endParaRPr>
          </a:p>
          <a:p>
            <a:pPr marL="457200" indent="-457200" eaLnBrk="1" hangingPunct="1">
              <a:lnSpc>
                <a:spcPct val="120000"/>
              </a:lnSpc>
              <a:buClr>
                <a:srgbClr val="ED7D31"/>
              </a:buClr>
              <a:buFont typeface="+mj-lt"/>
              <a:buAutoNum type="arabicPeriod"/>
            </a:pPr>
            <a:r>
              <a:rPr lang="en-US" altLang="zh-CN" sz="2400" dirty="0" smtClean="0">
                <a:ea typeface="宋体" panose="02010600030101010101" pitchFamily="2" charset="-122"/>
              </a:rPr>
              <a:t>服务器（GlassFish）【Tomcat，Jboss，WebLogic（Oracle）， WebSphere（IBM）】</a:t>
            </a:r>
            <a:endParaRPr lang="en-US" altLang="zh-CN" sz="2400" dirty="0" smtClean="0">
              <a:ea typeface="宋体" panose="02010600030101010101" pitchFamily="2" charset="-122"/>
            </a:endParaRPr>
          </a:p>
          <a:p>
            <a:pPr marL="457200" indent="-457200" eaLnBrk="1" hangingPunct="1">
              <a:lnSpc>
                <a:spcPct val="120000"/>
              </a:lnSpc>
              <a:buClr>
                <a:srgbClr val="ED7D31"/>
              </a:buClr>
              <a:buFont typeface="+mj-lt"/>
              <a:buAutoNum type="arabicPeriod"/>
            </a:pPr>
            <a:r>
              <a:rPr lang="en-US" altLang="zh-CN" sz="2400" dirty="0" smtClean="0">
                <a:ea typeface="宋体" panose="02010600030101010101" pitchFamily="2" charset="-122"/>
              </a:rPr>
              <a:t>电商平台（淘宝、天猫、京东）</a:t>
            </a:r>
            <a:endParaRPr lang="en-US" altLang="zh-CN" sz="2400" dirty="0" smtClean="0">
              <a:ea typeface="宋体" panose="02010600030101010101" pitchFamily="2" charset="-122"/>
            </a:endParaRPr>
          </a:p>
          <a:p>
            <a:pPr marL="457200" indent="-457200" eaLnBrk="1" hangingPunct="1">
              <a:lnSpc>
                <a:spcPct val="120000"/>
              </a:lnSpc>
              <a:buClr>
                <a:srgbClr val="ED7D31"/>
              </a:buClr>
              <a:buFont typeface="+mj-lt"/>
              <a:buAutoNum type="arabicPeriod"/>
            </a:pPr>
            <a:r>
              <a:rPr lang="en-US" altLang="zh-CN" sz="2400" dirty="0" smtClean="0">
                <a:ea typeface="宋体" panose="02010600030101010101" pitchFamily="2" charset="-122"/>
              </a:rPr>
              <a:t>企业级应用（用友-ERP-NC，国家电网 PMS-SG186）</a:t>
            </a:r>
            <a:endParaRPr lang="en-US" altLang="zh-CN" sz="2400" dirty="0" smtClean="0">
              <a:ea typeface="宋体" panose="02010600030101010101" pitchFamily="2" charset="-122"/>
            </a:endParaRPr>
          </a:p>
          <a:p>
            <a:pPr marL="457200" indent="-457200" eaLnBrk="1" hangingPunct="1">
              <a:lnSpc>
                <a:spcPct val="120000"/>
              </a:lnSpc>
              <a:buClr>
                <a:srgbClr val="ED7D31"/>
              </a:buClr>
              <a:buFont typeface="+mj-lt"/>
              <a:buAutoNum type="arabicPeriod"/>
            </a:pPr>
            <a:r>
              <a:rPr lang="zh-CN" altLang="en-US" sz="2400" dirty="0" smtClean="0">
                <a:ea typeface="宋体" panose="02010600030101010101" pitchFamily="2" charset="-122"/>
              </a:rPr>
              <a:t>。。。。。。</a:t>
            </a:r>
            <a:endParaRPr lang="en-US" altLang="zh-CN" sz="2400" dirty="0" smtClean="0">
              <a:ea typeface="宋体" panose="02010600030101010101" pitchFamily="2" charset="-122"/>
            </a:endParaRPr>
          </a:p>
          <a:p>
            <a:pPr marR="0" lvl="0" indent="0" algn="l" defTabSz="914400" rtl="0" eaLnBrk="1" fontAlgn="auto" latinLnBrk="0" hangingPunct="1">
              <a:lnSpc>
                <a:spcPct val="90000"/>
              </a:lnSpc>
              <a:spcBef>
                <a:spcPts val="0"/>
              </a:spcBef>
              <a:spcAft>
                <a:spcPts val="0"/>
              </a:spcAft>
              <a:buClrTx/>
              <a:buSzTx/>
              <a:buFont typeface="+mj-lt"/>
              <a:buNone/>
              <a:defRPr/>
            </a:pPr>
            <a:endParaRPr kumimoji="0" lang="zh-CN" altLang="en-US" sz="240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Java</a:t>
            </a:r>
            <a:r>
              <a:rPr lang="zh-CN" altLang="en-US" sz="6665" dirty="0">
                <a:solidFill>
                  <a:schemeClr val="bg1"/>
                </a:solidFill>
                <a:latin typeface="Arial" panose="020B0604020202020204" pitchFamily="34" charset="0"/>
                <a:ea typeface="宋体" panose="02010600030101010101" pitchFamily="2" charset="-122"/>
                <a:sym typeface="+mn-ea"/>
              </a:rPr>
              <a:t>应用程序与开发环境</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dirty="0">
                <a:ea typeface="宋体" panose="02010600030101010101" pitchFamily="2" charset="-122"/>
                <a:sym typeface="+mn-ea"/>
              </a:rPr>
              <a:t>Java应用程序</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15364" name="Picture 2" descr="D:\My Documents\My Projects\oracle\1-Java\images\02-01.png"/>
          <p:cNvPicPr>
            <a:picLocks noChangeAspect="1" noChangeArrowheads="1"/>
          </p:cNvPicPr>
          <p:nvPr/>
        </p:nvPicPr>
        <p:blipFill>
          <a:blip r:embed="rId5"/>
          <a:srcRect/>
          <a:stretch>
            <a:fillRect/>
          </a:stretch>
        </p:blipFill>
        <p:spPr bwMode="auto">
          <a:xfrm>
            <a:off x="1883093" y="1317011"/>
            <a:ext cx="6675437" cy="47244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2004695"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运行环境</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1597025" cy="521970"/>
          </a:xfrm>
          <a:prstGeom prst="rect">
            <a:avLst/>
          </a:prstGeom>
          <a:noFill/>
        </p:spPr>
        <p:txBody>
          <a:bodyPr wrap="square" rtlCol="0" anchor="t">
            <a:noAutofit/>
          </a:bodyPr>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16388" name="Picture 2"/>
          <p:cNvPicPr>
            <a:picLocks noChangeAspect="1" noChangeArrowheads="1"/>
          </p:cNvPicPr>
          <p:nvPr/>
        </p:nvPicPr>
        <p:blipFill>
          <a:blip r:embed="rId5"/>
          <a:srcRect/>
          <a:stretch>
            <a:fillRect/>
          </a:stretch>
        </p:blipFill>
        <p:spPr bwMode="auto">
          <a:xfrm>
            <a:off x="2709239" y="1307486"/>
            <a:ext cx="4587875" cy="4535487"/>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7413" name="内容占位符 2"/>
          <p:cNvSpPr>
            <a:spLocks noGrp="1"/>
          </p:cNvSpPr>
          <p:nvPr>
            <p:ph idx="4294967295"/>
          </p:nvPr>
        </p:nvSpPr>
        <p:spPr>
          <a:xfrm>
            <a:off x="2222475" y="4977787"/>
            <a:ext cx="7537450" cy="858837"/>
          </a:xfrm>
        </p:spPr>
        <p:txBody>
          <a:bodyPr>
            <a:normAutofit lnSpcReduction="10000"/>
          </a:bodyPr>
          <a:p>
            <a:pPr marL="361950" indent="-361950"/>
            <a:r>
              <a:rPr lang="en-US" dirty="0">
                <a:ea typeface="宋体" panose="02010600030101010101" pitchFamily="2" charset="-122"/>
              </a:rPr>
              <a:t>JRE = JVM + Java SE</a:t>
            </a:r>
            <a:r>
              <a:rPr lang="zh-CN" altLang="en-US" dirty="0">
                <a:ea typeface="宋体" panose="02010600030101010101" pitchFamily="2" charset="-122"/>
              </a:rPr>
              <a:t>标准类库</a:t>
            </a:r>
            <a:endParaRPr lang="zh-CN" altLang="en-US" dirty="0">
              <a:ea typeface="宋体" panose="02010600030101010101" pitchFamily="2" charset="-122"/>
            </a:endParaRPr>
          </a:p>
          <a:p>
            <a:pPr marL="361950" indent="-361950"/>
            <a:r>
              <a:rPr lang="en-US" dirty="0">
                <a:ea typeface="宋体" panose="02010600030101010101" pitchFamily="2" charset="-122"/>
              </a:rPr>
              <a:t>JDK = JRE + </a:t>
            </a:r>
            <a:r>
              <a:rPr lang="zh-CN" altLang="en-US" dirty="0">
                <a:ea typeface="宋体" panose="02010600030101010101" pitchFamily="2" charset="-122"/>
              </a:rPr>
              <a:t>开发工具集（例如</a:t>
            </a:r>
            <a:r>
              <a:rPr lang="en-US" dirty="0" err="1">
                <a:ea typeface="宋体" panose="02010600030101010101" pitchFamily="2" charset="-122"/>
              </a:rPr>
              <a:t>Javac</a:t>
            </a:r>
            <a:r>
              <a:rPr lang="zh-CN" altLang="en-US" dirty="0">
                <a:ea typeface="宋体" panose="02010600030101010101" pitchFamily="2" charset="-122"/>
              </a:rPr>
              <a:t>编译工具等）</a:t>
            </a:r>
            <a:endParaRPr lang="zh-CN" altLang="en-US" dirty="0">
              <a:ea typeface="宋体" panose="02010600030101010101" pitchFamily="2" charset="-122"/>
            </a:endParaRPr>
          </a:p>
        </p:txBody>
      </p:sp>
      <p:pic>
        <p:nvPicPr>
          <p:cNvPr id="17412" name="Picture 2"/>
          <p:cNvPicPr>
            <a:picLocks noChangeAspect="1" noChangeArrowheads="1"/>
          </p:cNvPicPr>
          <p:nvPr/>
        </p:nvPicPr>
        <p:blipFill>
          <a:blip r:embed="rId5"/>
          <a:srcRect/>
          <a:stretch>
            <a:fillRect/>
          </a:stretch>
        </p:blipFill>
        <p:spPr bwMode="auto">
          <a:xfrm>
            <a:off x="3706813" y="1159840"/>
            <a:ext cx="3600450" cy="3390900"/>
          </a:xfrm>
          <a:prstGeom prst="rect">
            <a:avLst/>
          </a:prstGeom>
          <a:noFill/>
          <a:ln w="9525">
            <a:noFill/>
            <a:miter lim="800000"/>
            <a:headEnd/>
            <a:tailEnd/>
          </a:ln>
        </p:spPr>
      </p:pic>
      <p:sp>
        <p:nvSpPr>
          <p:cNvPr id="3" name="文本框 2"/>
          <p:cNvSpPr txBox="1"/>
          <p:nvPr/>
        </p:nvSpPr>
        <p:spPr>
          <a:xfrm>
            <a:off x="2004695" y="242570"/>
            <a:ext cx="4632960" cy="460375"/>
          </a:xfrm>
          <a:prstGeom prst="rect">
            <a:avLst/>
          </a:prstGeom>
          <a:noFill/>
        </p:spPr>
        <p:txBody>
          <a:bodyPr wrap="square" rtlCol="0">
            <a:spAutoFit/>
          </a:bodyPr>
          <a:p>
            <a:pPr eaLnBrk="1" hangingPunct="1"/>
            <a:r>
              <a:rPr lang="zh-CN" altLang="en-US" sz="2400" b="1">
                <a:ea typeface="宋体" panose="02010600030101010101" pitchFamily="2" charset="-122"/>
                <a:sym typeface="+mn-ea"/>
              </a:rPr>
              <a:t>开发与运行环境</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7" name="文本框 6"/>
          <p:cNvSpPr txBox="1"/>
          <p:nvPr/>
        </p:nvSpPr>
        <p:spPr>
          <a:xfrm>
            <a:off x="816610" y="220980"/>
            <a:ext cx="1597025" cy="521970"/>
          </a:xfrm>
          <a:prstGeom prst="rect">
            <a:avLst/>
          </a:prstGeom>
          <a:noFill/>
        </p:spPr>
        <p:txBody>
          <a:bodyPr wrap="square" rtlCol="0" anchor="t">
            <a:noAutofit/>
          </a:bodyPr>
          <a:p>
            <a:pPr marL="0" marR="0" lvl="0" indent="0" algn="l"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JDK的安装</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7" name="图片 6"/>
          <p:cNvPicPr>
            <a:picLocks noChangeAspect="1"/>
          </p:cNvPicPr>
          <p:nvPr/>
        </p:nvPicPr>
        <p:blipFill>
          <a:blip r:embed="rId5"/>
          <a:stretch>
            <a:fillRect/>
          </a:stretch>
        </p:blipFill>
        <p:spPr>
          <a:xfrm>
            <a:off x="2590165" y="1247775"/>
            <a:ext cx="5941695" cy="45154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设置path环境变量</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3" name="图片 2"/>
          <p:cNvPicPr>
            <a:picLocks noChangeAspect="1"/>
          </p:cNvPicPr>
          <p:nvPr/>
        </p:nvPicPr>
        <p:blipFill>
          <a:blip r:embed="rId5"/>
          <a:stretch>
            <a:fillRect/>
          </a:stretch>
        </p:blipFill>
        <p:spPr>
          <a:xfrm>
            <a:off x="477520" y="889635"/>
            <a:ext cx="11237595" cy="45523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使用Windows命令提示符工具</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3" name="矩形 22"/>
          <p:cNvSpPr/>
          <p:nvPr/>
        </p:nvSpPr>
        <p:spPr>
          <a:xfrm>
            <a:off x="1235710" y="1221740"/>
            <a:ext cx="9719945" cy="2122805"/>
          </a:xfrm>
          <a:prstGeom prst="rect">
            <a:avLst/>
          </a:prstGeom>
          <a:noFill/>
        </p:spPr>
        <p:txBody>
          <a:bodyPr wrap="square" rtlCol="0">
            <a:spAutoFit/>
          </a:bodyPr>
          <a:p>
            <a:pPr marL="457200" marR="0" lvl="0" indent="-457200" algn="l" defTabSz="914400" rtl="0" eaLnBrk="1" fontAlgn="auto" latinLnBrk="0" hangingPunct="1">
              <a:lnSpc>
                <a:spcPct val="100000"/>
              </a:lnSpc>
              <a:spcBef>
                <a:spcPts val="0"/>
              </a:spcBef>
              <a:spcAft>
                <a:spcPts val="0"/>
              </a:spcAft>
              <a:buClr>
                <a:srgbClr val="ED7D31"/>
              </a:buClr>
              <a:buSzTx/>
              <a:buFont typeface="+mj-lt"/>
              <a:buAutoNum type="arabicPeriod"/>
              <a:defRPr/>
            </a:pPr>
            <a:r>
              <a:rPr sz="2400" dirty="0">
                <a:ea typeface="宋体" panose="02010600030101010101" pitchFamily="2" charset="-122"/>
                <a:sym typeface="+mn-ea"/>
              </a:rPr>
              <a:t>切换盘符</a:t>
            </a:r>
            <a:endParaRPr sz="2400" dirty="0">
              <a:ea typeface="宋体" panose="02010600030101010101" pitchFamily="2" charset="-122"/>
              <a:sym typeface="+mn-ea"/>
            </a:endParaRPr>
          </a:p>
          <a:p>
            <a:pPr marL="800100" marR="0" lvl="1" indent="-342900" algn="l" defTabSz="914400" rtl="0" eaLnBrk="1" fontAlgn="auto" latinLnBrk="0" hangingPunct="1">
              <a:lnSpc>
                <a:spcPct val="100000"/>
              </a:lnSpc>
              <a:spcBef>
                <a:spcPts val="0"/>
              </a:spcBef>
              <a:spcAft>
                <a:spcPts val="0"/>
              </a:spcAft>
              <a:buClrTx/>
              <a:buSzTx/>
              <a:buFont typeface="+mj-ea"/>
              <a:buAutoNum type="circleNumDbPlain"/>
              <a:defRPr/>
            </a:pPr>
            <a:r>
              <a:rPr lang="zh-CN" dirty="0">
                <a:ea typeface="宋体" panose="02010600030101010101" pitchFamily="2" charset="-122"/>
                <a:sym typeface="+mn-ea"/>
              </a:rPr>
              <a:t>切换到</a:t>
            </a:r>
            <a:r>
              <a:rPr lang="en-US" altLang="zh-CN" dirty="0">
                <a:ea typeface="宋体" panose="02010600030101010101" pitchFamily="2" charset="-122"/>
                <a:sym typeface="+mn-ea"/>
              </a:rPr>
              <a:t>D</a:t>
            </a:r>
            <a:r>
              <a:rPr lang="zh-CN" altLang="en-US" dirty="0">
                <a:ea typeface="宋体" panose="02010600030101010101" pitchFamily="2" charset="-122"/>
                <a:sym typeface="+mn-ea"/>
              </a:rPr>
              <a:t>盘</a:t>
            </a:r>
            <a:r>
              <a:rPr lang="en-US" altLang="zh-CN" dirty="0">
                <a:ea typeface="宋体" panose="02010600030101010101" pitchFamily="2" charset="-122"/>
                <a:sym typeface="+mn-ea"/>
              </a:rPr>
              <a:t>:d:</a:t>
            </a:r>
            <a:endParaRPr lang="zh-CN" dirty="0">
              <a:ea typeface="宋体" panose="02010600030101010101" pitchFamily="2" charset="-122"/>
              <a:sym typeface="+mn-ea"/>
            </a:endParaRPr>
          </a:p>
          <a:p>
            <a:pPr marL="800100" marR="0" lvl="1" indent="-342900" algn="l" defTabSz="914400" rtl="0" eaLnBrk="1" fontAlgn="auto" latinLnBrk="0" hangingPunct="1">
              <a:lnSpc>
                <a:spcPct val="100000"/>
              </a:lnSpc>
              <a:spcBef>
                <a:spcPts val="0"/>
              </a:spcBef>
              <a:spcAft>
                <a:spcPts val="0"/>
              </a:spcAft>
              <a:buClrTx/>
              <a:buSzTx/>
              <a:buFont typeface="+mj-ea"/>
              <a:buAutoNum type="circleNumDbPlain"/>
              <a:defRPr/>
            </a:pPr>
            <a:r>
              <a:rPr dirty="0">
                <a:ea typeface="宋体" panose="02010600030101010101" pitchFamily="2" charset="-122"/>
                <a:sym typeface="+mn-ea"/>
              </a:rPr>
              <a:t>列出盘符下文件和文件夹：dir</a:t>
            </a:r>
            <a:endParaRPr dirty="0">
              <a:ea typeface="宋体" panose="02010600030101010101" pitchFamily="2" charset="-122"/>
              <a:sym typeface="+mn-ea"/>
            </a:endParaRPr>
          </a:p>
          <a:p>
            <a:pPr marL="800100" marR="0" lvl="1" indent="-342900" algn="l" defTabSz="914400" rtl="0" eaLnBrk="1" fontAlgn="auto" latinLnBrk="0" hangingPunct="1">
              <a:lnSpc>
                <a:spcPct val="100000"/>
              </a:lnSpc>
              <a:spcBef>
                <a:spcPts val="0"/>
              </a:spcBef>
              <a:spcAft>
                <a:spcPts val="0"/>
              </a:spcAft>
              <a:buClrTx/>
              <a:buSzTx/>
              <a:buFont typeface="+mj-ea"/>
              <a:buAutoNum type="circleNumDbPlain"/>
              <a:defRPr/>
            </a:pPr>
            <a:r>
              <a:rPr dirty="0">
                <a:ea typeface="宋体" panose="02010600030101010101" pitchFamily="2" charset="-122"/>
                <a:sym typeface="+mn-ea"/>
              </a:rPr>
              <a:t>进入文件：cd 文件夹</a:t>
            </a:r>
            <a:r>
              <a:rPr lang="zh-CN" dirty="0">
                <a:ea typeface="宋体" panose="02010600030101010101" pitchFamily="2" charset="-122"/>
                <a:sym typeface="+mn-ea"/>
              </a:rPr>
              <a:t>名称</a:t>
            </a:r>
            <a:endParaRPr dirty="0">
              <a:ea typeface="宋体" panose="02010600030101010101" pitchFamily="2" charset="-122"/>
              <a:sym typeface="+mn-ea"/>
            </a:endParaRPr>
          </a:p>
          <a:p>
            <a:pPr marL="800100" marR="0" lvl="1" indent="-342900" algn="l" defTabSz="914400" rtl="0" eaLnBrk="1" fontAlgn="auto" latinLnBrk="0" hangingPunct="1">
              <a:lnSpc>
                <a:spcPct val="100000"/>
              </a:lnSpc>
              <a:spcBef>
                <a:spcPts val="0"/>
              </a:spcBef>
              <a:spcAft>
                <a:spcPts val="0"/>
              </a:spcAft>
              <a:buClrTx/>
              <a:buSzTx/>
              <a:buFont typeface="+mj-ea"/>
              <a:buAutoNum type="circleNumDbPlain"/>
              <a:defRPr/>
            </a:pPr>
            <a:r>
              <a:rPr dirty="0">
                <a:ea typeface="宋体" panose="02010600030101010101" pitchFamily="2" charset="-122"/>
                <a:sym typeface="+mn-ea"/>
              </a:rPr>
              <a:t>回退上一级 cd..</a:t>
            </a:r>
            <a:endParaRPr dirty="0">
              <a:ea typeface="宋体" panose="02010600030101010101" pitchFamily="2" charset="-122"/>
              <a:sym typeface="+mn-ea"/>
            </a:endParaRPr>
          </a:p>
          <a:p>
            <a:pPr marL="800100" marR="0" lvl="1" indent="-342900" algn="l" defTabSz="914400" rtl="0" eaLnBrk="1" fontAlgn="auto" latinLnBrk="0" hangingPunct="1">
              <a:lnSpc>
                <a:spcPct val="100000"/>
              </a:lnSpc>
              <a:spcBef>
                <a:spcPts val="0"/>
              </a:spcBef>
              <a:spcAft>
                <a:spcPts val="0"/>
              </a:spcAft>
              <a:buClrTx/>
              <a:buSzTx/>
              <a:buFont typeface="+mj-ea"/>
              <a:buAutoNum type="circleNumDbPlain"/>
              <a:defRPr/>
            </a:pPr>
            <a:r>
              <a:rPr dirty="0">
                <a:ea typeface="宋体" panose="02010600030101010101" pitchFamily="2" charset="-122"/>
                <a:sym typeface="+mn-ea"/>
              </a:rPr>
              <a:t>回退到根目录 cd \</a:t>
            </a:r>
            <a:endParaRPr dirty="0">
              <a:ea typeface="宋体" panose="02010600030101010101" pitchFamily="2" charset="-122"/>
              <a:sym typeface="+mn-ea"/>
            </a:endParaRPr>
          </a:p>
          <a:p>
            <a:pPr marL="800100" marR="0" lvl="1" indent="-342900" algn="l" defTabSz="914400" rtl="0" eaLnBrk="1" fontAlgn="auto" latinLnBrk="0" hangingPunct="1">
              <a:lnSpc>
                <a:spcPct val="100000"/>
              </a:lnSpc>
              <a:spcBef>
                <a:spcPts val="0"/>
              </a:spcBef>
              <a:spcAft>
                <a:spcPts val="0"/>
              </a:spcAft>
              <a:buClrTx/>
              <a:buSzTx/>
              <a:buFont typeface="+mj-ea"/>
              <a:buAutoNum type="circleNumDbPlain"/>
              <a:defRPr/>
            </a:pPr>
            <a:endParaRPr dirty="0">
              <a:ea typeface="宋体" panose="02010600030101010101" pitchFamily="2" charset="-122"/>
              <a:sym typeface="+mn-ea"/>
            </a:endParaRPr>
          </a:p>
        </p:txBody>
      </p:sp>
      <p:sp>
        <p:nvSpPr>
          <p:cNvPr id="3" name="矩形 2"/>
          <p:cNvSpPr/>
          <p:nvPr/>
        </p:nvSpPr>
        <p:spPr>
          <a:xfrm>
            <a:off x="1235710" y="3270250"/>
            <a:ext cx="9719945" cy="514985"/>
          </a:xfrm>
          <a:prstGeom prst="rect">
            <a:avLst/>
          </a:prstGeom>
          <a:noFill/>
        </p:spPr>
        <p:txBody>
          <a:bodyPr wrap="square" rtlCol="0">
            <a:noAutofit/>
          </a:bodyPr>
          <a:p>
            <a:pPr marL="457200" marR="0" lvl="0" indent="-457200" algn="l" defTabSz="914400" rtl="0" eaLnBrk="1" fontAlgn="auto" latinLnBrk="0" hangingPunct="1">
              <a:lnSpc>
                <a:spcPct val="90000"/>
              </a:lnSpc>
              <a:spcBef>
                <a:spcPts val="0"/>
              </a:spcBef>
              <a:spcAft>
                <a:spcPts val="0"/>
              </a:spcAft>
              <a:buClr>
                <a:srgbClr val="ED7D31"/>
              </a:buClr>
              <a:buSzTx/>
              <a:buFont typeface="+mj-lt"/>
              <a:buAutoNum type="arabicPeriod" startAt="2"/>
              <a:defRPr/>
            </a:pPr>
            <a:r>
              <a:rPr lang="zh-CN" altLang="en-US" sz="2400" dirty="0">
                <a:ea typeface="宋体" panose="02010600030101010101" pitchFamily="2" charset="-122"/>
                <a:sym typeface="+mn-ea"/>
              </a:rPr>
              <a:t>快捷键</a:t>
            </a:r>
            <a:endParaRPr lang="en-US" sz="2400" dirty="0">
              <a:ea typeface="宋体" panose="02010600030101010101" pitchFamily="2" charset="-122"/>
            </a:endParaRPr>
          </a:p>
          <a:p>
            <a:pPr marR="0" lvl="0" indent="0" algn="l" defTabSz="914400" rtl="0" eaLnBrk="1" fontAlgn="auto" latinLnBrk="0" hangingPunct="1">
              <a:lnSpc>
                <a:spcPct val="90000"/>
              </a:lnSpc>
              <a:spcBef>
                <a:spcPts val="0"/>
              </a:spcBef>
              <a:spcAft>
                <a:spcPts val="0"/>
              </a:spcAft>
              <a:buClrTx/>
              <a:buSzTx/>
              <a:buFont typeface="+mj-lt"/>
              <a:buNone/>
              <a:defRPr/>
            </a:pPr>
            <a:endParaRPr lang="en-US" sz="2400" dirty="0">
              <a:ea typeface="宋体" panose="02010600030101010101" pitchFamily="2" charset="-122"/>
            </a:endParaRPr>
          </a:p>
          <a:p>
            <a:pPr marL="1257300" lvl="2" indent="-457200" eaLnBrk="1" hangingPunct="1">
              <a:lnSpc>
                <a:spcPct val="120000"/>
              </a:lnSpc>
            </a:pPr>
            <a:r>
              <a:rPr lang="zh-CN" altLang="en-US" dirty="0">
                <a:sym typeface="+mn-ea"/>
              </a:rPr>
              <a:t>↑ ↓：调阅历史表</a:t>
            </a:r>
            <a:endParaRPr lang="zh-CN" altLang="en-US" dirty="0"/>
          </a:p>
          <a:p>
            <a:pPr marL="1257300" lvl="2" indent="-457200" eaLnBrk="1" hangingPunct="1">
              <a:lnSpc>
                <a:spcPct val="120000"/>
              </a:lnSpc>
            </a:pPr>
            <a:r>
              <a:rPr lang="zh-CN" altLang="en-US" dirty="0">
                <a:sym typeface="+mn-ea"/>
              </a:rPr>
              <a:t>← →：移动光标</a:t>
            </a:r>
            <a:endParaRPr lang="zh-CN" altLang="en-US" dirty="0"/>
          </a:p>
          <a:p>
            <a:pPr marL="1257300" lvl="2" indent="-457200" eaLnBrk="1" hangingPunct="1">
              <a:lnSpc>
                <a:spcPct val="120000"/>
              </a:lnSpc>
            </a:pPr>
            <a:r>
              <a:rPr lang="en-US" altLang="zh-CN" dirty="0">
                <a:ea typeface="宋体" panose="02010600030101010101" pitchFamily="2" charset="-122"/>
                <a:sym typeface="+mn-ea"/>
              </a:rPr>
              <a:t>del</a:t>
            </a:r>
            <a:r>
              <a:rPr lang="zh-CN" altLang="en-US" dirty="0">
                <a:ea typeface="宋体" panose="02010600030101010101" pitchFamily="2" charset="-122"/>
                <a:sym typeface="+mn-ea"/>
              </a:rPr>
              <a:t>和</a:t>
            </a:r>
            <a:r>
              <a:rPr lang="en-US" altLang="zh-CN" dirty="0">
                <a:ea typeface="宋体" panose="02010600030101010101" pitchFamily="2" charset="-122"/>
                <a:sym typeface="+mn-ea"/>
              </a:rPr>
              <a:t>Backspace</a:t>
            </a:r>
            <a:r>
              <a:rPr lang="zh-CN" altLang="en-US" dirty="0">
                <a:ea typeface="宋体" panose="02010600030101010101" pitchFamily="2" charset="-122"/>
                <a:sym typeface="+mn-ea"/>
              </a:rPr>
              <a:t>：删除字符</a:t>
            </a:r>
            <a:endParaRPr lang="zh-CN" altLang="en-US" dirty="0">
              <a:ea typeface="宋体" panose="02010600030101010101" pitchFamily="2" charset="-122"/>
            </a:endParaRPr>
          </a:p>
          <a:p>
            <a:pPr marL="1257300" lvl="2" indent="-457200" eaLnBrk="1" hangingPunct="1">
              <a:lnSpc>
                <a:spcPct val="120000"/>
              </a:lnSpc>
            </a:pPr>
            <a:r>
              <a:rPr lang="en-US" altLang="zh-CN" dirty="0">
                <a:ea typeface="宋体" panose="02010600030101010101" pitchFamily="2" charset="-122"/>
                <a:sym typeface="+mn-ea"/>
              </a:rPr>
              <a:t>&lt;tab&gt;</a:t>
            </a:r>
            <a:r>
              <a:rPr lang="zh-CN" altLang="en-US" dirty="0">
                <a:ea typeface="宋体" panose="02010600030101010101" pitchFamily="2" charset="-122"/>
                <a:sym typeface="+mn-ea"/>
              </a:rPr>
              <a:t>文件名补齐</a:t>
            </a:r>
            <a:endParaRPr lang="zh-CN" altLang="en-US" dirty="0">
              <a:ea typeface="宋体" panose="02010600030101010101" pitchFamily="2" charset="-122"/>
            </a:endParaRPr>
          </a:p>
          <a:p>
            <a:pPr marR="0" lvl="0" indent="0" algn="l" defTabSz="914400" rtl="0" eaLnBrk="1" fontAlgn="auto" latinLnBrk="0" hangingPunct="1">
              <a:lnSpc>
                <a:spcPct val="90000"/>
              </a:lnSpc>
              <a:spcBef>
                <a:spcPts val="0"/>
              </a:spcBef>
              <a:spcAft>
                <a:spcPts val="0"/>
              </a:spcAft>
              <a:buClrTx/>
              <a:buSzTx/>
              <a:buFont typeface="+mj-lt"/>
              <a:buNone/>
              <a:defRPr/>
            </a:pPr>
            <a:endParaRPr lang="en-US" sz="2400" dirty="0">
              <a:ea typeface="宋体" panose="02010600030101010101" pitchFamily="2" charset="-122"/>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3" grpId="0"/>
      <p:bldP spid="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rPr>
              <a:t>文件管理与系统命令（了解）</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3" name="矩形 22"/>
          <p:cNvSpPr/>
          <p:nvPr/>
        </p:nvSpPr>
        <p:spPr>
          <a:xfrm>
            <a:off x="1235710" y="1221740"/>
            <a:ext cx="9719945" cy="1831975"/>
          </a:xfrm>
          <a:prstGeom prst="rect">
            <a:avLst/>
          </a:prstGeom>
          <a:noFill/>
        </p:spPr>
        <p:txBody>
          <a:bodyPr wrap="square" rtlCol="0">
            <a:spAutoFit/>
          </a:bodyPr>
          <a:p>
            <a:pPr marL="457200" marR="0" lvl="0" indent="-457200" algn="l" defTabSz="914400" rtl="0" eaLnBrk="1" fontAlgn="auto" latinLnBrk="0" hangingPunct="1">
              <a:lnSpc>
                <a:spcPct val="110000"/>
              </a:lnSpc>
              <a:spcBef>
                <a:spcPts val="0"/>
              </a:spcBef>
              <a:spcAft>
                <a:spcPts val="0"/>
              </a:spcAft>
              <a:buClr>
                <a:srgbClr val="ED7D31"/>
              </a:buClr>
              <a:buSzTx/>
              <a:buFont typeface="+mj-lt"/>
              <a:buAutoNum type="arabicPeriod"/>
              <a:defRPr/>
            </a:pPr>
            <a:r>
              <a:rPr sz="2000" dirty="0">
                <a:ea typeface="宋体" panose="02010600030101010101" pitchFamily="2" charset="-122"/>
                <a:sym typeface="+mn-ea"/>
              </a:rPr>
              <a:t>文件夹及</a:t>
            </a:r>
            <a:r>
              <a:rPr sz="2000" dirty="0">
                <a:ea typeface="宋体" panose="02010600030101010101" pitchFamily="2" charset="-122"/>
                <a:sym typeface="+mn-ea"/>
              </a:rPr>
              <a:t>文件的管理</a:t>
            </a:r>
            <a:r>
              <a:rPr lang="en-US" sz="2400" dirty="0">
                <a:ea typeface="宋体" panose="02010600030101010101" pitchFamily="2" charset="-122"/>
                <a:sym typeface="+mn-ea"/>
              </a:rPr>
              <a:t> </a:t>
            </a:r>
            <a:endParaRPr lang="en-US" sz="2400" dirty="0">
              <a:ea typeface="宋体" panose="02010600030101010101" pitchFamily="2" charset="-122"/>
              <a:sym typeface="+mn-ea"/>
            </a:endParaRPr>
          </a:p>
          <a:p>
            <a:pPr marL="914400" marR="0" lvl="1" indent="-457200" algn="l" defTabSz="914400" rtl="0" eaLnBrk="1" fontAlgn="auto" latinLnBrk="0" hangingPunct="1">
              <a:lnSpc>
                <a:spcPct val="110000"/>
              </a:lnSpc>
              <a:spcBef>
                <a:spcPts val="0"/>
              </a:spcBef>
              <a:spcAft>
                <a:spcPts val="0"/>
              </a:spcAft>
              <a:buClr>
                <a:srgbClr val="ED7D31"/>
              </a:buClr>
              <a:buSzTx/>
              <a:buFont typeface="Arial" panose="020B0604020202020204" pitchFamily="34" charset="0"/>
              <a:buChar char="•"/>
              <a:defRPr/>
            </a:pPr>
            <a:r>
              <a:rPr lang="zh-CN" altLang="en-US" sz="2000" dirty="0">
                <a:ea typeface="宋体" panose="02010600030101010101" pitchFamily="2" charset="-122"/>
                <a:sym typeface="+mn-ea"/>
              </a:rPr>
              <a:t>文件夹</a:t>
            </a:r>
            <a:r>
              <a:rPr lang="en-US" sz="2000" dirty="0">
                <a:ea typeface="宋体" panose="02010600030101010101" pitchFamily="2" charset="-122"/>
                <a:sym typeface="+mn-ea"/>
              </a:rPr>
              <a:t> </a:t>
            </a:r>
            <a:endParaRPr sz="2000" dirty="0">
              <a:ea typeface="宋体" panose="02010600030101010101" pitchFamily="2" charset="-122"/>
              <a:sym typeface="+mn-ea"/>
            </a:endParaRPr>
          </a:p>
          <a:p>
            <a:pPr marR="0" lvl="1" indent="457200" algn="l" defTabSz="914400" rtl="0" eaLnBrk="1" fontAlgn="auto" latinLnBrk="0" hangingPunct="1">
              <a:lnSpc>
                <a:spcPct val="120000"/>
              </a:lnSpc>
              <a:spcBef>
                <a:spcPts val="0"/>
              </a:spcBef>
              <a:spcAft>
                <a:spcPts val="0"/>
              </a:spcAft>
              <a:buClrTx/>
              <a:buSzTx/>
              <a:buFont typeface="+mj-ea"/>
              <a:buNone/>
              <a:defRPr/>
            </a:pPr>
            <a:r>
              <a:rPr dirty="0">
                <a:ea typeface="宋体" panose="02010600030101010101" pitchFamily="2" charset="-122"/>
                <a:sym typeface="+mn-ea"/>
              </a:rPr>
              <a:t>①创建文件夹 md test</a:t>
            </a:r>
            <a:endParaRPr dirty="0">
              <a:ea typeface="宋体" panose="02010600030101010101" pitchFamily="2" charset="-122"/>
              <a:sym typeface="+mn-ea"/>
            </a:endParaRPr>
          </a:p>
          <a:p>
            <a:pPr marR="0" lvl="1" indent="457200" algn="l" defTabSz="914400" rtl="0" eaLnBrk="1" fontAlgn="auto" latinLnBrk="0" hangingPunct="1">
              <a:lnSpc>
                <a:spcPct val="120000"/>
              </a:lnSpc>
              <a:spcBef>
                <a:spcPts val="0"/>
              </a:spcBef>
              <a:spcAft>
                <a:spcPts val="0"/>
              </a:spcAft>
              <a:buClrTx/>
              <a:buSzTx/>
              <a:buFont typeface="+mj-ea"/>
              <a:buNone/>
              <a:defRPr/>
            </a:pPr>
            <a:r>
              <a:rPr dirty="0">
                <a:ea typeface="宋体" panose="02010600030101010101" pitchFamily="2" charset="-122"/>
                <a:sym typeface="+mn-ea"/>
              </a:rPr>
              <a:t>②打开文件夹 start test</a:t>
            </a:r>
            <a:endParaRPr dirty="0">
              <a:ea typeface="宋体" panose="02010600030101010101" pitchFamily="2" charset="-122"/>
              <a:sym typeface="+mn-ea"/>
            </a:endParaRPr>
          </a:p>
          <a:p>
            <a:pPr marR="0" lvl="1" indent="457200" algn="l" defTabSz="914400" rtl="0" eaLnBrk="1" fontAlgn="auto" latinLnBrk="0" hangingPunct="1">
              <a:lnSpc>
                <a:spcPct val="120000"/>
              </a:lnSpc>
              <a:spcBef>
                <a:spcPts val="0"/>
              </a:spcBef>
              <a:spcAft>
                <a:spcPts val="0"/>
              </a:spcAft>
              <a:buClrTx/>
              <a:buSzTx/>
              <a:buFont typeface="+mj-ea"/>
              <a:buNone/>
              <a:defRPr/>
            </a:pPr>
            <a:r>
              <a:rPr dirty="0">
                <a:ea typeface="宋体" panose="02010600030101010101" pitchFamily="2" charset="-122"/>
                <a:sym typeface="+mn-ea"/>
              </a:rPr>
              <a:t>③删除文件夹 rd test</a:t>
            </a:r>
            <a:endParaRPr dirty="0">
              <a:ea typeface="宋体" panose="02010600030101010101" pitchFamily="2" charset="-122"/>
              <a:sym typeface="+mn-ea"/>
            </a:endParaRPr>
          </a:p>
        </p:txBody>
      </p:sp>
      <p:sp>
        <p:nvSpPr>
          <p:cNvPr id="3" name="矩形 2"/>
          <p:cNvSpPr/>
          <p:nvPr/>
        </p:nvSpPr>
        <p:spPr>
          <a:xfrm>
            <a:off x="1235710" y="3067050"/>
            <a:ext cx="9719945" cy="514985"/>
          </a:xfrm>
          <a:prstGeom prst="rect">
            <a:avLst/>
          </a:prstGeom>
          <a:noFill/>
        </p:spPr>
        <p:txBody>
          <a:bodyPr wrap="square" rtlCol="0">
            <a:noAutofit/>
          </a:bodyPr>
          <a:p>
            <a:pPr marL="914400" marR="0" lvl="1" indent="-457200" algn="l" defTabSz="914400" rtl="0" eaLnBrk="1" fontAlgn="auto" latinLnBrk="0" hangingPunct="1">
              <a:lnSpc>
                <a:spcPct val="100000"/>
              </a:lnSpc>
              <a:spcBef>
                <a:spcPts val="0"/>
              </a:spcBef>
              <a:spcAft>
                <a:spcPts val="0"/>
              </a:spcAft>
              <a:buClr>
                <a:srgbClr val="ED7D31"/>
              </a:buClr>
              <a:buSzTx/>
              <a:buFont typeface="Arial" panose="020B0604020202020204" pitchFamily="34" charset="0"/>
              <a:buChar char="•"/>
              <a:defRPr/>
            </a:pPr>
            <a:r>
              <a:rPr sz="2000" dirty="0">
                <a:ea typeface="宋体" panose="02010600030101010101" pitchFamily="2" charset="-122"/>
                <a:sym typeface="+mn-ea"/>
              </a:rPr>
              <a:t>文件</a:t>
            </a:r>
            <a:endParaRPr sz="2000" dirty="0">
              <a:ea typeface="宋体" panose="02010600030101010101" pitchFamily="2" charset="-122"/>
              <a:sym typeface="+mn-ea"/>
            </a:endParaRPr>
          </a:p>
          <a:p>
            <a:pPr marR="0" lvl="1" indent="457200" algn="l" defTabSz="914400" rtl="0" eaLnBrk="1" fontAlgn="auto" latinLnBrk="0" hangingPunct="1">
              <a:lnSpc>
                <a:spcPct val="110000"/>
              </a:lnSpc>
              <a:spcBef>
                <a:spcPts val="0"/>
              </a:spcBef>
              <a:spcAft>
                <a:spcPts val="0"/>
              </a:spcAft>
              <a:buClrTx/>
              <a:buSzTx/>
              <a:buFont typeface="Wingdings" panose="05000000000000000000" charset="0"/>
              <a:buNone/>
              <a:defRPr/>
            </a:pPr>
            <a:r>
              <a:rPr sz="1800" dirty="0">
                <a:ea typeface="宋体" panose="02010600030101010101" pitchFamily="2" charset="-122"/>
                <a:sym typeface="+mn-ea"/>
              </a:rPr>
              <a:t>①创建文件： echo &gt; hello.java  </a:t>
            </a:r>
            <a:endParaRPr sz="1800" dirty="0">
              <a:ea typeface="宋体" panose="02010600030101010101" pitchFamily="2" charset="-122"/>
              <a:sym typeface="+mn-ea"/>
            </a:endParaRPr>
          </a:p>
          <a:p>
            <a:pPr marR="0" lvl="1" indent="457200" algn="l" defTabSz="914400" rtl="0" eaLnBrk="1" fontAlgn="auto" latinLnBrk="0" hangingPunct="1">
              <a:lnSpc>
                <a:spcPct val="110000"/>
              </a:lnSpc>
              <a:spcBef>
                <a:spcPts val="0"/>
              </a:spcBef>
              <a:spcAft>
                <a:spcPts val="0"/>
              </a:spcAft>
              <a:buClrTx/>
              <a:buSzTx/>
              <a:buFont typeface="Wingdings" panose="05000000000000000000" charset="0"/>
              <a:buNone/>
              <a:defRPr/>
            </a:pPr>
            <a:r>
              <a:rPr sz="1800" dirty="0">
                <a:ea typeface="宋体" panose="02010600030101010101" pitchFamily="2" charset="-122"/>
                <a:sym typeface="+mn-ea"/>
              </a:rPr>
              <a:t>②</a:t>
            </a:r>
            <a:r>
              <a:rPr lang="zh-CN" sz="1800" dirty="0">
                <a:ea typeface="宋体" panose="02010600030101010101" pitchFamily="2" charset="-122"/>
                <a:sym typeface="+mn-ea"/>
              </a:rPr>
              <a:t>创建</a:t>
            </a:r>
            <a:r>
              <a:rPr sz="1800" dirty="0">
                <a:ea typeface="宋体" panose="02010600030101010101" pitchFamily="2" charset="-122"/>
                <a:sym typeface="+mn-ea"/>
              </a:rPr>
              <a:t>文件并写入abc ： echo abc &gt; hello.java</a:t>
            </a:r>
            <a:endParaRPr sz="1800" dirty="0">
              <a:ea typeface="宋体" panose="02010600030101010101" pitchFamily="2" charset="-122"/>
              <a:sym typeface="+mn-ea"/>
            </a:endParaRPr>
          </a:p>
          <a:p>
            <a:pPr marR="0" lvl="1" indent="457200" algn="l" defTabSz="914400" rtl="0" eaLnBrk="1" fontAlgn="auto" latinLnBrk="0" hangingPunct="1">
              <a:lnSpc>
                <a:spcPct val="110000"/>
              </a:lnSpc>
              <a:spcBef>
                <a:spcPts val="0"/>
              </a:spcBef>
              <a:spcAft>
                <a:spcPts val="0"/>
              </a:spcAft>
              <a:buClrTx/>
              <a:buSzTx/>
              <a:buFont typeface="Wingdings" panose="05000000000000000000" charset="0"/>
              <a:buNone/>
              <a:defRPr/>
            </a:pPr>
            <a:r>
              <a:rPr sz="1800" dirty="0">
                <a:ea typeface="宋体" panose="02010600030101010101" pitchFamily="2" charset="-122"/>
                <a:sym typeface="+mn-ea"/>
              </a:rPr>
              <a:t>③显示文件内容：type hello.java</a:t>
            </a:r>
            <a:endParaRPr sz="1800" dirty="0">
              <a:ea typeface="宋体" panose="02010600030101010101" pitchFamily="2" charset="-122"/>
              <a:sym typeface="+mn-ea"/>
            </a:endParaRPr>
          </a:p>
          <a:p>
            <a:pPr marR="0" lvl="1" indent="457200" algn="l" defTabSz="914400" rtl="0" eaLnBrk="1" fontAlgn="auto" latinLnBrk="0" hangingPunct="1">
              <a:lnSpc>
                <a:spcPct val="110000"/>
              </a:lnSpc>
              <a:spcBef>
                <a:spcPts val="0"/>
              </a:spcBef>
              <a:spcAft>
                <a:spcPts val="0"/>
              </a:spcAft>
              <a:buClrTx/>
              <a:buSzTx/>
              <a:buFont typeface="Wingdings" panose="05000000000000000000" charset="0"/>
              <a:buNone/>
              <a:defRPr/>
            </a:pPr>
            <a:r>
              <a:rPr sz="1800" dirty="0">
                <a:ea typeface="宋体" panose="02010600030101010101" pitchFamily="2" charset="-122"/>
                <a:sym typeface="+mn-ea"/>
              </a:rPr>
              <a:t>④删除文件 del hello.java</a:t>
            </a:r>
            <a:endParaRPr sz="1800" dirty="0">
              <a:ea typeface="宋体" panose="02010600030101010101" pitchFamily="2" charset="-122"/>
              <a:sym typeface="+mn-ea"/>
            </a:endParaRPr>
          </a:p>
          <a:p>
            <a:pPr marL="914400" marR="0" lvl="1" indent="-457200" algn="l" defTabSz="914400" rtl="0" eaLnBrk="1" fontAlgn="auto" latinLnBrk="0" hangingPunct="1">
              <a:lnSpc>
                <a:spcPct val="100000"/>
              </a:lnSpc>
              <a:spcBef>
                <a:spcPts val="0"/>
              </a:spcBef>
              <a:spcAft>
                <a:spcPts val="0"/>
              </a:spcAft>
              <a:buClr>
                <a:srgbClr val="ED7D31"/>
              </a:buClr>
              <a:buSzTx/>
              <a:buFont typeface="Wingdings" panose="05000000000000000000" charset="0"/>
              <a:buChar char="l"/>
              <a:defRPr/>
            </a:pPr>
            <a:endParaRPr sz="2400" dirty="0">
              <a:ea typeface="宋体" panose="02010600030101010101" pitchFamily="2" charset="-122"/>
              <a:sym typeface="+mn-ea"/>
            </a:endParaRPr>
          </a:p>
          <a:p>
            <a:pPr marL="914400" marR="0" lvl="1" indent="-457200" algn="l" defTabSz="914400" rtl="0" eaLnBrk="1" fontAlgn="auto" latinLnBrk="0" hangingPunct="1">
              <a:lnSpc>
                <a:spcPct val="100000"/>
              </a:lnSpc>
              <a:spcBef>
                <a:spcPts val="0"/>
              </a:spcBef>
              <a:spcAft>
                <a:spcPts val="0"/>
              </a:spcAft>
              <a:buClr>
                <a:srgbClr val="ED7D31"/>
              </a:buClr>
              <a:buSzTx/>
              <a:buFont typeface="+mj-ea"/>
              <a:buAutoNum type="circleNumDbPlain"/>
              <a:defRPr/>
            </a:pPr>
            <a:endParaRPr sz="2400" dirty="0">
              <a:ea typeface="宋体" panose="02010600030101010101" pitchFamily="2" charset="-122"/>
              <a:sym typeface="+mn-ea"/>
            </a:endParaRPr>
          </a:p>
          <a:p>
            <a:pPr marL="1371600" marR="0" lvl="2" indent="-457200" algn="l" defTabSz="914400" rtl="0" eaLnBrk="1" fontAlgn="auto" latinLnBrk="0" hangingPunct="1">
              <a:lnSpc>
                <a:spcPct val="100000"/>
              </a:lnSpc>
              <a:spcBef>
                <a:spcPts val="0"/>
              </a:spcBef>
              <a:spcAft>
                <a:spcPts val="0"/>
              </a:spcAft>
              <a:buClr>
                <a:srgbClr val="202020"/>
              </a:buClr>
              <a:buSzTx/>
              <a:buFont typeface="+mj-ea"/>
              <a:buAutoNum type="circleNumDbPlain"/>
              <a:defRPr/>
            </a:pPr>
            <a:r>
              <a:rPr lang="en-US" dirty="0">
                <a:ea typeface="宋体" panose="02010600030101010101" pitchFamily="2" charset="-122"/>
              </a:rPr>
              <a:t>echo %path%</a:t>
            </a:r>
            <a:endParaRPr lang="en-US" dirty="0">
              <a:ea typeface="宋体" panose="02010600030101010101" pitchFamily="2" charset="-122"/>
            </a:endParaRPr>
          </a:p>
          <a:p>
            <a:pPr marL="1371600" marR="0" lvl="2" indent="-457200" algn="l" defTabSz="914400" rtl="0" eaLnBrk="1" fontAlgn="auto" latinLnBrk="0" hangingPunct="1">
              <a:lnSpc>
                <a:spcPct val="100000"/>
              </a:lnSpc>
              <a:spcBef>
                <a:spcPts val="0"/>
              </a:spcBef>
              <a:spcAft>
                <a:spcPts val="0"/>
              </a:spcAft>
              <a:buClr>
                <a:srgbClr val="202020"/>
              </a:buClr>
              <a:buSzTx/>
              <a:buFont typeface="+mj-ea"/>
              <a:buAutoNum type="circleNumDbPlain"/>
              <a:defRPr/>
            </a:pPr>
            <a:r>
              <a:rPr lang="en-US" dirty="0">
                <a:ea typeface="宋体" panose="02010600030101010101" pitchFamily="2" charset="-122"/>
              </a:rPr>
              <a:t>ipconfig</a:t>
            </a:r>
            <a:endParaRPr lang="en-US" dirty="0">
              <a:ea typeface="宋体" panose="02010600030101010101" pitchFamily="2" charset="-122"/>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en-US" altLang="en-US" i="0" u="none" strike="noStrike" kern="1200" cap="none" spc="0" normalizeH="0" baseline="0" noProof="0" dirty="0">
              <a:ln>
                <a:noFill/>
              </a:ln>
              <a:effectLst/>
              <a:uLnTx/>
              <a:uFillTx/>
              <a:latin typeface="思源黑体 CN Bold" panose="020B0800000000000000" pitchFamily="34" charset="-122"/>
              <a:ea typeface="宋体" panose="02010600030101010101" pitchFamily="2" charset="-122"/>
              <a:sym typeface="思源黑体 CN Light" panose="020B0300000000000000" pitchFamily="34" charset="-122"/>
            </a:endParaRPr>
          </a:p>
        </p:txBody>
      </p:sp>
      <p:sp>
        <p:nvSpPr>
          <p:cNvPr id="7" name="矩形 6"/>
          <p:cNvSpPr/>
          <p:nvPr/>
        </p:nvSpPr>
        <p:spPr>
          <a:xfrm>
            <a:off x="1316990" y="4735195"/>
            <a:ext cx="9719310" cy="368300"/>
          </a:xfrm>
          <a:prstGeom prst="rect">
            <a:avLst/>
          </a:prstGeom>
          <a:noFill/>
        </p:spPr>
        <p:txBody>
          <a:bodyPr wrap="square" rtlCol="0">
            <a:spAutoFit/>
          </a:bodyPr>
          <a:p>
            <a:pPr marL="457200" indent="-457200" eaLnBrk="1" hangingPunct="1">
              <a:lnSpc>
                <a:spcPct val="90000"/>
              </a:lnSpc>
              <a:buClr>
                <a:srgbClr val="ED7D31"/>
              </a:buClr>
              <a:buFont typeface="+mj-lt"/>
              <a:buAutoNum type="arabicPeriod" startAt="2"/>
            </a:pPr>
            <a:r>
              <a:rPr lang="zh-CN" altLang="en-US" sz="2000" dirty="0">
                <a:ea typeface="宋体" panose="02010600030101010101" pitchFamily="2" charset="-122"/>
                <a:sym typeface="+mn-ea"/>
              </a:rPr>
              <a:t>系统命令 </a:t>
            </a:r>
            <a:endParaRPr lang="zh-CN" altLang="en-US" sz="20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3" grpId="0"/>
      <p:bldP spid="3" grpId="1"/>
      <p:bldP spid="7" grpId="0"/>
      <p:bldP spid="7"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开发简单的Java应用程序</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开发Java应用程序的步骤</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pSp>
        <p:nvGrpSpPr>
          <p:cNvPr id="42" name="Group 36"/>
          <p:cNvGrpSpPr/>
          <p:nvPr/>
        </p:nvGrpSpPr>
        <p:grpSpPr bwMode="auto">
          <a:xfrm>
            <a:off x="981075" y="1419225"/>
            <a:ext cx="8352155" cy="4011930"/>
            <a:chOff x="550" y="1434"/>
            <a:chExt cx="4752" cy="2112"/>
          </a:xfrm>
        </p:grpSpPr>
        <p:sp>
          <p:nvSpPr>
            <p:cNvPr id="43" name="Line 11"/>
            <p:cNvSpPr>
              <a:spLocks noChangeShapeType="1"/>
            </p:cNvSpPr>
            <p:nvPr/>
          </p:nvSpPr>
          <p:spPr bwMode="gray">
            <a:xfrm flipH="1">
              <a:off x="550" y="3541"/>
              <a:ext cx="1044" cy="1"/>
            </a:xfrm>
            <a:prstGeom prst="line">
              <a:avLst/>
            </a:prstGeom>
            <a:noFill/>
            <a:ln w="9525">
              <a:solidFill>
                <a:schemeClr val="tx1"/>
              </a:solidFill>
              <a:round/>
            </a:ln>
            <a:effectLst/>
          </p:spPr>
          <p:txBody>
            <a:bodyPr wrap="none" anchor="ctr"/>
            <a:lstStyle/>
            <a:p>
              <a:endParaRPr lang="zh-CN" altLang="en-US"/>
            </a:p>
          </p:txBody>
        </p:sp>
        <p:sp>
          <p:nvSpPr>
            <p:cNvPr id="44" name="Line 12"/>
            <p:cNvSpPr>
              <a:spLocks noChangeShapeType="1"/>
            </p:cNvSpPr>
            <p:nvPr/>
          </p:nvSpPr>
          <p:spPr bwMode="gray">
            <a:xfrm flipH="1">
              <a:off x="550" y="3013"/>
              <a:ext cx="1536" cy="0"/>
            </a:xfrm>
            <a:prstGeom prst="line">
              <a:avLst/>
            </a:prstGeom>
            <a:noFill/>
            <a:ln w="9525">
              <a:solidFill>
                <a:schemeClr val="tx1"/>
              </a:solidFill>
              <a:round/>
            </a:ln>
            <a:effectLst/>
          </p:spPr>
          <p:txBody>
            <a:bodyPr wrap="none" anchor="ctr"/>
            <a:lstStyle/>
            <a:p>
              <a:endParaRPr lang="zh-CN" altLang="en-US"/>
            </a:p>
          </p:txBody>
        </p:sp>
        <p:sp>
          <p:nvSpPr>
            <p:cNvPr id="45" name="Line 13"/>
            <p:cNvSpPr>
              <a:spLocks noChangeShapeType="1"/>
            </p:cNvSpPr>
            <p:nvPr/>
          </p:nvSpPr>
          <p:spPr bwMode="gray">
            <a:xfrm flipH="1">
              <a:off x="550" y="2490"/>
              <a:ext cx="2112" cy="0"/>
            </a:xfrm>
            <a:prstGeom prst="line">
              <a:avLst/>
            </a:prstGeom>
            <a:noFill/>
            <a:ln w="9525">
              <a:solidFill>
                <a:schemeClr val="tx1"/>
              </a:solidFill>
              <a:round/>
            </a:ln>
            <a:effectLst/>
          </p:spPr>
          <p:txBody>
            <a:bodyPr wrap="none" anchor="ctr"/>
            <a:lstStyle/>
            <a:p>
              <a:endParaRPr lang="zh-CN" altLang="en-US"/>
            </a:p>
          </p:txBody>
        </p:sp>
        <p:sp>
          <p:nvSpPr>
            <p:cNvPr id="46" name="Line 14"/>
            <p:cNvSpPr>
              <a:spLocks noChangeShapeType="1"/>
            </p:cNvSpPr>
            <p:nvPr/>
          </p:nvSpPr>
          <p:spPr bwMode="gray">
            <a:xfrm flipH="1">
              <a:off x="550" y="1968"/>
              <a:ext cx="2624" cy="0"/>
            </a:xfrm>
            <a:prstGeom prst="line">
              <a:avLst/>
            </a:prstGeom>
            <a:noFill/>
            <a:ln w="9525">
              <a:solidFill>
                <a:schemeClr val="tx1"/>
              </a:solidFill>
              <a:round/>
            </a:ln>
            <a:effectLst/>
          </p:spPr>
          <p:txBody>
            <a:bodyPr wrap="none" anchor="ctr"/>
            <a:lstStyle/>
            <a:p>
              <a:endParaRPr lang="zh-CN" altLang="en-US"/>
            </a:p>
          </p:txBody>
        </p:sp>
        <p:sp>
          <p:nvSpPr>
            <p:cNvPr id="47" name="Line 15"/>
            <p:cNvSpPr>
              <a:spLocks noChangeShapeType="1"/>
            </p:cNvSpPr>
            <p:nvPr/>
          </p:nvSpPr>
          <p:spPr bwMode="gray">
            <a:xfrm flipH="1" flipV="1">
              <a:off x="550" y="1438"/>
              <a:ext cx="3171" cy="0"/>
            </a:xfrm>
            <a:prstGeom prst="line">
              <a:avLst/>
            </a:prstGeom>
            <a:noFill/>
            <a:ln w="9525">
              <a:solidFill>
                <a:schemeClr val="tx1"/>
              </a:solidFill>
              <a:round/>
            </a:ln>
            <a:effectLst/>
          </p:spPr>
          <p:txBody>
            <a:bodyPr wrap="none" anchor="ctr"/>
            <a:lstStyle/>
            <a:p>
              <a:endParaRPr lang="zh-CN" altLang="en-US"/>
            </a:p>
          </p:txBody>
        </p:sp>
        <p:sp>
          <p:nvSpPr>
            <p:cNvPr id="48" name="Line 16"/>
            <p:cNvSpPr>
              <a:spLocks noChangeShapeType="1"/>
            </p:cNvSpPr>
            <p:nvPr/>
          </p:nvSpPr>
          <p:spPr bwMode="gray">
            <a:xfrm>
              <a:off x="646" y="1434"/>
              <a:ext cx="0" cy="549"/>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49" name="Line 17"/>
            <p:cNvSpPr>
              <a:spLocks noChangeShapeType="1"/>
            </p:cNvSpPr>
            <p:nvPr/>
          </p:nvSpPr>
          <p:spPr bwMode="gray">
            <a:xfrm>
              <a:off x="646" y="1983"/>
              <a:ext cx="0" cy="515"/>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50" name="Line 18"/>
            <p:cNvSpPr>
              <a:spLocks noChangeShapeType="1"/>
            </p:cNvSpPr>
            <p:nvPr/>
          </p:nvSpPr>
          <p:spPr bwMode="gray">
            <a:xfrm>
              <a:off x="646" y="2498"/>
              <a:ext cx="0" cy="514"/>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51" name="Line 19"/>
            <p:cNvSpPr>
              <a:spLocks noChangeShapeType="1"/>
            </p:cNvSpPr>
            <p:nvPr/>
          </p:nvSpPr>
          <p:spPr bwMode="gray">
            <a:xfrm>
              <a:off x="646" y="3013"/>
              <a:ext cx="0" cy="514"/>
            </a:xfrm>
            <a:prstGeom prst="line">
              <a:avLst/>
            </a:prstGeom>
            <a:noFill/>
            <a:ln w="9525">
              <a:solidFill>
                <a:schemeClr val="tx1"/>
              </a:solidFill>
              <a:round/>
              <a:headEnd type="triangle" w="med" len="med"/>
              <a:tailEnd type="triangle" w="med" len="med"/>
            </a:ln>
            <a:effectLst/>
          </p:spPr>
          <p:txBody>
            <a:bodyPr wrap="none" anchor="ctr"/>
            <a:lstStyle/>
            <a:p>
              <a:endParaRPr lang="zh-CN" altLang="en-US"/>
            </a:p>
          </p:txBody>
        </p:sp>
        <p:sp>
          <p:nvSpPr>
            <p:cNvPr id="52" name="Text Box 26"/>
            <p:cNvSpPr txBox="1">
              <a:spLocks noChangeArrowheads="1"/>
            </p:cNvSpPr>
            <p:nvPr/>
          </p:nvSpPr>
          <p:spPr bwMode="gray">
            <a:xfrm>
              <a:off x="742" y="1638"/>
              <a:ext cx="456" cy="161"/>
            </a:xfrm>
            <a:prstGeom prst="rect">
              <a:avLst/>
            </a:prstGeom>
            <a:noFill/>
            <a:ln w="9525">
              <a:noFill/>
              <a:miter lim="800000"/>
            </a:ln>
            <a:effectLst/>
          </p:spPr>
          <p:txBody>
            <a:bodyPr wrap="square">
              <a:spAutoFit/>
            </a:bodyPr>
            <a:lstStyle/>
            <a:p>
              <a:pPr eaLnBrk="0" hangingPunct="0"/>
              <a:r>
                <a:rPr lang="zh-CN" altLang="en-US" sz="1400" dirty="0" smtClean="0">
                  <a:solidFill>
                    <a:schemeClr val="tx2"/>
                  </a:solidFill>
                  <a:latin typeface="Verdana" panose="020B0604030504040204" pitchFamily="34" charset="0"/>
                  <a:ea typeface="宋体" panose="02010600030101010101" pitchFamily="2" charset="-122"/>
                </a:rPr>
                <a:t>第四步</a:t>
              </a:r>
              <a:endParaRPr lang="en-US" altLang="zh-CN" sz="1400" dirty="0">
                <a:solidFill>
                  <a:schemeClr val="tx2"/>
                </a:solidFill>
                <a:latin typeface="Verdana" panose="020B0604030504040204" pitchFamily="34" charset="0"/>
                <a:ea typeface="宋体" panose="02010600030101010101" pitchFamily="2" charset="-122"/>
              </a:endParaRPr>
            </a:p>
          </p:txBody>
        </p:sp>
        <p:sp>
          <p:nvSpPr>
            <p:cNvPr id="53" name="Text Box 27"/>
            <p:cNvSpPr txBox="1">
              <a:spLocks noChangeArrowheads="1"/>
            </p:cNvSpPr>
            <p:nvPr/>
          </p:nvSpPr>
          <p:spPr bwMode="gray">
            <a:xfrm>
              <a:off x="742" y="2159"/>
              <a:ext cx="456" cy="161"/>
            </a:xfrm>
            <a:prstGeom prst="rect">
              <a:avLst/>
            </a:prstGeom>
            <a:noFill/>
            <a:ln w="9525">
              <a:noFill/>
              <a:miter lim="800000"/>
            </a:ln>
            <a:effectLst/>
          </p:spPr>
          <p:txBody>
            <a:bodyPr wrap="square">
              <a:spAutoFit/>
            </a:bodyPr>
            <a:lstStyle/>
            <a:p>
              <a:pPr eaLnBrk="0" hangingPunct="0"/>
              <a:r>
                <a:rPr lang="zh-CN" altLang="en-US" sz="1400" dirty="0" smtClean="0">
                  <a:solidFill>
                    <a:schemeClr val="tx2"/>
                  </a:solidFill>
                  <a:latin typeface="Verdana" panose="020B0604030504040204" pitchFamily="34" charset="0"/>
                  <a:ea typeface="宋体" panose="02010600030101010101" pitchFamily="2" charset="-122"/>
                </a:rPr>
                <a:t>第三步</a:t>
              </a:r>
              <a:endParaRPr lang="en-US" altLang="zh-CN" sz="1400" dirty="0">
                <a:solidFill>
                  <a:schemeClr val="tx2"/>
                </a:solidFill>
                <a:latin typeface="Verdana" panose="020B0604030504040204" pitchFamily="34" charset="0"/>
                <a:ea typeface="宋体" panose="02010600030101010101" pitchFamily="2" charset="-122"/>
              </a:endParaRPr>
            </a:p>
          </p:txBody>
        </p:sp>
        <p:sp>
          <p:nvSpPr>
            <p:cNvPr id="54" name="Text Box 28"/>
            <p:cNvSpPr txBox="1">
              <a:spLocks noChangeArrowheads="1"/>
            </p:cNvSpPr>
            <p:nvPr/>
          </p:nvSpPr>
          <p:spPr bwMode="gray">
            <a:xfrm>
              <a:off x="742" y="2703"/>
              <a:ext cx="456" cy="161"/>
            </a:xfrm>
            <a:prstGeom prst="rect">
              <a:avLst/>
            </a:prstGeom>
            <a:noFill/>
            <a:ln w="9525">
              <a:noFill/>
              <a:miter lim="800000"/>
            </a:ln>
            <a:effectLst/>
          </p:spPr>
          <p:txBody>
            <a:bodyPr wrap="square">
              <a:spAutoFit/>
            </a:bodyPr>
            <a:lstStyle/>
            <a:p>
              <a:pPr eaLnBrk="0" hangingPunct="0"/>
              <a:r>
                <a:rPr lang="zh-CN" altLang="en-US" sz="1400" dirty="0" smtClean="0">
                  <a:solidFill>
                    <a:schemeClr val="tx2"/>
                  </a:solidFill>
                  <a:latin typeface="Verdana" panose="020B0604030504040204" pitchFamily="34" charset="0"/>
                  <a:ea typeface="宋体" panose="02010600030101010101" pitchFamily="2" charset="-122"/>
                </a:rPr>
                <a:t>第二步</a:t>
              </a:r>
              <a:endParaRPr lang="en-US" altLang="zh-CN" sz="1400" dirty="0">
                <a:solidFill>
                  <a:schemeClr val="tx2"/>
                </a:solidFill>
                <a:latin typeface="Verdana" panose="020B0604030504040204" pitchFamily="34" charset="0"/>
                <a:ea typeface="宋体" panose="02010600030101010101" pitchFamily="2" charset="-122"/>
              </a:endParaRPr>
            </a:p>
          </p:txBody>
        </p:sp>
        <p:sp>
          <p:nvSpPr>
            <p:cNvPr id="55" name="Text Box 29"/>
            <p:cNvSpPr txBox="1">
              <a:spLocks noChangeArrowheads="1"/>
            </p:cNvSpPr>
            <p:nvPr/>
          </p:nvSpPr>
          <p:spPr bwMode="gray">
            <a:xfrm>
              <a:off x="742" y="3211"/>
              <a:ext cx="456" cy="161"/>
            </a:xfrm>
            <a:prstGeom prst="rect">
              <a:avLst/>
            </a:prstGeom>
            <a:noFill/>
            <a:ln w="9525">
              <a:noFill/>
              <a:miter lim="800000"/>
            </a:ln>
            <a:effectLst/>
          </p:spPr>
          <p:txBody>
            <a:bodyPr wrap="square">
              <a:spAutoFit/>
            </a:bodyPr>
            <a:lstStyle/>
            <a:p>
              <a:pPr eaLnBrk="0" hangingPunct="0"/>
              <a:r>
                <a:rPr lang="zh-CN" altLang="en-US" sz="1400" dirty="0" smtClean="0">
                  <a:solidFill>
                    <a:schemeClr val="tx2"/>
                  </a:solidFill>
                  <a:latin typeface="Verdana" panose="020B0604030504040204" pitchFamily="34" charset="0"/>
                  <a:ea typeface="宋体" panose="02010600030101010101" pitchFamily="2" charset="-122"/>
                </a:rPr>
                <a:t>第一步</a:t>
              </a:r>
              <a:endParaRPr lang="en-US" altLang="zh-CN" sz="1400" dirty="0">
                <a:solidFill>
                  <a:schemeClr val="tx2"/>
                </a:solidFill>
                <a:latin typeface="Verdana" panose="020B0604030504040204" pitchFamily="34" charset="0"/>
                <a:ea typeface="宋体" panose="02010600030101010101" pitchFamily="2" charset="-122"/>
              </a:endParaRPr>
            </a:p>
          </p:txBody>
        </p:sp>
        <p:grpSp>
          <p:nvGrpSpPr>
            <p:cNvPr id="56" name="Group 34"/>
            <p:cNvGrpSpPr/>
            <p:nvPr/>
          </p:nvGrpSpPr>
          <p:grpSpPr bwMode="auto">
            <a:xfrm>
              <a:off x="1632" y="1440"/>
              <a:ext cx="3670" cy="2106"/>
              <a:chOff x="1514" y="1446"/>
              <a:chExt cx="3670" cy="2106"/>
            </a:xfrm>
          </p:grpSpPr>
          <p:sp>
            <p:nvSpPr>
              <p:cNvPr id="57" name="Freeform 4"/>
              <p:cNvSpPr/>
              <p:nvPr/>
            </p:nvSpPr>
            <p:spPr bwMode="gray">
              <a:xfrm>
                <a:off x="4817" y="1446"/>
                <a:ext cx="363" cy="533"/>
              </a:xfrm>
              <a:custGeom>
                <a:avLst/>
                <a:gdLst/>
                <a:ahLst/>
                <a:cxnLst>
                  <a:cxn ang="0">
                    <a:pos x="308" y="120"/>
                  </a:cxn>
                  <a:cxn ang="0">
                    <a:pos x="0" y="444"/>
                  </a:cxn>
                  <a:cxn ang="0">
                    <a:pos x="0" y="286"/>
                  </a:cxn>
                  <a:cxn ang="0">
                    <a:pos x="308" y="0"/>
                  </a:cxn>
                  <a:cxn ang="0">
                    <a:pos x="308" y="120"/>
                  </a:cxn>
                </a:cxnLst>
                <a:rect l="0" t="0" r="r" b="b"/>
                <a:pathLst>
                  <a:path w="308" h="444">
                    <a:moveTo>
                      <a:pt x="308" y="120"/>
                    </a:moveTo>
                    <a:lnTo>
                      <a:pt x="0" y="444"/>
                    </a:lnTo>
                    <a:lnTo>
                      <a:pt x="0" y="286"/>
                    </a:lnTo>
                    <a:lnTo>
                      <a:pt x="308" y="0"/>
                    </a:lnTo>
                    <a:lnTo>
                      <a:pt x="308" y="120"/>
                    </a:lnTo>
                    <a:close/>
                  </a:path>
                </a:pathLst>
              </a:custGeom>
              <a:gradFill rotWithShape="1">
                <a:gsLst>
                  <a:gs pos="0">
                    <a:srgbClr val="00563F">
                      <a:gamma/>
                      <a:shade val="46275"/>
                      <a:invGamma/>
                    </a:srgbClr>
                  </a:gs>
                  <a:gs pos="50000">
                    <a:srgbClr val="00563F"/>
                  </a:gs>
                  <a:gs pos="100000">
                    <a:srgbClr val="00563F">
                      <a:gamma/>
                      <a:shade val="46275"/>
                      <a:invGamma/>
                    </a:srgbClr>
                  </a:gs>
                </a:gsLst>
                <a:lin ang="2700000" scaled="1"/>
              </a:gradFill>
              <a:ln w="0">
                <a:noFill/>
                <a:prstDash val="solid"/>
                <a:round/>
              </a:ln>
            </p:spPr>
            <p:txBody>
              <a:bodyPr/>
              <a:lstStyle/>
              <a:p>
                <a:endParaRPr lang="zh-CN" altLang="en-US"/>
              </a:p>
            </p:txBody>
          </p:sp>
          <p:sp>
            <p:nvSpPr>
              <p:cNvPr id="58" name="Freeform 5"/>
              <p:cNvSpPr/>
              <p:nvPr/>
            </p:nvSpPr>
            <p:spPr bwMode="gray">
              <a:xfrm>
                <a:off x="3078" y="1446"/>
                <a:ext cx="2106" cy="341"/>
              </a:xfrm>
              <a:custGeom>
                <a:avLst/>
                <a:gdLst/>
                <a:ahLst/>
                <a:cxnLst>
                  <a:cxn ang="0">
                    <a:pos x="1478" y="284"/>
                  </a:cxn>
                  <a:cxn ang="0">
                    <a:pos x="0" y="284"/>
                  </a:cxn>
                  <a:cxn ang="0">
                    <a:pos x="446" y="0"/>
                  </a:cxn>
                  <a:cxn ang="0">
                    <a:pos x="1786" y="0"/>
                  </a:cxn>
                  <a:cxn ang="0">
                    <a:pos x="1478" y="284"/>
                  </a:cxn>
                </a:cxnLst>
                <a:rect l="0" t="0" r="r" b="b"/>
                <a:pathLst>
                  <a:path w="1786" h="284">
                    <a:moveTo>
                      <a:pt x="1478" y="284"/>
                    </a:moveTo>
                    <a:lnTo>
                      <a:pt x="0" y="284"/>
                    </a:lnTo>
                    <a:lnTo>
                      <a:pt x="446" y="0"/>
                    </a:lnTo>
                    <a:lnTo>
                      <a:pt x="1786" y="0"/>
                    </a:lnTo>
                    <a:lnTo>
                      <a:pt x="1478" y="284"/>
                    </a:lnTo>
                    <a:close/>
                  </a:path>
                </a:pathLst>
              </a:custGeom>
              <a:solidFill>
                <a:srgbClr val="00CC99"/>
              </a:solidFill>
              <a:ln w="0">
                <a:noFill/>
                <a:prstDash val="solid"/>
                <a:round/>
              </a:ln>
            </p:spPr>
            <p:txBody>
              <a:bodyPr/>
              <a:lstStyle/>
              <a:p>
                <a:endParaRPr lang="zh-CN" altLang="en-US"/>
              </a:p>
            </p:txBody>
          </p:sp>
          <p:sp>
            <p:nvSpPr>
              <p:cNvPr id="59" name="Freeform 6"/>
              <p:cNvSpPr/>
              <p:nvPr/>
            </p:nvSpPr>
            <p:spPr bwMode="gray">
              <a:xfrm>
                <a:off x="4452" y="1970"/>
                <a:ext cx="363" cy="530"/>
              </a:xfrm>
              <a:custGeom>
                <a:avLst/>
                <a:gdLst/>
                <a:ahLst/>
                <a:cxnLst>
                  <a:cxn ang="0">
                    <a:pos x="308" y="120"/>
                  </a:cxn>
                  <a:cxn ang="0">
                    <a:pos x="0" y="442"/>
                  </a:cxn>
                  <a:cxn ang="0">
                    <a:pos x="0" y="286"/>
                  </a:cxn>
                  <a:cxn ang="0">
                    <a:pos x="308" y="0"/>
                  </a:cxn>
                  <a:cxn ang="0">
                    <a:pos x="308" y="120"/>
                  </a:cxn>
                </a:cxnLst>
                <a:rect l="0" t="0" r="r" b="b"/>
                <a:pathLst>
                  <a:path w="308" h="442">
                    <a:moveTo>
                      <a:pt x="308" y="120"/>
                    </a:moveTo>
                    <a:lnTo>
                      <a:pt x="0" y="442"/>
                    </a:lnTo>
                    <a:lnTo>
                      <a:pt x="0" y="286"/>
                    </a:lnTo>
                    <a:lnTo>
                      <a:pt x="308" y="0"/>
                    </a:lnTo>
                    <a:lnTo>
                      <a:pt x="308" y="120"/>
                    </a:lnTo>
                    <a:close/>
                  </a:path>
                </a:pathLst>
              </a:custGeom>
              <a:gradFill rotWithShape="1">
                <a:gsLst>
                  <a:gs pos="0">
                    <a:srgbClr val="4B1092">
                      <a:gamma/>
                      <a:shade val="46275"/>
                      <a:invGamma/>
                    </a:srgbClr>
                  </a:gs>
                  <a:gs pos="50000">
                    <a:srgbClr val="4B1092"/>
                  </a:gs>
                  <a:gs pos="100000">
                    <a:srgbClr val="4B1092">
                      <a:gamma/>
                      <a:shade val="46275"/>
                      <a:invGamma/>
                    </a:srgbClr>
                  </a:gs>
                </a:gsLst>
                <a:lin ang="2700000" scaled="1"/>
              </a:gradFill>
              <a:ln w="0">
                <a:noFill/>
                <a:prstDash val="solid"/>
                <a:round/>
              </a:ln>
            </p:spPr>
            <p:txBody>
              <a:bodyPr/>
              <a:lstStyle/>
              <a:p>
                <a:endParaRPr lang="zh-CN" altLang="en-US"/>
              </a:p>
            </p:txBody>
          </p:sp>
          <p:sp>
            <p:nvSpPr>
              <p:cNvPr id="60" name="Freeform 7"/>
              <p:cNvSpPr/>
              <p:nvPr/>
            </p:nvSpPr>
            <p:spPr bwMode="gray">
              <a:xfrm>
                <a:off x="2555" y="1970"/>
                <a:ext cx="2264" cy="340"/>
              </a:xfrm>
              <a:custGeom>
                <a:avLst/>
                <a:gdLst/>
                <a:ahLst/>
                <a:cxnLst>
                  <a:cxn ang="0">
                    <a:pos x="1612" y="284"/>
                  </a:cxn>
                  <a:cxn ang="0">
                    <a:pos x="0" y="284"/>
                  </a:cxn>
                  <a:cxn ang="0">
                    <a:pos x="446" y="0"/>
                  </a:cxn>
                  <a:cxn ang="0">
                    <a:pos x="1920" y="0"/>
                  </a:cxn>
                  <a:cxn ang="0">
                    <a:pos x="1612" y="284"/>
                  </a:cxn>
                </a:cxnLst>
                <a:rect l="0" t="0" r="r" b="b"/>
                <a:pathLst>
                  <a:path w="1920" h="284">
                    <a:moveTo>
                      <a:pt x="1612" y="284"/>
                    </a:moveTo>
                    <a:lnTo>
                      <a:pt x="0" y="284"/>
                    </a:lnTo>
                    <a:lnTo>
                      <a:pt x="446" y="0"/>
                    </a:lnTo>
                    <a:lnTo>
                      <a:pt x="1920" y="0"/>
                    </a:lnTo>
                    <a:lnTo>
                      <a:pt x="1612" y="284"/>
                    </a:lnTo>
                    <a:close/>
                  </a:path>
                </a:pathLst>
              </a:custGeom>
              <a:solidFill>
                <a:srgbClr val="A77BFF"/>
              </a:solidFill>
              <a:ln w="0">
                <a:noFill/>
                <a:prstDash val="solid"/>
                <a:round/>
              </a:ln>
            </p:spPr>
            <p:txBody>
              <a:bodyPr/>
              <a:lstStyle/>
              <a:p>
                <a:endParaRPr lang="zh-CN" altLang="en-US"/>
              </a:p>
            </p:txBody>
          </p:sp>
          <p:sp>
            <p:nvSpPr>
              <p:cNvPr id="61" name="Freeform 8"/>
              <p:cNvSpPr/>
              <p:nvPr/>
            </p:nvSpPr>
            <p:spPr bwMode="gray">
              <a:xfrm>
                <a:off x="4086" y="2494"/>
                <a:ext cx="361" cy="532"/>
              </a:xfrm>
              <a:custGeom>
                <a:avLst/>
                <a:gdLst/>
                <a:ahLst/>
                <a:cxnLst>
                  <a:cxn ang="0">
                    <a:pos x="306" y="122"/>
                  </a:cxn>
                  <a:cxn ang="0">
                    <a:pos x="0" y="444"/>
                  </a:cxn>
                  <a:cxn ang="0">
                    <a:pos x="0" y="286"/>
                  </a:cxn>
                  <a:cxn ang="0">
                    <a:pos x="306" y="0"/>
                  </a:cxn>
                  <a:cxn ang="0">
                    <a:pos x="306" y="122"/>
                  </a:cxn>
                </a:cxnLst>
                <a:rect l="0" t="0" r="r" b="b"/>
                <a:pathLst>
                  <a:path w="306" h="444">
                    <a:moveTo>
                      <a:pt x="306" y="122"/>
                    </a:moveTo>
                    <a:lnTo>
                      <a:pt x="0" y="444"/>
                    </a:lnTo>
                    <a:lnTo>
                      <a:pt x="0" y="286"/>
                    </a:lnTo>
                    <a:lnTo>
                      <a:pt x="306" y="0"/>
                    </a:lnTo>
                    <a:lnTo>
                      <a:pt x="306" y="122"/>
                    </a:lnTo>
                    <a:close/>
                  </a:path>
                </a:pathLst>
              </a:custGeom>
              <a:gradFill rotWithShape="1">
                <a:gsLst>
                  <a:gs pos="0">
                    <a:srgbClr val="90330A">
                      <a:gamma/>
                      <a:shade val="46275"/>
                      <a:invGamma/>
                    </a:srgbClr>
                  </a:gs>
                  <a:gs pos="50000">
                    <a:srgbClr val="90330A"/>
                  </a:gs>
                  <a:gs pos="100000">
                    <a:srgbClr val="90330A">
                      <a:gamma/>
                      <a:shade val="46275"/>
                      <a:invGamma/>
                    </a:srgbClr>
                  </a:gs>
                </a:gsLst>
                <a:lin ang="2700000" scaled="1"/>
              </a:gradFill>
              <a:ln w="0">
                <a:noFill/>
                <a:prstDash val="solid"/>
                <a:round/>
              </a:ln>
            </p:spPr>
            <p:txBody>
              <a:bodyPr/>
              <a:lstStyle/>
              <a:p>
                <a:endParaRPr lang="zh-CN" altLang="en-US"/>
              </a:p>
            </p:txBody>
          </p:sp>
          <p:sp>
            <p:nvSpPr>
              <p:cNvPr id="62" name="Freeform 9"/>
              <p:cNvSpPr/>
              <p:nvPr/>
            </p:nvSpPr>
            <p:spPr bwMode="gray">
              <a:xfrm>
                <a:off x="3722" y="3019"/>
                <a:ext cx="364" cy="533"/>
              </a:xfrm>
              <a:custGeom>
                <a:avLst/>
                <a:gdLst/>
                <a:ahLst/>
                <a:cxnLst>
                  <a:cxn ang="0">
                    <a:pos x="308" y="122"/>
                  </a:cxn>
                  <a:cxn ang="0">
                    <a:pos x="0" y="444"/>
                  </a:cxn>
                  <a:cxn ang="0">
                    <a:pos x="0" y="286"/>
                  </a:cxn>
                  <a:cxn ang="0">
                    <a:pos x="308" y="0"/>
                  </a:cxn>
                  <a:cxn ang="0">
                    <a:pos x="308" y="122"/>
                  </a:cxn>
                </a:cxnLst>
                <a:rect l="0" t="0" r="r" b="b"/>
                <a:pathLst>
                  <a:path w="308" h="444">
                    <a:moveTo>
                      <a:pt x="308" y="122"/>
                    </a:moveTo>
                    <a:lnTo>
                      <a:pt x="0" y="444"/>
                    </a:lnTo>
                    <a:lnTo>
                      <a:pt x="0" y="286"/>
                    </a:lnTo>
                    <a:lnTo>
                      <a:pt x="308" y="0"/>
                    </a:lnTo>
                    <a:lnTo>
                      <a:pt x="308" y="122"/>
                    </a:lnTo>
                    <a:close/>
                  </a:path>
                </a:pathLst>
              </a:custGeom>
              <a:gradFill rotWithShape="1">
                <a:gsLst>
                  <a:gs pos="0">
                    <a:srgbClr val="906B0E">
                      <a:gamma/>
                      <a:shade val="46275"/>
                      <a:invGamma/>
                    </a:srgbClr>
                  </a:gs>
                  <a:gs pos="50000">
                    <a:srgbClr val="906B0E"/>
                  </a:gs>
                  <a:gs pos="100000">
                    <a:srgbClr val="906B0E">
                      <a:gamma/>
                      <a:shade val="46275"/>
                      <a:invGamma/>
                    </a:srgbClr>
                  </a:gs>
                </a:gsLst>
                <a:lin ang="2700000" scaled="1"/>
              </a:gradFill>
              <a:ln w="0">
                <a:noFill/>
                <a:prstDash val="solid"/>
                <a:round/>
              </a:ln>
            </p:spPr>
            <p:txBody>
              <a:bodyPr/>
              <a:lstStyle/>
              <a:p>
                <a:endParaRPr lang="zh-CN" altLang="en-US"/>
              </a:p>
            </p:txBody>
          </p:sp>
          <p:sp>
            <p:nvSpPr>
              <p:cNvPr id="63" name="Freeform 10"/>
              <p:cNvSpPr/>
              <p:nvPr/>
            </p:nvSpPr>
            <p:spPr bwMode="gray">
              <a:xfrm>
                <a:off x="1515" y="3022"/>
                <a:ext cx="2571" cy="340"/>
              </a:xfrm>
              <a:custGeom>
                <a:avLst/>
                <a:gdLst/>
                <a:ahLst/>
                <a:cxnLst>
                  <a:cxn ang="0">
                    <a:pos x="1872" y="284"/>
                  </a:cxn>
                  <a:cxn ang="0">
                    <a:pos x="0" y="284"/>
                  </a:cxn>
                  <a:cxn ang="0">
                    <a:pos x="446" y="0"/>
                  </a:cxn>
                  <a:cxn ang="0">
                    <a:pos x="2180" y="0"/>
                  </a:cxn>
                  <a:cxn ang="0">
                    <a:pos x="1872" y="284"/>
                  </a:cxn>
                </a:cxnLst>
                <a:rect l="0" t="0" r="r" b="b"/>
                <a:pathLst>
                  <a:path w="2180" h="284">
                    <a:moveTo>
                      <a:pt x="1872" y="284"/>
                    </a:moveTo>
                    <a:lnTo>
                      <a:pt x="0" y="284"/>
                    </a:lnTo>
                    <a:lnTo>
                      <a:pt x="446" y="0"/>
                    </a:lnTo>
                    <a:lnTo>
                      <a:pt x="2180" y="0"/>
                    </a:lnTo>
                    <a:lnTo>
                      <a:pt x="1872" y="284"/>
                    </a:lnTo>
                    <a:close/>
                  </a:path>
                </a:pathLst>
              </a:custGeom>
              <a:solidFill>
                <a:srgbClr val="F2E160"/>
              </a:solidFill>
              <a:ln w="0">
                <a:noFill/>
                <a:prstDash val="solid"/>
                <a:round/>
              </a:ln>
            </p:spPr>
            <p:txBody>
              <a:bodyPr/>
              <a:lstStyle/>
              <a:p>
                <a:endParaRPr lang="zh-CN" altLang="en-US"/>
              </a:p>
            </p:txBody>
          </p:sp>
          <p:sp>
            <p:nvSpPr>
              <p:cNvPr id="64" name="Freeform 20"/>
              <p:cNvSpPr/>
              <p:nvPr/>
            </p:nvSpPr>
            <p:spPr bwMode="gray">
              <a:xfrm>
                <a:off x="1888" y="1543"/>
                <a:ext cx="1158" cy="1715"/>
              </a:xfrm>
              <a:custGeom>
                <a:avLst/>
                <a:gdLst/>
                <a:ahLst/>
                <a:cxnLst>
                  <a:cxn ang="0">
                    <a:pos x="12" y="2464"/>
                  </a:cxn>
                  <a:cxn ang="0">
                    <a:pos x="56" y="2120"/>
                  </a:cxn>
                  <a:cxn ang="0">
                    <a:pos x="124" y="1808"/>
                  </a:cxn>
                  <a:cxn ang="0">
                    <a:pos x="212" y="1524"/>
                  </a:cxn>
                  <a:cxn ang="0">
                    <a:pos x="316" y="1270"/>
                  </a:cxn>
                  <a:cxn ang="0">
                    <a:pos x="430" y="1044"/>
                  </a:cxn>
                  <a:cxn ang="0">
                    <a:pos x="550" y="846"/>
                  </a:cxn>
                  <a:cxn ang="0">
                    <a:pos x="672" y="674"/>
                  </a:cxn>
                  <a:cxn ang="0">
                    <a:pos x="792" y="528"/>
                  </a:cxn>
                  <a:cxn ang="0">
                    <a:pos x="906" y="408"/>
                  </a:cxn>
                  <a:cxn ang="0">
                    <a:pos x="1010" y="310"/>
                  </a:cxn>
                  <a:cxn ang="0">
                    <a:pos x="1096" y="236"/>
                  </a:cxn>
                  <a:cxn ang="0">
                    <a:pos x="1164" y="184"/>
                  </a:cxn>
                  <a:cxn ang="0">
                    <a:pos x="1208" y="154"/>
                  </a:cxn>
                  <a:cxn ang="0">
                    <a:pos x="1224" y="144"/>
                  </a:cxn>
                  <a:cxn ang="0">
                    <a:pos x="1728" y="56"/>
                  </a:cxn>
                  <a:cxn ang="0">
                    <a:pos x="1568" y="328"/>
                  </a:cxn>
                  <a:cxn ang="0">
                    <a:pos x="1554" y="332"/>
                  </a:cxn>
                  <a:cxn ang="0">
                    <a:pos x="1514" y="346"/>
                  </a:cxn>
                  <a:cxn ang="0">
                    <a:pos x="1452" y="370"/>
                  </a:cxn>
                  <a:cxn ang="0">
                    <a:pos x="1370" y="410"/>
                  </a:cxn>
                  <a:cxn ang="0">
                    <a:pos x="1270" y="466"/>
                  </a:cxn>
                  <a:cxn ang="0">
                    <a:pos x="1158" y="540"/>
                  </a:cxn>
                  <a:cxn ang="0">
                    <a:pos x="1034" y="636"/>
                  </a:cxn>
                  <a:cxn ang="0">
                    <a:pos x="904" y="756"/>
                  </a:cxn>
                  <a:cxn ang="0">
                    <a:pos x="770" y="900"/>
                  </a:cxn>
                  <a:cxn ang="0">
                    <a:pos x="632" y="1076"/>
                  </a:cxn>
                  <a:cxn ang="0">
                    <a:pos x="498" y="1280"/>
                  </a:cxn>
                  <a:cxn ang="0">
                    <a:pos x="370" y="1518"/>
                  </a:cxn>
                  <a:cxn ang="0">
                    <a:pos x="248" y="1792"/>
                  </a:cxn>
                  <a:cxn ang="0">
                    <a:pos x="138" y="2104"/>
                  </a:cxn>
                  <a:cxn ang="0">
                    <a:pos x="42" y="2456"/>
                  </a:cxn>
                </a:cxnLst>
                <a:rect l="0" t="0" r="r" b="b"/>
                <a:pathLst>
                  <a:path w="1824" h="2648">
                    <a:moveTo>
                      <a:pt x="0" y="2648"/>
                    </a:moveTo>
                    <a:lnTo>
                      <a:pt x="12" y="2464"/>
                    </a:lnTo>
                    <a:lnTo>
                      <a:pt x="32" y="2288"/>
                    </a:lnTo>
                    <a:lnTo>
                      <a:pt x="56" y="2120"/>
                    </a:lnTo>
                    <a:lnTo>
                      <a:pt x="88" y="1960"/>
                    </a:lnTo>
                    <a:lnTo>
                      <a:pt x="124" y="1808"/>
                    </a:lnTo>
                    <a:lnTo>
                      <a:pt x="166" y="1662"/>
                    </a:lnTo>
                    <a:lnTo>
                      <a:pt x="212" y="1524"/>
                    </a:lnTo>
                    <a:lnTo>
                      <a:pt x="262" y="1394"/>
                    </a:lnTo>
                    <a:lnTo>
                      <a:pt x="316" y="1270"/>
                    </a:lnTo>
                    <a:lnTo>
                      <a:pt x="372" y="1154"/>
                    </a:lnTo>
                    <a:lnTo>
                      <a:pt x="430" y="1044"/>
                    </a:lnTo>
                    <a:lnTo>
                      <a:pt x="490" y="942"/>
                    </a:lnTo>
                    <a:lnTo>
                      <a:pt x="550" y="846"/>
                    </a:lnTo>
                    <a:lnTo>
                      <a:pt x="612" y="758"/>
                    </a:lnTo>
                    <a:lnTo>
                      <a:pt x="672" y="674"/>
                    </a:lnTo>
                    <a:lnTo>
                      <a:pt x="734" y="598"/>
                    </a:lnTo>
                    <a:lnTo>
                      <a:pt x="792" y="528"/>
                    </a:lnTo>
                    <a:lnTo>
                      <a:pt x="850" y="464"/>
                    </a:lnTo>
                    <a:lnTo>
                      <a:pt x="906" y="408"/>
                    </a:lnTo>
                    <a:lnTo>
                      <a:pt x="960" y="356"/>
                    </a:lnTo>
                    <a:lnTo>
                      <a:pt x="1010" y="310"/>
                    </a:lnTo>
                    <a:lnTo>
                      <a:pt x="1056" y="270"/>
                    </a:lnTo>
                    <a:lnTo>
                      <a:pt x="1096" y="236"/>
                    </a:lnTo>
                    <a:lnTo>
                      <a:pt x="1134" y="208"/>
                    </a:lnTo>
                    <a:lnTo>
                      <a:pt x="1164" y="184"/>
                    </a:lnTo>
                    <a:lnTo>
                      <a:pt x="1190" y="166"/>
                    </a:lnTo>
                    <a:lnTo>
                      <a:pt x="1208" y="154"/>
                    </a:lnTo>
                    <a:lnTo>
                      <a:pt x="1220" y="146"/>
                    </a:lnTo>
                    <a:lnTo>
                      <a:pt x="1224" y="144"/>
                    </a:lnTo>
                    <a:lnTo>
                      <a:pt x="848" y="0"/>
                    </a:lnTo>
                    <a:lnTo>
                      <a:pt x="1728" y="56"/>
                    </a:lnTo>
                    <a:lnTo>
                      <a:pt x="1824" y="480"/>
                    </a:lnTo>
                    <a:lnTo>
                      <a:pt x="1568" y="328"/>
                    </a:lnTo>
                    <a:lnTo>
                      <a:pt x="1564" y="328"/>
                    </a:lnTo>
                    <a:lnTo>
                      <a:pt x="1554" y="332"/>
                    </a:lnTo>
                    <a:lnTo>
                      <a:pt x="1538" y="338"/>
                    </a:lnTo>
                    <a:lnTo>
                      <a:pt x="1514" y="346"/>
                    </a:lnTo>
                    <a:lnTo>
                      <a:pt x="1486" y="356"/>
                    </a:lnTo>
                    <a:lnTo>
                      <a:pt x="1452" y="370"/>
                    </a:lnTo>
                    <a:lnTo>
                      <a:pt x="1412" y="388"/>
                    </a:lnTo>
                    <a:lnTo>
                      <a:pt x="1370" y="410"/>
                    </a:lnTo>
                    <a:lnTo>
                      <a:pt x="1322" y="436"/>
                    </a:lnTo>
                    <a:lnTo>
                      <a:pt x="1270" y="466"/>
                    </a:lnTo>
                    <a:lnTo>
                      <a:pt x="1216" y="500"/>
                    </a:lnTo>
                    <a:lnTo>
                      <a:pt x="1158" y="540"/>
                    </a:lnTo>
                    <a:lnTo>
                      <a:pt x="1098" y="584"/>
                    </a:lnTo>
                    <a:lnTo>
                      <a:pt x="1034" y="636"/>
                    </a:lnTo>
                    <a:lnTo>
                      <a:pt x="970" y="692"/>
                    </a:lnTo>
                    <a:lnTo>
                      <a:pt x="904" y="756"/>
                    </a:lnTo>
                    <a:lnTo>
                      <a:pt x="836" y="824"/>
                    </a:lnTo>
                    <a:lnTo>
                      <a:pt x="770" y="900"/>
                    </a:lnTo>
                    <a:lnTo>
                      <a:pt x="700" y="984"/>
                    </a:lnTo>
                    <a:lnTo>
                      <a:pt x="632" y="1076"/>
                    </a:lnTo>
                    <a:lnTo>
                      <a:pt x="566" y="1174"/>
                    </a:lnTo>
                    <a:lnTo>
                      <a:pt x="498" y="1280"/>
                    </a:lnTo>
                    <a:lnTo>
                      <a:pt x="434" y="1394"/>
                    </a:lnTo>
                    <a:lnTo>
                      <a:pt x="370" y="1518"/>
                    </a:lnTo>
                    <a:lnTo>
                      <a:pt x="308" y="1650"/>
                    </a:lnTo>
                    <a:lnTo>
                      <a:pt x="248" y="1792"/>
                    </a:lnTo>
                    <a:lnTo>
                      <a:pt x="192" y="1944"/>
                    </a:lnTo>
                    <a:lnTo>
                      <a:pt x="138" y="2104"/>
                    </a:lnTo>
                    <a:lnTo>
                      <a:pt x="88" y="2274"/>
                    </a:lnTo>
                    <a:lnTo>
                      <a:pt x="42" y="2456"/>
                    </a:lnTo>
                    <a:lnTo>
                      <a:pt x="0" y="2648"/>
                    </a:lnTo>
                    <a:close/>
                  </a:path>
                </a:pathLst>
              </a:custGeom>
              <a:gradFill rotWithShape="1">
                <a:gsLst>
                  <a:gs pos="0">
                    <a:srgbClr val="D11364"/>
                  </a:gs>
                  <a:gs pos="100000">
                    <a:srgbClr val="D11364">
                      <a:gamma/>
                      <a:shade val="46275"/>
                      <a:invGamma/>
                    </a:srgbClr>
                  </a:gs>
                </a:gsLst>
                <a:lin ang="5400000" scaled="1"/>
              </a:gradFill>
              <a:ln w="0">
                <a:noFill/>
                <a:prstDash val="solid"/>
                <a:round/>
              </a:ln>
            </p:spPr>
            <p:txBody>
              <a:bodyPr/>
              <a:lstStyle/>
              <a:p>
                <a:endParaRPr lang="zh-CN" altLang="en-US"/>
              </a:p>
            </p:txBody>
          </p:sp>
          <p:sp>
            <p:nvSpPr>
              <p:cNvPr id="65" name="Rectangle 21"/>
              <p:cNvSpPr>
                <a:spLocks noChangeArrowheads="1"/>
              </p:cNvSpPr>
              <p:nvPr/>
            </p:nvSpPr>
            <p:spPr bwMode="gray">
              <a:xfrm>
                <a:off x="3082" y="1787"/>
                <a:ext cx="1743" cy="192"/>
              </a:xfrm>
              <a:prstGeom prst="rect">
                <a:avLst/>
              </a:prstGeom>
              <a:gradFill rotWithShape="1">
                <a:gsLst>
                  <a:gs pos="0">
                    <a:srgbClr val="00906A">
                      <a:gamma/>
                      <a:shade val="72549"/>
                      <a:invGamma/>
                    </a:srgbClr>
                  </a:gs>
                  <a:gs pos="50000">
                    <a:srgbClr val="00906A"/>
                  </a:gs>
                  <a:gs pos="100000">
                    <a:srgbClr val="00906A">
                      <a:gamma/>
                      <a:shade val="72549"/>
                      <a:invGamma/>
                    </a:srgbClr>
                  </a:gs>
                </a:gsLst>
                <a:lin ang="2700000" scaled="1"/>
              </a:gradFill>
              <a:ln w="9525">
                <a:noFill/>
                <a:miter lim="800000"/>
              </a:ln>
              <a:effectLst/>
            </p:spPr>
            <p:txBody>
              <a:bodyPr wrap="none" anchor="ctr"/>
              <a:lstStyle/>
              <a:p>
                <a:pPr algn="ctr" eaLnBrk="0" hangingPunct="0"/>
                <a:r>
                  <a:rPr lang="zh-CN" altLang="en-US" dirty="0" smtClean="0">
                    <a:solidFill>
                      <a:schemeClr val="bg1"/>
                    </a:solidFill>
                    <a:latin typeface="Verdana" panose="020B0604030504040204" pitchFamily="34" charset="0"/>
                    <a:ea typeface="宋体" panose="02010600030101010101" pitchFamily="2" charset="-122"/>
                  </a:rPr>
                  <a:t>执行</a:t>
                </a:r>
                <a:r>
                  <a:rPr lang="en-US" altLang="zh-CN" dirty="0" smtClean="0">
                    <a:solidFill>
                      <a:schemeClr val="bg1"/>
                    </a:solidFill>
                    <a:latin typeface="Verdana" panose="020B0604030504040204" pitchFamily="34" charset="0"/>
                    <a:ea typeface="宋体" panose="02010600030101010101" pitchFamily="2" charset="-122"/>
                  </a:rPr>
                  <a:t>.class</a:t>
                </a:r>
                <a:r>
                  <a:rPr lang="zh-CN" altLang="en-US" dirty="0" smtClean="0">
                    <a:solidFill>
                      <a:schemeClr val="bg1"/>
                    </a:solidFill>
                    <a:latin typeface="Verdana" panose="020B0604030504040204" pitchFamily="34" charset="0"/>
                    <a:ea typeface="宋体" panose="02010600030101010101" pitchFamily="2" charset="-122"/>
                  </a:rPr>
                  <a:t>文件</a:t>
                </a:r>
                <a:endParaRPr lang="en-US" altLang="zh-CN" dirty="0">
                  <a:solidFill>
                    <a:schemeClr val="bg1"/>
                  </a:solidFill>
                  <a:latin typeface="Verdana" panose="020B0604030504040204" pitchFamily="34" charset="0"/>
                  <a:ea typeface="宋体" panose="02010600030101010101" pitchFamily="2" charset="-122"/>
                </a:endParaRPr>
              </a:p>
            </p:txBody>
          </p:sp>
          <p:sp>
            <p:nvSpPr>
              <p:cNvPr id="66" name="Rectangle 22"/>
              <p:cNvSpPr>
                <a:spLocks noChangeArrowheads="1"/>
              </p:cNvSpPr>
              <p:nvPr/>
            </p:nvSpPr>
            <p:spPr bwMode="gray">
              <a:xfrm>
                <a:off x="2556" y="2310"/>
                <a:ext cx="1900" cy="188"/>
              </a:xfrm>
              <a:prstGeom prst="rect">
                <a:avLst/>
              </a:prstGeom>
              <a:gradFill rotWithShape="1">
                <a:gsLst>
                  <a:gs pos="0">
                    <a:srgbClr val="8041FF">
                      <a:gamma/>
                      <a:shade val="72549"/>
                      <a:invGamma/>
                    </a:srgbClr>
                  </a:gs>
                  <a:gs pos="50000">
                    <a:srgbClr val="8041FF"/>
                  </a:gs>
                  <a:gs pos="100000">
                    <a:srgbClr val="8041FF">
                      <a:gamma/>
                      <a:shade val="72549"/>
                      <a:invGamma/>
                    </a:srgbClr>
                  </a:gs>
                </a:gsLst>
                <a:lin ang="2700000" scaled="1"/>
              </a:gradFill>
              <a:ln w="9525">
                <a:noFill/>
                <a:miter lim="800000"/>
              </a:ln>
              <a:effectLst/>
            </p:spPr>
            <p:txBody>
              <a:bodyPr wrap="none" anchor="ctr"/>
              <a:lstStyle/>
              <a:p>
                <a:pPr algn="ctr" eaLnBrk="0" hangingPunct="0"/>
                <a:r>
                  <a:rPr lang="zh-CN" altLang="en-US" dirty="0" smtClean="0">
                    <a:solidFill>
                      <a:schemeClr val="bg1"/>
                    </a:solidFill>
                    <a:latin typeface="Verdana" panose="020B0604030504040204" pitchFamily="34" charset="0"/>
                    <a:ea typeface="宋体" panose="02010600030101010101" pitchFamily="2" charset="-122"/>
                  </a:rPr>
                  <a:t>编译源程序为</a:t>
                </a:r>
                <a:r>
                  <a:rPr lang="en-US" altLang="zh-CN" dirty="0" smtClean="0">
                    <a:solidFill>
                      <a:schemeClr val="bg1"/>
                    </a:solidFill>
                    <a:latin typeface="Verdana" panose="020B0604030504040204" pitchFamily="34" charset="0"/>
                    <a:ea typeface="宋体" panose="02010600030101010101" pitchFamily="2" charset="-122"/>
                  </a:rPr>
                  <a:t>.class</a:t>
                </a:r>
                <a:r>
                  <a:rPr lang="zh-CN" altLang="en-US" dirty="0" smtClean="0">
                    <a:solidFill>
                      <a:schemeClr val="bg1"/>
                    </a:solidFill>
                    <a:latin typeface="Verdana" panose="020B0604030504040204" pitchFamily="34" charset="0"/>
                    <a:ea typeface="宋体" panose="02010600030101010101" pitchFamily="2" charset="-122"/>
                  </a:rPr>
                  <a:t>文件</a:t>
                </a:r>
                <a:endParaRPr lang="en-US" altLang="zh-CN" dirty="0">
                  <a:solidFill>
                    <a:schemeClr val="bg1"/>
                  </a:solidFill>
                  <a:latin typeface="Verdana" panose="020B0604030504040204" pitchFamily="34" charset="0"/>
                  <a:ea typeface="宋体" panose="02010600030101010101" pitchFamily="2" charset="-122"/>
                </a:endParaRPr>
              </a:p>
            </p:txBody>
          </p:sp>
          <p:sp>
            <p:nvSpPr>
              <p:cNvPr id="67" name="Freeform 23"/>
              <p:cNvSpPr/>
              <p:nvPr/>
            </p:nvSpPr>
            <p:spPr bwMode="gray">
              <a:xfrm>
                <a:off x="2036" y="2494"/>
                <a:ext cx="2415" cy="343"/>
              </a:xfrm>
              <a:custGeom>
                <a:avLst/>
                <a:gdLst/>
                <a:ahLst/>
                <a:cxnLst>
                  <a:cxn ang="0">
                    <a:pos x="1742" y="286"/>
                  </a:cxn>
                  <a:cxn ang="0">
                    <a:pos x="0" y="286"/>
                  </a:cxn>
                  <a:cxn ang="0">
                    <a:pos x="446" y="0"/>
                  </a:cxn>
                  <a:cxn ang="0">
                    <a:pos x="2048" y="0"/>
                  </a:cxn>
                  <a:cxn ang="0">
                    <a:pos x="1742" y="286"/>
                  </a:cxn>
                </a:cxnLst>
                <a:rect l="0" t="0" r="r" b="b"/>
                <a:pathLst>
                  <a:path w="2048" h="286">
                    <a:moveTo>
                      <a:pt x="1742" y="286"/>
                    </a:moveTo>
                    <a:lnTo>
                      <a:pt x="0" y="286"/>
                    </a:lnTo>
                    <a:lnTo>
                      <a:pt x="446" y="0"/>
                    </a:lnTo>
                    <a:lnTo>
                      <a:pt x="2048" y="0"/>
                    </a:lnTo>
                    <a:lnTo>
                      <a:pt x="1742" y="286"/>
                    </a:lnTo>
                    <a:close/>
                  </a:path>
                </a:pathLst>
              </a:custGeom>
              <a:solidFill>
                <a:srgbClr val="FF9966"/>
              </a:solidFill>
              <a:ln w="0">
                <a:noFill/>
                <a:prstDash val="solid"/>
                <a:round/>
              </a:ln>
            </p:spPr>
            <p:txBody>
              <a:bodyPr/>
              <a:lstStyle/>
              <a:p>
                <a:endParaRPr lang="zh-CN" altLang="en-US"/>
              </a:p>
            </p:txBody>
          </p:sp>
          <p:sp>
            <p:nvSpPr>
              <p:cNvPr id="68" name="Rectangle 24"/>
              <p:cNvSpPr>
                <a:spLocks noChangeArrowheads="1"/>
              </p:cNvSpPr>
              <p:nvPr/>
            </p:nvSpPr>
            <p:spPr bwMode="gray">
              <a:xfrm>
                <a:off x="2038" y="2836"/>
                <a:ext cx="2056" cy="188"/>
              </a:xfrm>
              <a:prstGeom prst="rect">
                <a:avLst/>
              </a:prstGeom>
              <a:gradFill rotWithShape="1">
                <a:gsLst>
                  <a:gs pos="0">
                    <a:srgbClr val="DC7150">
                      <a:gamma/>
                      <a:shade val="72549"/>
                      <a:invGamma/>
                    </a:srgbClr>
                  </a:gs>
                  <a:gs pos="50000">
                    <a:srgbClr val="DC7150"/>
                  </a:gs>
                  <a:gs pos="100000">
                    <a:srgbClr val="DC7150">
                      <a:gamma/>
                      <a:shade val="72549"/>
                      <a:invGamma/>
                    </a:srgbClr>
                  </a:gs>
                </a:gsLst>
                <a:lin ang="2700000" scaled="1"/>
              </a:gradFill>
              <a:ln w="9525">
                <a:noFill/>
                <a:miter lim="800000"/>
              </a:ln>
              <a:effectLst/>
            </p:spPr>
            <p:txBody>
              <a:bodyPr wrap="none" anchor="ctr"/>
              <a:lstStyle/>
              <a:p>
                <a:pPr algn="ctr" eaLnBrk="0" hangingPunct="0"/>
                <a:r>
                  <a:rPr lang="zh-CN" altLang="en-US" dirty="0" smtClean="0">
                    <a:solidFill>
                      <a:schemeClr val="bg1"/>
                    </a:solidFill>
                    <a:latin typeface="Verdana" panose="020B0604030504040204" pitchFamily="34" charset="0"/>
                    <a:ea typeface="宋体" panose="02010600030101010101" pitchFamily="2" charset="-122"/>
                  </a:rPr>
                  <a:t>编写</a:t>
                </a:r>
                <a:r>
                  <a:rPr lang="en-US" altLang="zh-CN" dirty="0" smtClean="0">
                    <a:solidFill>
                      <a:schemeClr val="bg1"/>
                    </a:solidFill>
                    <a:latin typeface="Verdana" panose="020B0604030504040204" pitchFamily="34" charset="0"/>
                    <a:ea typeface="宋体" panose="02010600030101010101" pitchFamily="2" charset="-122"/>
                  </a:rPr>
                  <a:t>Java</a:t>
                </a:r>
                <a:r>
                  <a:rPr lang="zh-CN" altLang="en-US" dirty="0" smtClean="0">
                    <a:solidFill>
                      <a:schemeClr val="bg1"/>
                    </a:solidFill>
                    <a:latin typeface="Verdana" panose="020B0604030504040204" pitchFamily="34" charset="0"/>
                    <a:ea typeface="宋体" panose="02010600030101010101" pitchFamily="2" charset="-122"/>
                  </a:rPr>
                  <a:t>源程序</a:t>
                </a:r>
                <a:endParaRPr lang="en-US" altLang="zh-CN" dirty="0">
                  <a:solidFill>
                    <a:schemeClr val="bg1"/>
                  </a:solidFill>
                  <a:latin typeface="Verdana" panose="020B0604030504040204" pitchFamily="34" charset="0"/>
                  <a:ea typeface="宋体" panose="02010600030101010101" pitchFamily="2" charset="-122"/>
                </a:endParaRPr>
              </a:p>
            </p:txBody>
          </p:sp>
          <p:sp>
            <p:nvSpPr>
              <p:cNvPr id="69" name="Rectangle 25"/>
              <p:cNvSpPr>
                <a:spLocks noChangeArrowheads="1"/>
              </p:cNvSpPr>
              <p:nvPr/>
            </p:nvSpPr>
            <p:spPr bwMode="gray">
              <a:xfrm>
                <a:off x="1514" y="3363"/>
                <a:ext cx="2213" cy="187"/>
              </a:xfrm>
              <a:prstGeom prst="rect">
                <a:avLst/>
              </a:prstGeom>
              <a:gradFill rotWithShape="1">
                <a:gsLst>
                  <a:gs pos="0">
                    <a:srgbClr val="D0A11C">
                      <a:gamma/>
                      <a:shade val="72549"/>
                      <a:invGamma/>
                    </a:srgbClr>
                  </a:gs>
                  <a:gs pos="50000">
                    <a:srgbClr val="D0A11C"/>
                  </a:gs>
                  <a:gs pos="100000">
                    <a:srgbClr val="D0A11C">
                      <a:gamma/>
                      <a:shade val="72549"/>
                      <a:invGamma/>
                    </a:srgbClr>
                  </a:gs>
                </a:gsLst>
                <a:lin ang="2700000" scaled="1"/>
              </a:gradFill>
              <a:ln w="9525">
                <a:noFill/>
                <a:miter lim="800000"/>
              </a:ln>
              <a:effectLst/>
            </p:spPr>
            <p:txBody>
              <a:bodyPr wrap="none" anchor="ctr"/>
              <a:lstStyle/>
              <a:p>
                <a:pPr algn="ctr" eaLnBrk="0" hangingPunct="0"/>
                <a:r>
                  <a:rPr lang="zh-CN" altLang="en-US" dirty="0" smtClean="0">
                    <a:solidFill>
                      <a:schemeClr val="bg1"/>
                    </a:solidFill>
                    <a:latin typeface="Verdana" panose="020B0604030504040204" pitchFamily="34" charset="0"/>
                    <a:ea typeface="宋体" panose="02010600030101010101" pitchFamily="2" charset="-122"/>
                  </a:rPr>
                  <a:t>创建</a:t>
                </a:r>
                <a:r>
                  <a:rPr lang="en-US" altLang="zh-CN" dirty="0" smtClean="0">
                    <a:solidFill>
                      <a:schemeClr val="bg1"/>
                    </a:solidFill>
                    <a:latin typeface="Verdana" panose="020B0604030504040204" pitchFamily="34" charset="0"/>
                    <a:ea typeface="宋体" panose="02010600030101010101" pitchFamily="2" charset="-122"/>
                  </a:rPr>
                  <a:t>.java</a:t>
                </a:r>
                <a:r>
                  <a:rPr lang="zh-CN" altLang="en-US" dirty="0" smtClean="0">
                    <a:solidFill>
                      <a:schemeClr val="bg1"/>
                    </a:solidFill>
                    <a:latin typeface="Verdana" panose="020B0604030504040204" pitchFamily="34" charset="0"/>
                    <a:ea typeface="宋体" panose="02010600030101010101" pitchFamily="2" charset="-122"/>
                  </a:rPr>
                  <a:t>文本文件</a:t>
                </a:r>
                <a:endParaRPr lang="en-US" altLang="zh-CN" dirty="0">
                  <a:solidFill>
                    <a:schemeClr val="bg1"/>
                  </a:solidFill>
                  <a:latin typeface="Verdana" panose="020B0604030504040204" pitchFamily="34" charset="0"/>
                  <a:ea typeface="宋体" panose="02010600030101010101"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编写 PrintHello.java源程序</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文本框 2"/>
          <p:cNvSpPr txBox="1"/>
          <p:nvPr/>
        </p:nvSpPr>
        <p:spPr>
          <a:xfrm>
            <a:off x="1545590" y="1331595"/>
            <a:ext cx="9185910" cy="4650105"/>
          </a:xfrm>
          <a:prstGeom prst="rect">
            <a:avLst/>
          </a:prstGeom>
          <a:noFill/>
        </p:spPr>
        <p:txBody>
          <a:bodyPr wrap="square" rtlCol="0" anchor="t">
            <a:noAutofit/>
          </a:bodyPr>
          <a:p>
            <a:pPr marL="457200" indent="-457200" eaLnBrk="1" hangingPunct="1">
              <a:buFont typeface="Wingdings" panose="05000000000000000000" charset="0"/>
              <a:buChar char="n"/>
            </a:pPr>
            <a:r>
              <a:rPr lang="zh-CN" altLang="en-US" sz="2800" dirty="0" smtClean="0">
                <a:solidFill>
                  <a:srgbClr val="ED7D31"/>
                </a:solidFill>
                <a:ea typeface="宋体" panose="02010600030101010101" pitchFamily="2" charset="-122"/>
                <a:sym typeface="+mn-ea"/>
              </a:rPr>
              <a:t>第一</a:t>
            </a:r>
            <a:r>
              <a:rPr lang="zh-CN" altLang="en-US" sz="2800" dirty="0">
                <a:solidFill>
                  <a:srgbClr val="ED7D31"/>
                </a:solidFill>
                <a:ea typeface="宋体" panose="02010600030101010101" pitchFamily="2" charset="-122"/>
                <a:sym typeface="+mn-ea"/>
              </a:rPr>
              <a:t>个</a:t>
            </a:r>
            <a:r>
              <a:rPr lang="en-US" sz="2800" dirty="0" err="1">
                <a:solidFill>
                  <a:srgbClr val="ED7D31"/>
                </a:solidFill>
                <a:ea typeface="宋体" panose="02010600030101010101" pitchFamily="2" charset="-122"/>
                <a:sym typeface="+mn-ea"/>
              </a:rPr>
              <a:t>Java程序</a:t>
            </a:r>
            <a:endParaRPr lang="en-US" sz="2800" dirty="0">
              <a:solidFill>
                <a:srgbClr val="ED7D31"/>
              </a:solidFill>
              <a:ea typeface="宋体" panose="02010600030101010101" pitchFamily="2" charset="-122"/>
            </a:endParaRPr>
          </a:p>
          <a:p>
            <a:pPr marL="704850" lvl="1" indent="-361950" eaLnBrk="1" hangingPunct="1">
              <a:buFont typeface="Times"/>
              <a:buNone/>
            </a:pPr>
            <a:r>
              <a:rPr lang="en-US" sz="2800" dirty="0">
                <a:solidFill>
                  <a:srgbClr val="002060"/>
                </a:solidFill>
                <a:ea typeface="宋体" panose="02010600030101010101" pitchFamily="2" charset="-122"/>
                <a:sym typeface="+mn-ea"/>
              </a:rPr>
              <a:t>public class </a:t>
            </a:r>
            <a:r>
              <a:rPr lang="en-US" sz="2800" dirty="0" err="1" smtClean="0">
                <a:solidFill>
                  <a:srgbClr val="002060"/>
                </a:solidFill>
                <a:ea typeface="宋体" panose="02010600030101010101" pitchFamily="2" charset="-122"/>
                <a:sym typeface="+mn-ea"/>
              </a:rPr>
              <a:t>HelloJava</a:t>
            </a:r>
            <a:r>
              <a:rPr lang="en-US" sz="2800" dirty="0" smtClean="0">
                <a:solidFill>
                  <a:srgbClr val="002060"/>
                </a:solidFill>
                <a:ea typeface="宋体" panose="02010600030101010101" pitchFamily="2" charset="-122"/>
                <a:sym typeface="+mn-ea"/>
              </a:rPr>
              <a:t> </a:t>
            </a:r>
            <a:r>
              <a:rPr lang="en-US" sz="2800" dirty="0">
                <a:solidFill>
                  <a:srgbClr val="002060"/>
                </a:solidFill>
                <a:ea typeface="宋体" panose="02010600030101010101" pitchFamily="2" charset="-122"/>
                <a:sym typeface="+mn-ea"/>
              </a:rPr>
              <a:t>{</a:t>
            </a:r>
            <a:endParaRPr lang="en-US" sz="2800" dirty="0">
              <a:solidFill>
                <a:srgbClr val="002060"/>
              </a:solidFill>
              <a:ea typeface="宋体" panose="02010600030101010101" pitchFamily="2" charset="-122"/>
            </a:endParaRPr>
          </a:p>
          <a:p>
            <a:pPr marL="704850" lvl="1" indent="-361950" eaLnBrk="1" hangingPunct="1">
              <a:buFont typeface="Times"/>
              <a:buNone/>
            </a:pPr>
            <a:r>
              <a:rPr lang="en-US" sz="2800" dirty="0">
                <a:solidFill>
                  <a:srgbClr val="002060"/>
                </a:solidFill>
                <a:ea typeface="宋体" panose="02010600030101010101" pitchFamily="2" charset="-122"/>
                <a:sym typeface="+mn-ea"/>
              </a:rPr>
              <a:t>    public static void main(String[] </a:t>
            </a:r>
            <a:r>
              <a:rPr lang="en-US" sz="2800" dirty="0" err="1">
                <a:solidFill>
                  <a:srgbClr val="002060"/>
                </a:solidFill>
                <a:ea typeface="宋体" panose="02010600030101010101" pitchFamily="2" charset="-122"/>
                <a:sym typeface="+mn-ea"/>
              </a:rPr>
              <a:t>args</a:t>
            </a:r>
            <a:r>
              <a:rPr lang="en-US" sz="2800" dirty="0">
                <a:solidFill>
                  <a:srgbClr val="002060"/>
                </a:solidFill>
                <a:ea typeface="宋体" panose="02010600030101010101" pitchFamily="2" charset="-122"/>
                <a:sym typeface="+mn-ea"/>
              </a:rPr>
              <a:t>) {</a:t>
            </a:r>
            <a:endParaRPr lang="en-US" sz="2800" dirty="0">
              <a:solidFill>
                <a:srgbClr val="002060"/>
              </a:solidFill>
              <a:ea typeface="宋体" panose="02010600030101010101" pitchFamily="2" charset="-122"/>
            </a:endParaRPr>
          </a:p>
          <a:p>
            <a:pPr marL="704850" lvl="1" indent="-361950">
              <a:buNone/>
            </a:pPr>
            <a:r>
              <a:rPr lang="en-US" sz="2800" dirty="0">
                <a:solidFill>
                  <a:srgbClr val="002060"/>
                </a:solidFill>
                <a:ea typeface="宋体" panose="02010600030101010101" pitchFamily="2" charset="-122"/>
                <a:sym typeface="+mn-ea"/>
              </a:rPr>
              <a:t>        </a:t>
            </a:r>
            <a:r>
              <a:rPr lang="en-US" sz="2800" dirty="0" err="1">
                <a:solidFill>
                  <a:srgbClr val="002060"/>
                </a:solidFill>
                <a:ea typeface="宋体" panose="02010600030101010101" pitchFamily="2" charset="-122"/>
                <a:sym typeface="+mn-ea"/>
              </a:rPr>
              <a:t>System.out.println</a:t>
            </a:r>
            <a:r>
              <a:rPr lang="en-US" sz="2800" dirty="0" smtClean="0">
                <a:solidFill>
                  <a:srgbClr val="002060"/>
                </a:solidFill>
                <a:ea typeface="宋体" panose="02010600030101010101" pitchFamily="2" charset="-122"/>
                <a:sym typeface="+mn-ea"/>
              </a:rPr>
              <a:t>(“</a:t>
            </a:r>
            <a:r>
              <a:rPr lang="en-US" sz="2800" dirty="0" err="1" smtClean="0">
                <a:solidFill>
                  <a:srgbClr val="002060"/>
                </a:solidFill>
                <a:ea typeface="宋体" panose="02010600030101010101" pitchFamily="2" charset="-122"/>
                <a:sym typeface="+mn-ea"/>
              </a:rPr>
              <a:t>HelloJava</a:t>
            </a:r>
            <a:r>
              <a:rPr lang="en-US" sz="2800" dirty="0" smtClean="0">
                <a:solidFill>
                  <a:srgbClr val="002060"/>
                </a:solidFill>
                <a:ea typeface="宋体" panose="02010600030101010101" pitchFamily="2" charset="-122"/>
                <a:sym typeface="+mn-ea"/>
              </a:rPr>
              <a:t>!”);</a:t>
            </a:r>
            <a:endParaRPr lang="en-US" sz="2800" dirty="0">
              <a:solidFill>
                <a:srgbClr val="002060"/>
              </a:solidFill>
              <a:ea typeface="宋体" panose="02010600030101010101" pitchFamily="2" charset="-122"/>
            </a:endParaRPr>
          </a:p>
          <a:p>
            <a:pPr marL="704850" lvl="1" indent="-361950" eaLnBrk="1" hangingPunct="1">
              <a:buFont typeface="Times"/>
              <a:buNone/>
            </a:pPr>
            <a:r>
              <a:rPr lang="en-US" sz="2800" dirty="0">
                <a:solidFill>
                  <a:srgbClr val="002060"/>
                </a:solidFill>
                <a:ea typeface="宋体" panose="02010600030101010101" pitchFamily="2" charset="-122"/>
                <a:sym typeface="+mn-ea"/>
              </a:rPr>
              <a:t>    }</a:t>
            </a:r>
            <a:endParaRPr lang="en-US" sz="2800" dirty="0">
              <a:solidFill>
                <a:srgbClr val="002060"/>
              </a:solidFill>
              <a:ea typeface="宋体" panose="02010600030101010101" pitchFamily="2" charset="-122"/>
            </a:endParaRPr>
          </a:p>
          <a:p>
            <a:pPr marL="704850" lvl="1" indent="-361950" eaLnBrk="1" hangingPunct="1">
              <a:buFont typeface="Times"/>
              <a:buNone/>
            </a:pPr>
            <a:r>
              <a:rPr lang="en-US" sz="2800" dirty="0">
                <a:solidFill>
                  <a:srgbClr val="002060"/>
                </a:solidFill>
                <a:ea typeface="宋体" panose="02010600030101010101" pitchFamily="2" charset="-122"/>
                <a:sym typeface="+mn-ea"/>
              </a:rPr>
              <a:t>}</a:t>
            </a:r>
            <a:endParaRPr lang="en-US" altLang="en-US" sz="2800" dirty="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en-US" sz="2400" b="1" dirty="0">
                <a:solidFill>
                  <a:schemeClr val="tx1"/>
                </a:solidFill>
                <a:latin typeface="+mn-ea"/>
                <a:cs typeface="+mn-ea"/>
                <a:sym typeface="+mn-ea"/>
              </a:rPr>
              <a:t>Java</a:t>
            </a:r>
            <a:r>
              <a:rPr lang="zh-CN" altLang="en-US" sz="2400" b="1" dirty="0">
                <a:solidFill>
                  <a:schemeClr val="tx1"/>
                </a:solidFill>
                <a:latin typeface="+mn-ea"/>
                <a:cs typeface="+mn-ea"/>
                <a:sym typeface="+mn-ea"/>
              </a:rPr>
              <a:t>的加载与执行与</a:t>
            </a:r>
            <a:endParaRPr lang="zh-CN" altLang="en-US" sz="2400" b="1" spc="300" dirty="0">
              <a:solidFill>
                <a:schemeClr val="tx1"/>
              </a:solidFill>
              <a:latin typeface="+mn-ea"/>
              <a:cs typeface="+mn-ea"/>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矩形 6"/>
          <p:cNvSpPr/>
          <p:nvPr/>
        </p:nvSpPr>
        <p:spPr bwMode="auto">
          <a:xfrm>
            <a:off x="2624114" y="1436676"/>
            <a:ext cx="1857388" cy="571504"/>
          </a:xfrm>
          <a:prstGeom prst="rect">
            <a:avLst/>
          </a:prstGeom>
          <a:solidFill>
            <a:srgbClr val="0070C0">
              <a:alpha val="35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
            <a:pPr marL="0" marR="0" indent="0" algn="just"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dirty="0" smtClean="0">
                <a:ln>
                  <a:noFill/>
                </a:ln>
                <a:solidFill>
                  <a:srgbClr val="0070C0"/>
                </a:solidFill>
                <a:effectLst/>
                <a:latin typeface="Gulim" pitchFamily="34" charset="-127"/>
                <a:ea typeface="Gulim" pitchFamily="34" charset="-127"/>
              </a:rPr>
              <a:t>     编译时</a:t>
            </a:r>
            <a:endParaRPr kumimoji="0" lang="zh-CN" altLang="en-US" sz="1800" b="1" i="0" u="none" strike="noStrike" cap="none" normalizeH="0" dirty="0" smtClean="0">
              <a:ln>
                <a:noFill/>
              </a:ln>
              <a:solidFill>
                <a:srgbClr val="0070C0"/>
              </a:solidFill>
              <a:effectLst/>
              <a:latin typeface="Gulim" pitchFamily="34" charset="-127"/>
              <a:ea typeface="Gulim" pitchFamily="34" charset="-127"/>
            </a:endParaRPr>
          </a:p>
        </p:txBody>
      </p:sp>
      <p:sp>
        <p:nvSpPr>
          <p:cNvPr id="8" name="剪去单角的矩形 7"/>
          <p:cNvSpPr/>
          <p:nvPr/>
        </p:nvSpPr>
        <p:spPr bwMode="auto">
          <a:xfrm>
            <a:off x="2624114" y="2508246"/>
            <a:ext cx="1857388" cy="857256"/>
          </a:xfrm>
          <a:prstGeom prst="snip1Rect">
            <a:avLst/>
          </a:prstGeom>
          <a:solidFill>
            <a:srgbClr val="92D050">
              <a:alpha val="75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b="1" dirty="0" smtClean="0"/>
              <a:t>  .java</a:t>
            </a:r>
            <a:r>
              <a:rPr lang="zh-CN" altLang="en-US" b="1" dirty="0" smtClean="0"/>
              <a:t>源文件</a:t>
            </a:r>
            <a:endParaRPr kumimoji="0" lang="zh-CN" altLang="en-US" sz="1800" b="1" i="0" u="none" strike="noStrike" cap="none" normalizeH="0" dirty="0" smtClean="0">
              <a:ln>
                <a:noFill/>
              </a:ln>
              <a:effectLst/>
              <a:latin typeface="Gulim" pitchFamily="34" charset="-127"/>
              <a:ea typeface="Gulim" pitchFamily="34" charset="-127"/>
            </a:endParaRPr>
          </a:p>
        </p:txBody>
      </p:sp>
      <p:sp>
        <p:nvSpPr>
          <p:cNvPr id="11" name="矩形 10"/>
          <p:cNvSpPr/>
          <p:nvPr/>
        </p:nvSpPr>
        <p:spPr bwMode="auto">
          <a:xfrm>
            <a:off x="2624114" y="4008444"/>
            <a:ext cx="1928826" cy="428628"/>
          </a:xfrm>
          <a:prstGeom prst="rect">
            <a:avLst/>
          </a:prstGeom>
          <a:solidFill>
            <a:srgbClr val="FFC000">
              <a:alpha val="69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1" u="none" strike="noStrike" cap="none" normalizeH="0" baseline="0" dirty="0" smtClean="0">
                <a:ln>
                  <a:noFill/>
                </a:ln>
                <a:solidFill>
                  <a:schemeClr val="tx1"/>
                </a:solidFill>
                <a:effectLst/>
                <a:latin typeface="Gulim" pitchFamily="34" charset="-127"/>
                <a:ea typeface="Gulim" pitchFamily="34" charset="-127"/>
              </a:rPr>
              <a:t>   Java</a:t>
            </a:r>
            <a:r>
              <a:rPr kumimoji="0" lang="zh-CN" altLang="en-US" sz="1800" b="0" i="1" u="none" strike="noStrike" cap="none" normalizeH="0" baseline="0" dirty="0" smtClean="0">
                <a:ln>
                  <a:noFill/>
                </a:ln>
                <a:solidFill>
                  <a:schemeClr val="tx1"/>
                </a:solidFill>
                <a:effectLst/>
                <a:latin typeface="Gulim" pitchFamily="34" charset="-127"/>
                <a:ea typeface="Gulim" pitchFamily="34" charset="-127"/>
              </a:rPr>
              <a:t>编译器</a:t>
            </a:r>
            <a:endParaRPr kumimoji="0" lang="zh-CN" altLang="en-US" sz="1800" b="0" i="1" u="none" strike="noStrike" cap="none" normalizeH="0" baseline="0" dirty="0" smtClean="0">
              <a:ln>
                <a:noFill/>
              </a:ln>
              <a:solidFill>
                <a:schemeClr val="tx1"/>
              </a:solidFill>
              <a:effectLst/>
              <a:latin typeface="Gulim" pitchFamily="34" charset="-127"/>
              <a:ea typeface="Gulim" pitchFamily="34" charset="-127"/>
            </a:endParaRPr>
          </a:p>
        </p:txBody>
      </p:sp>
      <p:sp>
        <p:nvSpPr>
          <p:cNvPr id="13" name="剪去单角的矩形 12"/>
          <p:cNvSpPr/>
          <p:nvPr/>
        </p:nvSpPr>
        <p:spPr bwMode="auto">
          <a:xfrm>
            <a:off x="2624114" y="5222890"/>
            <a:ext cx="1857388" cy="857256"/>
          </a:xfrm>
          <a:prstGeom prst="snip1Rect">
            <a:avLst/>
          </a:prstGeom>
          <a:solidFill>
            <a:srgbClr val="92D050">
              <a:alpha val="75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b="1" dirty="0" smtClean="0">
                <a:solidFill>
                  <a:schemeClr val="bg1"/>
                </a:solidFill>
              </a:rPr>
              <a:t>  </a:t>
            </a:r>
            <a:r>
              <a:rPr lang="en-US" altLang="zh-CN" b="1" dirty="0" smtClean="0"/>
              <a:t>.class</a:t>
            </a:r>
            <a:r>
              <a:rPr lang="zh-CN" altLang="en-US" b="1" dirty="0" smtClean="0"/>
              <a:t>字节码文件</a:t>
            </a:r>
            <a:endParaRPr lang="zh-CN" altLang="en-US" b="1" dirty="0" smtClean="0"/>
          </a:p>
        </p:txBody>
      </p:sp>
      <p:sp>
        <p:nvSpPr>
          <p:cNvPr id="14" name="矩形 13"/>
          <p:cNvSpPr/>
          <p:nvPr/>
        </p:nvSpPr>
        <p:spPr bwMode="auto">
          <a:xfrm>
            <a:off x="6910394" y="1436676"/>
            <a:ext cx="1857388" cy="571504"/>
          </a:xfrm>
          <a:prstGeom prst="rect">
            <a:avLst/>
          </a:prstGeom>
          <a:solidFill>
            <a:srgbClr val="0070C0">
              <a:alpha val="35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
            <a:pPr marL="0" marR="0" indent="0" algn="just"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dirty="0" smtClean="0">
                <a:ln>
                  <a:noFill/>
                </a:ln>
                <a:solidFill>
                  <a:srgbClr val="0070C0"/>
                </a:solidFill>
                <a:effectLst/>
                <a:latin typeface="Gulim" pitchFamily="34" charset="-127"/>
                <a:ea typeface="Gulim" pitchFamily="34" charset="-127"/>
              </a:rPr>
              <a:t>     运行时</a:t>
            </a:r>
            <a:endParaRPr kumimoji="0" lang="zh-CN" altLang="en-US" sz="1800" b="1" i="0" u="none" strike="noStrike" cap="none" normalizeH="0" dirty="0" smtClean="0">
              <a:ln>
                <a:noFill/>
              </a:ln>
              <a:solidFill>
                <a:srgbClr val="0070C0"/>
              </a:solidFill>
              <a:effectLst/>
              <a:latin typeface="Gulim" pitchFamily="34" charset="-127"/>
              <a:ea typeface="Gulim" pitchFamily="34" charset="-127"/>
            </a:endParaRPr>
          </a:p>
        </p:txBody>
      </p:sp>
      <p:sp>
        <p:nvSpPr>
          <p:cNvPr id="15" name="矩形 14"/>
          <p:cNvSpPr/>
          <p:nvPr/>
        </p:nvSpPr>
        <p:spPr bwMode="auto">
          <a:xfrm>
            <a:off x="6910394" y="2436808"/>
            <a:ext cx="1928826" cy="428628"/>
          </a:xfrm>
          <a:prstGeom prst="rect">
            <a:avLst/>
          </a:prstGeom>
          <a:solidFill>
            <a:srgbClr val="FFC000">
              <a:alpha val="69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1" u="none" strike="noStrike" cap="none" normalizeH="0" baseline="0" dirty="0" smtClean="0">
                <a:ln>
                  <a:noFill/>
                </a:ln>
                <a:solidFill>
                  <a:schemeClr val="tx1"/>
                </a:solidFill>
                <a:effectLst/>
                <a:latin typeface="Gulim" pitchFamily="34" charset="-127"/>
                <a:ea typeface="Gulim" pitchFamily="34" charset="-127"/>
              </a:rPr>
              <a:t>   </a:t>
            </a:r>
            <a:r>
              <a:rPr kumimoji="0" lang="zh-CN" altLang="en-US" sz="1800" b="0" i="1" u="none" strike="noStrike" cap="none" normalizeH="0" baseline="0" dirty="0" smtClean="0">
                <a:ln>
                  <a:noFill/>
                </a:ln>
                <a:solidFill>
                  <a:schemeClr val="tx1"/>
                </a:solidFill>
                <a:effectLst/>
                <a:latin typeface="Gulim" pitchFamily="34" charset="-127"/>
                <a:ea typeface="Gulim" pitchFamily="34" charset="-127"/>
              </a:rPr>
              <a:t>类 装 载 器</a:t>
            </a:r>
            <a:endParaRPr kumimoji="0" lang="zh-CN" altLang="en-US" sz="1800" b="0" i="1" u="none" strike="noStrike" cap="none" normalizeH="0" baseline="0" dirty="0" smtClean="0">
              <a:ln>
                <a:noFill/>
              </a:ln>
              <a:solidFill>
                <a:schemeClr val="tx1"/>
              </a:solidFill>
              <a:effectLst/>
              <a:latin typeface="Gulim" pitchFamily="34" charset="-127"/>
              <a:ea typeface="Gulim" pitchFamily="34" charset="-127"/>
            </a:endParaRPr>
          </a:p>
        </p:txBody>
      </p:sp>
      <p:cxnSp>
        <p:nvCxnSpPr>
          <p:cNvPr id="16" name="直接箭头连接符 15"/>
          <p:cNvCxnSpPr/>
          <p:nvPr/>
        </p:nvCxnSpPr>
        <p:spPr bwMode="auto">
          <a:xfrm rot="5400000" flipH="1" flipV="1">
            <a:off x="4410064" y="2936874"/>
            <a:ext cx="2571768" cy="242889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7" name="矩形 16"/>
          <p:cNvSpPr/>
          <p:nvPr/>
        </p:nvSpPr>
        <p:spPr bwMode="auto">
          <a:xfrm>
            <a:off x="6910394" y="3436940"/>
            <a:ext cx="1928826" cy="428628"/>
          </a:xfrm>
          <a:prstGeom prst="rect">
            <a:avLst/>
          </a:prstGeom>
          <a:solidFill>
            <a:srgbClr val="FFC000">
              <a:alpha val="69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1" u="none" strike="noStrike" cap="none" normalizeH="0" baseline="0" dirty="0" smtClean="0">
                <a:ln>
                  <a:noFill/>
                </a:ln>
                <a:solidFill>
                  <a:schemeClr val="tx1"/>
                </a:solidFill>
                <a:effectLst/>
                <a:latin typeface="Gulim" pitchFamily="34" charset="-127"/>
                <a:ea typeface="Gulim" pitchFamily="34" charset="-127"/>
              </a:rPr>
              <a:t>   Java</a:t>
            </a:r>
            <a:r>
              <a:rPr lang="zh-CN" altLang="en-US" i="1" dirty="0" smtClean="0"/>
              <a:t>虚拟机</a:t>
            </a:r>
            <a:endParaRPr kumimoji="0" lang="zh-CN" altLang="en-US" sz="1800" b="0" i="1" u="none" strike="noStrike" cap="none" normalizeH="0" baseline="0" dirty="0" smtClean="0">
              <a:ln>
                <a:noFill/>
              </a:ln>
              <a:solidFill>
                <a:schemeClr val="tx1"/>
              </a:solidFill>
              <a:effectLst/>
              <a:latin typeface="Gulim" pitchFamily="34" charset="-127"/>
              <a:ea typeface="Gulim" pitchFamily="34" charset="-127"/>
            </a:endParaRPr>
          </a:p>
        </p:txBody>
      </p:sp>
      <p:sp>
        <p:nvSpPr>
          <p:cNvPr id="18" name="矩形 17"/>
          <p:cNvSpPr/>
          <p:nvPr/>
        </p:nvSpPr>
        <p:spPr bwMode="auto">
          <a:xfrm>
            <a:off x="6910394" y="4365634"/>
            <a:ext cx="1928826" cy="428628"/>
          </a:xfrm>
          <a:prstGeom prst="rect">
            <a:avLst/>
          </a:prstGeom>
          <a:solidFill>
            <a:srgbClr val="FFC000">
              <a:alpha val="69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1" u="none" strike="noStrike" cap="none" normalizeH="0" baseline="0" dirty="0" smtClean="0">
                <a:ln>
                  <a:noFill/>
                </a:ln>
                <a:solidFill>
                  <a:schemeClr val="tx1"/>
                </a:solidFill>
                <a:effectLst/>
                <a:latin typeface="Gulim" pitchFamily="34" charset="-127"/>
                <a:ea typeface="Gulim" pitchFamily="34" charset="-127"/>
              </a:rPr>
              <a:t>   </a:t>
            </a:r>
            <a:r>
              <a:rPr kumimoji="0" lang="zh-CN" altLang="en-US" sz="1800" b="0" i="1" u="none" strike="noStrike" cap="none" normalizeH="0" baseline="0" dirty="0" smtClean="0">
                <a:ln>
                  <a:noFill/>
                </a:ln>
                <a:solidFill>
                  <a:schemeClr val="tx1"/>
                </a:solidFill>
                <a:effectLst/>
                <a:latin typeface="Gulim" pitchFamily="34" charset="-127"/>
                <a:ea typeface="Gulim" pitchFamily="34" charset="-127"/>
              </a:rPr>
              <a:t>操作系统</a:t>
            </a:r>
            <a:endParaRPr kumimoji="0" lang="zh-CN" altLang="en-US" sz="1800" b="0" i="1" u="none" strike="noStrike" cap="none" normalizeH="0" baseline="0" dirty="0" smtClean="0">
              <a:ln>
                <a:noFill/>
              </a:ln>
              <a:solidFill>
                <a:schemeClr val="tx1"/>
              </a:solidFill>
              <a:effectLst/>
              <a:latin typeface="Gulim" pitchFamily="34" charset="-127"/>
              <a:ea typeface="Gulim" pitchFamily="34" charset="-127"/>
            </a:endParaRPr>
          </a:p>
        </p:txBody>
      </p:sp>
      <p:sp>
        <p:nvSpPr>
          <p:cNvPr id="19" name="矩形 18"/>
          <p:cNvSpPr/>
          <p:nvPr/>
        </p:nvSpPr>
        <p:spPr bwMode="auto">
          <a:xfrm>
            <a:off x="6910394" y="5437204"/>
            <a:ext cx="1928826" cy="428628"/>
          </a:xfrm>
          <a:prstGeom prst="rect">
            <a:avLst/>
          </a:prstGeom>
          <a:solidFill>
            <a:srgbClr val="FFC000">
              <a:alpha val="69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1" u="none" strike="noStrike" cap="none" normalizeH="0" baseline="0" dirty="0" smtClean="0">
                <a:ln>
                  <a:noFill/>
                </a:ln>
                <a:solidFill>
                  <a:schemeClr val="tx1"/>
                </a:solidFill>
                <a:effectLst/>
                <a:latin typeface="Gulim" pitchFamily="34" charset="-127"/>
                <a:ea typeface="Gulim" pitchFamily="34" charset="-127"/>
              </a:rPr>
              <a:t>   </a:t>
            </a:r>
            <a:r>
              <a:rPr kumimoji="0" lang="zh-CN" altLang="en-US" sz="1800" b="0" i="1" u="none" strike="noStrike" cap="none" normalizeH="0" baseline="0" dirty="0" smtClean="0">
                <a:ln>
                  <a:noFill/>
                </a:ln>
                <a:solidFill>
                  <a:schemeClr val="tx1"/>
                </a:solidFill>
                <a:effectLst/>
                <a:latin typeface="Gulim" pitchFamily="34" charset="-127"/>
                <a:ea typeface="Gulim" pitchFamily="34" charset="-127"/>
              </a:rPr>
              <a:t>硬件平台</a:t>
            </a:r>
            <a:endParaRPr kumimoji="0" lang="zh-CN" altLang="en-US" sz="1800" b="0" i="1" u="none" strike="noStrike" cap="none" normalizeH="0" baseline="0" dirty="0" smtClean="0">
              <a:ln>
                <a:noFill/>
              </a:ln>
              <a:solidFill>
                <a:schemeClr val="tx1"/>
              </a:solidFill>
              <a:effectLst/>
              <a:latin typeface="Gulim" pitchFamily="34" charset="-127"/>
              <a:ea typeface="Gulim" pitchFamily="34" charset="-127"/>
            </a:endParaRPr>
          </a:p>
        </p:txBody>
      </p:sp>
      <p:cxnSp>
        <p:nvCxnSpPr>
          <p:cNvPr id="20" name="直接箭头连接符 19"/>
          <p:cNvCxnSpPr/>
          <p:nvPr/>
        </p:nvCxnSpPr>
        <p:spPr bwMode="auto">
          <a:xfrm rot="16200000" flipH="1">
            <a:off x="3159899" y="3686973"/>
            <a:ext cx="642944" cy="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4" name="直接箭头连接符 23"/>
          <p:cNvCxnSpPr/>
          <p:nvPr/>
        </p:nvCxnSpPr>
        <p:spPr bwMode="auto">
          <a:xfrm rot="16200000" flipH="1">
            <a:off x="3088461" y="4829979"/>
            <a:ext cx="785820" cy="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2" name="直接箭头连接符 21"/>
          <p:cNvCxnSpPr/>
          <p:nvPr/>
        </p:nvCxnSpPr>
        <p:spPr bwMode="auto">
          <a:xfrm rot="16200000" flipH="1">
            <a:off x="7481898" y="3151189"/>
            <a:ext cx="571506" cy="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44" name="直接箭头连接符 43"/>
          <p:cNvCxnSpPr/>
          <p:nvPr/>
        </p:nvCxnSpPr>
        <p:spPr bwMode="auto">
          <a:xfrm rot="16200000" flipH="1">
            <a:off x="7481898" y="4151320"/>
            <a:ext cx="571506" cy="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45" name="直接箭头连接符 44"/>
          <p:cNvCxnSpPr/>
          <p:nvPr/>
        </p:nvCxnSpPr>
        <p:spPr bwMode="auto">
          <a:xfrm rot="16200000" flipH="1">
            <a:off x="7446179" y="5115731"/>
            <a:ext cx="642944" cy="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类和main方法</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文本框 2"/>
          <p:cNvSpPr txBox="1"/>
          <p:nvPr/>
        </p:nvSpPr>
        <p:spPr>
          <a:xfrm>
            <a:off x="1545590" y="1331595"/>
            <a:ext cx="9185910" cy="4650105"/>
          </a:xfrm>
          <a:prstGeom prst="rect">
            <a:avLst/>
          </a:prstGeom>
          <a:noFill/>
        </p:spPr>
        <p:txBody>
          <a:bodyPr wrap="square" rtlCol="0" anchor="t">
            <a:noAutofit/>
          </a:bodyPr>
          <a:p>
            <a:pPr indent="0" eaLnBrk="1" hangingPunct="1">
              <a:lnSpc>
                <a:spcPct val="120000"/>
              </a:lnSpc>
              <a:buFont typeface="Wingdings" panose="05000000000000000000" charset="0"/>
              <a:buNone/>
            </a:pPr>
            <a:r>
              <a:rPr lang="en-US" sz="2400" kern="0" dirty="0" err="1">
                <a:solidFill>
                  <a:schemeClr val="accent5"/>
                </a:solidFill>
                <a:ea typeface="宋体" panose="02010600030101010101" pitchFamily="2" charset="-122"/>
                <a:sym typeface="+mn-ea"/>
              </a:rPr>
              <a:t>类是Java程序存在的最小单元</a:t>
            </a:r>
            <a:endParaRPr lang="en-US" sz="2400" kern="0" dirty="0" err="1">
              <a:solidFill>
                <a:schemeClr val="accent5"/>
              </a:solidFill>
              <a:ea typeface="宋体" panose="02010600030101010101" pitchFamily="2" charset="-122"/>
              <a:sym typeface="+mn-ea"/>
            </a:endParaRPr>
          </a:p>
          <a:p>
            <a:pPr marL="361950" indent="-361950" eaLnBrk="1" hangingPunct="1">
              <a:lnSpc>
                <a:spcPct val="120000"/>
              </a:lnSpc>
            </a:pPr>
            <a:r>
              <a:rPr lang="zh-CN" altLang="en-US" sz="2400" dirty="0">
                <a:solidFill>
                  <a:schemeClr val="accent5"/>
                </a:solidFill>
                <a:ea typeface="宋体" panose="02010600030101010101" pitchFamily="2" charset="-122"/>
                <a:sym typeface="+mn-ea"/>
              </a:rPr>
              <a:t>类名和文件名必须一致</a:t>
            </a:r>
            <a:endParaRPr lang="en-US" sz="2400" dirty="0">
              <a:solidFill>
                <a:schemeClr val="accent5"/>
              </a:solidFill>
              <a:ea typeface="宋体" panose="02010600030101010101" pitchFamily="2" charset="-122"/>
            </a:endParaRPr>
          </a:p>
          <a:p>
            <a:pPr marL="361950" indent="-361950" eaLnBrk="1" hangingPunct="1">
              <a:lnSpc>
                <a:spcPct val="120000"/>
              </a:lnSpc>
            </a:pPr>
            <a:r>
              <a:rPr lang="zh-CN" altLang="en-US" sz="2400" dirty="0">
                <a:solidFill>
                  <a:schemeClr val="accent5"/>
                </a:solidFill>
                <a:ea typeface="宋体" panose="02010600030101010101" pitchFamily="2" charset="-122"/>
                <a:sym typeface="+mn-ea"/>
              </a:rPr>
              <a:t>类的构成</a:t>
            </a:r>
            <a:endParaRPr lang="zh-CN" altLang="en-US" sz="2400" dirty="0">
              <a:solidFill>
                <a:schemeClr val="accent5"/>
              </a:solidFill>
              <a:ea typeface="宋体" panose="02010600030101010101" pitchFamily="2" charset="-122"/>
            </a:endParaRPr>
          </a:p>
          <a:p>
            <a:pPr marL="342900" indent="-342900" eaLnBrk="1" hangingPunct="1">
              <a:lnSpc>
                <a:spcPct val="120000"/>
              </a:lnSpc>
              <a:buFont typeface="Wingdings" panose="05000000000000000000" charset="0"/>
              <a:buChar char="n"/>
            </a:pPr>
            <a:r>
              <a:rPr lang="zh-CN" altLang="en-US" sz="2000" dirty="0">
                <a:solidFill>
                  <a:srgbClr val="002060"/>
                </a:solidFill>
                <a:ea typeface="宋体" panose="02010600030101010101" pitchFamily="2" charset="-122"/>
                <a:sym typeface="+mn-ea"/>
              </a:rPr>
              <a:t>属性，或称为变量</a:t>
            </a:r>
            <a:endParaRPr lang="zh-CN" altLang="en-US" sz="2000" dirty="0">
              <a:solidFill>
                <a:srgbClr val="002060"/>
              </a:solidFill>
              <a:ea typeface="宋体" panose="02010600030101010101" pitchFamily="2" charset="-122"/>
              <a:sym typeface="+mn-ea"/>
            </a:endParaRPr>
          </a:p>
          <a:p>
            <a:pPr marL="342900" indent="-342900" eaLnBrk="1" hangingPunct="1">
              <a:lnSpc>
                <a:spcPct val="120000"/>
              </a:lnSpc>
              <a:buFont typeface="Wingdings" panose="05000000000000000000" charset="0"/>
              <a:buChar char="n"/>
            </a:pPr>
            <a:r>
              <a:rPr lang="zh-CN" altLang="en-US" sz="2000" dirty="0" smtClean="0">
                <a:solidFill>
                  <a:srgbClr val="002060"/>
                </a:solidFill>
                <a:ea typeface="宋体" panose="02010600030101010101" pitchFamily="2" charset="-122"/>
                <a:sym typeface="+mn-ea"/>
              </a:rPr>
              <a:t>方法 ，由方法签名和方法体构成</a:t>
            </a:r>
            <a:endParaRPr lang="zh-CN" altLang="en-US" sz="2000" dirty="0" smtClean="0">
              <a:solidFill>
                <a:srgbClr val="002060"/>
              </a:solidFill>
              <a:ea typeface="宋体" panose="02010600030101010101" pitchFamily="2" charset="-122"/>
              <a:sym typeface="+mn-ea"/>
            </a:endParaRPr>
          </a:p>
          <a:p>
            <a:pPr marL="800100" lvl="1" indent="-342900" eaLnBrk="1" hangingPunct="1">
              <a:lnSpc>
                <a:spcPct val="120000"/>
              </a:lnSpc>
              <a:buFont typeface="Wingdings" panose="05000000000000000000" charset="0"/>
              <a:buChar char="l"/>
            </a:pPr>
            <a:r>
              <a:rPr lang="zh-CN" altLang="en-US" sz="2000" dirty="0" smtClean="0">
                <a:solidFill>
                  <a:srgbClr val="002060"/>
                </a:solidFill>
                <a:ea typeface="宋体" panose="02010600030101010101" pitchFamily="2" charset="-122"/>
                <a:sym typeface="+mn-ea"/>
              </a:rPr>
              <a:t>方法体：由多条语句构成</a:t>
            </a:r>
            <a:endParaRPr lang="zh-CN" altLang="en-US" sz="2000" dirty="0" smtClean="0">
              <a:solidFill>
                <a:srgbClr val="002060"/>
              </a:solidFill>
              <a:ea typeface="宋体" panose="02010600030101010101" pitchFamily="2" charset="-122"/>
            </a:endParaRPr>
          </a:p>
          <a:p>
            <a:pPr marL="342900" lvl="1" indent="-342900" algn="l" eaLnBrk="1" hangingPunct="1">
              <a:lnSpc>
                <a:spcPct val="120000"/>
              </a:lnSpc>
              <a:buClrTx/>
              <a:buSzTx/>
              <a:buFont typeface="Wingdings" panose="05000000000000000000" charset="0"/>
              <a:buChar char="n"/>
            </a:pPr>
            <a:r>
              <a:rPr lang="en-US" altLang="zh-CN" sz="2000" dirty="0" smtClean="0">
                <a:solidFill>
                  <a:srgbClr val="002060"/>
                </a:solidFill>
                <a:ea typeface="宋体" panose="02010600030101010101" pitchFamily="2" charset="-122"/>
                <a:sym typeface="+mn-ea"/>
              </a:rPr>
              <a:t>构造器：一种特殊的方法</a:t>
            </a:r>
            <a:endParaRPr lang="en-US" altLang="zh-CN" sz="2000" dirty="0" smtClean="0">
              <a:solidFill>
                <a:srgbClr val="002060"/>
              </a:solidFill>
              <a:ea typeface="宋体" panose="02010600030101010101" pitchFamily="2" charset="-122"/>
            </a:endParaRPr>
          </a:p>
          <a:p>
            <a:pPr marL="361950" indent="-361950" eaLnBrk="1" hangingPunct="1"/>
            <a:endParaRPr lang="en-US" altLang="zh-CN" sz="2000" dirty="0" smtClean="0">
              <a:solidFill>
                <a:srgbClr val="002060"/>
              </a:solidFill>
              <a:ea typeface="宋体" panose="02010600030101010101" pitchFamily="2" charset="-122"/>
              <a:sym typeface="+mn-ea"/>
            </a:endParaRPr>
          </a:p>
        </p:txBody>
      </p:sp>
      <p:pic>
        <p:nvPicPr>
          <p:cNvPr id="7" name="图片 6"/>
          <p:cNvPicPr>
            <a:picLocks noChangeAspect="1"/>
          </p:cNvPicPr>
          <p:nvPr/>
        </p:nvPicPr>
        <p:blipFill>
          <a:blip r:embed="rId5"/>
          <a:stretch>
            <a:fillRect/>
          </a:stretch>
        </p:blipFill>
        <p:spPr>
          <a:xfrm>
            <a:off x="1173480" y="1372870"/>
            <a:ext cx="411480" cy="411480"/>
          </a:xfrm>
          <a:prstGeom prst="rect">
            <a:avLst/>
          </a:prstGeom>
        </p:spPr>
      </p:pic>
      <p:pic>
        <p:nvPicPr>
          <p:cNvPr id="8" name="图片 7"/>
          <p:cNvPicPr>
            <a:picLocks noChangeAspect="1"/>
          </p:cNvPicPr>
          <p:nvPr/>
        </p:nvPicPr>
        <p:blipFill>
          <a:blip r:embed="rId5"/>
          <a:stretch>
            <a:fillRect/>
          </a:stretch>
        </p:blipFill>
        <p:spPr>
          <a:xfrm>
            <a:off x="1173480" y="1828165"/>
            <a:ext cx="411480" cy="411480"/>
          </a:xfrm>
          <a:prstGeom prst="rect">
            <a:avLst/>
          </a:prstGeom>
        </p:spPr>
      </p:pic>
      <p:pic>
        <p:nvPicPr>
          <p:cNvPr id="11" name="图片 10"/>
          <p:cNvPicPr>
            <a:picLocks noChangeAspect="1"/>
          </p:cNvPicPr>
          <p:nvPr/>
        </p:nvPicPr>
        <p:blipFill>
          <a:blip r:embed="rId5"/>
          <a:stretch>
            <a:fillRect/>
          </a:stretch>
        </p:blipFill>
        <p:spPr>
          <a:xfrm>
            <a:off x="1173480" y="2294255"/>
            <a:ext cx="411480" cy="411480"/>
          </a:xfrm>
          <a:prstGeom prst="rect">
            <a:avLst/>
          </a:prstGeom>
        </p:spPr>
      </p:pic>
      <p:sp>
        <p:nvSpPr>
          <p:cNvPr id="16" name="文本框 15"/>
          <p:cNvSpPr txBox="1"/>
          <p:nvPr/>
        </p:nvSpPr>
        <p:spPr>
          <a:xfrm>
            <a:off x="1584960" y="4359275"/>
            <a:ext cx="6096000" cy="460375"/>
          </a:xfrm>
          <a:prstGeom prst="rect">
            <a:avLst/>
          </a:prstGeom>
          <a:noFill/>
        </p:spPr>
        <p:txBody>
          <a:bodyPr wrap="square" rtlCol="0" anchor="t">
            <a:spAutoFit/>
          </a:bodyPr>
          <a:p>
            <a:pPr indent="0" eaLnBrk="1" hangingPunct="1">
              <a:buFont typeface="Wingdings" panose="05000000000000000000" charset="0"/>
              <a:buNone/>
            </a:pPr>
            <a:r>
              <a:rPr lang="zh-CN" altLang="en-US" sz="2400" dirty="0" smtClean="0">
                <a:solidFill>
                  <a:schemeClr val="accent5"/>
                </a:solidFill>
                <a:ea typeface="宋体" panose="02010600030101010101" pitchFamily="2" charset="-122"/>
                <a:sym typeface="+mn-ea"/>
              </a:rPr>
              <a:t>主方法（</a:t>
            </a:r>
            <a:r>
              <a:rPr lang="en-US" sz="2400" dirty="0" smtClean="0">
                <a:solidFill>
                  <a:schemeClr val="accent5"/>
                </a:solidFill>
                <a:ea typeface="宋体" panose="02010600030101010101" pitchFamily="2" charset="-122"/>
                <a:sym typeface="+mn-ea"/>
              </a:rPr>
              <a:t>main</a:t>
            </a:r>
            <a:r>
              <a:rPr lang="zh-CN" altLang="en-US" sz="2400" dirty="0" smtClean="0">
                <a:solidFill>
                  <a:schemeClr val="accent5"/>
                </a:solidFill>
                <a:ea typeface="宋体" panose="02010600030101010101" pitchFamily="2" charset="-122"/>
                <a:sym typeface="+mn-ea"/>
              </a:rPr>
              <a:t>）</a:t>
            </a:r>
            <a:r>
              <a:rPr lang="en-US" sz="2400" dirty="0" smtClean="0">
                <a:solidFill>
                  <a:schemeClr val="accent5"/>
                </a:solidFill>
                <a:ea typeface="宋体" panose="02010600030101010101" pitchFamily="2" charset="-122"/>
                <a:sym typeface="+mn-ea"/>
              </a:rPr>
              <a:t>— </a:t>
            </a:r>
            <a:r>
              <a:rPr lang="zh-CN" altLang="en-US" sz="2400" dirty="0" smtClean="0">
                <a:solidFill>
                  <a:schemeClr val="accent5"/>
                </a:solidFill>
                <a:ea typeface="宋体" panose="02010600030101010101" pitchFamily="2" charset="-122"/>
                <a:sym typeface="+mn-ea"/>
              </a:rPr>
              <a:t>程序执行的入口</a:t>
            </a:r>
            <a:endParaRPr lang="zh-CN" altLang="en-US" sz="2400" dirty="0" smtClean="0">
              <a:solidFill>
                <a:schemeClr val="accent5"/>
              </a:solidFill>
              <a:ea typeface="宋体" panose="02010600030101010101" pitchFamily="2" charset="-122"/>
              <a:sym typeface="+mn-ea"/>
            </a:endParaRPr>
          </a:p>
        </p:txBody>
      </p:sp>
      <p:pic>
        <p:nvPicPr>
          <p:cNvPr id="17" name="图片 16"/>
          <p:cNvPicPr>
            <a:picLocks noChangeAspect="1"/>
          </p:cNvPicPr>
          <p:nvPr/>
        </p:nvPicPr>
        <p:blipFill>
          <a:blip r:embed="rId5"/>
          <a:stretch>
            <a:fillRect/>
          </a:stretch>
        </p:blipFill>
        <p:spPr>
          <a:xfrm>
            <a:off x="1134110" y="4413250"/>
            <a:ext cx="411480"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Test类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6627" name="内容占位符 2"/>
          <p:cNvSpPr>
            <a:spLocks noGrp="1"/>
          </p:cNvSpPr>
          <p:nvPr>
            <p:ph idx="4294967295"/>
          </p:nvPr>
        </p:nvSpPr>
        <p:spPr>
          <a:xfrm>
            <a:off x="1737360" y="1317013"/>
            <a:ext cx="7537450" cy="4816475"/>
          </a:xfrm>
        </p:spPr>
        <p:txBody>
          <a:bodyPr/>
          <a:p>
            <a:pPr eaLnBrk="1" hangingPunct="1">
              <a:buFont typeface="Wingdings" panose="05000000000000000000" charset="0"/>
              <a:buChar char="n"/>
            </a:pPr>
            <a:r>
              <a:rPr lang="zh-CN" altLang="en-US" dirty="0">
                <a:solidFill>
                  <a:srgbClr val="ED7D31"/>
                </a:solidFill>
                <a:ea typeface="宋体" panose="02010600030101010101" pitchFamily="2" charset="-122"/>
              </a:rPr>
              <a:t>实例：</a:t>
            </a:r>
            <a:endParaRPr lang="en-US" dirty="0">
              <a:solidFill>
                <a:srgbClr val="ED7D31"/>
              </a:solidFill>
              <a:ea typeface="宋体" panose="02010600030101010101" pitchFamily="2" charset="-122"/>
            </a:endParaRPr>
          </a:p>
          <a:p>
            <a:pPr marL="819150" lvl="1" indent="-361950" eaLnBrk="1" hangingPunct="1">
              <a:buFont typeface="Times"/>
              <a:buNone/>
            </a:pPr>
            <a:r>
              <a:rPr lang="en-US" sz="2800" dirty="0">
                <a:solidFill>
                  <a:srgbClr val="002060"/>
                </a:solidFill>
                <a:ea typeface="宋体" panose="02010600030101010101" pitchFamily="2" charset="-122"/>
              </a:rPr>
              <a:t>public class Test {</a:t>
            </a:r>
            <a:endParaRPr lang="en-US" sz="2800" dirty="0">
              <a:solidFill>
                <a:srgbClr val="002060"/>
              </a:solidFill>
              <a:ea typeface="宋体" panose="02010600030101010101" pitchFamily="2" charset="-122"/>
            </a:endParaRPr>
          </a:p>
          <a:p>
            <a:pPr marL="819150" lvl="1" indent="-361950" eaLnBrk="1" hangingPunct="1">
              <a:buFont typeface="Times"/>
              <a:buNone/>
            </a:pPr>
            <a:r>
              <a:rPr lang="en-US" sz="2800" dirty="0">
                <a:solidFill>
                  <a:srgbClr val="002060"/>
                </a:solidFill>
                <a:ea typeface="宋体" panose="02010600030101010101" pitchFamily="2" charset="-122"/>
              </a:rPr>
              <a:t>    public static void main(String[] </a:t>
            </a:r>
            <a:r>
              <a:rPr lang="en-US" sz="2800" dirty="0" err="1">
                <a:solidFill>
                  <a:srgbClr val="002060"/>
                </a:solidFill>
                <a:ea typeface="宋体" panose="02010600030101010101" pitchFamily="2" charset="-122"/>
              </a:rPr>
              <a:t>args</a:t>
            </a:r>
            <a:r>
              <a:rPr lang="en-US" sz="2800" dirty="0">
                <a:solidFill>
                  <a:srgbClr val="002060"/>
                </a:solidFill>
                <a:ea typeface="宋体" panose="02010600030101010101" pitchFamily="2" charset="-122"/>
              </a:rPr>
              <a:t>) {</a:t>
            </a:r>
            <a:endParaRPr lang="en-US" sz="2800" dirty="0">
              <a:solidFill>
                <a:srgbClr val="002060"/>
              </a:solidFill>
              <a:ea typeface="宋体" panose="02010600030101010101" pitchFamily="2" charset="-122"/>
            </a:endParaRPr>
          </a:p>
          <a:p>
            <a:pPr marL="819150" lvl="1" indent="-361950" eaLnBrk="1" hangingPunct="1">
              <a:buFont typeface="Times"/>
              <a:buNone/>
            </a:pPr>
            <a:r>
              <a:rPr lang="en-US" sz="2800" dirty="0">
                <a:solidFill>
                  <a:srgbClr val="002060"/>
                </a:solidFill>
                <a:ea typeface="宋体" panose="02010600030101010101" pitchFamily="2" charset="-122"/>
              </a:rPr>
              <a:t>        </a:t>
            </a:r>
            <a:r>
              <a:rPr lang="en-US" sz="2800" dirty="0" err="1">
                <a:solidFill>
                  <a:srgbClr val="002060"/>
                </a:solidFill>
                <a:ea typeface="宋体" panose="02010600030101010101" pitchFamily="2" charset="-122"/>
              </a:rPr>
              <a:t>System.out.println</a:t>
            </a:r>
            <a:r>
              <a:rPr lang="en-US" sz="2800" dirty="0">
                <a:solidFill>
                  <a:srgbClr val="002060"/>
                </a:solidFill>
                <a:ea typeface="宋体" panose="02010600030101010101" pitchFamily="2" charset="-122"/>
              </a:rPr>
              <a:t>("Hello World!");</a:t>
            </a:r>
            <a:endParaRPr lang="en-US" sz="2800" dirty="0">
              <a:solidFill>
                <a:srgbClr val="002060"/>
              </a:solidFill>
              <a:ea typeface="宋体" panose="02010600030101010101" pitchFamily="2" charset="-122"/>
            </a:endParaRPr>
          </a:p>
          <a:p>
            <a:pPr marL="819150" lvl="1" indent="-361950" eaLnBrk="1" hangingPunct="1">
              <a:buFont typeface="Times"/>
              <a:buNone/>
            </a:pPr>
            <a:r>
              <a:rPr lang="en-US" sz="2800" dirty="0">
                <a:solidFill>
                  <a:srgbClr val="002060"/>
                </a:solidFill>
                <a:ea typeface="宋体" panose="02010600030101010101" pitchFamily="2" charset="-122"/>
              </a:rPr>
              <a:t>	  </a:t>
            </a:r>
            <a:r>
              <a:rPr lang="en-US" sz="2800" dirty="0" smtClean="0">
                <a:solidFill>
                  <a:srgbClr val="002060"/>
                </a:solidFill>
                <a:ea typeface="宋体" panose="02010600030101010101" pitchFamily="2" charset="-122"/>
              </a:rPr>
              <a:t>   </a:t>
            </a:r>
            <a:r>
              <a:rPr lang="en-US" sz="2800" dirty="0" err="1">
                <a:solidFill>
                  <a:srgbClr val="002060"/>
                </a:solidFill>
                <a:ea typeface="宋体" panose="02010600030101010101" pitchFamily="2" charset="-122"/>
              </a:rPr>
              <a:t>System.out.println</a:t>
            </a:r>
            <a:r>
              <a:rPr lang="en-US" sz="2800" dirty="0">
                <a:solidFill>
                  <a:srgbClr val="002060"/>
                </a:solidFill>
                <a:ea typeface="宋体" panose="02010600030101010101" pitchFamily="2" charset="-122"/>
              </a:rPr>
              <a:t>("</a:t>
            </a:r>
            <a:r>
              <a:rPr lang="zh-CN" altLang="en-US" sz="2800" dirty="0">
                <a:solidFill>
                  <a:srgbClr val="002060"/>
                </a:solidFill>
                <a:ea typeface="宋体" panose="02010600030101010101" pitchFamily="2" charset="-122"/>
              </a:rPr>
              <a:t>你好</a:t>
            </a:r>
            <a:r>
              <a:rPr lang="en-US" sz="2800" dirty="0">
                <a:solidFill>
                  <a:srgbClr val="002060"/>
                </a:solidFill>
                <a:ea typeface="宋体" panose="02010600030101010101" pitchFamily="2" charset="-122"/>
              </a:rPr>
              <a:t>!");</a:t>
            </a:r>
            <a:endParaRPr lang="en-US" sz="2800" dirty="0">
              <a:solidFill>
                <a:srgbClr val="002060"/>
              </a:solidFill>
              <a:ea typeface="宋体" panose="02010600030101010101" pitchFamily="2" charset="-122"/>
            </a:endParaRPr>
          </a:p>
          <a:p>
            <a:pPr marL="819150" lvl="1" indent="-361950" eaLnBrk="1" hangingPunct="1">
              <a:buFont typeface="Times"/>
              <a:buNone/>
            </a:pPr>
            <a:r>
              <a:rPr lang="en-US" sz="2800" dirty="0">
                <a:solidFill>
                  <a:srgbClr val="002060"/>
                </a:solidFill>
                <a:ea typeface="宋体" panose="02010600030101010101" pitchFamily="2" charset="-122"/>
              </a:rPr>
              <a:t>    }</a:t>
            </a:r>
            <a:endParaRPr lang="en-US" sz="2800" dirty="0">
              <a:solidFill>
                <a:srgbClr val="002060"/>
              </a:solidFill>
              <a:ea typeface="宋体" panose="02010600030101010101" pitchFamily="2" charset="-122"/>
            </a:endParaRPr>
          </a:p>
          <a:p>
            <a:pPr marL="819150" lvl="1" indent="-361950" eaLnBrk="1" hangingPunct="1">
              <a:buFont typeface="Times"/>
              <a:buNone/>
            </a:pPr>
            <a:r>
              <a:rPr lang="en-US" sz="2800" dirty="0">
                <a:solidFill>
                  <a:srgbClr val="002060"/>
                </a:solidFill>
                <a:ea typeface="宋体" panose="02010600030101010101" pitchFamily="2" charset="-122"/>
              </a:rPr>
              <a:t>}</a:t>
            </a:r>
            <a:endParaRPr lang="en-US" altLang="en-US" sz="2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4122" y="1317012"/>
            <a:ext cx="7537450" cy="4816475"/>
          </a:xfrm>
        </p:spPr>
        <p:txBody>
          <a:bodyPr/>
          <a:p>
            <a:pPr marL="457200" indent="-457200" eaLnBrk="1" hangingPunct="1">
              <a:buClr>
                <a:srgbClr val="ED7D31"/>
              </a:buClr>
              <a:buFont typeface="+mj-lt"/>
              <a:buAutoNum type="arabicPeriod"/>
            </a:pPr>
            <a:r>
              <a:rPr lang="zh-CN" altLang="en-US" dirty="0">
                <a:ea typeface="宋体" panose="02010600030101010101" pitchFamily="2" charset="-122"/>
              </a:rPr>
              <a:t>编写一个</a:t>
            </a:r>
            <a:r>
              <a:rPr lang="en-US" b="1" dirty="0"/>
              <a:t>T</a:t>
            </a:r>
            <a:r>
              <a:rPr lang="en-US" b="1" dirty="0"/>
              <a:t>riangle</a:t>
            </a:r>
            <a:r>
              <a:rPr lang="zh-CN" altLang="en-US" dirty="0">
                <a:ea typeface="宋体" panose="02010600030101010101" pitchFamily="2" charset="-122"/>
              </a:rPr>
              <a:t>类</a:t>
            </a:r>
            <a:r>
              <a:rPr lang="en-US" dirty="0">
                <a:ea typeface="宋体" panose="02010600030101010101" pitchFamily="2" charset="-122"/>
              </a:rPr>
              <a:t>，</a:t>
            </a:r>
            <a:r>
              <a:rPr lang="zh-CN" altLang="en-US" dirty="0">
                <a:ea typeface="宋体" panose="02010600030101010101" pitchFamily="2" charset="-122"/>
              </a:rPr>
              <a:t>打印输出三角形如下：</a:t>
            </a:r>
            <a:endParaRPr lang="zh-CN" altLang="en-US" dirty="0">
              <a:ea typeface="宋体" panose="02010600030101010101" pitchFamily="2" charset="-122"/>
            </a:endParaRPr>
          </a:p>
          <a:p>
            <a:pPr marL="0" indent="0" eaLnBrk="1" hangingPunct="1">
              <a:buFont typeface="Times New Roman" panose="02020603050405020304" charset="0"/>
              <a:buNone/>
            </a:pPr>
            <a:endParaRPr lang="zh-CN" altLang="en-US" dirty="0">
              <a:ea typeface="宋体" panose="02010600030101010101" pitchFamily="2" charset="-122"/>
            </a:endParaRPr>
          </a:p>
          <a:p>
            <a:pPr marL="800100" lvl="1" indent="-457200" eaLnBrk="1" hangingPunct="1">
              <a:buFont typeface="Times"/>
              <a:buNone/>
            </a:pPr>
            <a:r>
              <a:rPr lang="zh-CN" altLang="en-US" dirty="0">
                <a:ea typeface="宋体" panose="02010600030101010101" pitchFamily="2" charset="-122"/>
              </a:rPr>
              <a:t>  *</a:t>
            </a:r>
            <a:endParaRPr lang="zh-CN" altLang="en-US" dirty="0">
              <a:ea typeface="宋体" panose="02010600030101010101" pitchFamily="2" charset="-122"/>
            </a:endParaRPr>
          </a:p>
          <a:p>
            <a:pPr marL="800100" lvl="1" indent="-457200" eaLnBrk="1" hangingPunct="1">
              <a:buFont typeface="Times"/>
              <a:buNone/>
            </a:pPr>
            <a:r>
              <a:rPr lang="zh-CN" altLang="en-US" dirty="0">
                <a:ea typeface="宋体" panose="02010600030101010101" pitchFamily="2" charset="-122"/>
              </a:rPr>
              <a:t>  **</a:t>
            </a:r>
            <a:endParaRPr lang="zh-CN" altLang="en-US" dirty="0">
              <a:ea typeface="宋体" panose="02010600030101010101" pitchFamily="2" charset="-122"/>
            </a:endParaRPr>
          </a:p>
          <a:p>
            <a:pPr marL="800100" lvl="1" indent="-457200" eaLnBrk="1" hangingPunct="1">
              <a:buFont typeface="Times"/>
              <a:buNone/>
            </a:pPr>
            <a:r>
              <a:rPr lang="zh-CN" altLang="en-US" dirty="0">
                <a:ea typeface="宋体" panose="02010600030101010101" pitchFamily="2" charset="-122"/>
              </a:rPr>
              <a:t>  ***</a:t>
            </a:r>
            <a:endParaRPr lang="zh-CN" altLang="en-US" dirty="0">
              <a:ea typeface="宋体" panose="02010600030101010101" pitchFamily="2" charset="-122"/>
            </a:endParaRPr>
          </a:p>
          <a:p>
            <a:pPr marL="800100" lvl="1" indent="-457200" eaLnBrk="1" hangingPunct="1">
              <a:buFont typeface="Times"/>
              <a:buNone/>
            </a:pPr>
            <a:r>
              <a:rPr lang="zh-CN" altLang="en-US" dirty="0">
                <a:ea typeface="宋体" panose="02010600030101010101" pitchFamily="2" charset="-122"/>
              </a:rPr>
              <a:t>  ****</a:t>
            </a:r>
            <a:endParaRPr lang="zh-CN" altLang="en-US" dirty="0">
              <a:ea typeface="宋体" panose="02010600030101010101" pitchFamily="2" charset="-122"/>
            </a:endParaRPr>
          </a:p>
          <a:p>
            <a:pPr marL="800100" lvl="1" indent="-457200" eaLnBrk="1" hangingPunct="1">
              <a:buFont typeface="Times"/>
              <a:buNone/>
            </a:pPr>
            <a:r>
              <a:rPr lang="zh-CN" altLang="en-US" dirty="0">
                <a:ea typeface="宋体" panose="02010600030101010101" pitchFamily="2" charset="-122"/>
              </a:rPr>
              <a:t>  *****</a:t>
            </a:r>
            <a:endParaRPr lang="zh-CN" altLang="en-US" dirty="0">
              <a:ea typeface="宋体" panose="02010600030101010101" pitchFamily="2" charset="-122"/>
            </a:endParaRPr>
          </a:p>
          <a:p>
            <a:pPr marL="800100" lvl="1" indent="-457200" eaLnBrk="1" hangingPunct="1">
              <a:buFont typeface="Times"/>
              <a:buNone/>
            </a:pPr>
            <a:r>
              <a:rPr lang="zh-CN" altLang="en-US" dirty="0">
                <a:ea typeface="宋体" panose="02010600030101010101" pitchFamily="2" charset="-122"/>
              </a:rPr>
              <a:t>  ******</a:t>
            </a:r>
            <a:endParaRPr lang="zh-CN" altLang="en-US" dirty="0">
              <a:ea typeface="宋体" panose="02010600030101010101" pitchFamily="2" charset="-122"/>
            </a:endParaRPr>
          </a:p>
          <a:p>
            <a:pPr marL="800100" lvl="1" indent="-457200" eaLnBrk="1" hangingPunct="1">
              <a:buFont typeface="Times"/>
              <a:buNone/>
            </a:pPr>
            <a:r>
              <a:rPr lang="zh-CN" altLang="en-US"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rPr>
              <a:t>安装开发工具</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第四节 </a:t>
            </a:r>
            <a:r>
              <a:rPr lang="zh-CN" altLang="en-US" sz="6665" dirty="0">
                <a:solidFill>
                  <a:schemeClr val="bg1"/>
                </a:solidFill>
                <a:latin typeface="Arial" panose="020B0604020202020204" pitchFamily="34" charset="0"/>
                <a:ea typeface="宋体" panose="02010600030101010101" pitchFamily="2" charset="-122"/>
                <a:sym typeface="+mn-ea"/>
              </a:rPr>
              <a:t>标识符</a:t>
            </a:r>
            <a:r>
              <a:rPr lang="zh-CN" altLang="en-US" sz="6665" dirty="0">
                <a:solidFill>
                  <a:schemeClr val="bg1"/>
                </a:solidFill>
                <a:latin typeface="Arial" panose="020B0604020202020204" pitchFamily="34" charset="0"/>
                <a:ea typeface="宋体" panose="02010600030101010101" pitchFamily="2" charset="-122"/>
                <a:sym typeface="+mn-ea"/>
              </a:rPr>
              <a:t>与注释</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rPr>
              <a:t>标识符</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4122" y="1317012"/>
            <a:ext cx="7537450" cy="4816475"/>
          </a:xfrm>
        </p:spPr>
        <p:txBody>
          <a:bodyPr>
            <a:normAutofit/>
          </a:bodyPr>
          <a:p>
            <a:pPr marL="457200" indent="-457200" eaLnBrk="1" hangingPunct="1">
              <a:buClr>
                <a:srgbClr val="ED7D31"/>
              </a:buClr>
              <a:buFont typeface="+mj-lt"/>
              <a:buAutoNum type="arabicPeriod"/>
            </a:pPr>
            <a:r>
              <a:rPr lang="zh-CN" altLang="en-US" dirty="0">
                <a:ea typeface="宋体" panose="02010600030101010101" pitchFamily="2" charset="-122"/>
                <a:sym typeface="+mn-ea"/>
              </a:rPr>
              <a:t>类名</a:t>
            </a:r>
            <a:r>
              <a:rPr lang="zh-CN" altLang="en-US" dirty="0">
                <a:ea typeface="宋体" panose="02010600030101010101" pitchFamily="2" charset="-122"/>
                <a:sym typeface="+mn-ea"/>
              </a:rPr>
              <a:t>是一种标识符，</a:t>
            </a:r>
            <a:r>
              <a:rPr lang="zh-CN" altLang="en-US" dirty="0">
                <a:ea typeface="宋体" panose="02010600030101010101" pitchFamily="2" charset="-122"/>
                <a:sym typeface="+mn-ea"/>
              </a:rPr>
              <a:t>变量</a:t>
            </a:r>
            <a:r>
              <a:rPr lang="zh-CN" altLang="en-US" dirty="0">
                <a:ea typeface="宋体" panose="02010600030101010101" pitchFamily="2" charset="-122"/>
                <a:sym typeface="+mn-ea"/>
              </a:rPr>
              <a:t>、方法名等也都是</a:t>
            </a:r>
            <a:r>
              <a:rPr lang="zh-CN" altLang="en-US" dirty="0" smtClean="0">
                <a:ea typeface="宋体" panose="02010600030101010101" pitchFamily="2" charset="-122"/>
                <a:sym typeface="+mn-ea"/>
              </a:rPr>
              <a:t>标识符</a:t>
            </a:r>
            <a:endParaRPr lang="zh-CN" altLang="en-US" dirty="0" smtClean="0">
              <a:ea typeface="宋体" panose="02010600030101010101" pitchFamily="2" charset="-122"/>
              <a:sym typeface="+mn-ea"/>
            </a:endParaRPr>
          </a:p>
          <a:p>
            <a:pPr marL="457200" indent="-457200" eaLnBrk="1" hangingPunct="1">
              <a:buClr>
                <a:srgbClr val="ED7D31"/>
              </a:buClr>
              <a:buFont typeface="+mj-lt"/>
              <a:buAutoNum type="arabicPeriod"/>
            </a:pPr>
            <a:r>
              <a:rPr lang="zh-CN" altLang="en-US" dirty="0" smtClean="0">
                <a:ea typeface="宋体" panose="02010600030101010101" pitchFamily="2" charset="-122"/>
                <a:sym typeface="+mn-ea"/>
              </a:rPr>
              <a:t>标识符</a:t>
            </a:r>
            <a:r>
              <a:rPr lang="en-US" dirty="0" err="1" smtClean="0">
                <a:ea typeface="宋体" panose="02010600030101010101" pitchFamily="2" charset="-122"/>
                <a:sym typeface="+mn-ea"/>
              </a:rPr>
              <a:t>大小写是敏感的</a:t>
            </a:r>
            <a:endParaRPr lang="zh-CN" altLang="en-US" dirty="0" smtClean="0">
              <a:ea typeface="宋体" panose="02010600030101010101" pitchFamily="2" charset="-122"/>
              <a:sym typeface="+mn-ea"/>
            </a:endParaRPr>
          </a:p>
          <a:p>
            <a:pPr marL="457200" indent="-457200" eaLnBrk="1" hangingPunct="1">
              <a:buClr>
                <a:srgbClr val="ED7D31"/>
              </a:buClr>
              <a:buFont typeface="+mj-lt"/>
              <a:buAutoNum type="arabicPeriod"/>
            </a:pPr>
            <a:r>
              <a:rPr lang="zh-CN" altLang="en-US" dirty="0">
                <a:ea typeface="宋体" panose="02010600030101010101" pitchFamily="2" charset="-122"/>
                <a:sym typeface="+mn-ea"/>
              </a:rPr>
              <a:t>标识符可使用以下字符命名：</a:t>
            </a:r>
            <a:endParaRPr lang="zh-CN" altLang="en-US" dirty="0">
              <a:ea typeface="宋体" panose="02010600030101010101" pitchFamily="2" charset="-122"/>
              <a:sym typeface="+mn-ea"/>
            </a:endParaRPr>
          </a:p>
          <a:p>
            <a:pPr marL="914400" lvl="3" indent="-457200" eaLnBrk="1" hangingPunct="1">
              <a:buClr>
                <a:srgbClr val="ED7D31"/>
              </a:buClr>
              <a:buFont typeface="Wingdings" panose="05000000000000000000" charset="0"/>
              <a:buChar char="n"/>
            </a:pPr>
            <a:r>
              <a:rPr lang="zh-CN" altLang="en-US" dirty="0">
                <a:solidFill>
                  <a:srgbClr val="002060"/>
                </a:solidFill>
                <a:ea typeface="宋体" panose="02010600030101010101" pitchFamily="2" charset="-122"/>
                <a:sym typeface="+mn-ea"/>
              </a:rPr>
              <a:t>字母</a:t>
            </a:r>
            <a:endParaRPr lang="zh-CN" altLang="en-US" dirty="0">
              <a:solidFill>
                <a:srgbClr val="002060"/>
              </a:solidFill>
              <a:ea typeface="宋体" panose="02010600030101010101" pitchFamily="2" charset="-122"/>
              <a:sym typeface="+mn-ea"/>
            </a:endParaRPr>
          </a:p>
          <a:p>
            <a:pPr marL="914400" lvl="3" indent="-457200" algn="l" eaLnBrk="1" hangingPunct="1">
              <a:buClr>
                <a:srgbClr val="ED7D31"/>
              </a:buClr>
              <a:buSzTx/>
              <a:buFont typeface="Wingdings" panose="05000000000000000000" charset="0"/>
              <a:buChar char="n"/>
            </a:pPr>
            <a:r>
              <a:rPr lang="zh-CN" altLang="en-US" sz="1800" dirty="0">
                <a:solidFill>
                  <a:srgbClr val="002060"/>
                </a:solidFill>
                <a:ea typeface="宋体" panose="02010600030101010101" pitchFamily="2" charset="-122"/>
                <a:sym typeface="+mn-ea"/>
              </a:rPr>
              <a:t>数字（不能作为首字符）</a:t>
            </a:r>
            <a:endParaRPr lang="zh-CN" altLang="en-US" sz="1800" dirty="0">
              <a:solidFill>
                <a:srgbClr val="002060"/>
              </a:solidFill>
              <a:ea typeface="宋体" panose="02010600030101010101" pitchFamily="2" charset="-122"/>
              <a:sym typeface="+mn-ea"/>
            </a:endParaRPr>
          </a:p>
          <a:p>
            <a:pPr marL="914400" lvl="3" indent="-457200" algn="l" eaLnBrk="1" hangingPunct="1">
              <a:buClr>
                <a:srgbClr val="ED7D31"/>
              </a:buClr>
              <a:buSzTx/>
              <a:buFont typeface="Wingdings" panose="05000000000000000000" charset="0"/>
              <a:buChar char="n"/>
            </a:pPr>
            <a:r>
              <a:rPr lang="zh-CN" altLang="en-US" sz="1800" dirty="0">
                <a:solidFill>
                  <a:srgbClr val="002060"/>
                </a:solidFill>
                <a:ea typeface="宋体" panose="02010600030101010101" pitchFamily="2" charset="-122"/>
                <a:sym typeface="+mn-ea"/>
              </a:rPr>
              <a:t>特殊符号（_和$）</a:t>
            </a:r>
            <a:endParaRPr lang="zh-CN" altLang="en-US" dirty="0">
              <a:solidFill>
                <a:srgbClr val="002060"/>
              </a:solidFill>
              <a:ea typeface="宋体" panose="02010600030101010101" pitchFamily="2" charset="-122"/>
              <a:sym typeface="+mn-ea"/>
            </a:endParaRPr>
          </a:p>
          <a:p>
            <a:pPr marL="457200" indent="-457200" eaLnBrk="1" hangingPunct="1">
              <a:buClr>
                <a:srgbClr val="ED7D31"/>
              </a:buClr>
              <a:buFont typeface="+mj-lt"/>
              <a:buAutoNum type="arabicPeriod"/>
            </a:pPr>
            <a:r>
              <a:rPr lang="zh-CN" altLang="en-US" dirty="0">
                <a:ea typeface="宋体" panose="02010600030101010101" pitchFamily="2" charset="-122"/>
                <a:sym typeface="+mn-ea"/>
              </a:rPr>
              <a:t>标识符的首位不能是数字</a:t>
            </a:r>
            <a:endParaRPr lang="zh-CN" altLang="en-US" dirty="0">
              <a:ea typeface="宋体" panose="02010600030101010101" pitchFamily="2" charset="-122"/>
              <a:sym typeface="+mn-ea"/>
            </a:endParaRPr>
          </a:p>
          <a:p>
            <a:pPr marL="457200" indent="-457200" eaLnBrk="1" hangingPunct="1">
              <a:buClr>
                <a:srgbClr val="ED7D31"/>
              </a:buClr>
              <a:buFont typeface="+mj-lt"/>
              <a:buAutoNum type="arabicPeriod"/>
            </a:pPr>
            <a:r>
              <a:rPr lang="zh-CN" altLang="en-US" dirty="0">
                <a:ea typeface="宋体" panose="02010600030101010101" pitchFamily="2" charset="-122"/>
                <a:sym typeface="+mn-ea"/>
              </a:rPr>
              <a:t>不能使用</a:t>
            </a:r>
            <a:r>
              <a:rPr lang="en-US" altLang="zh-CN" dirty="0">
                <a:ea typeface="宋体" panose="02010600030101010101" pitchFamily="2" charset="-122"/>
                <a:sym typeface="+mn-ea"/>
              </a:rPr>
              <a:t>Java</a:t>
            </a:r>
            <a:r>
              <a:rPr lang="zh-CN" altLang="en-US" dirty="0">
                <a:ea typeface="宋体" panose="02010600030101010101" pitchFamily="2" charset="-122"/>
                <a:sym typeface="+mn-ea"/>
              </a:rPr>
              <a:t>语言关键字作为</a:t>
            </a:r>
            <a:r>
              <a:rPr lang="zh-CN" altLang="en-US" dirty="0" smtClean="0">
                <a:ea typeface="宋体" panose="02010600030101010101" pitchFamily="2" charset="-122"/>
                <a:sym typeface="+mn-ea"/>
              </a:rPr>
              <a:t>标识符</a:t>
            </a:r>
            <a:endParaRPr lang="en-US" altLang="zh-CN" dirty="0" smtClean="0">
              <a:ea typeface="宋体" panose="02010600030101010101" pitchFamily="2" charset="-122"/>
            </a:endParaRPr>
          </a:p>
          <a:p>
            <a:pPr marL="457200" indent="-457200" eaLnBrk="1" hangingPunct="1">
              <a:buClr>
                <a:srgbClr val="ED7D31"/>
              </a:buClr>
              <a:buFont typeface="+mj-lt"/>
              <a:buAutoNum type="arabicPeriod"/>
            </a:pPr>
            <a:r>
              <a:rPr lang="zh-CN" altLang="en-US" dirty="0" smtClean="0">
                <a:ea typeface="宋体" panose="02010600030101010101" pitchFamily="2" charset="-122"/>
                <a:sym typeface="+mn-ea"/>
              </a:rPr>
              <a:t>尽量做到见名知意</a:t>
            </a: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Java语言的关键字（保留字）</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70660" name="Picture 1"/>
          <p:cNvPicPr>
            <a:picLocks noGrp="1" noChangeAspect="1" noChangeArrowheads="1"/>
          </p:cNvPicPr>
          <p:nvPr>
            <p:ph idx="4294967295"/>
          </p:nvPr>
        </p:nvPicPr>
        <p:blipFill>
          <a:blip r:embed="rId5"/>
          <a:srcRect/>
          <a:stretch>
            <a:fillRect/>
          </a:stretch>
        </p:blipFill>
        <p:spPr>
          <a:xfrm>
            <a:off x="1734185" y="1240790"/>
            <a:ext cx="7725410" cy="4819650"/>
          </a:xfrm>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注释语句</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4122" y="1317012"/>
            <a:ext cx="7537450" cy="4816475"/>
          </a:xfrm>
        </p:spPr>
        <p:txBody>
          <a:bodyPr>
            <a:normAutofit/>
          </a:bodyPr>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注释语句 </a:t>
            </a:r>
            <a:r>
              <a:rPr lang="en-US" altLang="zh-CN" dirty="0">
                <a:ea typeface="宋体" panose="02010600030101010101" pitchFamily="2" charset="-122"/>
                <a:sym typeface="+mn-ea"/>
              </a:rPr>
              <a:t>— </a:t>
            </a:r>
            <a:r>
              <a:rPr lang="zh-CN" altLang="en-US" dirty="0">
                <a:ea typeface="宋体" panose="02010600030101010101" pitchFamily="2" charset="-122"/>
                <a:sym typeface="+mn-ea"/>
              </a:rPr>
              <a:t>在代码执行时不起任何作用。用来提高代码的可读性</a:t>
            </a:r>
            <a:r>
              <a:rPr lang="zh-CN" altLang="en-US" dirty="0" smtClean="0">
                <a:ea typeface="宋体" panose="02010600030101010101" pitchFamily="2" charset="-122"/>
                <a:sym typeface="+mn-ea"/>
              </a:rPr>
              <a:t>标识符</a:t>
            </a:r>
            <a:r>
              <a:rPr lang="en-US" dirty="0" err="1" smtClean="0">
                <a:ea typeface="宋体" panose="02010600030101010101" pitchFamily="2" charset="-122"/>
                <a:sym typeface="+mn-ea"/>
              </a:rPr>
              <a:t>大小写是敏感的</a:t>
            </a:r>
            <a:endParaRPr lang="zh-CN" altLang="en-US" dirty="0" smtClean="0">
              <a:ea typeface="宋体" panose="02010600030101010101" pitchFamily="2" charset="-122"/>
              <a:sym typeface="+mn-ea"/>
            </a:endParaRPr>
          </a:p>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主要包括两种注释：</a:t>
            </a:r>
            <a:endParaRPr lang="zh-CN" altLang="en-US" dirty="0">
              <a:ea typeface="宋体" panose="02010600030101010101" pitchFamily="2" charset="-122"/>
              <a:sym typeface="+mn-ea"/>
            </a:endParaRPr>
          </a:p>
          <a:p>
            <a:pPr marL="914400" lvl="3" indent="-457200" eaLnBrk="1" hangingPunct="1">
              <a:lnSpc>
                <a:spcPct val="100000"/>
              </a:lnSpc>
              <a:buClr>
                <a:srgbClr val="ED7D31"/>
              </a:buClr>
              <a:buFont typeface="Wingdings" panose="05000000000000000000" charset="0"/>
              <a:buChar char="n"/>
            </a:pPr>
            <a:r>
              <a:rPr lang="zh-CN" altLang="en-US" dirty="0">
                <a:ea typeface="宋体" panose="02010600030101010101" pitchFamily="2" charset="-122"/>
                <a:sym typeface="+mn-ea"/>
              </a:rPr>
              <a:t>单行注释： </a:t>
            </a:r>
            <a:r>
              <a:rPr lang="en-US" altLang="zh-CN" dirty="0">
                <a:ea typeface="宋体" panose="02010600030101010101" pitchFamily="2" charset="-122"/>
                <a:sym typeface="+mn-ea"/>
              </a:rPr>
              <a:t>// </a:t>
            </a:r>
            <a:endParaRPr lang="zh-CN" altLang="en-US" dirty="0">
              <a:solidFill>
                <a:srgbClr val="002060"/>
              </a:solidFill>
              <a:ea typeface="宋体" panose="02010600030101010101" pitchFamily="2" charset="-122"/>
              <a:sym typeface="+mn-ea"/>
            </a:endParaRPr>
          </a:p>
          <a:p>
            <a:pPr marL="914400" lvl="3" indent="-457200" algn="l" eaLnBrk="1" hangingPunct="1">
              <a:lnSpc>
                <a:spcPct val="100000"/>
              </a:lnSpc>
              <a:buClr>
                <a:srgbClr val="ED7D31"/>
              </a:buClr>
              <a:buSzTx/>
              <a:buFont typeface="Wingdings" panose="05000000000000000000" charset="0"/>
              <a:buChar char="n"/>
            </a:pPr>
            <a:r>
              <a:rPr lang="zh-CN" altLang="en-US" dirty="0">
                <a:ea typeface="宋体" panose="02010600030101010101" pitchFamily="2" charset="-122"/>
                <a:sym typeface="+mn-ea"/>
              </a:rPr>
              <a:t>多行注释 </a:t>
            </a:r>
            <a:r>
              <a:rPr lang="en-US" altLang="zh-CN" dirty="0">
                <a:ea typeface="宋体" panose="02010600030101010101" pitchFamily="2" charset="-122"/>
                <a:sym typeface="+mn-ea"/>
              </a:rPr>
              <a:t>:  /*                   */</a:t>
            </a:r>
            <a:endParaRPr lang="en-US" altLang="zh-CN" dirty="0">
              <a:ea typeface="宋体" panose="02010600030101010101" pitchFamily="2" charset="-122"/>
              <a:sym typeface="+mn-ea"/>
            </a:endParaRPr>
          </a:p>
          <a:p>
            <a:pPr marL="914400" lvl="3" indent="-457200" algn="l" eaLnBrk="1" hangingPunct="1">
              <a:lnSpc>
                <a:spcPct val="100000"/>
              </a:lnSpc>
              <a:buClr>
                <a:srgbClr val="ED7D31"/>
              </a:buClr>
              <a:buSzTx/>
              <a:buFont typeface="Wingdings" panose="05000000000000000000" charset="0"/>
              <a:buChar char="n"/>
            </a:pPr>
            <a:r>
              <a:rPr lang="zh-CN" altLang="en-US" dirty="0">
                <a:ea typeface="宋体" panose="02010600030101010101" pitchFamily="2" charset="-122"/>
                <a:sym typeface="+mn-ea"/>
              </a:rPr>
              <a:t>文档注释：</a:t>
            </a:r>
            <a:endParaRPr lang="zh-CN" altLang="en-US" dirty="0">
              <a:ea typeface="宋体" panose="02010600030101010101" pitchFamily="2" charset="-122"/>
              <a:sym typeface="+mn-ea"/>
            </a:endParaRPr>
          </a:p>
          <a:p>
            <a:pPr marL="914400" lvl="4" indent="0" algn="l" eaLnBrk="1" hangingPunct="1">
              <a:lnSpc>
                <a:spcPct val="100000"/>
              </a:lnSpc>
              <a:buClr>
                <a:srgbClr val="ED7D31"/>
              </a:buClr>
              <a:buSzTx/>
              <a:buFont typeface="Wingdings" panose="05000000000000000000" charset="0"/>
              <a:buNone/>
            </a:pPr>
            <a:r>
              <a:rPr lang="en-US" altLang="zh-CN" dirty="0">
                <a:ea typeface="宋体" panose="02010600030101010101" pitchFamily="2" charset="-122"/>
                <a:sym typeface="+mn-ea"/>
              </a:rPr>
              <a:t>/**</a:t>
            </a:r>
            <a:endParaRPr lang="en-US" altLang="zh-CN" dirty="0">
              <a:ea typeface="宋体" panose="02010600030101010101" pitchFamily="2" charset="-122"/>
              <a:sym typeface="+mn-ea"/>
            </a:endParaRPr>
          </a:p>
          <a:p>
            <a:pPr marL="914400" lvl="4" indent="0" algn="l" eaLnBrk="1" hangingPunct="1">
              <a:lnSpc>
                <a:spcPct val="100000"/>
              </a:lnSpc>
              <a:buClr>
                <a:srgbClr val="ED7D31"/>
              </a:buClr>
              <a:buSzTx/>
              <a:buFont typeface="Wingdings" panose="05000000000000000000" charset="0"/>
              <a:buNone/>
            </a:pPr>
            <a:r>
              <a:rPr lang="en-US" altLang="zh-CN" dirty="0">
                <a:ea typeface="宋体" panose="02010600030101010101" pitchFamily="2" charset="-122"/>
                <a:sym typeface="+mn-ea"/>
              </a:rPr>
              <a:t>*</a:t>
            </a:r>
            <a:endParaRPr lang="en-US" altLang="zh-CN" dirty="0">
              <a:ea typeface="宋体" panose="02010600030101010101" pitchFamily="2" charset="-122"/>
              <a:sym typeface="+mn-ea"/>
            </a:endParaRPr>
          </a:p>
          <a:p>
            <a:pPr marL="914400" lvl="4" indent="0" algn="l" eaLnBrk="1" hangingPunct="1">
              <a:lnSpc>
                <a:spcPct val="100000"/>
              </a:lnSpc>
              <a:buClr>
                <a:srgbClr val="ED7D31"/>
              </a:buClr>
              <a:buSzTx/>
              <a:buFont typeface="Wingdings" panose="05000000000000000000" charset="0"/>
              <a:buNone/>
            </a:pPr>
            <a:r>
              <a:rPr lang="en-US" altLang="zh-CN" dirty="0">
                <a:ea typeface="宋体" panose="02010600030101010101" pitchFamily="2" charset="-122"/>
                <a:sym typeface="+mn-ea"/>
              </a:rPr>
              <a:t>...</a:t>
            </a:r>
            <a:endParaRPr lang="en-US" altLang="zh-CN" dirty="0">
              <a:ea typeface="宋体" panose="02010600030101010101" pitchFamily="2" charset="-122"/>
              <a:sym typeface="+mn-ea"/>
            </a:endParaRPr>
          </a:p>
          <a:p>
            <a:pPr marL="914400" lvl="4" indent="0" algn="l" eaLnBrk="1" hangingPunct="1">
              <a:lnSpc>
                <a:spcPct val="100000"/>
              </a:lnSpc>
              <a:buClr>
                <a:srgbClr val="ED7D31"/>
              </a:buClr>
              <a:buSzTx/>
              <a:buFont typeface="Wingdings" panose="05000000000000000000" charset="0"/>
              <a:buNone/>
            </a:pPr>
            <a:r>
              <a:rPr lang="en-US" altLang="zh-CN" dirty="0">
                <a:ea typeface="宋体" panose="02010600030101010101" pitchFamily="2" charset="-122"/>
                <a:sym typeface="+mn-ea"/>
              </a:rPr>
              <a:t>*/</a:t>
            </a:r>
            <a:endParaRPr lang="en-US" altLang="zh-CN" dirty="0">
              <a:ea typeface="宋体" panose="02010600030101010101" pitchFamily="2" charset="-122"/>
              <a:sym typeface="+mn-ea"/>
            </a:endParaRPr>
          </a:p>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常用来屏蔽暂时无用的代码</a:t>
            </a:r>
            <a:endParaRPr lang="zh-CN" altLang="en-US" dirty="0">
              <a:ea typeface="宋体" panose="02010600030101010101" pitchFamily="2" charset="-122"/>
            </a:endParaRPr>
          </a:p>
          <a:p>
            <a:pPr marL="457200" indent="-457200" eaLnBrk="1" hangingPunct="1">
              <a:buClr>
                <a:srgbClr val="ED7D31"/>
              </a:buClr>
              <a:buFont typeface="+mj-lt"/>
              <a:buAutoNum type="arabicPeriod"/>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rPr>
              <a:t>练习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4122" y="1317012"/>
            <a:ext cx="7537450" cy="4816475"/>
          </a:xfrm>
        </p:spPr>
        <p:txBody>
          <a:bodyPr>
            <a:normAutofit lnSpcReduction="10000"/>
          </a:bodyPr>
          <a:p>
            <a:pPr marL="457200" indent="-457200" eaLnBrk="1" hangingPunct="1">
              <a:lnSpc>
                <a:spcPct val="100000"/>
              </a:lnSpc>
              <a:buClr>
                <a:srgbClr val="ED7D31"/>
              </a:buClr>
              <a:buFont typeface="+mj-lt"/>
              <a:buAutoNum type="arabicPeriod"/>
            </a:pPr>
            <a:r>
              <a:rPr lang="zh-CN" altLang="en-US" dirty="0" smtClean="0">
                <a:ea typeface="宋体" panose="02010600030101010101" pitchFamily="2" charset="-122"/>
                <a:sym typeface="+mn-ea"/>
              </a:rPr>
              <a:t>声明</a:t>
            </a:r>
            <a:r>
              <a:rPr lang="en-US" altLang="zh-CN" dirty="0" smtClean="0">
                <a:ea typeface="宋体" panose="02010600030101010101" pitchFamily="2" charset="-122"/>
                <a:sym typeface="+mn-ea"/>
              </a:rPr>
              <a:t>Exercise02</a:t>
            </a:r>
            <a:r>
              <a:rPr lang="zh-CN" altLang="en-US" dirty="0" smtClean="0">
                <a:ea typeface="宋体" panose="02010600030101010101" pitchFamily="2" charset="-122"/>
                <a:sym typeface="+mn-ea"/>
              </a:rPr>
              <a:t>类</a:t>
            </a:r>
            <a:r>
              <a:rPr lang="zh-CN" altLang="en-US" dirty="0">
                <a:ea typeface="宋体" panose="02010600030101010101" pitchFamily="2" charset="-122"/>
                <a:sym typeface="+mn-ea"/>
              </a:rPr>
              <a:t>，</a:t>
            </a:r>
            <a:r>
              <a:rPr lang="zh-CN" altLang="en-US" dirty="0">
                <a:ea typeface="宋体" panose="02010600030101010101" pitchFamily="2" charset="-122"/>
                <a:sym typeface="+mn-ea"/>
              </a:rPr>
              <a:t>打印输出正方形如下：</a:t>
            </a:r>
            <a:endParaRPr lang="zh-CN" altLang="en-US" dirty="0">
              <a:ea typeface="宋体" panose="02010600030101010101" pitchFamily="2" charset="-122"/>
              <a:sym typeface="+mn-ea"/>
            </a:endParaRPr>
          </a:p>
          <a:p>
            <a:pPr marL="0" indent="0" eaLnBrk="1" hangingPunct="1">
              <a:lnSpc>
                <a:spcPct val="100000"/>
              </a:lnSpc>
              <a:buClr>
                <a:srgbClr val="ED7D31"/>
              </a:buClr>
              <a:buFont typeface="+mj-lt"/>
              <a:buNone/>
            </a:pPr>
            <a:endParaRPr lang="zh-CN" altLang="en-US" dirty="0">
              <a:ea typeface="宋体" panose="02010600030101010101" pitchFamily="2" charset="-122"/>
              <a:sym typeface="+mn-ea"/>
            </a:endParaRPr>
          </a:p>
          <a:p>
            <a:pPr marL="914400" lvl="2" indent="457200" eaLnBrk="1" hangingPunct="1">
              <a:lnSpc>
                <a:spcPct val="100000"/>
              </a:lnSpc>
              <a:buClr>
                <a:srgbClr val="ED7D31"/>
              </a:buClr>
              <a:buFont typeface="+mj-lt"/>
              <a:buNone/>
            </a:pPr>
            <a:r>
              <a:rPr lang="en-US" altLang="zh-CN" dirty="0">
                <a:ea typeface="宋体" panose="02010600030101010101" pitchFamily="2" charset="-122"/>
                <a:sym typeface="+mn-ea"/>
              </a:rPr>
              <a:t>********</a:t>
            </a:r>
            <a:endParaRPr lang="en-US" altLang="zh-CN" dirty="0">
              <a:ea typeface="宋体" panose="02010600030101010101" pitchFamily="2" charset="-122"/>
              <a:sym typeface="+mn-ea"/>
            </a:endParaRPr>
          </a:p>
          <a:p>
            <a:pPr marL="914400" lvl="2" indent="457200" eaLnBrk="1" hangingPunct="1">
              <a:lnSpc>
                <a:spcPct val="100000"/>
              </a:lnSpc>
              <a:buClr>
                <a:srgbClr val="ED7D31"/>
              </a:buClr>
              <a:buFont typeface="+mj-lt"/>
              <a:buNone/>
            </a:pPr>
            <a:r>
              <a:rPr lang="en-US" altLang="zh-CN" dirty="0">
                <a:ea typeface="宋体" panose="02010600030101010101" pitchFamily="2" charset="-122"/>
                <a:sym typeface="+mn-ea"/>
              </a:rPr>
              <a:t>********</a:t>
            </a:r>
            <a:endParaRPr lang="en-US" altLang="zh-CN" dirty="0">
              <a:ea typeface="宋体" panose="02010600030101010101" pitchFamily="2" charset="-122"/>
              <a:sym typeface="+mn-ea"/>
            </a:endParaRPr>
          </a:p>
          <a:p>
            <a:pPr marL="914400" lvl="2" indent="457200" eaLnBrk="1" hangingPunct="1">
              <a:lnSpc>
                <a:spcPct val="100000"/>
              </a:lnSpc>
              <a:buClr>
                <a:srgbClr val="ED7D31"/>
              </a:buClr>
              <a:buFont typeface="+mj-lt"/>
              <a:buNone/>
            </a:pPr>
            <a:r>
              <a:rPr lang="en-US" altLang="zh-CN" dirty="0">
                <a:ea typeface="宋体" panose="02010600030101010101" pitchFamily="2" charset="-122"/>
                <a:sym typeface="+mn-ea"/>
              </a:rPr>
              <a:t>********</a:t>
            </a:r>
            <a:endParaRPr lang="zh-CN" altLang="en-US" dirty="0">
              <a:ea typeface="宋体" panose="02010600030101010101" pitchFamily="2" charset="-122"/>
              <a:sym typeface="+mn-ea"/>
            </a:endParaRPr>
          </a:p>
          <a:p>
            <a:pPr marL="0" indent="0" eaLnBrk="1" hangingPunct="1">
              <a:lnSpc>
                <a:spcPct val="100000"/>
              </a:lnSpc>
              <a:buClr>
                <a:srgbClr val="ED7D31"/>
              </a:buClr>
              <a:buFont typeface="+mj-lt"/>
              <a:buNone/>
            </a:pPr>
            <a:endParaRPr lang="zh-CN" altLang="en-US" dirty="0">
              <a:ea typeface="宋体" panose="02010600030101010101" pitchFamily="2" charset="-122"/>
              <a:sym typeface="+mn-ea"/>
            </a:endParaRPr>
          </a:p>
          <a:p>
            <a:pPr marL="457200" indent="-457200" eaLnBrk="1" hangingPunct="1">
              <a:lnSpc>
                <a:spcPct val="100000"/>
              </a:lnSpc>
              <a:buClr>
                <a:srgbClr val="ED7D31"/>
              </a:buClr>
              <a:buFont typeface="+mj-lt"/>
              <a:buAutoNum type="arabicPeriod" startAt="2"/>
            </a:pPr>
            <a:r>
              <a:rPr lang="zh-CN" altLang="en-US" dirty="0">
                <a:ea typeface="宋体" panose="02010600030101010101" pitchFamily="2" charset="-122"/>
                <a:sym typeface="+mn-ea"/>
              </a:rPr>
              <a:t>在其中适当的位置加入单行注释和多行注释， 以增加代码的可读性。</a:t>
            </a:r>
            <a:endParaRPr lang="zh-CN" altLang="en-US" dirty="0">
              <a:ea typeface="宋体" panose="02010600030101010101" pitchFamily="2" charset="-122"/>
              <a:sym typeface="+mn-ea"/>
            </a:endParaRPr>
          </a:p>
          <a:p>
            <a:pPr marL="457200" indent="-457200" eaLnBrk="1" hangingPunct="1">
              <a:lnSpc>
                <a:spcPct val="100000"/>
              </a:lnSpc>
              <a:buClr>
                <a:srgbClr val="ED7D31"/>
              </a:buClr>
              <a:buFont typeface="+mj-lt"/>
              <a:buAutoNum type="arabicPeriod" startAt="2"/>
            </a:pPr>
            <a:r>
              <a:rPr lang="zh-CN" altLang="en-US" dirty="0">
                <a:ea typeface="宋体" panose="02010600030101010101" pitchFamily="2" charset="-122"/>
                <a:sym typeface="+mn-ea"/>
              </a:rPr>
              <a:t>编译并运行程序，验证注释对代码执行是否有影响。</a:t>
            </a:r>
            <a:endParaRPr lang="zh-CN" altLang="en-US" dirty="0">
              <a:ea typeface="宋体" panose="02010600030101010101" pitchFamily="2" charset="-122"/>
            </a:endParaRPr>
          </a:p>
          <a:p>
            <a:pPr marL="457200" indent="-457200" eaLnBrk="1" hangingPunct="1">
              <a:buClr>
                <a:srgbClr val="ED7D31"/>
              </a:buClr>
              <a:buFont typeface="+mj-lt"/>
              <a:buAutoNum type="arabicPeriod" startAt="2"/>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1831975"/>
            <a:ext cx="3369310" cy="2874645"/>
          </a:xfrm>
          <a:prstGeom prst="rect">
            <a:avLst/>
          </a:prstGeom>
          <a:noFill/>
        </p:spPr>
        <p:txBody>
          <a:bodyPr wrap="square" rtlCol="0">
            <a:noAutofit/>
          </a:bodyPr>
          <a:lstStyle/>
          <a:p>
            <a:pPr marR="0" lvl="0" indent="0" algn="l" defTabSz="914400" rtl="0" eaLnBrk="1" fontAlgn="auto" latinLnBrk="0" hangingPunct="1">
              <a:lnSpc>
                <a:spcPct val="18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zh-CN" altLang="en-US" sz="2400" dirty="0">
                <a:latin typeface="+mj-ea"/>
                <a:ea typeface="+mj-ea"/>
                <a:cs typeface="+mj-ea"/>
                <a:sym typeface="+mn-ea"/>
              </a:rPr>
              <a:t>变量与运算符</a:t>
            </a:r>
            <a:endParaRPr lang="zh-CN" altLang="en-US" sz="2400" dirty="0">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r>
              <a:rPr lang="en-US" altLang="zh-CN" sz="2400" noProof="0" dirty="0">
                <a:ln>
                  <a:noFill/>
                </a:ln>
                <a:solidFill>
                  <a:srgbClr val="ED7D31"/>
                </a:solidFill>
                <a:effectLst/>
                <a:uLnTx/>
                <a:uFillTx/>
                <a:latin typeface="+mj-ea"/>
                <a:ea typeface="+mj-ea"/>
                <a:cs typeface="+mj-ea"/>
                <a:sym typeface="思源黑体 CN Light" panose="020B0300000000000000" pitchFamily="34" charset="-122"/>
              </a:rPr>
              <a:t>2.</a:t>
            </a:r>
            <a:r>
              <a:rPr lang="zh-CN" altLang="en-US" sz="2400" dirty="0">
                <a:solidFill>
                  <a:srgbClr val="ED7D31"/>
                </a:solidFill>
                <a:latin typeface="+mj-ea"/>
                <a:ea typeface="+mj-ea"/>
                <a:cs typeface="+mj-ea"/>
                <a:sym typeface="+mn-ea"/>
              </a:rPr>
              <a:t>进制与位</a:t>
            </a:r>
            <a:endParaRPr lang="zh-CN" altLang="en-US" sz="2400" dirty="0">
              <a:solidFill>
                <a:srgbClr val="ED7D31"/>
              </a:solidFill>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r>
              <a:rPr lang="en-US" altLang="zh-CN" sz="2400" noProof="0" dirty="0">
                <a:ln>
                  <a:noFill/>
                </a:ln>
                <a:effectLst/>
                <a:uLnTx/>
                <a:uFillTx/>
                <a:latin typeface="+mj-ea"/>
                <a:ea typeface="+mj-ea"/>
                <a:cs typeface="+mj-ea"/>
                <a:sym typeface="思源黑体 CN Light" panose="020B0300000000000000" pitchFamily="34" charset="-122"/>
              </a:rPr>
              <a:t>3.</a:t>
            </a:r>
            <a:r>
              <a:rPr lang="zh-CN" altLang="en-US" sz="2400" dirty="0">
                <a:latin typeface="+mj-ea"/>
                <a:ea typeface="+mj-ea"/>
                <a:cs typeface="+mj-ea"/>
                <a:sym typeface="+mn-ea"/>
              </a:rPr>
              <a:t>八种基本数据类型</a:t>
            </a:r>
            <a:endParaRPr lang="zh-CN" altLang="en-US" sz="2400" dirty="0">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r>
              <a:rPr lang="en-US" altLang="zh-CN" sz="2400" noProof="0" dirty="0">
                <a:ln>
                  <a:noFill/>
                </a:ln>
                <a:solidFill>
                  <a:srgbClr val="ED7D31"/>
                </a:solidFill>
                <a:effectLst/>
                <a:uLnTx/>
                <a:uFillTx/>
                <a:latin typeface="+mj-ea"/>
                <a:ea typeface="+mj-ea"/>
                <a:cs typeface="+mj-ea"/>
                <a:sym typeface="思源黑体 CN Light" panose="020B0300000000000000" pitchFamily="34" charset="-122"/>
              </a:rPr>
              <a:t>4.</a:t>
            </a:r>
            <a:r>
              <a:rPr lang="zh-CN" altLang="en-US" sz="2400" dirty="0">
                <a:solidFill>
                  <a:srgbClr val="ED7D31"/>
                </a:solidFill>
                <a:latin typeface="+mj-ea"/>
                <a:ea typeface="+mj-ea"/>
                <a:cs typeface="+mj-ea"/>
                <a:sym typeface="+mn-ea"/>
              </a:rPr>
              <a:t>使用</a:t>
            </a:r>
            <a:r>
              <a:rPr lang="zh-CN" altLang="en-US" sz="2400" dirty="0" smtClean="0">
                <a:solidFill>
                  <a:srgbClr val="ED7D31"/>
                </a:solidFill>
                <a:latin typeface="+mj-ea"/>
                <a:ea typeface="+mj-ea"/>
                <a:cs typeface="+mj-ea"/>
                <a:sym typeface="+mn-ea"/>
              </a:rPr>
              <a:t>字符串</a:t>
            </a:r>
            <a:endParaRPr kumimoji="0" lang="zh-CN" altLang="en-US" sz="2400" b="0" i="0" u="none" strike="noStrike" kern="1200" cap="none" spc="0" normalizeH="0" baseline="0" noProof="0" dirty="0" smtClean="0">
              <a:ln>
                <a:noFill/>
              </a:ln>
              <a:solidFill>
                <a:srgbClr val="ED7D31"/>
              </a:solidFill>
              <a:effectLst/>
              <a:uLnTx/>
              <a:uFillTx/>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a:p>
            <a:pPr marR="0" lvl="0" indent="0" algn="l" defTabSz="914400" rtl="0" eaLnBrk="1" fontAlgn="auto" latinLnBrk="0" hangingPunct="1">
              <a:lnSpc>
                <a:spcPct val="18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solidFill>
                <a:srgbClr val="ED7D31"/>
              </a:solidFill>
              <a:effectLst/>
              <a:uLnTx/>
              <a:uFillTx/>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endParaRPr lang="zh-CN" altLang="en-US" sz="2400" dirty="0">
              <a:latin typeface="+mj-ea"/>
              <a:ea typeface="+mj-ea"/>
              <a:cs typeface="+mj-ea"/>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第二章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变量和数据类型</a:t>
            </a:r>
            <a:endPar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464945" y="3137535"/>
            <a:ext cx="8971915"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变量与运算符</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rPr>
              <a:t>变量的作用和语法结构</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4122" y="1317012"/>
            <a:ext cx="7537450" cy="4816475"/>
          </a:xfrm>
        </p:spPr>
        <p:txBody>
          <a:bodyPr>
            <a:normAutofit lnSpcReduction="10000"/>
          </a:bodyPr>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变量的作用 </a:t>
            </a:r>
            <a:r>
              <a:rPr lang="en-US" dirty="0">
                <a:ea typeface="宋体" panose="02010600030101010101" pitchFamily="2" charset="-122"/>
                <a:sym typeface="+mn-ea"/>
              </a:rPr>
              <a:t>— </a:t>
            </a:r>
            <a:r>
              <a:rPr lang="zh-CN" altLang="en-US" dirty="0">
                <a:ea typeface="宋体" panose="02010600030101010101" pitchFamily="2" charset="-122"/>
                <a:sym typeface="+mn-ea"/>
              </a:rPr>
              <a:t>存取</a:t>
            </a:r>
            <a:r>
              <a:rPr lang="zh-CN" altLang="en-US" dirty="0" smtClean="0">
                <a:ea typeface="宋体" panose="02010600030101010101" pitchFamily="2" charset="-122"/>
                <a:sym typeface="+mn-ea"/>
              </a:rPr>
              <a:t>数据</a:t>
            </a:r>
            <a:endParaRPr lang="zh-CN" altLang="en-US" dirty="0" smtClean="0">
              <a:ea typeface="宋体" panose="02010600030101010101" pitchFamily="2" charset="-122"/>
              <a:sym typeface="+mn-ea"/>
            </a:endParaRPr>
          </a:p>
          <a:p>
            <a:pPr marL="457200" indent="-457200" eaLnBrk="1" hangingPunct="1">
              <a:lnSpc>
                <a:spcPct val="100000"/>
              </a:lnSpc>
              <a:buClr>
                <a:srgbClr val="ED7D31"/>
              </a:buClr>
              <a:buFont typeface="+mj-lt"/>
              <a:buAutoNum type="arabicPeriod"/>
            </a:pPr>
            <a:r>
              <a:rPr lang="zh-CN" altLang="en-US" dirty="0" smtClean="0">
                <a:ea typeface="宋体" panose="02010600030101010101" pitchFamily="2" charset="-122"/>
                <a:sym typeface="+mn-ea"/>
              </a:rPr>
              <a:t>变量三要素：数据类型，变量名称和值。</a:t>
            </a:r>
            <a:endParaRPr lang="zh-CN" altLang="en-US" dirty="0" smtClean="0">
              <a:ea typeface="宋体" panose="02010600030101010101" pitchFamily="2" charset="-122"/>
              <a:sym typeface="+mn-ea"/>
            </a:endParaRPr>
          </a:p>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声明变量</a:t>
            </a:r>
            <a:r>
              <a:rPr lang="zh-CN" altLang="en-US" dirty="0">
                <a:ea typeface="宋体" panose="02010600030101010101" pitchFamily="2" charset="-122"/>
                <a:sym typeface="+mn-ea"/>
              </a:rPr>
              <a:t>：</a:t>
            </a:r>
            <a:endParaRPr lang="zh-CN" altLang="en-US" dirty="0">
              <a:ea typeface="宋体" panose="02010600030101010101" pitchFamily="2" charset="-122"/>
              <a:sym typeface="+mn-ea"/>
            </a:endParaRPr>
          </a:p>
          <a:p>
            <a:pPr marL="914400" lvl="3" indent="-457200" eaLnBrk="1" hangingPunct="1">
              <a:lnSpc>
                <a:spcPct val="100000"/>
              </a:lnSpc>
              <a:buClr>
                <a:srgbClr val="ED7D31"/>
              </a:buClr>
              <a:buFont typeface="Wingdings" panose="05000000000000000000" charset="0"/>
              <a:buChar char="n"/>
            </a:pPr>
            <a:r>
              <a:rPr lang="zh-CN" altLang="en-US" sz="1800" dirty="0">
                <a:ea typeface="宋体" panose="02010600030101010101" pitchFamily="2" charset="-122"/>
                <a:sym typeface="+mn-ea"/>
              </a:rPr>
              <a:t>语法：数据类型 变量名称</a:t>
            </a:r>
            <a:endParaRPr lang="zh-CN" altLang="en-US" dirty="0">
              <a:solidFill>
                <a:srgbClr val="002060"/>
              </a:solidFill>
              <a:ea typeface="宋体" panose="02010600030101010101" pitchFamily="2" charset="-122"/>
              <a:sym typeface="+mn-ea"/>
            </a:endParaRPr>
          </a:p>
          <a:p>
            <a:pPr marL="914400" lvl="3" indent="-457200" algn="l" eaLnBrk="1" hangingPunct="1">
              <a:lnSpc>
                <a:spcPct val="100000"/>
              </a:lnSpc>
              <a:buClr>
                <a:srgbClr val="ED7D31"/>
              </a:buClr>
              <a:buSzTx/>
              <a:buFont typeface="Wingdings" panose="05000000000000000000" charset="0"/>
              <a:buChar char="n"/>
            </a:pPr>
            <a:r>
              <a:rPr lang="zh-CN" altLang="en-US" dirty="0">
                <a:ea typeface="宋体" panose="02010600030101010101" pitchFamily="2" charset="-122"/>
                <a:sym typeface="+mn-ea"/>
              </a:rPr>
              <a:t>例如：</a:t>
            </a:r>
            <a:r>
              <a:rPr lang="en-US" dirty="0" err="1">
                <a:ea typeface="宋体" panose="02010600030101010101" pitchFamily="2" charset="-122"/>
                <a:sym typeface="+mn-ea"/>
              </a:rPr>
              <a:t>int</a:t>
            </a:r>
            <a:r>
              <a:rPr lang="en-US" dirty="0">
                <a:ea typeface="宋体" panose="02010600030101010101" pitchFamily="2" charset="-122"/>
                <a:sym typeface="+mn-ea"/>
              </a:rPr>
              <a:t> </a:t>
            </a:r>
            <a:r>
              <a:rPr lang="en-US" dirty="0" err="1">
                <a:ea typeface="宋体" panose="02010600030101010101" pitchFamily="2" charset="-122"/>
                <a:sym typeface="+mn-ea"/>
              </a:rPr>
              <a:t>var</a:t>
            </a:r>
            <a:r>
              <a:rPr lang="en-US" dirty="0">
                <a:ea typeface="宋体" panose="02010600030101010101" pitchFamily="2" charset="-122"/>
                <a:sym typeface="+mn-ea"/>
              </a:rPr>
              <a:t>;</a:t>
            </a:r>
            <a:endParaRPr lang="en-US" dirty="0">
              <a:ea typeface="宋体" panose="02010600030101010101" pitchFamily="2" charset="-122"/>
              <a:sym typeface="+mn-ea"/>
            </a:endParaRPr>
          </a:p>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变量的赋值</a:t>
            </a:r>
            <a:r>
              <a:rPr lang="en-US" altLang="zh-CN" dirty="0">
                <a:ea typeface="宋体" panose="02010600030101010101" pitchFamily="2" charset="-122"/>
                <a:sym typeface="+mn-ea"/>
              </a:rPr>
              <a:t> </a:t>
            </a:r>
            <a:endParaRPr lang="en-US" altLang="zh-CN" dirty="0">
              <a:ea typeface="宋体" panose="02010600030101010101" pitchFamily="2" charset="-122"/>
              <a:sym typeface="+mn-ea"/>
            </a:endParaRPr>
          </a:p>
          <a:p>
            <a:pPr marL="914400" lvl="3" indent="-457200" eaLnBrk="1" hangingPunct="1">
              <a:lnSpc>
                <a:spcPct val="100000"/>
              </a:lnSpc>
              <a:buClr>
                <a:srgbClr val="ED7D31"/>
              </a:buClr>
              <a:buFont typeface="Wingdings" panose="05000000000000000000" charset="0"/>
              <a:buChar char="n"/>
            </a:pPr>
            <a:r>
              <a:rPr lang="zh-CN" altLang="en-US" dirty="0">
                <a:ea typeface="宋体" panose="02010600030101010101" pitchFamily="2" charset="-122"/>
                <a:sym typeface="+mn-ea"/>
              </a:rPr>
              <a:t>语法：变量名称 </a:t>
            </a:r>
            <a:r>
              <a:rPr lang="en-US" dirty="0">
                <a:ea typeface="宋体" panose="02010600030101010101" pitchFamily="2" charset="-122"/>
                <a:sym typeface="+mn-ea"/>
              </a:rPr>
              <a:t>= </a:t>
            </a:r>
            <a:r>
              <a:rPr lang="zh-CN" altLang="en-US" dirty="0">
                <a:ea typeface="宋体" panose="02010600030101010101" pitchFamily="2" charset="-122"/>
                <a:sym typeface="+mn-ea"/>
              </a:rPr>
              <a:t>值</a:t>
            </a:r>
            <a:endParaRPr lang="zh-CN" altLang="en-US" dirty="0">
              <a:solidFill>
                <a:srgbClr val="002060"/>
              </a:solidFill>
              <a:ea typeface="宋体" panose="02010600030101010101" pitchFamily="2" charset="-122"/>
              <a:sym typeface="+mn-ea"/>
            </a:endParaRPr>
          </a:p>
          <a:p>
            <a:pPr marL="914400" lvl="3" indent="-457200" algn="l" eaLnBrk="1" hangingPunct="1">
              <a:lnSpc>
                <a:spcPct val="100000"/>
              </a:lnSpc>
              <a:buClr>
                <a:srgbClr val="ED7D31"/>
              </a:buClr>
              <a:buSzTx/>
              <a:buFont typeface="Wingdings" panose="05000000000000000000" charset="0"/>
              <a:buChar char="n"/>
            </a:pPr>
            <a:r>
              <a:rPr lang="zh-CN" altLang="en-US" dirty="0">
                <a:ea typeface="宋体" panose="02010600030101010101" pitchFamily="2" charset="-122"/>
                <a:sym typeface="+mn-ea"/>
              </a:rPr>
              <a:t>例如：</a:t>
            </a:r>
            <a:r>
              <a:rPr lang="en-US" dirty="0" err="1">
                <a:ea typeface="宋体" panose="02010600030101010101" pitchFamily="2" charset="-122"/>
                <a:sym typeface="+mn-ea"/>
              </a:rPr>
              <a:t>var</a:t>
            </a:r>
            <a:r>
              <a:rPr lang="en-US" dirty="0">
                <a:ea typeface="宋体" panose="02010600030101010101" pitchFamily="2" charset="-122"/>
                <a:sym typeface="+mn-ea"/>
              </a:rPr>
              <a:t> = 10;</a:t>
            </a:r>
            <a:endParaRPr lang="en-US" altLang="zh-CN" dirty="0">
              <a:ea typeface="宋体" panose="02010600030101010101" pitchFamily="2" charset="-122"/>
              <a:sym typeface="+mn-ea"/>
            </a:endParaRPr>
          </a:p>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声明和赋值变量</a:t>
            </a:r>
            <a:r>
              <a:rPr lang="en-US" altLang="zh-CN" dirty="0">
                <a:ea typeface="宋体" panose="02010600030101010101" pitchFamily="2" charset="-122"/>
                <a:sym typeface="+mn-ea"/>
              </a:rPr>
              <a:t> </a:t>
            </a:r>
            <a:endParaRPr lang="en-US" altLang="zh-CN" dirty="0">
              <a:ea typeface="宋体" panose="02010600030101010101" pitchFamily="2" charset="-122"/>
              <a:sym typeface="+mn-ea"/>
            </a:endParaRPr>
          </a:p>
          <a:p>
            <a:pPr marL="914400" lvl="3" indent="-457200" eaLnBrk="1" hangingPunct="1">
              <a:lnSpc>
                <a:spcPct val="100000"/>
              </a:lnSpc>
              <a:buClr>
                <a:srgbClr val="ED7D31"/>
              </a:buClr>
              <a:buFont typeface="Wingdings" panose="05000000000000000000" charset="0"/>
              <a:buChar char="n"/>
            </a:pPr>
            <a:r>
              <a:rPr lang="zh-CN" altLang="en-US" dirty="0">
                <a:ea typeface="宋体" panose="02010600030101010101" pitchFamily="2" charset="-122"/>
                <a:sym typeface="+mn-ea"/>
              </a:rPr>
              <a:t>例如：</a:t>
            </a:r>
            <a:r>
              <a:rPr lang="en-US" dirty="0" err="1">
                <a:ea typeface="宋体" panose="02010600030101010101" pitchFamily="2" charset="-122"/>
                <a:sym typeface="+mn-ea"/>
              </a:rPr>
              <a:t>int</a:t>
            </a:r>
            <a:r>
              <a:rPr lang="en-US" dirty="0">
                <a:ea typeface="宋体" panose="02010600030101010101" pitchFamily="2" charset="-122"/>
                <a:sym typeface="+mn-ea"/>
              </a:rPr>
              <a:t> </a:t>
            </a:r>
            <a:r>
              <a:rPr lang="en-US" dirty="0" err="1">
                <a:ea typeface="宋体" panose="02010600030101010101" pitchFamily="2" charset="-122"/>
                <a:sym typeface="+mn-ea"/>
              </a:rPr>
              <a:t>var</a:t>
            </a:r>
            <a:r>
              <a:rPr lang="en-US" dirty="0">
                <a:ea typeface="宋体" panose="02010600030101010101" pitchFamily="2" charset="-122"/>
                <a:sym typeface="+mn-ea"/>
              </a:rPr>
              <a:t> = 10;</a:t>
            </a:r>
            <a:endParaRPr lang="zh-CN" altLang="en-US" dirty="0">
              <a:ea typeface="宋体" panose="02010600030101010101" pitchFamily="2" charset="-122"/>
            </a:endParaRPr>
          </a:p>
          <a:p>
            <a:pPr marL="457200" indent="-457200" eaLnBrk="1" hangingPunct="1">
              <a:buClr>
                <a:srgbClr val="ED7D31"/>
              </a:buClr>
              <a:buFont typeface="+mj-lt"/>
              <a:buAutoNum type="arabicPeriod"/>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rPr>
              <a:t>局部变量与作用域</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4122" y="1495447"/>
            <a:ext cx="7537450" cy="4816475"/>
          </a:xfrm>
        </p:spPr>
        <p:txBody>
          <a:bodyPr>
            <a:normAutofit lnSpcReduction="10000"/>
          </a:bodyPr>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在方法中声明的变量称为局部变量</a:t>
            </a:r>
            <a:endParaRPr lang="zh-CN" altLang="en-US" dirty="0">
              <a:ea typeface="宋体" panose="02010600030101010101" pitchFamily="2" charset="-122"/>
              <a:sym typeface="+mn-ea"/>
            </a:endParaRPr>
          </a:p>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局部变量只在其所属的语句块内有效</a:t>
            </a:r>
            <a:endParaRPr lang="zh-CN" altLang="en-US" dirty="0">
              <a:ea typeface="宋体" panose="02010600030101010101" pitchFamily="2" charset="-122"/>
              <a:sym typeface="+mn-ea"/>
            </a:endParaRPr>
          </a:p>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变量在其有效范围内可以被多次使用</a:t>
            </a:r>
            <a:endParaRPr lang="zh-CN" altLang="en-US" dirty="0">
              <a:ea typeface="宋体" panose="02010600030101010101" pitchFamily="2" charset="-122"/>
              <a:sym typeface="+mn-ea"/>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 Variable类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3795" name="内容占位符 2"/>
          <p:cNvSpPr>
            <a:spLocks noGrp="1"/>
          </p:cNvSpPr>
          <p:nvPr>
            <p:ph idx="4294967295"/>
          </p:nvPr>
        </p:nvSpPr>
        <p:spPr>
          <a:xfrm>
            <a:off x="1234732" y="1160167"/>
            <a:ext cx="7537450" cy="4968875"/>
          </a:xfrm>
        </p:spPr>
        <p:txBody>
          <a:bodyPr/>
          <a:p>
            <a:pPr marL="0" indent="0" eaLnBrk="1" hangingPunct="1">
              <a:spcBef>
                <a:spcPct val="0"/>
              </a:spcBef>
              <a:buFont typeface="Times"/>
              <a:buNone/>
            </a:pPr>
            <a:r>
              <a:rPr lang="en-US" sz="2000" dirty="0">
                <a:solidFill>
                  <a:srgbClr val="002060"/>
                </a:solidFill>
                <a:ea typeface="宋体" panose="02010600030101010101" pitchFamily="2" charset="-122"/>
              </a:rPr>
              <a:t>1  public class </a:t>
            </a:r>
            <a:r>
              <a:rPr lang="en-US" sz="2000" dirty="0" smtClean="0">
                <a:solidFill>
                  <a:srgbClr val="002060"/>
                </a:solidFill>
                <a:ea typeface="宋体" panose="02010600030101010101" pitchFamily="2" charset="-122"/>
              </a:rPr>
              <a:t>Variable1 </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2      public static void main(String[] </a:t>
            </a:r>
            <a:r>
              <a:rPr lang="en-US" sz="2000" dirty="0" err="1">
                <a:solidFill>
                  <a:srgbClr val="002060"/>
                </a:solidFill>
                <a:ea typeface="宋体" panose="02010600030101010101" pitchFamily="2" charset="-122"/>
              </a:rPr>
              <a:t>args</a:t>
            </a: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3           </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number1;</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4           number1 = 10;</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5  </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6           </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number2;</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7           number2 = 20;</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8  </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9           </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number3;</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10         number3 = number1 + number2;</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11         </a:t>
            </a:r>
            <a:r>
              <a:rPr lang="en-US" sz="2000" dirty="0" err="1" smtClean="0">
                <a:solidFill>
                  <a:srgbClr val="002060"/>
                </a:solidFill>
                <a:ea typeface="宋体" panose="02010600030101010101" pitchFamily="2" charset="-122"/>
              </a:rPr>
              <a:t>System.out.println</a:t>
            </a:r>
            <a:r>
              <a:rPr lang="en-US" sz="2000" dirty="0" smtClean="0">
                <a:solidFill>
                  <a:srgbClr val="002060"/>
                </a:solidFill>
                <a:ea typeface="宋体" panose="02010600030101010101" pitchFamily="2" charset="-122"/>
              </a:rPr>
              <a:t>(number3</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12 </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13         </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number4 = 50;</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14         </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number5 = number4 - number3;</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15         </a:t>
            </a:r>
            <a:r>
              <a:rPr lang="en-US" sz="2000" dirty="0" err="1" smtClean="0">
                <a:solidFill>
                  <a:srgbClr val="002060"/>
                </a:solidFill>
                <a:ea typeface="宋体" panose="02010600030101010101" pitchFamily="2" charset="-122"/>
              </a:rPr>
              <a:t>System.out.println</a:t>
            </a:r>
            <a:r>
              <a:rPr lang="en-US" sz="2000" dirty="0" smtClean="0">
                <a:solidFill>
                  <a:srgbClr val="002060"/>
                </a:solidFill>
                <a:ea typeface="宋体" panose="02010600030101010101" pitchFamily="2" charset="-122"/>
              </a:rPr>
              <a:t>(number5</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16     }</a:t>
            </a:r>
            <a:endParaRPr lang="en-US" sz="2000" dirty="0">
              <a:solidFill>
                <a:srgbClr val="002060"/>
              </a:solidFill>
              <a:ea typeface="宋体" panose="02010600030101010101" pitchFamily="2" charset="-122"/>
            </a:endParaRPr>
          </a:p>
          <a:p>
            <a:pPr marL="0" indent="0" eaLnBrk="1" hangingPunct="1">
              <a:spcBef>
                <a:spcPct val="0"/>
              </a:spcBef>
              <a:buFont typeface="Times"/>
              <a:buNone/>
            </a:pPr>
            <a:r>
              <a:rPr lang="en-US" sz="2000" dirty="0">
                <a:solidFill>
                  <a:srgbClr val="002060"/>
                </a:solidFill>
                <a:ea typeface="宋体" panose="02010600030101010101" pitchFamily="2" charset="-122"/>
              </a:rPr>
              <a:t>17 }</a:t>
            </a:r>
            <a:endParaRPr lang="en-US" sz="20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代码格式要求</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4122" y="1495447"/>
            <a:ext cx="7537450" cy="4816475"/>
          </a:xfrm>
        </p:spPr>
        <p:txBody>
          <a:bodyPr>
            <a:normAutofit lnSpcReduction="10000"/>
          </a:bodyPr>
          <a:p>
            <a:pPr marL="457200" indent="-457200" eaLnBrk="1" hangingPunct="1">
              <a:lnSpc>
                <a:spcPct val="120000"/>
              </a:lnSpc>
              <a:buClr>
                <a:srgbClr val="ED7D31"/>
              </a:buClr>
              <a:buFont typeface="+mj-lt"/>
              <a:buAutoNum type="arabicPeriod"/>
            </a:pPr>
            <a:r>
              <a:rPr lang="zh-CN" altLang="en-US" dirty="0">
                <a:ea typeface="宋体" panose="02010600030101010101" pitchFamily="2" charset="-122"/>
                <a:sym typeface="+mn-ea"/>
              </a:rPr>
              <a:t>代码行缩进</a:t>
            </a:r>
            <a:endParaRPr lang="zh-CN" altLang="en-US" dirty="0">
              <a:ea typeface="宋体" panose="02010600030101010101" pitchFamily="2" charset="-122"/>
              <a:sym typeface="+mn-ea"/>
            </a:endParaRPr>
          </a:p>
          <a:p>
            <a:pPr marL="704850" lvl="1" indent="-361950">
              <a:lnSpc>
                <a:spcPct val="120000"/>
              </a:lnSpc>
              <a:buClr>
                <a:srgbClr val="ED7D31"/>
              </a:buClr>
              <a:buFont typeface="Wingdings" panose="05000000000000000000" charset="0"/>
              <a:buChar char="n"/>
            </a:pPr>
            <a:r>
              <a:rPr lang="zh-CN" altLang="en-US" sz="1800" dirty="0">
                <a:ea typeface="宋体" panose="02010600030101010101" pitchFamily="2" charset="-122"/>
                <a:sym typeface="+mn-ea"/>
              </a:rPr>
              <a:t>逢大括号缩进</a:t>
            </a:r>
            <a:endParaRPr lang="zh-CN" altLang="en-US" sz="1800" dirty="0">
              <a:ea typeface="宋体" panose="02010600030101010101" pitchFamily="2" charset="-122"/>
              <a:sym typeface="+mn-ea"/>
            </a:endParaRPr>
          </a:p>
          <a:p>
            <a:pPr marL="704850" lvl="1" indent="-361950">
              <a:lnSpc>
                <a:spcPct val="120000"/>
              </a:lnSpc>
              <a:buClr>
                <a:srgbClr val="ED7D31"/>
              </a:buClr>
              <a:buFont typeface="Wingdings" panose="05000000000000000000" charset="0"/>
              <a:buChar char="n"/>
            </a:pPr>
            <a:r>
              <a:rPr lang="zh-CN" altLang="en-US" sz="1800" dirty="0">
                <a:ea typeface="宋体" panose="02010600030101010101" pitchFamily="2" charset="-122"/>
                <a:sym typeface="+mn-ea"/>
              </a:rPr>
              <a:t>用</a:t>
            </a:r>
            <a:r>
              <a:rPr lang="en-US" altLang="zh-CN" sz="1800" dirty="0">
                <a:ea typeface="宋体" panose="02010600030101010101" pitchFamily="2" charset="-122"/>
                <a:sym typeface="+mn-ea"/>
              </a:rPr>
              <a:t>idea</a:t>
            </a:r>
            <a:r>
              <a:rPr lang="zh-CN" altLang="en-US" sz="1800" dirty="0">
                <a:ea typeface="宋体" panose="02010600030101010101" pitchFamily="2" charset="-122"/>
                <a:sym typeface="+mn-ea"/>
              </a:rPr>
              <a:t>还写乱的同学，使用</a:t>
            </a:r>
            <a:endParaRPr lang="en-US" sz="1800" dirty="0">
              <a:ea typeface="宋体" panose="02010600030101010101" pitchFamily="2" charset="-122"/>
            </a:endParaRPr>
          </a:p>
          <a:p>
            <a:pPr marL="457200" indent="-457200" eaLnBrk="1" hangingPunct="1">
              <a:lnSpc>
                <a:spcPct val="120000"/>
              </a:lnSpc>
              <a:buClr>
                <a:srgbClr val="ED7D31"/>
              </a:buClr>
              <a:buFont typeface="+mj-lt"/>
              <a:buAutoNum type="arabicPeriod"/>
            </a:pPr>
            <a:r>
              <a:rPr lang="zh-CN" altLang="en-US" dirty="0">
                <a:ea typeface="宋体" panose="02010600030101010101" pitchFamily="2" charset="-122"/>
                <a:sym typeface="+mn-ea"/>
              </a:rPr>
              <a:t>运算符之间加上空格</a:t>
            </a:r>
            <a:endParaRPr lang="zh-CN" altLang="en-US" dirty="0">
              <a:ea typeface="宋体" panose="02010600030101010101" pitchFamily="2" charset="-122"/>
              <a:sym typeface="+mn-ea"/>
            </a:endParaRPr>
          </a:p>
          <a:p>
            <a:pPr marL="457200" indent="-457200" eaLnBrk="1" hangingPunct="1">
              <a:lnSpc>
                <a:spcPct val="120000"/>
              </a:lnSpc>
              <a:buClr>
                <a:srgbClr val="ED7D31"/>
              </a:buClr>
              <a:buFont typeface="+mj-lt"/>
              <a:buAutoNum type="arabicPeriod"/>
            </a:pPr>
            <a:r>
              <a:rPr lang="zh-CN" altLang="en-US" dirty="0">
                <a:ea typeface="宋体" panose="02010600030101010101" pitchFamily="2" charset="-122"/>
                <a:sym typeface="+mn-ea"/>
              </a:rPr>
              <a:t>在代码行之间的适当位置加上空行</a:t>
            </a:r>
            <a:endParaRPr lang="zh-CN" altLang="en-US" dirty="0">
              <a:ea typeface="宋体" panose="02010600030101010101" pitchFamily="2" charset="-122"/>
              <a:sym typeface="+mn-ea"/>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4122" y="1495447"/>
            <a:ext cx="7537450" cy="4816475"/>
          </a:xfrm>
        </p:spPr>
        <p:txBody>
          <a:bodyPr>
            <a:normAutofit lnSpcReduction="10000"/>
          </a:bodyPr>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编写一个</a:t>
            </a:r>
            <a:r>
              <a:rPr lang="en-US" altLang="zh-CN" dirty="0" smtClean="0">
                <a:ea typeface="宋体" panose="02010600030101010101" pitchFamily="2" charset="-122"/>
                <a:sym typeface="+mn-ea"/>
              </a:rPr>
              <a:t>Exercise03</a:t>
            </a:r>
            <a:r>
              <a:rPr lang="zh-CN" altLang="en-US" dirty="0">
                <a:ea typeface="宋体" panose="02010600030101010101" pitchFamily="2" charset="-122"/>
                <a:sym typeface="+mn-ea"/>
              </a:rPr>
              <a:t>类，</a:t>
            </a:r>
            <a:r>
              <a:rPr lang="en-US" dirty="0">
                <a:ea typeface="宋体" panose="02010600030101010101" pitchFamily="2" charset="-122"/>
                <a:sym typeface="+mn-ea"/>
              </a:rPr>
              <a:t>main</a:t>
            </a:r>
            <a:r>
              <a:rPr lang="zh-CN" altLang="en-US" dirty="0">
                <a:ea typeface="宋体" panose="02010600030101010101" pitchFamily="2" charset="-122"/>
                <a:sym typeface="+mn-ea"/>
              </a:rPr>
              <a:t>方法中声明两个变量</a:t>
            </a:r>
            <a:r>
              <a:rPr lang="en-US" dirty="0">
                <a:ea typeface="宋体" panose="02010600030101010101" pitchFamily="2" charset="-122"/>
                <a:sym typeface="+mn-ea"/>
              </a:rPr>
              <a:t>var1</a:t>
            </a:r>
            <a:r>
              <a:rPr lang="zh-CN" altLang="en-US" dirty="0">
                <a:ea typeface="宋体" panose="02010600030101010101" pitchFamily="2" charset="-122"/>
                <a:sym typeface="+mn-ea"/>
              </a:rPr>
              <a:t>和</a:t>
            </a:r>
            <a:r>
              <a:rPr lang="en-US" dirty="0">
                <a:ea typeface="宋体" panose="02010600030101010101" pitchFamily="2" charset="-122"/>
                <a:sym typeface="+mn-ea"/>
              </a:rPr>
              <a:t>var2</a:t>
            </a:r>
            <a:r>
              <a:rPr lang="zh-CN" altLang="en-US" dirty="0">
                <a:ea typeface="宋体" panose="02010600030101010101" pitchFamily="2" charset="-122"/>
                <a:sym typeface="+mn-ea"/>
              </a:rPr>
              <a:t>并赋值，声明</a:t>
            </a:r>
            <a:r>
              <a:rPr lang="en-US" dirty="0">
                <a:ea typeface="宋体" panose="02010600030101010101" pitchFamily="2" charset="-122"/>
                <a:sym typeface="+mn-ea"/>
              </a:rPr>
              <a:t>var3</a:t>
            </a:r>
            <a:r>
              <a:rPr lang="zh-CN" altLang="en-US" dirty="0">
                <a:ea typeface="宋体" panose="02010600030101010101" pitchFamily="2" charset="-122"/>
                <a:sym typeface="+mn-ea"/>
              </a:rPr>
              <a:t>变量，保存</a:t>
            </a:r>
            <a:r>
              <a:rPr lang="en-US" dirty="0">
                <a:ea typeface="宋体" panose="02010600030101010101" pitchFamily="2" charset="-122"/>
                <a:sym typeface="+mn-ea"/>
              </a:rPr>
              <a:t>var1</a:t>
            </a:r>
            <a:r>
              <a:rPr lang="zh-CN" altLang="en-US" dirty="0">
                <a:ea typeface="宋体" panose="02010600030101010101" pitchFamily="2" charset="-122"/>
                <a:sym typeface="+mn-ea"/>
              </a:rPr>
              <a:t>和</a:t>
            </a:r>
            <a:r>
              <a:rPr lang="en-US" dirty="0">
                <a:ea typeface="宋体" panose="02010600030101010101" pitchFamily="2" charset="-122"/>
                <a:sym typeface="+mn-ea"/>
              </a:rPr>
              <a:t>var2</a:t>
            </a:r>
            <a:r>
              <a:rPr lang="zh-CN" altLang="en-US" dirty="0">
                <a:ea typeface="宋体" panose="02010600030101010101" pitchFamily="2" charset="-122"/>
                <a:sym typeface="+mn-ea"/>
              </a:rPr>
              <a:t>之积，然后打印输出</a:t>
            </a:r>
            <a:r>
              <a:rPr lang="en-US" dirty="0">
                <a:ea typeface="宋体" panose="02010600030101010101" pitchFamily="2" charset="-122"/>
                <a:sym typeface="+mn-ea"/>
              </a:rPr>
              <a:t>var3</a:t>
            </a:r>
            <a:r>
              <a:rPr lang="zh-CN" altLang="en-US" dirty="0">
                <a:ea typeface="宋体" panose="02010600030101010101" pitchFamily="2" charset="-122"/>
                <a:sym typeface="+mn-ea"/>
              </a:rPr>
              <a:t>的值。</a:t>
            </a:r>
            <a:endParaRPr lang="zh-CN" alt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算术运算符</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4122" y="1495447"/>
            <a:ext cx="7537450" cy="4816475"/>
          </a:xfrm>
        </p:spPr>
        <p:txBody>
          <a:bodyPr>
            <a:normAutofit/>
          </a:bodyPr>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二元运算符：</a:t>
            </a:r>
            <a:endParaRPr lang="zh-CN" altLang="en-US" dirty="0">
              <a:ea typeface="宋体" panose="02010600030101010101" pitchFamily="2" charset="-122"/>
              <a:sym typeface="+mn-ea"/>
            </a:endParaRPr>
          </a:p>
          <a:p>
            <a:pPr marL="914400" lvl="3" indent="-457200" eaLnBrk="1" hangingPunct="1">
              <a:lnSpc>
                <a:spcPct val="130000"/>
              </a:lnSpc>
              <a:buClr>
                <a:srgbClr val="ED7D31"/>
              </a:buClr>
              <a:buFont typeface="Wingdings" panose="05000000000000000000" charset="0"/>
              <a:buChar char="n"/>
            </a:pPr>
            <a:r>
              <a:rPr lang="zh-CN" altLang="en-US" dirty="0">
                <a:ea typeface="宋体" panose="02010600030101010101" pitchFamily="2" charset="-122"/>
                <a:sym typeface="+mn-ea"/>
              </a:rPr>
              <a:t>加</a:t>
            </a:r>
            <a:r>
              <a:rPr lang="en-US" dirty="0">
                <a:ea typeface="宋体" panose="02010600030101010101" pitchFamily="2" charset="-122"/>
                <a:sym typeface="+mn-ea"/>
              </a:rPr>
              <a:t>(+)</a:t>
            </a:r>
            <a:r>
              <a:rPr lang="zh-CN" altLang="en-US" dirty="0">
                <a:ea typeface="宋体" panose="02010600030101010101" pitchFamily="2" charset="-122"/>
                <a:sym typeface="+mn-ea"/>
              </a:rPr>
              <a:t>、减</a:t>
            </a:r>
            <a:r>
              <a:rPr lang="en-US" dirty="0">
                <a:ea typeface="宋体" panose="02010600030101010101" pitchFamily="2" charset="-122"/>
                <a:sym typeface="+mn-ea"/>
              </a:rPr>
              <a:t> (-)</a:t>
            </a:r>
            <a:r>
              <a:rPr lang="zh-CN" altLang="en-US" dirty="0">
                <a:ea typeface="宋体" panose="02010600030101010101" pitchFamily="2" charset="-122"/>
                <a:sym typeface="+mn-ea"/>
              </a:rPr>
              <a:t>、乘</a:t>
            </a:r>
            <a:r>
              <a:rPr lang="en-US" dirty="0">
                <a:ea typeface="宋体" panose="02010600030101010101" pitchFamily="2" charset="-122"/>
                <a:sym typeface="+mn-ea"/>
              </a:rPr>
              <a:t> (*)</a:t>
            </a:r>
            <a:r>
              <a:rPr lang="zh-CN" altLang="en-US" dirty="0">
                <a:ea typeface="宋体" panose="02010600030101010101" pitchFamily="2" charset="-122"/>
                <a:sym typeface="+mn-ea"/>
              </a:rPr>
              <a:t>、除</a:t>
            </a:r>
            <a:r>
              <a:rPr lang="en-US" dirty="0">
                <a:ea typeface="宋体" panose="02010600030101010101" pitchFamily="2" charset="-122"/>
                <a:sym typeface="+mn-ea"/>
              </a:rPr>
              <a:t>(/)</a:t>
            </a:r>
            <a:r>
              <a:rPr lang="zh-CN" altLang="en-US" dirty="0">
                <a:ea typeface="宋体" panose="02010600030101010101" pitchFamily="2" charset="-122"/>
                <a:sym typeface="+mn-ea"/>
              </a:rPr>
              <a:t>、取余</a:t>
            </a:r>
            <a:r>
              <a:rPr lang="en-US" dirty="0">
                <a:ea typeface="宋体" panose="02010600030101010101" pitchFamily="2" charset="-122"/>
                <a:sym typeface="+mn-ea"/>
              </a:rPr>
              <a:t>(%)</a:t>
            </a:r>
            <a:endParaRPr lang="zh-CN" altLang="en-US"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一元运算符：</a:t>
            </a:r>
            <a:endParaRPr lang="zh-CN" altLang="en-US" dirty="0">
              <a:ea typeface="宋体" panose="02010600030101010101" pitchFamily="2" charset="-122"/>
              <a:sym typeface="+mn-ea"/>
            </a:endParaRPr>
          </a:p>
          <a:p>
            <a:pPr marL="914400" lvl="3" indent="-457200" eaLnBrk="1" hangingPunct="1">
              <a:lnSpc>
                <a:spcPct val="130000"/>
              </a:lnSpc>
              <a:buClr>
                <a:srgbClr val="ED7D31"/>
              </a:buClr>
              <a:buFont typeface="Wingdings" panose="05000000000000000000" charset="0"/>
              <a:buChar char="n"/>
            </a:pPr>
            <a:r>
              <a:rPr lang="zh-CN" altLang="en-US" dirty="0">
                <a:ea typeface="宋体" panose="02010600030101010101" pitchFamily="2" charset="-122"/>
                <a:sym typeface="+mn-ea"/>
              </a:rPr>
              <a:t>正</a:t>
            </a:r>
            <a:r>
              <a:rPr lang="en-US" dirty="0">
                <a:ea typeface="宋体" panose="02010600030101010101" pitchFamily="2" charset="-122"/>
                <a:sym typeface="+mn-ea"/>
              </a:rPr>
              <a:t>(+) </a:t>
            </a:r>
            <a:r>
              <a:rPr lang="zh-CN" altLang="en-US" dirty="0">
                <a:ea typeface="宋体" panose="02010600030101010101" pitchFamily="2" charset="-122"/>
                <a:sym typeface="+mn-ea"/>
              </a:rPr>
              <a:t>、负</a:t>
            </a:r>
            <a:r>
              <a:rPr lang="en-US" dirty="0">
                <a:ea typeface="宋体" panose="02010600030101010101" pitchFamily="2" charset="-122"/>
                <a:sym typeface="+mn-ea"/>
              </a:rPr>
              <a:t>(-)</a:t>
            </a:r>
            <a:r>
              <a:rPr lang="zh-CN" altLang="en-US" dirty="0">
                <a:ea typeface="宋体" panose="02010600030101010101" pitchFamily="2" charset="-122"/>
                <a:sym typeface="+mn-ea"/>
              </a:rPr>
              <a:t>、前后递增</a:t>
            </a:r>
            <a:r>
              <a:rPr lang="en-US" dirty="0">
                <a:ea typeface="宋体" panose="02010600030101010101" pitchFamily="2" charset="-122"/>
                <a:sym typeface="+mn-ea"/>
              </a:rPr>
              <a:t>(++)</a:t>
            </a:r>
            <a:r>
              <a:rPr lang="zh-CN" altLang="en-US" dirty="0">
                <a:ea typeface="宋体" panose="02010600030101010101" pitchFamily="2" charset="-122"/>
                <a:sym typeface="+mn-ea"/>
              </a:rPr>
              <a:t> 、前后递减</a:t>
            </a:r>
            <a:r>
              <a:rPr lang="en-US" dirty="0">
                <a:ea typeface="宋体" panose="02010600030101010101" pitchFamily="2" charset="-122"/>
                <a:sym typeface="+mn-ea"/>
              </a:rPr>
              <a:t>(--)</a:t>
            </a: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 赋值运算符</a:t>
            </a:r>
            <a:endParaRPr lang="zh-CN" altLang="en-US" dirty="0">
              <a:ea typeface="宋体" panose="02010600030101010101" pitchFamily="2" charset="-122"/>
              <a:sym typeface="+mn-ea"/>
            </a:endParaRPr>
          </a:p>
          <a:p>
            <a:pPr marL="914400" lvl="3" indent="-457200" eaLnBrk="1" hangingPunct="1">
              <a:lnSpc>
                <a:spcPct val="130000"/>
              </a:lnSpc>
              <a:buClr>
                <a:srgbClr val="ED7D31"/>
              </a:buClr>
              <a:buFont typeface="Wingdings" panose="05000000000000000000" charset="0"/>
              <a:buChar char="n"/>
            </a:pPr>
            <a:r>
              <a:rPr lang="zh-CN" altLang="en-US" dirty="0">
                <a:ea typeface="宋体" panose="02010600030101010101" pitchFamily="2" charset="-122"/>
                <a:sym typeface="+mn-ea"/>
              </a:rPr>
              <a:t>直接赋值</a:t>
            </a:r>
            <a:r>
              <a:rPr lang="en-US" dirty="0">
                <a:ea typeface="宋体" panose="02010600030101010101" pitchFamily="2" charset="-122"/>
                <a:sym typeface="+mn-ea"/>
              </a:rPr>
              <a:t>(=)</a:t>
            </a:r>
            <a:r>
              <a:rPr lang="zh-CN" altLang="en-US" dirty="0">
                <a:ea typeface="宋体" panose="02010600030101010101" pitchFamily="2" charset="-122"/>
                <a:sym typeface="+mn-ea"/>
              </a:rPr>
              <a:t>、复合运算赋值</a:t>
            </a:r>
            <a:r>
              <a:rPr lang="en-US" dirty="0">
                <a:ea typeface="宋体" panose="02010600030101010101" pitchFamily="2" charset="-122"/>
                <a:sym typeface="+mn-ea"/>
              </a:rPr>
              <a:t>(+=</a:t>
            </a:r>
            <a:r>
              <a:rPr lang="zh-CN" altLang="en-US" dirty="0">
                <a:ea typeface="宋体" panose="02010600030101010101" pitchFamily="2" charset="-122"/>
                <a:sym typeface="+mn-ea"/>
              </a:rPr>
              <a:t>、</a:t>
            </a:r>
            <a:r>
              <a:rPr lang="en-US" dirty="0">
                <a:ea typeface="宋体" panose="02010600030101010101" pitchFamily="2" charset="-122"/>
                <a:sym typeface="+mn-ea"/>
              </a:rPr>
              <a:t>  -=</a:t>
            </a:r>
            <a:r>
              <a:rPr lang="zh-CN" altLang="en-US" dirty="0">
                <a:ea typeface="宋体" panose="02010600030101010101" pitchFamily="2" charset="-122"/>
                <a:sym typeface="+mn-ea"/>
              </a:rPr>
              <a:t>、</a:t>
            </a:r>
            <a:r>
              <a:rPr lang="en-US" dirty="0">
                <a:ea typeface="宋体" panose="02010600030101010101" pitchFamily="2" charset="-122"/>
                <a:sym typeface="+mn-ea"/>
              </a:rPr>
              <a:t>  *=</a:t>
            </a:r>
            <a:r>
              <a:rPr lang="zh-CN" altLang="en-US" dirty="0">
                <a:ea typeface="宋体" panose="02010600030101010101" pitchFamily="2" charset="-122"/>
                <a:sym typeface="+mn-ea"/>
              </a:rPr>
              <a:t>、</a:t>
            </a:r>
            <a:r>
              <a:rPr lang="en-US" dirty="0">
                <a:ea typeface="宋体" panose="02010600030101010101" pitchFamily="2" charset="-122"/>
                <a:sym typeface="+mn-ea"/>
              </a:rPr>
              <a:t>  /=</a:t>
            </a:r>
            <a:r>
              <a:rPr lang="zh-CN" altLang="en-US" dirty="0">
                <a:ea typeface="宋体" panose="02010600030101010101" pitchFamily="2" charset="-122"/>
                <a:sym typeface="+mn-ea"/>
              </a:rPr>
              <a:t>、</a:t>
            </a:r>
            <a:r>
              <a:rPr lang="en-US" dirty="0">
                <a:ea typeface="宋体" panose="02010600030101010101" pitchFamily="2" charset="-122"/>
                <a:sym typeface="+mn-ea"/>
              </a:rPr>
              <a:t>  %=)</a:t>
            </a:r>
            <a:endParaRPr lang="en-US" dirty="0">
              <a:ea typeface="宋体" panose="02010600030101010101" pitchFamily="2" charset="-122"/>
            </a:endParaRPr>
          </a:p>
          <a:p>
            <a:pPr marL="914400" lvl="1"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 Variable2类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7891" name="内容占位符 2"/>
          <p:cNvSpPr>
            <a:spLocks noGrp="1"/>
          </p:cNvSpPr>
          <p:nvPr>
            <p:ph idx="4294967295"/>
          </p:nvPr>
        </p:nvSpPr>
        <p:spPr>
          <a:xfrm>
            <a:off x="1545882" y="1159848"/>
            <a:ext cx="7537450" cy="4816475"/>
          </a:xfrm>
        </p:spPr>
        <p:txBody>
          <a:bodyPr/>
          <a:lstStyle/>
          <a:p>
            <a:pPr marL="361950" indent="-361950" eaLnBrk="1" hangingPunct="1">
              <a:buFont typeface="Times"/>
              <a:buNone/>
            </a:pPr>
            <a:r>
              <a:rPr lang="en-US" sz="1800" dirty="0">
                <a:solidFill>
                  <a:srgbClr val="002060"/>
                </a:solidFill>
                <a:ea typeface="宋体" panose="02010600030101010101" pitchFamily="2" charset="-122"/>
              </a:rPr>
              <a:t>1  public class Variable2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2      public static void main(String[] </a:t>
            </a:r>
            <a:r>
              <a:rPr lang="en-US" sz="1800" dirty="0" err="1">
                <a:solidFill>
                  <a:srgbClr val="002060"/>
                </a:solidFill>
                <a:ea typeface="宋体" panose="02010600030101010101" pitchFamily="2" charset="-122"/>
              </a:rPr>
              <a:t>args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3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number1 = 10;</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4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number2 = 20;</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6          number2 = number2 + number1;</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7          </a:t>
            </a:r>
            <a:r>
              <a:rPr lang="en-US" sz="1800" dirty="0" err="1" smtClean="0">
                <a:solidFill>
                  <a:srgbClr val="002060"/>
                </a:solidFill>
                <a:ea typeface="宋体" panose="02010600030101010101" pitchFamily="2" charset="-122"/>
              </a:rPr>
              <a:t>System.out.println</a:t>
            </a:r>
            <a:r>
              <a:rPr lang="en-US" sz="1800" dirty="0" smtClean="0">
                <a:solidFill>
                  <a:srgbClr val="002060"/>
                </a:solidFill>
                <a:ea typeface="宋体" panose="02010600030101010101" pitchFamily="2" charset="-122"/>
              </a:rPr>
              <a:t>(number2</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8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9          number2 += number1;</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10         </a:t>
            </a:r>
            <a:r>
              <a:rPr lang="en-US" sz="1800" dirty="0" err="1" smtClean="0">
                <a:solidFill>
                  <a:srgbClr val="002060"/>
                </a:solidFill>
                <a:ea typeface="宋体" panose="02010600030101010101" pitchFamily="2" charset="-122"/>
              </a:rPr>
              <a:t>System.out.println</a:t>
            </a:r>
            <a:r>
              <a:rPr lang="en-US" sz="1800" dirty="0" smtClean="0">
                <a:solidFill>
                  <a:srgbClr val="002060"/>
                </a:solidFill>
                <a:ea typeface="宋体" panose="02010600030101010101" pitchFamily="2" charset="-122"/>
              </a:rPr>
              <a:t>(number2</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12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7891" name="内容占位符 2"/>
          <p:cNvSpPr>
            <a:spLocks noGrp="1"/>
          </p:cNvSpPr>
          <p:nvPr>
            <p:ph idx="4294967295"/>
          </p:nvPr>
        </p:nvSpPr>
        <p:spPr>
          <a:xfrm>
            <a:off x="1545882" y="1159848"/>
            <a:ext cx="7537450" cy="4816475"/>
          </a:xfrm>
        </p:spPr>
        <p:txBody>
          <a:bodyPr/>
          <a:lstStyle/>
          <a:p>
            <a:pPr fontAlgn="auto">
              <a:lnSpc>
                <a:spcPct val="150000"/>
              </a:lnSpc>
              <a:buClr>
                <a:srgbClr val="ED7D31"/>
              </a:buClr>
              <a:buFont typeface="Wingdings" panose="05000000000000000000" charset="0"/>
              <a:buChar char="Ø"/>
            </a:pPr>
            <a:r>
              <a:rPr lang="zh-CN" altLang="en-US" dirty="0">
                <a:ea typeface="宋体" panose="02010600030101010101" pitchFamily="2" charset="-122"/>
                <a:sym typeface="+mn-ea"/>
              </a:rPr>
              <a:t>声明</a:t>
            </a:r>
            <a:r>
              <a:rPr lang="en-US" altLang="zh-CN" dirty="0" smtClean="0">
                <a:ea typeface="宋体" panose="02010600030101010101" pitchFamily="2" charset="-122"/>
                <a:sym typeface="+mn-ea"/>
              </a:rPr>
              <a:t>Exercise04</a:t>
            </a:r>
            <a:r>
              <a:rPr lang="zh-CN" altLang="en-US" dirty="0">
                <a:ea typeface="宋体" panose="02010600030101010101" pitchFamily="2" charset="-122"/>
                <a:sym typeface="+mn-ea"/>
              </a:rPr>
              <a:t>类，</a:t>
            </a:r>
            <a:r>
              <a:rPr lang="en-US" dirty="0">
                <a:ea typeface="宋体" panose="02010600030101010101" pitchFamily="2" charset="-122"/>
                <a:sym typeface="+mn-ea"/>
              </a:rPr>
              <a:t>main</a:t>
            </a:r>
            <a:r>
              <a:rPr lang="zh-CN" altLang="en-US" dirty="0">
                <a:ea typeface="宋体" panose="02010600030101010101" pitchFamily="2" charset="-122"/>
                <a:sym typeface="+mn-ea"/>
              </a:rPr>
              <a:t>方法中声明</a:t>
            </a:r>
            <a:r>
              <a:rPr lang="en-US" altLang="zh-CN" dirty="0">
                <a:ea typeface="宋体" panose="02010600030101010101" pitchFamily="2" charset="-122"/>
                <a:sym typeface="+mn-ea"/>
              </a:rPr>
              <a:t>var1,</a:t>
            </a:r>
            <a:r>
              <a:rPr lang="en-US" dirty="0">
                <a:ea typeface="宋体" panose="02010600030101010101" pitchFamily="2" charset="-122"/>
                <a:sym typeface="+mn-ea"/>
              </a:rPr>
              <a:t>var2</a:t>
            </a:r>
            <a:r>
              <a:rPr lang="zh-CN" altLang="en-US" dirty="0">
                <a:ea typeface="宋体" panose="02010600030101010101" pitchFamily="2" charset="-122"/>
                <a:sym typeface="+mn-ea"/>
              </a:rPr>
              <a:t>并赋值，然后用</a:t>
            </a:r>
            <a:r>
              <a:rPr lang="en-US" dirty="0">
                <a:ea typeface="宋体" panose="02010600030101010101" pitchFamily="2" charset="-122"/>
                <a:sym typeface="+mn-ea"/>
              </a:rPr>
              <a:t>var2</a:t>
            </a:r>
            <a:r>
              <a:rPr lang="zh-CN" altLang="en-US" dirty="0">
                <a:ea typeface="宋体" panose="02010600030101010101" pitchFamily="2" charset="-122"/>
                <a:sym typeface="+mn-ea"/>
              </a:rPr>
              <a:t>保存</a:t>
            </a:r>
            <a:r>
              <a:rPr lang="en-US" dirty="0">
                <a:ea typeface="宋体" panose="02010600030101010101" pitchFamily="2" charset="-122"/>
                <a:sym typeface="+mn-ea"/>
              </a:rPr>
              <a:t>var2</a:t>
            </a:r>
            <a:r>
              <a:rPr lang="zh-CN" altLang="en-US" dirty="0">
                <a:ea typeface="宋体" panose="02010600030101010101" pitchFamily="2" charset="-122"/>
                <a:sym typeface="+mn-ea"/>
              </a:rPr>
              <a:t>与</a:t>
            </a:r>
            <a:r>
              <a:rPr lang="en-US" dirty="0">
                <a:ea typeface="宋体" panose="02010600030101010101" pitchFamily="2" charset="-122"/>
                <a:sym typeface="+mn-ea"/>
              </a:rPr>
              <a:t>var1</a:t>
            </a:r>
            <a:r>
              <a:rPr lang="zh-CN" altLang="en-US" dirty="0">
                <a:ea typeface="宋体" panose="02010600030101010101" pitchFamily="2" charset="-122"/>
                <a:sym typeface="+mn-ea"/>
              </a:rPr>
              <a:t>之商，打印输出</a:t>
            </a:r>
            <a:r>
              <a:rPr lang="en-US" dirty="0">
                <a:ea typeface="宋体" panose="02010600030101010101" pitchFamily="2" charset="-122"/>
                <a:sym typeface="+mn-ea"/>
              </a:rPr>
              <a:t>var2</a:t>
            </a:r>
            <a:r>
              <a:rPr lang="zh-CN" altLang="en-US" dirty="0">
                <a:ea typeface="宋体" panose="02010600030101010101" pitchFamily="2" charset="-122"/>
                <a:sym typeface="+mn-ea"/>
              </a:rPr>
              <a:t>的值。分别用（</a:t>
            </a:r>
            <a:r>
              <a:rPr lang="en-US" altLang="zh-CN" dirty="0">
                <a:ea typeface="宋体" panose="02010600030101010101" pitchFamily="2" charset="-122"/>
                <a:sym typeface="+mn-ea"/>
              </a:rPr>
              <a:t>+</a:t>
            </a:r>
            <a:r>
              <a:rPr lang="zh-CN" altLang="en-US" dirty="0">
                <a:ea typeface="宋体" panose="02010600030101010101" pitchFamily="2" charset="-122"/>
                <a:sym typeface="+mn-ea"/>
              </a:rPr>
              <a:t>和</a:t>
            </a:r>
            <a:r>
              <a:rPr lang="en-US" altLang="zh-CN" dirty="0">
                <a:ea typeface="宋体" panose="02010600030101010101" pitchFamily="2" charset="-122"/>
                <a:sym typeface="+mn-ea"/>
              </a:rPr>
              <a:t>+=</a:t>
            </a:r>
            <a:r>
              <a:rPr lang="zh-CN" altLang="en-US" dirty="0">
                <a:ea typeface="宋体" panose="02010600030101010101" pitchFamily="2" charset="-122"/>
                <a:sym typeface="+mn-ea"/>
              </a:rPr>
              <a:t>）两种方式计算。</a:t>
            </a:r>
            <a:endParaRPr lang="en-US"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535"/>
            <a:ext cx="898271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进制与位（了解）</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844665" cy="460375"/>
          </a:xfrm>
          <a:prstGeom prst="rect">
            <a:avLst/>
          </a:prstGeom>
          <a:noFill/>
        </p:spPr>
        <p:txBody>
          <a:bodyPr wrap="square" rtlCol="0">
            <a:spAutoFit/>
          </a:bodyPr>
          <a:lstStyle/>
          <a:p>
            <a:pPr eaLnBrk="1" hangingPunct="1"/>
            <a:r>
              <a:rPr lang="zh-CN" altLang="en-US" sz="2400" b="1" dirty="0">
                <a:ea typeface="宋体" panose="02010600030101010101" pitchFamily="2" charset="-122"/>
                <a:sym typeface="+mn-ea"/>
              </a:rPr>
              <a:t>二进制、八进制、十进制与十六进制</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40964" name="Group 4"/>
          <p:cNvGraphicFramePr>
            <a:graphicFrameLocks noGrp="1"/>
          </p:cNvGraphicFramePr>
          <p:nvPr>
            <p:custDataLst>
              <p:tags r:id="rId5"/>
            </p:custDataLst>
          </p:nvPr>
        </p:nvGraphicFramePr>
        <p:xfrm>
          <a:off x="1544955" y="1295400"/>
          <a:ext cx="8230870" cy="4681855"/>
        </p:xfrm>
        <a:graphic>
          <a:graphicData uri="http://schemas.openxmlformats.org/drawingml/2006/table">
            <a:tbl>
              <a:tblPr/>
              <a:tblGrid>
                <a:gridCol w="2058035"/>
                <a:gridCol w="2058670"/>
                <a:gridCol w="2056130"/>
                <a:gridCol w="2058035"/>
              </a:tblGrid>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rPr>
                        <a:t>十进制</a:t>
                      </a:r>
                      <a:endPar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rPr>
                        <a:t>十六进制</a:t>
                      </a:r>
                      <a:endPar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八进制</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二进制</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rPr>
                        <a:t>0</a:t>
                      </a:r>
                      <a:endPar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rPr>
                        <a:t>1</a:t>
                      </a:r>
                      <a:endPar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2</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rPr>
                        <a:t>2</a:t>
                      </a:r>
                      <a:endPar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2</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6725">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3</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3</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3</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4</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4</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4</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100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5</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5</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5</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101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6</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6</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6</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110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7</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7</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7</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111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8</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8</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rPr>
                        <a:t>1000</a:t>
                      </a:r>
                      <a:endPar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591935" cy="460375"/>
          </a:xfrm>
          <a:prstGeom prst="rect">
            <a:avLst/>
          </a:prstGeom>
          <a:noFill/>
        </p:spPr>
        <p:txBody>
          <a:bodyPr wrap="square" rtlCol="0">
            <a:spAutoFit/>
          </a:bodyPr>
          <a:lstStyle/>
          <a:p>
            <a:pPr eaLnBrk="1" hangingPunct="1"/>
            <a:r>
              <a:rPr lang="zh-CN" altLang="en-US" sz="2400" b="1" dirty="0">
                <a:ea typeface="宋体" panose="02010600030101010101" pitchFamily="2" charset="-122"/>
                <a:sym typeface="+mn-ea"/>
              </a:rPr>
              <a:t>二进制、八进制、十进制与十六进制</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41988" name="Group 4"/>
          <p:cNvGraphicFramePr>
            <a:graphicFrameLocks noGrp="1"/>
          </p:cNvGraphicFramePr>
          <p:nvPr>
            <p:custDataLst>
              <p:tags r:id="rId5"/>
            </p:custDataLst>
          </p:nvPr>
        </p:nvGraphicFramePr>
        <p:xfrm>
          <a:off x="1630045" y="1333500"/>
          <a:ext cx="8357870" cy="4681855"/>
        </p:xfrm>
        <a:graphic>
          <a:graphicData uri="http://schemas.openxmlformats.org/drawingml/2006/table">
            <a:tbl>
              <a:tblPr/>
              <a:tblGrid>
                <a:gridCol w="1889125"/>
                <a:gridCol w="2157095"/>
                <a:gridCol w="2155190"/>
                <a:gridCol w="2156460"/>
              </a:tblGrid>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rPr>
                        <a:t>十进制</a:t>
                      </a:r>
                      <a:endPar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十六进制</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八进制</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二进制</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9</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rPr>
                        <a:t>9</a:t>
                      </a:r>
                      <a:endPar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1001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A</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12</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1010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B</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13</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1011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6725">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12</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C</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14</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1100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13</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D</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15</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1101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14</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E</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16</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1110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15</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F</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17</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1111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16</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20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10000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17</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21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rPr>
                        <a:t>10001</a:t>
                      </a:r>
                      <a:endPar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十-十六-二进制间的转换</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234732" y="1160167"/>
            <a:ext cx="7537450" cy="4816475"/>
          </a:xfrm>
        </p:spPr>
        <p:txBody>
          <a:bodyPr>
            <a:normAutofit/>
          </a:bodyPr>
          <a:p>
            <a:pPr eaLnBrk="1" hangingPunct="1">
              <a:lnSpc>
                <a:spcPct val="130000"/>
              </a:lnSpc>
              <a:buClr>
                <a:srgbClr val="ED7D31"/>
              </a:buClr>
              <a:buFont typeface="Wingdings" panose="05000000000000000000" charset="0"/>
              <a:buChar char="Ø"/>
            </a:pPr>
            <a:r>
              <a:rPr lang="zh-CN" altLang="en-US" dirty="0">
                <a:ea typeface="宋体" panose="02010600030101010101" pitchFamily="2" charset="-122"/>
                <a:sym typeface="+mn-ea"/>
              </a:rPr>
              <a:t>在</a:t>
            </a:r>
            <a:r>
              <a:rPr lang="en-US" dirty="0">
                <a:ea typeface="宋体" panose="02010600030101010101" pitchFamily="2" charset="-122"/>
                <a:sym typeface="+mn-ea"/>
              </a:rPr>
              <a:t>Java</a:t>
            </a:r>
            <a:r>
              <a:rPr lang="zh-CN" altLang="en-US" dirty="0">
                <a:ea typeface="宋体" panose="02010600030101010101" pitchFamily="2" charset="-122"/>
                <a:sym typeface="+mn-ea"/>
              </a:rPr>
              <a:t>语言中，十六进制数被冠以</a:t>
            </a:r>
            <a:r>
              <a:rPr lang="en-US" dirty="0">
                <a:ea typeface="宋体" panose="02010600030101010101" pitchFamily="2" charset="-122"/>
                <a:sym typeface="+mn-ea"/>
              </a:rPr>
              <a:t>0X</a:t>
            </a:r>
            <a:r>
              <a:rPr lang="zh-CN" altLang="en-US" dirty="0">
                <a:ea typeface="宋体" panose="02010600030101010101" pitchFamily="2" charset="-122"/>
                <a:sym typeface="+mn-ea"/>
              </a:rPr>
              <a:t>来表示（字母大小写均可），八进制数被冠以</a:t>
            </a:r>
            <a:r>
              <a:rPr lang="en-US" dirty="0">
                <a:ea typeface="宋体" panose="02010600030101010101" pitchFamily="2" charset="-122"/>
                <a:sym typeface="+mn-ea"/>
              </a:rPr>
              <a:t>0</a:t>
            </a:r>
            <a:r>
              <a:rPr lang="zh-CN" altLang="en-US" dirty="0">
                <a:ea typeface="宋体" panose="02010600030101010101" pitchFamily="2" charset="-122"/>
                <a:sym typeface="+mn-ea"/>
              </a:rPr>
              <a:t>来表示。</a:t>
            </a:r>
            <a:endParaRPr lang="en-US" dirty="0">
              <a:ea typeface="宋体" panose="02010600030101010101" pitchFamily="2" charset="-122"/>
            </a:endParaRPr>
          </a:p>
          <a:p>
            <a:pPr marL="361950" indent="-361950" eaLnBrk="1" hangingPunct="1">
              <a:buFont typeface="Times"/>
              <a:buNone/>
            </a:pPr>
            <a:r>
              <a:rPr lang="en-US" dirty="0">
                <a:ea typeface="宋体" panose="02010600030101010101" pitchFamily="2" charset="-122"/>
                <a:sym typeface="+mn-ea"/>
              </a:rPr>
              <a:t>	</a:t>
            </a:r>
            <a:r>
              <a:rPr lang="zh-CN" altLang="en-US" dirty="0">
                <a:ea typeface="宋体" panose="02010600030101010101" pitchFamily="2" charset="-122"/>
                <a:sym typeface="+mn-ea"/>
              </a:rPr>
              <a:t>例如： </a:t>
            </a:r>
            <a:r>
              <a:rPr lang="en-US" dirty="0">
                <a:ea typeface="宋体" panose="02010600030101010101" pitchFamily="2" charset="-122"/>
                <a:sym typeface="+mn-ea"/>
              </a:rPr>
              <a:t>0x3f20</a:t>
            </a:r>
            <a:r>
              <a:rPr lang="zh-CN" altLang="en-US" dirty="0">
                <a:ea typeface="宋体" panose="02010600030101010101" pitchFamily="2" charset="-122"/>
                <a:sym typeface="+mn-ea"/>
              </a:rPr>
              <a:t>（十六进制）</a:t>
            </a:r>
            <a:r>
              <a:rPr lang="en-US" dirty="0">
                <a:ea typeface="宋体" panose="02010600030101010101" pitchFamily="2" charset="-122"/>
                <a:sym typeface="+mn-ea"/>
              </a:rPr>
              <a:t>   0732</a:t>
            </a:r>
            <a:r>
              <a:rPr lang="zh-CN" altLang="en-US" dirty="0">
                <a:ea typeface="宋体" panose="02010600030101010101" pitchFamily="2" charset="-122"/>
                <a:sym typeface="+mn-ea"/>
              </a:rPr>
              <a:t> （八进制）</a:t>
            </a:r>
            <a:endParaRPr lang="zh-CN" altLang="en-US" dirty="0">
              <a:ea typeface="宋体" panose="02010600030101010101" pitchFamily="2" charset="-122"/>
              <a:sym typeface="+mn-ea"/>
            </a:endParaRPr>
          </a:p>
          <a:p>
            <a:pPr marL="914400" lvl="1"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十-十六-二进制间的转换</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234732" y="1160167"/>
            <a:ext cx="7537450" cy="4816475"/>
          </a:xfrm>
        </p:spPr>
        <p:txBody>
          <a:bodyPr>
            <a:normAutofit fontScale="90000"/>
          </a:bodyPr>
          <a:p>
            <a:pPr eaLnBrk="1" hangingPunct="1">
              <a:lnSpc>
                <a:spcPct val="130000"/>
              </a:lnSpc>
              <a:buClr>
                <a:srgbClr val="ED7D31"/>
              </a:buClr>
              <a:buFont typeface="Wingdings" panose="05000000000000000000" charset="0"/>
              <a:buChar char="Ø"/>
            </a:pPr>
            <a:r>
              <a:rPr lang="zh-CN" altLang="en-US" sz="2665" dirty="0">
                <a:ea typeface="宋体" panose="02010600030101010101" pitchFamily="2" charset="-122"/>
                <a:sym typeface="+mn-ea"/>
              </a:rPr>
              <a:t>十六进制</a:t>
            </a:r>
            <a:r>
              <a:rPr lang="en-US" sz="2665" dirty="0">
                <a:ea typeface="宋体" panose="02010600030101010101" pitchFamily="2" charset="-122"/>
                <a:sym typeface="+mn-ea"/>
              </a:rPr>
              <a:t>-&gt;</a:t>
            </a:r>
            <a:r>
              <a:rPr lang="zh-CN" altLang="en-US" sz="2665" dirty="0">
                <a:ea typeface="宋体" panose="02010600030101010101" pitchFamily="2" charset="-122"/>
                <a:sym typeface="+mn-ea"/>
              </a:rPr>
              <a:t>十进制</a:t>
            </a:r>
            <a:endParaRPr lang="zh-CN" altLang="en-US" sz="2665" dirty="0">
              <a:ea typeface="宋体" panose="02010600030101010101" pitchFamily="2" charset="-122"/>
              <a:sym typeface="+mn-ea"/>
            </a:endParaRPr>
          </a:p>
          <a:p>
            <a:pPr marL="514350" lvl="2" indent="-285750" eaLnBrk="1" hangingPunct="1">
              <a:lnSpc>
                <a:spcPct val="130000"/>
              </a:lnSpc>
              <a:buClr>
                <a:srgbClr val="ED7D31"/>
              </a:buClr>
              <a:buFont typeface="Wingdings" panose="05000000000000000000" charset="0"/>
              <a:buChar char="n"/>
            </a:pPr>
            <a:r>
              <a:rPr lang="en-US" sz="2000" b="1" dirty="0">
                <a:latin typeface="Batang" pitchFamily="2" charset="-127"/>
                <a:ea typeface="Batang" pitchFamily="2" charset="-127"/>
                <a:sym typeface="+mn-ea"/>
              </a:rPr>
              <a:t>0X 23C </a:t>
            </a:r>
            <a:r>
              <a:rPr lang="en-US" sz="2000" dirty="0">
                <a:latin typeface="Batang" pitchFamily="2" charset="-127"/>
                <a:ea typeface="Batang" pitchFamily="2" charset="-127"/>
                <a:sym typeface="+mn-ea"/>
              </a:rPr>
              <a:t>-&gt; 512+48+12 = </a:t>
            </a:r>
            <a:r>
              <a:rPr lang="en-US" sz="2000" b="1" dirty="0">
                <a:solidFill>
                  <a:srgbClr val="FF0000"/>
                </a:solidFill>
                <a:latin typeface="Batang" pitchFamily="2" charset="-127"/>
                <a:ea typeface="Batang" pitchFamily="2" charset="-127"/>
                <a:sym typeface="+mn-ea"/>
              </a:rPr>
              <a:t>572</a:t>
            </a:r>
            <a:endParaRPr lang="en-US" sz="2000" b="1" dirty="0">
              <a:solidFill>
                <a:srgbClr val="FF0000"/>
              </a:solidFill>
              <a:latin typeface="Batang" pitchFamily="2" charset="-127"/>
              <a:ea typeface="Batang" pitchFamily="2" charset="-127"/>
              <a:sym typeface="+mn-ea"/>
            </a:endParaRPr>
          </a:p>
          <a:p>
            <a:pPr marL="457200" lvl="4" indent="457200" eaLnBrk="1" hangingPunct="1">
              <a:lnSpc>
                <a:spcPct val="130000"/>
              </a:lnSpc>
              <a:buClr>
                <a:srgbClr val="ED7D31"/>
              </a:buClr>
              <a:buNone/>
            </a:pPr>
            <a:r>
              <a:rPr lang="en-US" sz="1800" dirty="0">
                <a:solidFill>
                  <a:srgbClr val="002060"/>
                </a:solidFill>
                <a:ea typeface="宋体" panose="02010600030101010101" pitchFamily="2" charset="-122"/>
                <a:sym typeface="+mn-ea"/>
              </a:rPr>
              <a:t>|  |  |-12</a:t>
            </a:r>
            <a:endParaRPr lang="en-US" sz="1800" dirty="0">
              <a:solidFill>
                <a:srgbClr val="002060"/>
              </a:solidFill>
              <a:ea typeface="宋体" panose="02010600030101010101" pitchFamily="2" charset="-122"/>
            </a:endParaRPr>
          </a:p>
          <a:p>
            <a:pPr marL="704850" lvl="1" indent="-361950" eaLnBrk="1" hangingPunct="1">
              <a:buFont typeface="Times"/>
              <a:buNone/>
            </a:pPr>
            <a:r>
              <a:rPr lang="en-US" sz="1800" dirty="0">
                <a:solidFill>
                  <a:srgbClr val="002060"/>
                </a:solidFill>
                <a:ea typeface="宋体" panose="02010600030101010101" pitchFamily="2" charset="-122"/>
                <a:sym typeface="+mn-ea"/>
              </a:rPr>
              <a:t>		|  |--16x3 = 48</a:t>
            </a:r>
            <a:endParaRPr lang="en-US" sz="1800" dirty="0">
              <a:solidFill>
                <a:srgbClr val="002060"/>
              </a:solidFill>
              <a:ea typeface="宋体" panose="02010600030101010101" pitchFamily="2" charset="-122"/>
            </a:endParaRPr>
          </a:p>
          <a:p>
            <a:pPr marL="704850" lvl="1" indent="-361950" eaLnBrk="1" hangingPunct="1">
              <a:buFont typeface="Times"/>
              <a:buNone/>
            </a:pPr>
            <a:r>
              <a:rPr lang="en-US" sz="1800" dirty="0">
                <a:solidFill>
                  <a:srgbClr val="002060"/>
                </a:solidFill>
                <a:ea typeface="宋体" panose="02010600030101010101" pitchFamily="2" charset="-122"/>
                <a:sym typeface="+mn-ea"/>
              </a:rPr>
              <a:t>		|-- 16x16x2 = 512</a:t>
            </a:r>
            <a:endParaRPr lang="zh-CN" altLang="en-US" dirty="0">
              <a:solidFill>
                <a:srgbClr val="002060"/>
              </a:solidFill>
              <a:ea typeface="宋体" panose="02010600030101010101" pitchFamily="2" charset="-122"/>
              <a:sym typeface="+mn-ea"/>
            </a:endParaRPr>
          </a:p>
          <a:p>
            <a:pPr eaLnBrk="1" hangingPunct="1">
              <a:lnSpc>
                <a:spcPct val="130000"/>
              </a:lnSpc>
              <a:buClr>
                <a:srgbClr val="ED7D31"/>
              </a:buClr>
              <a:buFont typeface="Wingdings" panose="05000000000000000000" charset="0"/>
              <a:buChar char="Ø"/>
            </a:pPr>
            <a:r>
              <a:rPr lang="zh-CN" altLang="en-US" sz="2665" dirty="0">
                <a:ea typeface="宋体" panose="02010600030101010101" pitchFamily="2" charset="-122"/>
                <a:sym typeface="+mn-ea"/>
              </a:rPr>
              <a:t>十进制</a:t>
            </a:r>
            <a:r>
              <a:rPr lang="en-US" sz="2665" dirty="0">
                <a:ea typeface="宋体" panose="02010600030101010101" pitchFamily="2" charset="-122"/>
                <a:sym typeface="+mn-ea"/>
              </a:rPr>
              <a:t>-&gt;</a:t>
            </a:r>
            <a:r>
              <a:rPr lang="zh-CN" altLang="en-US" sz="2665" dirty="0">
                <a:ea typeface="宋体" panose="02010600030101010101" pitchFamily="2" charset="-122"/>
                <a:sym typeface="+mn-ea"/>
              </a:rPr>
              <a:t>十六进制</a:t>
            </a:r>
            <a:endParaRPr lang="zh-CN" altLang="en-US" sz="2665" dirty="0">
              <a:ea typeface="宋体" panose="02010600030101010101" pitchFamily="2" charset="-122"/>
              <a:sym typeface="+mn-ea"/>
            </a:endParaRPr>
          </a:p>
          <a:p>
            <a:pPr marL="514350" lvl="2" indent="-285750" eaLnBrk="1" hangingPunct="1">
              <a:lnSpc>
                <a:spcPct val="130000"/>
              </a:lnSpc>
              <a:buClr>
                <a:srgbClr val="ED7D31"/>
              </a:buClr>
              <a:buFont typeface="Wingdings" panose="05000000000000000000" charset="0"/>
              <a:buChar char="n"/>
            </a:pPr>
            <a:r>
              <a:rPr lang="en-US" sz="2000" b="1" dirty="0">
                <a:latin typeface="Batang" pitchFamily="2" charset="-127"/>
                <a:ea typeface="Batang" pitchFamily="2" charset="-127"/>
                <a:sym typeface="+mn-ea"/>
              </a:rPr>
              <a:t>572  -&gt;  0X</a:t>
            </a:r>
            <a:r>
              <a:rPr lang="en-US" sz="2000" b="1" dirty="0">
                <a:solidFill>
                  <a:srgbClr val="FF0000"/>
                </a:solidFill>
                <a:latin typeface="Batang" pitchFamily="2" charset="-127"/>
                <a:ea typeface="Batang" pitchFamily="2" charset="-127"/>
                <a:sym typeface="+mn-ea"/>
              </a:rPr>
              <a:t>23C</a:t>
            </a:r>
            <a:endParaRPr lang="en-US" sz="2000" b="1" dirty="0">
              <a:solidFill>
                <a:srgbClr val="FF0000"/>
              </a:solidFill>
              <a:latin typeface="Batang" pitchFamily="2" charset="-127"/>
              <a:ea typeface="Batang" pitchFamily="2" charset="-127"/>
              <a:sym typeface="+mn-ea"/>
            </a:endParaRPr>
          </a:p>
          <a:p>
            <a:pPr marL="704850" lvl="1" indent="0" eaLnBrk="1" hangingPunct="1">
              <a:buFont typeface="Times"/>
              <a:buNone/>
            </a:pPr>
            <a:r>
              <a:rPr lang="en-US" sz="2400" dirty="0">
                <a:ea typeface="Batang" pitchFamily="2" charset="-127"/>
                <a:sym typeface="+mn-ea"/>
              </a:rPr>
              <a:t> </a:t>
            </a:r>
            <a:r>
              <a:rPr lang="en-US" sz="1780" dirty="0">
                <a:ea typeface="Batang" pitchFamily="2" charset="-127"/>
                <a:sym typeface="+mn-ea"/>
              </a:rPr>
              <a:t> 572 / 16*16 = </a:t>
            </a:r>
            <a:r>
              <a:rPr lang="en-US" sz="1780" b="1" dirty="0">
                <a:solidFill>
                  <a:srgbClr val="FF0000"/>
                </a:solidFill>
                <a:ea typeface="Batang" pitchFamily="2" charset="-127"/>
                <a:sym typeface="+mn-ea"/>
              </a:rPr>
              <a:t>2</a:t>
            </a:r>
            <a:r>
              <a:rPr lang="en-US" sz="1780" dirty="0">
                <a:ea typeface="Batang" pitchFamily="2" charset="-127"/>
                <a:sym typeface="+mn-ea"/>
              </a:rPr>
              <a:t> </a:t>
            </a:r>
            <a:r>
              <a:rPr lang="zh-CN" altLang="en-US" sz="1780" dirty="0">
                <a:ea typeface="宋体" panose="02010600030101010101" pitchFamily="2" charset="-122"/>
                <a:sym typeface="+mn-ea"/>
              </a:rPr>
              <a:t>余数 </a:t>
            </a:r>
            <a:r>
              <a:rPr lang="en-US" sz="1780" dirty="0">
                <a:ea typeface="宋体" panose="02010600030101010101" pitchFamily="2" charset="-122"/>
                <a:sym typeface="+mn-ea"/>
              </a:rPr>
              <a:t>60</a:t>
            </a:r>
            <a:endParaRPr lang="en-US" sz="1780" dirty="0">
              <a:ea typeface="宋体" panose="02010600030101010101" pitchFamily="2" charset="-122"/>
            </a:endParaRPr>
          </a:p>
          <a:p>
            <a:pPr marL="704850" lvl="1" indent="-361950" eaLnBrk="1" hangingPunct="1">
              <a:buFont typeface="Times"/>
              <a:buNone/>
            </a:pPr>
            <a:r>
              <a:rPr lang="en-US" sz="1780" dirty="0">
                <a:ea typeface="宋体" panose="02010600030101010101" pitchFamily="2" charset="-122"/>
                <a:sym typeface="+mn-ea"/>
              </a:rPr>
              <a:t>         </a:t>
            </a:r>
            <a:r>
              <a:rPr lang="en-US" sz="1780" dirty="0">
                <a:ea typeface="Batang" pitchFamily="2" charset="-127"/>
                <a:sym typeface="+mn-ea"/>
              </a:rPr>
              <a:t>60 / 16 = </a:t>
            </a:r>
            <a:r>
              <a:rPr lang="en-US" sz="1780" b="1" dirty="0">
                <a:solidFill>
                  <a:srgbClr val="FF0000"/>
                </a:solidFill>
                <a:ea typeface="Batang" pitchFamily="2" charset="-127"/>
                <a:sym typeface="+mn-ea"/>
              </a:rPr>
              <a:t>3</a:t>
            </a:r>
            <a:r>
              <a:rPr lang="en-US" sz="1780" dirty="0">
                <a:ea typeface="Batang" pitchFamily="2" charset="-127"/>
                <a:sym typeface="+mn-ea"/>
              </a:rPr>
              <a:t> </a:t>
            </a:r>
            <a:r>
              <a:rPr lang="zh-CN" altLang="en-US" sz="1780" dirty="0">
                <a:ea typeface="宋体" panose="02010600030101010101" pitchFamily="2" charset="-122"/>
                <a:sym typeface="+mn-ea"/>
              </a:rPr>
              <a:t>余数  </a:t>
            </a:r>
            <a:r>
              <a:rPr lang="en-US" sz="1780" b="1" dirty="0">
                <a:ea typeface="宋体" panose="02010600030101010101" pitchFamily="2" charset="-122"/>
                <a:sym typeface="+mn-ea"/>
              </a:rPr>
              <a:t>12 (0x</a:t>
            </a:r>
            <a:r>
              <a:rPr lang="en-US" sz="1780" b="1" dirty="0">
                <a:solidFill>
                  <a:srgbClr val="FF0000"/>
                </a:solidFill>
                <a:ea typeface="宋体" panose="02010600030101010101" pitchFamily="2" charset="-122"/>
                <a:sym typeface="+mn-ea"/>
              </a:rPr>
              <a:t>C</a:t>
            </a:r>
            <a:r>
              <a:rPr lang="en-US" sz="1780" b="1" dirty="0">
                <a:ea typeface="宋体" panose="02010600030101010101" pitchFamily="2" charset="-122"/>
                <a:sym typeface="+mn-ea"/>
              </a:rPr>
              <a:t>)</a:t>
            </a:r>
            <a:endParaRPr lang="en-US" sz="1780" b="1" dirty="0">
              <a:ea typeface="宋体" panose="02010600030101010101" pitchFamily="2" charset="-122"/>
            </a:endParaRPr>
          </a:p>
          <a:p>
            <a:pPr eaLnBrk="1" hangingPunct="1">
              <a:lnSpc>
                <a:spcPct val="130000"/>
              </a:lnSpc>
              <a:buClr>
                <a:srgbClr val="ED7D31"/>
              </a:buClr>
              <a:buFont typeface="Wingdings" panose="05000000000000000000" charset="0"/>
              <a:buChar char="Ø"/>
            </a:pPr>
            <a:r>
              <a:rPr lang="zh-CN" altLang="en-US" sz="2665" dirty="0">
                <a:ea typeface="宋体" panose="02010600030101010101" pitchFamily="2" charset="-122"/>
                <a:sym typeface="+mn-ea"/>
              </a:rPr>
              <a:t>十六进制</a:t>
            </a:r>
            <a:r>
              <a:rPr lang="en-US" sz="2665" dirty="0">
                <a:ea typeface="宋体" panose="02010600030101010101" pitchFamily="2" charset="-122"/>
                <a:sym typeface="+mn-ea"/>
              </a:rPr>
              <a:t>&lt;-&gt;</a:t>
            </a:r>
            <a:r>
              <a:rPr lang="zh-CN" altLang="en-US" sz="2665" dirty="0">
                <a:ea typeface="宋体" panose="02010600030101010101" pitchFamily="2" charset="-122"/>
                <a:sym typeface="+mn-ea"/>
              </a:rPr>
              <a:t>二进制</a:t>
            </a:r>
            <a:endParaRPr lang="zh-CN" altLang="en-US" sz="2665" dirty="0">
              <a:ea typeface="宋体" panose="02010600030101010101" pitchFamily="2" charset="-122"/>
              <a:sym typeface="+mn-ea"/>
            </a:endParaRPr>
          </a:p>
          <a:p>
            <a:pPr marL="514350" lvl="2" indent="-285750" eaLnBrk="1" hangingPunct="1">
              <a:lnSpc>
                <a:spcPct val="130000"/>
              </a:lnSpc>
              <a:buClr>
                <a:srgbClr val="ED7D31"/>
              </a:buClr>
              <a:buFont typeface="Wingdings" panose="05000000000000000000" charset="0"/>
              <a:buChar char="n"/>
            </a:pPr>
            <a:r>
              <a:rPr lang="en-US" sz="1780" b="1" dirty="0">
                <a:latin typeface="Batang" pitchFamily="2" charset="-127"/>
                <a:ea typeface="Batang" pitchFamily="2" charset="-127"/>
                <a:sym typeface="+mn-ea"/>
              </a:rPr>
              <a:t>0X 23C -&gt; </a:t>
            </a:r>
            <a:r>
              <a:rPr lang="en-US" sz="1780" b="1" dirty="0">
                <a:solidFill>
                  <a:srgbClr val="FF0000"/>
                </a:solidFill>
                <a:latin typeface="Batang" pitchFamily="2" charset="-127"/>
                <a:ea typeface="Batang" pitchFamily="2" charset="-127"/>
                <a:sym typeface="+mn-ea"/>
              </a:rPr>
              <a:t>0010 0011 1100</a:t>
            </a: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位与字节</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234732" y="1160167"/>
            <a:ext cx="7537450" cy="4816475"/>
          </a:xfrm>
        </p:spPr>
        <p:txBody>
          <a:bodyPr>
            <a:normAutofit/>
          </a:bodyPr>
          <a:p>
            <a:pPr algn="l" eaLnBrk="1" hangingPunct="1">
              <a:lnSpc>
                <a:spcPct val="130000"/>
              </a:lnSpc>
              <a:buClr>
                <a:srgbClr val="ED7D31"/>
              </a:buClr>
              <a:buSzTx/>
              <a:buFont typeface="Wingdings" panose="05000000000000000000" charset="0"/>
              <a:buChar char="Ø"/>
            </a:pPr>
            <a:r>
              <a:rPr lang="zh-CN" altLang="en-US" sz="2665" dirty="0">
                <a:ea typeface="宋体" panose="02010600030101010101" pitchFamily="2" charset="-122"/>
                <a:sym typeface="+mn-ea"/>
              </a:rPr>
              <a:t>计算机中任何的计算和存储都是以二进制方式实现的</a:t>
            </a:r>
            <a:endParaRPr lang="zh-CN" altLang="en-US" sz="2665" dirty="0">
              <a:ea typeface="宋体" panose="02010600030101010101" pitchFamily="2" charset="-122"/>
            </a:endParaRPr>
          </a:p>
          <a:p>
            <a:pPr algn="l" eaLnBrk="1" hangingPunct="1">
              <a:lnSpc>
                <a:spcPct val="130000"/>
              </a:lnSpc>
              <a:buClr>
                <a:srgbClr val="ED7D31"/>
              </a:buClr>
              <a:buSzTx/>
              <a:buFont typeface="Wingdings" panose="05000000000000000000" charset="0"/>
              <a:buChar char="Ø"/>
            </a:pPr>
            <a:r>
              <a:rPr lang="zh-CN" altLang="en-US" sz="2665" dirty="0">
                <a:ea typeface="宋体" panose="02010600030101010101" pitchFamily="2" charset="-122"/>
                <a:sym typeface="+mn-ea"/>
              </a:rPr>
              <a:t>位（bit） — 是计算机中最小的存储单位</a:t>
            </a:r>
            <a:endParaRPr lang="zh-CN" altLang="en-US" sz="2665" dirty="0">
              <a:ea typeface="宋体" panose="02010600030101010101" pitchFamily="2" charset="-122"/>
            </a:endParaRPr>
          </a:p>
          <a:p>
            <a:pPr algn="l" eaLnBrk="1" hangingPunct="1">
              <a:lnSpc>
                <a:spcPct val="130000"/>
              </a:lnSpc>
              <a:buClr>
                <a:srgbClr val="ED7D31"/>
              </a:buClr>
              <a:buSzTx/>
              <a:buFont typeface="Wingdings" panose="05000000000000000000" charset="0"/>
              <a:buChar char="Ø"/>
            </a:pPr>
            <a:r>
              <a:rPr lang="zh-CN" altLang="en-US" sz="2665" dirty="0">
                <a:ea typeface="宋体" panose="02010600030101010101" pitchFamily="2" charset="-122"/>
                <a:sym typeface="+mn-ea"/>
              </a:rPr>
              <a:t>字节（byte） — 计算机中基本的存储单元  </a:t>
            </a:r>
            <a:endParaRPr lang="zh-CN" altLang="en-US" sz="2665" dirty="0">
              <a:ea typeface="宋体" panose="02010600030101010101" pitchFamily="2" charset="-122"/>
            </a:endParaRPr>
          </a:p>
          <a:p>
            <a:pPr algn="l" eaLnBrk="1" hangingPunct="1">
              <a:lnSpc>
                <a:spcPct val="130000"/>
              </a:lnSpc>
              <a:buClr>
                <a:srgbClr val="ED7D31"/>
              </a:buClr>
              <a:buSzTx/>
              <a:buFont typeface="Wingdings" panose="05000000000000000000" charset="0"/>
              <a:buChar char="Ø"/>
            </a:pPr>
            <a:r>
              <a:rPr lang="zh-CN" altLang="en-US" sz="2665" dirty="0">
                <a:ea typeface="宋体" panose="02010600030101010101" pitchFamily="2" charset="-122"/>
                <a:sym typeface="+mn-ea"/>
              </a:rPr>
              <a:t>1byte = 8bits</a:t>
            </a:r>
            <a:endParaRPr lang="zh-CN" altLang="en-US" sz="2665" dirty="0">
              <a:ea typeface="宋体" panose="02010600030101010101" pitchFamily="2" charset="-122"/>
            </a:endParaRPr>
          </a:p>
          <a:p>
            <a:pPr marL="0" indent="0" eaLnBrk="1" hangingPunct="1">
              <a:lnSpc>
                <a:spcPct val="130000"/>
              </a:lnSpc>
              <a:buClr>
                <a:srgbClr val="ED7D31"/>
              </a:buClr>
              <a:buFont typeface="Wingdings" panose="05000000000000000000" charset="0"/>
              <a:buNone/>
            </a:pPr>
            <a:endParaRPr lang="en-US" dirty="0">
              <a:ea typeface="宋体" panose="02010600030101010101" pitchFamily="2" charset="-122"/>
            </a:endParaRPr>
          </a:p>
          <a:p>
            <a:pPr eaLnBrk="1" hangingPunct="1">
              <a:lnSpc>
                <a:spcPct val="130000"/>
              </a:lnSpc>
              <a:buClr>
                <a:srgbClr val="ED7D31"/>
              </a:buClr>
              <a:buFont typeface="Wingdings" panose="05000000000000000000" charset="0"/>
              <a:buChar char="Ø"/>
            </a:pP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graphicFrame>
        <p:nvGraphicFramePr>
          <p:cNvPr id="46085" name="Group 5"/>
          <p:cNvGraphicFramePr>
            <a:graphicFrameLocks noGrp="1"/>
          </p:cNvGraphicFramePr>
          <p:nvPr/>
        </p:nvGraphicFramePr>
        <p:xfrm>
          <a:off x="2036763" y="4471995"/>
          <a:ext cx="6264275" cy="576580"/>
        </p:xfrm>
        <a:graphic>
          <a:graphicData uri="http://schemas.openxmlformats.org/drawingml/2006/table">
            <a:tbl>
              <a:tblPr/>
              <a:tblGrid>
                <a:gridCol w="782637"/>
                <a:gridCol w="782638"/>
                <a:gridCol w="784225"/>
                <a:gridCol w="782637"/>
                <a:gridCol w="782638"/>
                <a:gridCol w="784225"/>
                <a:gridCol w="782637"/>
                <a:gridCol w="782638"/>
              </a:tblGrid>
              <a:tr h="576580">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1" i="0" u="none" strike="noStrike" cap="none" normalizeH="0" baseline="0" dirty="0" smtClean="0">
                          <a:ln>
                            <a:noFill/>
                          </a:ln>
                          <a:solidFill>
                            <a:srgbClr val="FFFFFF"/>
                          </a:solidFill>
                          <a:effectLst/>
                          <a:latin typeface="Times New Roman" panose="02020603050405020304" charset="0"/>
                          <a:ea typeface="Gulim" pitchFamily="34" charset="-127"/>
                        </a:rPr>
                        <a:t>0/1</a:t>
                      </a:r>
                      <a:endParaRPr kumimoji="0" 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99"/>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1" i="0" u="none" strike="noStrike" cap="none" normalizeH="0" baseline="0" dirty="0" smtClean="0">
                          <a:ln>
                            <a:noFill/>
                          </a:ln>
                          <a:solidFill>
                            <a:srgbClr val="FFFFFF"/>
                          </a:solidFill>
                          <a:effectLst/>
                          <a:latin typeface="Times New Roman" panose="02020603050405020304" charset="0"/>
                          <a:ea typeface="Gulim" pitchFamily="34" charset="-127"/>
                        </a:rPr>
                        <a:t>0/1</a:t>
                      </a:r>
                      <a:endParaRPr kumimoji="0" 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99"/>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1" i="0" u="none" strike="noStrike" cap="none" normalizeH="0" baseline="0" smtClean="0">
                          <a:ln>
                            <a:noFill/>
                          </a:ln>
                          <a:solidFill>
                            <a:srgbClr val="FFFFFF"/>
                          </a:solidFill>
                          <a:effectLst/>
                          <a:latin typeface="Times New Roman" panose="02020603050405020304" charset="0"/>
                          <a:ea typeface="Gulim" pitchFamily="34" charset="-127"/>
                        </a:rPr>
                        <a:t>0/1</a:t>
                      </a:r>
                      <a:endParaRPr kumimoji="0" 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99"/>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1" i="0" u="none" strike="noStrike" cap="none" normalizeH="0" baseline="0" smtClean="0">
                          <a:ln>
                            <a:noFill/>
                          </a:ln>
                          <a:solidFill>
                            <a:srgbClr val="FFFFFF"/>
                          </a:solidFill>
                          <a:effectLst/>
                          <a:latin typeface="Times New Roman" panose="02020603050405020304" charset="0"/>
                          <a:ea typeface="Gulim" pitchFamily="34" charset="-127"/>
                        </a:rPr>
                        <a:t>0/1</a:t>
                      </a:r>
                      <a:endParaRPr kumimoji="0" 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99"/>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1" i="0" u="none" strike="noStrike" cap="none" normalizeH="0" baseline="0" smtClean="0">
                          <a:ln>
                            <a:noFill/>
                          </a:ln>
                          <a:solidFill>
                            <a:srgbClr val="FFFFFF"/>
                          </a:solidFill>
                          <a:effectLst/>
                          <a:latin typeface="Times New Roman" panose="02020603050405020304" charset="0"/>
                          <a:ea typeface="Gulim" pitchFamily="34" charset="-127"/>
                        </a:rPr>
                        <a:t>0/1</a:t>
                      </a:r>
                      <a:endParaRPr kumimoji="0" 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99"/>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1" i="0" u="none" strike="noStrike" cap="none" normalizeH="0" baseline="0" smtClean="0">
                          <a:ln>
                            <a:noFill/>
                          </a:ln>
                          <a:solidFill>
                            <a:srgbClr val="FFFFFF"/>
                          </a:solidFill>
                          <a:effectLst/>
                          <a:latin typeface="Times New Roman" panose="02020603050405020304" charset="0"/>
                          <a:ea typeface="Gulim" pitchFamily="34" charset="-127"/>
                        </a:rPr>
                        <a:t>0/1</a:t>
                      </a:r>
                      <a:endParaRPr kumimoji="0" 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99"/>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1" i="0" u="none" strike="noStrike" cap="none" normalizeH="0" baseline="0" smtClean="0">
                          <a:ln>
                            <a:noFill/>
                          </a:ln>
                          <a:solidFill>
                            <a:srgbClr val="FFFFFF"/>
                          </a:solidFill>
                          <a:effectLst/>
                          <a:latin typeface="Times New Roman" panose="02020603050405020304" charset="0"/>
                          <a:ea typeface="Gulim" pitchFamily="34" charset="-127"/>
                        </a:rPr>
                        <a:t>0/1</a:t>
                      </a:r>
                      <a:endParaRPr kumimoji="0" 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99"/>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1" i="0" u="none" strike="noStrike" cap="none" normalizeH="0" baseline="0" dirty="0" smtClean="0">
                          <a:ln>
                            <a:noFill/>
                          </a:ln>
                          <a:solidFill>
                            <a:srgbClr val="FFFFFF"/>
                          </a:solidFill>
                          <a:effectLst/>
                          <a:latin typeface="Times New Roman" panose="02020603050405020304" charset="0"/>
                          <a:ea typeface="Gulim" pitchFamily="34" charset="-127"/>
                        </a:rPr>
                        <a:t>0/1</a:t>
                      </a:r>
                      <a:endParaRPr kumimoji="0" 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99"/>
                    </a:solidFill>
                  </a:tcPr>
                </a:tc>
              </a:tr>
            </a:tbl>
          </a:graphicData>
        </a:graphic>
      </p:graphicFrame>
      <p:sp>
        <p:nvSpPr>
          <p:cNvPr id="46105" name="TextBox 5"/>
          <p:cNvSpPr txBox="1">
            <a:spLocks noChangeArrowheads="1"/>
          </p:cNvSpPr>
          <p:nvPr/>
        </p:nvSpPr>
        <p:spPr bwMode="auto">
          <a:xfrm>
            <a:off x="2132965" y="5345430"/>
            <a:ext cx="6071870" cy="368300"/>
          </a:xfrm>
          <a:prstGeom prst="rect">
            <a:avLst/>
          </a:prstGeom>
          <a:noFill/>
          <a:ln w="9525">
            <a:noFill/>
            <a:miter lim="800000"/>
          </a:ln>
        </p:spPr>
        <p:txBody>
          <a:bodyPr wrap="square">
            <a:spAutoFit/>
          </a:bodyPr>
          <a:lstStyle/>
          <a:p>
            <a:r>
              <a:rPr lang="en-US" b="1"/>
              <a:t>   7          6          5           4          3          2          1          0</a:t>
            </a:r>
            <a:endParaRPr lang="zh-CN" altLang="en-US" b="1"/>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数值在字节中的表示</a:t>
            </a:r>
            <a:r>
              <a:rPr lang="en-US" altLang="zh-CN" sz="2400" b="1">
                <a:ea typeface="宋体" panose="02010600030101010101" pitchFamily="2" charset="-122"/>
                <a:sym typeface="+mn-ea"/>
              </a:rPr>
              <a:t>(</a:t>
            </a:r>
            <a:r>
              <a:rPr lang="zh-CN" altLang="en-US" sz="2400" b="1">
                <a:ea typeface="宋体" panose="02010600030101010101" pitchFamily="2" charset="-122"/>
                <a:sym typeface="+mn-ea"/>
              </a:rPr>
              <a:t>一个字节</a:t>
            </a:r>
            <a:r>
              <a:rPr lang="en-US" altLang="zh-CN" sz="2400" b="1">
                <a:ea typeface="宋体" panose="02010600030101010101" pitchFamily="2" charset="-122"/>
                <a:sym typeface="+mn-ea"/>
              </a:rPr>
              <a:t>)</a:t>
            </a:r>
            <a:endParaRPr lang="en-US" altLang="zh-CN"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47108" name="Group 4"/>
          <p:cNvGraphicFramePr>
            <a:graphicFrameLocks noGrp="1"/>
          </p:cNvGraphicFramePr>
          <p:nvPr>
            <p:custDataLst>
              <p:tags r:id="rId5"/>
            </p:custDataLst>
          </p:nvPr>
        </p:nvGraphicFramePr>
        <p:xfrm>
          <a:off x="1545590" y="1251585"/>
          <a:ext cx="8103870" cy="4681855"/>
        </p:xfrm>
        <a:graphic>
          <a:graphicData uri="http://schemas.openxmlformats.org/drawingml/2006/table">
            <a:tbl>
              <a:tblPr/>
              <a:tblGrid>
                <a:gridCol w="1620520"/>
                <a:gridCol w="2047240"/>
                <a:gridCol w="4436110"/>
              </a:tblGrid>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rPr>
                        <a:t>十进制</a:t>
                      </a:r>
                      <a:endPar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十六进制</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1" i="0" u="none" strike="noStrike" cap="none" normalizeH="0" baseline="0" smtClean="0">
                          <a:ln>
                            <a:noFill/>
                          </a:ln>
                          <a:solidFill>
                            <a:srgbClr val="FFFFFF"/>
                          </a:solidFill>
                          <a:effectLst/>
                          <a:latin typeface="Times New Roman" panose="02020603050405020304" charset="0"/>
                          <a:ea typeface="Gulim" pitchFamily="34" charset="-127"/>
                        </a:rPr>
                        <a:t>| 7 | 6 | 5 | 4 | 3  | 2 | 1 | 0 |</a:t>
                      </a:r>
                      <a:endParaRPr kumimoji="0" 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rPr>
                        <a:t>0</a:t>
                      </a:r>
                      <a:endPar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0   0   0   0   0   0   0   0 </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0   0   0   0   0   0   0   1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2</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2</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0   0   0   0   0   0   1   0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6725">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4</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4</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0   0   0   0   0   1   0   0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8</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8</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0   0   0   0   1   0   0   0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15</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F</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0   0   0   0   1   1   1   1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16</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0   0   0   1   0   0   0   0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17</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11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0   0   0   1   0   0   0   1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255</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FF</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rPr>
                        <a:t>1   1   1   1   1   1   1   1</a:t>
                      </a:r>
                      <a:endPar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数值在字节中的表示</a:t>
            </a:r>
            <a:r>
              <a:rPr lang="en-US" altLang="zh-CN" sz="2400" b="1">
                <a:ea typeface="宋体" panose="02010600030101010101" pitchFamily="2" charset="-122"/>
                <a:sym typeface="+mn-ea"/>
              </a:rPr>
              <a:t>(</a:t>
            </a:r>
            <a:r>
              <a:rPr lang="zh-CN" altLang="en-US" sz="2400" b="1">
                <a:ea typeface="宋体" panose="02010600030101010101" pitchFamily="2" charset="-122"/>
                <a:sym typeface="+mn-ea"/>
              </a:rPr>
              <a:t>多个字节</a:t>
            </a:r>
            <a:r>
              <a:rPr lang="en-US" altLang="zh-CN" sz="2400" b="1">
                <a:ea typeface="宋体" panose="02010600030101010101" pitchFamily="2" charset="-122"/>
                <a:sym typeface="+mn-ea"/>
              </a:rPr>
              <a:t>)</a:t>
            </a:r>
            <a:endParaRPr lang="en-US" altLang="zh-CN"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48132" name="Group 4"/>
          <p:cNvGraphicFramePr>
            <a:graphicFrameLocks noGrp="1"/>
          </p:cNvGraphicFramePr>
          <p:nvPr>
            <p:custDataLst>
              <p:tags r:id="rId5"/>
            </p:custDataLst>
          </p:nvPr>
        </p:nvGraphicFramePr>
        <p:xfrm>
          <a:off x="1043305" y="1558925"/>
          <a:ext cx="8659495" cy="2785110"/>
        </p:xfrm>
        <a:graphic>
          <a:graphicData uri="http://schemas.openxmlformats.org/drawingml/2006/table">
            <a:tbl>
              <a:tblPr/>
              <a:tblGrid>
                <a:gridCol w="1367790"/>
                <a:gridCol w="1731645"/>
                <a:gridCol w="5560060"/>
              </a:tblGrid>
              <a:tr h="709295">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rPr>
                        <a:t>十进制</a:t>
                      </a:r>
                      <a:endPar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十六进制</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1" i="0" u="none" strike="noStrike" cap="none" normalizeH="0" baseline="0" smtClean="0">
                          <a:ln>
                            <a:noFill/>
                          </a:ln>
                          <a:solidFill>
                            <a:srgbClr val="FFFFFF"/>
                          </a:solidFill>
                          <a:effectLst/>
                          <a:latin typeface="Times New Roman" panose="02020603050405020304" charset="0"/>
                          <a:ea typeface="Gulim" pitchFamily="34" charset="-127"/>
                        </a:rPr>
                        <a:t>|7|6|5|4|3|2|1|0|   |7|6|5|4|3|2|1|0|</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518795">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256</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0x0100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0 0 0 0 0 0 0 1    0 0 0 0 0 0 0 0 </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519430">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512</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0x0200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0 0 0 0 0 0 1 0    0 0 0 0 0 0 0 1</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518160">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768</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0x0300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0 0 0 0 0 0 1 1    0 0 0 0 0 0 1 0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519430">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rPr>
                        <a:t>1024</a:t>
                      </a:r>
                      <a:endPar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smtClean="0">
                          <a:ln>
                            <a:noFill/>
                          </a:ln>
                          <a:solidFill>
                            <a:srgbClr val="000000"/>
                          </a:solidFill>
                          <a:effectLst/>
                          <a:latin typeface="Times New Roman" panose="02020603050405020304" charset="0"/>
                          <a:ea typeface="Gulim" pitchFamily="34" charset="-127"/>
                        </a:rPr>
                        <a:t>0x0400</a:t>
                      </a:r>
                      <a:endParaRPr kumimoji="0" 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rPr>
                        <a:t>0 0 0 0 0 1 0 0    0 0 0 0 0 1 0 0</a:t>
                      </a:r>
                      <a:endParaRPr kumimoji="0" 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anchor="ctr" anchorCtr="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bl>
          </a:graphicData>
        </a:graphic>
      </p:graphicFrame>
      <p:sp>
        <p:nvSpPr>
          <p:cNvPr id="48158" name="内容占位符 2"/>
          <p:cNvSpPr>
            <a:spLocks noGrp="1"/>
          </p:cNvSpPr>
          <p:nvPr>
            <p:ph idx="4294967295"/>
          </p:nvPr>
        </p:nvSpPr>
        <p:spPr>
          <a:xfrm>
            <a:off x="1409065" y="4344035"/>
            <a:ext cx="7355840" cy="1969135"/>
          </a:xfrm>
        </p:spPr>
        <p:txBody>
          <a:bodyPr>
            <a:normAutofit fontScale="75000"/>
          </a:bodyPr>
          <a:lstStyle/>
          <a:p>
            <a:pPr marL="0" indent="0" eaLnBrk="1" hangingPunct="1">
              <a:buNone/>
            </a:pPr>
            <a:endParaRPr lang="en-US" dirty="0">
              <a:solidFill>
                <a:srgbClr val="ED7D31"/>
              </a:solidFill>
              <a:ea typeface="宋体" panose="02010600030101010101" pitchFamily="2" charset="-122"/>
            </a:endParaRPr>
          </a:p>
          <a:p>
            <a:pPr marL="361950" indent="-361950" eaLnBrk="1" hangingPunct="1"/>
            <a:r>
              <a:rPr lang="de-DE" altLang="en-US" b="1" dirty="0">
                <a:solidFill>
                  <a:srgbClr val="ED7D31"/>
                </a:solidFill>
                <a:ea typeface="宋体" panose="02010600030101010101" pitchFamily="2" charset="-122"/>
              </a:rPr>
              <a:t>1K = 1024</a:t>
            </a:r>
            <a:r>
              <a:rPr lang="en-US" altLang="de-DE" b="1" dirty="0">
                <a:solidFill>
                  <a:srgbClr val="ED7D31"/>
                </a:solidFill>
                <a:ea typeface="宋体" panose="02010600030101010101" pitchFamily="2" charset="-122"/>
              </a:rPr>
              <a:t>b</a:t>
            </a:r>
            <a:endParaRPr lang="de-DE" altLang="en-US" b="1" dirty="0">
              <a:solidFill>
                <a:srgbClr val="ED7D31"/>
              </a:solidFill>
              <a:ea typeface="宋体" panose="02010600030101010101" pitchFamily="2" charset="-122"/>
            </a:endParaRPr>
          </a:p>
          <a:p>
            <a:pPr marL="361950" indent="-361950" eaLnBrk="1" hangingPunct="1"/>
            <a:r>
              <a:rPr lang="de-DE" altLang="en-US" b="1" dirty="0">
                <a:solidFill>
                  <a:srgbClr val="ED7D31"/>
                </a:solidFill>
                <a:ea typeface="宋体" panose="02010600030101010101" pitchFamily="2" charset="-122"/>
              </a:rPr>
              <a:t>1M = 1024K</a:t>
            </a:r>
            <a:endParaRPr lang="de-DE" altLang="en-US" b="1" dirty="0">
              <a:solidFill>
                <a:srgbClr val="ED7D31"/>
              </a:solidFill>
              <a:ea typeface="宋体" panose="02010600030101010101" pitchFamily="2" charset="-122"/>
            </a:endParaRPr>
          </a:p>
          <a:p>
            <a:pPr marL="361950" indent="-361950" eaLnBrk="1" hangingPunct="1"/>
            <a:r>
              <a:rPr lang="de-DE" altLang="en-US" b="1" dirty="0">
                <a:solidFill>
                  <a:srgbClr val="ED7D31"/>
                </a:solidFill>
                <a:ea typeface="宋体" panose="02010600030101010101" pitchFamily="2" charset="-122"/>
              </a:rPr>
              <a:t>1G = 1024M</a:t>
            </a:r>
            <a:endParaRPr lang="de-DE" altLang="en-US" b="1" dirty="0">
              <a:solidFill>
                <a:srgbClr val="ED7D31"/>
              </a:solidFill>
              <a:ea typeface="宋体" panose="02010600030101010101" pitchFamily="2" charset="-122"/>
            </a:endParaRPr>
          </a:p>
          <a:p>
            <a:pPr marL="361950" indent="-361950" eaLnBrk="1" hangingPunct="1"/>
            <a:r>
              <a:rPr lang="de-DE" altLang="en-US" b="1" dirty="0">
                <a:solidFill>
                  <a:srgbClr val="ED7D31"/>
                </a:solidFill>
                <a:ea typeface="宋体" panose="02010600030101010101" pitchFamily="2" charset="-122"/>
              </a:rPr>
              <a:t>1T = 1024G</a:t>
            </a:r>
            <a:endParaRPr lang="de-DE" altLang="en-US" b="1" dirty="0">
              <a:solidFill>
                <a:srgbClr val="ED7D31"/>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697355" y="3044190"/>
            <a:ext cx="915416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八种基本数据类型</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 整型</a:t>
            </a:r>
            <a:endParaRPr lang="en-US" altLang="zh-CN"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3830" y="888365"/>
            <a:ext cx="9527540" cy="5088255"/>
          </a:xfrm>
        </p:spPr>
        <p:txBody>
          <a:bodyPr>
            <a:normAutofit fontScale="80000"/>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byte   — </a:t>
            </a:r>
            <a:r>
              <a:rPr lang="zh-CN" altLang="en-US" dirty="0">
                <a:ea typeface="宋体" panose="02010600030101010101" pitchFamily="2" charset="-122"/>
                <a:sym typeface="+mn-ea"/>
              </a:rPr>
              <a:t>字节型  </a:t>
            </a:r>
            <a:r>
              <a:rPr lang="en-US" altLang="zh-CN" dirty="0">
                <a:ea typeface="宋体" panose="02010600030101010101" pitchFamily="2" charset="-122"/>
                <a:sym typeface="+mn-ea"/>
              </a:rPr>
              <a:t>8</a:t>
            </a:r>
            <a:r>
              <a:rPr lang="zh-CN" altLang="en-US" dirty="0">
                <a:ea typeface="宋体" panose="02010600030101010101" pitchFamily="2" charset="-122"/>
                <a:sym typeface="+mn-ea"/>
              </a:rPr>
              <a:t>位 （</a:t>
            </a:r>
            <a:r>
              <a:rPr lang="en-US" altLang="zh-CN" dirty="0">
                <a:ea typeface="宋体" panose="02010600030101010101" pitchFamily="2" charset="-122"/>
                <a:sym typeface="+mn-ea"/>
              </a:rPr>
              <a:t>-2</a:t>
            </a:r>
            <a:r>
              <a:rPr lang="en-US" altLang="zh-CN" baseline="30000" dirty="0">
                <a:ea typeface="宋体" panose="02010600030101010101" pitchFamily="2" charset="-122"/>
                <a:sym typeface="+mn-ea"/>
              </a:rPr>
              <a:t>7</a:t>
            </a:r>
            <a:r>
              <a:rPr lang="en-US" altLang="zh-CN" dirty="0">
                <a:ea typeface="宋体" panose="02010600030101010101" pitchFamily="2" charset="-122"/>
                <a:sym typeface="+mn-ea"/>
              </a:rPr>
              <a:t> </a:t>
            </a:r>
            <a:r>
              <a:rPr lang="zh-CN" altLang="en-US" dirty="0">
                <a:ea typeface="宋体" panose="02010600030101010101" pitchFamily="2" charset="-122"/>
                <a:sym typeface="+mn-ea"/>
              </a:rPr>
              <a:t>～</a:t>
            </a:r>
            <a:r>
              <a:rPr lang="en-US" altLang="zh-CN" dirty="0">
                <a:ea typeface="宋体" panose="02010600030101010101" pitchFamily="2" charset="-122"/>
                <a:sym typeface="+mn-ea"/>
              </a:rPr>
              <a:t>2</a:t>
            </a:r>
            <a:r>
              <a:rPr lang="en-US" altLang="zh-CN" baseline="30000" dirty="0">
                <a:ea typeface="宋体" panose="02010600030101010101" pitchFamily="2" charset="-122"/>
                <a:sym typeface="+mn-ea"/>
              </a:rPr>
              <a:t>7</a:t>
            </a:r>
            <a:r>
              <a:rPr lang="en-US" altLang="zh-CN" dirty="0">
                <a:ea typeface="宋体" panose="02010600030101010101" pitchFamily="2" charset="-122"/>
                <a:sym typeface="+mn-ea"/>
              </a:rPr>
              <a:t>-1</a:t>
            </a:r>
            <a:r>
              <a:rPr lang="zh-CN" altLang="en-US" dirty="0">
                <a:ea typeface="宋体" panose="02010600030101010101" pitchFamily="2" charset="-122"/>
                <a:sym typeface="+mn-ea"/>
              </a:rPr>
              <a:t>）</a:t>
            </a:r>
            <a:endParaRPr lang="zh-CN" altLang="en-US" dirty="0">
              <a:ea typeface="宋体" panose="02010600030101010101" pitchFamily="2" charset="-122"/>
              <a:sym typeface="+mn-ea"/>
            </a:endParaRPr>
          </a:p>
          <a:p>
            <a:pPr lvl="1" eaLnBrk="1" hangingPunct="1">
              <a:lnSpc>
                <a:spcPct val="130000"/>
              </a:lnSpc>
              <a:buClr>
                <a:srgbClr val="ED7D31"/>
              </a:buClr>
              <a:buFont typeface="Wingdings" panose="05000000000000000000" charset="0"/>
              <a:buChar char="l"/>
            </a:pPr>
            <a:r>
              <a:rPr lang="zh-CN" altLang="en-US" sz="1800" dirty="0">
                <a:ea typeface="宋体" panose="02010600030101010101" pitchFamily="2" charset="-122"/>
                <a:sym typeface="+mn-ea"/>
              </a:rPr>
              <a:t>例如：</a:t>
            </a:r>
            <a:r>
              <a:rPr lang="en-US" altLang="zh-CN" sz="1800" dirty="0">
                <a:ea typeface="宋体" panose="02010600030101010101" pitchFamily="2" charset="-122"/>
                <a:sym typeface="+mn-ea"/>
              </a:rPr>
              <a:t>byte x  = 10;</a:t>
            </a:r>
            <a:endParaRPr lang="en-US" altLang="zh-CN" sz="180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short  — </a:t>
            </a:r>
            <a:r>
              <a:rPr lang="zh-CN" altLang="en-US" dirty="0">
                <a:ea typeface="宋体" panose="02010600030101010101" pitchFamily="2" charset="-122"/>
                <a:sym typeface="+mn-ea"/>
              </a:rPr>
              <a:t>短整型 </a:t>
            </a:r>
            <a:r>
              <a:rPr lang="en-US" altLang="zh-CN" dirty="0">
                <a:ea typeface="宋体" panose="02010600030101010101" pitchFamily="2" charset="-122"/>
                <a:sym typeface="+mn-ea"/>
              </a:rPr>
              <a:t>16</a:t>
            </a:r>
            <a:r>
              <a:rPr lang="zh-CN" altLang="en-US" dirty="0">
                <a:ea typeface="宋体" panose="02010600030101010101" pitchFamily="2" charset="-122"/>
                <a:sym typeface="+mn-ea"/>
              </a:rPr>
              <a:t>位 （</a:t>
            </a:r>
            <a:r>
              <a:rPr lang="en-US" altLang="zh-CN" dirty="0">
                <a:ea typeface="宋体" panose="02010600030101010101" pitchFamily="2" charset="-122"/>
                <a:sym typeface="+mn-ea"/>
              </a:rPr>
              <a:t>-2</a:t>
            </a:r>
            <a:r>
              <a:rPr lang="en-US" altLang="zh-CN" baseline="30000" dirty="0">
                <a:ea typeface="宋体" panose="02010600030101010101" pitchFamily="2" charset="-122"/>
                <a:sym typeface="+mn-ea"/>
              </a:rPr>
              <a:t>15</a:t>
            </a:r>
            <a:r>
              <a:rPr lang="en-US" altLang="zh-CN" dirty="0">
                <a:ea typeface="宋体" panose="02010600030101010101" pitchFamily="2" charset="-122"/>
                <a:sym typeface="+mn-ea"/>
              </a:rPr>
              <a:t> </a:t>
            </a:r>
            <a:r>
              <a:rPr lang="zh-CN" altLang="en-US" dirty="0">
                <a:ea typeface="宋体" panose="02010600030101010101" pitchFamily="2" charset="-122"/>
                <a:sym typeface="+mn-ea"/>
              </a:rPr>
              <a:t>～</a:t>
            </a:r>
            <a:r>
              <a:rPr lang="en-US" altLang="zh-CN" dirty="0">
                <a:ea typeface="宋体" panose="02010600030101010101" pitchFamily="2" charset="-122"/>
                <a:sym typeface="+mn-ea"/>
              </a:rPr>
              <a:t>2</a:t>
            </a:r>
            <a:r>
              <a:rPr lang="en-US" altLang="zh-CN" baseline="30000" dirty="0">
                <a:ea typeface="宋体" panose="02010600030101010101" pitchFamily="2" charset="-122"/>
                <a:sym typeface="+mn-ea"/>
              </a:rPr>
              <a:t>15</a:t>
            </a:r>
            <a:r>
              <a:rPr lang="en-US" altLang="zh-CN" dirty="0">
                <a:ea typeface="宋体" panose="02010600030101010101" pitchFamily="2" charset="-122"/>
                <a:sym typeface="+mn-ea"/>
              </a:rPr>
              <a:t>-1</a:t>
            </a:r>
            <a:r>
              <a:rPr lang="zh-CN" altLang="en-US" dirty="0">
                <a:ea typeface="宋体" panose="02010600030101010101" pitchFamily="2" charset="-122"/>
                <a:sym typeface="+mn-ea"/>
              </a:rPr>
              <a:t>）</a:t>
            </a:r>
            <a:endParaRPr lang="zh-CN" altLang="en-US" sz="2400" dirty="0">
              <a:ea typeface="宋体" panose="02010600030101010101" pitchFamily="2" charset="-122"/>
              <a:sym typeface="+mn-ea"/>
            </a:endParaRPr>
          </a:p>
          <a:p>
            <a:pPr lvl="1" eaLnBrk="1" hangingPunct="1">
              <a:lnSpc>
                <a:spcPct val="130000"/>
              </a:lnSpc>
              <a:buClr>
                <a:srgbClr val="ED7D31"/>
              </a:buClr>
              <a:buFont typeface="Wingdings" panose="05000000000000000000" charset="0"/>
              <a:buChar char="l"/>
            </a:pPr>
            <a:r>
              <a:rPr lang="zh-CN" altLang="en-US" sz="2400" dirty="0">
                <a:ea typeface="宋体" panose="02010600030101010101" pitchFamily="2" charset="-122"/>
                <a:sym typeface="+mn-ea"/>
              </a:rPr>
              <a:t>例如： </a:t>
            </a:r>
            <a:r>
              <a:rPr lang="en-US" altLang="zh-CN" sz="2400" dirty="0">
                <a:ea typeface="宋体" panose="02010600030101010101" pitchFamily="2" charset="-122"/>
                <a:sym typeface="+mn-ea"/>
              </a:rPr>
              <a:t>short y  = 1000;</a:t>
            </a:r>
            <a:endParaRPr lang="en-US" altLang="zh-CN" sz="240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en-US" altLang="zh-CN" dirty="0" err="1">
                <a:ea typeface="宋体" panose="02010600030101010101" pitchFamily="2" charset="-122"/>
                <a:sym typeface="+mn-ea"/>
              </a:rPr>
              <a:t>int</a:t>
            </a:r>
            <a:r>
              <a:rPr lang="en-US" altLang="zh-CN" dirty="0">
                <a:ea typeface="宋体" panose="02010600030101010101" pitchFamily="2" charset="-122"/>
                <a:sym typeface="+mn-ea"/>
              </a:rPr>
              <a:t>      — </a:t>
            </a:r>
            <a:r>
              <a:rPr lang="zh-CN" altLang="en-US" dirty="0">
                <a:ea typeface="宋体" panose="02010600030101010101" pitchFamily="2" charset="-122"/>
                <a:sym typeface="+mn-ea"/>
              </a:rPr>
              <a:t>整型     </a:t>
            </a:r>
            <a:r>
              <a:rPr lang="en-US" altLang="zh-CN" dirty="0">
                <a:ea typeface="宋体" panose="02010600030101010101" pitchFamily="2" charset="-122"/>
                <a:sym typeface="+mn-ea"/>
              </a:rPr>
              <a:t>32</a:t>
            </a:r>
            <a:r>
              <a:rPr lang="zh-CN" altLang="en-US" dirty="0">
                <a:ea typeface="宋体" panose="02010600030101010101" pitchFamily="2" charset="-122"/>
                <a:sym typeface="+mn-ea"/>
              </a:rPr>
              <a:t>位 （</a:t>
            </a:r>
            <a:r>
              <a:rPr lang="en-US" altLang="zh-CN" dirty="0">
                <a:ea typeface="宋体" panose="02010600030101010101" pitchFamily="2" charset="-122"/>
                <a:sym typeface="+mn-ea"/>
              </a:rPr>
              <a:t>-2</a:t>
            </a:r>
            <a:r>
              <a:rPr lang="en-US" altLang="zh-CN" baseline="30000" dirty="0">
                <a:ea typeface="宋体" panose="02010600030101010101" pitchFamily="2" charset="-122"/>
                <a:sym typeface="+mn-ea"/>
              </a:rPr>
              <a:t>31</a:t>
            </a:r>
            <a:r>
              <a:rPr lang="en-US" altLang="zh-CN" dirty="0">
                <a:ea typeface="宋体" panose="02010600030101010101" pitchFamily="2" charset="-122"/>
                <a:sym typeface="+mn-ea"/>
              </a:rPr>
              <a:t> </a:t>
            </a:r>
            <a:r>
              <a:rPr lang="zh-CN" altLang="en-US" dirty="0">
                <a:ea typeface="宋体" panose="02010600030101010101" pitchFamily="2" charset="-122"/>
                <a:sym typeface="+mn-ea"/>
              </a:rPr>
              <a:t>～</a:t>
            </a:r>
            <a:r>
              <a:rPr lang="en-US" altLang="zh-CN" dirty="0">
                <a:ea typeface="宋体" panose="02010600030101010101" pitchFamily="2" charset="-122"/>
                <a:sym typeface="+mn-ea"/>
              </a:rPr>
              <a:t>2</a:t>
            </a:r>
            <a:r>
              <a:rPr lang="en-US" altLang="zh-CN" baseline="30000" dirty="0">
                <a:ea typeface="宋体" panose="02010600030101010101" pitchFamily="2" charset="-122"/>
                <a:sym typeface="+mn-ea"/>
              </a:rPr>
              <a:t>31</a:t>
            </a:r>
            <a:r>
              <a:rPr lang="en-US" altLang="zh-CN" dirty="0">
                <a:ea typeface="宋体" panose="02010600030101010101" pitchFamily="2" charset="-122"/>
                <a:sym typeface="+mn-ea"/>
              </a:rPr>
              <a:t>-1</a:t>
            </a:r>
            <a:r>
              <a:rPr lang="zh-CN" altLang="en-US" dirty="0">
                <a:ea typeface="宋体" panose="02010600030101010101" pitchFamily="2" charset="-122"/>
                <a:sym typeface="+mn-ea"/>
              </a:rPr>
              <a:t>）</a:t>
            </a:r>
            <a:endParaRPr lang="zh-CN" altLang="en-US" sz="2400" dirty="0">
              <a:ea typeface="宋体" panose="02010600030101010101" pitchFamily="2" charset="-122"/>
              <a:sym typeface="+mn-ea"/>
            </a:endParaRPr>
          </a:p>
          <a:p>
            <a:pPr lvl="1" eaLnBrk="1" hangingPunct="1">
              <a:lnSpc>
                <a:spcPct val="130000"/>
              </a:lnSpc>
              <a:buClr>
                <a:srgbClr val="ED7D31"/>
              </a:buClr>
              <a:buFont typeface="Wingdings" panose="05000000000000000000" charset="0"/>
              <a:buChar char="l"/>
            </a:pPr>
            <a:r>
              <a:rPr lang="zh-CN" altLang="en-US" sz="2400" dirty="0">
                <a:ea typeface="宋体" panose="02010600030101010101" pitchFamily="2" charset="-122"/>
                <a:sym typeface="+mn-ea"/>
              </a:rPr>
              <a:t>例如： </a:t>
            </a:r>
            <a:r>
              <a:rPr lang="en-US" altLang="zh-CN" sz="2400" dirty="0" err="1">
                <a:ea typeface="宋体" panose="02010600030101010101" pitchFamily="2" charset="-122"/>
                <a:sym typeface="+mn-ea"/>
              </a:rPr>
              <a:t>int</a:t>
            </a:r>
            <a:r>
              <a:rPr lang="en-US" altLang="zh-CN" sz="2400" dirty="0">
                <a:ea typeface="宋体" panose="02010600030101010101" pitchFamily="2" charset="-122"/>
                <a:sym typeface="+mn-ea"/>
              </a:rPr>
              <a:t> z  = 12345678;</a:t>
            </a:r>
            <a:endParaRPr lang="en-US" altLang="zh-CN" sz="240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long   — </a:t>
            </a:r>
            <a:r>
              <a:rPr lang="zh-CN" altLang="en-US" dirty="0">
                <a:ea typeface="宋体" panose="02010600030101010101" pitchFamily="2" charset="-122"/>
                <a:sym typeface="+mn-ea"/>
              </a:rPr>
              <a:t>长整型 </a:t>
            </a:r>
            <a:r>
              <a:rPr lang="en-US" altLang="zh-CN" dirty="0">
                <a:ea typeface="宋体" panose="02010600030101010101" pitchFamily="2" charset="-122"/>
                <a:sym typeface="+mn-ea"/>
              </a:rPr>
              <a:t>64</a:t>
            </a:r>
            <a:r>
              <a:rPr lang="zh-CN" altLang="en-US" dirty="0">
                <a:ea typeface="宋体" panose="02010600030101010101" pitchFamily="2" charset="-122"/>
                <a:sym typeface="+mn-ea"/>
              </a:rPr>
              <a:t>位</a:t>
            </a:r>
            <a:r>
              <a:rPr lang="zh-CN" altLang="en-US" dirty="0">
                <a:ea typeface="宋体" panose="02010600030101010101" pitchFamily="2" charset="-122"/>
                <a:sym typeface="+mn-ea"/>
              </a:rPr>
              <a:t> （</a:t>
            </a:r>
            <a:r>
              <a:rPr lang="en-US" altLang="zh-CN" dirty="0">
                <a:ea typeface="宋体" panose="02010600030101010101" pitchFamily="2" charset="-122"/>
                <a:sym typeface="+mn-ea"/>
              </a:rPr>
              <a:t>-2</a:t>
            </a:r>
            <a:r>
              <a:rPr lang="en-US" altLang="zh-CN" baseline="30000" dirty="0">
                <a:ea typeface="宋体" panose="02010600030101010101" pitchFamily="2" charset="-122"/>
                <a:sym typeface="+mn-ea"/>
              </a:rPr>
              <a:t>63</a:t>
            </a:r>
            <a:r>
              <a:rPr lang="en-US" altLang="zh-CN" dirty="0">
                <a:ea typeface="宋体" panose="02010600030101010101" pitchFamily="2" charset="-122"/>
                <a:sym typeface="+mn-ea"/>
              </a:rPr>
              <a:t> </a:t>
            </a:r>
            <a:r>
              <a:rPr lang="zh-CN" altLang="en-US" dirty="0">
                <a:ea typeface="宋体" panose="02010600030101010101" pitchFamily="2" charset="-122"/>
                <a:sym typeface="+mn-ea"/>
              </a:rPr>
              <a:t>～</a:t>
            </a:r>
            <a:r>
              <a:rPr lang="en-US" altLang="zh-CN" dirty="0">
                <a:ea typeface="宋体" panose="02010600030101010101" pitchFamily="2" charset="-122"/>
                <a:sym typeface="+mn-ea"/>
              </a:rPr>
              <a:t>2</a:t>
            </a:r>
            <a:r>
              <a:rPr lang="en-US" altLang="zh-CN" baseline="30000" dirty="0">
                <a:ea typeface="宋体" panose="02010600030101010101" pitchFamily="2" charset="-122"/>
                <a:sym typeface="+mn-ea"/>
              </a:rPr>
              <a:t>63</a:t>
            </a:r>
            <a:r>
              <a:rPr lang="en-US" altLang="zh-CN" dirty="0">
                <a:ea typeface="宋体" panose="02010600030101010101" pitchFamily="2" charset="-122"/>
                <a:sym typeface="+mn-ea"/>
              </a:rPr>
              <a:t>-1</a:t>
            </a:r>
            <a:r>
              <a:rPr lang="zh-CN" altLang="en-US" dirty="0">
                <a:ea typeface="宋体" panose="02010600030101010101" pitchFamily="2" charset="-122"/>
                <a:sym typeface="+mn-ea"/>
              </a:rPr>
              <a:t>）</a:t>
            </a:r>
            <a:endParaRPr lang="zh-CN" altLang="en-US" sz="2400" dirty="0">
              <a:ea typeface="宋体" panose="02010600030101010101" pitchFamily="2" charset="-122"/>
              <a:sym typeface="+mn-ea"/>
            </a:endParaRPr>
          </a:p>
          <a:p>
            <a:pPr lvl="1" eaLnBrk="1" hangingPunct="1">
              <a:lnSpc>
                <a:spcPct val="130000"/>
              </a:lnSpc>
              <a:buClr>
                <a:srgbClr val="ED7D31"/>
              </a:buClr>
              <a:buFont typeface="Wingdings" panose="05000000000000000000" charset="0"/>
              <a:buChar char="l"/>
            </a:pPr>
            <a:r>
              <a:rPr lang="zh-CN" altLang="en-US" sz="2400" dirty="0">
                <a:ea typeface="宋体" panose="02010600030101010101" pitchFamily="2" charset="-122"/>
                <a:sym typeface="+mn-ea"/>
              </a:rPr>
              <a:t>例如： </a:t>
            </a:r>
            <a:r>
              <a:rPr lang="en-US" altLang="zh-CN" sz="2400" dirty="0">
                <a:ea typeface="宋体" panose="02010600030101010101" pitchFamily="2" charset="-122"/>
                <a:sym typeface="+mn-ea"/>
              </a:rPr>
              <a:t>long l  = 12345678901234567890</a:t>
            </a:r>
            <a:r>
              <a:rPr lang="en-US" altLang="zh-CN" sz="2400" dirty="0">
                <a:solidFill>
                  <a:srgbClr val="FF0000"/>
                </a:solidFill>
                <a:ea typeface="宋体" panose="02010600030101010101" pitchFamily="2" charset="-122"/>
                <a:sym typeface="+mn-ea"/>
              </a:rPr>
              <a:t>L</a:t>
            </a:r>
            <a:r>
              <a:rPr lang="en-US" altLang="zh-CN" sz="2400" dirty="0">
                <a:ea typeface="宋体" panose="02010600030101010101" pitchFamily="2" charset="-122"/>
                <a:sym typeface="+mn-ea"/>
              </a:rPr>
              <a:t>;</a:t>
            </a:r>
            <a:endParaRPr lang="en-US" altLang="zh-CN" sz="2400" dirty="0">
              <a:ea typeface="宋体" panose="02010600030101010101" pitchFamily="2" charset="-122"/>
            </a:endParaRPr>
          </a:p>
          <a:p>
            <a:pPr eaLnBrk="1" hangingPunct="1">
              <a:lnSpc>
                <a:spcPct val="130000"/>
              </a:lnSpc>
              <a:buClr>
                <a:srgbClr val="ED7D31"/>
              </a:buClr>
              <a:buFont typeface="Wingdings" panose="05000000000000000000" charset="0"/>
              <a:buChar char="n"/>
            </a:pPr>
            <a:r>
              <a:rPr lang="zh-CN" altLang="en-US" dirty="0">
                <a:ea typeface="宋体" panose="02010600030101010101" pitchFamily="2" charset="-122"/>
                <a:sym typeface="+mn-ea"/>
              </a:rPr>
              <a:t> </a:t>
            </a:r>
            <a:r>
              <a:rPr lang="zh-CN" altLang="en-US" dirty="0">
                <a:ea typeface="宋体" panose="02010600030101010101" pitchFamily="2" charset="-122"/>
                <a:sym typeface="+mn-ea"/>
              </a:rPr>
              <a:t>在程序中，整数通常使用</a:t>
            </a:r>
            <a:r>
              <a:rPr lang="en-US" altLang="zh-CN" dirty="0" err="1">
                <a:ea typeface="宋体" panose="02010600030101010101" pitchFamily="2" charset="-122"/>
                <a:sym typeface="+mn-ea"/>
              </a:rPr>
              <a:t>int</a:t>
            </a:r>
            <a:r>
              <a:rPr lang="zh-CN" altLang="en-US" dirty="0">
                <a:ea typeface="宋体" panose="02010600030101010101" pitchFamily="2" charset="-122"/>
                <a:sym typeface="+mn-ea"/>
              </a:rPr>
              <a:t>类型来表示，而很少使用</a:t>
            </a:r>
            <a:r>
              <a:rPr lang="en-US" altLang="zh-CN" dirty="0">
                <a:ea typeface="宋体" panose="02010600030101010101" pitchFamily="2" charset="-122"/>
                <a:sym typeface="+mn-ea"/>
              </a:rPr>
              <a:t>byte</a:t>
            </a:r>
            <a:r>
              <a:rPr lang="zh-CN" altLang="en-US" dirty="0">
                <a:ea typeface="宋体" panose="02010600030101010101" pitchFamily="2" charset="-122"/>
                <a:sym typeface="+mn-ea"/>
              </a:rPr>
              <a:t>和</a:t>
            </a:r>
            <a:r>
              <a:rPr lang="en-US" altLang="zh-CN" dirty="0">
                <a:ea typeface="宋体" panose="02010600030101010101" pitchFamily="2" charset="-122"/>
                <a:sym typeface="+mn-ea"/>
              </a:rPr>
              <a:t>short</a:t>
            </a:r>
            <a:r>
              <a:rPr lang="zh-CN" altLang="en-US" dirty="0">
                <a:ea typeface="宋体" panose="02010600030101010101" pitchFamily="2" charset="-122"/>
                <a:sym typeface="+mn-ea"/>
              </a:rPr>
              <a:t>；除非</a:t>
            </a:r>
            <a:r>
              <a:rPr lang="en-US" altLang="zh-CN" dirty="0" err="1">
                <a:ea typeface="宋体" panose="02010600030101010101" pitchFamily="2" charset="-122"/>
                <a:sym typeface="+mn-ea"/>
              </a:rPr>
              <a:t>int</a:t>
            </a:r>
            <a:r>
              <a:rPr lang="zh-CN" altLang="en-US" dirty="0">
                <a:ea typeface="宋体" panose="02010600030101010101" pitchFamily="2" charset="-122"/>
                <a:sym typeface="+mn-ea"/>
              </a:rPr>
              <a:t>不足以表示大数，才使用</a:t>
            </a:r>
            <a:r>
              <a:rPr lang="en-US" altLang="zh-CN" dirty="0">
                <a:ea typeface="宋体" panose="02010600030101010101" pitchFamily="2" charset="-122"/>
                <a:sym typeface="+mn-ea"/>
              </a:rPr>
              <a:t>long</a:t>
            </a:r>
            <a:r>
              <a:rPr lang="zh-CN" altLang="en-US" dirty="0">
                <a:ea typeface="宋体" panose="02010600030101010101" pitchFamily="2" charset="-122"/>
                <a:sym typeface="+mn-ea"/>
              </a:rPr>
              <a:t>直接赋值</a:t>
            </a:r>
            <a:r>
              <a:rPr lang="en-US" dirty="0">
                <a:ea typeface="宋体" panose="02010600030101010101" pitchFamily="2" charset="-122"/>
                <a:sym typeface="+mn-ea"/>
              </a:rPr>
              <a:t>(=)</a:t>
            </a:r>
            <a:r>
              <a:rPr lang="zh-CN" altLang="en-US" dirty="0">
                <a:ea typeface="宋体" panose="02010600030101010101" pitchFamily="2" charset="-122"/>
                <a:sym typeface="+mn-ea"/>
              </a:rPr>
              <a:t>、复合运算赋值</a:t>
            </a:r>
            <a:r>
              <a:rPr lang="en-US" dirty="0">
                <a:ea typeface="宋体" panose="02010600030101010101" pitchFamily="2" charset="-122"/>
                <a:sym typeface="+mn-ea"/>
              </a:rPr>
              <a:t>(+=</a:t>
            </a:r>
            <a:r>
              <a:rPr lang="zh-CN" altLang="en-US" dirty="0">
                <a:ea typeface="宋体" panose="02010600030101010101" pitchFamily="2" charset="-122"/>
                <a:sym typeface="+mn-ea"/>
              </a:rPr>
              <a:t>、</a:t>
            </a:r>
            <a:r>
              <a:rPr lang="en-US" dirty="0">
                <a:ea typeface="宋体" panose="02010600030101010101" pitchFamily="2" charset="-122"/>
                <a:sym typeface="+mn-ea"/>
              </a:rPr>
              <a:t>  -=</a:t>
            </a:r>
            <a:r>
              <a:rPr lang="zh-CN" altLang="en-US" dirty="0">
                <a:ea typeface="宋体" panose="02010600030101010101" pitchFamily="2" charset="-122"/>
                <a:sym typeface="+mn-ea"/>
              </a:rPr>
              <a:t>、</a:t>
            </a:r>
            <a:r>
              <a:rPr lang="en-US" dirty="0">
                <a:ea typeface="宋体" panose="02010600030101010101" pitchFamily="2" charset="-122"/>
                <a:sym typeface="+mn-ea"/>
              </a:rPr>
              <a:t>  *=</a:t>
            </a:r>
            <a:r>
              <a:rPr lang="zh-CN" altLang="en-US" dirty="0">
                <a:ea typeface="宋体" panose="02010600030101010101" pitchFamily="2" charset="-122"/>
                <a:sym typeface="+mn-ea"/>
              </a:rPr>
              <a:t>、</a:t>
            </a:r>
            <a:r>
              <a:rPr lang="en-US" dirty="0">
                <a:ea typeface="宋体" panose="02010600030101010101" pitchFamily="2" charset="-122"/>
                <a:sym typeface="+mn-ea"/>
              </a:rPr>
              <a:t>  /=</a:t>
            </a:r>
            <a:r>
              <a:rPr lang="zh-CN" altLang="en-US" dirty="0">
                <a:ea typeface="宋体" panose="02010600030101010101" pitchFamily="2" charset="-122"/>
                <a:sym typeface="+mn-ea"/>
              </a:rPr>
              <a:t>、</a:t>
            </a:r>
            <a:r>
              <a:rPr lang="en-US" dirty="0">
                <a:ea typeface="宋体" panose="02010600030101010101" pitchFamily="2" charset="-122"/>
                <a:sym typeface="+mn-ea"/>
              </a:rPr>
              <a:t>  %=)</a:t>
            </a:r>
            <a:endParaRPr lang="en-US" dirty="0">
              <a:ea typeface="宋体" panose="02010600030101010101" pitchFamily="2" charset="-122"/>
              <a:sym typeface="+mn-ea"/>
            </a:endParaRPr>
          </a:p>
          <a:p>
            <a:pPr eaLnBrk="1" hangingPunct="1">
              <a:lnSpc>
                <a:spcPct val="130000"/>
              </a:lnSpc>
              <a:buClr>
                <a:srgbClr val="ED7D31"/>
              </a:buClr>
              <a:buFont typeface="Wingdings" panose="05000000000000000000" charset="0"/>
              <a:buChar char="n"/>
            </a:pPr>
            <a:r>
              <a:rPr lang="zh-CN" altLang="en-US" dirty="0">
                <a:ea typeface="宋体" panose="02010600030101010101" pitchFamily="2" charset="-122"/>
                <a:sym typeface="+mn-ea"/>
              </a:rPr>
              <a:t>字面值： </a:t>
            </a:r>
            <a:r>
              <a:rPr lang="en-US" altLang="zh-CN" dirty="0">
                <a:ea typeface="宋体" panose="02010600030101010101" pitchFamily="2" charset="-122"/>
                <a:sym typeface="+mn-ea"/>
              </a:rPr>
              <a:t>l</a:t>
            </a:r>
            <a:r>
              <a:rPr lang="zh-CN" altLang="en-US" dirty="0">
                <a:ea typeface="宋体" panose="02010600030101010101" pitchFamily="2" charset="-122"/>
                <a:sym typeface="+mn-ea"/>
              </a:rPr>
              <a:t>或</a:t>
            </a:r>
            <a:r>
              <a:rPr lang="en-US" altLang="zh-CN" dirty="0">
                <a:ea typeface="宋体" panose="02010600030101010101" pitchFamily="2" charset="-122"/>
                <a:sym typeface="+mn-ea"/>
              </a:rPr>
              <a:t>L</a:t>
            </a:r>
            <a:r>
              <a:rPr lang="zh-CN" altLang="en-US" dirty="0">
                <a:ea typeface="宋体" panose="02010600030101010101" pitchFamily="2" charset="-122"/>
                <a:sym typeface="+mn-ea"/>
              </a:rPr>
              <a:t>后缀表示长整型</a:t>
            </a: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 </a:t>
            </a:r>
            <a:r>
              <a:rPr lang="zh-CN" altLang="en-US" sz="2400">
                <a:ea typeface="宋体" panose="02010600030101010101" pitchFamily="2" charset="-122"/>
                <a:sym typeface="+mn-ea"/>
              </a:rPr>
              <a:t>浮点型</a:t>
            </a:r>
            <a:endParaRPr lang="en-US" altLang="zh-CN"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3830" y="1155065"/>
            <a:ext cx="9527540" cy="5088255"/>
          </a:xfrm>
        </p:spPr>
        <p:txBody>
          <a:bodyPr>
            <a:normAutofit lnSpcReduction="10000"/>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float    — </a:t>
            </a:r>
            <a:r>
              <a:rPr lang="zh-CN" altLang="en-US" dirty="0">
                <a:ea typeface="宋体" panose="02010600030101010101" pitchFamily="2" charset="-122"/>
                <a:sym typeface="+mn-ea"/>
              </a:rPr>
              <a:t>单精度</a:t>
            </a:r>
            <a:r>
              <a:rPr lang="en-US" altLang="zh-CN" dirty="0">
                <a:ea typeface="宋体" panose="02010600030101010101" pitchFamily="2" charset="-122"/>
                <a:sym typeface="+mn-ea"/>
              </a:rPr>
              <a:t> </a:t>
            </a:r>
            <a:r>
              <a:rPr lang="zh-CN" altLang="en-US" dirty="0">
                <a:ea typeface="宋体" panose="02010600030101010101" pitchFamily="2" charset="-122"/>
                <a:sym typeface="+mn-ea"/>
              </a:rPr>
              <a:t>占</a:t>
            </a:r>
            <a:r>
              <a:rPr lang="en-US" altLang="zh-CN" dirty="0">
                <a:ea typeface="宋体" panose="02010600030101010101" pitchFamily="2" charset="-122"/>
                <a:sym typeface="+mn-ea"/>
              </a:rPr>
              <a:t>4</a:t>
            </a:r>
            <a:r>
              <a:rPr lang="zh-CN" altLang="en-US" dirty="0">
                <a:ea typeface="宋体" panose="02010600030101010101" pitchFamily="2" charset="-122"/>
                <a:sym typeface="+mn-ea"/>
              </a:rPr>
              <a:t>个字节（</a:t>
            </a:r>
            <a:r>
              <a:rPr lang="en-US" altLang="zh-CN" dirty="0">
                <a:ea typeface="宋体" panose="02010600030101010101" pitchFamily="2" charset="-122"/>
                <a:sym typeface="+mn-ea"/>
              </a:rPr>
              <a:t>32</a:t>
            </a:r>
            <a:r>
              <a:rPr lang="zh-CN" altLang="en-US" dirty="0">
                <a:ea typeface="宋体" panose="02010600030101010101" pitchFamily="2" charset="-122"/>
                <a:sym typeface="+mn-ea"/>
              </a:rPr>
              <a:t>位）</a:t>
            </a:r>
            <a:r>
              <a:rPr lang="zh-CN" altLang="en-US" dirty="0">
                <a:ea typeface="宋体" panose="02010600030101010101" pitchFamily="2" charset="-122"/>
                <a:sym typeface="+mn-ea"/>
              </a:rPr>
              <a:t>（</a:t>
            </a:r>
            <a:r>
              <a:rPr dirty="0">
                <a:ea typeface="宋体" panose="02010600030101010101" pitchFamily="2" charset="-122"/>
                <a:sym typeface="+mn-ea"/>
              </a:rPr>
              <a:t>-3.403E38~3.403E38</a:t>
            </a:r>
            <a:r>
              <a:rPr lang="zh-CN" altLang="en-US" dirty="0">
                <a:ea typeface="宋体" panose="02010600030101010101" pitchFamily="2" charset="-122"/>
                <a:sym typeface="+mn-ea"/>
              </a:rPr>
              <a:t>）</a:t>
            </a:r>
            <a:endParaRPr lang="zh-CN" altLang="en-US" dirty="0">
              <a:ea typeface="宋体" panose="02010600030101010101" pitchFamily="2" charset="-122"/>
              <a:sym typeface="+mn-ea"/>
            </a:endParaRPr>
          </a:p>
          <a:p>
            <a:pPr lvl="1" eaLnBrk="1" hangingPunct="1">
              <a:lnSpc>
                <a:spcPct val="130000"/>
              </a:lnSpc>
              <a:buClr>
                <a:srgbClr val="ED7D31"/>
              </a:buClr>
              <a:buFont typeface="Wingdings" panose="05000000000000000000" charset="0"/>
              <a:buChar char="l"/>
            </a:pPr>
            <a:r>
              <a:rPr lang="zh-CN" altLang="en-US" sz="1800" dirty="0">
                <a:ea typeface="宋体" panose="02010600030101010101" pitchFamily="2" charset="-122"/>
                <a:sym typeface="+mn-ea"/>
              </a:rPr>
              <a:t>例如： </a:t>
            </a:r>
            <a:r>
              <a:rPr lang="en-US" altLang="zh-CN" sz="1800" dirty="0">
                <a:ea typeface="宋体" panose="02010600030101010101" pitchFamily="2" charset="-122"/>
                <a:sym typeface="+mn-ea"/>
              </a:rPr>
              <a:t>float  f  = 10.12f;</a:t>
            </a:r>
            <a:endParaRPr lang="en-US" altLang="zh-CN" sz="180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double — </a:t>
            </a:r>
            <a:r>
              <a:rPr lang="zh-CN" altLang="en-US" dirty="0">
                <a:ea typeface="宋体" panose="02010600030101010101" pitchFamily="2" charset="-122"/>
                <a:sym typeface="+mn-ea"/>
              </a:rPr>
              <a:t>双精度 占</a:t>
            </a:r>
            <a:r>
              <a:rPr lang="en-US" altLang="zh-CN" dirty="0">
                <a:ea typeface="宋体" panose="02010600030101010101" pitchFamily="2" charset="-122"/>
                <a:sym typeface="+mn-ea"/>
              </a:rPr>
              <a:t>8</a:t>
            </a:r>
            <a:r>
              <a:rPr lang="zh-CN" altLang="en-US" dirty="0">
                <a:ea typeface="宋体" panose="02010600030101010101" pitchFamily="2" charset="-122"/>
                <a:sym typeface="+mn-ea"/>
              </a:rPr>
              <a:t>个字节（</a:t>
            </a:r>
            <a:r>
              <a:rPr lang="en-US" altLang="zh-CN" dirty="0">
                <a:ea typeface="宋体" panose="02010600030101010101" pitchFamily="2" charset="-122"/>
                <a:sym typeface="+mn-ea"/>
              </a:rPr>
              <a:t>64</a:t>
            </a:r>
            <a:r>
              <a:rPr lang="zh-CN" altLang="en-US" dirty="0">
                <a:ea typeface="宋体" panose="02010600030101010101" pitchFamily="2" charset="-122"/>
                <a:sym typeface="+mn-ea"/>
              </a:rPr>
              <a:t>位）</a:t>
            </a:r>
            <a:r>
              <a:rPr lang="zh-CN" altLang="en-US" dirty="0">
                <a:ea typeface="宋体" panose="02010600030101010101" pitchFamily="2" charset="-122"/>
                <a:sym typeface="+mn-ea"/>
              </a:rPr>
              <a:t>（</a:t>
            </a:r>
            <a:r>
              <a:rPr dirty="0">
                <a:ea typeface="宋体" panose="02010600030101010101" pitchFamily="2" charset="-122"/>
                <a:sym typeface="+mn-ea"/>
              </a:rPr>
              <a:t>-1.798E308~1.798E308</a:t>
            </a:r>
            <a:r>
              <a:rPr lang="zh-CN" altLang="en-US" dirty="0">
                <a:ea typeface="宋体" panose="02010600030101010101" pitchFamily="2" charset="-122"/>
                <a:sym typeface="+mn-ea"/>
              </a:rPr>
              <a:t>）</a:t>
            </a:r>
            <a:endParaRPr lang="zh-CN" altLang="en-US" sz="2400" dirty="0">
              <a:ea typeface="宋体" panose="02010600030101010101" pitchFamily="2" charset="-122"/>
              <a:sym typeface="+mn-ea"/>
            </a:endParaRPr>
          </a:p>
          <a:p>
            <a:pPr lvl="1" algn="l" eaLnBrk="1" hangingPunct="1">
              <a:lnSpc>
                <a:spcPct val="130000"/>
              </a:lnSpc>
              <a:buClr>
                <a:srgbClr val="ED7D31"/>
              </a:buClr>
              <a:buSzTx/>
              <a:buFont typeface="Wingdings" panose="05000000000000000000" charset="0"/>
              <a:buChar char="l"/>
            </a:pPr>
            <a:r>
              <a:rPr lang="zh-CN" altLang="en-US" sz="1800" dirty="0">
                <a:ea typeface="宋体" panose="02010600030101010101" pitchFamily="2" charset="-122"/>
                <a:sym typeface="+mn-ea"/>
              </a:rPr>
              <a:t> 例如： double   x  = 10.2345;   </a:t>
            </a:r>
            <a:endParaRPr lang="zh-CN" altLang="en-US" sz="1800" dirty="0">
              <a:ea typeface="宋体" panose="02010600030101010101" pitchFamily="2" charset="-122"/>
            </a:endParaRPr>
          </a:p>
          <a:p>
            <a:pPr marL="361950" indent="-361950" eaLnBrk="1" hangingPunct="1">
              <a:buFont typeface="Times"/>
              <a:buNone/>
            </a:pPr>
            <a:r>
              <a:rPr lang="en-US" altLang="zh-CN" dirty="0">
                <a:ea typeface="宋体" panose="02010600030101010101" pitchFamily="2" charset="-122"/>
                <a:sym typeface="+mn-ea"/>
              </a:rPr>
              <a:t>	      </a:t>
            </a:r>
            <a:r>
              <a:rPr lang="zh-CN" altLang="en-US" dirty="0">
                <a:ea typeface="宋体" panose="02010600030101010101" pitchFamily="2" charset="-122"/>
                <a:sym typeface="+mn-ea"/>
              </a:rPr>
              <a:t>或： </a:t>
            </a:r>
            <a:r>
              <a:rPr lang="en-US" altLang="zh-CN" dirty="0">
                <a:ea typeface="宋体" panose="02010600030101010101" pitchFamily="2" charset="-122"/>
                <a:sym typeface="+mn-ea"/>
              </a:rPr>
              <a:t>double   x  = 10.2345</a:t>
            </a:r>
            <a:r>
              <a:rPr lang="en-US" altLang="zh-CN" dirty="0">
                <a:solidFill>
                  <a:srgbClr val="FF0000"/>
                </a:solidFill>
                <a:ea typeface="宋体" panose="02010600030101010101" pitchFamily="2" charset="-122"/>
                <a:sym typeface="+mn-ea"/>
              </a:rPr>
              <a:t>d</a:t>
            </a:r>
            <a:r>
              <a:rPr lang="en-US" altLang="zh-CN" dirty="0">
                <a:ea typeface="宋体" panose="02010600030101010101" pitchFamily="2" charset="-122"/>
                <a:sym typeface="+mn-ea"/>
              </a:rPr>
              <a:t>;</a:t>
            </a:r>
            <a:endParaRPr lang="en-US" altLang="zh-CN" sz="2400" dirty="0">
              <a:ea typeface="宋体" panose="02010600030101010101" pitchFamily="2" charset="-122"/>
            </a:endParaRPr>
          </a:p>
          <a:p>
            <a:pPr eaLnBrk="1" hangingPunct="1">
              <a:lnSpc>
                <a:spcPct val="130000"/>
              </a:lnSpc>
              <a:buClr>
                <a:srgbClr val="ED7D31"/>
              </a:buClr>
              <a:buFont typeface="Wingdings" panose="05000000000000000000" charset="0"/>
              <a:buChar char="n"/>
            </a:pPr>
            <a:r>
              <a:rPr lang="zh-CN" altLang="en-US" dirty="0">
                <a:ea typeface="宋体" panose="02010600030101010101" pitchFamily="2" charset="-122"/>
                <a:sym typeface="+mn-ea"/>
              </a:rPr>
              <a:t> </a:t>
            </a:r>
            <a:r>
              <a:rPr lang="zh-CN" altLang="en-US" dirty="0">
                <a:ea typeface="宋体" panose="02010600030101010101" pitchFamily="2" charset="-122"/>
                <a:sym typeface="+mn-ea"/>
              </a:rPr>
              <a:t>字面值： </a:t>
            </a:r>
            <a:r>
              <a:rPr lang="en-US" altLang="zh-CN" dirty="0">
                <a:ea typeface="宋体" panose="02010600030101010101" pitchFamily="2" charset="-122"/>
                <a:sym typeface="+mn-ea"/>
              </a:rPr>
              <a:t>d</a:t>
            </a:r>
            <a:r>
              <a:rPr lang="zh-CN" altLang="en-US" dirty="0">
                <a:ea typeface="宋体" panose="02010600030101010101" pitchFamily="2" charset="-122"/>
                <a:sym typeface="+mn-ea"/>
              </a:rPr>
              <a:t>或</a:t>
            </a:r>
            <a:r>
              <a:rPr lang="en-US" altLang="zh-CN" dirty="0">
                <a:ea typeface="宋体" panose="02010600030101010101" pitchFamily="2" charset="-122"/>
                <a:sym typeface="+mn-ea"/>
              </a:rPr>
              <a:t>D</a:t>
            </a:r>
            <a:r>
              <a:rPr lang="zh-CN" altLang="en-US" dirty="0">
                <a:ea typeface="宋体" panose="02010600030101010101" pitchFamily="2" charset="-122"/>
                <a:sym typeface="+mn-ea"/>
              </a:rPr>
              <a:t>后缀表示双精度小数</a:t>
            </a:r>
            <a:endParaRPr lang="zh-CN" altLang="en-US" dirty="0">
              <a:ea typeface="宋体" panose="02010600030101010101" pitchFamily="2" charset="-122"/>
            </a:endParaRPr>
          </a:p>
          <a:p>
            <a:pPr marL="361950" indent="-361950" eaLnBrk="1" hangingPunct="1">
              <a:buFont typeface="Times"/>
              <a:buNone/>
            </a:pPr>
            <a:r>
              <a:rPr lang="zh-CN" altLang="en-US" dirty="0">
                <a:ea typeface="宋体" panose="02010600030101010101" pitchFamily="2" charset="-122"/>
                <a:sym typeface="+mn-ea"/>
              </a:rPr>
              <a:t>		          </a:t>
            </a:r>
            <a:r>
              <a:rPr lang="en-US" altLang="zh-CN" dirty="0">
                <a:ea typeface="宋体" panose="02010600030101010101" pitchFamily="2" charset="-122"/>
                <a:sym typeface="+mn-ea"/>
              </a:rPr>
              <a:t>f</a:t>
            </a:r>
            <a:r>
              <a:rPr lang="zh-CN" altLang="en-US" dirty="0">
                <a:ea typeface="宋体" panose="02010600030101010101" pitchFamily="2" charset="-122"/>
                <a:sym typeface="+mn-ea"/>
              </a:rPr>
              <a:t>或</a:t>
            </a:r>
            <a:r>
              <a:rPr lang="en-US" altLang="zh-CN" dirty="0">
                <a:ea typeface="宋体" panose="02010600030101010101" pitchFamily="2" charset="-122"/>
                <a:sym typeface="+mn-ea"/>
              </a:rPr>
              <a:t>F</a:t>
            </a:r>
            <a:r>
              <a:rPr lang="zh-CN" altLang="en-US" dirty="0">
                <a:ea typeface="宋体" panose="02010600030101010101" pitchFamily="2" charset="-122"/>
                <a:sym typeface="+mn-ea"/>
              </a:rPr>
              <a:t>后缀表示单精度小数</a:t>
            </a:r>
            <a:endParaRPr lang="zh-CN" altLang="en-US" dirty="0">
              <a:ea typeface="宋体" panose="02010600030101010101" pitchFamily="2" charset="-122"/>
              <a:sym typeface="+mn-ea"/>
            </a:endParaRPr>
          </a:p>
          <a:p>
            <a:pPr eaLnBrk="1" hangingPunct="1">
              <a:lnSpc>
                <a:spcPct val="130000"/>
              </a:lnSpc>
              <a:buClr>
                <a:srgbClr val="ED7D31"/>
              </a:buClr>
              <a:buFont typeface="Wingdings" panose="05000000000000000000" charset="0"/>
              <a:buChar char="n"/>
            </a:pPr>
            <a:r>
              <a:rPr lang="zh-CN" altLang="en-US" dirty="0">
                <a:ea typeface="宋体" panose="02010600030101010101" pitchFamily="2" charset="-122"/>
                <a:sym typeface="+mn-ea"/>
              </a:rPr>
              <a:t>在遇到小数时，通常使用</a:t>
            </a:r>
            <a:r>
              <a:rPr lang="en-US" altLang="zh-CN" dirty="0">
                <a:ea typeface="宋体" panose="02010600030101010101" pitchFamily="2" charset="-122"/>
                <a:sym typeface="+mn-ea"/>
              </a:rPr>
              <a:t>double</a:t>
            </a:r>
            <a:r>
              <a:rPr lang="zh-CN" altLang="en-US" dirty="0">
                <a:ea typeface="宋体" panose="02010600030101010101" pitchFamily="2" charset="-122"/>
                <a:sym typeface="+mn-ea"/>
              </a:rPr>
              <a:t>类型，因为它的字面值表示更为简单</a:t>
            </a: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字符型</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3830" y="888365"/>
            <a:ext cx="9527540" cy="5088255"/>
          </a:xfrm>
        </p:spPr>
        <p:txBody>
          <a:bodyPr>
            <a:normAutofit/>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char — </a:t>
            </a:r>
            <a:r>
              <a:rPr lang="zh-CN" altLang="en-US" dirty="0">
                <a:ea typeface="宋体" panose="02010600030101010101" pitchFamily="2" charset="-122"/>
                <a:sym typeface="+mn-ea"/>
              </a:rPr>
              <a:t>占两个</a:t>
            </a:r>
            <a:r>
              <a:rPr lang="en-US" altLang="zh-CN" dirty="0">
                <a:ea typeface="宋体" panose="02010600030101010101" pitchFamily="2" charset="-122"/>
                <a:sym typeface="+mn-ea"/>
              </a:rPr>
              <a:t>2</a:t>
            </a:r>
            <a:r>
              <a:rPr lang="zh-CN" altLang="en-US" dirty="0">
                <a:ea typeface="宋体" panose="02010600030101010101" pitchFamily="2" charset="-122"/>
                <a:sym typeface="+mn-ea"/>
              </a:rPr>
              <a:t>字节，存储</a:t>
            </a:r>
            <a:r>
              <a:rPr lang="en-US" altLang="zh-CN" dirty="0">
                <a:ea typeface="宋体" panose="02010600030101010101" pitchFamily="2" charset="-122"/>
                <a:sym typeface="+mn-ea"/>
              </a:rPr>
              <a:t>Unicode</a:t>
            </a:r>
            <a:r>
              <a:rPr lang="zh-CN" altLang="en-US" dirty="0">
                <a:ea typeface="宋体" panose="02010600030101010101" pitchFamily="2" charset="-122"/>
                <a:sym typeface="+mn-ea"/>
              </a:rPr>
              <a:t>值</a:t>
            </a:r>
            <a:endParaRPr lang="zh-CN" altLang="en-US" dirty="0">
              <a:ea typeface="宋体" panose="02010600030101010101" pitchFamily="2" charset="-122"/>
              <a:sym typeface="+mn-ea"/>
            </a:endParaRPr>
          </a:p>
          <a:p>
            <a:pPr lvl="1" eaLnBrk="1" hangingPunct="1">
              <a:lnSpc>
                <a:spcPct val="130000"/>
              </a:lnSpc>
              <a:buClr>
                <a:srgbClr val="ED7D31"/>
              </a:buClr>
              <a:buFont typeface="Wingdings" panose="05000000000000000000" charset="0"/>
              <a:buChar char="l"/>
            </a:pPr>
            <a:r>
              <a:rPr lang="zh-CN" altLang="en-US" sz="2250" dirty="0">
                <a:ea typeface="宋体" panose="02010600030101010101" pitchFamily="2" charset="-122"/>
                <a:sym typeface="+mn-ea"/>
              </a:rPr>
              <a:t>例如：</a:t>
            </a:r>
            <a:r>
              <a:rPr lang="en-US" altLang="zh-CN" sz="2250" dirty="0">
                <a:ea typeface="宋体" panose="02010600030101010101" pitchFamily="2" charset="-122"/>
                <a:sym typeface="+mn-ea"/>
              </a:rPr>
              <a:t>char  c  = ‘A’; char cc = ‘</a:t>
            </a:r>
            <a:r>
              <a:rPr lang="zh-CN" altLang="en-US" sz="2250" dirty="0">
                <a:ea typeface="宋体" panose="02010600030101010101" pitchFamily="2" charset="-122"/>
                <a:sym typeface="+mn-ea"/>
              </a:rPr>
              <a:t>张</a:t>
            </a:r>
            <a:r>
              <a:rPr lang="en-US" altLang="zh-CN" sz="2250" dirty="0">
                <a:ea typeface="宋体" panose="02010600030101010101" pitchFamily="2" charset="-122"/>
                <a:sym typeface="+mn-ea"/>
              </a:rPr>
              <a:t>’</a:t>
            </a:r>
            <a:endParaRPr lang="en-US" altLang="zh-CN" sz="225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char</a:t>
            </a:r>
            <a:r>
              <a:rPr lang="zh-CN" altLang="en-US" dirty="0">
                <a:ea typeface="宋体" panose="02010600030101010101" pitchFamily="2" charset="-122"/>
                <a:sym typeface="+mn-ea"/>
              </a:rPr>
              <a:t>类型的数值包括：</a:t>
            </a:r>
            <a:endParaRPr lang="zh-CN" altLang="en-US" sz="2400" dirty="0">
              <a:ea typeface="宋体" panose="02010600030101010101" pitchFamily="2" charset="-122"/>
              <a:sym typeface="+mn-ea"/>
            </a:endParaRPr>
          </a:p>
          <a:p>
            <a:pPr lvl="1" eaLnBrk="1" hangingPunct="1">
              <a:lnSpc>
                <a:spcPct val="130000"/>
              </a:lnSpc>
              <a:buClr>
                <a:srgbClr val="ED7D31"/>
              </a:buClr>
              <a:buFont typeface="Wingdings" panose="05000000000000000000" charset="0"/>
              <a:buChar char="l"/>
            </a:pPr>
            <a:r>
              <a:rPr lang="en-US" altLang="zh-CN" sz="2400" dirty="0">
                <a:ea typeface="宋体" panose="02010600030101010101" pitchFamily="2" charset="-122"/>
                <a:sym typeface="+mn-ea"/>
              </a:rPr>
              <a:t>a-z</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A-Z</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0-9 </a:t>
            </a:r>
            <a:endParaRPr lang="en-US" altLang="zh-CN" sz="2400" dirty="0">
              <a:ea typeface="宋体" panose="02010600030101010101" pitchFamily="2" charset="-122"/>
              <a:sym typeface="+mn-ea"/>
            </a:endParaRPr>
          </a:p>
          <a:p>
            <a:pPr lvl="1" eaLnBrk="1" hangingPunct="1">
              <a:lnSpc>
                <a:spcPct val="130000"/>
              </a:lnSpc>
              <a:buClr>
                <a:srgbClr val="ED7D31"/>
              </a:buClr>
              <a:buFont typeface="Wingdings" panose="05000000000000000000" charset="0"/>
              <a:buChar char="l"/>
            </a:pPr>
            <a:r>
              <a:rPr lang="zh-CN" altLang="en-US" sz="2400" dirty="0">
                <a:ea typeface="宋体" panose="02010600030101010101" pitchFamily="2" charset="-122"/>
                <a:sym typeface="+mn-ea"/>
              </a:rPr>
              <a:t>特殊字符</a:t>
            </a:r>
            <a:r>
              <a:rPr lang="en-US" altLang="zh-CN" sz="2400" dirty="0">
                <a:ea typeface="宋体" panose="02010600030101010101" pitchFamily="2" charset="-122"/>
                <a:sym typeface="+mn-ea"/>
              </a:rPr>
              <a:t>(\t</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\n</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 `</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 #</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 $ </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 ^</a:t>
            </a:r>
            <a:r>
              <a:rPr lang="zh-CN" altLang="en-US" sz="2400" dirty="0">
                <a:ea typeface="宋体" panose="02010600030101010101" pitchFamily="2" charset="-122"/>
                <a:sym typeface="+mn-ea"/>
              </a:rPr>
              <a:t>等</a:t>
            </a:r>
            <a:r>
              <a:rPr lang="en-US" altLang="zh-CN" sz="2400" dirty="0">
                <a:ea typeface="宋体" panose="02010600030101010101" pitchFamily="2" charset="-122"/>
                <a:sym typeface="+mn-ea"/>
              </a:rPr>
              <a:t>)</a:t>
            </a:r>
            <a:endParaRPr lang="en-US" altLang="zh-CN" sz="2400" dirty="0">
              <a:ea typeface="宋体" panose="02010600030101010101" pitchFamily="2" charset="-122"/>
              <a:sym typeface="+mn-ea"/>
            </a:endParaRPr>
          </a:p>
          <a:p>
            <a:pPr lvl="1" eaLnBrk="1" hangingPunct="1">
              <a:lnSpc>
                <a:spcPct val="130000"/>
              </a:lnSpc>
              <a:buClr>
                <a:srgbClr val="ED7D31"/>
              </a:buClr>
              <a:buFont typeface="Wingdings" panose="05000000000000000000" charset="0"/>
              <a:buChar char="l"/>
            </a:pPr>
            <a:r>
              <a:rPr lang="zh-CN" altLang="en-US" sz="2400" dirty="0">
                <a:latin typeface="宋体" panose="02010600030101010101" pitchFamily="2" charset="-122"/>
                <a:ea typeface="宋体" panose="02010600030101010101" pitchFamily="2" charset="-122"/>
                <a:sym typeface="+mn-ea"/>
              </a:rPr>
              <a:t>汉字或其他国家文字</a:t>
            </a:r>
            <a:endParaRPr lang="en-US" altLang="zh-CN" sz="240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ASCII — </a:t>
            </a:r>
            <a:r>
              <a:rPr lang="zh-CN" altLang="en-US" dirty="0">
                <a:ea typeface="宋体" panose="02010600030101010101" pitchFamily="2" charset="-122"/>
                <a:sym typeface="+mn-ea"/>
              </a:rPr>
              <a:t>用一个整数（小于</a:t>
            </a:r>
            <a:r>
              <a:rPr lang="en-US" altLang="zh-CN" dirty="0">
                <a:ea typeface="宋体" panose="02010600030101010101" pitchFamily="2" charset="-122"/>
                <a:sym typeface="+mn-ea"/>
              </a:rPr>
              <a:t>256</a:t>
            </a:r>
            <a:r>
              <a:rPr lang="zh-CN" altLang="en-US" dirty="0">
                <a:ea typeface="宋体" panose="02010600030101010101" pitchFamily="2" charset="-122"/>
                <a:sym typeface="+mn-ea"/>
              </a:rPr>
              <a:t>）表示一个字符，整数只占</a:t>
            </a:r>
            <a:r>
              <a:rPr lang="en-US" altLang="zh-CN" dirty="0">
                <a:ea typeface="宋体" panose="02010600030101010101" pitchFamily="2" charset="-122"/>
                <a:sym typeface="+mn-ea"/>
              </a:rPr>
              <a:t>1</a:t>
            </a:r>
            <a:r>
              <a:rPr lang="zh-CN" altLang="en-US" dirty="0">
                <a:ea typeface="宋体" panose="02010600030101010101" pitchFamily="2" charset="-122"/>
                <a:sym typeface="+mn-ea"/>
              </a:rPr>
              <a:t>字节</a:t>
            </a:r>
            <a:endParaRPr lang="zh-CN" altLang="en-US" sz="2400"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startAt="4"/>
            </a:pPr>
            <a:r>
              <a:rPr lang="en-US" altLang="zh-CN" dirty="0">
                <a:ea typeface="宋体" panose="02010600030101010101" pitchFamily="2" charset="-122"/>
                <a:sym typeface="+mn-ea"/>
              </a:rPr>
              <a:t>Unicode — </a:t>
            </a:r>
            <a:r>
              <a:rPr lang="zh-CN" altLang="en-US" dirty="0">
                <a:ea typeface="宋体" panose="02010600030101010101" pitchFamily="2" charset="-122"/>
                <a:sym typeface="+mn-ea"/>
              </a:rPr>
              <a:t>全世界统一的编码字符集占</a:t>
            </a:r>
            <a:r>
              <a:rPr lang="en-US" altLang="zh-CN" dirty="0">
                <a:ea typeface="宋体" panose="02010600030101010101" pitchFamily="2" charset="-122"/>
                <a:sym typeface="+mn-ea"/>
              </a:rPr>
              <a:t>2</a:t>
            </a:r>
            <a:r>
              <a:rPr lang="zh-CN" altLang="en-US" dirty="0">
                <a:ea typeface="宋体" panose="02010600030101010101" pitchFamily="2" charset="-122"/>
                <a:sym typeface="+mn-ea"/>
              </a:rPr>
              <a:t>个字节，包含了</a:t>
            </a:r>
            <a:r>
              <a:rPr lang="en-US" altLang="zh-CN" dirty="0">
                <a:ea typeface="宋体" panose="02010600030101010101" pitchFamily="2" charset="-122"/>
                <a:sym typeface="+mn-ea"/>
              </a:rPr>
              <a:t>ASCII</a:t>
            </a:r>
            <a:r>
              <a:rPr lang="zh-CN" altLang="en-US" dirty="0">
                <a:ea typeface="宋体" panose="02010600030101010101" pitchFamily="2" charset="-122"/>
                <a:sym typeface="+mn-ea"/>
              </a:rPr>
              <a:t>、汉字、日文等所有语言。</a:t>
            </a: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布尔型</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3830" y="888365"/>
            <a:ext cx="9527540" cy="5784215"/>
          </a:xfrm>
        </p:spPr>
        <p:txBody>
          <a:bodyPr>
            <a:normAutofit lnSpcReduction="20000"/>
          </a:bodyPr>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boolean —表示逻辑值</a:t>
            </a:r>
            <a:endParaRPr lang="zh-CN" altLang="en-US" dirty="0">
              <a:ea typeface="宋体" panose="02010600030101010101" pitchFamily="2" charset="-122"/>
              <a:sym typeface="+mn-ea"/>
            </a:endParaRPr>
          </a:p>
          <a:p>
            <a:pPr lvl="1" eaLnBrk="1" hangingPunct="1">
              <a:lnSpc>
                <a:spcPct val="130000"/>
              </a:lnSpc>
              <a:buClr>
                <a:srgbClr val="ED7D31"/>
              </a:buClr>
              <a:buFont typeface="Wingdings" panose="05000000000000000000" charset="0"/>
              <a:buChar char="l"/>
            </a:pPr>
            <a:r>
              <a:rPr lang="en-US" altLang="zh-CN" sz="2250" dirty="0">
                <a:ea typeface="宋体" panose="02010600030101010101" pitchFamily="2" charset="-122"/>
                <a:sym typeface="+mn-ea"/>
              </a:rPr>
              <a:t> </a:t>
            </a:r>
            <a:r>
              <a:rPr lang="zh-CN" altLang="en-US" sz="2250" dirty="0">
                <a:ea typeface="宋体" panose="02010600030101010101" pitchFamily="2" charset="-122"/>
                <a:sym typeface="+mn-ea"/>
              </a:rPr>
              <a:t>假，对应布尔值为false，比如</a:t>
            </a:r>
            <a:r>
              <a:rPr lang="en-US" altLang="zh-CN" sz="2250" dirty="0">
                <a:ea typeface="宋体" panose="02010600030101010101" pitchFamily="2" charset="-122"/>
                <a:sym typeface="+mn-ea"/>
              </a:rPr>
              <a:t>  </a:t>
            </a:r>
            <a:r>
              <a:rPr lang="zh-CN" altLang="en-US" sz="2250" dirty="0">
                <a:ea typeface="宋体" panose="02010600030101010101" pitchFamily="2" charset="-122"/>
                <a:sym typeface="+mn-ea"/>
              </a:rPr>
              <a:t>boolean  b  = false;</a:t>
            </a:r>
            <a:endParaRPr lang="zh-CN" altLang="en-US" sz="2250" dirty="0">
              <a:ea typeface="宋体" panose="02010600030101010101" pitchFamily="2" charset="-122"/>
              <a:sym typeface="+mn-ea"/>
            </a:endParaRPr>
          </a:p>
          <a:p>
            <a:pPr lvl="1" eaLnBrk="1" hangingPunct="1">
              <a:lnSpc>
                <a:spcPct val="130000"/>
              </a:lnSpc>
              <a:buClr>
                <a:srgbClr val="ED7D31"/>
              </a:buClr>
              <a:buFont typeface="Wingdings" panose="05000000000000000000" charset="0"/>
              <a:buChar char="l"/>
            </a:pPr>
            <a:r>
              <a:rPr lang="en-US" altLang="zh-CN" sz="2250" dirty="0">
                <a:ea typeface="宋体" panose="02010600030101010101" pitchFamily="2" charset="-122"/>
                <a:sym typeface="+mn-ea"/>
              </a:rPr>
              <a:t> </a:t>
            </a:r>
            <a:r>
              <a:rPr lang="zh-CN" altLang="en-US" sz="2250" dirty="0">
                <a:ea typeface="宋体" panose="02010600030101010101" pitchFamily="2" charset="-122"/>
                <a:sym typeface="+mn-ea"/>
              </a:rPr>
              <a:t>真，对应布尔值为true ，比如</a:t>
            </a:r>
            <a:r>
              <a:rPr lang="zh-CN" altLang="en-US" sz="2250" dirty="0">
                <a:ea typeface="宋体" panose="02010600030101010101" pitchFamily="2" charset="-122"/>
                <a:sym typeface="+mn-ea"/>
              </a:rPr>
              <a:t>boolean  b  = true;</a:t>
            </a:r>
            <a:r>
              <a:rPr lang="zh-CN" altLang="en-US" sz="2250" dirty="0">
                <a:ea typeface="宋体" panose="02010600030101010101" pitchFamily="2" charset="-122"/>
                <a:sym typeface="+mn-ea"/>
              </a:rPr>
              <a:t>	</a:t>
            </a:r>
            <a:endParaRPr lang="en-US" altLang="zh-CN" sz="225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关系运算符</a:t>
            </a:r>
            <a:endParaRPr lang="zh-CN" altLang="en-US" dirty="0">
              <a:ea typeface="宋体" panose="02010600030101010101" pitchFamily="2" charset="-122"/>
            </a:endParaRPr>
          </a:p>
          <a:p>
            <a:pPr lvl="1" algn="l" eaLnBrk="1" hangingPunct="1">
              <a:lnSpc>
                <a:spcPct val="130000"/>
              </a:lnSpc>
              <a:buClr>
                <a:srgbClr val="ED7D31"/>
              </a:buClr>
              <a:buSzTx/>
              <a:buFont typeface="Wingdings" panose="05000000000000000000" charset="0"/>
              <a:buChar char="l"/>
            </a:pPr>
            <a:r>
              <a:rPr lang="en-US" altLang="zh-CN" sz="2400" dirty="0">
                <a:ea typeface="宋体" panose="02010600030101010101" pitchFamily="2" charset="-122"/>
                <a:sym typeface="+mn-ea"/>
              </a:rPr>
              <a:t>大于(&gt;)、大于等于(&gt;=)、小于(&lt;)、小于等于(&lt;=)</a:t>
            </a:r>
            <a:endParaRPr lang="en-US" altLang="zh-CN" sz="2400" dirty="0">
              <a:ea typeface="宋体" panose="02010600030101010101" pitchFamily="2" charset="-122"/>
            </a:endParaRPr>
          </a:p>
          <a:p>
            <a:pPr lvl="1" algn="l" eaLnBrk="1" hangingPunct="1">
              <a:lnSpc>
                <a:spcPct val="130000"/>
              </a:lnSpc>
              <a:buClr>
                <a:srgbClr val="ED7D31"/>
              </a:buClr>
              <a:buSzTx/>
              <a:buFont typeface="Wingdings" panose="05000000000000000000" charset="0"/>
              <a:buChar char="l"/>
            </a:pPr>
            <a:r>
              <a:rPr lang="en-US" altLang="zh-CN" sz="2400" dirty="0">
                <a:ea typeface="宋体" panose="02010600030101010101" pitchFamily="2" charset="-122"/>
                <a:sym typeface="+mn-ea"/>
              </a:rPr>
              <a:t>不等于(!=)、等于(= =)</a:t>
            </a:r>
            <a:endParaRPr lang="en-US" altLang="zh-CN" sz="2400" dirty="0">
              <a:ea typeface="宋体" panose="02010600030101010101" pitchFamily="2" charset="-122"/>
            </a:endParaRPr>
          </a:p>
          <a:p>
            <a:pPr lvl="1" algn="l" eaLnBrk="1" hangingPunct="1">
              <a:lnSpc>
                <a:spcPct val="130000"/>
              </a:lnSpc>
              <a:buClr>
                <a:srgbClr val="ED7D31"/>
              </a:buClr>
              <a:buSzTx/>
              <a:buFont typeface="Wingdings" panose="05000000000000000000" charset="0"/>
              <a:buChar char="l"/>
            </a:pPr>
            <a:r>
              <a:rPr lang="en-US" altLang="zh-CN" sz="2400" dirty="0">
                <a:ea typeface="宋体" panose="02010600030101010101" pitchFamily="2" charset="-122"/>
                <a:sym typeface="+mn-ea"/>
              </a:rPr>
              <a:t>逻辑与判断(&amp;&amp;)、逻辑或判断( || ) 、逻辑非判断( ! )</a:t>
            </a:r>
            <a:endParaRPr lang="zh-CN" altLang="en-US" sz="2000"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三目运算符  &lt;条件表达式&gt; ? &lt;表达式1&gt; : &lt;表达式2&gt;</a:t>
            </a:r>
            <a:endParaRPr lang="zh-CN" altLang="en-US" dirty="0">
              <a:ea typeface="宋体" panose="02010600030101010101" pitchFamily="2" charset="-122"/>
              <a:sym typeface="+mn-ea"/>
            </a:endParaRPr>
          </a:p>
          <a:p>
            <a:pPr lvl="1" algn="l" eaLnBrk="1" hangingPunct="1">
              <a:lnSpc>
                <a:spcPct val="130000"/>
              </a:lnSpc>
              <a:buClr>
                <a:srgbClr val="ED7D31"/>
              </a:buClr>
              <a:buSzTx/>
              <a:buFont typeface="Wingdings" panose="05000000000000000000" charset="0"/>
              <a:buChar char="l"/>
            </a:pPr>
            <a:r>
              <a:rPr lang="en-US" altLang="zh-CN" sz="2400" dirty="0">
                <a:ea typeface="宋体" panose="02010600030101010101" pitchFamily="2" charset="-122"/>
                <a:sym typeface="+mn-ea"/>
              </a:rPr>
              <a:t>如果条件为真，返回表达式1，否则返回表达式2</a:t>
            </a:r>
            <a:endParaRPr lang="en-US" altLang="zh-CN" sz="2400" dirty="0">
              <a:ea typeface="宋体" panose="02010600030101010101" pitchFamily="2" charset="-122"/>
            </a:endParaRPr>
          </a:p>
          <a:p>
            <a:pPr lvl="1" algn="l" eaLnBrk="1" hangingPunct="1">
              <a:lnSpc>
                <a:spcPct val="130000"/>
              </a:lnSpc>
              <a:buClr>
                <a:srgbClr val="ED7D31"/>
              </a:buClr>
              <a:buSzTx/>
              <a:buFont typeface="Wingdings" panose="05000000000000000000" charset="0"/>
              <a:buChar char="l"/>
            </a:pPr>
            <a:r>
              <a:rPr lang="en-US" altLang="zh-CN" sz="2400" dirty="0">
                <a:ea typeface="宋体" panose="02010600030101010101" pitchFamily="2" charset="-122"/>
                <a:sym typeface="+mn-ea"/>
              </a:rPr>
              <a:t>例如： int a = (x &lt; y) ? x +  y: x - y;</a:t>
            </a:r>
            <a:endParaRPr lang="en-US" dirty="0">
              <a:ea typeface="宋体" panose="02010600030101010101" pitchFamily="2" charset="-122"/>
            </a:endParaRPr>
          </a:p>
          <a:p>
            <a:pPr marL="914400" lvl="1"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591935" cy="460375"/>
          </a:xfrm>
          <a:prstGeom prst="rect">
            <a:avLst/>
          </a:prstGeom>
          <a:noFill/>
        </p:spPr>
        <p:txBody>
          <a:bodyPr wrap="square" rtlCol="0">
            <a:spAutoFit/>
          </a:bodyPr>
          <a:lstStyle/>
          <a:p>
            <a:r>
              <a:rPr lang="zh-CN" altLang="en-US" sz="2400" b="1" dirty="0">
                <a:ea typeface="宋体" panose="02010600030101010101" pitchFamily="2" charset="-122"/>
                <a:sym typeface="+mn-ea"/>
              </a:rPr>
              <a:t>逻辑运算符的用法、含义及实例</a:t>
            </a:r>
            <a:endParaRPr lang="zh-CN" altLang="en-US" sz="2400" b="1" dirty="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41988" name="Group 4"/>
          <p:cNvGraphicFramePr>
            <a:graphicFrameLocks noGrp="1"/>
          </p:cNvGraphicFramePr>
          <p:nvPr>
            <p:custDataLst>
              <p:tags r:id="rId5"/>
            </p:custDataLst>
          </p:nvPr>
        </p:nvGraphicFramePr>
        <p:xfrm>
          <a:off x="816610" y="1872615"/>
          <a:ext cx="10319385" cy="3275330"/>
        </p:xfrm>
        <a:graphic>
          <a:graphicData uri="http://schemas.openxmlformats.org/drawingml/2006/table">
            <a:tbl>
              <a:tblPr/>
              <a:tblGrid>
                <a:gridCol w="1165860"/>
                <a:gridCol w="1235710"/>
                <a:gridCol w="1368425"/>
                <a:gridCol w="3277235"/>
                <a:gridCol w="1805229"/>
                <a:gridCol w="1466850"/>
              </a:tblGrid>
              <a:tr h="468313">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rPr>
                        <a:t>运算符	</a:t>
                      </a:r>
                      <a:endPar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用法</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含义</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说明</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实例</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
                          <a:schemeClr val="tx2"/>
                        </a:buClr>
                        <a:buSzTx/>
                        <a:buFont typeface="Arial" panose="020B0604020202020204" pitchFamily="34" charset="0"/>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结果</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68313">
                <a:tc>
                  <a:txBody>
                    <a:bodyPr/>
                    <a:lstStyle/>
                    <a:p>
                      <a:pPr indent="0" algn="ctr">
                        <a:buNone/>
                      </a:pPr>
                      <a:r>
                        <a:rPr lang="en-US" sz="1050" b="0">
                          <a:solidFill>
                            <a:srgbClr val="444444"/>
                          </a:solidFill>
                          <a:latin typeface="微软雅黑" panose="020B0503020204020204" charset="-122"/>
                        </a:rPr>
                        <a:t>&amp;&amp;</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indent="0" algn="ctr">
                        <a:buNone/>
                      </a:pPr>
                      <a:r>
                        <a:rPr lang="en-US" sz="1050" b="0">
                          <a:solidFill>
                            <a:srgbClr val="444444"/>
                          </a:solidFill>
                          <a:latin typeface="微软雅黑" panose="020B0503020204020204" charset="-122"/>
                        </a:rPr>
                        <a:t>a&amp;&amp;b</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indent="0" algn="ctr">
                        <a:buNone/>
                      </a:pPr>
                      <a:r>
                        <a:rPr lang="zh-CN" sz="1050">
                          <a:solidFill>
                            <a:srgbClr val="444444"/>
                          </a:solidFill>
                          <a:latin typeface="Arial" panose="020B0604020202020204" pitchFamily="34" charset="0"/>
                          <a:ea typeface="微软雅黑" panose="020B0503020204020204" charset="-122"/>
                          <a:sym typeface="+mn-ea"/>
                        </a:rPr>
                        <a:t>逻辑</a:t>
                      </a:r>
                      <a:r>
                        <a:rPr lang="en-US" altLang="zh-CN" sz="1050">
                          <a:solidFill>
                            <a:srgbClr val="444444"/>
                          </a:solidFill>
                          <a:latin typeface="Arial" panose="020B0604020202020204" pitchFamily="34" charset="0"/>
                          <a:ea typeface="微软雅黑" panose="020B0503020204020204" charset="-122"/>
                          <a:sym typeface="+mn-ea"/>
                        </a:rPr>
                        <a:t>(</a:t>
                      </a:r>
                      <a:r>
                        <a:rPr lang="zh-CN" sz="1050" b="0">
                          <a:solidFill>
                            <a:srgbClr val="444444"/>
                          </a:solidFill>
                          <a:latin typeface="Arial" panose="020B0604020202020204" pitchFamily="34" charset="0"/>
                          <a:ea typeface="微软雅黑" panose="020B0503020204020204" charset="-122"/>
                        </a:rPr>
                        <a:t>短路</a:t>
                      </a:r>
                      <a:r>
                        <a:rPr lang="en-US" altLang="zh-CN" sz="1050" b="0">
                          <a:solidFill>
                            <a:srgbClr val="444444"/>
                          </a:solidFill>
                          <a:latin typeface="Arial" panose="020B0604020202020204" pitchFamily="34" charset="0"/>
                          <a:ea typeface="微软雅黑" panose="020B0503020204020204" charset="-122"/>
                        </a:rPr>
                        <a:t>)</a:t>
                      </a:r>
                      <a:r>
                        <a:rPr lang="zh-CN" sz="1050" b="0">
                          <a:solidFill>
                            <a:srgbClr val="444444"/>
                          </a:solidFill>
                          <a:latin typeface="Arial" panose="020B0604020202020204" pitchFamily="34" charset="0"/>
                          <a:ea typeface="微软雅黑" panose="020B0503020204020204" charset="-122"/>
                        </a:rPr>
                        <a:t>与</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indent="0" algn="ctr">
                        <a:buNone/>
                      </a:pPr>
                      <a:r>
                        <a:rPr lang="zh-CN" sz="1050" b="0">
                          <a:solidFill>
                            <a:srgbClr val="444444"/>
                          </a:solidFill>
                          <a:latin typeface="Arial" panose="020B0604020202020204" pitchFamily="34" charset="0"/>
                          <a:ea typeface="微软雅黑" panose="020B0503020204020204" charset="-122"/>
                        </a:rPr>
                        <a:t>ab 全为 true 时，计算结果为 true，否则为 false。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indent="0" algn="ctr">
                        <a:buNone/>
                      </a:pPr>
                      <a:r>
                        <a:rPr lang="en-US" sz="1050" b="0">
                          <a:solidFill>
                            <a:srgbClr val="444444"/>
                          </a:solidFill>
                          <a:latin typeface="微软雅黑" panose="020B0503020204020204" charset="-122"/>
                        </a:rPr>
                        <a:t>2&gt;1&amp;&amp;3&lt;4</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indent="0" algn="ctr">
                        <a:buNone/>
                      </a:pPr>
                      <a:r>
                        <a:rPr lang="en-US" sz="1050" b="0">
                          <a:solidFill>
                            <a:srgbClr val="FF0000"/>
                          </a:solidFill>
                          <a:latin typeface="微软雅黑" panose="020B0503020204020204" charset="-122"/>
                        </a:rPr>
                        <a:t>TRUE</a:t>
                      </a:r>
                      <a:endParaRPr lang="en-US" altLang="en-US" sz="1050" b="0">
                        <a:solidFill>
                          <a:srgbClr val="FF0000"/>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p>
                      <a:pPr indent="0" algn="ctr">
                        <a:buNone/>
                      </a:pPr>
                      <a:r>
                        <a:rPr lang="en-US" sz="1050" b="0">
                          <a:solidFill>
                            <a:srgbClr val="444444"/>
                          </a:solidFill>
                          <a:latin typeface="微软雅黑" panose="020B0503020204020204" charset="-122"/>
                        </a:rPr>
                        <a:t>&amp;</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indent="0" algn="ctr">
                        <a:buNone/>
                      </a:pPr>
                      <a:r>
                        <a:rPr lang="en-US" sz="1050" b="0">
                          <a:solidFill>
                            <a:srgbClr val="444444"/>
                          </a:solidFill>
                          <a:latin typeface="微软雅黑" panose="020B0503020204020204" charset="-122"/>
                        </a:rPr>
                        <a:t>a&amp;b</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indent="0" algn="ctr">
                        <a:buNone/>
                      </a:pPr>
                      <a:r>
                        <a:rPr lang="zh-CN" sz="1050" b="0">
                          <a:solidFill>
                            <a:srgbClr val="444444"/>
                          </a:solidFill>
                          <a:latin typeface="Arial" panose="020B0604020202020204" pitchFamily="34" charset="0"/>
                          <a:ea typeface="微软雅黑" panose="020B0503020204020204" charset="-122"/>
                        </a:rPr>
                        <a:t>位与</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indent="0" algn="ctr">
                        <a:buNone/>
                      </a:pPr>
                      <a:r>
                        <a:rPr lang="zh-CN" sz="1050">
                          <a:solidFill>
                            <a:srgbClr val="444444"/>
                          </a:solidFill>
                          <a:latin typeface="Arial" panose="020B0604020202020204" pitchFamily="34" charset="0"/>
                          <a:ea typeface="微软雅黑" panose="020B0503020204020204" charset="-122"/>
                          <a:sym typeface="+mn-ea"/>
                        </a:rPr>
                        <a:t>ab 全为 true 时，计算结果为 true，否则为 false。</a:t>
                      </a:r>
                      <a:endParaRPr lang="en-US" altLang="zh-CN" sz="1050" b="0">
                        <a:solidFill>
                          <a:srgbClr val="444444"/>
                        </a:solidFill>
                        <a:latin typeface="Arial" panose="020B0604020202020204" pitchFamily="34" charset="0"/>
                        <a:ea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indent="0" algn="ctr">
                        <a:buNone/>
                      </a:pPr>
                      <a:r>
                        <a:rPr lang="en-US" sz="1050" b="0">
                          <a:solidFill>
                            <a:srgbClr val="444444"/>
                          </a:solidFill>
                          <a:latin typeface="微软雅黑" panose="020B0503020204020204" charset="-122"/>
                        </a:rPr>
                        <a:t>1&lt;2&amp;3&lt;5</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indent="0" algn="ctr">
                        <a:buNone/>
                      </a:pPr>
                      <a:r>
                        <a:rPr lang="en-US" sz="1050" b="0">
                          <a:solidFill>
                            <a:srgbClr val="FF0000"/>
                          </a:solidFill>
                          <a:latin typeface="微软雅黑" panose="020B0503020204020204" charset="-122"/>
                        </a:rPr>
                        <a:t>TRUE</a:t>
                      </a:r>
                      <a:endParaRPr lang="en-US" altLang="en-US" sz="1050" b="0">
                        <a:solidFill>
                          <a:srgbClr val="FF0000"/>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lstStyle/>
                    <a:p>
                      <a:pPr indent="0" algn="ctr">
                        <a:buNone/>
                      </a:pPr>
                      <a:r>
                        <a:rPr lang="en-US" sz="1050" b="0">
                          <a:solidFill>
                            <a:srgbClr val="444444"/>
                          </a:solidFill>
                          <a:latin typeface="微软雅黑" panose="020B0503020204020204" charset="-122"/>
                        </a:rPr>
                        <a:t>||</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indent="0" algn="ctr">
                        <a:buNone/>
                      </a:pPr>
                      <a:r>
                        <a:rPr lang="en-US" sz="1050" b="0">
                          <a:solidFill>
                            <a:srgbClr val="444444"/>
                          </a:solidFill>
                          <a:latin typeface="微软雅黑" panose="020B0503020204020204" charset="-122"/>
                        </a:rPr>
                        <a:t>a||b</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indent="0" algn="ctr">
                        <a:buNone/>
                      </a:pPr>
                      <a:r>
                        <a:rPr lang="zh-CN" sz="1050" b="0">
                          <a:solidFill>
                            <a:srgbClr val="444444"/>
                          </a:solidFill>
                          <a:latin typeface="Arial" panose="020B0604020202020204" pitchFamily="34" charset="0"/>
                          <a:ea typeface="微软雅黑" panose="020B0503020204020204" charset="-122"/>
                        </a:rPr>
                        <a:t>逻辑（短路）或</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indent="0" algn="ctr">
                        <a:buNone/>
                      </a:pPr>
                      <a:r>
                        <a:rPr lang="zh-CN" sz="1050">
                          <a:solidFill>
                            <a:srgbClr val="444444"/>
                          </a:solidFill>
                          <a:latin typeface="Arial" panose="020B0604020202020204" pitchFamily="34" charset="0"/>
                          <a:ea typeface="微软雅黑" panose="020B0503020204020204" charset="-122"/>
                          <a:sym typeface="+mn-ea"/>
                        </a:rPr>
                        <a:t>ab 全为 false 时，计算结果为 false，否则为 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en-US" sz="1050" b="0">
                          <a:solidFill>
                            <a:srgbClr val="444444"/>
                          </a:solidFill>
                          <a:latin typeface="微软雅黑" panose="020B0503020204020204" charset="-122"/>
                        </a:rPr>
                        <a:t>2&lt;1||3&gt;4</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en-US" sz="1050" b="0">
                          <a:solidFill>
                            <a:srgbClr val="FF0000"/>
                          </a:solidFill>
                          <a:latin typeface="微软雅黑" panose="020B0503020204020204" charset="-122"/>
                        </a:rPr>
                        <a:t>FALSE</a:t>
                      </a:r>
                      <a:endParaRPr lang="en-US" altLang="en-US" sz="1050" b="0">
                        <a:solidFill>
                          <a:srgbClr val="FF0000"/>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6725">
                <a:tc>
                  <a:txBody>
                    <a:bodyPr/>
                    <a:lstStyle/>
                    <a:p>
                      <a:pPr indent="0" algn="ctr">
                        <a:buNone/>
                      </a:pPr>
                      <a:r>
                        <a:rPr lang="en-US" sz="1050" b="0">
                          <a:solidFill>
                            <a:srgbClr val="444444"/>
                          </a:solidFill>
                          <a:latin typeface="微软雅黑" panose="020B0503020204020204" charset="-122"/>
                        </a:rPr>
                        <a:t>|</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indent="0" algn="ctr">
                        <a:buNone/>
                      </a:pPr>
                      <a:r>
                        <a:rPr lang="en-US" sz="1050" b="0">
                          <a:solidFill>
                            <a:srgbClr val="444444"/>
                          </a:solidFill>
                          <a:latin typeface="微软雅黑" panose="020B0503020204020204" charset="-122"/>
                        </a:rPr>
                        <a:t>a|b</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indent="0" algn="ctr">
                        <a:buNone/>
                      </a:pPr>
                      <a:r>
                        <a:rPr lang="zh-CN" sz="1050" b="0">
                          <a:solidFill>
                            <a:srgbClr val="444444"/>
                          </a:solidFill>
                          <a:latin typeface="Arial" panose="020B0604020202020204" pitchFamily="34" charset="0"/>
                          <a:ea typeface="微软雅黑" panose="020B0503020204020204" charset="-122"/>
                        </a:rPr>
                        <a:t>位或</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indent="0" algn="ctr">
                        <a:buNone/>
                      </a:pPr>
                      <a:r>
                        <a:rPr lang="zh-CN" sz="1050" b="0">
                          <a:solidFill>
                            <a:srgbClr val="444444"/>
                          </a:solidFill>
                          <a:latin typeface="Arial" panose="020B0604020202020204" pitchFamily="34" charset="0"/>
                          <a:ea typeface="微软雅黑" panose="020B0503020204020204" charset="-122"/>
                        </a:rPr>
                        <a:t>ab 全为 false 时，计算结果为 false，否则为 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en-US" sz="1050" b="0">
                          <a:solidFill>
                            <a:srgbClr val="444444"/>
                          </a:solidFill>
                          <a:latin typeface="微软雅黑" panose="020B0503020204020204" charset="-122"/>
                        </a:rPr>
                        <a:t>1&gt;2|3&gt;5</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en-US" sz="1050" b="0">
                          <a:solidFill>
                            <a:srgbClr val="FF0000"/>
                          </a:solidFill>
                          <a:latin typeface="微软雅黑" panose="020B0503020204020204" charset="-122"/>
                        </a:rPr>
                        <a:t>FALSE</a:t>
                      </a:r>
                      <a:endParaRPr lang="en-US" altLang="en-US" sz="1050" b="0">
                        <a:solidFill>
                          <a:srgbClr val="FF0000"/>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6725">
                <a:tc>
                  <a:txBody>
                    <a:bodyPr/>
                    <a:p>
                      <a:pPr indent="0" algn="ctr">
                        <a:buNone/>
                      </a:pPr>
                      <a:r>
                        <a:rPr lang="en-US" sz="1050" b="0">
                          <a:solidFill>
                            <a:srgbClr val="444444"/>
                          </a:solidFill>
                          <a:latin typeface="微软雅黑" panose="020B0503020204020204" charset="-122"/>
                        </a:rPr>
                        <a:t>!</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en-US" sz="1050" b="0">
                          <a:solidFill>
                            <a:srgbClr val="444444"/>
                          </a:solidFill>
                          <a:latin typeface="微软雅黑" panose="020B0503020204020204" charset="-122"/>
                        </a:rPr>
                        <a:t>!a</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zh-CN" sz="1050" b="0">
                          <a:solidFill>
                            <a:srgbClr val="444444"/>
                          </a:solidFill>
                          <a:latin typeface="Arial" panose="020B0604020202020204" pitchFamily="34" charset="0"/>
                          <a:ea typeface="微软雅黑" panose="020B0503020204020204" charset="-122"/>
                        </a:rPr>
                        <a:t>逻辑非</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zh-CN" sz="1050" b="0">
                          <a:solidFill>
                            <a:srgbClr val="444444"/>
                          </a:solidFill>
                          <a:latin typeface="Arial" panose="020B0604020202020204" pitchFamily="34" charset="0"/>
                          <a:ea typeface="微软雅黑" panose="020B0503020204020204" charset="-122"/>
                        </a:rPr>
                        <a:t>a 为 true 时，值为 false，a 为 false 时，值为 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en-US" sz="1050" b="0">
                          <a:solidFill>
                            <a:srgbClr val="444444"/>
                          </a:solidFill>
                          <a:latin typeface="微软雅黑" panose="020B0503020204020204" charset="-122"/>
                        </a:rPr>
                        <a:t>!(2&gt;4)</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en-US" sz="1050" b="0">
                          <a:solidFill>
                            <a:srgbClr val="FF0000"/>
                          </a:solidFill>
                          <a:latin typeface="微软雅黑" panose="020B0503020204020204" charset="-122"/>
                        </a:rPr>
                        <a:t>TRUE</a:t>
                      </a:r>
                      <a:endParaRPr lang="en-US" altLang="en-US" sz="1050" b="0">
                        <a:solidFill>
                          <a:srgbClr val="FF0000"/>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591935" cy="460375"/>
          </a:xfrm>
          <a:prstGeom prst="rect">
            <a:avLst/>
          </a:prstGeom>
          <a:noFill/>
        </p:spPr>
        <p:txBody>
          <a:bodyPr wrap="square" rtlCol="0">
            <a:spAutoFit/>
          </a:bodyPr>
          <a:lstStyle/>
          <a:p>
            <a:r>
              <a:rPr lang="zh-CN" altLang="en-US" sz="2400" b="1" dirty="0">
                <a:ea typeface="宋体" panose="02010600030101010101" pitchFamily="2" charset="-122"/>
                <a:sym typeface="+mn-ea"/>
              </a:rPr>
              <a:t>用逻辑运算符进行逻辑运算</a:t>
            </a:r>
            <a:endParaRPr lang="zh-CN" altLang="en-US" sz="2400" b="1" dirty="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41988" name="Group 4"/>
          <p:cNvGraphicFramePr>
            <a:graphicFrameLocks noGrp="1"/>
          </p:cNvGraphicFramePr>
          <p:nvPr>
            <p:custDataLst>
              <p:tags r:id="rId5"/>
            </p:custDataLst>
          </p:nvPr>
        </p:nvGraphicFramePr>
        <p:xfrm>
          <a:off x="2029460" y="1631950"/>
          <a:ext cx="7042150" cy="2340610"/>
        </p:xfrm>
        <a:graphic>
          <a:graphicData uri="http://schemas.openxmlformats.org/drawingml/2006/table">
            <a:tbl>
              <a:tblPr/>
              <a:tblGrid>
                <a:gridCol w="1165860"/>
                <a:gridCol w="1235710"/>
                <a:gridCol w="1368425"/>
                <a:gridCol w="1805229"/>
                <a:gridCol w="1466850"/>
              </a:tblGrid>
              <a:tr h="468630">
                <a:tc>
                  <a:txBody>
                    <a:bodyPr/>
                    <a:lstStyle/>
                    <a:p>
                      <a:pPr indent="0" algn="ctr">
                        <a:buNone/>
                      </a:pPr>
                      <a:r>
                        <a:rPr lang="en-US" sz="1800" b="1">
                          <a:solidFill>
                            <a:srgbClr val="444444"/>
                          </a:solidFill>
                          <a:latin typeface="微软雅黑" panose="020B0503020204020204" charset="-122"/>
                        </a:rPr>
                        <a:t>a</a:t>
                      </a:r>
                      <a:endParaRPr lang="en-US" altLang="en-US" sz="1800" b="1">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indent="0" algn="ctr">
                        <a:buNone/>
                      </a:pPr>
                      <a:r>
                        <a:rPr lang="en-US" sz="1800" b="1">
                          <a:solidFill>
                            <a:srgbClr val="444444"/>
                          </a:solidFill>
                          <a:latin typeface="微软雅黑" panose="020B0503020204020204" charset="-122"/>
                        </a:rPr>
                        <a:t>b</a:t>
                      </a:r>
                      <a:endParaRPr lang="en-US" altLang="en-US" sz="1800" b="1">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indent="0" algn="ctr">
                        <a:buNone/>
                      </a:pPr>
                      <a:r>
                        <a:rPr lang="en-US" sz="1800" b="1">
                          <a:solidFill>
                            <a:srgbClr val="444444"/>
                          </a:solidFill>
                          <a:latin typeface="微软雅黑" panose="020B0503020204020204" charset="-122"/>
                        </a:rPr>
                        <a:t>a&amp;&amp;b</a:t>
                      </a:r>
                      <a:endParaRPr lang="en-US" altLang="en-US" sz="1800" b="1">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indent="0" algn="ctr">
                        <a:buNone/>
                      </a:pPr>
                      <a:r>
                        <a:rPr lang="en-US" sz="1800" b="1">
                          <a:solidFill>
                            <a:srgbClr val="444444"/>
                          </a:solidFill>
                          <a:latin typeface="微软雅黑" panose="020B0503020204020204" charset="-122"/>
                        </a:rPr>
                        <a:t>a||b</a:t>
                      </a:r>
                      <a:endParaRPr lang="en-US" altLang="en-US" sz="1800" b="1">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indent="0" algn="ctr">
                        <a:buNone/>
                      </a:pPr>
                      <a:r>
                        <a:rPr lang="en-US" sz="1800" b="1">
                          <a:solidFill>
                            <a:srgbClr val="444444"/>
                          </a:solidFill>
                          <a:latin typeface="微软雅黑" panose="020B0503020204020204" charset="-122"/>
                        </a:rPr>
                        <a:t>!a</a:t>
                      </a:r>
                      <a:endParaRPr lang="en-US" altLang="en-US" sz="1800" b="1">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68313">
                <a:tc>
                  <a:txBody>
                    <a:bodyPr/>
                    <a:lstStyle/>
                    <a:p>
                      <a:pPr indent="0" algn="ctr">
                        <a:buNone/>
                      </a:pPr>
                      <a:r>
                        <a:rPr lang="en-US" sz="1050" b="0">
                          <a:solidFill>
                            <a:srgbClr val="444444"/>
                          </a:solidFill>
                          <a:latin typeface="微软雅黑" panose="020B0503020204020204" charset="-122"/>
                        </a:rPr>
                        <a:t>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indent="0" algn="ctr">
                        <a:buNone/>
                      </a:pPr>
                      <a:r>
                        <a:rPr lang="en-US" sz="1050" b="0">
                          <a:solidFill>
                            <a:srgbClr val="444444"/>
                          </a:solidFill>
                          <a:latin typeface="微软雅黑" panose="020B0503020204020204" charset="-122"/>
                        </a:rPr>
                        <a:t>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indent="0" algn="ctr">
                        <a:buNone/>
                      </a:pPr>
                      <a:r>
                        <a:rPr lang="en-US" sz="1050" b="0">
                          <a:solidFill>
                            <a:srgbClr val="444444"/>
                          </a:solidFill>
                          <a:latin typeface="微软雅黑" panose="020B0503020204020204" charset="-122"/>
                        </a:rPr>
                        <a:t>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indent="0" algn="ctr">
                        <a:buNone/>
                      </a:pPr>
                      <a:r>
                        <a:rPr lang="en-US" sz="1050" b="0">
                          <a:solidFill>
                            <a:srgbClr val="444444"/>
                          </a:solidFill>
                          <a:latin typeface="微软雅黑" panose="020B0503020204020204" charset="-122"/>
                        </a:rPr>
                        <a:t>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indent="0" algn="ctr">
                        <a:buNone/>
                      </a:pPr>
                      <a:r>
                        <a:rPr lang="en-US" sz="1050" b="0">
                          <a:solidFill>
                            <a:srgbClr val="444444"/>
                          </a:solidFill>
                          <a:latin typeface="微软雅黑" panose="020B0503020204020204" charset="-122"/>
                        </a:rPr>
                        <a:t>FALSE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8313">
                <a:tc>
                  <a:txBody>
                    <a:bodyPr/>
                    <a:lstStyle/>
                    <a:p>
                      <a:pPr indent="0" algn="ctr">
                        <a:buNone/>
                      </a:pPr>
                      <a:r>
                        <a:rPr lang="en-US" sz="1050" b="0">
                          <a:solidFill>
                            <a:srgbClr val="444444"/>
                          </a:solidFill>
                          <a:latin typeface="微软雅黑" panose="020B0503020204020204" charset="-122"/>
                        </a:rPr>
                        <a:t>FALSE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indent="0" algn="ctr">
                        <a:buNone/>
                      </a:pPr>
                      <a:r>
                        <a:rPr lang="en-US" sz="1050" b="0">
                          <a:solidFill>
                            <a:srgbClr val="444444"/>
                          </a:solidFill>
                          <a:latin typeface="微软雅黑" panose="020B0503020204020204" charset="-122"/>
                        </a:rPr>
                        <a:t>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indent="0" algn="ctr">
                        <a:buNone/>
                      </a:pPr>
                      <a:r>
                        <a:rPr lang="en-US" sz="1050" b="0">
                          <a:solidFill>
                            <a:srgbClr val="444444"/>
                          </a:solidFill>
                          <a:latin typeface="微软雅黑" panose="020B0503020204020204" charset="-122"/>
                        </a:rPr>
                        <a:t>FALSE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en-US" sz="1050" b="0">
                          <a:solidFill>
                            <a:srgbClr val="444444"/>
                          </a:solidFill>
                          <a:latin typeface="微软雅黑" panose="020B0503020204020204" charset="-122"/>
                        </a:rPr>
                        <a:t>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en-US" sz="1050" b="0">
                          <a:solidFill>
                            <a:srgbClr val="444444"/>
                          </a:solidFill>
                          <a:latin typeface="微软雅黑" panose="020B0503020204020204" charset="-122"/>
                        </a:rPr>
                        <a:t>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468313">
                <a:tc>
                  <a:txBody>
                    <a:bodyPr/>
                    <a:lstStyle/>
                    <a:p>
                      <a:pPr indent="0" algn="ctr">
                        <a:buNone/>
                      </a:pPr>
                      <a:r>
                        <a:rPr lang="en-US" sz="1050" b="0">
                          <a:solidFill>
                            <a:srgbClr val="444444"/>
                          </a:solidFill>
                          <a:latin typeface="微软雅黑" panose="020B0503020204020204" charset="-122"/>
                        </a:rPr>
                        <a:t>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indent="0" algn="ctr">
                        <a:buNone/>
                      </a:pPr>
                      <a:r>
                        <a:rPr lang="en-US" sz="1050" b="0">
                          <a:solidFill>
                            <a:srgbClr val="444444"/>
                          </a:solidFill>
                          <a:latin typeface="微软雅黑" panose="020B0503020204020204" charset="-122"/>
                        </a:rPr>
                        <a:t>FALSE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lstStyle/>
                    <a:p>
                      <a:pPr indent="0" algn="ctr">
                        <a:buNone/>
                      </a:pPr>
                      <a:r>
                        <a:rPr lang="en-US" sz="1050" b="0">
                          <a:solidFill>
                            <a:srgbClr val="444444"/>
                          </a:solidFill>
                          <a:latin typeface="微软雅黑" panose="020B0503020204020204" charset="-122"/>
                        </a:rPr>
                        <a:t>FALSE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indent="0" algn="ctr">
                        <a:buNone/>
                      </a:pPr>
                      <a:r>
                        <a:rPr lang="en-US" sz="1050" b="0">
                          <a:solidFill>
                            <a:srgbClr val="444444"/>
                          </a:solidFill>
                          <a:latin typeface="微软雅黑" panose="020B0503020204020204" charset="-122"/>
                        </a:rPr>
                        <a:t>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indent="0" algn="ctr">
                        <a:buNone/>
                      </a:pPr>
                      <a:r>
                        <a:rPr lang="en-US" sz="1050" b="0">
                          <a:solidFill>
                            <a:srgbClr val="444444"/>
                          </a:solidFill>
                          <a:latin typeface="微软雅黑" panose="020B0503020204020204" charset="-122"/>
                        </a:rPr>
                        <a:t>FALSE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466725">
                <a:tc>
                  <a:txBody>
                    <a:bodyPr/>
                    <a:lstStyle/>
                    <a:p>
                      <a:pPr indent="0" algn="ctr">
                        <a:buNone/>
                      </a:pPr>
                      <a:r>
                        <a:rPr lang="en-US" sz="1050" b="0">
                          <a:solidFill>
                            <a:srgbClr val="444444"/>
                          </a:solidFill>
                          <a:latin typeface="微软雅黑" panose="020B0503020204020204" charset="-122"/>
                        </a:rPr>
                        <a:t>FALSE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indent="0" algn="ctr">
                        <a:buNone/>
                      </a:pPr>
                      <a:r>
                        <a:rPr lang="en-US" sz="1050" b="0">
                          <a:solidFill>
                            <a:srgbClr val="444444"/>
                          </a:solidFill>
                          <a:latin typeface="微软雅黑" panose="020B0503020204020204" charset="-122"/>
                        </a:rPr>
                        <a:t>FALSE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lstStyle/>
                    <a:p>
                      <a:pPr indent="0" algn="ctr">
                        <a:buNone/>
                      </a:pPr>
                      <a:r>
                        <a:rPr lang="en-US" sz="1050" b="0">
                          <a:solidFill>
                            <a:srgbClr val="444444"/>
                          </a:solidFill>
                          <a:latin typeface="微软雅黑" panose="020B0503020204020204" charset="-122"/>
                        </a:rPr>
                        <a:t>FALSE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en-US" sz="1050" b="0">
                          <a:solidFill>
                            <a:srgbClr val="444444"/>
                          </a:solidFill>
                          <a:latin typeface="微软雅黑" panose="020B0503020204020204" charset="-122"/>
                        </a:rPr>
                        <a:t>FALSE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indent="0" algn="ctr">
                        <a:buNone/>
                      </a:pPr>
                      <a:r>
                        <a:rPr lang="en-US" sz="1050" b="0">
                          <a:solidFill>
                            <a:srgbClr val="444444"/>
                          </a:solidFill>
                          <a:latin typeface="微软雅黑" panose="020B0503020204020204" charset="-122"/>
                        </a:rPr>
                        <a:t>TRUE</a:t>
                      </a:r>
                      <a:endParaRPr lang="en-US" altLang="en-US" sz="1050" b="0">
                        <a:solidFill>
                          <a:srgbClr val="444444"/>
                        </a:solidFill>
                        <a:latin typeface="微软雅黑" panose="020B0503020204020204" charset="-122"/>
                      </a:endParaRPr>
                    </a:p>
                  </a:txBody>
                  <a:tcPr marL="12700" marR="12700" marT="12700" vert="horz"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a:ea typeface="宋体" panose="02010600030101010101" pitchFamily="2" charset="-122"/>
                <a:sym typeface="+mn-ea"/>
              </a:rPr>
              <a:t>示例 — TestNum2类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61443" name="内容占位符 2"/>
          <p:cNvSpPr>
            <a:spLocks noGrp="1"/>
          </p:cNvSpPr>
          <p:nvPr>
            <p:ph idx="4294967295"/>
          </p:nvPr>
        </p:nvSpPr>
        <p:spPr>
          <a:xfrm>
            <a:off x="1234732" y="1004556"/>
            <a:ext cx="7537450" cy="5184775"/>
          </a:xfrm>
        </p:spPr>
        <p:txBody>
          <a:bodyPr/>
          <a:lstStyle/>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  public class TestNum2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2      public static void main(String[] </a:t>
            </a:r>
            <a:r>
              <a:rPr lang="en-US" altLang="zh-CN" sz="1800" dirty="0" err="1">
                <a:solidFill>
                  <a:srgbClr val="002060"/>
                </a:solidFill>
                <a:ea typeface="宋体" panose="02010600030101010101" pitchFamily="2" charset="-122"/>
              </a:rPr>
              <a:t>args</a:t>
            </a:r>
            <a:r>
              <a:rPr lang="en-US" altLang="zh-CN" sz="1800" dirty="0">
                <a:solidFill>
                  <a:srgbClr val="002060"/>
                </a:solidFill>
                <a:ea typeface="宋体" panose="02010600030101010101" pitchFamily="2" charset="-122"/>
              </a:rPr>
              <a:t>)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3          </a:t>
            </a:r>
            <a:r>
              <a:rPr lang="en-US" altLang="zh-CN" sz="1800" dirty="0" err="1">
                <a:solidFill>
                  <a:srgbClr val="002060"/>
                </a:solidFill>
                <a:ea typeface="宋体" panose="02010600030101010101" pitchFamily="2" charset="-122"/>
              </a:rPr>
              <a:t>boolean</a:t>
            </a:r>
            <a:r>
              <a:rPr lang="en-US" altLang="zh-CN" sz="1800" dirty="0">
                <a:solidFill>
                  <a:srgbClr val="002060"/>
                </a:solidFill>
                <a:ea typeface="宋体" panose="02010600030101010101" pitchFamily="2" charset="-122"/>
              </a:rPr>
              <a:t> flag1 = false, flag2 = true;</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4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("flag1 = " + flag1);</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5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("flag2 = " + flag2);</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6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7          </a:t>
            </a:r>
            <a:r>
              <a:rPr lang="en-US" altLang="zh-CN" sz="1800" dirty="0" err="1">
                <a:solidFill>
                  <a:srgbClr val="002060"/>
                </a:solidFill>
                <a:ea typeface="宋体" panose="02010600030101010101" pitchFamily="2" charset="-122"/>
              </a:rPr>
              <a:t>int</a:t>
            </a:r>
            <a:r>
              <a:rPr lang="en-US" altLang="zh-CN" sz="1800" dirty="0">
                <a:solidFill>
                  <a:srgbClr val="002060"/>
                </a:solidFill>
                <a:ea typeface="宋体" panose="02010600030101010101" pitchFamily="2" charset="-122"/>
              </a:rPr>
              <a:t> x = 20, y = 30;</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8          char cc = 'z';</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9          </a:t>
            </a:r>
            <a:r>
              <a:rPr lang="en-US" altLang="zh-CN" sz="1800" dirty="0" err="1">
                <a:solidFill>
                  <a:srgbClr val="002060"/>
                </a:solidFill>
                <a:ea typeface="宋体" panose="02010600030101010101" pitchFamily="2" charset="-122"/>
              </a:rPr>
              <a:t>boolean</a:t>
            </a:r>
            <a:r>
              <a:rPr lang="en-US" altLang="zh-CN" sz="1800" dirty="0">
                <a:solidFill>
                  <a:srgbClr val="002060"/>
                </a:solidFill>
                <a:ea typeface="宋体" panose="02010600030101010101" pitchFamily="2" charset="-122"/>
              </a:rPr>
              <a:t> flag3 = (x &lt;= y &amp;&amp; cc == 'z');</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10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("flag3 = " + flag3);</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11         </a:t>
            </a:r>
            <a:r>
              <a:rPr lang="en-US" altLang="zh-CN" sz="1800" dirty="0" err="1">
                <a:solidFill>
                  <a:srgbClr val="002060"/>
                </a:solidFill>
                <a:ea typeface="宋体" panose="02010600030101010101" pitchFamily="2" charset="-122"/>
              </a:rPr>
              <a:t>boolean</a:t>
            </a:r>
            <a:r>
              <a:rPr lang="en-US" altLang="zh-CN" sz="1800" dirty="0">
                <a:solidFill>
                  <a:srgbClr val="002060"/>
                </a:solidFill>
                <a:ea typeface="宋体" panose="02010600030101010101" pitchFamily="2" charset="-122"/>
              </a:rPr>
              <a:t> flag4 = (x &gt; y || cc == 'z');</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12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("flag4 = " + flag4);</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13         </a:t>
            </a:r>
            <a:r>
              <a:rPr lang="en-US" altLang="zh-CN" sz="1800" dirty="0" err="1">
                <a:solidFill>
                  <a:srgbClr val="002060"/>
                </a:solidFill>
                <a:ea typeface="宋体" panose="02010600030101010101" pitchFamily="2" charset="-122"/>
              </a:rPr>
              <a:t>boolean</a:t>
            </a:r>
            <a:r>
              <a:rPr lang="en-US" altLang="zh-CN" sz="1800" dirty="0">
                <a:solidFill>
                  <a:srgbClr val="002060"/>
                </a:solidFill>
                <a:ea typeface="宋体" panose="02010600030101010101" pitchFamily="2" charset="-122"/>
              </a:rPr>
              <a:t> flag5 = !(x &gt; y);</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14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("flag5 = " + flag5);</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15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16         </a:t>
            </a:r>
            <a:r>
              <a:rPr lang="en-US" altLang="zh-CN" sz="1800" dirty="0" err="1">
                <a:solidFill>
                  <a:srgbClr val="002060"/>
                </a:solidFill>
                <a:ea typeface="宋体" panose="02010600030101010101" pitchFamily="2" charset="-122"/>
              </a:rPr>
              <a:t>int</a:t>
            </a:r>
            <a:r>
              <a:rPr lang="en-US" altLang="zh-CN" sz="1800" dirty="0">
                <a:solidFill>
                  <a:srgbClr val="002060"/>
                </a:solidFill>
                <a:ea typeface="宋体" panose="02010600030101010101" pitchFamily="2" charset="-122"/>
              </a:rPr>
              <a:t> </a:t>
            </a:r>
            <a:r>
              <a:rPr lang="en-US" altLang="zh-CN" sz="1800" dirty="0" err="1">
                <a:solidFill>
                  <a:srgbClr val="002060"/>
                </a:solidFill>
                <a:ea typeface="宋体" panose="02010600030101010101" pitchFamily="2" charset="-122"/>
              </a:rPr>
              <a:t>tt</a:t>
            </a:r>
            <a:r>
              <a:rPr lang="en-US" altLang="zh-CN" sz="1800" dirty="0">
                <a:solidFill>
                  <a:srgbClr val="002060"/>
                </a:solidFill>
                <a:ea typeface="宋体" panose="02010600030101010101" pitchFamily="2" charset="-122"/>
              </a:rPr>
              <a:t> = (x &gt; y) ? x - y : x + y;</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17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a:t>
            </a:r>
            <a:r>
              <a:rPr lang="en-US" altLang="zh-CN" sz="1800" dirty="0" err="1">
                <a:solidFill>
                  <a:srgbClr val="002060"/>
                </a:solidFill>
                <a:ea typeface="宋体" panose="02010600030101010101" pitchFamily="2" charset="-122"/>
              </a:rPr>
              <a:t>tt</a:t>
            </a:r>
            <a:r>
              <a:rPr lang="en-US" altLang="zh-CN" sz="1800" dirty="0">
                <a:solidFill>
                  <a:srgbClr val="002060"/>
                </a:solidFill>
                <a:ea typeface="宋体" panose="02010600030101010101" pitchFamily="2" charset="-122"/>
              </a:rPr>
              <a:t> = " + </a:t>
            </a:r>
            <a:r>
              <a:rPr lang="en-US" altLang="zh-CN" sz="1800" dirty="0" err="1">
                <a:solidFill>
                  <a:srgbClr val="002060"/>
                </a:solidFill>
                <a:ea typeface="宋体" panose="02010600030101010101" pitchFamily="2" charset="-122"/>
              </a:rPr>
              <a:t>tt</a:t>
            </a:r>
            <a:r>
              <a:rPr lang="en-US" altLang="zh-CN" sz="1800" dirty="0">
                <a:solidFill>
                  <a:srgbClr val="002060"/>
                </a:solidFill>
                <a:ea typeface="宋体" panose="02010600030101010101" pitchFamily="2" charset="-122"/>
              </a:rPr>
              <a:t>);</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18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19 }</a:t>
            </a:r>
            <a:endParaRPr lang="en-US" altLang="zh-CN"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a:ea typeface="宋体" panose="02010600030101010101" pitchFamily="2" charset="-122"/>
                <a:sym typeface="+mn-ea"/>
              </a:rPr>
              <a:t>数值的自动升级和强制转换</a:t>
            </a:r>
            <a:r>
              <a:rPr lang="en-US" altLang="zh-CN" sz="2400">
                <a:ea typeface="宋体" panose="02010600030101010101" pitchFamily="2" charset="-122"/>
                <a:sym typeface="+mn-ea"/>
              </a:rPr>
              <a:t>(6</a:t>
            </a:r>
            <a:r>
              <a:rPr lang="zh-CN" altLang="en-US" sz="2400">
                <a:ea typeface="宋体" panose="02010600030101010101" pitchFamily="2" charset="-122"/>
                <a:sym typeface="+mn-ea"/>
              </a:rPr>
              <a:t>规则</a:t>
            </a:r>
            <a:r>
              <a:rPr lang="en-US" altLang="zh-CN" sz="2400">
                <a:ea typeface="宋体" panose="02010600030101010101" pitchFamily="2" charset="-122"/>
                <a:sym typeface="+mn-ea"/>
              </a:rPr>
              <a:t>)</a:t>
            </a:r>
            <a:endParaRPr lang="en-US" altLang="zh-CN"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3830" y="888365"/>
            <a:ext cx="10284460" cy="5784215"/>
          </a:xfrm>
        </p:spPr>
        <p:txBody>
          <a:bodyPr>
            <a:normAutofit/>
          </a:bodyPr>
          <a:p>
            <a:pPr marL="457200" lvl="1" indent="-457200" algn="l" eaLnBrk="1" hangingPunct="1">
              <a:lnSpc>
                <a:spcPct val="130000"/>
              </a:lnSpc>
              <a:spcBef>
                <a:spcPts val="1000"/>
              </a:spcBef>
              <a:buClr>
                <a:srgbClr val="ED7D31"/>
              </a:buClr>
              <a:buSzTx/>
              <a:buFont typeface="+mj-lt"/>
              <a:buAutoNum type="arabicPeriod"/>
            </a:pPr>
            <a:r>
              <a:rPr lang="zh-CN" altLang="en-US" dirty="0">
                <a:ea typeface="宋体" panose="02010600030101010101" pitchFamily="2" charset="-122"/>
              </a:rPr>
              <a:t>除了boolean类型，其他的7种数据类型都可以互相转换</a:t>
            </a:r>
            <a:endParaRPr lang="zh-CN" altLang="en-US" dirty="0">
              <a:ea typeface="宋体" panose="02010600030101010101" pitchFamily="2" charset="-122"/>
            </a:endParaRPr>
          </a:p>
          <a:p>
            <a:pPr marL="457200" lvl="1" indent="-457200" algn="l" eaLnBrk="1" hangingPunct="1">
              <a:lnSpc>
                <a:spcPct val="130000"/>
              </a:lnSpc>
              <a:spcBef>
                <a:spcPts val="1000"/>
              </a:spcBef>
              <a:buClr>
                <a:srgbClr val="ED7D31"/>
              </a:buClr>
              <a:buSzTx/>
              <a:buFont typeface="+mj-lt"/>
              <a:buAutoNum type="arabicPeriod"/>
            </a:pPr>
            <a:r>
              <a:rPr lang="zh-CN" altLang="en-US" dirty="0">
                <a:ea typeface="宋体" panose="02010600030101010101" pitchFamily="2" charset="-122"/>
              </a:rPr>
              <a:t>对于byte,short,char类型赋值，在没有超出取值范围的时候可以直接赋值</a:t>
            </a:r>
            <a:endParaRPr lang="zh-CN" altLang="en-US" dirty="0">
              <a:ea typeface="宋体" panose="02010600030101010101" pitchFamily="2" charset="-122"/>
            </a:endParaRPr>
          </a:p>
          <a:p>
            <a:pPr marL="457200" lvl="1" indent="-457200" algn="l" eaLnBrk="1" hangingPunct="1">
              <a:lnSpc>
                <a:spcPct val="130000"/>
              </a:lnSpc>
              <a:spcBef>
                <a:spcPts val="1000"/>
              </a:spcBef>
              <a:buClr>
                <a:srgbClr val="ED7D31"/>
              </a:buClr>
              <a:buSzTx/>
              <a:buFont typeface="+mj-lt"/>
              <a:buAutoNum type="arabicPeriod"/>
            </a:pPr>
            <a:r>
              <a:rPr lang="zh-CN" altLang="en-US" dirty="0">
                <a:ea typeface="宋体" panose="02010600030101010101" pitchFamily="2" charset="-122"/>
              </a:rPr>
              <a:t>当byte，short，char类型做运算时，首先会转换为int类型，再做运算</a:t>
            </a:r>
            <a:endParaRPr lang="zh-CN" altLang="en-US" dirty="0">
              <a:ea typeface="宋体" panose="02010600030101010101" pitchFamily="2" charset="-122"/>
            </a:endParaRPr>
          </a:p>
          <a:p>
            <a:pPr marL="457200" lvl="1" indent="-457200" algn="l" eaLnBrk="1" hangingPunct="1">
              <a:lnSpc>
                <a:spcPct val="130000"/>
              </a:lnSpc>
              <a:spcBef>
                <a:spcPts val="1000"/>
              </a:spcBef>
              <a:buClr>
                <a:srgbClr val="ED7D31"/>
              </a:buClr>
              <a:buSzTx/>
              <a:buFont typeface="+mj-lt"/>
              <a:buAutoNum type="arabicPeriod"/>
            </a:pPr>
            <a:r>
              <a:rPr lang="zh-CN" altLang="en-US" dirty="0">
                <a:ea typeface="宋体" panose="02010600030101010101" pitchFamily="2" charset="-122"/>
              </a:rPr>
              <a:t>自动转换：取值范围小的转换为取值范围大的数据类型，隐式转换，也叫自动升级</a:t>
            </a:r>
            <a:endParaRPr lang="zh-CN" altLang="en-US" dirty="0">
              <a:ea typeface="宋体" panose="02010600030101010101" pitchFamily="2" charset="-122"/>
            </a:endParaRPr>
          </a:p>
          <a:p>
            <a:pPr marL="457200" lvl="1" indent="-457200" algn="l" eaLnBrk="1" hangingPunct="1">
              <a:lnSpc>
                <a:spcPct val="130000"/>
              </a:lnSpc>
              <a:spcBef>
                <a:spcPts val="1000"/>
              </a:spcBef>
              <a:buClr>
                <a:srgbClr val="ED7D31"/>
              </a:buClr>
              <a:buSzTx/>
              <a:buFont typeface="+mj-lt"/>
              <a:buAutoNum type="arabicPeriod"/>
            </a:pPr>
            <a:r>
              <a:rPr lang="zh-CN" altLang="en-US" dirty="0">
                <a:ea typeface="宋体" panose="02010600030101010101" pitchFamily="2" charset="-122"/>
              </a:rPr>
              <a:t>强制转换：取值范围大的转换为取值范围小的数据类型，强制转换</a:t>
            </a:r>
            <a:endParaRPr lang="zh-CN" altLang="en-US" dirty="0">
              <a:ea typeface="宋体" panose="02010600030101010101" pitchFamily="2" charset="-122"/>
            </a:endParaRPr>
          </a:p>
          <a:p>
            <a:pPr marL="457200" lvl="1" indent="-457200" algn="l" eaLnBrk="1" hangingPunct="1">
              <a:lnSpc>
                <a:spcPct val="130000"/>
              </a:lnSpc>
              <a:spcBef>
                <a:spcPts val="1000"/>
              </a:spcBef>
              <a:buClr>
                <a:srgbClr val="ED7D31"/>
              </a:buClr>
              <a:buSzTx/>
              <a:buFont typeface="+mj-lt"/>
              <a:buAutoNum type="arabicPeriod"/>
            </a:pPr>
            <a:r>
              <a:rPr lang="zh-CN" altLang="en-US" dirty="0">
                <a:ea typeface="宋体" panose="02010600030101010101" pitchFamily="2" charset="-122"/>
              </a:rPr>
              <a:t>混合运算：多种数据类型混合运算时，运算结果为取值范围大的数据类型</a:t>
            </a:r>
            <a:endParaRPr lang="zh-CN" altLang="en-US" dirty="0">
              <a:ea typeface="宋体" panose="02010600030101010101" pitchFamily="2" charset="-122"/>
            </a:endParaRPr>
          </a:p>
        </p:txBody>
      </p:sp>
      <p:pic>
        <p:nvPicPr>
          <p:cNvPr id="38" name="图片 38"/>
          <p:cNvPicPr>
            <a:picLocks noChangeAspect="1"/>
          </p:cNvPicPr>
          <p:nvPr/>
        </p:nvPicPr>
        <p:blipFill>
          <a:blip r:embed="rId5"/>
          <a:stretch>
            <a:fillRect/>
          </a:stretch>
        </p:blipFill>
        <p:spPr>
          <a:xfrm>
            <a:off x="2526665" y="4127500"/>
            <a:ext cx="6766560" cy="206883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a:ea typeface="宋体" panose="02010600030101010101" pitchFamily="2" charset="-122"/>
                <a:sym typeface="+mn-ea"/>
              </a:rPr>
              <a:t>示例 — TestCast类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63491" name="内容占位符 2"/>
          <p:cNvSpPr>
            <a:spLocks noGrp="1"/>
          </p:cNvSpPr>
          <p:nvPr>
            <p:ph idx="4294967295"/>
          </p:nvPr>
        </p:nvSpPr>
        <p:spPr>
          <a:xfrm>
            <a:off x="1312202" y="1033485"/>
            <a:ext cx="7537450" cy="5256213"/>
          </a:xfrm>
        </p:spPr>
        <p:txBody>
          <a:bodyPr/>
          <a:lstStyle/>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1  public class </a:t>
            </a:r>
            <a:r>
              <a:rPr lang="en-US" altLang="zh-CN" sz="1800" dirty="0" err="1">
                <a:solidFill>
                  <a:schemeClr val="tx2"/>
                </a:solidFill>
                <a:ea typeface="宋体" panose="02010600030101010101" pitchFamily="2" charset="-122"/>
              </a:rPr>
              <a:t>TestCast</a:t>
            </a:r>
            <a:r>
              <a:rPr lang="en-US" altLang="zh-CN" sz="1800" dirty="0">
                <a:solidFill>
                  <a:schemeClr val="tx2"/>
                </a:solidFill>
                <a:ea typeface="宋体" panose="02010600030101010101" pitchFamily="2" charset="-122"/>
              </a:rPr>
              <a:t> {</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2      public static void main(String[] </a:t>
            </a:r>
            <a:r>
              <a:rPr lang="en-US" altLang="zh-CN" sz="1800" dirty="0" err="1">
                <a:solidFill>
                  <a:schemeClr val="tx2"/>
                </a:solidFill>
                <a:ea typeface="宋体" panose="02010600030101010101" pitchFamily="2" charset="-122"/>
              </a:rPr>
              <a:t>args</a:t>
            </a:r>
            <a:r>
              <a:rPr lang="en-US" altLang="zh-CN" sz="1800" dirty="0">
                <a:solidFill>
                  <a:schemeClr val="tx2"/>
                </a:solidFill>
                <a:ea typeface="宋体" panose="02010600030101010101" pitchFamily="2" charset="-122"/>
              </a:rPr>
              <a:t>) {</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3          </a:t>
            </a:r>
            <a:r>
              <a:rPr lang="en-US" altLang="zh-CN" sz="1800" dirty="0" err="1">
                <a:solidFill>
                  <a:schemeClr val="tx2"/>
                </a:solidFill>
                <a:ea typeface="宋体" panose="02010600030101010101" pitchFamily="2" charset="-122"/>
              </a:rPr>
              <a:t>int</a:t>
            </a:r>
            <a:r>
              <a:rPr lang="en-US" altLang="zh-CN" sz="1800" dirty="0">
                <a:solidFill>
                  <a:schemeClr val="tx2"/>
                </a:solidFill>
                <a:ea typeface="宋体" panose="02010600030101010101" pitchFamily="2" charset="-122"/>
              </a:rPr>
              <a:t> x0 = 123;</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4          long x1 = 123;   //</a:t>
            </a:r>
            <a:r>
              <a:rPr lang="zh-CN" altLang="en-US" sz="1800" dirty="0">
                <a:solidFill>
                  <a:schemeClr val="tx2"/>
                </a:solidFill>
                <a:ea typeface="宋体" panose="02010600030101010101" pitchFamily="2" charset="-122"/>
              </a:rPr>
              <a:t>自动升级</a:t>
            </a:r>
            <a:endParaRPr lang="zh-CN" altLang="en-US"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5          long y2 = x0;</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6  </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7          double d = 1234.45f;</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8          float f = 123.45f;</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9          d = f; d = x0;  d = y2;  f = y2;</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10         byte x = 123, y = 2;</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11         </a:t>
            </a:r>
            <a:r>
              <a:rPr lang="en-US" altLang="zh-CN" sz="1800" dirty="0" err="1">
                <a:solidFill>
                  <a:schemeClr val="tx2"/>
                </a:solidFill>
                <a:ea typeface="宋体" panose="02010600030101010101" pitchFamily="2" charset="-122"/>
              </a:rPr>
              <a:t>int</a:t>
            </a:r>
            <a:r>
              <a:rPr lang="en-US" altLang="zh-CN" sz="1800" dirty="0">
                <a:solidFill>
                  <a:schemeClr val="tx2"/>
                </a:solidFill>
                <a:ea typeface="宋体" panose="02010600030101010101" pitchFamily="2" charset="-122"/>
              </a:rPr>
              <a:t> z = (x + y);</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12         </a:t>
            </a:r>
            <a:r>
              <a:rPr lang="en-US" altLang="zh-CN" sz="1800" dirty="0" err="1">
                <a:solidFill>
                  <a:schemeClr val="tx2"/>
                </a:solidFill>
                <a:ea typeface="宋体" panose="02010600030101010101" pitchFamily="2" charset="-122"/>
              </a:rPr>
              <a:t>System.out.println</a:t>
            </a:r>
            <a:r>
              <a:rPr lang="en-US" altLang="zh-CN" sz="1800" dirty="0">
                <a:solidFill>
                  <a:schemeClr val="tx2"/>
                </a:solidFill>
                <a:ea typeface="宋体" panose="02010600030101010101" pitchFamily="2" charset="-122"/>
              </a:rPr>
              <a:t>("z = " + z);</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13 </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14         //</a:t>
            </a:r>
            <a:r>
              <a:rPr lang="zh-CN" altLang="en-US" sz="1800" dirty="0">
                <a:solidFill>
                  <a:schemeClr val="tx2"/>
                </a:solidFill>
                <a:ea typeface="宋体" panose="02010600030101010101" pitchFamily="2" charset="-122"/>
              </a:rPr>
              <a:t>强制转换</a:t>
            </a:r>
            <a:endParaRPr lang="zh-CN" altLang="en-US"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15         short s = (short)x0;</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16         float f1 = (float)d;</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17         char c1 = (char)x0;</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18         </a:t>
            </a:r>
            <a:r>
              <a:rPr lang="en-US" altLang="zh-CN" sz="1800" dirty="0" err="1">
                <a:solidFill>
                  <a:schemeClr val="tx2"/>
                </a:solidFill>
                <a:ea typeface="宋体" panose="02010600030101010101" pitchFamily="2" charset="-122"/>
              </a:rPr>
              <a:t>System.out.println</a:t>
            </a:r>
            <a:r>
              <a:rPr lang="en-US" altLang="zh-CN" sz="1800" dirty="0">
                <a:solidFill>
                  <a:schemeClr val="tx2"/>
                </a:solidFill>
                <a:ea typeface="宋体" panose="02010600030101010101" pitchFamily="2" charset="-122"/>
              </a:rPr>
              <a:t>("c1 = " + c1);</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19     }</a:t>
            </a:r>
            <a:endParaRPr lang="en-US" altLang="zh-CN" sz="1800" dirty="0">
              <a:solidFill>
                <a:schemeClr val="tx2"/>
              </a:solidFill>
              <a:ea typeface="宋体" panose="02010600030101010101" pitchFamily="2" charset="-122"/>
            </a:endParaRPr>
          </a:p>
          <a:p>
            <a:pPr marL="361950" indent="-361950" eaLnBrk="1" hangingPunct="1">
              <a:spcBef>
                <a:spcPct val="0"/>
              </a:spcBef>
              <a:buFont typeface="Times"/>
              <a:buNone/>
            </a:pPr>
            <a:r>
              <a:rPr lang="en-US" altLang="zh-CN" sz="1800" dirty="0">
                <a:solidFill>
                  <a:schemeClr val="tx2"/>
                </a:solidFill>
                <a:ea typeface="宋体" panose="02010600030101010101" pitchFamily="2" charset="-122"/>
              </a:rPr>
              <a:t>20 }</a:t>
            </a:r>
            <a:endParaRPr lang="en-US" altLang="zh-CN" sz="1800" dirty="0">
              <a:solidFill>
                <a:schemeClr val="tx2"/>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第四节 使用字符串</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a:ea typeface="宋体" panose="02010600030101010101" pitchFamily="2" charset="-122"/>
                <a:sym typeface="+mn-ea"/>
              </a:rPr>
              <a:t>字符串类型String</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433830" y="1160145"/>
            <a:ext cx="9527540" cy="5248910"/>
          </a:xfrm>
        </p:spPr>
        <p:txBody>
          <a:bodyPr>
            <a:normAutofit/>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String</a:t>
            </a:r>
            <a:r>
              <a:rPr lang="zh-CN" altLang="en-US" dirty="0">
                <a:ea typeface="宋体" panose="02010600030101010101" pitchFamily="2" charset="-122"/>
                <a:sym typeface="+mn-ea"/>
              </a:rPr>
              <a:t>不属于基本数据类型，属于对象类型或引用类型</a:t>
            </a: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2250" dirty="0">
                <a:ea typeface="宋体" panose="02010600030101010101" pitchFamily="2" charset="-122"/>
                <a:sym typeface="+mn-ea"/>
              </a:rPr>
              <a:t>使用方式与基本数据类型一致。例如：</a:t>
            </a:r>
            <a:endParaRPr lang="zh-CN" altLang="en-US" sz="2250" dirty="0">
              <a:ea typeface="宋体" panose="02010600030101010101" pitchFamily="2" charset="-122"/>
              <a:sym typeface="+mn-ea"/>
            </a:endParaRPr>
          </a:p>
          <a:p>
            <a:pPr marL="0" indent="457200" eaLnBrk="1" hangingPunct="1">
              <a:lnSpc>
                <a:spcPct val="130000"/>
              </a:lnSpc>
              <a:buClr>
                <a:srgbClr val="ED7D31"/>
              </a:buClr>
              <a:buFont typeface="+mj-lt"/>
              <a:buNone/>
            </a:pPr>
            <a:r>
              <a:rPr lang="en-US" altLang="zh-CN" sz="1800" dirty="0">
                <a:ea typeface="宋体" panose="02010600030101010101" pitchFamily="2" charset="-122"/>
                <a:sym typeface="+mn-ea"/>
              </a:rPr>
              <a:t>      String </a:t>
            </a:r>
            <a:r>
              <a:rPr lang="en-US" altLang="zh-CN" sz="1800" dirty="0" err="1">
                <a:ea typeface="宋体" panose="02010600030101010101" pitchFamily="2" charset="-122"/>
                <a:sym typeface="+mn-ea"/>
              </a:rPr>
              <a:t>str</a:t>
            </a:r>
            <a:r>
              <a:rPr lang="en-US" altLang="zh-CN" sz="1800" dirty="0">
                <a:ea typeface="宋体" panose="02010600030101010101" pitchFamily="2" charset="-122"/>
                <a:sym typeface="+mn-ea"/>
              </a:rPr>
              <a:t> = “</a:t>
            </a:r>
            <a:r>
              <a:rPr lang="en-US" altLang="zh-CN" sz="1800" dirty="0" err="1">
                <a:ea typeface="宋体" panose="02010600030101010101" pitchFamily="2" charset="-122"/>
                <a:sym typeface="+mn-ea"/>
              </a:rPr>
              <a:t>abcd</a:t>
            </a:r>
            <a:r>
              <a:rPr lang="en-US" altLang="zh-CN" sz="1800" dirty="0">
                <a:ea typeface="宋体" panose="02010600030101010101" pitchFamily="2" charset="-122"/>
                <a:sym typeface="+mn-ea"/>
              </a:rPr>
              <a:t>”;</a:t>
            </a:r>
            <a:endParaRPr lang="zh-CN" altLang="en-US" sz="1800"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startAt="3"/>
            </a:pPr>
            <a:r>
              <a:rPr lang="zh-CN" altLang="en-US" dirty="0">
                <a:ea typeface="宋体" panose="02010600030101010101" pitchFamily="2" charset="-122"/>
                <a:sym typeface="+mn-ea"/>
              </a:rPr>
              <a:t>一个字符串可以串接另一个字符串，也可以直接串接其他类型的数据。例如：</a:t>
            </a:r>
            <a:endParaRPr lang="zh-CN" altLang="en-US" dirty="0">
              <a:ea typeface="宋体" panose="02010600030101010101" pitchFamily="2" charset="-122"/>
            </a:endParaRPr>
          </a:p>
          <a:p>
            <a:pPr marL="819150" lvl="2" indent="0" eaLnBrk="1" hangingPunct="1">
              <a:buFont typeface="Times"/>
              <a:buNone/>
            </a:pPr>
            <a:r>
              <a:rPr lang="en-US" altLang="zh-CN" dirty="0" err="1" smtClean="0">
                <a:ea typeface="宋体" panose="02010600030101010101" pitchFamily="2" charset="-122"/>
                <a:sym typeface="+mn-ea"/>
              </a:rPr>
              <a:t>str</a:t>
            </a:r>
            <a:r>
              <a:rPr lang="en-US" altLang="zh-CN" dirty="0" smtClean="0">
                <a:ea typeface="宋体" panose="02010600030101010101" pitchFamily="2" charset="-122"/>
                <a:sym typeface="+mn-ea"/>
              </a:rPr>
              <a:t> </a:t>
            </a:r>
            <a:r>
              <a:rPr lang="en-US" altLang="zh-CN" dirty="0">
                <a:ea typeface="宋体" panose="02010600030101010101" pitchFamily="2" charset="-122"/>
                <a:sym typeface="+mn-ea"/>
              </a:rPr>
              <a:t>= </a:t>
            </a:r>
            <a:r>
              <a:rPr lang="en-US" altLang="zh-CN" dirty="0" err="1">
                <a:ea typeface="宋体" panose="02010600030101010101" pitchFamily="2" charset="-122"/>
                <a:sym typeface="+mn-ea"/>
              </a:rPr>
              <a:t>str</a:t>
            </a:r>
            <a:r>
              <a:rPr lang="en-US" altLang="zh-CN" dirty="0">
                <a:ea typeface="宋体" panose="02010600030101010101" pitchFamily="2" charset="-122"/>
                <a:sym typeface="+mn-ea"/>
              </a:rPr>
              <a:t> + “xyz” ; </a:t>
            </a:r>
            <a:r>
              <a:rPr lang="zh-CN" altLang="en-US" dirty="0">
                <a:ea typeface="宋体" panose="02010600030101010101" pitchFamily="2" charset="-122"/>
                <a:sym typeface="+mn-ea"/>
              </a:rPr>
              <a:t>或  </a:t>
            </a:r>
            <a:r>
              <a:rPr lang="en-US" altLang="zh-CN" dirty="0" err="1">
                <a:ea typeface="宋体" panose="02010600030101010101" pitchFamily="2" charset="-122"/>
                <a:sym typeface="+mn-ea"/>
              </a:rPr>
              <a:t>str</a:t>
            </a:r>
            <a:r>
              <a:rPr lang="en-US" altLang="zh-CN" dirty="0">
                <a:ea typeface="宋体" panose="02010600030101010101" pitchFamily="2" charset="-122"/>
                <a:sym typeface="+mn-ea"/>
              </a:rPr>
              <a:t> += “xyz” ;</a:t>
            </a:r>
            <a:endParaRPr lang="en-US" altLang="zh-CN" dirty="0">
              <a:ea typeface="宋体" panose="02010600030101010101" pitchFamily="2" charset="-122"/>
            </a:endParaRPr>
          </a:p>
          <a:p>
            <a:pPr marL="819150" lvl="2" indent="-361950" eaLnBrk="1" hangingPunct="1">
              <a:buFont typeface="Times"/>
              <a:buNone/>
            </a:pPr>
            <a:r>
              <a:rPr lang="en-US" altLang="zh-CN" dirty="0" smtClean="0">
                <a:ea typeface="宋体" panose="02010600030101010101" pitchFamily="2" charset="-122"/>
                <a:sym typeface="+mn-ea"/>
              </a:rPr>
              <a:t>	</a:t>
            </a:r>
            <a:r>
              <a:rPr lang="en-US" altLang="zh-CN" dirty="0" err="1" smtClean="0">
                <a:ea typeface="宋体" panose="02010600030101010101" pitchFamily="2" charset="-122"/>
                <a:sym typeface="+mn-ea"/>
              </a:rPr>
              <a:t>int</a:t>
            </a:r>
            <a:r>
              <a:rPr lang="en-US" altLang="zh-CN" dirty="0" smtClean="0">
                <a:ea typeface="宋体" panose="02010600030101010101" pitchFamily="2" charset="-122"/>
                <a:sym typeface="+mn-ea"/>
              </a:rPr>
              <a:t> </a:t>
            </a:r>
            <a:r>
              <a:rPr lang="en-US" altLang="zh-CN" dirty="0">
                <a:ea typeface="宋体" panose="02010600030101010101" pitchFamily="2" charset="-122"/>
                <a:sym typeface="+mn-ea"/>
              </a:rPr>
              <a:t>n = 100;</a:t>
            </a:r>
            <a:endParaRPr lang="en-US" altLang="zh-CN" dirty="0">
              <a:ea typeface="宋体" panose="02010600030101010101" pitchFamily="2" charset="-122"/>
            </a:endParaRPr>
          </a:p>
          <a:p>
            <a:pPr marL="819150" lvl="2" indent="-361950" eaLnBrk="1" hangingPunct="1">
              <a:buFont typeface="Times"/>
              <a:buNone/>
            </a:pPr>
            <a:r>
              <a:rPr lang="en-US" altLang="zh-CN" dirty="0" smtClean="0">
                <a:ea typeface="宋体" panose="02010600030101010101" pitchFamily="2" charset="-122"/>
                <a:sym typeface="+mn-ea"/>
              </a:rPr>
              <a:t>	</a:t>
            </a:r>
            <a:r>
              <a:rPr lang="en-US" altLang="zh-CN" dirty="0" err="1" smtClean="0">
                <a:ea typeface="宋体" panose="02010600030101010101" pitchFamily="2" charset="-122"/>
                <a:sym typeface="+mn-ea"/>
              </a:rPr>
              <a:t>str</a:t>
            </a:r>
            <a:r>
              <a:rPr lang="en-US" altLang="zh-CN" dirty="0" smtClean="0">
                <a:ea typeface="宋体" panose="02010600030101010101" pitchFamily="2" charset="-122"/>
                <a:sym typeface="+mn-ea"/>
              </a:rPr>
              <a:t> </a:t>
            </a:r>
            <a:r>
              <a:rPr lang="en-US" altLang="zh-CN" dirty="0">
                <a:ea typeface="宋体" panose="02010600030101010101" pitchFamily="2" charset="-122"/>
                <a:sym typeface="+mn-ea"/>
              </a:rPr>
              <a:t>+= n;</a:t>
            </a: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a:ea typeface="宋体" panose="02010600030101010101" pitchFamily="2" charset="-122"/>
                <a:sym typeface="+mn-ea"/>
              </a:rPr>
              <a:t>示例 — TestString类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66563" name="内容占位符 2"/>
          <p:cNvSpPr>
            <a:spLocks noGrp="1"/>
          </p:cNvSpPr>
          <p:nvPr>
            <p:ph idx="4294967295"/>
          </p:nvPr>
        </p:nvSpPr>
        <p:spPr>
          <a:xfrm>
            <a:off x="1111225" y="1160166"/>
            <a:ext cx="7537450" cy="4816475"/>
          </a:xfrm>
        </p:spPr>
        <p:txBody>
          <a:bodyPr/>
          <a:lstStyle/>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  public class </a:t>
            </a:r>
            <a:r>
              <a:rPr lang="en-US" altLang="zh-CN" sz="1800" dirty="0" err="1">
                <a:solidFill>
                  <a:srgbClr val="002060"/>
                </a:solidFill>
                <a:ea typeface="宋体" panose="02010600030101010101" pitchFamily="2" charset="-122"/>
              </a:rPr>
              <a:t>TestString</a:t>
            </a:r>
            <a:r>
              <a:rPr lang="en-US" altLang="zh-CN" sz="1800" dirty="0">
                <a:solidFill>
                  <a:srgbClr val="002060"/>
                </a:solidFill>
                <a:ea typeface="宋体" panose="02010600030101010101" pitchFamily="2" charset="-122"/>
              </a:rPr>
              <a:t>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2      public static void main(String[] </a:t>
            </a:r>
            <a:r>
              <a:rPr lang="en-US" altLang="zh-CN" sz="1800" dirty="0" err="1">
                <a:solidFill>
                  <a:srgbClr val="002060"/>
                </a:solidFill>
                <a:ea typeface="宋体" panose="02010600030101010101" pitchFamily="2" charset="-122"/>
              </a:rPr>
              <a:t>args</a:t>
            </a:r>
            <a:r>
              <a:rPr lang="en-US" altLang="zh-CN" sz="1800" dirty="0">
                <a:solidFill>
                  <a:srgbClr val="002060"/>
                </a:solidFill>
                <a:ea typeface="宋体" panose="02010600030101010101" pitchFamily="2" charset="-122"/>
              </a:rPr>
              <a:t>)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3          </a:t>
            </a:r>
            <a:r>
              <a:rPr lang="en-US" altLang="zh-CN" sz="1800" dirty="0" err="1">
                <a:solidFill>
                  <a:srgbClr val="002060"/>
                </a:solidFill>
                <a:ea typeface="宋体" panose="02010600030101010101" pitchFamily="2" charset="-122"/>
              </a:rPr>
              <a:t>int</a:t>
            </a:r>
            <a:r>
              <a:rPr lang="en-US" altLang="zh-CN" sz="1800" dirty="0">
                <a:solidFill>
                  <a:srgbClr val="002060"/>
                </a:solidFill>
                <a:ea typeface="宋体" panose="02010600030101010101" pitchFamily="2" charset="-122"/>
              </a:rPr>
              <a:t> no = 10;</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4          String </a:t>
            </a:r>
            <a:r>
              <a:rPr lang="en-US" altLang="zh-CN" sz="1800" dirty="0" err="1">
                <a:solidFill>
                  <a:srgbClr val="002060"/>
                </a:solidFill>
                <a:ea typeface="宋体" panose="02010600030101010101" pitchFamily="2" charset="-122"/>
              </a:rPr>
              <a:t>str</a:t>
            </a:r>
            <a:r>
              <a:rPr lang="en-US" altLang="zh-CN" sz="1800" dirty="0">
                <a:solidFill>
                  <a:srgbClr val="002060"/>
                </a:solidFill>
                <a:ea typeface="宋体" panose="02010600030101010101" pitchFamily="2" charset="-122"/>
              </a:rPr>
              <a:t> = "</a:t>
            </a:r>
            <a:r>
              <a:rPr lang="en-US" altLang="zh-CN" sz="1800" dirty="0" err="1">
                <a:solidFill>
                  <a:srgbClr val="002060"/>
                </a:solidFill>
                <a:ea typeface="宋体" panose="02010600030101010101" pitchFamily="2" charset="-122"/>
              </a:rPr>
              <a:t>abcdef</a:t>
            </a:r>
            <a:r>
              <a:rPr lang="en-US" altLang="zh-CN" sz="1800" dirty="0">
                <a:solidFill>
                  <a:srgbClr val="002060"/>
                </a:solidFill>
                <a:ea typeface="宋体" panose="02010600030101010101" pitchFamily="2" charset="-122"/>
              </a:rPr>
              <a:t>";</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5          String str1 = </a:t>
            </a:r>
            <a:r>
              <a:rPr lang="en-US" altLang="zh-CN" sz="1800" dirty="0" err="1">
                <a:solidFill>
                  <a:srgbClr val="002060"/>
                </a:solidFill>
                <a:ea typeface="宋体" panose="02010600030101010101" pitchFamily="2" charset="-122"/>
              </a:rPr>
              <a:t>str</a:t>
            </a:r>
            <a:r>
              <a:rPr lang="en-US" altLang="zh-CN" sz="1800" dirty="0">
                <a:solidFill>
                  <a:srgbClr val="002060"/>
                </a:solidFill>
                <a:ea typeface="宋体" panose="02010600030101010101" pitchFamily="2" charset="-122"/>
              </a:rPr>
              <a:t> + "xyz";</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6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7          str1 += "123";</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8          char c = '</a:t>
            </a:r>
            <a:r>
              <a:rPr lang="zh-CN" altLang="en-US" sz="1800" dirty="0">
                <a:solidFill>
                  <a:srgbClr val="002060"/>
                </a:solidFill>
                <a:ea typeface="宋体" panose="02010600030101010101" pitchFamily="2" charset="-122"/>
              </a:rPr>
              <a:t>国</a:t>
            </a:r>
            <a:r>
              <a:rPr lang="en-US" altLang="zh-CN" sz="1800" dirty="0">
                <a:solidFill>
                  <a:srgbClr val="002060"/>
                </a:solidFill>
                <a:ea typeface="宋体" panose="02010600030101010101" pitchFamily="2" charset="-122"/>
              </a:rPr>
              <a:t>';</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9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10         double pi = 3.1416;</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11         str1 += pi;</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12         </a:t>
            </a:r>
            <a:r>
              <a:rPr lang="en-US" altLang="zh-CN" sz="1800" dirty="0" err="1">
                <a:solidFill>
                  <a:srgbClr val="002060"/>
                </a:solidFill>
                <a:ea typeface="宋体" panose="02010600030101010101" pitchFamily="2" charset="-122"/>
              </a:rPr>
              <a:t>boolean</a:t>
            </a:r>
            <a:r>
              <a:rPr lang="en-US" altLang="zh-CN" sz="1800" dirty="0">
                <a:solidFill>
                  <a:srgbClr val="002060"/>
                </a:solidFill>
                <a:ea typeface="宋体" panose="02010600030101010101" pitchFamily="2" charset="-122"/>
              </a:rPr>
              <a:t> b = false;</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13         str1 += b;</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14         str1 += c;</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15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16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("str1 = " + str1);</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17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18 }</a:t>
            </a:r>
            <a:endParaRPr lang="en-US" altLang="zh-CN"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b="1">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03680"/>
            <a:ext cx="9527540" cy="3602355"/>
          </a:xfrm>
        </p:spPr>
        <p:txBody>
          <a:bodyPr>
            <a:normAutofit/>
          </a:bodyPr>
          <a:p>
            <a:pPr marL="457200" indent="-457200" eaLnBrk="1" hangingPunct="1">
              <a:lnSpc>
                <a:spcPct val="130000"/>
              </a:lnSpc>
              <a:buClr>
                <a:srgbClr val="ED7D31"/>
              </a:buClr>
              <a:buFont typeface="+mj-lt"/>
              <a:buAutoNum type="arabicPeriod"/>
            </a:pPr>
            <a:r>
              <a:rPr lang="zh-CN" altLang="en-US" dirty="0" smtClean="0">
                <a:ea typeface="宋体" panose="02010600030101010101" pitchFamily="2" charset="-122"/>
                <a:sym typeface="+mn-ea"/>
              </a:rPr>
              <a:t>声明</a:t>
            </a:r>
            <a:r>
              <a:rPr lang="en-US" altLang="zh-CN" dirty="0" smtClean="0">
                <a:ea typeface="宋体" panose="02010600030101010101" pitchFamily="2" charset="-122"/>
                <a:sym typeface="+mn-ea"/>
              </a:rPr>
              <a:t>Exercise05</a:t>
            </a:r>
            <a:r>
              <a:rPr lang="zh-CN" altLang="en-US" dirty="0">
                <a:ea typeface="宋体" panose="02010600030101010101" pitchFamily="2" charset="-122"/>
                <a:sym typeface="+mn-ea"/>
              </a:rPr>
              <a:t>类，</a:t>
            </a:r>
            <a:r>
              <a:rPr lang="en-US" altLang="zh-CN" dirty="0">
                <a:ea typeface="宋体" panose="02010600030101010101" pitchFamily="2" charset="-122"/>
                <a:sym typeface="+mn-ea"/>
              </a:rPr>
              <a:t>main</a:t>
            </a:r>
            <a:r>
              <a:rPr lang="zh-CN" altLang="en-US" dirty="0">
                <a:ea typeface="宋体" panose="02010600030101010101" pitchFamily="2" charset="-122"/>
                <a:sym typeface="+mn-ea"/>
              </a:rPr>
              <a:t>方法中使用</a:t>
            </a:r>
            <a:r>
              <a:rPr lang="en-US" altLang="zh-CN" dirty="0">
                <a:ea typeface="宋体" panose="02010600030101010101" pitchFamily="2" charset="-122"/>
                <a:sym typeface="+mn-ea"/>
              </a:rPr>
              <a:t>double</a:t>
            </a:r>
            <a:r>
              <a:rPr lang="zh-CN" altLang="en-US" dirty="0">
                <a:ea typeface="宋体" panose="02010600030101010101" pitchFamily="2" charset="-122"/>
                <a:sym typeface="+mn-ea"/>
              </a:rPr>
              <a:t>类型声明</a:t>
            </a:r>
            <a:r>
              <a:rPr lang="en-US" altLang="zh-CN" dirty="0">
                <a:ea typeface="宋体" panose="02010600030101010101" pitchFamily="2" charset="-122"/>
                <a:sym typeface="+mn-ea"/>
              </a:rPr>
              <a:t>var1</a:t>
            </a:r>
            <a:r>
              <a:rPr lang="zh-CN" altLang="en-US" dirty="0">
                <a:ea typeface="宋体" panose="02010600030101010101" pitchFamily="2" charset="-122"/>
                <a:sym typeface="+mn-ea"/>
              </a:rPr>
              <a:t>和</a:t>
            </a:r>
            <a:r>
              <a:rPr lang="en-US" altLang="zh-CN" dirty="0">
                <a:ea typeface="宋体" panose="02010600030101010101" pitchFamily="2" charset="-122"/>
                <a:sym typeface="+mn-ea"/>
              </a:rPr>
              <a:t>var2</a:t>
            </a:r>
            <a:r>
              <a:rPr lang="zh-CN" altLang="en-US" dirty="0">
                <a:ea typeface="宋体" panose="02010600030101010101" pitchFamily="2" charset="-122"/>
                <a:sym typeface="+mn-ea"/>
              </a:rPr>
              <a:t>变量，然后用</a:t>
            </a:r>
            <a:r>
              <a:rPr lang="en-US" altLang="zh-CN" dirty="0">
                <a:ea typeface="宋体" panose="02010600030101010101" pitchFamily="2" charset="-122"/>
                <a:sym typeface="+mn-ea"/>
              </a:rPr>
              <a:t>var2</a:t>
            </a:r>
            <a:r>
              <a:rPr lang="zh-CN" altLang="en-US" dirty="0">
                <a:ea typeface="宋体" panose="02010600030101010101" pitchFamily="2" charset="-122"/>
                <a:sym typeface="+mn-ea"/>
              </a:rPr>
              <a:t>保存</a:t>
            </a:r>
            <a:r>
              <a:rPr lang="en-US" altLang="zh-CN" dirty="0" smtClean="0">
                <a:ea typeface="宋体" panose="02010600030101010101" pitchFamily="2" charset="-122"/>
                <a:sym typeface="+mn-ea"/>
              </a:rPr>
              <a:t>var2</a:t>
            </a:r>
            <a:r>
              <a:rPr lang="zh-CN" altLang="en-US" dirty="0" smtClean="0">
                <a:ea typeface="宋体" panose="02010600030101010101" pitchFamily="2" charset="-122"/>
                <a:sym typeface="+mn-ea"/>
              </a:rPr>
              <a:t>与</a:t>
            </a:r>
            <a:r>
              <a:rPr lang="en-US" altLang="zh-CN" dirty="0" smtClean="0">
                <a:ea typeface="宋体" panose="02010600030101010101" pitchFamily="2" charset="-122"/>
                <a:sym typeface="+mn-ea"/>
              </a:rPr>
              <a:t>var1</a:t>
            </a:r>
            <a:r>
              <a:rPr lang="zh-CN" altLang="en-US" dirty="0" smtClean="0">
                <a:ea typeface="宋体" panose="02010600030101010101" pitchFamily="2" charset="-122"/>
                <a:sym typeface="+mn-ea"/>
              </a:rPr>
              <a:t>之</a:t>
            </a:r>
            <a:r>
              <a:rPr lang="zh-CN" altLang="en-US" dirty="0">
                <a:ea typeface="宋体" panose="02010600030101010101" pitchFamily="2" charset="-122"/>
                <a:sym typeface="+mn-ea"/>
              </a:rPr>
              <a:t>商。</a:t>
            </a: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2250" dirty="0">
                <a:ea typeface="宋体" panose="02010600030101010101" pitchFamily="2" charset="-122"/>
                <a:sym typeface="+mn-ea"/>
              </a:rPr>
              <a:t>声明字符串变量</a:t>
            </a:r>
            <a:r>
              <a:rPr lang="en-US" altLang="zh-CN" sz="2250" dirty="0" err="1">
                <a:ea typeface="宋体" panose="02010600030101010101" pitchFamily="2" charset="-122"/>
                <a:sym typeface="+mn-ea"/>
              </a:rPr>
              <a:t>str</a:t>
            </a:r>
            <a:r>
              <a:rPr lang="zh-CN" altLang="en-US" sz="2250" dirty="0">
                <a:ea typeface="宋体" panose="02010600030101010101" pitchFamily="2" charset="-122"/>
                <a:sym typeface="+mn-ea"/>
              </a:rPr>
              <a:t>，用</a:t>
            </a:r>
            <a:r>
              <a:rPr lang="en-US" altLang="zh-CN" sz="2250" dirty="0" err="1">
                <a:ea typeface="宋体" panose="02010600030101010101" pitchFamily="2" charset="-122"/>
                <a:sym typeface="+mn-ea"/>
              </a:rPr>
              <a:t>str</a:t>
            </a:r>
            <a:r>
              <a:rPr lang="zh-CN" altLang="en-US" sz="2250" dirty="0">
                <a:ea typeface="宋体" panose="02010600030101010101" pitchFamily="2" charset="-122"/>
                <a:sym typeface="+mn-ea"/>
              </a:rPr>
              <a:t>串接的形式表示上述计算并打印输出结果。</a:t>
            </a:r>
            <a:endParaRPr lang="zh-CN" altLang="en-US" sz="2250"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endParaRPr lang="zh-CN" altLang="en-US" sz="2250" dirty="0">
              <a:ea typeface="宋体" panose="02010600030101010101" pitchFamily="2" charset="-122"/>
              <a:sym typeface="+mn-ea"/>
            </a:endParaRPr>
          </a:p>
          <a:p>
            <a:pPr marL="0" indent="457200" eaLnBrk="1" hangingPunct="1">
              <a:lnSpc>
                <a:spcPct val="130000"/>
              </a:lnSpc>
              <a:buClr>
                <a:srgbClr val="ED7D31"/>
              </a:buClr>
              <a:buFont typeface="+mj-lt"/>
              <a:buNone/>
            </a:pPr>
            <a:r>
              <a:rPr lang="en-US" altLang="zh-CN" sz="1800" dirty="0">
                <a:ea typeface="宋体" panose="02010600030101010101" pitchFamily="2" charset="-122"/>
                <a:sym typeface="+mn-ea"/>
              </a:rPr>
              <a:t> </a:t>
            </a:r>
            <a:endParaRPr lang="en-US" altLang="zh-CN" sz="1620" dirty="0">
              <a:ea typeface="宋体" panose="02010600030101010101" pitchFamily="2" charset="-122"/>
            </a:endParaRPr>
          </a:p>
          <a:p>
            <a:pPr marL="457200" lvl="1" indent="0" eaLnBrk="1" hangingPunct="1">
              <a:lnSpc>
                <a:spcPct val="130000"/>
              </a:lnSpc>
              <a:buClr>
                <a:srgbClr val="ED7D31"/>
              </a:buClr>
              <a:buFont typeface="Wingdings" panose="05000000000000000000" charset="0"/>
              <a:buNone/>
            </a:pPr>
            <a:endParaRPr lang="en-US" dirty="0">
              <a:ea typeface="宋体" panose="02010600030101010101" pitchFamily="2" charset="-122"/>
              <a:sym typeface="+mn-ea"/>
            </a:endParaRPr>
          </a:p>
          <a:p>
            <a:pPr eaLnBrk="1" hangingPunct="1">
              <a:lnSpc>
                <a:spcPct val="130000"/>
              </a:lnSpc>
              <a:buClr>
                <a:srgbClr val="ED7D31"/>
              </a:buClr>
              <a:buFont typeface="Wingdings" panose="05000000000000000000" charset="0"/>
              <a:buChar char="n"/>
            </a:pPr>
            <a:endParaRPr lang="en-US" dirty="0">
              <a:ea typeface="宋体" panose="02010600030101010101" pitchFamily="2" charset="-122"/>
            </a:endParaRPr>
          </a:p>
          <a:p>
            <a:pPr marL="914400" lvl="1"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1561465"/>
            <a:ext cx="7338695" cy="4448175"/>
          </a:xfrm>
          <a:prstGeom prst="rect">
            <a:avLst/>
          </a:prstGeom>
          <a:noFill/>
        </p:spPr>
        <p:txBody>
          <a:bodyPr wrap="square" rtlCol="0">
            <a:spAutoFit/>
          </a:bodyPr>
          <a:lstStyle/>
          <a:p>
            <a:pPr marR="0" lvl="0" indent="0" algn="l" defTabSz="914400" rtl="0" eaLnBrk="1" fontAlgn="auto" latinLnBrk="0" hangingPunct="1">
              <a:lnSpc>
                <a:spcPct val="12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zh-CN" altLang="en-US" sz="2400" dirty="0">
                <a:ea typeface="宋体" panose="02010600030101010101" pitchFamily="2" charset="-122"/>
                <a:sym typeface="+mn-ea"/>
              </a:rPr>
              <a:t>分支语句</a:t>
            </a:r>
            <a:endParaRPr lang="zh-CN" altLang="en-US" sz="2400" dirty="0">
              <a:ea typeface="宋体" panose="02010600030101010101" pitchFamily="2" charset="-122"/>
              <a:sym typeface="+mn-ea"/>
            </a:endParaRPr>
          </a:p>
          <a:p>
            <a:pPr marL="704850" lvl="1" indent="-347980" eaLnBrk="1" hangingPunct="1">
              <a:lnSpc>
                <a:spcPct val="120000"/>
              </a:lnSpc>
              <a:buFont typeface="Arial" panose="020B0604020202020204" pitchFamily="34" charset="0"/>
              <a:buChar char="•"/>
            </a:pPr>
            <a:r>
              <a:rPr lang="en-US" altLang="zh-CN" sz="2400" dirty="0">
                <a:ea typeface="宋体" panose="02010600030101010101" pitchFamily="2" charset="-122"/>
                <a:sym typeface="+mn-ea"/>
              </a:rPr>
              <a:t>if</a:t>
            </a:r>
            <a:r>
              <a:rPr lang="zh-CN" altLang="en-US" sz="2400" dirty="0">
                <a:ea typeface="宋体" panose="02010600030101010101" pitchFamily="2" charset="-122"/>
                <a:sym typeface="+mn-ea"/>
              </a:rPr>
              <a:t>分支语句</a:t>
            </a:r>
            <a:endParaRPr lang="zh-CN" altLang="en-US" sz="2400" dirty="0">
              <a:ea typeface="宋体" panose="02010600030101010101" pitchFamily="2" charset="-122"/>
            </a:endParaRPr>
          </a:p>
          <a:p>
            <a:pPr marL="704850" lvl="1" indent="-347980" eaLnBrk="1" hangingPunct="1">
              <a:lnSpc>
                <a:spcPct val="120000"/>
              </a:lnSpc>
              <a:buFont typeface="Arial" panose="020B0604020202020204" pitchFamily="34" charset="0"/>
              <a:buChar char="•"/>
            </a:pPr>
            <a:r>
              <a:rPr lang="en-US" altLang="zh-CN" sz="2400" dirty="0">
                <a:ea typeface="宋体" panose="02010600030101010101" pitchFamily="2" charset="-122"/>
                <a:sym typeface="+mn-ea"/>
              </a:rPr>
              <a:t>switch</a:t>
            </a:r>
            <a:r>
              <a:rPr lang="zh-CN" altLang="en-US" sz="2400" dirty="0">
                <a:ea typeface="宋体" panose="02010600030101010101" pitchFamily="2" charset="-122"/>
                <a:sym typeface="+mn-ea"/>
              </a:rPr>
              <a:t>分支语句</a:t>
            </a:r>
            <a:endParaRPr lang="zh-CN" altLang="en-US" sz="2400" dirty="0">
              <a:ea typeface="宋体" panose="02010600030101010101" pitchFamily="2" charset="-122"/>
              <a:sym typeface="+mn-ea"/>
            </a:endParaRPr>
          </a:p>
          <a:p>
            <a:pPr marR="0" lvl="0" indent="0" algn="l" defTabSz="914400" rtl="0" eaLnBrk="1" fontAlgn="auto" latinLnBrk="0" hangingPunct="1">
              <a:lnSpc>
                <a:spcPct val="120000"/>
              </a:lnSpc>
              <a:spcBef>
                <a:spcPts val="0"/>
              </a:spcBef>
              <a:spcAft>
                <a:spcPts val="0"/>
              </a:spcAft>
              <a:buClrTx/>
              <a:buSzTx/>
              <a:buFont typeface="+mj-lt"/>
              <a:buNone/>
              <a:defRPr/>
            </a:pPr>
            <a:r>
              <a:rPr lang="en-US" altLang="zh-CN" sz="2400" noProof="0" dirty="0">
                <a:ln>
                  <a:noFill/>
                </a:ln>
                <a:solidFill>
                  <a:srgbClr val="ED7D31"/>
                </a:solidFill>
                <a:effectLst/>
                <a:uLnTx/>
                <a:uFillTx/>
                <a:latin typeface="+mj-ea"/>
                <a:ea typeface="+mj-ea"/>
                <a:cs typeface="+mj-ea"/>
                <a:sym typeface="思源黑体 CN Light" panose="020B0300000000000000" pitchFamily="34" charset="-122"/>
              </a:rPr>
              <a:t>2.</a:t>
            </a:r>
            <a:r>
              <a:rPr lang="zh-CN" altLang="en-US" sz="2400" dirty="0">
                <a:solidFill>
                  <a:srgbClr val="ED7D31"/>
                </a:solidFill>
                <a:ea typeface="宋体" panose="02010600030101010101" pitchFamily="2" charset="-122"/>
                <a:sym typeface="+mn-ea"/>
              </a:rPr>
              <a:t>循环语句</a:t>
            </a:r>
            <a:endParaRPr lang="zh-CN" altLang="en-US" sz="2400" dirty="0">
              <a:solidFill>
                <a:srgbClr val="ED7D31"/>
              </a:solidFill>
              <a:ea typeface="宋体" panose="02010600030101010101" pitchFamily="2" charset="-122"/>
              <a:sym typeface="+mn-ea"/>
            </a:endParaRPr>
          </a:p>
          <a:p>
            <a:pPr marL="704850" lvl="1" indent="-347980" eaLnBrk="1" hangingPunct="1">
              <a:lnSpc>
                <a:spcPct val="120000"/>
              </a:lnSpc>
              <a:buFont typeface="Arial" panose="020B0604020202020204" pitchFamily="34" charset="0"/>
              <a:buChar char="•"/>
            </a:pPr>
            <a:r>
              <a:rPr lang="en-US" altLang="zh-CN" sz="2400" dirty="0">
                <a:solidFill>
                  <a:srgbClr val="ED7D31"/>
                </a:solidFill>
                <a:ea typeface="宋体" panose="02010600030101010101" pitchFamily="2" charset="-122"/>
                <a:sym typeface="+mn-ea"/>
              </a:rPr>
              <a:t>while</a:t>
            </a:r>
            <a:r>
              <a:rPr lang="zh-CN" altLang="en-US" sz="2400" dirty="0">
                <a:solidFill>
                  <a:srgbClr val="ED7D31"/>
                </a:solidFill>
                <a:ea typeface="宋体" panose="02010600030101010101" pitchFamily="2" charset="-122"/>
                <a:sym typeface="+mn-ea"/>
              </a:rPr>
              <a:t>循环</a:t>
            </a:r>
            <a:endParaRPr lang="zh-CN" altLang="en-US" sz="2400" dirty="0">
              <a:solidFill>
                <a:srgbClr val="ED7D31"/>
              </a:solidFill>
              <a:ea typeface="宋体" panose="02010600030101010101" pitchFamily="2" charset="-122"/>
            </a:endParaRPr>
          </a:p>
          <a:p>
            <a:pPr marL="704850" lvl="1" indent="-347980" eaLnBrk="1" hangingPunct="1">
              <a:lnSpc>
                <a:spcPct val="120000"/>
              </a:lnSpc>
              <a:buFont typeface="Arial" panose="020B0604020202020204" pitchFamily="34" charset="0"/>
              <a:buChar char="•"/>
            </a:pPr>
            <a:r>
              <a:rPr lang="en-US" altLang="zh-CN" sz="2400" dirty="0">
                <a:solidFill>
                  <a:srgbClr val="ED7D31"/>
                </a:solidFill>
                <a:ea typeface="宋体" panose="02010600030101010101" pitchFamily="2" charset="-122"/>
                <a:sym typeface="+mn-ea"/>
              </a:rPr>
              <a:t>do-while</a:t>
            </a:r>
            <a:r>
              <a:rPr lang="zh-CN" altLang="en-US" sz="2400" dirty="0">
                <a:solidFill>
                  <a:srgbClr val="ED7D31"/>
                </a:solidFill>
                <a:ea typeface="宋体" panose="02010600030101010101" pitchFamily="2" charset="-122"/>
                <a:sym typeface="+mn-ea"/>
              </a:rPr>
              <a:t>循环</a:t>
            </a:r>
            <a:endParaRPr lang="zh-CN" altLang="en-US" sz="2400" dirty="0">
              <a:solidFill>
                <a:srgbClr val="ED7D31"/>
              </a:solidFill>
              <a:ea typeface="宋体" panose="02010600030101010101" pitchFamily="2" charset="-122"/>
            </a:endParaRPr>
          </a:p>
          <a:p>
            <a:pPr marL="704850" lvl="1" indent="-347980" eaLnBrk="1" hangingPunct="1">
              <a:lnSpc>
                <a:spcPct val="120000"/>
              </a:lnSpc>
              <a:buFont typeface="Arial" panose="020B0604020202020204" pitchFamily="34" charset="0"/>
              <a:buChar char="•"/>
            </a:pPr>
            <a:r>
              <a:rPr lang="en-US" altLang="zh-CN" sz="2400" dirty="0">
                <a:solidFill>
                  <a:srgbClr val="ED7D31"/>
                </a:solidFill>
                <a:ea typeface="宋体" panose="02010600030101010101" pitchFamily="2" charset="-122"/>
                <a:sym typeface="+mn-ea"/>
              </a:rPr>
              <a:t>for</a:t>
            </a:r>
            <a:r>
              <a:rPr lang="zh-CN" altLang="en-US" sz="2400" dirty="0">
                <a:solidFill>
                  <a:srgbClr val="ED7D31"/>
                </a:solidFill>
                <a:ea typeface="宋体" panose="02010600030101010101" pitchFamily="2" charset="-122"/>
                <a:sym typeface="+mn-ea"/>
              </a:rPr>
              <a:t>循环</a:t>
            </a:r>
            <a:endParaRPr lang="zh-CN" altLang="en-US" sz="2400" dirty="0">
              <a:solidFill>
                <a:srgbClr val="ED7D31"/>
              </a:solidFill>
              <a:ea typeface="宋体" panose="02010600030101010101" pitchFamily="2" charset="-122"/>
            </a:endParaRPr>
          </a:p>
          <a:p>
            <a:pPr marL="704850" lvl="1" indent="-347980" eaLnBrk="1" hangingPunct="1">
              <a:lnSpc>
                <a:spcPct val="120000"/>
              </a:lnSpc>
              <a:buFont typeface="Arial" panose="020B0604020202020204" pitchFamily="34" charset="0"/>
              <a:buChar char="•"/>
            </a:pPr>
            <a:r>
              <a:rPr lang="en-US" altLang="zh-CN" sz="2400" dirty="0">
                <a:solidFill>
                  <a:srgbClr val="ED7D31"/>
                </a:solidFill>
                <a:ea typeface="宋体" panose="02010600030101010101" pitchFamily="2" charset="-122"/>
                <a:sym typeface="+mn-ea"/>
              </a:rPr>
              <a:t>break</a:t>
            </a:r>
            <a:r>
              <a:rPr lang="zh-CN" altLang="en-US" sz="2400" dirty="0">
                <a:solidFill>
                  <a:srgbClr val="ED7D31"/>
                </a:solidFill>
                <a:ea typeface="宋体" panose="02010600030101010101" pitchFamily="2" charset="-122"/>
                <a:sym typeface="+mn-ea"/>
              </a:rPr>
              <a:t>和</a:t>
            </a:r>
            <a:r>
              <a:rPr lang="en-US" altLang="zh-CN" sz="2400" dirty="0">
                <a:solidFill>
                  <a:srgbClr val="ED7D31"/>
                </a:solidFill>
                <a:ea typeface="宋体" panose="02010600030101010101" pitchFamily="2" charset="-122"/>
                <a:sym typeface="+mn-ea"/>
              </a:rPr>
              <a:t>continue</a:t>
            </a:r>
            <a:r>
              <a:rPr lang="zh-CN" altLang="en-US" sz="2400" dirty="0">
                <a:solidFill>
                  <a:srgbClr val="ED7D31"/>
                </a:solidFill>
                <a:ea typeface="宋体" panose="02010600030101010101" pitchFamily="2" charset="-122"/>
                <a:sym typeface="+mn-ea"/>
              </a:rPr>
              <a:t>语句</a:t>
            </a:r>
            <a:endParaRPr lang="zh-CN" altLang="en-US" sz="2400" dirty="0">
              <a:solidFill>
                <a:srgbClr val="ED7D31"/>
              </a:solidFill>
              <a:ea typeface="宋体" panose="02010600030101010101" pitchFamily="2" charset="-122"/>
            </a:endParaRPr>
          </a:p>
          <a:p>
            <a:pPr marL="704850" lvl="1" indent="-347980" eaLnBrk="1" hangingPunct="1">
              <a:lnSpc>
                <a:spcPct val="120000"/>
              </a:lnSpc>
              <a:buFont typeface="Wingdings" panose="05000000000000000000" charset="0"/>
              <a:buChar char="Ø"/>
            </a:pPr>
            <a:endParaRPr lang="zh-CN" altLang="en-US" sz="2400" dirty="0">
              <a:ea typeface="宋体" panose="02010600030101010101" pitchFamily="2" charset="-122"/>
            </a:endParaRPr>
          </a:p>
          <a:p>
            <a:pPr marR="0" lvl="0" indent="457200" algn="l" defTabSz="914400" rtl="0" eaLnBrk="1" fontAlgn="auto" latinLnBrk="0" hangingPunct="1">
              <a:lnSpc>
                <a:spcPct val="10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693420" y="2648585"/>
            <a:ext cx="3386455"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第三章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分支与循环语句</a:t>
            </a:r>
            <a:endPar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分支语句</a:t>
            </a:r>
            <a:endParaRPr lang="en-US" altLang="zh-CN"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a:ea typeface="宋体" panose="02010600030101010101" pitchFamily="2" charset="-122"/>
                <a:sym typeface="+mn-ea"/>
              </a:rPr>
              <a:t>if语句与布尔表达式</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03680"/>
            <a:ext cx="9527540" cy="3531870"/>
          </a:xfrm>
        </p:spPr>
        <p:txBody>
          <a:bodyPr>
            <a:normAutofit fontScale="80000"/>
          </a:bodyPr>
          <a:p>
            <a:pPr marL="457200" indent="-457200" eaLnBrk="1" hangingPunct="1">
              <a:lnSpc>
                <a:spcPct val="130000"/>
              </a:lnSpc>
              <a:buClr>
                <a:srgbClr val="ED7D31"/>
              </a:buClr>
              <a:buFont typeface="+mj-lt"/>
              <a:buAutoNum type="arabicPeriod"/>
            </a:pPr>
            <a:r>
              <a:rPr lang="en-US" altLang="zh-CN">
                <a:ea typeface="宋体" panose="02010600030101010101" pitchFamily="2" charset="-122"/>
                <a:sym typeface="+mn-ea"/>
              </a:rPr>
              <a:t>if</a:t>
            </a:r>
            <a:r>
              <a:rPr lang="zh-CN" altLang="en-US">
                <a:ea typeface="宋体" panose="02010600030101010101" pitchFamily="2" charset="-122"/>
                <a:sym typeface="+mn-ea"/>
              </a:rPr>
              <a:t>语句是一种分支语句，或称条件语句</a:t>
            </a:r>
            <a:endParaRPr lang="zh-CN" altLang="en-US">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a:ea typeface="宋体" panose="02010600030101010101" pitchFamily="2" charset="-122"/>
                <a:sym typeface="+mn-ea"/>
              </a:rPr>
              <a:t>根据表达式的值来决定后续需要执行的代码块</a:t>
            </a: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2250">
                <a:ea typeface="宋体" panose="02010600030101010101" pitchFamily="2" charset="-122"/>
                <a:sym typeface="+mn-ea"/>
              </a:rPr>
              <a:t>语法结构：</a:t>
            </a:r>
            <a:endParaRPr lang="zh-CN" altLang="en-US" sz="2250">
              <a:ea typeface="宋体" panose="02010600030101010101" pitchFamily="2" charset="-122"/>
              <a:sym typeface="+mn-ea"/>
            </a:endParaRPr>
          </a:p>
          <a:p>
            <a:pPr marL="1162050" lvl="2" indent="-361950" eaLnBrk="1" hangingPunct="1">
              <a:buFont typeface="Times"/>
              <a:buNone/>
            </a:pPr>
            <a:r>
              <a:rPr lang="en-US" altLang="zh-CN" sz="2025">
                <a:solidFill>
                  <a:srgbClr val="ED7D31"/>
                </a:solidFill>
                <a:ea typeface="宋体" panose="02010600030101010101" pitchFamily="2" charset="-122"/>
                <a:sym typeface="+mn-ea"/>
              </a:rPr>
              <a:t>if   (</a:t>
            </a:r>
            <a:r>
              <a:rPr lang="zh-CN" altLang="en-US" sz="2025">
                <a:solidFill>
                  <a:srgbClr val="ED7D31"/>
                </a:solidFill>
                <a:ea typeface="宋体" panose="02010600030101010101" pitchFamily="2" charset="-122"/>
                <a:sym typeface="+mn-ea"/>
              </a:rPr>
              <a:t>布尔表达式） </a:t>
            </a:r>
            <a:r>
              <a:rPr lang="en-US" altLang="zh-CN" sz="2025">
                <a:solidFill>
                  <a:srgbClr val="ED7D31"/>
                </a:solidFill>
                <a:ea typeface="宋体" panose="02010600030101010101" pitchFamily="2" charset="-122"/>
                <a:sym typeface="+mn-ea"/>
              </a:rPr>
              <a:t>{</a:t>
            </a:r>
            <a:endParaRPr lang="en-US" altLang="zh-CN" sz="2025">
              <a:solidFill>
                <a:srgbClr val="ED7D31"/>
              </a:solidFill>
              <a:ea typeface="宋体" panose="02010600030101010101" pitchFamily="2" charset="-122"/>
            </a:endParaRPr>
          </a:p>
          <a:p>
            <a:pPr marL="1162050" lvl="2" indent="-361950" eaLnBrk="1" hangingPunct="1">
              <a:buFont typeface="Times"/>
              <a:buNone/>
            </a:pPr>
            <a:r>
              <a:rPr lang="en-US" altLang="zh-CN" sz="2025">
                <a:solidFill>
                  <a:srgbClr val="ED7D31"/>
                </a:solidFill>
                <a:ea typeface="宋体" panose="02010600030101010101" pitchFamily="2" charset="-122"/>
                <a:sym typeface="+mn-ea"/>
              </a:rPr>
              <a:t>	&lt;</a:t>
            </a:r>
            <a:r>
              <a:rPr lang="zh-CN" altLang="en-US" sz="2025">
                <a:solidFill>
                  <a:srgbClr val="ED7D31"/>
                </a:solidFill>
                <a:ea typeface="宋体" panose="02010600030101010101" pitchFamily="2" charset="-122"/>
                <a:sym typeface="+mn-ea"/>
              </a:rPr>
              <a:t>语句块</a:t>
            </a:r>
            <a:r>
              <a:rPr lang="en-US" altLang="zh-CN" sz="2025">
                <a:solidFill>
                  <a:srgbClr val="ED7D31"/>
                </a:solidFill>
                <a:ea typeface="宋体" panose="02010600030101010101" pitchFamily="2" charset="-122"/>
                <a:sym typeface="+mn-ea"/>
              </a:rPr>
              <a:t>&gt;</a:t>
            </a:r>
            <a:endParaRPr lang="en-US" altLang="zh-CN" sz="2025">
              <a:solidFill>
                <a:srgbClr val="ED7D31"/>
              </a:solidFill>
              <a:ea typeface="宋体" panose="02010600030101010101" pitchFamily="2" charset="-122"/>
            </a:endParaRPr>
          </a:p>
          <a:p>
            <a:pPr marL="1162050" lvl="2" indent="-361950" eaLnBrk="1" hangingPunct="1">
              <a:buFont typeface="Times"/>
              <a:buNone/>
            </a:pPr>
            <a:r>
              <a:rPr lang="en-US" altLang="zh-CN" sz="2025">
                <a:solidFill>
                  <a:srgbClr val="ED7D31"/>
                </a:solidFill>
                <a:ea typeface="宋体" panose="02010600030101010101" pitchFamily="2" charset="-122"/>
                <a:sym typeface="+mn-ea"/>
              </a:rPr>
              <a:t>}</a:t>
            </a:r>
            <a:endParaRPr lang="zh-CN" altLang="en-US" sz="2025">
              <a:solidFill>
                <a:srgbClr val="ED7D31"/>
              </a:solidFill>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sz="2250">
                <a:ea typeface="宋体" panose="02010600030101010101" pitchFamily="2" charset="-122"/>
                <a:sym typeface="+mn-ea"/>
              </a:rPr>
              <a:t>常用的布尔表达式运算符：</a:t>
            </a:r>
            <a:endParaRPr lang="zh-CN" altLang="en-US" sz="2250">
              <a:ea typeface="宋体" panose="02010600030101010101" pitchFamily="2" charset="-122"/>
              <a:sym typeface="+mn-ea"/>
            </a:endParaRPr>
          </a:p>
          <a:p>
            <a:pPr marL="0" indent="457200" eaLnBrk="1" hangingPunct="1">
              <a:lnSpc>
                <a:spcPct val="130000"/>
              </a:lnSpc>
              <a:buClr>
                <a:srgbClr val="ED7D31"/>
              </a:buClr>
              <a:buFont typeface="+mj-lt"/>
              <a:buNone/>
            </a:pPr>
            <a:r>
              <a:rPr lang="en-US" altLang="zh-CN" sz="2250">
                <a:ea typeface="宋体" panose="02010600030101010101" pitchFamily="2" charset="-122"/>
                <a:sym typeface="+mn-ea"/>
              </a:rPr>
              <a:t>==  &gt;  &lt;  &gt;=  &lt;=  !=   &amp;&amp;  ||  !</a:t>
            </a:r>
            <a:endParaRPr lang="en-US" altLang="zh-CN" sz="1620" dirty="0">
              <a:ea typeface="宋体" panose="02010600030101010101" pitchFamily="2" charset="-122"/>
            </a:endParaRPr>
          </a:p>
          <a:p>
            <a:pPr marL="457200" lvl="1" indent="0" eaLnBrk="1" hangingPunct="1">
              <a:lnSpc>
                <a:spcPct val="130000"/>
              </a:lnSpc>
              <a:buClr>
                <a:srgbClr val="ED7D31"/>
              </a:buClr>
              <a:buFont typeface="Wingdings" panose="05000000000000000000" charset="0"/>
              <a:buNone/>
            </a:pP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a:ea typeface="宋体" panose="02010600030101010101" pitchFamily="2" charset="-122"/>
                <a:sym typeface="+mn-ea"/>
              </a:rPr>
              <a:t>示例 </a:t>
            </a:r>
            <a:r>
              <a:rPr lang="en-US" sz="2400">
                <a:ea typeface="宋体" panose="02010600030101010101" pitchFamily="2" charset="-122"/>
                <a:sym typeface="+mn-ea"/>
              </a:rPr>
              <a:t>— IfTest</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8851" name="内容占位符 2"/>
          <p:cNvSpPr>
            <a:spLocks noGrp="1"/>
          </p:cNvSpPr>
          <p:nvPr>
            <p:ph idx="4294967295"/>
          </p:nvPr>
        </p:nvSpPr>
        <p:spPr>
          <a:xfrm>
            <a:off x="1315085" y="836930"/>
            <a:ext cx="7537450" cy="4154805"/>
          </a:xfrm>
        </p:spPr>
        <p:txBody>
          <a:bodyPr>
            <a:noAutofit/>
          </a:bodyPr>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public class TestIf01 {</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    public static void main(String[] args) {</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       /* //获得一个扫描器对象</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        Scanner scanner = new Scanner(System.in);</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        //从控制台读取一个整数返回给password</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        int password = scanner.nextInt();*/</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        int password = new Scanner(System.in).nextInt();</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        if (password == 123) {</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            System.out.println("密码正确");</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        }</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        System.out.println("if语句块执行后才执行我");</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    }</a:t>
            </a:r>
            <a:endParaRPr lang="en-US" sz="2000">
              <a:solidFill>
                <a:srgbClr val="002060"/>
              </a:solidFill>
              <a:ea typeface="宋体" panose="02010600030101010101" pitchFamily="2" charset="-122"/>
            </a:endParaRPr>
          </a:p>
          <a:p>
            <a:pPr marL="457200" indent="-457200" eaLnBrk="1" hangingPunct="1">
              <a:lnSpc>
                <a:spcPct val="120000"/>
              </a:lnSpc>
              <a:spcBef>
                <a:spcPct val="0"/>
              </a:spcBef>
              <a:buFont typeface="+mj-lt"/>
              <a:buAutoNum type="arabicPeriod"/>
            </a:pPr>
            <a:r>
              <a:rPr lang="en-US" sz="2000">
                <a:solidFill>
                  <a:srgbClr val="002060"/>
                </a:solidFill>
                <a:ea typeface="宋体" panose="02010600030101010101" pitchFamily="2" charset="-122"/>
              </a:rPr>
              <a:t>}</a:t>
            </a:r>
            <a:endParaRPr lang="en-US" sz="200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03680"/>
            <a:ext cx="9527540" cy="3531870"/>
          </a:xfrm>
        </p:spPr>
        <p:txBody>
          <a:bodyPr>
            <a:normAutofit/>
          </a:bodyPr>
          <a:p>
            <a:pPr marL="457200" indent="-457200" eaLnBrk="1" hangingPunct="1">
              <a:lnSpc>
                <a:spcPct val="130000"/>
              </a:lnSpc>
              <a:buClr>
                <a:srgbClr val="ED7D31"/>
              </a:buClr>
              <a:buFont typeface="+mj-lt"/>
              <a:buAutoNum type="arabicPeriod"/>
            </a:pPr>
            <a:r>
              <a:rPr lang="zh-CN" altLang="en-US" sz="2250" dirty="0" smtClean="0">
                <a:ea typeface="宋体" panose="02010600030101010101" pitchFamily="2" charset="-122"/>
                <a:sym typeface="+mn-ea"/>
              </a:rPr>
              <a:t>声明</a:t>
            </a:r>
            <a:r>
              <a:rPr lang="en-US" altLang="zh-CN" sz="2250" dirty="0" smtClean="0">
                <a:ea typeface="宋体" panose="02010600030101010101" pitchFamily="2" charset="-122"/>
                <a:sym typeface="+mn-ea"/>
              </a:rPr>
              <a:t>Exercise06</a:t>
            </a:r>
            <a:r>
              <a:rPr lang="zh-CN" altLang="en-US" sz="2250" dirty="0" smtClean="0">
                <a:ea typeface="宋体" panose="02010600030101010101" pitchFamily="2" charset="-122"/>
                <a:sym typeface="+mn-ea"/>
              </a:rPr>
              <a:t>类</a:t>
            </a:r>
            <a:r>
              <a:rPr lang="zh-CN" altLang="en-US" sz="2250" dirty="0">
                <a:ea typeface="宋体" panose="02010600030101010101" pitchFamily="2" charset="-122"/>
                <a:sym typeface="+mn-ea"/>
              </a:rPr>
              <a:t>，定义</a:t>
            </a:r>
            <a:r>
              <a:rPr lang="en-US" sz="2250" dirty="0">
                <a:ea typeface="宋体" panose="02010600030101010101" pitchFamily="2" charset="-122"/>
                <a:sym typeface="+mn-ea"/>
              </a:rPr>
              <a:t>2</a:t>
            </a:r>
            <a:r>
              <a:rPr lang="zh-CN" altLang="en-US" sz="2250" dirty="0">
                <a:ea typeface="宋体" panose="02010600030101010101" pitchFamily="2" charset="-122"/>
                <a:sym typeface="+mn-ea"/>
              </a:rPr>
              <a:t>个</a:t>
            </a:r>
            <a:r>
              <a:rPr lang="en-US" sz="2250" dirty="0" err="1">
                <a:ea typeface="宋体" panose="02010600030101010101" pitchFamily="2" charset="-122"/>
                <a:sym typeface="+mn-ea"/>
              </a:rPr>
              <a:t>int</a:t>
            </a:r>
            <a:r>
              <a:rPr lang="zh-CN" altLang="en-US" sz="2250" dirty="0">
                <a:ea typeface="宋体" panose="02010600030101010101" pitchFamily="2" charset="-122"/>
                <a:sym typeface="+mn-ea"/>
              </a:rPr>
              <a:t>变量并赋值。判断两数之和，如果大于等于</a:t>
            </a:r>
            <a:r>
              <a:rPr lang="en-US" sz="2250" dirty="0">
                <a:ea typeface="宋体" panose="02010600030101010101" pitchFamily="2" charset="-122"/>
                <a:sym typeface="+mn-ea"/>
              </a:rPr>
              <a:t>50</a:t>
            </a:r>
            <a:r>
              <a:rPr lang="zh-CN" altLang="en-US" sz="2250" dirty="0">
                <a:ea typeface="宋体" panose="02010600030101010101" pitchFamily="2" charset="-122"/>
                <a:sym typeface="+mn-ea"/>
              </a:rPr>
              <a:t>，打印“</a:t>
            </a:r>
            <a:r>
              <a:rPr lang="en-US" sz="2250" dirty="0">
                <a:ea typeface="宋体" panose="02010600030101010101" pitchFamily="2" charset="-122"/>
                <a:sym typeface="+mn-ea"/>
              </a:rPr>
              <a:t>hello world!”</a:t>
            </a:r>
            <a:endParaRPr lang="en-US" sz="2250" dirty="0">
              <a:ea typeface="宋体" panose="02010600030101010101" pitchFamily="2" charset="-122"/>
            </a:endParaRPr>
          </a:p>
          <a:p>
            <a:pPr marL="457200" indent="-457200" eaLnBrk="1" hangingPunct="1">
              <a:buClr>
                <a:srgbClr val="ED7D31"/>
              </a:buClr>
              <a:buFont typeface="+mj-lt"/>
              <a:buAutoNum type="arabicPeriod"/>
            </a:pPr>
            <a:r>
              <a:rPr lang="zh-CN" altLang="en-US" sz="2250" dirty="0" smtClean="0">
                <a:ea typeface="宋体" panose="02010600030101010101" pitchFamily="2" charset="-122"/>
                <a:sym typeface="+mn-ea"/>
              </a:rPr>
              <a:t>声明</a:t>
            </a:r>
            <a:r>
              <a:rPr lang="en-US" altLang="zh-CN" sz="2250" dirty="0" smtClean="0">
                <a:ea typeface="宋体" panose="02010600030101010101" pitchFamily="2" charset="-122"/>
                <a:sym typeface="+mn-ea"/>
              </a:rPr>
              <a:t>Exercise07</a:t>
            </a:r>
            <a:r>
              <a:rPr lang="zh-CN" altLang="en-US" sz="2250" dirty="0" smtClean="0">
                <a:ea typeface="宋体" panose="02010600030101010101" pitchFamily="2" charset="-122"/>
                <a:sym typeface="+mn-ea"/>
              </a:rPr>
              <a:t>类</a:t>
            </a:r>
            <a:r>
              <a:rPr lang="zh-CN" altLang="en-US" sz="2250" dirty="0">
                <a:ea typeface="宋体" panose="02010600030101010101" pitchFamily="2" charset="-122"/>
                <a:sym typeface="+mn-ea"/>
              </a:rPr>
              <a:t>，声明</a:t>
            </a:r>
            <a:r>
              <a:rPr lang="en-US" sz="2250" dirty="0">
                <a:ea typeface="宋体" panose="02010600030101010101" pitchFamily="2" charset="-122"/>
                <a:sym typeface="+mn-ea"/>
              </a:rPr>
              <a:t>2</a:t>
            </a:r>
            <a:r>
              <a:rPr lang="zh-CN" altLang="en-US" sz="2250" dirty="0">
                <a:ea typeface="宋体" panose="02010600030101010101" pitchFamily="2" charset="-122"/>
                <a:sym typeface="+mn-ea"/>
              </a:rPr>
              <a:t>个</a:t>
            </a:r>
            <a:r>
              <a:rPr lang="en-US" sz="2250" dirty="0">
                <a:ea typeface="宋体" panose="02010600030101010101" pitchFamily="2" charset="-122"/>
                <a:sym typeface="+mn-ea"/>
              </a:rPr>
              <a:t>double</a:t>
            </a:r>
            <a:r>
              <a:rPr lang="zh-CN" altLang="en-US" sz="2250" dirty="0">
                <a:ea typeface="宋体" panose="02010600030101010101" pitchFamily="2" charset="-122"/>
                <a:sym typeface="+mn-ea"/>
              </a:rPr>
              <a:t>变量并赋值。判断两数之差，如果大于</a:t>
            </a:r>
            <a:r>
              <a:rPr lang="en-US" altLang="zh-CN" sz="2250" dirty="0">
                <a:ea typeface="宋体" panose="02010600030101010101" pitchFamily="2" charset="-122"/>
                <a:sym typeface="+mn-ea"/>
              </a:rPr>
              <a:t>0 </a:t>
            </a:r>
            <a:r>
              <a:rPr lang="zh-CN" altLang="en-US" sz="2250" dirty="0">
                <a:ea typeface="宋体" panose="02010600030101010101" pitchFamily="2" charset="-122"/>
                <a:sym typeface="+mn-ea"/>
              </a:rPr>
              <a:t>输出第一个数，如果小于</a:t>
            </a:r>
            <a:r>
              <a:rPr lang="en-US" altLang="zh-CN" sz="2250" dirty="0">
                <a:ea typeface="宋体" panose="02010600030101010101" pitchFamily="2" charset="-122"/>
                <a:sym typeface="+mn-ea"/>
              </a:rPr>
              <a:t>0 </a:t>
            </a:r>
            <a:r>
              <a:rPr lang="zh-CN" altLang="en-US" sz="2250" dirty="0">
                <a:ea typeface="宋体" panose="02010600030101010101" pitchFamily="2" charset="-122"/>
                <a:sym typeface="+mn-ea"/>
              </a:rPr>
              <a:t>输出第二个数</a:t>
            </a:r>
            <a:r>
              <a:rPr lang="en-US" altLang="zh-CN" sz="2250" dirty="0">
                <a:ea typeface="宋体" panose="02010600030101010101" pitchFamily="2" charset="-122"/>
                <a:sym typeface="+mn-ea"/>
              </a:rPr>
              <a:t>(</a:t>
            </a:r>
            <a:r>
              <a:rPr lang="zh-CN" altLang="en-US" sz="2250" dirty="0">
                <a:ea typeface="宋体" panose="02010600030101010101" pitchFamily="2" charset="-122"/>
                <a:sym typeface="+mn-ea"/>
              </a:rPr>
              <a:t>写两个</a:t>
            </a:r>
            <a:r>
              <a:rPr lang="en-US" altLang="zh-CN" sz="2250" dirty="0">
                <a:ea typeface="宋体" panose="02010600030101010101" pitchFamily="2" charset="-122"/>
                <a:sym typeface="+mn-ea"/>
              </a:rPr>
              <a:t>if</a:t>
            </a:r>
            <a:r>
              <a:rPr lang="zh-CN" altLang="en-US" sz="2250" dirty="0">
                <a:ea typeface="宋体" panose="02010600030101010101" pitchFamily="2" charset="-122"/>
                <a:sym typeface="+mn-ea"/>
              </a:rPr>
              <a:t>语句</a:t>
            </a:r>
            <a:r>
              <a:rPr lang="en-US" altLang="zh-CN" sz="2250" dirty="0">
                <a:ea typeface="宋体" panose="02010600030101010101" pitchFamily="2" charset="-122"/>
                <a:sym typeface="+mn-ea"/>
              </a:rPr>
              <a:t>)</a:t>
            </a:r>
            <a:r>
              <a:rPr lang="zh-CN" altLang="en-US" sz="2250" dirty="0">
                <a:ea typeface="宋体" panose="02010600030101010101" pitchFamily="2" charset="-122"/>
                <a:sym typeface="+mn-ea"/>
              </a:rPr>
              <a:t>。</a:t>
            </a:r>
            <a:endParaRPr lang="zh-CN" altLang="en-US" sz="2250" dirty="0">
              <a:ea typeface="宋体" panose="02010600030101010101" pitchFamily="2" charset="-122"/>
            </a:endParaRPr>
          </a:p>
          <a:p>
            <a:pPr marL="457200" lvl="1" indent="0" eaLnBrk="1" hangingPunct="1">
              <a:lnSpc>
                <a:spcPct val="130000"/>
              </a:lnSpc>
              <a:buClr>
                <a:srgbClr val="ED7D31"/>
              </a:buClr>
              <a:buFont typeface="Wingdings" panose="05000000000000000000" charset="0"/>
              <a:buNone/>
            </a:pP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a:ea typeface="宋体" panose="02010600030101010101" pitchFamily="2" charset="-122"/>
                <a:sym typeface="+mn-ea"/>
              </a:rPr>
              <a:t>if-else语句</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03680"/>
            <a:ext cx="9527540" cy="4468495"/>
          </a:xfrm>
        </p:spPr>
        <p:txBody>
          <a:bodyPr>
            <a:normAutofit fontScale="70000"/>
          </a:bodyPr>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根据表达式的值来决定执行</a:t>
            </a:r>
            <a:r>
              <a:rPr lang="en-US" altLang="zh-CN" dirty="0">
                <a:ea typeface="宋体" panose="02010600030101010101" pitchFamily="2" charset="-122"/>
                <a:sym typeface="+mn-ea"/>
              </a:rPr>
              <a:t>if</a:t>
            </a:r>
            <a:r>
              <a:rPr lang="zh-CN" altLang="en-US" dirty="0">
                <a:ea typeface="宋体" panose="02010600030101010101" pitchFamily="2" charset="-122"/>
                <a:sym typeface="+mn-ea"/>
              </a:rPr>
              <a:t>代码块或</a:t>
            </a:r>
            <a:r>
              <a:rPr lang="en-US" altLang="zh-CN" dirty="0">
                <a:ea typeface="宋体" panose="02010600030101010101" pitchFamily="2" charset="-122"/>
                <a:sym typeface="+mn-ea"/>
              </a:rPr>
              <a:t>else</a:t>
            </a:r>
            <a:r>
              <a:rPr lang="zh-CN" altLang="en-US" dirty="0">
                <a:ea typeface="宋体" panose="02010600030101010101" pitchFamily="2" charset="-122"/>
                <a:sym typeface="+mn-ea"/>
              </a:rPr>
              <a:t>代码块</a:t>
            </a:r>
            <a:endParaRPr lang="zh-CN" altLang="en-US">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2250">
                <a:ea typeface="宋体" panose="02010600030101010101" pitchFamily="2" charset="-122"/>
                <a:sym typeface="+mn-ea"/>
              </a:rPr>
              <a:t>语法结构：</a:t>
            </a:r>
            <a:endParaRPr lang="zh-CN" altLang="en-US" sz="2250">
              <a:ea typeface="宋体" panose="02010600030101010101" pitchFamily="2" charset="-122"/>
              <a:sym typeface="+mn-ea"/>
            </a:endParaRPr>
          </a:p>
          <a:p>
            <a:pPr marL="1162050" lvl="2" indent="-361950" eaLnBrk="1" hangingPunct="1">
              <a:buFont typeface="Times"/>
              <a:buNone/>
            </a:pPr>
            <a:r>
              <a:rPr lang="en-US" altLang="zh-CN" sz="2025">
                <a:solidFill>
                  <a:srgbClr val="ED7D31"/>
                </a:solidFill>
                <a:ea typeface="宋体" panose="02010600030101010101" pitchFamily="2" charset="-122"/>
                <a:sym typeface="+mn-ea"/>
              </a:rPr>
              <a:t>if   (</a:t>
            </a:r>
            <a:r>
              <a:rPr lang="zh-CN" altLang="en-US" sz="2025">
                <a:solidFill>
                  <a:srgbClr val="ED7D31"/>
                </a:solidFill>
                <a:ea typeface="宋体" panose="02010600030101010101" pitchFamily="2" charset="-122"/>
                <a:sym typeface="+mn-ea"/>
              </a:rPr>
              <a:t>布尔表达式） </a:t>
            </a:r>
            <a:r>
              <a:rPr lang="en-US" altLang="zh-CN" sz="2025">
                <a:solidFill>
                  <a:srgbClr val="ED7D31"/>
                </a:solidFill>
                <a:ea typeface="宋体" panose="02010600030101010101" pitchFamily="2" charset="-122"/>
                <a:sym typeface="+mn-ea"/>
              </a:rPr>
              <a:t>{</a:t>
            </a:r>
            <a:endParaRPr lang="en-US" altLang="zh-CN" sz="2025">
              <a:solidFill>
                <a:srgbClr val="ED7D31"/>
              </a:solidFill>
              <a:ea typeface="宋体" panose="02010600030101010101" pitchFamily="2" charset="-122"/>
            </a:endParaRPr>
          </a:p>
          <a:p>
            <a:pPr marL="1162050" lvl="2" indent="-361950" eaLnBrk="1" hangingPunct="1">
              <a:buFont typeface="Times"/>
              <a:buNone/>
            </a:pPr>
            <a:r>
              <a:rPr lang="en-US" altLang="zh-CN" sz="2025">
                <a:solidFill>
                  <a:srgbClr val="ED7D31"/>
                </a:solidFill>
                <a:ea typeface="宋体" panose="02010600030101010101" pitchFamily="2" charset="-122"/>
                <a:sym typeface="+mn-ea"/>
              </a:rPr>
              <a:t>	&lt;</a:t>
            </a:r>
            <a:r>
              <a:rPr lang="zh-CN" altLang="en-US" sz="2025">
                <a:solidFill>
                  <a:srgbClr val="ED7D31"/>
                </a:solidFill>
                <a:ea typeface="宋体" panose="02010600030101010101" pitchFamily="2" charset="-122"/>
                <a:sym typeface="+mn-ea"/>
              </a:rPr>
              <a:t>语句块</a:t>
            </a:r>
            <a:r>
              <a:rPr lang="en-US" altLang="zh-CN" sz="2025">
                <a:solidFill>
                  <a:srgbClr val="ED7D31"/>
                </a:solidFill>
                <a:ea typeface="宋体" panose="02010600030101010101" pitchFamily="2" charset="-122"/>
                <a:sym typeface="+mn-ea"/>
              </a:rPr>
              <a:t>&gt;</a:t>
            </a:r>
            <a:endParaRPr lang="en-US" altLang="zh-CN" sz="2025">
              <a:solidFill>
                <a:srgbClr val="ED7D31"/>
              </a:solidFill>
              <a:ea typeface="宋体" panose="02010600030101010101" pitchFamily="2" charset="-122"/>
            </a:endParaRPr>
          </a:p>
          <a:p>
            <a:pPr marL="1162050" lvl="2" indent="-361950" eaLnBrk="1" hangingPunct="1">
              <a:buFont typeface="Times"/>
              <a:buNone/>
            </a:pPr>
            <a:r>
              <a:rPr lang="en-US" altLang="zh-CN" sz="1820">
                <a:solidFill>
                  <a:srgbClr val="ED7D31"/>
                </a:solidFill>
                <a:ea typeface="宋体" panose="02010600030101010101" pitchFamily="2" charset="-122"/>
                <a:sym typeface="+mn-ea"/>
              </a:rPr>
              <a:t>}</a:t>
            </a:r>
            <a:r>
              <a:rPr lang="en-US" altLang="zh-CN" sz="1820" dirty="0">
                <a:solidFill>
                  <a:srgbClr val="ED7D31"/>
                </a:solidFill>
                <a:ea typeface="宋体" panose="02010600030101010101" pitchFamily="2" charset="-122"/>
                <a:sym typeface="+mn-ea"/>
              </a:rPr>
              <a:t>else {</a:t>
            </a:r>
            <a:endParaRPr lang="en-US" altLang="zh-CN" sz="1820" dirty="0">
              <a:solidFill>
                <a:srgbClr val="ED7D31"/>
              </a:solidFill>
              <a:ea typeface="宋体" panose="02010600030101010101" pitchFamily="2" charset="-122"/>
            </a:endParaRPr>
          </a:p>
          <a:p>
            <a:pPr marL="1162050" lvl="2" indent="-361950" eaLnBrk="1" hangingPunct="1">
              <a:buFont typeface="Times"/>
              <a:buNone/>
            </a:pPr>
            <a:r>
              <a:rPr lang="en-US" altLang="zh-CN" sz="1820" dirty="0">
                <a:solidFill>
                  <a:srgbClr val="ED7D31"/>
                </a:solidFill>
                <a:ea typeface="宋体" panose="02010600030101010101" pitchFamily="2" charset="-122"/>
                <a:sym typeface="+mn-ea"/>
              </a:rPr>
              <a:t> 	&lt;</a:t>
            </a:r>
            <a:r>
              <a:rPr lang="zh-CN" altLang="en-US" sz="1820" dirty="0">
                <a:solidFill>
                  <a:srgbClr val="ED7D31"/>
                </a:solidFill>
                <a:ea typeface="宋体" panose="02010600030101010101" pitchFamily="2" charset="-122"/>
                <a:sym typeface="+mn-ea"/>
              </a:rPr>
              <a:t>语句块</a:t>
            </a:r>
            <a:r>
              <a:rPr lang="en-US" altLang="zh-CN" sz="1820" dirty="0">
                <a:solidFill>
                  <a:srgbClr val="ED7D31"/>
                </a:solidFill>
                <a:ea typeface="宋体" panose="02010600030101010101" pitchFamily="2" charset="-122"/>
                <a:sym typeface="+mn-ea"/>
              </a:rPr>
              <a:t>&gt;</a:t>
            </a:r>
            <a:endParaRPr lang="en-US" altLang="zh-CN" sz="1820" dirty="0">
              <a:solidFill>
                <a:srgbClr val="ED7D31"/>
              </a:solidFill>
              <a:ea typeface="宋体" panose="02010600030101010101" pitchFamily="2" charset="-122"/>
            </a:endParaRPr>
          </a:p>
          <a:p>
            <a:pPr marL="1162050" lvl="2" indent="-361950" eaLnBrk="1" hangingPunct="1">
              <a:buFont typeface="Times"/>
              <a:buNone/>
            </a:pPr>
            <a:r>
              <a:rPr lang="en-US" altLang="zh-CN" sz="1820" dirty="0">
                <a:solidFill>
                  <a:srgbClr val="ED7D31"/>
                </a:solidFill>
                <a:ea typeface="宋体" panose="02010600030101010101" pitchFamily="2" charset="-122"/>
                <a:sym typeface="+mn-ea"/>
              </a:rPr>
              <a:t>}</a:t>
            </a:r>
            <a:endParaRPr lang="zh-CN" altLang="en-US" sz="2025">
              <a:solidFill>
                <a:srgbClr val="ED7D31"/>
              </a:solidFill>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sz="2250" dirty="0">
                <a:ea typeface="宋体" panose="02010600030101010101" pitchFamily="2" charset="-122"/>
                <a:sym typeface="+mn-ea"/>
              </a:rPr>
              <a:t>获得控制台输入数据（暂时不需要掌握）：</a:t>
            </a:r>
            <a:endParaRPr lang="zh-CN" altLang="en-US" sz="2250">
              <a:ea typeface="宋体" panose="02010600030101010101" pitchFamily="2" charset="-122"/>
              <a:sym typeface="+mn-ea"/>
            </a:endParaRPr>
          </a:p>
          <a:p>
            <a:pPr marL="0" lvl="1" indent="457200" eaLnBrk="1" hangingPunct="1">
              <a:lnSpc>
                <a:spcPct val="130000"/>
              </a:lnSpc>
              <a:buClr>
                <a:srgbClr val="ED7D31"/>
              </a:buClr>
              <a:buFont typeface="Wingdings" panose="05000000000000000000" charset="0"/>
              <a:buNone/>
            </a:pPr>
            <a:r>
              <a:rPr lang="en-US" altLang="zh-CN" sz="2250" dirty="0" err="1">
                <a:ea typeface="宋体" panose="02010600030101010101" pitchFamily="2" charset="-122"/>
                <a:sym typeface="+mn-ea"/>
              </a:rPr>
              <a:t>   	//获得一个扫描器对象</a:t>
            </a:r>
            <a:endParaRPr lang="en-US" altLang="zh-CN" sz="2250" dirty="0" err="1">
              <a:ea typeface="宋体" panose="02010600030101010101" pitchFamily="2" charset="-122"/>
              <a:sym typeface="+mn-ea"/>
            </a:endParaRPr>
          </a:p>
          <a:p>
            <a:pPr marL="0" lvl="1" indent="457200" eaLnBrk="1" hangingPunct="1">
              <a:lnSpc>
                <a:spcPct val="130000"/>
              </a:lnSpc>
              <a:buClr>
                <a:srgbClr val="ED7D31"/>
              </a:buClr>
              <a:buFont typeface="Wingdings" panose="05000000000000000000" charset="0"/>
              <a:buNone/>
            </a:pPr>
            <a:r>
              <a:rPr lang="en-US" altLang="zh-CN" sz="2250" dirty="0">
                <a:ea typeface="宋体" panose="02010600030101010101" pitchFamily="2" charset="-122"/>
              </a:rPr>
              <a:t>        Scanner scanner = new Scanner(System.in);</a:t>
            </a:r>
            <a:endParaRPr lang="en-US" altLang="zh-CN" sz="2250" dirty="0">
              <a:ea typeface="宋体" panose="02010600030101010101" pitchFamily="2" charset="-122"/>
            </a:endParaRPr>
          </a:p>
          <a:p>
            <a:pPr marL="0" lvl="1" indent="457200" eaLnBrk="1" hangingPunct="1">
              <a:lnSpc>
                <a:spcPct val="130000"/>
              </a:lnSpc>
              <a:buClr>
                <a:srgbClr val="ED7D31"/>
              </a:buClr>
              <a:buFont typeface="Wingdings" panose="05000000000000000000" charset="0"/>
              <a:buNone/>
            </a:pPr>
            <a:r>
              <a:rPr lang="en-US" altLang="zh-CN" sz="2250" dirty="0">
                <a:ea typeface="宋体" panose="02010600030101010101" pitchFamily="2" charset="-122"/>
              </a:rPr>
              <a:t>        //从控制台读取一个整数返回给password</a:t>
            </a:r>
            <a:endParaRPr lang="en-US" altLang="zh-CN" sz="2250" dirty="0">
              <a:ea typeface="宋体" panose="02010600030101010101" pitchFamily="2" charset="-122"/>
            </a:endParaRPr>
          </a:p>
          <a:p>
            <a:pPr marL="0" lvl="1" indent="457200" eaLnBrk="1" hangingPunct="1">
              <a:lnSpc>
                <a:spcPct val="130000"/>
              </a:lnSpc>
              <a:buClr>
                <a:srgbClr val="ED7D31"/>
              </a:buClr>
              <a:buFont typeface="Wingdings" panose="05000000000000000000" charset="0"/>
              <a:buNone/>
            </a:pPr>
            <a:r>
              <a:rPr lang="en-US" altLang="zh-CN" sz="2250" dirty="0">
                <a:ea typeface="宋体" panose="02010600030101010101" pitchFamily="2" charset="-122"/>
              </a:rPr>
              <a:t>        int password = scanner.nextInt();</a:t>
            </a:r>
            <a:endParaRPr lang="en-US" altLang="zh-CN" sz="2250" dirty="0">
              <a:ea typeface="宋体" panose="02010600030101010101" pitchFamily="2" charset="-122"/>
            </a:endParaRPr>
          </a:p>
          <a:p>
            <a:pPr marL="0" lvl="1" indent="457200" eaLnBrk="1" hangingPunct="1">
              <a:lnSpc>
                <a:spcPct val="130000"/>
              </a:lnSpc>
              <a:buClr>
                <a:srgbClr val="ED7D31"/>
              </a:buClr>
              <a:buFont typeface="Wingdings" panose="05000000000000000000" charset="0"/>
              <a:buNone/>
            </a:pPr>
            <a:r>
              <a:rPr lang="zh-CN" altLang="en-US" sz="2250" dirty="0">
                <a:ea typeface="宋体" panose="02010600030101010101" pitchFamily="2" charset="-122"/>
              </a:rPr>
              <a:t>可简写为：int password = new Scanner(System.in).nextInt();</a:t>
            </a:r>
            <a:endParaRPr lang="zh-CN" altLang="en-US" sz="2250" dirty="0">
              <a:ea typeface="宋体" panose="02010600030101010101" pitchFamily="2" charset="-122"/>
            </a:endParaRPr>
          </a:p>
          <a:p>
            <a:pPr marL="457200" lvl="1" indent="0" eaLnBrk="1" hangingPunct="1">
              <a:lnSpc>
                <a:spcPct val="130000"/>
              </a:lnSpc>
              <a:buClr>
                <a:srgbClr val="ED7D31"/>
              </a:buClr>
              <a:buFont typeface="Wingdings" panose="05000000000000000000" charset="0"/>
              <a:buNone/>
            </a:pP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 IfTest1类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1923" name="内容占位符 2"/>
          <p:cNvSpPr>
            <a:spLocks noGrp="1"/>
          </p:cNvSpPr>
          <p:nvPr>
            <p:ph idx="4294967295"/>
          </p:nvPr>
        </p:nvSpPr>
        <p:spPr>
          <a:xfrm>
            <a:off x="1343317" y="925851"/>
            <a:ext cx="7537450" cy="4816475"/>
          </a:xfrm>
        </p:spPr>
        <p:txBody>
          <a:bodyPr>
            <a:noAutofit/>
          </a:bodyPr>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public class TestIf02 {</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public static void main(String[] args) {</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//获得一个扫描器对象</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Scanner scanner = new Scanner(System.in);</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//从控制台读取一个整数返回给password</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int password = scanner.nextInt();</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if (password == 123) {</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System.out.println("密码正确");</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}else{</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System.out.println("密码不正确");</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System.out.println("if语句块执行后才执行我");</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    }</a:t>
            </a:r>
            <a:endParaRPr lang="en-US" altLang="zh-CN" sz="1400">
              <a:solidFill>
                <a:srgbClr val="002060"/>
              </a:solidFill>
              <a:ea typeface="宋体" panose="02010600030101010101" pitchFamily="2" charset="-122"/>
            </a:endParaRPr>
          </a:p>
          <a:p>
            <a:pPr marL="361950" indent="-361950" eaLnBrk="1" hangingPunct="1">
              <a:lnSpc>
                <a:spcPct val="110000"/>
              </a:lnSpc>
              <a:buFont typeface="+mj-lt"/>
              <a:buAutoNum type="arabicPeriod"/>
            </a:pPr>
            <a:r>
              <a:rPr lang="en-US" altLang="zh-CN" sz="1400">
                <a:solidFill>
                  <a:srgbClr val="002060"/>
                </a:solidFill>
                <a:ea typeface="宋体" panose="02010600030101010101" pitchFamily="2" charset="-122"/>
              </a:rPr>
              <a:t>}</a:t>
            </a:r>
            <a:endParaRPr lang="en-US" altLang="zh-CN" sz="140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03680"/>
            <a:ext cx="9527540" cy="3531870"/>
          </a:xfrm>
        </p:spPr>
        <p:txBody>
          <a:bodyPr>
            <a:normAutofit lnSpcReduction="20000"/>
          </a:bodyPr>
          <a:p>
            <a:pPr marL="457200" indent="-457200" eaLnBrk="1" hangingPunct="1">
              <a:lnSpc>
                <a:spcPct val="130000"/>
              </a:lnSpc>
              <a:buClr>
                <a:srgbClr val="ED7D31"/>
              </a:buClr>
              <a:buFont typeface="+mj-lt"/>
              <a:buAutoNum type="arabicPeriod"/>
            </a:pPr>
            <a:r>
              <a:rPr lang="zh-CN" altLang="en-US" dirty="0" smtClean="0">
                <a:ea typeface="宋体" panose="02010600030101010101" pitchFamily="2" charset="-122"/>
                <a:sym typeface="+mn-ea"/>
              </a:rPr>
              <a:t>比较两个数求最大值，声明</a:t>
            </a:r>
            <a:r>
              <a:rPr lang="en-US" altLang="zh-CN" dirty="0" smtClean="0">
                <a:ea typeface="宋体" panose="02010600030101010101" pitchFamily="2" charset="-122"/>
                <a:sym typeface="+mn-ea"/>
              </a:rPr>
              <a:t>Exercise08</a:t>
            </a:r>
            <a:r>
              <a:rPr lang="zh-CN" altLang="en-US" dirty="0" smtClean="0">
                <a:ea typeface="宋体" panose="02010600030101010101" pitchFamily="2" charset="-122"/>
                <a:sym typeface="+mn-ea"/>
              </a:rPr>
              <a:t>类</a:t>
            </a:r>
            <a:r>
              <a:rPr lang="zh-CN" altLang="en-US" dirty="0">
                <a:ea typeface="宋体" panose="02010600030101010101" pitchFamily="2" charset="-122"/>
                <a:sym typeface="+mn-ea"/>
              </a:rPr>
              <a:t>，定义</a:t>
            </a:r>
            <a:r>
              <a:rPr lang="en-US" altLang="zh-CN" dirty="0">
                <a:ea typeface="宋体" panose="02010600030101010101" pitchFamily="2" charset="-122"/>
                <a:sym typeface="+mn-ea"/>
              </a:rPr>
              <a:t>2</a:t>
            </a:r>
            <a:r>
              <a:rPr lang="zh-CN" altLang="en-US" dirty="0">
                <a:ea typeface="宋体" panose="02010600030101010101" pitchFamily="2" charset="-122"/>
                <a:sym typeface="+mn-ea"/>
              </a:rPr>
              <a:t>个</a:t>
            </a:r>
            <a:r>
              <a:rPr lang="en-US" altLang="zh-CN" dirty="0" err="1">
                <a:ea typeface="宋体" panose="02010600030101010101" pitchFamily="2" charset="-122"/>
                <a:sym typeface="+mn-ea"/>
              </a:rPr>
              <a:t>int</a:t>
            </a:r>
            <a:r>
              <a:rPr lang="zh-CN" altLang="en-US" dirty="0">
                <a:ea typeface="宋体" panose="02010600030101010101" pitchFamily="2" charset="-122"/>
                <a:sym typeface="+mn-ea"/>
              </a:rPr>
              <a:t>变量并赋值。判断两数之差（第一个数减去第二个数），</a:t>
            </a:r>
            <a:r>
              <a:rPr lang="zh-CN" dirty="0">
                <a:ea typeface="宋体" panose="02010600030101010101" pitchFamily="2" charset="-122"/>
                <a:sym typeface="+mn-ea"/>
              </a:rPr>
              <a:t>如果大于</a:t>
            </a:r>
            <a:r>
              <a:rPr lang="en-US" altLang="zh-CN" dirty="0">
                <a:ea typeface="宋体" panose="02010600030101010101" pitchFamily="2" charset="-122"/>
                <a:sym typeface="+mn-ea"/>
              </a:rPr>
              <a:t>0</a:t>
            </a:r>
            <a:r>
              <a:rPr lang="zh-CN" altLang="en-US" dirty="0">
                <a:ea typeface="宋体" panose="02010600030101010101" pitchFamily="2" charset="-122"/>
                <a:sym typeface="+mn-ea"/>
              </a:rPr>
              <a:t>输出第一个数，否则输出第二个数。</a:t>
            </a: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zh-CN" altLang="en-US">
              <a:ea typeface="宋体" panose="02010600030101010101" pitchFamily="2" charset="-122"/>
            </a:endParaRPr>
          </a:p>
          <a:p>
            <a:pPr marL="457200" lvl="1" indent="0" eaLnBrk="1" hangingPunct="1">
              <a:lnSpc>
                <a:spcPct val="130000"/>
              </a:lnSpc>
              <a:buClr>
                <a:srgbClr val="ED7D31"/>
              </a:buClr>
              <a:buFont typeface="Wingdings" panose="05000000000000000000" charset="0"/>
              <a:buNone/>
            </a:pP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if-[else if]*-[else]语句</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03680"/>
            <a:ext cx="9527540" cy="3531870"/>
          </a:xfrm>
        </p:spPr>
        <p:txBody>
          <a:bodyPr>
            <a:normAutofit lnSpcReduction="20000"/>
          </a:bodyPr>
          <a:p>
            <a:pPr eaLnBrk="1" hangingPunct="1">
              <a:lnSpc>
                <a:spcPct val="130000"/>
              </a:lnSpc>
              <a:buClr>
                <a:srgbClr val="ED7D31"/>
              </a:buClr>
              <a:buFont typeface="Wingdings" panose="05000000000000000000" charset="0"/>
              <a:buChar char="Ø"/>
            </a:pPr>
            <a:r>
              <a:rPr lang="en-US" altLang="zh-CN" dirty="0">
                <a:ea typeface="宋体" panose="02010600030101010101" pitchFamily="2" charset="-122"/>
                <a:sym typeface="+mn-ea"/>
              </a:rPr>
              <a:t> if-[else if]*-[else]</a:t>
            </a:r>
            <a:endParaRPr lang="en-US" altLang="zh-CN" dirty="0">
              <a:ea typeface="宋体" panose="02010600030101010101" pitchFamily="2" charset="-122"/>
              <a:sym typeface="+mn-ea"/>
            </a:endParaRPr>
          </a:p>
          <a:p>
            <a:pPr eaLnBrk="1" hangingPunct="1">
              <a:lnSpc>
                <a:spcPct val="130000"/>
              </a:lnSpc>
              <a:buClr>
                <a:srgbClr val="ED7D31"/>
              </a:buClr>
              <a:buFont typeface="Wingdings" panose="05000000000000000000" charset="0"/>
              <a:buChar char="Ø"/>
            </a:pPr>
            <a:r>
              <a:rPr lang="en-US" altLang="zh-CN" dirty="0">
                <a:ea typeface="宋体" panose="02010600030101010101" pitchFamily="2" charset="-122"/>
                <a:sym typeface="+mn-ea"/>
              </a:rPr>
              <a:t>else if</a:t>
            </a:r>
            <a:r>
              <a:rPr lang="zh-CN" altLang="en-US" dirty="0">
                <a:ea typeface="宋体" panose="02010600030101010101" pitchFamily="2" charset="-122"/>
                <a:sym typeface="+mn-ea"/>
              </a:rPr>
              <a:t>语句可以有多个，不可以单独出现</a:t>
            </a:r>
            <a:endParaRPr lang="zh-CN" altLang="en-US" dirty="0">
              <a:ea typeface="宋体" panose="02010600030101010101" pitchFamily="2" charset="-122"/>
              <a:sym typeface="+mn-ea"/>
            </a:endParaRPr>
          </a:p>
          <a:p>
            <a:pPr eaLnBrk="1" hangingPunct="1">
              <a:lnSpc>
                <a:spcPct val="130000"/>
              </a:lnSpc>
              <a:buClr>
                <a:srgbClr val="ED7D31"/>
              </a:buClr>
              <a:buFont typeface="Wingdings" panose="05000000000000000000" charset="0"/>
              <a:buChar char="Ø"/>
            </a:pPr>
            <a:endParaRPr lang="zh-CN" altLang="en-US" dirty="0">
              <a:ea typeface="宋体" panose="02010600030101010101" pitchFamily="2" charset="-122"/>
            </a:endParaRPr>
          </a:p>
          <a:p>
            <a:pPr eaLnBrk="1" hangingPunct="1">
              <a:lnSpc>
                <a:spcPct val="130000"/>
              </a:lnSpc>
              <a:buClr>
                <a:srgbClr val="ED7D31"/>
              </a:buClr>
              <a:buFont typeface="Wingdings" panose="05000000000000000000" charset="0"/>
              <a:buChar char="Ø"/>
            </a:pPr>
            <a:endParaRPr lang="zh-CN" altLang="en-US">
              <a:ea typeface="宋体" panose="02010600030101010101" pitchFamily="2" charset="-122"/>
            </a:endParaRPr>
          </a:p>
          <a:p>
            <a:pPr lvl="1" eaLnBrk="1" hangingPunct="1">
              <a:lnSpc>
                <a:spcPct val="130000"/>
              </a:lnSpc>
              <a:buClr>
                <a:srgbClr val="ED7D31"/>
              </a:buClr>
              <a:buFont typeface="Wingdings" panose="05000000000000000000" charset="0"/>
              <a:buChar char="Ø"/>
            </a:pPr>
            <a:endParaRPr lang="en-US" dirty="0">
              <a:ea typeface="宋体" panose="02010600030101010101" pitchFamily="2" charset="-122"/>
            </a:endParaRPr>
          </a:p>
          <a:p>
            <a:pPr eaLnBrk="1" hangingPunct="1">
              <a:lnSpc>
                <a:spcPct val="130000"/>
              </a:lnSpc>
              <a:buClr>
                <a:srgbClr val="ED7D31"/>
              </a:buClr>
              <a:buFont typeface="Wingdings" panose="05000000000000000000" charset="0"/>
              <a:buChar char="Ø"/>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 IfTest2类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4995" name="内容占位符 2"/>
          <p:cNvSpPr>
            <a:spLocks noGrp="1"/>
          </p:cNvSpPr>
          <p:nvPr>
            <p:ph idx="4294967295"/>
          </p:nvPr>
        </p:nvSpPr>
        <p:spPr>
          <a:xfrm>
            <a:off x="1234440" y="891540"/>
            <a:ext cx="10628630" cy="5604510"/>
          </a:xfrm>
        </p:spPr>
        <p:txBody>
          <a:bodyPr>
            <a:noAutofit/>
          </a:bodyPr>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public class TestIf03 {</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public static void main(String[] args) {</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//获得一个扫描器对象</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Scanner scanner = new Scanner(System.in);</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//从控制台读取一个整数返回给password</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int password = scanner.nextInt();</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if (password == 123) {//员工密码</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System.out.println("员工密码正确");</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}else if(password == 456){</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System.out.println("管理员密码正确");</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}else {</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System.out.println("密码不正确");</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System.out.println("if语句块执行后才执行我");</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    }</a:t>
            </a:r>
            <a:endParaRPr lang="en-US" altLang="zh-CN" sz="1200" dirty="0">
              <a:solidFill>
                <a:srgbClr val="002060"/>
              </a:solidFill>
              <a:ea typeface="宋体" panose="02010600030101010101" pitchFamily="2" charset="-122"/>
            </a:endParaRPr>
          </a:p>
          <a:p>
            <a:pPr marL="457200" indent="-457200" eaLnBrk="1" hangingPunct="1">
              <a:lnSpc>
                <a:spcPct val="190000"/>
              </a:lnSpc>
              <a:spcBef>
                <a:spcPct val="0"/>
              </a:spcBef>
              <a:buFont typeface="+mj-lt"/>
              <a:buAutoNum type="arabicPeriod"/>
            </a:pPr>
            <a:r>
              <a:rPr lang="en-US" altLang="zh-CN" sz="1200" dirty="0">
                <a:solidFill>
                  <a:srgbClr val="002060"/>
                </a:solidFill>
                <a:ea typeface="宋体" panose="02010600030101010101" pitchFamily="2" charset="-122"/>
              </a:rPr>
              <a:t>}</a:t>
            </a:r>
            <a:endParaRPr lang="en-US" altLang="zh-CN" sz="12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文本框 2"/>
          <p:cNvSpPr txBox="1"/>
          <p:nvPr/>
        </p:nvSpPr>
        <p:spPr>
          <a:xfrm>
            <a:off x="1320800" y="1526540"/>
            <a:ext cx="8954770" cy="1816735"/>
          </a:xfrm>
          <a:prstGeom prst="rect">
            <a:avLst/>
          </a:prstGeom>
          <a:noFill/>
        </p:spPr>
        <p:txBody>
          <a:bodyPr wrap="square" rtlCol="0" anchor="t">
            <a:spAutoFit/>
          </a:bodyPr>
          <a:p>
            <a:pPr marL="514350" indent="-514350" eaLnBrk="1" hangingPunct="1">
              <a:lnSpc>
                <a:spcPct val="140000"/>
              </a:lnSpc>
              <a:buClr>
                <a:srgbClr val="ED7D31"/>
              </a:buClr>
              <a:buFont typeface="+mj-lt"/>
              <a:buAutoNum type="arabicPeriod"/>
            </a:pPr>
            <a:r>
              <a:rPr lang="zh-CN" altLang="en-US" sz="2665" dirty="0" smtClean="0">
                <a:ea typeface="宋体" panose="02010600030101010101" pitchFamily="2" charset="-122"/>
                <a:sym typeface="+mn-ea"/>
              </a:rPr>
              <a:t>声明</a:t>
            </a:r>
            <a:r>
              <a:rPr lang="en-US" altLang="zh-CN" sz="2665" dirty="0" smtClean="0">
                <a:ea typeface="宋体" panose="02010600030101010101" pitchFamily="2" charset="-122"/>
                <a:sym typeface="+mn-ea"/>
              </a:rPr>
              <a:t>Exercise09</a:t>
            </a:r>
            <a:r>
              <a:rPr lang="zh-CN" altLang="en-US" sz="2665" dirty="0" smtClean="0">
                <a:ea typeface="宋体" panose="02010600030101010101" pitchFamily="2" charset="-122"/>
                <a:sym typeface="+mn-ea"/>
              </a:rPr>
              <a:t>类，定义两个</a:t>
            </a:r>
            <a:r>
              <a:rPr lang="en-US" altLang="zh-CN" sz="2665" dirty="0" smtClean="0">
                <a:ea typeface="宋体" panose="02010600030101010101" pitchFamily="2" charset="-122"/>
                <a:sym typeface="+mn-ea"/>
              </a:rPr>
              <a:t>int</a:t>
            </a:r>
            <a:r>
              <a:rPr lang="zh-CN" altLang="en-US" sz="2665" dirty="0" smtClean="0">
                <a:ea typeface="宋体" panose="02010600030101010101" pitchFamily="2" charset="-122"/>
                <a:sym typeface="+mn-ea"/>
              </a:rPr>
              <a:t>类型的变量</a:t>
            </a:r>
            <a:r>
              <a:rPr lang="en-US" altLang="zh-CN" sz="2665" dirty="0" smtClean="0">
                <a:ea typeface="宋体" panose="02010600030101010101" pitchFamily="2" charset="-122"/>
                <a:sym typeface="+mn-ea"/>
              </a:rPr>
              <a:t>x,y</a:t>
            </a:r>
            <a:r>
              <a:rPr lang="zh-CN" altLang="en-US" sz="2665" dirty="0" smtClean="0">
                <a:ea typeface="宋体" panose="02010600030101010101" pitchFamily="2" charset="-122"/>
                <a:sym typeface="+mn-ea"/>
              </a:rPr>
              <a:t>并赋值</a:t>
            </a:r>
            <a:r>
              <a:rPr lang="zh-CN" altLang="en-US" sz="2665" dirty="0">
                <a:ea typeface="宋体" panose="02010600030101010101" pitchFamily="2" charset="-122"/>
                <a:sym typeface="+mn-ea"/>
              </a:rPr>
              <a:t>，判断两数之差，如果大于</a:t>
            </a:r>
            <a:r>
              <a:rPr lang="en-US" altLang="zh-CN" sz="2665" dirty="0">
                <a:ea typeface="宋体" panose="02010600030101010101" pitchFamily="2" charset="-122"/>
                <a:sym typeface="+mn-ea"/>
              </a:rPr>
              <a:t>0</a:t>
            </a:r>
            <a:r>
              <a:rPr lang="zh-CN" altLang="en-US" sz="2665" dirty="0">
                <a:ea typeface="宋体" panose="02010600030101010101" pitchFamily="2" charset="-122"/>
                <a:sym typeface="+mn-ea"/>
              </a:rPr>
              <a:t>，输出第一个数，如果小于</a:t>
            </a:r>
            <a:r>
              <a:rPr lang="en-US" altLang="zh-CN" sz="2665" dirty="0">
                <a:ea typeface="宋体" panose="02010600030101010101" pitchFamily="2" charset="-122"/>
                <a:sym typeface="+mn-ea"/>
              </a:rPr>
              <a:t>0</a:t>
            </a:r>
            <a:r>
              <a:rPr lang="zh-CN" altLang="en-US" sz="2665" dirty="0">
                <a:ea typeface="宋体" panose="02010600030101010101" pitchFamily="2" charset="-122"/>
                <a:sym typeface="+mn-ea"/>
              </a:rPr>
              <a:t>，输出第二个数，如果等于</a:t>
            </a:r>
            <a:r>
              <a:rPr lang="en-US" altLang="zh-CN" sz="2665" dirty="0">
                <a:ea typeface="宋体" panose="02010600030101010101" pitchFamily="2" charset="-122"/>
                <a:sym typeface="+mn-ea"/>
              </a:rPr>
              <a:t>0</a:t>
            </a:r>
            <a:r>
              <a:rPr lang="zh-CN" altLang="en-US" sz="2665" dirty="0">
                <a:ea typeface="宋体" panose="02010600030101010101" pitchFamily="2" charset="-122"/>
                <a:sym typeface="+mn-ea"/>
              </a:rPr>
              <a:t>，输出两数相等</a:t>
            </a:r>
            <a:r>
              <a:rPr lang="en-US" altLang="zh-CN" sz="2665" dirty="0">
                <a:ea typeface="宋体" panose="02010600030101010101" pitchFamily="2" charset="-122"/>
                <a:sym typeface="+mn-ea"/>
              </a:rPr>
              <a:t>;</a:t>
            </a:r>
            <a:endParaRPr lang="en-US" altLang="zh-CN" sz="2665"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switch语句</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019175"/>
            <a:ext cx="9527540" cy="5172710"/>
          </a:xfrm>
        </p:spPr>
        <p:txBody>
          <a:bodyPr>
            <a:normAutofit fontScale="90000"/>
          </a:bodyPr>
          <a:p>
            <a:pPr marL="457200" indent="-457200" eaLnBrk="1" hangingPunct="1">
              <a:lnSpc>
                <a:spcPct val="130000"/>
              </a:lnSpc>
              <a:buClr>
                <a:srgbClr val="ED7D31"/>
              </a:buClr>
              <a:buFont typeface="+mj-lt"/>
              <a:buAutoNum type="arabicPeriod"/>
            </a:pPr>
            <a:r>
              <a:rPr lang="en-US" altLang="zh-CN" sz="2665" dirty="0">
                <a:ea typeface="宋体" panose="02010600030101010101" pitchFamily="2" charset="-122"/>
                <a:sym typeface="+mn-ea"/>
              </a:rPr>
              <a:t>switch</a:t>
            </a:r>
            <a:r>
              <a:rPr lang="zh-CN" altLang="en-US" sz="2665" dirty="0">
                <a:ea typeface="宋体" panose="02010600030101010101" pitchFamily="2" charset="-122"/>
                <a:sym typeface="+mn-ea"/>
              </a:rPr>
              <a:t>是另一种分支语句</a:t>
            </a:r>
            <a:endParaRPr lang="zh-CN" altLang="en-US" sz="2665"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2665" dirty="0">
                <a:ea typeface="宋体" panose="02010600030101010101" pitchFamily="2" charset="-122"/>
                <a:sym typeface="+mn-ea"/>
              </a:rPr>
              <a:t>是</a:t>
            </a:r>
            <a:r>
              <a:rPr lang="en-US" altLang="zh-CN" sz="2665" dirty="0">
                <a:ea typeface="宋体" panose="02010600030101010101" pitchFamily="2" charset="-122"/>
                <a:sym typeface="+mn-ea"/>
              </a:rPr>
              <a:t>if-[else if]*-else</a:t>
            </a:r>
            <a:r>
              <a:rPr lang="zh-CN" altLang="en-US" sz="2665" dirty="0">
                <a:ea typeface="宋体" panose="02010600030101010101" pitchFamily="2" charset="-122"/>
                <a:sym typeface="+mn-ea"/>
              </a:rPr>
              <a:t>语句的一种替代形式</a:t>
            </a:r>
            <a:endParaRPr lang="zh-CN" altLang="en-US" sz="2665"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sz="2665" dirty="0">
                <a:ea typeface="宋体" panose="02010600030101010101" pitchFamily="2" charset="-122"/>
                <a:sym typeface="+mn-ea"/>
              </a:rPr>
              <a:t>语法一：</a:t>
            </a:r>
            <a:endParaRPr lang="zh-CN" altLang="en-US" sz="2665" dirty="0">
              <a:ea typeface="宋体" panose="02010600030101010101" pitchFamily="2" charset="-122"/>
            </a:endParaRPr>
          </a:p>
          <a:p>
            <a:pPr marL="704850" lvl="1" indent="-361950" eaLnBrk="1" hangingPunct="1">
              <a:buFont typeface="Times"/>
              <a:buNone/>
            </a:pPr>
            <a:r>
              <a:rPr lang="en-US" altLang="zh-CN" sz="2220" dirty="0">
                <a:solidFill>
                  <a:srgbClr val="ED7D31"/>
                </a:solidFill>
                <a:ea typeface="宋体" panose="02010600030101010101" pitchFamily="2" charset="-122"/>
                <a:sym typeface="+mn-ea"/>
              </a:rPr>
              <a:t>switch (&lt;</a:t>
            </a:r>
            <a:r>
              <a:rPr lang="zh-CN" altLang="en-US" sz="2220" dirty="0">
                <a:solidFill>
                  <a:srgbClr val="ED7D31"/>
                </a:solidFill>
                <a:ea typeface="宋体" panose="02010600030101010101" pitchFamily="2" charset="-122"/>
                <a:sym typeface="+mn-ea"/>
              </a:rPr>
              <a:t>表达式</a:t>
            </a:r>
            <a:r>
              <a:rPr lang="en-US" altLang="zh-CN" sz="2220" dirty="0">
                <a:solidFill>
                  <a:srgbClr val="ED7D31"/>
                </a:solidFill>
                <a:ea typeface="宋体" panose="02010600030101010101" pitchFamily="2" charset="-122"/>
                <a:sym typeface="+mn-ea"/>
              </a:rPr>
              <a:t>&gt;) {</a:t>
            </a:r>
            <a:endParaRPr lang="en-US" altLang="zh-CN" sz="2220" dirty="0">
              <a:solidFill>
                <a:srgbClr val="ED7D31"/>
              </a:solidFill>
              <a:ea typeface="宋体" panose="02010600030101010101" pitchFamily="2" charset="-122"/>
            </a:endParaRPr>
          </a:p>
          <a:p>
            <a:pPr marL="704850" lvl="1" indent="-361950" eaLnBrk="1" hangingPunct="1">
              <a:buFont typeface="Times"/>
              <a:buNone/>
            </a:pPr>
            <a:r>
              <a:rPr lang="en-US" altLang="zh-CN" sz="2220" dirty="0">
                <a:solidFill>
                  <a:srgbClr val="ED7D31"/>
                </a:solidFill>
                <a:ea typeface="宋体" panose="02010600030101010101" pitchFamily="2" charset="-122"/>
                <a:sym typeface="+mn-ea"/>
              </a:rPr>
              <a:t>    case &lt;</a:t>
            </a:r>
            <a:r>
              <a:rPr lang="zh-CN" altLang="en-US" sz="2220" dirty="0">
                <a:solidFill>
                  <a:srgbClr val="ED7D31"/>
                </a:solidFill>
                <a:ea typeface="宋体" panose="02010600030101010101" pitchFamily="2" charset="-122"/>
                <a:sym typeface="+mn-ea"/>
              </a:rPr>
              <a:t>常量</a:t>
            </a:r>
            <a:r>
              <a:rPr lang="en-US" altLang="zh-CN" sz="2220" dirty="0">
                <a:solidFill>
                  <a:srgbClr val="ED7D31"/>
                </a:solidFill>
                <a:ea typeface="宋体" panose="02010600030101010101" pitchFamily="2" charset="-122"/>
                <a:sym typeface="+mn-ea"/>
              </a:rPr>
              <a:t>1&gt;:</a:t>
            </a:r>
            <a:r>
              <a:rPr lang="zh-CN" altLang="en-US" sz="2220" dirty="0">
                <a:solidFill>
                  <a:srgbClr val="ED7D31"/>
                </a:solidFill>
                <a:ea typeface="宋体" panose="02010600030101010101" pitchFamily="2" charset="-122"/>
                <a:sym typeface="+mn-ea"/>
              </a:rPr>
              <a:t>语句块</a:t>
            </a:r>
            <a:r>
              <a:rPr lang="en-US" altLang="zh-CN" sz="2220" dirty="0">
                <a:solidFill>
                  <a:srgbClr val="ED7D31"/>
                </a:solidFill>
                <a:ea typeface="宋体" panose="02010600030101010101" pitchFamily="2" charset="-122"/>
                <a:sym typeface="+mn-ea"/>
              </a:rPr>
              <a:t>;</a:t>
            </a:r>
            <a:endParaRPr lang="zh-CN" altLang="en-US" sz="2220" dirty="0">
              <a:solidFill>
                <a:srgbClr val="ED7D31"/>
              </a:solidFill>
              <a:ea typeface="宋体" panose="02010600030101010101" pitchFamily="2" charset="-122"/>
            </a:endParaRPr>
          </a:p>
          <a:p>
            <a:pPr marL="704850" lvl="1" indent="-361950" eaLnBrk="1" hangingPunct="1">
              <a:buFont typeface="Times"/>
              <a:buNone/>
            </a:pPr>
            <a:r>
              <a:rPr lang="zh-CN" altLang="en-US" sz="2220" dirty="0">
                <a:solidFill>
                  <a:srgbClr val="ED7D31"/>
                </a:solidFill>
                <a:ea typeface="宋体" panose="02010600030101010101" pitchFamily="2" charset="-122"/>
                <a:sym typeface="+mn-ea"/>
              </a:rPr>
              <a:t>                            </a:t>
            </a:r>
            <a:r>
              <a:rPr lang="en-US" altLang="zh-CN" sz="2220" dirty="0">
                <a:solidFill>
                  <a:srgbClr val="ED7D31"/>
                </a:solidFill>
                <a:ea typeface="宋体" panose="02010600030101010101" pitchFamily="2" charset="-122"/>
                <a:sym typeface="+mn-ea"/>
              </a:rPr>
              <a:t>break;</a:t>
            </a:r>
            <a:endParaRPr lang="en-US" altLang="zh-CN" sz="2220" dirty="0">
              <a:solidFill>
                <a:srgbClr val="ED7D31"/>
              </a:solidFill>
              <a:ea typeface="宋体" panose="02010600030101010101" pitchFamily="2" charset="-122"/>
            </a:endParaRPr>
          </a:p>
          <a:p>
            <a:pPr marL="704850" lvl="1" indent="-361950" eaLnBrk="1" hangingPunct="1">
              <a:buFont typeface="Times"/>
              <a:buNone/>
            </a:pPr>
            <a:r>
              <a:rPr lang="en-US" altLang="zh-CN" sz="2220" dirty="0">
                <a:solidFill>
                  <a:srgbClr val="ED7D31"/>
                </a:solidFill>
                <a:ea typeface="宋体" panose="02010600030101010101" pitchFamily="2" charset="-122"/>
                <a:sym typeface="+mn-ea"/>
              </a:rPr>
              <a:t>    case &lt;</a:t>
            </a:r>
            <a:r>
              <a:rPr lang="zh-CN" altLang="en-US" sz="2220" dirty="0">
                <a:solidFill>
                  <a:srgbClr val="ED7D31"/>
                </a:solidFill>
                <a:ea typeface="宋体" panose="02010600030101010101" pitchFamily="2" charset="-122"/>
                <a:sym typeface="+mn-ea"/>
              </a:rPr>
              <a:t>常量</a:t>
            </a:r>
            <a:r>
              <a:rPr lang="en-US" altLang="zh-CN" sz="2220" dirty="0">
                <a:solidFill>
                  <a:srgbClr val="ED7D31"/>
                </a:solidFill>
                <a:ea typeface="宋体" panose="02010600030101010101" pitchFamily="2" charset="-122"/>
                <a:sym typeface="+mn-ea"/>
              </a:rPr>
              <a:t>2&gt;:</a:t>
            </a:r>
            <a:r>
              <a:rPr lang="zh-CN" altLang="en-US" sz="2220" dirty="0">
                <a:solidFill>
                  <a:srgbClr val="ED7D31"/>
                </a:solidFill>
                <a:ea typeface="宋体" panose="02010600030101010101" pitchFamily="2" charset="-122"/>
                <a:sym typeface="+mn-ea"/>
              </a:rPr>
              <a:t>语句块</a:t>
            </a:r>
            <a:r>
              <a:rPr lang="en-US" altLang="zh-CN" sz="2220" dirty="0">
                <a:solidFill>
                  <a:srgbClr val="ED7D31"/>
                </a:solidFill>
                <a:ea typeface="宋体" panose="02010600030101010101" pitchFamily="2" charset="-122"/>
                <a:sym typeface="+mn-ea"/>
              </a:rPr>
              <a:t>;</a:t>
            </a:r>
            <a:endParaRPr lang="zh-CN" altLang="en-US" sz="2220" dirty="0">
              <a:solidFill>
                <a:srgbClr val="ED7D31"/>
              </a:solidFill>
              <a:ea typeface="宋体" panose="02010600030101010101" pitchFamily="2" charset="-122"/>
            </a:endParaRPr>
          </a:p>
          <a:p>
            <a:pPr marL="704850" lvl="1" indent="-361950" eaLnBrk="1" hangingPunct="1">
              <a:buFont typeface="Times"/>
              <a:buNone/>
            </a:pPr>
            <a:r>
              <a:rPr lang="zh-CN" altLang="en-US" sz="2220" dirty="0">
                <a:solidFill>
                  <a:srgbClr val="ED7D31"/>
                </a:solidFill>
                <a:ea typeface="宋体" panose="02010600030101010101" pitchFamily="2" charset="-122"/>
                <a:sym typeface="+mn-ea"/>
              </a:rPr>
              <a:t>                            </a:t>
            </a:r>
            <a:r>
              <a:rPr lang="en-US" altLang="zh-CN" sz="2220" dirty="0">
                <a:solidFill>
                  <a:srgbClr val="ED7D31"/>
                </a:solidFill>
                <a:ea typeface="宋体" panose="02010600030101010101" pitchFamily="2" charset="-122"/>
                <a:sym typeface="+mn-ea"/>
              </a:rPr>
              <a:t>break;</a:t>
            </a:r>
            <a:endParaRPr lang="en-US" altLang="zh-CN" sz="2220" dirty="0">
              <a:solidFill>
                <a:srgbClr val="ED7D31"/>
              </a:solidFill>
              <a:ea typeface="宋体" panose="02010600030101010101" pitchFamily="2" charset="-122"/>
            </a:endParaRPr>
          </a:p>
          <a:p>
            <a:pPr marL="704850" lvl="1" indent="-361950" eaLnBrk="1" hangingPunct="1">
              <a:buFont typeface="Times"/>
              <a:buNone/>
            </a:pPr>
            <a:r>
              <a:rPr lang="en-US" altLang="zh-CN" sz="2220" dirty="0">
                <a:solidFill>
                  <a:srgbClr val="ED7D31"/>
                </a:solidFill>
                <a:ea typeface="宋体" panose="02010600030101010101" pitchFamily="2" charset="-122"/>
                <a:sym typeface="+mn-ea"/>
              </a:rPr>
              <a:t>    default           :</a:t>
            </a:r>
            <a:r>
              <a:rPr lang="zh-CN" altLang="en-US" sz="2220" dirty="0">
                <a:solidFill>
                  <a:srgbClr val="ED7D31"/>
                </a:solidFill>
                <a:ea typeface="宋体" panose="02010600030101010101" pitchFamily="2" charset="-122"/>
                <a:sym typeface="+mn-ea"/>
              </a:rPr>
              <a:t>语句块</a:t>
            </a:r>
            <a:r>
              <a:rPr lang="en-US" altLang="zh-CN" sz="2220" dirty="0">
                <a:solidFill>
                  <a:srgbClr val="ED7D31"/>
                </a:solidFill>
                <a:ea typeface="宋体" panose="02010600030101010101" pitchFamily="2" charset="-122"/>
                <a:sym typeface="+mn-ea"/>
              </a:rPr>
              <a:t>;</a:t>
            </a:r>
            <a:endParaRPr lang="zh-CN" altLang="en-US" sz="2220" dirty="0">
              <a:solidFill>
                <a:srgbClr val="ED7D31"/>
              </a:solidFill>
              <a:ea typeface="宋体" panose="02010600030101010101" pitchFamily="2" charset="-122"/>
            </a:endParaRPr>
          </a:p>
          <a:p>
            <a:pPr marL="704850" lvl="1" indent="-361950" eaLnBrk="1" hangingPunct="1">
              <a:buFont typeface="Times"/>
              <a:buNone/>
            </a:pPr>
            <a:r>
              <a:rPr lang="zh-CN" altLang="en-US" sz="2220" dirty="0">
                <a:solidFill>
                  <a:srgbClr val="ED7D31"/>
                </a:solidFill>
                <a:ea typeface="宋体" panose="02010600030101010101" pitchFamily="2" charset="-122"/>
                <a:sym typeface="+mn-ea"/>
              </a:rPr>
              <a:t>                            </a:t>
            </a:r>
            <a:r>
              <a:rPr lang="en-US" altLang="zh-CN" sz="2220" dirty="0">
                <a:solidFill>
                  <a:srgbClr val="ED7D31"/>
                </a:solidFill>
                <a:ea typeface="宋体" panose="02010600030101010101" pitchFamily="2" charset="-122"/>
                <a:sym typeface="+mn-ea"/>
              </a:rPr>
              <a:t>break;</a:t>
            </a:r>
            <a:endParaRPr lang="en-US" altLang="zh-CN" sz="2220" dirty="0">
              <a:solidFill>
                <a:srgbClr val="ED7D31"/>
              </a:solidFill>
              <a:ea typeface="宋体" panose="02010600030101010101" pitchFamily="2" charset="-122"/>
            </a:endParaRPr>
          </a:p>
          <a:p>
            <a:pPr marL="704850" lvl="1" indent="-361950" eaLnBrk="1" hangingPunct="1">
              <a:buFont typeface="Times"/>
              <a:buNone/>
            </a:pPr>
            <a:r>
              <a:rPr lang="en-US" altLang="zh-CN" sz="2220" dirty="0">
                <a:solidFill>
                  <a:srgbClr val="ED7D31"/>
                </a:solidFill>
                <a:ea typeface="宋体" panose="02010600030101010101" pitchFamily="2" charset="-122"/>
                <a:sym typeface="+mn-ea"/>
              </a:rPr>
              <a:t>}</a:t>
            </a:r>
            <a:endParaRPr lang="en-US" altLang="zh-CN" sz="2220" dirty="0">
              <a:solidFill>
                <a:srgbClr val="ED7D31"/>
              </a:solidFill>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2665" dirty="0">
                <a:ea typeface="宋体" panose="02010600030101010101" pitchFamily="2" charset="-122"/>
                <a:sym typeface="+mn-ea"/>
              </a:rPr>
              <a:t>表达式的值可以是</a:t>
            </a:r>
            <a:r>
              <a:rPr lang="en-US" altLang="zh-CN" sz="2665" dirty="0">
                <a:ea typeface="宋体" panose="02010600030101010101" pitchFamily="2" charset="-122"/>
                <a:sym typeface="+mn-ea"/>
              </a:rPr>
              <a:t>byte,short,int</a:t>
            </a:r>
            <a:r>
              <a:rPr lang="zh-CN" altLang="en-US" sz="2665" dirty="0">
                <a:ea typeface="宋体" panose="02010600030101010101" pitchFamily="2" charset="-122"/>
                <a:sym typeface="+mn-ea"/>
              </a:rPr>
              <a:t>、</a:t>
            </a:r>
            <a:r>
              <a:rPr lang="en-US" altLang="zh-CN" sz="2665" dirty="0">
                <a:ea typeface="宋体" panose="02010600030101010101" pitchFamily="2" charset="-122"/>
                <a:sym typeface="+mn-ea"/>
              </a:rPr>
              <a:t>char</a:t>
            </a:r>
            <a:r>
              <a:rPr lang="zh-CN" altLang="en-US" sz="2665" dirty="0">
                <a:ea typeface="宋体" panose="02010600030101010101" pitchFamily="2" charset="-122"/>
                <a:sym typeface="+mn-ea"/>
              </a:rPr>
              <a:t>、</a:t>
            </a:r>
            <a:r>
              <a:rPr lang="en-US" altLang="zh-CN" sz="2665" dirty="0">
                <a:ea typeface="宋体" panose="02010600030101010101" pitchFamily="2" charset="-122"/>
                <a:sym typeface="+mn-ea"/>
              </a:rPr>
              <a:t>String</a:t>
            </a:r>
            <a:r>
              <a:rPr lang="zh-CN" altLang="en-US" sz="2665" dirty="0">
                <a:ea typeface="宋体" panose="02010600030101010101" pitchFamily="2" charset="-122"/>
                <a:sym typeface="+mn-ea"/>
              </a:rPr>
              <a:t>和枚举</a:t>
            </a:r>
            <a:endParaRPr lang="zh-CN" altLang="en-US" dirty="0">
              <a:ea typeface="宋体" panose="02010600030101010101" pitchFamily="2" charset="-122"/>
            </a:endParaRPr>
          </a:p>
        </p:txBody>
      </p:sp>
      <p:sp>
        <p:nvSpPr>
          <p:cNvPr id="3" name="文本框 2"/>
          <p:cNvSpPr txBox="1"/>
          <p:nvPr/>
        </p:nvSpPr>
        <p:spPr>
          <a:xfrm>
            <a:off x="5333365" y="2351405"/>
            <a:ext cx="6154420" cy="2385060"/>
          </a:xfrm>
          <a:prstGeom prst="rect">
            <a:avLst/>
          </a:prstGeom>
          <a:noFill/>
        </p:spPr>
        <p:txBody>
          <a:bodyPr wrap="square" rtlCol="0">
            <a:noAutofit/>
          </a:bodyPr>
          <a:p>
            <a:pPr>
              <a:lnSpc>
                <a:spcPct val="130000"/>
              </a:lnSpc>
            </a:pPr>
            <a:r>
              <a:rPr lang="zh-CN" altLang="en-US" sz="2000"/>
              <a:t> 语法二：</a:t>
            </a:r>
            <a:endParaRPr lang="zh-CN" altLang="en-US" sz="2000"/>
          </a:p>
          <a:p>
            <a:pPr>
              <a:lnSpc>
                <a:spcPct val="130000"/>
              </a:lnSpc>
            </a:pPr>
            <a:r>
              <a:rPr lang="zh-CN" altLang="en-US" sz="2000">
                <a:solidFill>
                  <a:srgbClr val="FF0000"/>
                </a:solidFill>
              </a:rPr>
              <a:t>switch (</a:t>
            </a:r>
            <a:r>
              <a:rPr lang="en-US" altLang="zh-CN" sz="2000" dirty="0">
                <a:solidFill>
                  <a:srgbClr val="ED7D31"/>
                </a:solidFill>
                <a:ea typeface="宋体" panose="02010600030101010101" pitchFamily="2" charset="-122"/>
                <a:sym typeface="+mn-ea"/>
              </a:rPr>
              <a:t>&lt;</a:t>
            </a:r>
            <a:r>
              <a:rPr lang="zh-CN" altLang="en-US" sz="2000" dirty="0">
                <a:solidFill>
                  <a:srgbClr val="ED7D31"/>
                </a:solidFill>
                <a:ea typeface="宋体" panose="02010600030101010101" pitchFamily="2" charset="-122"/>
                <a:sym typeface="+mn-ea"/>
              </a:rPr>
              <a:t>表达式</a:t>
            </a:r>
            <a:r>
              <a:rPr lang="en-US" altLang="zh-CN" sz="2000" dirty="0">
                <a:solidFill>
                  <a:srgbClr val="ED7D31"/>
                </a:solidFill>
                <a:ea typeface="宋体" panose="02010600030101010101" pitchFamily="2" charset="-122"/>
                <a:sym typeface="+mn-ea"/>
              </a:rPr>
              <a:t>&gt;</a:t>
            </a:r>
            <a:r>
              <a:rPr lang="zh-CN" altLang="en-US" sz="2000">
                <a:solidFill>
                  <a:srgbClr val="FF0000"/>
                </a:solidFill>
              </a:rPr>
              <a:t>){</a:t>
            </a:r>
            <a:endParaRPr lang="zh-CN" altLang="en-US" sz="2000">
              <a:solidFill>
                <a:srgbClr val="FF0000"/>
              </a:solidFill>
            </a:endParaRPr>
          </a:p>
          <a:p>
            <a:pPr>
              <a:lnSpc>
                <a:spcPct val="130000"/>
              </a:lnSpc>
            </a:pPr>
            <a:r>
              <a:rPr lang="zh-CN" altLang="en-US" sz="2000">
                <a:solidFill>
                  <a:srgbClr val="FF0000"/>
                </a:solidFill>
              </a:rPr>
              <a:t>            case </a:t>
            </a:r>
            <a:r>
              <a:rPr lang="en-US" altLang="zh-CN" sz="2000" dirty="0">
                <a:solidFill>
                  <a:srgbClr val="ED7D31"/>
                </a:solidFill>
                <a:ea typeface="宋体" panose="02010600030101010101" pitchFamily="2" charset="-122"/>
                <a:sym typeface="+mn-ea"/>
              </a:rPr>
              <a:t> &lt;</a:t>
            </a:r>
            <a:r>
              <a:rPr lang="zh-CN" altLang="en-US" sz="2000" dirty="0">
                <a:solidFill>
                  <a:srgbClr val="ED7D31"/>
                </a:solidFill>
                <a:ea typeface="宋体" panose="02010600030101010101" pitchFamily="2" charset="-122"/>
                <a:sym typeface="+mn-ea"/>
              </a:rPr>
              <a:t>常量</a:t>
            </a:r>
            <a:r>
              <a:rPr lang="en-US" altLang="zh-CN" sz="2000" dirty="0">
                <a:solidFill>
                  <a:srgbClr val="ED7D31"/>
                </a:solidFill>
                <a:ea typeface="宋体" panose="02010600030101010101" pitchFamily="2" charset="-122"/>
                <a:sym typeface="+mn-ea"/>
              </a:rPr>
              <a:t>1&gt;</a:t>
            </a:r>
            <a:r>
              <a:rPr lang="zh-CN" altLang="en-US" sz="2000">
                <a:solidFill>
                  <a:srgbClr val="FF0000"/>
                </a:solidFill>
              </a:rPr>
              <a:t> -&gt;  语句块;</a:t>
            </a:r>
            <a:endParaRPr lang="zh-CN" altLang="en-US" sz="2000">
              <a:solidFill>
                <a:srgbClr val="FF0000"/>
              </a:solidFill>
            </a:endParaRPr>
          </a:p>
          <a:p>
            <a:pPr>
              <a:lnSpc>
                <a:spcPct val="130000"/>
              </a:lnSpc>
            </a:pPr>
            <a:r>
              <a:rPr lang="zh-CN" altLang="en-US" sz="2000">
                <a:solidFill>
                  <a:srgbClr val="FF0000"/>
                </a:solidFill>
              </a:rPr>
              <a:t>            case </a:t>
            </a:r>
            <a:r>
              <a:rPr lang="en-US" altLang="zh-CN" sz="2000" dirty="0">
                <a:solidFill>
                  <a:srgbClr val="ED7D31"/>
                </a:solidFill>
                <a:ea typeface="宋体" panose="02010600030101010101" pitchFamily="2" charset="-122"/>
                <a:sym typeface="+mn-ea"/>
              </a:rPr>
              <a:t>&lt;</a:t>
            </a:r>
            <a:r>
              <a:rPr lang="zh-CN" altLang="en-US" sz="2000" dirty="0">
                <a:solidFill>
                  <a:srgbClr val="ED7D31"/>
                </a:solidFill>
                <a:ea typeface="宋体" panose="02010600030101010101" pitchFamily="2" charset="-122"/>
                <a:sym typeface="+mn-ea"/>
              </a:rPr>
              <a:t>常量</a:t>
            </a:r>
            <a:r>
              <a:rPr lang="en-US" altLang="zh-CN" sz="2000" dirty="0">
                <a:solidFill>
                  <a:srgbClr val="ED7D31"/>
                </a:solidFill>
                <a:ea typeface="宋体" panose="02010600030101010101" pitchFamily="2" charset="-122"/>
                <a:sym typeface="+mn-ea"/>
              </a:rPr>
              <a:t>1&gt; </a:t>
            </a:r>
            <a:r>
              <a:rPr lang="zh-CN" altLang="en-US" sz="2000">
                <a:solidFill>
                  <a:srgbClr val="FF0000"/>
                </a:solidFill>
              </a:rPr>
              <a:t> -&gt; </a:t>
            </a:r>
            <a:r>
              <a:rPr lang="zh-CN" altLang="en-US" sz="2000">
                <a:solidFill>
                  <a:srgbClr val="FF0000"/>
                </a:solidFill>
                <a:sym typeface="+mn-ea"/>
              </a:rPr>
              <a:t>语句块</a:t>
            </a:r>
            <a:r>
              <a:rPr lang="zh-CN" altLang="en-US" sz="2000">
                <a:solidFill>
                  <a:srgbClr val="FF0000"/>
                </a:solidFill>
              </a:rPr>
              <a:t>;</a:t>
            </a:r>
            <a:endParaRPr lang="zh-CN" altLang="en-US" sz="2000">
              <a:solidFill>
                <a:srgbClr val="FF0000"/>
              </a:solidFill>
            </a:endParaRPr>
          </a:p>
          <a:p>
            <a:pPr marL="0" lvl="1">
              <a:lnSpc>
                <a:spcPct val="130000"/>
              </a:lnSpc>
            </a:pPr>
            <a:r>
              <a:rPr lang="zh-CN" altLang="en-US" sz="2000">
                <a:solidFill>
                  <a:srgbClr val="FF0000"/>
                </a:solidFill>
              </a:rPr>
              <a:t>            default -&gt; </a:t>
            </a:r>
            <a:r>
              <a:rPr lang="zh-CN" altLang="en-US" sz="2000" dirty="0">
                <a:solidFill>
                  <a:srgbClr val="ED7D31"/>
                </a:solidFill>
                <a:ea typeface="宋体" panose="02010600030101010101" pitchFamily="2" charset="-122"/>
                <a:sym typeface="+mn-ea"/>
              </a:rPr>
              <a:t>语句块</a:t>
            </a:r>
            <a:r>
              <a:rPr lang="zh-CN" altLang="en-US" sz="2000">
                <a:solidFill>
                  <a:srgbClr val="FF0000"/>
                </a:solidFill>
              </a:rPr>
              <a:t>;</a:t>
            </a:r>
            <a:endParaRPr lang="zh-CN" altLang="en-US" sz="2000">
              <a:solidFill>
                <a:srgbClr val="FF0000"/>
              </a:solidFill>
            </a:endParaRPr>
          </a:p>
          <a:p>
            <a:pPr>
              <a:lnSpc>
                <a:spcPct val="130000"/>
              </a:lnSpc>
            </a:pPr>
            <a:r>
              <a:rPr lang="zh-CN" altLang="en-US" sz="2000">
                <a:solidFill>
                  <a:srgbClr val="FF0000"/>
                </a:solidFill>
              </a:rPr>
              <a:t> }</a:t>
            </a:r>
            <a:endParaRPr lang="zh-CN" altLang="en-US" sz="20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a:ea typeface="宋体" panose="02010600030101010101" pitchFamily="2" charset="-122"/>
                <a:sym typeface="+mn-ea"/>
              </a:rPr>
              <a:t>示例 — </a:t>
            </a:r>
            <a:r>
              <a:rPr lang="en-US" altLang="zh-CN" sz="2400">
                <a:solidFill>
                  <a:srgbClr val="002060"/>
                </a:solidFill>
                <a:ea typeface="宋体" panose="02010600030101010101" pitchFamily="2" charset="-122"/>
                <a:sym typeface="+mn-ea"/>
              </a:rPr>
              <a:t>TestSwitch03 </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8067" name="内容占位符 2"/>
          <p:cNvSpPr>
            <a:spLocks noGrp="1"/>
          </p:cNvSpPr>
          <p:nvPr>
            <p:ph idx="4294967295"/>
          </p:nvPr>
        </p:nvSpPr>
        <p:spPr>
          <a:xfrm>
            <a:off x="1645577" y="960460"/>
            <a:ext cx="7537450" cy="5184775"/>
          </a:xfrm>
        </p:spPr>
        <p:txBody>
          <a:bodyPr>
            <a:noAutofit/>
          </a:bodyPr>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public class TestSwitch03 {</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public static void main(String[] args) {</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Scanner scanner = new Scanner(System.in);</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int num = scanner.nextInt();</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switch (num){</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//case条件合并</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case 1:</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case 2:</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case 3:</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System.out.println("num = " + 3);</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break;</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default:</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System.out.println("num = " + num);</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break;</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    }</a:t>
            </a:r>
            <a:endParaRPr lang="en-US" altLang="zh-CN" sz="2000">
              <a:solidFill>
                <a:srgbClr val="002060"/>
              </a:solidFill>
              <a:ea typeface="宋体" panose="02010600030101010101" pitchFamily="2" charset="-122"/>
            </a:endParaRPr>
          </a:p>
          <a:p>
            <a:pPr marL="361950" indent="-361950" eaLnBrk="1" hangingPunct="1">
              <a:spcBef>
                <a:spcPct val="0"/>
              </a:spcBef>
              <a:buFont typeface="+mj-lt"/>
              <a:buAutoNum type="arabicPeriod"/>
            </a:pPr>
            <a:r>
              <a:rPr lang="en-US" altLang="zh-CN" sz="2000">
                <a:solidFill>
                  <a:srgbClr val="002060"/>
                </a:solidFill>
                <a:ea typeface="宋体" panose="02010600030101010101" pitchFamily="2" charset="-122"/>
              </a:rPr>
              <a:t>}</a:t>
            </a:r>
            <a:endParaRPr lang="en-US" altLang="zh-CN" sz="200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 </a:t>
            </a:r>
            <a:r>
              <a:rPr lang="zh-CN" altLang="en-US" sz="2400">
                <a:ea typeface="宋体" panose="02010600030101010101" pitchFamily="2" charset="-122"/>
                <a:sym typeface="+mn-ea"/>
              </a:rPr>
              <a:t>示例 — </a:t>
            </a:r>
            <a:r>
              <a:rPr lang="en-US" altLang="zh-CN" sz="2400">
                <a:solidFill>
                  <a:srgbClr val="002060"/>
                </a:solidFill>
                <a:ea typeface="宋体" panose="02010600030101010101" pitchFamily="2" charset="-122"/>
                <a:sym typeface="+mn-ea"/>
              </a:rPr>
              <a:t>TestSwitch05 </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8067" name="内容占位符 2"/>
          <p:cNvSpPr>
            <a:spLocks noGrp="1"/>
          </p:cNvSpPr>
          <p:nvPr>
            <p:ph idx="4294967295"/>
          </p:nvPr>
        </p:nvSpPr>
        <p:spPr>
          <a:xfrm>
            <a:off x="1645577" y="960460"/>
            <a:ext cx="7537450" cy="5184775"/>
          </a:xfrm>
        </p:spPr>
        <p:txBody>
          <a:bodyPr>
            <a:noAutofit/>
          </a:bodyPr>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public class TestSwitch05 {</a:t>
            </a: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    public static void main(String[] args) {</a:t>
            </a: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        Scanner scanner = new Scanner(System.in);</a:t>
            </a: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        int num = scanner.nextInt();</a:t>
            </a: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        switch (num){</a:t>
            </a: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            case 1 -&gt; System.out.println("num = " + 1);</a:t>
            </a: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            case 2 -&gt; System.out.println("num = " + 2);</a:t>
            </a: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            case 3 -&gt; System.out.println("num = " + 3);</a:t>
            </a: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            default -&gt; System.out.println("num = " + num);</a:t>
            </a: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        }</a:t>
            </a: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    }</a:t>
            </a:r>
            <a:endParaRPr lang="en-US" altLang="zh-CN" sz="2000">
              <a:solidFill>
                <a:srgbClr val="002060"/>
              </a:solidFill>
              <a:ea typeface="宋体" panose="02010600030101010101" pitchFamily="2" charset="-122"/>
            </a:endParaRPr>
          </a:p>
          <a:p>
            <a:pPr marL="361950" indent="-361950" eaLnBrk="1" hangingPunct="1">
              <a:lnSpc>
                <a:spcPct val="130000"/>
              </a:lnSpc>
              <a:spcBef>
                <a:spcPct val="0"/>
              </a:spcBef>
              <a:buFont typeface="+mj-lt"/>
              <a:buAutoNum type="arabicPeriod"/>
            </a:pPr>
            <a:r>
              <a:rPr lang="en-US" altLang="zh-CN" sz="2000">
                <a:solidFill>
                  <a:srgbClr val="002060"/>
                </a:solidFill>
                <a:ea typeface="宋体" panose="02010600030101010101" pitchFamily="2" charset="-122"/>
              </a:rPr>
              <a:t>}</a:t>
            </a:r>
            <a:endParaRPr lang="en-US" altLang="zh-CN" sz="200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文本框 2"/>
          <p:cNvSpPr txBox="1"/>
          <p:nvPr/>
        </p:nvSpPr>
        <p:spPr>
          <a:xfrm>
            <a:off x="1320800" y="1526540"/>
            <a:ext cx="8954770" cy="2143125"/>
          </a:xfrm>
          <a:prstGeom prst="rect">
            <a:avLst/>
          </a:prstGeom>
          <a:noFill/>
        </p:spPr>
        <p:txBody>
          <a:bodyPr wrap="square" rtlCol="0" anchor="t">
            <a:spAutoFit/>
          </a:bodyPr>
          <a:p>
            <a:pPr marL="514350" indent="-514350" eaLnBrk="1" hangingPunct="1">
              <a:buClr>
                <a:srgbClr val="ED7D31"/>
              </a:buClr>
              <a:buFont typeface="+mj-lt"/>
              <a:buAutoNum type="arabicPeriod"/>
            </a:pPr>
            <a:r>
              <a:rPr lang="zh-CN" altLang="en-US" sz="2665" dirty="0" smtClean="0">
                <a:ea typeface="宋体" panose="02010600030101010101" pitchFamily="2" charset="-122"/>
                <a:sym typeface="+mn-ea"/>
              </a:rPr>
              <a:t>声明</a:t>
            </a:r>
            <a:r>
              <a:rPr lang="en-US" altLang="zh-CN" sz="2665" dirty="0" smtClean="0">
                <a:ea typeface="宋体" panose="02010600030101010101" pitchFamily="2" charset="-122"/>
                <a:sym typeface="+mn-ea"/>
              </a:rPr>
              <a:t>Exercise10</a:t>
            </a:r>
            <a:r>
              <a:rPr lang="zh-CN" altLang="en-US" sz="2665" dirty="0" smtClean="0">
                <a:ea typeface="宋体" panose="02010600030101010101" pitchFamily="2" charset="-122"/>
                <a:sym typeface="+mn-ea"/>
              </a:rPr>
              <a:t>类</a:t>
            </a:r>
            <a:r>
              <a:rPr lang="zh-CN" altLang="en-US" sz="2665" dirty="0">
                <a:ea typeface="宋体" panose="02010600030101010101" pitchFamily="2" charset="-122"/>
                <a:sym typeface="+mn-ea"/>
              </a:rPr>
              <a:t>，从控制台接收整数参数</a:t>
            </a:r>
            <a:r>
              <a:rPr lang="en-US" altLang="zh-CN" sz="2665" dirty="0">
                <a:ea typeface="宋体" panose="02010600030101010101" pitchFamily="2" charset="-122"/>
                <a:sym typeface="+mn-ea"/>
              </a:rPr>
              <a:t>.</a:t>
            </a:r>
            <a:r>
              <a:rPr lang="zh-CN" altLang="en-US" sz="2665" dirty="0">
                <a:ea typeface="宋体" panose="02010600030101010101" pitchFamily="2" charset="-122"/>
                <a:sym typeface="+mn-ea"/>
              </a:rPr>
              <a:t>如果该数为</a:t>
            </a:r>
            <a:r>
              <a:rPr lang="en-US" altLang="zh-CN" sz="2665" dirty="0">
                <a:ea typeface="宋体" panose="02010600030101010101" pitchFamily="2" charset="-122"/>
                <a:sym typeface="+mn-ea"/>
              </a:rPr>
              <a:t>1-7</a:t>
            </a:r>
            <a:r>
              <a:rPr lang="zh-CN" altLang="en-US" sz="2665" dirty="0">
                <a:ea typeface="宋体" panose="02010600030101010101" pitchFamily="2" charset="-122"/>
                <a:sym typeface="+mn-ea"/>
              </a:rPr>
              <a:t>，打印对应的星期值，否则打印“非法参数”。</a:t>
            </a:r>
            <a:endParaRPr lang="zh-CN" altLang="en-US" sz="2665" dirty="0">
              <a:ea typeface="宋体" panose="02010600030101010101" pitchFamily="2" charset="-122"/>
              <a:sym typeface="+mn-ea"/>
            </a:endParaRPr>
          </a:p>
          <a:p>
            <a:pPr marL="514350" indent="-514350" eaLnBrk="1" hangingPunct="1">
              <a:buClr>
                <a:srgbClr val="ED7D31"/>
              </a:buClr>
              <a:buFont typeface="+mj-lt"/>
              <a:buAutoNum type="arabicPeriod"/>
            </a:pPr>
            <a:r>
              <a:rPr lang="zh-CN" altLang="en-US" sz="2665" dirty="0">
                <a:ea typeface="宋体" panose="02010600030101010101" pitchFamily="2" charset="-122"/>
                <a:sym typeface="+mn-ea"/>
              </a:rPr>
              <a:t>接受参数的语句：</a:t>
            </a:r>
            <a:endParaRPr lang="zh-CN" altLang="en-US" sz="2665" dirty="0">
              <a:ea typeface="宋体" panose="02010600030101010101" pitchFamily="2" charset="-122"/>
              <a:sym typeface="+mn-ea"/>
            </a:endParaRPr>
          </a:p>
          <a:p>
            <a:pPr indent="0" eaLnBrk="1" hangingPunct="1">
              <a:buClr>
                <a:srgbClr val="ED7D31"/>
              </a:buClr>
              <a:buFont typeface="+mj-lt"/>
              <a:buNone/>
            </a:pPr>
            <a:r>
              <a:rPr lang="en-US" altLang="zh-CN" sz="2665" dirty="0">
                <a:ea typeface="宋体" panose="02010600030101010101" pitchFamily="2" charset="-122"/>
                <a:sym typeface="+mn-ea"/>
              </a:rPr>
              <a:t>        </a:t>
            </a:r>
            <a:r>
              <a:rPr lang="zh-CN" altLang="en-US" sz="2665" dirty="0">
                <a:ea typeface="宋体" panose="02010600030101010101" pitchFamily="2" charset="-122"/>
                <a:sym typeface="+mn-ea"/>
              </a:rPr>
              <a:t>Scanner scanner = new Scanner(System.in);</a:t>
            </a:r>
            <a:endParaRPr lang="zh-CN" altLang="en-US" sz="2665" dirty="0">
              <a:ea typeface="宋体" panose="02010600030101010101" pitchFamily="2" charset="-122"/>
              <a:sym typeface="+mn-ea"/>
            </a:endParaRPr>
          </a:p>
          <a:p>
            <a:pPr indent="0" eaLnBrk="1" hangingPunct="1">
              <a:buClr>
                <a:srgbClr val="ED7D31"/>
              </a:buClr>
              <a:buFont typeface="+mj-lt"/>
              <a:buNone/>
            </a:pPr>
            <a:r>
              <a:rPr lang="zh-CN" altLang="en-US" sz="2665" dirty="0">
                <a:ea typeface="宋体" panose="02010600030101010101" pitchFamily="2" charset="-122"/>
                <a:sym typeface="+mn-ea"/>
              </a:rPr>
              <a:t>        int num = scanner.nextInt();</a:t>
            </a:r>
            <a:endParaRPr lang="zh-CN" altLang="en-US" sz="2665"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switch语句做表达式</a:t>
            </a:r>
            <a:endParaRPr lang="en-US" altLang="zh-CN"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019175"/>
            <a:ext cx="9527540" cy="5172710"/>
          </a:xfrm>
        </p:spPr>
        <p:txBody>
          <a:bodyPr>
            <a:noAutofit/>
          </a:bodyPr>
          <a:p>
            <a:pPr marL="457200" indent="-457200" eaLnBrk="1" hangingPunct="1">
              <a:lnSpc>
                <a:spcPct val="130000"/>
              </a:lnSpc>
              <a:buClr>
                <a:srgbClr val="ED7D31"/>
              </a:buClr>
              <a:buFont typeface="+mj-lt"/>
              <a:buAutoNum type="arabicPeriod"/>
            </a:pPr>
            <a:r>
              <a:rPr lang="zh-CN" altLang="en-US" sz="1400" dirty="0">
                <a:ea typeface="宋体" panose="02010600030101010101" pitchFamily="2" charset="-122"/>
              </a:rPr>
              <a:t>public class TestSwitch08 {</a:t>
            </a:r>
            <a:endParaRPr lang="zh-CN" altLang="en-US" sz="140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ea typeface="宋体" panose="02010600030101010101" pitchFamily="2" charset="-122"/>
              </a:rPr>
              <a:t>    public static void main(String[] args) {</a:t>
            </a:r>
            <a:endParaRPr lang="zh-CN" altLang="en-US" sz="140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ea typeface="宋体" panose="02010600030101010101" pitchFamily="2" charset="-122"/>
              </a:rPr>
              <a:t>        Scanner scanner = new Scanner(System.in);</a:t>
            </a:r>
            <a:endParaRPr lang="zh-CN" altLang="en-US" sz="140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ea typeface="宋体" panose="02010600030101010101" pitchFamily="2" charset="-122"/>
              </a:rPr>
              <a:t>        int rank = scanner.nextInt();</a:t>
            </a:r>
            <a:endParaRPr lang="zh-CN" altLang="en-US" sz="140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ea typeface="宋体" panose="02010600030101010101" pitchFamily="2" charset="-122"/>
              </a:rPr>
              <a:t>        String money = </a:t>
            </a:r>
            <a:r>
              <a:rPr lang="zh-CN" altLang="en-US" sz="1400" dirty="0">
                <a:solidFill>
                  <a:srgbClr val="FF0000"/>
                </a:solidFill>
                <a:ea typeface="宋体" panose="02010600030101010101" pitchFamily="2" charset="-122"/>
              </a:rPr>
              <a:t>switch (rank){</a:t>
            </a:r>
            <a:endParaRPr lang="zh-CN" altLang="en-US" sz="1400" dirty="0">
              <a:solidFill>
                <a:srgbClr val="FF0000"/>
              </a:solidFill>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solidFill>
                  <a:srgbClr val="FF0000"/>
                </a:solidFill>
                <a:ea typeface="宋体" panose="02010600030101010101" pitchFamily="2" charset="-122"/>
              </a:rPr>
              <a:t>            case 1 -&gt; "奖金100W";</a:t>
            </a:r>
            <a:endParaRPr lang="zh-CN" altLang="en-US" sz="1400" dirty="0">
              <a:solidFill>
                <a:srgbClr val="FF0000"/>
              </a:solidFill>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solidFill>
                  <a:srgbClr val="FF0000"/>
                </a:solidFill>
                <a:ea typeface="宋体" panose="02010600030101010101" pitchFamily="2" charset="-122"/>
              </a:rPr>
              <a:t>            case 2 -&gt; "奖金50W";</a:t>
            </a:r>
            <a:endParaRPr lang="zh-CN" altLang="en-US" sz="1400" dirty="0">
              <a:solidFill>
                <a:srgbClr val="FF0000"/>
              </a:solidFill>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solidFill>
                  <a:srgbClr val="FF0000"/>
                </a:solidFill>
                <a:ea typeface="宋体" panose="02010600030101010101" pitchFamily="2" charset="-122"/>
              </a:rPr>
              <a:t>            case 3 -&gt; "奖金10W";</a:t>
            </a:r>
            <a:endParaRPr lang="zh-CN" altLang="en-US" sz="1400" dirty="0">
              <a:solidFill>
                <a:srgbClr val="FF0000"/>
              </a:solidFill>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solidFill>
                  <a:srgbClr val="FF0000"/>
                </a:solidFill>
                <a:ea typeface="宋体" panose="02010600030101010101" pitchFamily="2" charset="-122"/>
              </a:rPr>
              <a:t>            default -&gt; "没有奖励";</a:t>
            </a:r>
            <a:endParaRPr lang="zh-CN" altLang="en-US" sz="1400" dirty="0">
              <a:solidFill>
                <a:srgbClr val="FF0000"/>
              </a:solidFill>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solidFill>
                  <a:srgbClr val="FF0000"/>
                </a:solidFill>
                <a:ea typeface="宋体" panose="02010600030101010101" pitchFamily="2" charset="-122"/>
              </a:rPr>
              <a:t>        };</a:t>
            </a:r>
            <a:endParaRPr lang="zh-CN" altLang="en-US" sz="1400" dirty="0">
              <a:solidFill>
                <a:srgbClr val="FF0000"/>
              </a:solidFill>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ea typeface="宋体" panose="02010600030101010101" pitchFamily="2" charset="-122"/>
              </a:rPr>
              <a:t>        System.out.println(money);</a:t>
            </a:r>
            <a:endParaRPr lang="zh-CN" altLang="en-US" sz="140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ea typeface="宋体" panose="02010600030101010101" pitchFamily="2" charset="-122"/>
              </a:rPr>
              <a:t>    }</a:t>
            </a:r>
            <a:endParaRPr lang="zh-CN" altLang="en-US" sz="1400"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1400" dirty="0">
                <a:ea typeface="宋体" panose="02010600030101010101" pitchFamily="2" charset="-122"/>
              </a:rPr>
              <a:t>}</a:t>
            </a:r>
            <a:endParaRPr lang="zh-CN" altLang="en-US" sz="1400"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循环语句</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while循环</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019175"/>
            <a:ext cx="9527540" cy="5172710"/>
          </a:xfrm>
        </p:spPr>
        <p:txBody>
          <a:bodyPr>
            <a:normAutofit/>
          </a:bodyPr>
          <a:p>
            <a:pPr marL="457200" indent="-457200" eaLnBrk="1" hangingPunct="1">
              <a:lnSpc>
                <a:spcPct val="130000"/>
              </a:lnSpc>
              <a:buClr>
                <a:srgbClr val="ED7D31"/>
              </a:buClr>
              <a:buFont typeface="+mj-lt"/>
              <a:buAutoNum type="arabicPeriod"/>
            </a:pPr>
            <a:r>
              <a:rPr lang="zh-CN" altLang="en-US" sz="2665" dirty="0">
                <a:ea typeface="宋体" panose="02010600030101010101" pitchFamily="2" charset="-122"/>
                <a:sym typeface="+mn-ea"/>
              </a:rPr>
              <a:t>循环：可以让一个代码块重复执行</a:t>
            </a:r>
            <a:endParaRPr lang="zh-CN" altLang="en-US" sz="2665"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sz="2665" dirty="0">
                <a:ea typeface="宋体" panose="02010600030101010101" pitchFamily="2" charset="-122"/>
                <a:sym typeface="+mn-ea"/>
              </a:rPr>
              <a:t>语法结构：</a:t>
            </a:r>
            <a:endParaRPr lang="zh-CN" altLang="en-US" sz="2665" dirty="0">
              <a:ea typeface="宋体" panose="02010600030101010101" pitchFamily="2" charset="-122"/>
            </a:endParaRPr>
          </a:p>
          <a:p>
            <a:pPr marL="361950" indent="-361950" eaLnBrk="1" hangingPunct="1">
              <a:buFont typeface="Times"/>
              <a:buNone/>
            </a:pPr>
            <a:r>
              <a:rPr lang="en-US" altLang="zh-CN" sz="2220" dirty="0">
                <a:solidFill>
                  <a:srgbClr val="ED7D31"/>
                </a:solidFill>
                <a:ea typeface="宋体" panose="02010600030101010101" pitchFamily="2" charset="-122"/>
                <a:sym typeface="+mn-ea"/>
              </a:rPr>
              <a:t>    </a:t>
            </a:r>
            <a:r>
              <a:rPr lang="en-US" altLang="zh-CN" sz="2220" dirty="0">
                <a:solidFill>
                  <a:srgbClr val="ED7D31"/>
                </a:solidFill>
                <a:ea typeface="宋体" panose="02010600030101010101" pitchFamily="2" charset="-122"/>
                <a:sym typeface="+mn-ea"/>
              </a:rPr>
              <a:t>while (&lt;</a:t>
            </a:r>
            <a:r>
              <a:rPr lang="zh-CN" altLang="en-US" sz="2220" dirty="0">
                <a:solidFill>
                  <a:srgbClr val="ED7D31"/>
                </a:solidFill>
                <a:ea typeface="宋体" panose="02010600030101010101" pitchFamily="2" charset="-122"/>
                <a:sym typeface="+mn-ea"/>
              </a:rPr>
              <a:t>布尔表达式</a:t>
            </a:r>
            <a:r>
              <a:rPr lang="en-US" altLang="zh-CN" sz="2220" dirty="0">
                <a:solidFill>
                  <a:srgbClr val="ED7D31"/>
                </a:solidFill>
                <a:ea typeface="宋体" panose="02010600030101010101" pitchFamily="2" charset="-122"/>
                <a:sym typeface="+mn-ea"/>
              </a:rPr>
              <a:t>&gt;) {</a:t>
            </a:r>
            <a:endParaRPr lang="en-US" altLang="zh-CN" sz="2220" dirty="0">
              <a:solidFill>
                <a:srgbClr val="ED7D31"/>
              </a:solidFill>
              <a:ea typeface="宋体" panose="02010600030101010101" pitchFamily="2" charset="-122"/>
            </a:endParaRPr>
          </a:p>
          <a:p>
            <a:pPr marL="361950" indent="-361950" eaLnBrk="1" hangingPunct="1">
              <a:buFont typeface="Times"/>
              <a:buNone/>
            </a:pPr>
            <a:r>
              <a:rPr lang="en-US" altLang="zh-CN" sz="2220" dirty="0">
                <a:solidFill>
                  <a:srgbClr val="ED7D31"/>
                </a:solidFill>
                <a:ea typeface="宋体" panose="02010600030101010101" pitchFamily="2" charset="-122"/>
                <a:sym typeface="+mn-ea"/>
              </a:rPr>
              <a:t>	        </a:t>
            </a:r>
            <a:r>
              <a:rPr lang="zh-CN" altLang="en-US" sz="2220" dirty="0">
                <a:solidFill>
                  <a:srgbClr val="ED7D31"/>
                </a:solidFill>
                <a:ea typeface="宋体" panose="02010600030101010101" pitchFamily="2" charset="-122"/>
                <a:sym typeface="+mn-ea"/>
              </a:rPr>
              <a:t>语句块</a:t>
            </a:r>
            <a:endParaRPr lang="zh-CN" altLang="en-US" sz="2220" dirty="0">
              <a:solidFill>
                <a:srgbClr val="ED7D31"/>
              </a:solidFill>
              <a:ea typeface="宋体" panose="02010600030101010101" pitchFamily="2" charset="-122"/>
            </a:endParaRPr>
          </a:p>
          <a:p>
            <a:pPr marL="361950" indent="-361950" eaLnBrk="1" hangingPunct="1">
              <a:buFont typeface="Times"/>
              <a:buNone/>
            </a:pPr>
            <a:r>
              <a:rPr lang="zh-CN" altLang="en-US" sz="2220" dirty="0">
                <a:solidFill>
                  <a:srgbClr val="ED7D31"/>
                </a:solidFill>
                <a:ea typeface="宋体" panose="02010600030101010101" pitchFamily="2" charset="-122"/>
                <a:sym typeface="+mn-ea"/>
              </a:rPr>
              <a:t>	</a:t>
            </a:r>
            <a:r>
              <a:rPr lang="en-US" altLang="zh-CN" sz="2220" dirty="0">
                <a:solidFill>
                  <a:srgbClr val="ED7D31"/>
                </a:solidFill>
                <a:ea typeface="宋体" panose="02010600030101010101" pitchFamily="2" charset="-122"/>
                <a:sym typeface="+mn-ea"/>
              </a:rPr>
              <a:t>}</a:t>
            </a:r>
            <a:endParaRPr lang="en-US" altLang="zh-CN" sz="2220" dirty="0">
              <a:solidFill>
                <a:srgbClr val="ED7D31"/>
              </a:solidFill>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2665" dirty="0">
                <a:ea typeface="宋体" panose="02010600030101010101" pitchFamily="2" charset="-122"/>
                <a:sym typeface="+mn-ea"/>
              </a:rPr>
              <a:t>例如：</a:t>
            </a:r>
            <a:endParaRPr lang="zh-CN" altLang="en-US" sz="2665" dirty="0">
              <a:ea typeface="宋体" panose="02010600030101010101" pitchFamily="2" charset="-122"/>
            </a:endParaRPr>
          </a:p>
          <a:p>
            <a:pPr marL="819150" lvl="1" indent="-361950" eaLnBrk="1" hangingPunct="1">
              <a:buFont typeface="Times"/>
              <a:buNone/>
            </a:pPr>
            <a:r>
              <a:rPr lang="en-US" altLang="zh-CN" sz="2220" dirty="0" err="1">
                <a:solidFill>
                  <a:srgbClr val="ED7D31"/>
                </a:solidFill>
                <a:ea typeface="宋体" panose="02010600030101010101" pitchFamily="2" charset="-122"/>
                <a:sym typeface="+mn-ea"/>
              </a:rPr>
              <a:t>int</a:t>
            </a:r>
            <a:r>
              <a:rPr lang="en-US" altLang="zh-CN" sz="2220" dirty="0">
                <a:solidFill>
                  <a:srgbClr val="ED7D31"/>
                </a:solidFill>
                <a:ea typeface="宋体" panose="02010600030101010101" pitchFamily="2" charset="-122"/>
                <a:sym typeface="+mn-ea"/>
              </a:rPr>
              <a:t> </a:t>
            </a:r>
            <a:r>
              <a:rPr lang="en-US" altLang="zh-CN" sz="2220" dirty="0" err="1">
                <a:solidFill>
                  <a:srgbClr val="ED7D31"/>
                </a:solidFill>
                <a:ea typeface="宋体" panose="02010600030101010101" pitchFamily="2" charset="-122"/>
                <a:sym typeface="+mn-ea"/>
              </a:rPr>
              <a:t>i</a:t>
            </a:r>
            <a:r>
              <a:rPr lang="en-US" altLang="zh-CN" sz="2220" dirty="0">
                <a:solidFill>
                  <a:srgbClr val="ED7D31"/>
                </a:solidFill>
                <a:ea typeface="宋体" panose="02010600030101010101" pitchFamily="2" charset="-122"/>
                <a:sym typeface="+mn-ea"/>
              </a:rPr>
              <a:t> = 0;</a:t>
            </a:r>
            <a:endParaRPr lang="en-US" altLang="zh-CN" sz="2220" dirty="0">
              <a:solidFill>
                <a:srgbClr val="ED7D31"/>
              </a:solidFill>
              <a:ea typeface="宋体" panose="02010600030101010101" pitchFamily="2" charset="-122"/>
            </a:endParaRPr>
          </a:p>
          <a:p>
            <a:pPr marL="819150" lvl="1" indent="-361950" eaLnBrk="1" hangingPunct="1">
              <a:buFont typeface="Times"/>
              <a:buNone/>
            </a:pPr>
            <a:r>
              <a:rPr lang="en-US" altLang="zh-CN" sz="2220" dirty="0">
                <a:solidFill>
                  <a:srgbClr val="ED7D31"/>
                </a:solidFill>
                <a:ea typeface="宋体" panose="02010600030101010101" pitchFamily="2" charset="-122"/>
                <a:sym typeface="+mn-ea"/>
              </a:rPr>
              <a:t>while (</a:t>
            </a:r>
            <a:r>
              <a:rPr lang="en-US" altLang="zh-CN" sz="2220" dirty="0" err="1">
                <a:solidFill>
                  <a:srgbClr val="ED7D31"/>
                </a:solidFill>
                <a:ea typeface="宋体" panose="02010600030101010101" pitchFamily="2" charset="-122"/>
                <a:sym typeface="+mn-ea"/>
              </a:rPr>
              <a:t>i</a:t>
            </a:r>
            <a:r>
              <a:rPr lang="en-US" altLang="zh-CN" sz="2220" dirty="0">
                <a:solidFill>
                  <a:srgbClr val="ED7D31"/>
                </a:solidFill>
                <a:ea typeface="宋体" panose="02010600030101010101" pitchFamily="2" charset="-122"/>
                <a:sym typeface="+mn-ea"/>
              </a:rPr>
              <a:t> &lt;3) {</a:t>
            </a:r>
            <a:endParaRPr lang="en-US" altLang="zh-CN" sz="2220" dirty="0">
              <a:solidFill>
                <a:srgbClr val="ED7D31"/>
              </a:solidFill>
              <a:ea typeface="宋体" panose="02010600030101010101" pitchFamily="2" charset="-122"/>
            </a:endParaRPr>
          </a:p>
          <a:p>
            <a:pPr marL="819150" lvl="1" indent="-361950" eaLnBrk="1" hangingPunct="1">
              <a:buFont typeface="Times"/>
              <a:buNone/>
            </a:pPr>
            <a:r>
              <a:rPr lang="en-US" altLang="zh-CN" sz="2220" dirty="0">
                <a:solidFill>
                  <a:srgbClr val="ED7D31"/>
                </a:solidFill>
                <a:ea typeface="宋体" panose="02010600030101010101" pitchFamily="2" charset="-122"/>
                <a:sym typeface="+mn-ea"/>
              </a:rPr>
              <a:t>		</a:t>
            </a:r>
            <a:r>
              <a:rPr sz="2220">
                <a:solidFill>
                  <a:srgbClr val="ED7D31"/>
                </a:solidFill>
                <a:ea typeface="宋体" panose="02010600030101010101" pitchFamily="2" charset="-122"/>
                <a:sym typeface="+mn-ea"/>
              </a:rPr>
              <a:t>System.out.println("i = " + i);</a:t>
            </a:r>
            <a:endParaRPr sz="2220">
              <a:solidFill>
                <a:srgbClr val="ED7D31"/>
              </a:solidFill>
              <a:ea typeface="宋体" panose="02010600030101010101" pitchFamily="2" charset="-122"/>
              <a:sym typeface="+mn-ea"/>
            </a:endParaRPr>
          </a:p>
          <a:p>
            <a:pPr marL="819150" lvl="1" indent="-361950" eaLnBrk="1" hangingPunct="1">
              <a:buFont typeface="Times"/>
              <a:buNone/>
            </a:pPr>
            <a:r>
              <a:rPr lang="en-US" altLang="zh-CN" sz="2220" dirty="0">
                <a:solidFill>
                  <a:srgbClr val="ED7D31"/>
                </a:solidFill>
                <a:ea typeface="宋体" panose="02010600030101010101" pitchFamily="2" charset="-122"/>
                <a:sym typeface="+mn-ea"/>
              </a:rPr>
              <a:t>		</a:t>
            </a:r>
            <a:r>
              <a:rPr lang="en-US" altLang="zh-CN" sz="2220" dirty="0" err="1">
                <a:solidFill>
                  <a:srgbClr val="ED7D31"/>
                </a:solidFill>
                <a:ea typeface="宋体" panose="02010600030101010101" pitchFamily="2" charset="-122"/>
                <a:sym typeface="+mn-ea"/>
              </a:rPr>
              <a:t>i</a:t>
            </a:r>
            <a:r>
              <a:rPr lang="en-US" altLang="zh-CN" sz="2220" dirty="0">
                <a:solidFill>
                  <a:srgbClr val="ED7D31"/>
                </a:solidFill>
                <a:ea typeface="宋体" panose="02010600030101010101" pitchFamily="2" charset="-122"/>
                <a:sym typeface="+mn-ea"/>
              </a:rPr>
              <a:t> += 1;</a:t>
            </a:r>
            <a:endParaRPr lang="en-US" altLang="zh-CN" sz="2220" dirty="0">
              <a:solidFill>
                <a:srgbClr val="ED7D31"/>
              </a:solidFill>
              <a:ea typeface="宋体" panose="02010600030101010101" pitchFamily="2" charset="-122"/>
            </a:endParaRPr>
          </a:p>
          <a:p>
            <a:pPr marL="819150" lvl="1" indent="-361950" eaLnBrk="1" hangingPunct="1">
              <a:buFont typeface="Times"/>
              <a:buNone/>
            </a:pPr>
            <a:r>
              <a:rPr lang="en-US" altLang="zh-CN" sz="2220" dirty="0">
                <a:solidFill>
                  <a:srgbClr val="ED7D31"/>
                </a:solidFill>
                <a:ea typeface="宋体" panose="02010600030101010101" pitchFamily="2" charset="-122"/>
                <a:sym typeface="+mn-ea"/>
              </a:rPr>
              <a:t>}</a:t>
            </a: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示例 — WhileTest类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93187" name="内容占位符 2"/>
          <p:cNvSpPr>
            <a:spLocks noGrp="1"/>
          </p:cNvSpPr>
          <p:nvPr>
            <p:ph idx="4294967295"/>
          </p:nvPr>
        </p:nvSpPr>
        <p:spPr>
          <a:xfrm>
            <a:off x="1434122" y="1109014"/>
            <a:ext cx="7537450" cy="4816475"/>
          </a:xfrm>
        </p:spPr>
        <p:txBody>
          <a:bodyPr>
            <a:noAutofit/>
          </a:bodyPr>
          <a:p>
            <a:pPr marL="361950" indent="-361950" eaLnBrk="1" hangingPunct="1">
              <a:buFont typeface="Times"/>
              <a:buNone/>
            </a:pPr>
            <a:r>
              <a:rPr lang="en-US" altLang="zh-CN" sz="1800" dirty="0">
                <a:solidFill>
                  <a:srgbClr val="002060"/>
                </a:solidFill>
                <a:ea typeface="宋体" panose="02010600030101010101" pitchFamily="2" charset="-122"/>
              </a:rPr>
              <a:t>1  public class </a:t>
            </a:r>
            <a:r>
              <a:rPr lang="en-US" altLang="zh-CN" sz="1800" dirty="0" err="1">
                <a:solidFill>
                  <a:srgbClr val="002060"/>
                </a:solidFill>
                <a:ea typeface="宋体" panose="02010600030101010101" pitchFamily="2" charset="-122"/>
              </a:rPr>
              <a:t>WhileTest</a:t>
            </a:r>
            <a:r>
              <a:rPr lang="en-US" altLang="zh-CN" sz="1800" dirty="0">
                <a:solidFill>
                  <a:srgbClr val="002060"/>
                </a:solidFill>
                <a:ea typeface="宋体" panose="02010600030101010101" pitchFamily="2" charset="-122"/>
              </a:rPr>
              <a:t> {</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2      public static void main(String[] </a:t>
            </a:r>
            <a:r>
              <a:rPr lang="en-US" altLang="zh-CN" sz="1800" dirty="0" err="1">
                <a:solidFill>
                  <a:srgbClr val="002060"/>
                </a:solidFill>
                <a:ea typeface="宋体" panose="02010600030101010101" pitchFamily="2" charset="-122"/>
              </a:rPr>
              <a:t>args</a:t>
            </a:r>
            <a:r>
              <a:rPr lang="en-US" altLang="zh-CN" sz="1800" dirty="0">
                <a:solidFill>
                  <a:srgbClr val="002060"/>
                </a:solidFill>
                <a:ea typeface="宋体" panose="02010600030101010101" pitchFamily="2" charset="-122"/>
              </a:rPr>
              <a:t>) {</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3          </a:t>
            </a:r>
            <a:r>
              <a:rPr lang="en-US" altLang="zh-CN" sz="1800" dirty="0" err="1">
                <a:solidFill>
                  <a:srgbClr val="002060"/>
                </a:solidFill>
                <a:ea typeface="宋体" panose="02010600030101010101" pitchFamily="2" charset="-122"/>
              </a:rPr>
              <a:t>int</a:t>
            </a:r>
            <a:r>
              <a:rPr lang="en-US" altLang="zh-CN" sz="1800" dirty="0">
                <a:solidFill>
                  <a:srgbClr val="002060"/>
                </a:solidFill>
                <a:ea typeface="宋体" panose="02010600030101010101" pitchFamily="2" charset="-122"/>
              </a:rPr>
              <a:t> num = 1;</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4  </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5          while (num &lt;= 10) {</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6              </a:t>
            </a:r>
            <a:r>
              <a:rPr lang="en-US" altLang="zh-CN" sz="1800" dirty="0" err="1">
                <a:solidFill>
                  <a:srgbClr val="002060"/>
                </a:solidFill>
                <a:ea typeface="宋体" panose="02010600030101010101" pitchFamily="2" charset="-122"/>
              </a:rPr>
              <a:t>System.out.print</a:t>
            </a:r>
            <a:r>
              <a:rPr lang="en-US" altLang="zh-CN"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正在循环</a:t>
            </a:r>
            <a:r>
              <a:rPr lang="en-US" altLang="zh-CN" sz="1800" dirty="0">
                <a:solidFill>
                  <a:srgbClr val="002060"/>
                </a:solidFill>
                <a:ea typeface="宋体" panose="02010600030101010101" pitchFamily="2" charset="-122"/>
              </a:rPr>
              <a:t>-- ");</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7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("num = " + num);</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8              num++;</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9          }</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10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第一个</a:t>
            </a:r>
            <a:r>
              <a:rPr lang="en-US" altLang="zh-CN" sz="1800" dirty="0">
                <a:solidFill>
                  <a:srgbClr val="002060"/>
                </a:solidFill>
                <a:ea typeface="宋体" panose="02010600030101010101" pitchFamily="2" charset="-122"/>
              </a:rPr>
              <a:t>while</a:t>
            </a:r>
            <a:r>
              <a:rPr lang="zh-CN" altLang="en-US" sz="1800" dirty="0">
                <a:solidFill>
                  <a:srgbClr val="002060"/>
                </a:solidFill>
                <a:ea typeface="宋体" panose="02010600030101010101" pitchFamily="2" charset="-122"/>
              </a:rPr>
              <a:t>后其它语句</a:t>
            </a:r>
            <a:r>
              <a:rPr lang="en-US" altLang="zh-CN" sz="1800" dirty="0">
                <a:solidFill>
                  <a:srgbClr val="002060"/>
                </a:solidFill>
                <a:ea typeface="宋体" panose="02010600030101010101" pitchFamily="2" charset="-122"/>
              </a:rPr>
              <a:t>");</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11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("num = " + num);</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12     }</a:t>
            </a:r>
            <a:endParaRPr lang="en-US" altLang="zh-CN" sz="1800" dirty="0">
              <a:solidFill>
                <a:srgbClr val="002060"/>
              </a:solidFill>
              <a:ea typeface="宋体" panose="02010600030101010101" pitchFamily="2" charset="-122"/>
            </a:endParaRPr>
          </a:p>
          <a:p>
            <a:pPr marL="361950" indent="-361950" eaLnBrk="1" hangingPunct="1">
              <a:buFont typeface="Times"/>
              <a:buNone/>
            </a:pPr>
            <a:r>
              <a:rPr lang="en-US" altLang="zh-CN" sz="1800" dirty="0">
                <a:solidFill>
                  <a:srgbClr val="002060"/>
                </a:solidFill>
                <a:ea typeface="宋体" panose="02010600030101010101" pitchFamily="2" charset="-122"/>
              </a:rPr>
              <a:t>13 }</a:t>
            </a:r>
            <a:endParaRPr lang="en-US" altLang="zh-CN"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44320"/>
            <a:ext cx="9527540" cy="2920365"/>
          </a:xfrm>
        </p:spPr>
        <p:txBody>
          <a:bodyPr>
            <a:normAutofit/>
          </a:bodyPr>
          <a:p>
            <a:pPr marL="457200" indent="-457200" eaLnBrk="1" hangingPunct="1">
              <a:lnSpc>
                <a:spcPct val="130000"/>
              </a:lnSpc>
              <a:buClr>
                <a:srgbClr val="ED7D31"/>
              </a:buClr>
              <a:buFont typeface="+mj-lt"/>
              <a:buAutoNum type="arabicPeriod"/>
            </a:pPr>
            <a:r>
              <a:rPr lang="zh-CN" altLang="en-US" sz="2665" dirty="0">
                <a:ea typeface="宋体" panose="02010600030101010101" pitchFamily="2" charset="-122"/>
                <a:sym typeface="+mn-ea"/>
              </a:rPr>
              <a:t>编写</a:t>
            </a:r>
            <a:r>
              <a:rPr lang="en-US" altLang="zh-CN" sz="2665" dirty="0" smtClean="0">
                <a:ea typeface="宋体" panose="02010600030101010101" pitchFamily="2" charset="-122"/>
                <a:sym typeface="+mn-ea"/>
              </a:rPr>
              <a:t>Exercise10</a:t>
            </a:r>
            <a:r>
              <a:rPr lang="zh-CN" altLang="en-US" sz="2665" dirty="0">
                <a:ea typeface="宋体" panose="02010600030101010101" pitchFamily="2" charset="-122"/>
                <a:sym typeface="+mn-ea"/>
              </a:rPr>
              <a:t>类，打印一个</a:t>
            </a:r>
            <a:r>
              <a:rPr lang="en-US" altLang="zh-CN" sz="2665" dirty="0">
                <a:ea typeface="宋体" panose="02010600030101010101" pitchFamily="2" charset="-122"/>
                <a:sym typeface="+mn-ea"/>
              </a:rPr>
              <a:t>10X5</a:t>
            </a:r>
            <a:r>
              <a:rPr lang="zh-CN" altLang="en-US" sz="2665" dirty="0">
                <a:ea typeface="宋体" panose="02010600030101010101" pitchFamily="2" charset="-122"/>
                <a:sym typeface="+mn-ea"/>
              </a:rPr>
              <a:t>的矩形。</a:t>
            </a:r>
            <a:endParaRPr 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while语句多重循环</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44320"/>
            <a:ext cx="9527540" cy="4616450"/>
          </a:xfrm>
        </p:spPr>
        <p:txBody>
          <a:bodyPr>
            <a:normAutofit/>
          </a:bodyPr>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循环语句可以嵌套使用</a:t>
            </a: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rPr>
              <a:t>例如：</a:t>
            </a:r>
            <a:endParaRPr lang="zh-CN" altLang="en-US" dirty="0">
              <a:ea typeface="宋体" panose="02010600030101010101" pitchFamily="2" charset="-122"/>
            </a:endParaRPr>
          </a:p>
          <a:p>
            <a:pPr marL="361950" indent="0" eaLnBrk="1" hangingPunct="1">
              <a:buFont typeface="Times"/>
              <a:buNone/>
            </a:pPr>
            <a:r>
              <a:rPr lang="en-US" altLang="zh-CN" sz="2000" dirty="0">
                <a:solidFill>
                  <a:srgbClr val="ED7D31"/>
                </a:solidFill>
                <a:ea typeface="宋体" panose="02010600030101010101" pitchFamily="2" charset="-122"/>
                <a:sym typeface="+mn-ea"/>
              </a:rPr>
              <a:t>while (</a:t>
            </a:r>
            <a:r>
              <a:rPr lang="zh-CN" altLang="en-US" sz="2000" dirty="0">
                <a:solidFill>
                  <a:srgbClr val="ED7D31"/>
                </a:solidFill>
                <a:ea typeface="宋体" panose="02010600030101010101" pitchFamily="2" charset="-122"/>
                <a:sym typeface="+mn-ea"/>
              </a:rPr>
              <a:t>表达式</a:t>
            </a:r>
            <a:r>
              <a:rPr lang="en-US" altLang="zh-CN" sz="2000" dirty="0">
                <a:solidFill>
                  <a:srgbClr val="ED7D31"/>
                </a:solidFill>
                <a:ea typeface="宋体" panose="02010600030101010101" pitchFamily="2" charset="-122"/>
                <a:sym typeface="+mn-ea"/>
              </a:rPr>
              <a:t>1) {</a:t>
            </a:r>
            <a:endParaRPr lang="en-US" altLang="zh-CN" sz="2000" dirty="0">
              <a:solidFill>
                <a:srgbClr val="ED7D31"/>
              </a:solidFill>
              <a:ea typeface="宋体" panose="02010600030101010101" pitchFamily="2" charset="-122"/>
            </a:endParaRPr>
          </a:p>
          <a:p>
            <a:pPr marL="361950" indent="-361950" eaLnBrk="1" hangingPunct="1">
              <a:buFont typeface="Times"/>
              <a:buNone/>
            </a:pPr>
            <a:r>
              <a:rPr lang="en-US" altLang="zh-CN" sz="2000" dirty="0">
                <a:solidFill>
                  <a:srgbClr val="ED7D31"/>
                </a:solidFill>
                <a:ea typeface="宋体" panose="02010600030101010101" pitchFamily="2" charset="-122"/>
                <a:sym typeface="+mn-ea"/>
              </a:rPr>
              <a:t>		……</a:t>
            </a:r>
            <a:endParaRPr lang="en-US" altLang="zh-CN" sz="2000" dirty="0">
              <a:solidFill>
                <a:srgbClr val="ED7D31"/>
              </a:solidFill>
              <a:ea typeface="宋体" panose="02010600030101010101" pitchFamily="2" charset="-122"/>
            </a:endParaRPr>
          </a:p>
          <a:p>
            <a:pPr marL="361950" indent="-361950" eaLnBrk="1" hangingPunct="1">
              <a:buFont typeface="Times"/>
              <a:buNone/>
            </a:pPr>
            <a:r>
              <a:rPr lang="en-US" altLang="zh-CN" sz="2000" dirty="0">
                <a:solidFill>
                  <a:srgbClr val="ED7D31"/>
                </a:solidFill>
                <a:ea typeface="宋体" panose="02010600030101010101" pitchFamily="2" charset="-122"/>
                <a:sym typeface="+mn-ea"/>
              </a:rPr>
              <a:t>		while (</a:t>
            </a:r>
            <a:r>
              <a:rPr lang="zh-CN" altLang="en-US" sz="2000" dirty="0">
                <a:solidFill>
                  <a:srgbClr val="ED7D31"/>
                </a:solidFill>
                <a:ea typeface="宋体" panose="02010600030101010101" pitchFamily="2" charset="-122"/>
                <a:sym typeface="+mn-ea"/>
              </a:rPr>
              <a:t>表达式</a:t>
            </a:r>
            <a:r>
              <a:rPr lang="en-US" altLang="zh-CN" sz="2000" dirty="0">
                <a:solidFill>
                  <a:srgbClr val="ED7D31"/>
                </a:solidFill>
                <a:ea typeface="宋体" panose="02010600030101010101" pitchFamily="2" charset="-122"/>
                <a:sym typeface="+mn-ea"/>
              </a:rPr>
              <a:t>2) {</a:t>
            </a:r>
            <a:endParaRPr lang="en-US" altLang="zh-CN" sz="2000" dirty="0">
              <a:solidFill>
                <a:srgbClr val="ED7D31"/>
              </a:solidFill>
              <a:ea typeface="宋体" panose="02010600030101010101" pitchFamily="2" charset="-122"/>
            </a:endParaRPr>
          </a:p>
          <a:p>
            <a:pPr marL="361950" indent="-361950" eaLnBrk="1" hangingPunct="1">
              <a:buFont typeface="Times"/>
              <a:buNone/>
            </a:pPr>
            <a:r>
              <a:rPr lang="en-US" altLang="zh-CN" sz="2000" dirty="0">
                <a:solidFill>
                  <a:srgbClr val="ED7D31"/>
                </a:solidFill>
                <a:ea typeface="宋体" panose="02010600030101010101" pitchFamily="2" charset="-122"/>
                <a:sym typeface="+mn-ea"/>
              </a:rPr>
              <a:t>		       ……</a:t>
            </a:r>
            <a:endParaRPr lang="en-US" altLang="zh-CN" sz="2000" dirty="0">
              <a:solidFill>
                <a:srgbClr val="ED7D31"/>
              </a:solidFill>
              <a:ea typeface="宋体" panose="02010600030101010101" pitchFamily="2" charset="-122"/>
            </a:endParaRPr>
          </a:p>
          <a:p>
            <a:pPr marL="361950" indent="-361950" eaLnBrk="1" hangingPunct="1">
              <a:buFont typeface="Times"/>
              <a:buNone/>
            </a:pPr>
            <a:r>
              <a:rPr lang="en-US" altLang="zh-CN" sz="2000" dirty="0">
                <a:solidFill>
                  <a:srgbClr val="ED7D31"/>
                </a:solidFill>
                <a:ea typeface="宋体" panose="02010600030101010101" pitchFamily="2" charset="-122"/>
                <a:sym typeface="+mn-ea"/>
              </a:rPr>
              <a:t>		}</a:t>
            </a:r>
            <a:endParaRPr lang="en-US" altLang="zh-CN" sz="2000" dirty="0">
              <a:solidFill>
                <a:srgbClr val="ED7D31"/>
              </a:solidFill>
              <a:ea typeface="宋体" panose="02010600030101010101" pitchFamily="2" charset="-122"/>
            </a:endParaRPr>
          </a:p>
          <a:p>
            <a:pPr marL="361950" indent="-361950" eaLnBrk="1" hangingPunct="1">
              <a:buFont typeface="Times"/>
              <a:buNone/>
            </a:pPr>
            <a:r>
              <a:rPr lang="en-US" altLang="zh-CN" sz="2000" dirty="0">
                <a:solidFill>
                  <a:srgbClr val="ED7D31"/>
                </a:solidFill>
                <a:ea typeface="宋体" panose="02010600030101010101" pitchFamily="2" charset="-122"/>
                <a:sym typeface="+mn-ea"/>
              </a:rPr>
              <a:t>		……</a:t>
            </a:r>
            <a:endParaRPr lang="en-US" altLang="zh-CN" sz="2000" dirty="0">
              <a:solidFill>
                <a:srgbClr val="ED7D31"/>
              </a:solidFill>
              <a:ea typeface="宋体" panose="02010600030101010101" pitchFamily="2" charset="-122"/>
            </a:endParaRPr>
          </a:p>
          <a:p>
            <a:pPr marL="361950" indent="-361950" eaLnBrk="1" hangingPunct="1">
              <a:buFont typeface="Times"/>
              <a:buNone/>
            </a:pPr>
            <a:r>
              <a:rPr lang="en-US" altLang="zh-CN" sz="2000" dirty="0">
                <a:solidFill>
                  <a:srgbClr val="ED7D31"/>
                </a:solidFill>
                <a:ea typeface="宋体" panose="02010600030101010101" pitchFamily="2" charset="-122"/>
                <a:sym typeface="+mn-ea"/>
              </a:rPr>
              <a:t>	}</a:t>
            </a:r>
            <a:endParaRPr lang="en-US" altLang="zh-CN" sz="2000" dirty="0">
              <a:solidFill>
                <a:srgbClr val="ED7D31"/>
              </a:solidFill>
              <a:ea typeface="宋体" panose="02010600030101010101" pitchFamily="2" charset="-122"/>
            </a:endParaRPr>
          </a:p>
          <a:p>
            <a:pPr marL="0" indent="0" eaLnBrk="1" hangingPunct="1">
              <a:lnSpc>
                <a:spcPct val="13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while语句多重循环</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96259" name="内容占位符 2"/>
          <p:cNvSpPr>
            <a:spLocks noGrp="1"/>
          </p:cNvSpPr>
          <p:nvPr>
            <p:ph idx="4294967295"/>
          </p:nvPr>
        </p:nvSpPr>
        <p:spPr>
          <a:xfrm>
            <a:off x="1080427" y="1160132"/>
            <a:ext cx="7537450" cy="4816475"/>
          </a:xfrm>
        </p:spPr>
        <p:txBody>
          <a:bodyPr/>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  public class WhileTest1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2      public static void main(String[] </a:t>
            </a:r>
            <a:r>
              <a:rPr lang="en-US" altLang="zh-CN" sz="1800" dirty="0" err="1">
                <a:solidFill>
                  <a:srgbClr val="002060"/>
                </a:solidFill>
                <a:ea typeface="宋体" panose="02010600030101010101" pitchFamily="2" charset="-122"/>
              </a:rPr>
              <a:t>args</a:t>
            </a:r>
            <a:r>
              <a:rPr lang="en-US" altLang="zh-CN" sz="1800" dirty="0">
                <a:solidFill>
                  <a:srgbClr val="002060"/>
                </a:solidFill>
                <a:ea typeface="宋体" panose="02010600030101010101" pitchFamily="2" charset="-122"/>
              </a:rPr>
              <a:t>)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3          </a:t>
            </a:r>
            <a:r>
              <a:rPr lang="en-US" altLang="zh-CN" sz="1800" dirty="0" err="1">
                <a:solidFill>
                  <a:srgbClr val="002060"/>
                </a:solidFill>
                <a:ea typeface="宋体" panose="02010600030101010101" pitchFamily="2" charset="-122"/>
              </a:rPr>
              <a:t>int</a:t>
            </a:r>
            <a:r>
              <a:rPr lang="en-US" altLang="zh-CN" sz="1800" dirty="0">
                <a:solidFill>
                  <a:srgbClr val="002060"/>
                </a:solidFill>
                <a:ea typeface="宋体" panose="02010600030101010101" pitchFamily="2" charset="-122"/>
              </a:rPr>
              <a:t> </a:t>
            </a:r>
            <a:r>
              <a:rPr lang="en-US" altLang="zh-CN" sz="1800" dirty="0" err="1">
                <a:solidFill>
                  <a:srgbClr val="002060"/>
                </a:solidFill>
                <a:ea typeface="宋体" panose="02010600030101010101" pitchFamily="2" charset="-122"/>
              </a:rPr>
              <a:t>i</a:t>
            </a:r>
            <a:r>
              <a:rPr lang="en-US" altLang="zh-CN" sz="1800" dirty="0">
                <a:solidFill>
                  <a:srgbClr val="002060"/>
                </a:solidFill>
                <a:ea typeface="宋体" panose="02010600030101010101" pitchFamily="2" charset="-122"/>
              </a:rPr>
              <a:t> = 0;</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4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5          while (</a:t>
            </a:r>
            <a:r>
              <a:rPr lang="en-US" altLang="zh-CN" sz="1800" dirty="0" err="1">
                <a:solidFill>
                  <a:srgbClr val="002060"/>
                </a:solidFill>
                <a:ea typeface="宋体" panose="02010600030101010101" pitchFamily="2" charset="-122"/>
              </a:rPr>
              <a:t>i</a:t>
            </a:r>
            <a:r>
              <a:rPr lang="en-US" altLang="zh-CN" sz="1800" dirty="0">
                <a:solidFill>
                  <a:srgbClr val="002060"/>
                </a:solidFill>
                <a:ea typeface="宋体" panose="02010600030101010101" pitchFamily="2" charset="-122"/>
              </a:rPr>
              <a:t> &lt; 10)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6              </a:t>
            </a:r>
            <a:r>
              <a:rPr lang="en-US" altLang="zh-CN" sz="1800" dirty="0" err="1">
                <a:solidFill>
                  <a:srgbClr val="002060"/>
                </a:solidFill>
                <a:ea typeface="宋体" panose="02010600030101010101" pitchFamily="2" charset="-122"/>
              </a:rPr>
              <a:t>System.out.print</a:t>
            </a:r>
            <a:r>
              <a:rPr lang="en-US" altLang="zh-CN"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正在循环</a:t>
            </a:r>
            <a:r>
              <a:rPr lang="en-US" altLang="zh-CN" sz="1800" dirty="0">
                <a:solidFill>
                  <a:srgbClr val="002060"/>
                </a:solidFill>
                <a:ea typeface="宋体" panose="02010600030101010101" pitchFamily="2" charset="-122"/>
              </a:rPr>
              <a:t>--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7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a:t>
            </a:r>
            <a:r>
              <a:rPr lang="en-US" altLang="zh-CN" sz="1800" dirty="0" err="1">
                <a:solidFill>
                  <a:srgbClr val="002060"/>
                </a:solidFill>
                <a:ea typeface="宋体" panose="02010600030101010101" pitchFamily="2" charset="-122"/>
              </a:rPr>
              <a:t>i</a:t>
            </a:r>
            <a:r>
              <a:rPr lang="en-US" altLang="zh-CN" sz="1800" dirty="0">
                <a:solidFill>
                  <a:srgbClr val="002060"/>
                </a:solidFill>
                <a:ea typeface="宋体" panose="02010600030101010101" pitchFamily="2" charset="-122"/>
              </a:rPr>
              <a:t> = " + </a:t>
            </a:r>
            <a:r>
              <a:rPr lang="en-US" altLang="zh-CN" sz="1800" dirty="0" err="1">
                <a:solidFill>
                  <a:srgbClr val="002060"/>
                </a:solidFill>
                <a:ea typeface="宋体" panose="02010600030101010101" pitchFamily="2" charset="-122"/>
              </a:rPr>
              <a:t>i</a:t>
            </a:r>
            <a:r>
              <a:rPr lang="en-US" altLang="zh-CN" sz="1800" dirty="0">
                <a:solidFill>
                  <a:srgbClr val="002060"/>
                </a:solidFill>
                <a:ea typeface="宋体" panose="02010600030101010101" pitchFamily="2" charset="-122"/>
              </a:rPr>
              <a:t>);</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8              </a:t>
            </a:r>
            <a:r>
              <a:rPr lang="en-US" altLang="zh-CN" sz="1800" dirty="0" err="1">
                <a:solidFill>
                  <a:srgbClr val="002060"/>
                </a:solidFill>
                <a:ea typeface="宋体" panose="02010600030101010101" pitchFamily="2" charset="-122"/>
              </a:rPr>
              <a:t>i</a:t>
            </a:r>
            <a:r>
              <a:rPr lang="en-US" altLang="zh-CN" sz="1800" dirty="0">
                <a:solidFill>
                  <a:srgbClr val="002060"/>
                </a:solidFill>
                <a:ea typeface="宋体" panose="02010600030101010101" pitchFamily="2" charset="-122"/>
              </a:rPr>
              <a:t>++;</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9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10             </a:t>
            </a:r>
            <a:r>
              <a:rPr lang="en-US" altLang="zh-CN" sz="1800" dirty="0" err="1">
                <a:solidFill>
                  <a:srgbClr val="002060"/>
                </a:solidFill>
                <a:ea typeface="宋体" panose="02010600030101010101" pitchFamily="2" charset="-122"/>
              </a:rPr>
              <a:t>int</a:t>
            </a:r>
            <a:r>
              <a:rPr lang="en-US" altLang="zh-CN" sz="1800" dirty="0">
                <a:solidFill>
                  <a:srgbClr val="002060"/>
                </a:solidFill>
                <a:ea typeface="宋体" panose="02010600030101010101" pitchFamily="2" charset="-122"/>
              </a:rPr>
              <a:t> j = 0;</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11             while (j &lt; 2)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12                 </a:t>
            </a:r>
            <a:r>
              <a:rPr lang="en-US" altLang="zh-CN" sz="1800" dirty="0" err="1">
                <a:solidFill>
                  <a:srgbClr val="002060"/>
                </a:solidFill>
                <a:ea typeface="宋体" panose="02010600030101010101" pitchFamily="2" charset="-122"/>
              </a:rPr>
              <a:t>System.out.println</a:t>
            </a:r>
            <a:r>
              <a:rPr lang="en-US" altLang="zh-CN" sz="1800" dirty="0">
                <a:solidFill>
                  <a:srgbClr val="002060"/>
                </a:solidFill>
                <a:ea typeface="宋体" panose="02010600030101010101" pitchFamily="2" charset="-122"/>
              </a:rPr>
              <a:t>("     j = " + j);</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13                 j++;</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14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15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16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r>
              <a:rPr lang="en-US" altLang="zh-CN" sz="1800" dirty="0">
                <a:solidFill>
                  <a:srgbClr val="002060"/>
                </a:solidFill>
                <a:ea typeface="宋体" panose="02010600030101010101" pitchFamily="2" charset="-122"/>
              </a:rPr>
              <a:t>17 }</a:t>
            </a:r>
            <a:endParaRPr lang="en-US" altLang="zh-CN" sz="1800" dirty="0">
              <a:solidFill>
                <a:srgbClr val="002060"/>
              </a:solidFill>
              <a:ea typeface="宋体" panose="02010600030101010101" pitchFamily="2" charset="-122"/>
            </a:endParaRPr>
          </a:p>
          <a:p>
            <a:pPr marL="361950" indent="-361950" eaLnBrk="1" hangingPunct="1">
              <a:spcBef>
                <a:spcPct val="0"/>
              </a:spcBef>
              <a:buFont typeface="Times"/>
              <a:buNone/>
            </a:pPr>
            <a:endParaRPr lang="en-US" altLang="zh-CN"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44320"/>
            <a:ext cx="9527540" cy="2920365"/>
          </a:xfrm>
        </p:spPr>
        <p:txBody>
          <a:bodyPr>
            <a:normAutofit/>
          </a:bodyPr>
          <a:p>
            <a:pPr marL="457200" indent="-457200" eaLnBrk="1" hangingPunct="1">
              <a:lnSpc>
                <a:spcPct val="130000"/>
              </a:lnSpc>
              <a:buClr>
                <a:srgbClr val="ED7D31"/>
              </a:buClr>
              <a:buFont typeface="+mj-lt"/>
              <a:buAutoNum type="arabicPeriod"/>
            </a:pPr>
            <a:r>
              <a:rPr lang="zh-CN" altLang="en-US" sz="2665" dirty="0">
                <a:ea typeface="宋体" panose="02010600030101010101" pitchFamily="2" charset="-122"/>
                <a:sym typeface="+mn-ea"/>
              </a:rPr>
              <a:t>编写</a:t>
            </a:r>
            <a:r>
              <a:rPr lang="en-US" altLang="zh-CN" sz="2665" dirty="0" smtClean="0">
                <a:ea typeface="宋体" panose="02010600030101010101" pitchFamily="2" charset="-122"/>
                <a:sym typeface="+mn-ea"/>
              </a:rPr>
              <a:t>Exercise11</a:t>
            </a:r>
            <a:r>
              <a:rPr lang="zh-CN" altLang="en-US" sz="2665" dirty="0">
                <a:ea typeface="宋体" panose="02010600030101010101" pitchFamily="2" charset="-122"/>
                <a:sym typeface="+mn-ea"/>
              </a:rPr>
              <a:t>程序，使用两重循环打印</a:t>
            </a:r>
            <a:r>
              <a:rPr lang="en-US" altLang="zh-CN" sz="2665" dirty="0">
                <a:ea typeface="宋体" panose="02010600030101010101" pitchFamily="2" charset="-122"/>
                <a:sym typeface="+mn-ea"/>
              </a:rPr>
              <a:t>20x8</a:t>
            </a:r>
            <a:r>
              <a:rPr lang="zh-CN" altLang="en-US" sz="2665" dirty="0">
                <a:ea typeface="宋体" panose="02010600030101010101" pitchFamily="2" charset="-122"/>
                <a:sym typeface="+mn-ea"/>
              </a:rPr>
              <a:t>的矩形。</a:t>
            </a: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do-while循环</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44320"/>
            <a:ext cx="9527540" cy="4745990"/>
          </a:xfrm>
        </p:spPr>
        <p:txBody>
          <a:bodyPr>
            <a:normAutofit/>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do/while </a:t>
            </a:r>
            <a:r>
              <a:rPr lang="zh-CN" altLang="en-US" dirty="0">
                <a:ea typeface="宋体" panose="02010600030101010101" pitchFamily="2" charset="-122"/>
                <a:sym typeface="+mn-ea"/>
              </a:rPr>
              <a:t>循环的语法为：</a:t>
            </a:r>
            <a:endParaRPr lang="zh-CN" altLang="en-US" dirty="0">
              <a:ea typeface="宋体" panose="02010600030101010101" pitchFamily="2" charset="-122"/>
              <a:sym typeface="+mn-ea"/>
            </a:endParaRPr>
          </a:p>
          <a:p>
            <a:pPr marL="704850" lvl="1" indent="-361950" eaLnBrk="1" hangingPunct="1">
              <a:buFont typeface="Times"/>
              <a:buNone/>
            </a:pPr>
            <a:r>
              <a:rPr lang="en-US" altLang="zh-CN" dirty="0">
                <a:solidFill>
                  <a:srgbClr val="002060"/>
                </a:solidFill>
                <a:ea typeface="宋体" panose="02010600030101010101" pitchFamily="2" charset="-122"/>
                <a:sym typeface="+mn-ea"/>
              </a:rPr>
              <a:t>do  {</a:t>
            </a:r>
            <a:endParaRPr lang="en-US" altLang="zh-CN" dirty="0">
              <a:solidFill>
                <a:srgbClr val="002060"/>
              </a:solidFill>
              <a:ea typeface="宋体" panose="02010600030101010101" pitchFamily="2" charset="-122"/>
            </a:endParaRPr>
          </a:p>
          <a:p>
            <a:pPr marL="704850" lvl="1" indent="-361950" eaLnBrk="1" hangingPunct="1">
              <a:buFont typeface="Times"/>
              <a:buNone/>
            </a:pPr>
            <a:r>
              <a:rPr lang="en-US" altLang="zh-CN" dirty="0">
                <a:solidFill>
                  <a:srgbClr val="002060"/>
                </a:solidFill>
                <a:ea typeface="宋体" panose="02010600030101010101" pitchFamily="2" charset="-122"/>
                <a:sym typeface="+mn-ea"/>
              </a:rPr>
              <a:t>        </a:t>
            </a:r>
            <a:r>
              <a:rPr lang="en-US" altLang="zh-CN" i="1" dirty="0">
                <a:solidFill>
                  <a:srgbClr val="002060"/>
                </a:solidFill>
                <a:ea typeface="宋体" panose="02010600030101010101" pitchFamily="2" charset="-122"/>
                <a:sym typeface="+mn-ea"/>
              </a:rPr>
              <a:t>&lt;</a:t>
            </a:r>
            <a:r>
              <a:rPr lang="en-US" altLang="zh-CN" i="1" dirty="0" err="1">
                <a:solidFill>
                  <a:srgbClr val="002060"/>
                </a:solidFill>
                <a:ea typeface="宋体" panose="02010600030101010101" pitchFamily="2" charset="-122"/>
                <a:sym typeface="+mn-ea"/>
              </a:rPr>
              <a:t>statement_or_block</a:t>
            </a:r>
            <a:r>
              <a:rPr lang="en-US" altLang="zh-CN" i="1" dirty="0">
                <a:solidFill>
                  <a:srgbClr val="002060"/>
                </a:solidFill>
                <a:ea typeface="宋体" panose="02010600030101010101" pitchFamily="2" charset="-122"/>
                <a:sym typeface="+mn-ea"/>
              </a:rPr>
              <a:t>&gt;</a:t>
            </a:r>
            <a:endParaRPr lang="en-US" altLang="zh-CN" i="1" dirty="0">
              <a:solidFill>
                <a:srgbClr val="002060"/>
              </a:solidFill>
              <a:ea typeface="宋体" panose="02010600030101010101" pitchFamily="2" charset="-122"/>
            </a:endParaRPr>
          </a:p>
          <a:p>
            <a:pPr marL="704850" lvl="1" indent="-361950" eaLnBrk="1" hangingPunct="1">
              <a:buFont typeface="Times"/>
              <a:buNone/>
            </a:pPr>
            <a:r>
              <a:rPr lang="en-US" altLang="zh-CN" dirty="0">
                <a:solidFill>
                  <a:srgbClr val="002060"/>
                </a:solidFill>
                <a:ea typeface="宋体" panose="02010600030101010101" pitchFamily="2" charset="-122"/>
                <a:sym typeface="+mn-ea"/>
              </a:rPr>
              <a:t>} while ( &lt;</a:t>
            </a:r>
            <a:r>
              <a:rPr lang="en-US" altLang="zh-CN" dirty="0" err="1">
                <a:solidFill>
                  <a:srgbClr val="002060"/>
                </a:solidFill>
                <a:ea typeface="宋体" panose="02010600030101010101" pitchFamily="2" charset="-122"/>
                <a:sym typeface="+mn-ea"/>
              </a:rPr>
              <a:t>test_expr</a:t>
            </a:r>
            <a:r>
              <a:rPr lang="en-US" altLang="zh-CN" dirty="0">
                <a:solidFill>
                  <a:srgbClr val="002060"/>
                </a:solidFill>
                <a:ea typeface="宋体" panose="02010600030101010101" pitchFamily="2" charset="-122"/>
                <a:sym typeface="+mn-ea"/>
              </a:rPr>
              <a:t>&gt; );</a:t>
            </a: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例如：</a:t>
            </a:r>
            <a:endParaRPr lang="zh-CN" altLang="en-US" dirty="0">
              <a:ea typeface="宋体" panose="02010600030101010101" pitchFamily="2" charset="-122"/>
            </a:endParaRPr>
          </a:p>
          <a:p>
            <a:pPr marL="704850" lvl="1" indent="-361950" eaLnBrk="1" hangingPunct="1">
              <a:buFont typeface="Times"/>
              <a:buNone/>
            </a:pPr>
            <a:r>
              <a:rPr lang="en-US" altLang="zh-CN" dirty="0" err="1">
                <a:solidFill>
                  <a:srgbClr val="002060"/>
                </a:solidFill>
                <a:ea typeface="宋体" panose="02010600030101010101" pitchFamily="2" charset="-122"/>
                <a:sym typeface="+mn-ea"/>
              </a:rPr>
              <a:t>int</a:t>
            </a:r>
            <a:r>
              <a:rPr lang="en-US" altLang="zh-CN" dirty="0">
                <a:solidFill>
                  <a:srgbClr val="002060"/>
                </a:solidFill>
                <a:ea typeface="宋体" panose="02010600030101010101" pitchFamily="2" charset="-122"/>
                <a:sym typeface="+mn-ea"/>
              </a:rPr>
              <a:t> </a:t>
            </a:r>
            <a:r>
              <a:rPr lang="en-US" altLang="zh-CN" dirty="0" err="1">
                <a:solidFill>
                  <a:srgbClr val="002060"/>
                </a:solidFill>
                <a:ea typeface="宋体" panose="02010600030101010101" pitchFamily="2" charset="-122"/>
                <a:sym typeface="+mn-ea"/>
              </a:rPr>
              <a:t>i</a:t>
            </a:r>
            <a:r>
              <a:rPr lang="en-US" altLang="zh-CN" dirty="0">
                <a:solidFill>
                  <a:srgbClr val="002060"/>
                </a:solidFill>
                <a:ea typeface="宋体" panose="02010600030101010101" pitchFamily="2" charset="-122"/>
                <a:sym typeface="+mn-ea"/>
              </a:rPr>
              <a:t> = 0;</a:t>
            </a:r>
            <a:endParaRPr lang="en-US" altLang="zh-CN" dirty="0">
              <a:solidFill>
                <a:srgbClr val="002060"/>
              </a:solidFill>
              <a:ea typeface="宋体" panose="02010600030101010101" pitchFamily="2" charset="-122"/>
            </a:endParaRPr>
          </a:p>
          <a:p>
            <a:pPr marL="704850" lvl="1" indent="-361950" eaLnBrk="1" hangingPunct="1">
              <a:buFont typeface="Times"/>
              <a:buNone/>
            </a:pPr>
            <a:r>
              <a:rPr lang="en-US" altLang="zh-CN" dirty="0">
                <a:solidFill>
                  <a:srgbClr val="002060"/>
                </a:solidFill>
                <a:ea typeface="宋体" panose="02010600030101010101" pitchFamily="2" charset="-122"/>
                <a:sym typeface="+mn-ea"/>
              </a:rPr>
              <a:t>do {</a:t>
            </a:r>
            <a:endParaRPr lang="en-US" altLang="zh-CN" dirty="0">
              <a:solidFill>
                <a:srgbClr val="002060"/>
              </a:solidFill>
              <a:ea typeface="宋体" panose="02010600030101010101" pitchFamily="2" charset="-122"/>
            </a:endParaRPr>
          </a:p>
          <a:p>
            <a:pPr marL="704850" lvl="1" indent="-361950" eaLnBrk="1" hangingPunct="1">
              <a:buFont typeface="Times"/>
              <a:buNone/>
            </a:pPr>
            <a:r>
              <a:rPr lang="en-US" altLang="zh-CN" dirty="0">
                <a:solidFill>
                  <a:srgbClr val="002060"/>
                </a:solidFill>
                <a:ea typeface="宋体" panose="02010600030101010101" pitchFamily="2" charset="-122"/>
                <a:sym typeface="+mn-ea"/>
              </a:rPr>
              <a:t>        </a:t>
            </a:r>
            <a:r>
              <a:rPr>
                <a:solidFill>
                  <a:srgbClr val="002060"/>
                </a:solidFill>
                <a:ea typeface="宋体" panose="02010600030101010101" pitchFamily="2" charset="-122"/>
                <a:sym typeface="+mn-ea"/>
              </a:rPr>
              <a:t>System.out.println("i = " + i);</a:t>
            </a:r>
            <a:endParaRPr>
              <a:solidFill>
                <a:srgbClr val="002060"/>
              </a:solidFill>
              <a:ea typeface="宋体" panose="02010600030101010101" pitchFamily="2" charset="-122"/>
              <a:sym typeface="+mn-ea"/>
            </a:endParaRPr>
          </a:p>
          <a:p>
            <a:pPr marL="704850" lvl="1" indent="-361950" eaLnBrk="1" hangingPunct="1">
              <a:buFont typeface="Times"/>
              <a:buNone/>
            </a:pPr>
            <a:r>
              <a:rPr lang="en-US" altLang="zh-CN" dirty="0">
                <a:solidFill>
                  <a:srgbClr val="002060"/>
                </a:solidFill>
                <a:ea typeface="宋体" panose="02010600030101010101" pitchFamily="2" charset="-122"/>
                <a:sym typeface="+mn-ea"/>
              </a:rPr>
              <a:t>        </a:t>
            </a:r>
            <a:r>
              <a:rPr lang="en-US" altLang="zh-CN" dirty="0" err="1">
                <a:solidFill>
                  <a:srgbClr val="002060"/>
                </a:solidFill>
                <a:ea typeface="宋体" panose="02010600030101010101" pitchFamily="2" charset="-122"/>
                <a:sym typeface="+mn-ea"/>
              </a:rPr>
              <a:t>i</a:t>
            </a:r>
            <a:r>
              <a:rPr lang="en-US" altLang="zh-CN" dirty="0">
                <a:solidFill>
                  <a:srgbClr val="002060"/>
                </a:solidFill>
                <a:ea typeface="宋体" panose="02010600030101010101" pitchFamily="2" charset="-122"/>
                <a:sym typeface="+mn-ea"/>
              </a:rPr>
              <a:t>++;</a:t>
            </a:r>
            <a:endParaRPr lang="en-US" altLang="zh-CN" dirty="0">
              <a:solidFill>
                <a:srgbClr val="002060"/>
              </a:solidFill>
              <a:ea typeface="宋体" panose="02010600030101010101" pitchFamily="2" charset="-122"/>
            </a:endParaRPr>
          </a:p>
          <a:p>
            <a:pPr marL="704850" lvl="1" indent="-361950" eaLnBrk="1" hangingPunct="1">
              <a:buFont typeface="Times"/>
              <a:buNone/>
            </a:pPr>
            <a:r>
              <a:rPr lang="en-US" altLang="zh-CN" dirty="0">
                <a:solidFill>
                  <a:srgbClr val="002060"/>
                </a:solidFill>
                <a:ea typeface="宋体" panose="02010600030101010101" pitchFamily="2" charset="-122"/>
                <a:sym typeface="+mn-ea"/>
              </a:rPr>
              <a:t>} while ( </a:t>
            </a:r>
            <a:r>
              <a:rPr lang="en-US" altLang="zh-CN" dirty="0" err="1">
                <a:solidFill>
                  <a:srgbClr val="002060"/>
                </a:solidFill>
                <a:ea typeface="宋体" panose="02010600030101010101" pitchFamily="2" charset="-122"/>
                <a:sym typeface="+mn-ea"/>
              </a:rPr>
              <a:t>i</a:t>
            </a:r>
            <a:r>
              <a:rPr lang="en-US" altLang="zh-CN" dirty="0">
                <a:solidFill>
                  <a:srgbClr val="002060"/>
                </a:solidFill>
                <a:ea typeface="宋体" panose="02010600030101010101" pitchFamily="2" charset="-122"/>
                <a:sym typeface="+mn-ea"/>
              </a:rPr>
              <a:t> &lt; 3);</a:t>
            </a:r>
            <a:endParaRPr lang="en-US" altLang="zh-CN" dirty="0">
              <a:solidFill>
                <a:srgbClr val="002060"/>
              </a:solidFill>
              <a:ea typeface="宋体" panose="02010600030101010101" pitchFamily="2" charset="-122"/>
            </a:endParaRPr>
          </a:p>
          <a:p>
            <a:pPr marL="0" indent="457200" eaLnBrk="1" hangingPunct="1">
              <a:lnSpc>
                <a:spcPct val="130000"/>
              </a:lnSpc>
              <a:buClr>
                <a:srgbClr val="ED7D31"/>
              </a:buClr>
              <a:buFont typeface="+mj-lt"/>
              <a:buNone/>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 TestDoWhile类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99331" name="内容占位符 2"/>
          <p:cNvSpPr>
            <a:spLocks noGrp="1"/>
          </p:cNvSpPr>
          <p:nvPr>
            <p:ph idx="4294967295"/>
          </p:nvPr>
        </p:nvSpPr>
        <p:spPr>
          <a:xfrm>
            <a:off x="1089634" y="1360191"/>
            <a:ext cx="7537450" cy="4816475"/>
          </a:xfrm>
        </p:spPr>
        <p:txBody>
          <a:bodyPr/>
          <a:p>
            <a:pPr marL="361950" indent="-361950" eaLnBrk="1" hangingPunct="1">
              <a:buFont typeface="Times"/>
              <a:buNone/>
            </a:pPr>
            <a:r>
              <a:rPr lang="en-US" altLang="zh-CN" sz="2000" dirty="0">
                <a:solidFill>
                  <a:srgbClr val="002060"/>
                </a:solidFill>
                <a:ea typeface="宋体" panose="02010600030101010101" pitchFamily="2" charset="-122"/>
              </a:rPr>
              <a:t>1  public class </a:t>
            </a:r>
            <a:r>
              <a:rPr lang="en-US" altLang="zh-CN" sz="2000" dirty="0" err="1">
                <a:solidFill>
                  <a:srgbClr val="002060"/>
                </a:solidFill>
                <a:ea typeface="宋体" panose="02010600030101010101" pitchFamily="2" charset="-122"/>
              </a:rPr>
              <a:t>TestDoWhile</a:t>
            </a:r>
            <a:r>
              <a:rPr lang="en-US" altLang="zh-CN" sz="2000" dirty="0">
                <a:solidFill>
                  <a:srgbClr val="002060"/>
                </a:solidFill>
                <a:ea typeface="宋体" panose="02010600030101010101" pitchFamily="2" charset="-122"/>
              </a:rPr>
              <a:t> {</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2      public static void main(String[] </a:t>
            </a:r>
            <a:r>
              <a:rPr lang="en-US" altLang="zh-CN" sz="2000" dirty="0" err="1">
                <a:solidFill>
                  <a:srgbClr val="002060"/>
                </a:solidFill>
                <a:ea typeface="宋体" panose="02010600030101010101" pitchFamily="2" charset="-122"/>
              </a:rPr>
              <a:t>args</a:t>
            </a:r>
            <a:r>
              <a:rPr lang="en-US" altLang="zh-CN" sz="2000" dirty="0">
                <a:solidFill>
                  <a:srgbClr val="002060"/>
                </a:solidFill>
                <a:ea typeface="宋体" panose="02010600030101010101" pitchFamily="2" charset="-122"/>
              </a:rPr>
              <a:t>) {</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3          </a:t>
            </a:r>
            <a:r>
              <a:rPr lang="en-US" altLang="zh-CN" sz="2000" dirty="0" err="1">
                <a:solidFill>
                  <a:srgbClr val="002060"/>
                </a:solidFill>
                <a:ea typeface="宋体" panose="02010600030101010101" pitchFamily="2" charset="-122"/>
              </a:rPr>
              <a:t>int</a:t>
            </a:r>
            <a:r>
              <a:rPr lang="en-US" altLang="zh-CN" sz="2000" dirty="0">
                <a:solidFill>
                  <a:srgbClr val="002060"/>
                </a:solidFill>
                <a:ea typeface="宋体" panose="02010600030101010101" pitchFamily="2" charset="-122"/>
              </a:rPr>
              <a:t> </a:t>
            </a:r>
            <a:r>
              <a:rPr lang="en-US" altLang="zh-CN" sz="2000" dirty="0" err="1">
                <a:solidFill>
                  <a:srgbClr val="002060"/>
                </a:solidFill>
                <a:ea typeface="宋体" panose="02010600030101010101" pitchFamily="2" charset="-122"/>
              </a:rPr>
              <a:t>i</a:t>
            </a:r>
            <a:r>
              <a:rPr lang="en-US" altLang="zh-CN" sz="2000" dirty="0">
                <a:solidFill>
                  <a:srgbClr val="002060"/>
                </a:solidFill>
                <a:ea typeface="宋体" panose="02010600030101010101" pitchFamily="2" charset="-122"/>
              </a:rPr>
              <a:t> = 1;</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4          do {</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5              </a:t>
            </a:r>
            <a:r>
              <a:rPr lang="en-US" altLang="zh-CN" sz="2000" dirty="0" err="1">
                <a:solidFill>
                  <a:srgbClr val="002060"/>
                </a:solidFill>
                <a:ea typeface="宋体" panose="02010600030101010101" pitchFamily="2" charset="-122"/>
              </a:rPr>
              <a:t>System.out.println</a:t>
            </a:r>
            <a:r>
              <a:rPr lang="en-US" altLang="zh-CN" sz="2000" dirty="0">
                <a:solidFill>
                  <a:srgbClr val="002060"/>
                </a:solidFill>
                <a:ea typeface="宋体" panose="02010600030101010101" pitchFamily="2" charset="-122"/>
              </a:rPr>
              <a:t>(</a:t>
            </a:r>
            <a:r>
              <a:rPr lang="en-US" altLang="zh-CN" sz="2000" dirty="0" err="1">
                <a:solidFill>
                  <a:srgbClr val="002060"/>
                </a:solidFill>
                <a:ea typeface="宋体" panose="02010600030101010101" pitchFamily="2" charset="-122"/>
              </a:rPr>
              <a:t>i</a:t>
            </a:r>
            <a:r>
              <a:rPr lang="en-US" altLang="zh-CN" sz="2000" dirty="0">
                <a:solidFill>
                  <a:srgbClr val="002060"/>
                </a:solidFill>
                <a:ea typeface="宋体" panose="02010600030101010101" pitchFamily="2" charset="-122"/>
              </a:rPr>
              <a:t>);</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6              </a:t>
            </a:r>
            <a:r>
              <a:rPr lang="en-US" altLang="zh-CN" sz="2000" dirty="0" err="1">
                <a:solidFill>
                  <a:srgbClr val="002060"/>
                </a:solidFill>
                <a:ea typeface="宋体" panose="02010600030101010101" pitchFamily="2" charset="-122"/>
              </a:rPr>
              <a:t>i</a:t>
            </a:r>
            <a:r>
              <a:rPr lang="en-US" altLang="zh-CN" sz="2000" dirty="0">
                <a:solidFill>
                  <a:srgbClr val="002060"/>
                </a:solidFill>
                <a:ea typeface="宋体" panose="02010600030101010101" pitchFamily="2" charset="-122"/>
              </a:rPr>
              <a:t>++;</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7          } while (</a:t>
            </a:r>
            <a:r>
              <a:rPr lang="en-US" altLang="zh-CN" sz="2000" dirty="0" err="1">
                <a:solidFill>
                  <a:srgbClr val="002060"/>
                </a:solidFill>
                <a:ea typeface="宋体" panose="02010600030101010101" pitchFamily="2" charset="-122"/>
              </a:rPr>
              <a:t>i</a:t>
            </a:r>
            <a:r>
              <a:rPr lang="en-US" altLang="zh-CN" sz="2000" dirty="0">
                <a:solidFill>
                  <a:srgbClr val="002060"/>
                </a:solidFill>
                <a:ea typeface="宋体" panose="02010600030101010101" pitchFamily="2" charset="-122"/>
              </a:rPr>
              <a:t> &lt;= 10);</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8          </a:t>
            </a:r>
            <a:r>
              <a:rPr lang="en-US" altLang="zh-CN" sz="2000" dirty="0" err="1">
                <a:solidFill>
                  <a:srgbClr val="002060"/>
                </a:solidFill>
                <a:ea typeface="宋体" panose="02010600030101010101" pitchFamily="2" charset="-122"/>
              </a:rPr>
              <a:t>System.out.println</a:t>
            </a:r>
            <a:r>
              <a:rPr lang="en-US" altLang="zh-CN" sz="2000" dirty="0">
                <a:solidFill>
                  <a:srgbClr val="002060"/>
                </a:solidFill>
                <a:ea typeface="宋体" panose="02010600030101010101" pitchFamily="2" charset="-122"/>
              </a:rPr>
              <a:t>();</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9      }</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10 }</a:t>
            </a:r>
            <a:endParaRPr lang="en-US" altLang="zh-CN" sz="20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44320"/>
            <a:ext cx="9527540" cy="2920365"/>
          </a:xfrm>
        </p:spPr>
        <p:txBody>
          <a:bodyPr>
            <a:normAutofit/>
          </a:bodyPr>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编写</a:t>
            </a:r>
            <a:r>
              <a:rPr lang="en-US" altLang="zh-CN" dirty="0" smtClean="0">
                <a:ea typeface="宋体" panose="02010600030101010101" pitchFamily="2" charset="-122"/>
                <a:sym typeface="+mn-ea"/>
              </a:rPr>
              <a:t>Exercise12</a:t>
            </a:r>
            <a:r>
              <a:rPr lang="zh-CN" altLang="en-US" dirty="0">
                <a:ea typeface="宋体" panose="02010600030101010101" pitchFamily="2" charset="-122"/>
                <a:sym typeface="+mn-ea"/>
              </a:rPr>
              <a:t>程序，使用</a:t>
            </a:r>
            <a:r>
              <a:rPr lang="en-US" altLang="zh-CN" dirty="0">
                <a:ea typeface="宋体" panose="02010600030101010101" pitchFamily="2" charset="-122"/>
                <a:sym typeface="+mn-ea"/>
              </a:rPr>
              <a:t>do-while</a:t>
            </a:r>
            <a:r>
              <a:rPr lang="zh-CN" altLang="en-US" dirty="0">
                <a:ea typeface="宋体" panose="02010600030101010101" pitchFamily="2" charset="-122"/>
                <a:sym typeface="+mn-ea"/>
              </a:rPr>
              <a:t>循环，打印</a:t>
            </a:r>
            <a:r>
              <a:rPr lang="en-US" altLang="zh-CN" dirty="0">
                <a:ea typeface="宋体" panose="02010600030101010101" pitchFamily="2" charset="-122"/>
                <a:sym typeface="+mn-ea"/>
              </a:rPr>
              <a:t>1-100</a:t>
            </a:r>
            <a:r>
              <a:rPr lang="zh-CN" altLang="en-US" dirty="0">
                <a:ea typeface="宋体" panose="02010600030101010101" pitchFamily="2" charset="-122"/>
                <a:sym typeface="+mn-ea"/>
              </a:rPr>
              <a:t>之间</a:t>
            </a:r>
            <a:r>
              <a:rPr lang="en-US" altLang="zh-CN" dirty="0">
                <a:ea typeface="宋体" panose="02010600030101010101" pitchFamily="2" charset="-122"/>
                <a:sym typeface="+mn-ea"/>
              </a:rPr>
              <a:t>13</a:t>
            </a:r>
            <a:r>
              <a:rPr lang="zh-CN" altLang="en-US" dirty="0">
                <a:ea typeface="宋体" panose="02010600030101010101" pitchFamily="2" charset="-122"/>
                <a:sym typeface="+mn-ea"/>
              </a:rPr>
              <a:t>的倍数。</a:t>
            </a: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for循环</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220470"/>
            <a:ext cx="9527540" cy="4745990"/>
          </a:xfrm>
        </p:spPr>
        <p:txBody>
          <a:bodyPr>
            <a:normAutofit/>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for </a:t>
            </a:r>
            <a:r>
              <a:rPr lang="zh-CN" altLang="en-US" dirty="0">
                <a:ea typeface="宋体" panose="02010600030101010101" pitchFamily="2" charset="-122"/>
                <a:sym typeface="+mn-ea"/>
              </a:rPr>
              <a:t>循环语法为：</a:t>
            </a:r>
            <a:endParaRPr lang="zh-CN" altLang="en-US" dirty="0">
              <a:ea typeface="宋体" panose="02010600030101010101" pitchFamily="2" charset="-122"/>
              <a:sym typeface="+mn-ea"/>
            </a:endParaRPr>
          </a:p>
          <a:p>
            <a:pPr marL="1162050" lvl="2" indent="-361950" eaLnBrk="1" hangingPunct="1">
              <a:buFont typeface="Times"/>
              <a:buNone/>
            </a:pPr>
            <a:r>
              <a:rPr lang="en-US" altLang="zh-CN" dirty="0">
                <a:solidFill>
                  <a:srgbClr val="002060"/>
                </a:solidFill>
                <a:ea typeface="宋体" panose="02010600030101010101" pitchFamily="2" charset="-122"/>
                <a:sym typeface="+mn-ea"/>
              </a:rPr>
              <a:t>for ( &lt;</a:t>
            </a:r>
            <a:r>
              <a:rPr lang="en-US" altLang="zh-CN" dirty="0" err="1">
                <a:solidFill>
                  <a:srgbClr val="002060"/>
                </a:solidFill>
                <a:ea typeface="宋体" panose="02010600030101010101" pitchFamily="2" charset="-122"/>
                <a:sym typeface="+mn-ea"/>
              </a:rPr>
              <a:t>init_expr</a:t>
            </a:r>
            <a:r>
              <a:rPr lang="en-US" altLang="zh-CN" dirty="0">
                <a:solidFill>
                  <a:srgbClr val="002060"/>
                </a:solidFill>
                <a:ea typeface="宋体" panose="02010600030101010101" pitchFamily="2" charset="-122"/>
                <a:sym typeface="+mn-ea"/>
              </a:rPr>
              <a:t>&gt;; &lt;</a:t>
            </a:r>
            <a:r>
              <a:rPr lang="en-US" altLang="zh-CN" dirty="0" err="1">
                <a:solidFill>
                  <a:srgbClr val="002060"/>
                </a:solidFill>
                <a:ea typeface="宋体" panose="02010600030101010101" pitchFamily="2" charset="-122"/>
                <a:sym typeface="+mn-ea"/>
              </a:rPr>
              <a:t>test_expr</a:t>
            </a:r>
            <a:r>
              <a:rPr lang="en-US" altLang="zh-CN" dirty="0">
                <a:solidFill>
                  <a:srgbClr val="002060"/>
                </a:solidFill>
                <a:ea typeface="宋体" panose="02010600030101010101" pitchFamily="2" charset="-122"/>
                <a:sym typeface="+mn-ea"/>
              </a:rPr>
              <a:t>&gt;; &lt;</a:t>
            </a:r>
            <a:r>
              <a:rPr lang="en-US" altLang="zh-CN" dirty="0" err="1">
                <a:solidFill>
                  <a:srgbClr val="002060"/>
                </a:solidFill>
                <a:ea typeface="宋体" panose="02010600030101010101" pitchFamily="2" charset="-122"/>
                <a:sym typeface="+mn-ea"/>
              </a:rPr>
              <a:t>alter_expr</a:t>
            </a:r>
            <a:r>
              <a:rPr lang="en-US" altLang="zh-CN" dirty="0">
                <a:solidFill>
                  <a:srgbClr val="002060"/>
                </a:solidFill>
                <a:ea typeface="宋体" panose="02010600030101010101" pitchFamily="2" charset="-122"/>
                <a:sym typeface="+mn-ea"/>
              </a:rPr>
              <a:t>&gt; ) {</a:t>
            </a:r>
            <a:endParaRPr lang="en-US" altLang="zh-CN" dirty="0">
              <a:solidFill>
                <a:srgbClr val="002060"/>
              </a:solidFill>
              <a:ea typeface="宋体" panose="02010600030101010101" pitchFamily="2" charset="-122"/>
            </a:endParaRPr>
          </a:p>
          <a:p>
            <a:pPr marL="1162050" lvl="2" indent="-361950" eaLnBrk="1" hangingPunct="1">
              <a:buFont typeface="Times"/>
              <a:buNone/>
            </a:pPr>
            <a:r>
              <a:rPr lang="en-US" altLang="zh-CN" dirty="0">
                <a:solidFill>
                  <a:srgbClr val="002060"/>
                </a:solidFill>
                <a:ea typeface="宋体" panose="02010600030101010101" pitchFamily="2" charset="-122"/>
                <a:sym typeface="+mn-ea"/>
              </a:rPr>
              <a:t>        &lt;</a:t>
            </a:r>
            <a:r>
              <a:rPr lang="en-US" altLang="zh-CN" dirty="0" err="1">
                <a:solidFill>
                  <a:srgbClr val="002060"/>
                </a:solidFill>
                <a:ea typeface="宋体" panose="02010600030101010101" pitchFamily="2" charset="-122"/>
                <a:sym typeface="+mn-ea"/>
              </a:rPr>
              <a:t>statement_or_block</a:t>
            </a:r>
            <a:r>
              <a:rPr lang="en-US" altLang="zh-CN" dirty="0">
                <a:solidFill>
                  <a:srgbClr val="002060"/>
                </a:solidFill>
                <a:ea typeface="宋体" panose="02010600030101010101" pitchFamily="2" charset="-122"/>
                <a:sym typeface="+mn-ea"/>
              </a:rPr>
              <a:t>&gt;</a:t>
            </a:r>
            <a:endParaRPr lang="en-US" altLang="zh-CN" dirty="0">
              <a:solidFill>
                <a:srgbClr val="002060"/>
              </a:solidFill>
              <a:ea typeface="宋体" panose="02010600030101010101" pitchFamily="2" charset="-122"/>
            </a:endParaRPr>
          </a:p>
          <a:p>
            <a:pPr marL="1162050" lvl="2" indent="-361950" eaLnBrk="1" hangingPunct="1">
              <a:buFont typeface="Times"/>
              <a:buNone/>
            </a:pPr>
            <a:r>
              <a:rPr lang="en-US" altLang="zh-CN" dirty="0">
                <a:solidFill>
                  <a:srgbClr val="002060"/>
                </a:solidFill>
                <a:ea typeface="宋体" panose="02010600030101010101" pitchFamily="2" charset="-122"/>
                <a:sym typeface="+mn-ea"/>
              </a:rPr>
              <a:t>}</a:t>
            </a:r>
            <a:endParaRPr lang="en-US" altLang="zh-CN" dirty="0">
              <a:solidFill>
                <a:srgbClr val="002060"/>
              </a:solidFill>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例如：</a:t>
            </a:r>
            <a:endParaRPr lang="zh-CN" altLang="en-US" dirty="0">
              <a:ea typeface="宋体" panose="02010600030101010101" pitchFamily="2" charset="-122"/>
            </a:endParaRPr>
          </a:p>
          <a:p>
            <a:pPr marL="1162050" lvl="2" indent="-361950" eaLnBrk="1" hangingPunct="1">
              <a:buFont typeface="Times"/>
              <a:buNone/>
            </a:pPr>
            <a:r>
              <a:rPr lang="en-US" altLang="zh-CN" dirty="0">
                <a:ea typeface="宋体" panose="02010600030101010101" pitchFamily="2" charset="-122"/>
                <a:sym typeface="+mn-ea"/>
              </a:rPr>
              <a:t>for ( </a:t>
            </a:r>
            <a:r>
              <a:rPr lang="en-US" altLang="zh-CN" dirty="0" err="1">
                <a:ea typeface="宋体" panose="02010600030101010101" pitchFamily="2" charset="-122"/>
                <a:sym typeface="+mn-ea"/>
              </a:rPr>
              <a:t>int</a:t>
            </a:r>
            <a:r>
              <a:rPr lang="en-US" altLang="zh-CN" dirty="0">
                <a:ea typeface="宋体" panose="02010600030101010101" pitchFamily="2" charset="-122"/>
                <a:sym typeface="+mn-ea"/>
              </a:rPr>
              <a:t> </a:t>
            </a:r>
            <a:r>
              <a:rPr lang="en-US" altLang="zh-CN" dirty="0" err="1">
                <a:ea typeface="宋体" panose="02010600030101010101" pitchFamily="2" charset="-122"/>
                <a:sym typeface="+mn-ea"/>
              </a:rPr>
              <a:t>i</a:t>
            </a:r>
            <a:r>
              <a:rPr lang="en-US" altLang="zh-CN" dirty="0">
                <a:ea typeface="宋体" panose="02010600030101010101" pitchFamily="2" charset="-122"/>
                <a:sym typeface="+mn-ea"/>
              </a:rPr>
              <a:t> = 0; </a:t>
            </a:r>
            <a:r>
              <a:rPr lang="en-US" altLang="zh-CN" dirty="0" err="1">
                <a:ea typeface="宋体" panose="02010600030101010101" pitchFamily="2" charset="-122"/>
                <a:sym typeface="+mn-ea"/>
              </a:rPr>
              <a:t>i</a:t>
            </a:r>
            <a:r>
              <a:rPr lang="en-US" altLang="zh-CN" dirty="0">
                <a:ea typeface="宋体" panose="02010600030101010101" pitchFamily="2" charset="-122"/>
                <a:sym typeface="+mn-ea"/>
              </a:rPr>
              <a:t> &lt; 3; </a:t>
            </a:r>
            <a:r>
              <a:rPr lang="en-US" altLang="zh-CN" dirty="0" err="1">
                <a:ea typeface="宋体" panose="02010600030101010101" pitchFamily="2" charset="-122"/>
                <a:sym typeface="+mn-ea"/>
              </a:rPr>
              <a:t>i</a:t>
            </a:r>
            <a:r>
              <a:rPr lang="en-US" altLang="zh-CN" dirty="0">
                <a:ea typeface="宋体" panose="02010600030101010101" pitchFamily="2" charset="-122"/>
                <a:sym typeface="+mn-ea"/>
              </a:rPr>
              <a:t>++ ) {</a:t>
            </a:r>
            <a:endParaRPr lang="en-US" altLang="zh-CN" dirty="0">
              <a:ea typeface="宋体" panose="02010600030101010101" pitchFamily="2" charset="-122"/>
            </a:endParaRPr>
          </a:p>
          <a:p>
            <a:pPr marL="1162050" lvl="2" indent="-361950" eaLnBrk="1" hangingPunct="1">
              <a:buFont typeface="Times"/>
              <a:buNone/>
            </a:pPr>
            <a:r>
              <a:rPr lang="en-US" altLang="zh-CN" dirty="0">
                <a:ea typeface="宋体" panose="02010600030101010101" pitchFamily="2" charset="-122"/>
                <a:sym typeface="+mn-ea"/>
              </a:rPr>
              <a:t>        </a:t>
            </a:r>
            <a:r>
              <a:rPr>
                <a:ea typeface="宋体" panose="02010600030101010101" pitchFamily="2" charset="-122"/>
                <a:sym typeface="+mn-ea"/>
              </a:rPr>
              <a:t>System.out.println("i = " + i);</a:t>
            </a:r>
            <a:endParaRPr>
              <a:ea typeface="宋体" panose="02010600030101010101" pitchFamily="2" charset="-122"/>
              <a:sym typeface="+mn-ea"/>
            </a:endParaRPr>
          </a:p>
          <a:p>
            <a:pPr marL="1162050" lvl="2" indent="-361950" eaLnBrk="1" hangingPunct="1">
              <a:buFont typeface="Times"/>
              <a:buNone/>
            </a:pPr>
            <a:r>
              <a:rPr lang="en-US" altLang="zh-CN" dirty="0">
                <a:ea typeface="宋体" panose="02010600030101010101" pitchFamily="2" charset="-122"/>
                <a:sym typeface="+mn-ea"/>
              </a:rPr>
              <a:t>}</a:t>
            </a:r>
            <a:endParaRPr lang="en-US" altLang="zh-CN" dirty="0">
              <a:ea typeface="宋体" panose="02010600030101010101" pitchFamily="2" charset="-122"/>
              <a:sym typeface="+mn-ea"/>
            </a:endParaRPr>
          </a:p>
          <a:p>
            <a:pPr marL="457200" lvl="2" indent="-457200" algn="l" eaLnBrk="1" hangingPunct="1">
              <a:lnSpc>
                <a:spcPct val="130000"/>
              </a:lnSpc>
              <a:spcBef>
                <a:spcPts val="1000"/>
              </a:spcBef>
              <a:buClr>
                <a:srgbClr val="ED7D31"/>
              </a:buClr>
              <a:buSzTx/>
              <a:buFont typeface="+mj-lt"/>
              <a:buAutoNum type="arabicPeriod" startAt="3"/>
            </a:pPr>
            <a:r>
              <a:rPr lang="zh-CN" altLang="en-US" sz="2400" dirty="0">
                <a:ea typeface="宋体" panose="02010600030101010101" pitchFamily="2" charset="-122"/>
                <a:sym typeface="+mn-ea"/>
              </a:rPr>
              <a:t>在</a:t>
            </a:r>
            <a:r>
              <a:rPr lang="en-US" altLang="zh-CN" sz="2400" dirty="0">
                <a:ea typeface="宋体" panose="02010600030101010101" pitchFamily="2" charset="-122"/>
                <a:sym typeface="+mn-ea"/>
              </a:rPr>
              <a:t>for()</a:t>
            </a:r>
            <a:r>
              <a:rPr lang="zh-CN" altLang="en-US" sz="2400" dirty="0">
                <a:ea typeface="宋体" panose="02010600030101010101" pitchFamily="2" charset="-122"/>
                <a:sym typeface="+mn-ea"/>
              </a:rPr>
              <a:t>结构中使用逗号作为分隔符。例如</a:t>
            </a:r>
            <a:endParaRPr lang="zh-CN" altLang="en-US" sz="2400" dirty="0">
              <a:ea typeface="宋体" panose="02010600030101010101" pitchFamily="2" charset="-122"/>
            </a:endParaRPr>
          </a:p>
          <a:p>
            <a:pPr marL="0" lvl="1" indent="457200" eaLnBrk="1" hangingPunct="1">
              <a:lnSpc>
                <a:spcPct val="130000"/>
              </a:lnSpc>
              <a:buClr>
                <a:srgbClr val="ED7D31"/>
              </a:buClr>
              <a:buFont typeface="+mj-lt"/>
              <a:buNone/>
            </a:pPr>
            <a:r>
              <a:rPr lang="en-US" dirty="0">
                <a:solidFill>
                  <a:srgbClr val="002060"/>
                </a:solidFill>
                <a:ea typeface="宋体" panose="02010600030101010101" pitchFamily="2" charset="-122"/>
              </a:rPr>
              <a:t>    </a:t>
            </a:r>
            <a:r>
              <a:rPr lang="en-US" altLang="zh-CN" dirty="0">
                <a:solidFill>
                  <a:srgbClr val="002060"/>
                </a:solidFill>
                <a:ea typeface="宋体" panose="02010600030101010101" pitchFamily="2" charset="-122"/>
                <a:sym typeface="+mn-ea"/>
              </a:rPr>
              <a:t>for (</a:t>
            </a:r>
            <a:r>
              <a:rPr lang="en-US" altLang="zh-CN" dirty="0">
                <a:ea typeface="宋体" panose="02010600030101010101" pitchFamily="2" charset="-122"/>
                <a:sym typeface="+mn-ea"/>
              </a:rPr>
              <a:t> </a:t>
            </a:r>
            <a:r>
              <a:rPr lang="en-US" altLang="zh-CN" dirty="0" err="1">
                <a:ea typeface="宋体" panose="02010600030101010101" pitchFamily="2" charset="-122"/>
                <a:sym typeface="+mn-ea"/>
              </a:rPr>
              <a:t>int</a:t>
            </a:r>
            <a:r>
              <a:rPr lang="en-US" altLang="zh-CN" dirty="0">
                <a:ea typeface="宋体" panose="02010600030101010101" pitchFamily="2" charset="-122"/>
                <a:sym typeface="+mn-ea"/>
              </a:rPr>
              <a:t> </a:t>
            </a:r>
            <a:r>
              <a:rPr lang="en-US" altLang="zh-CN" dirty="0" err="1">
                <a:ea typeface="宋体" panose="02010600030101010101" pitchFamily="2" charset="-122"/>
                <a:sym typeface="+mn-ea"/>
              </a:rPr>
              <a:t>i</a:t>
            </a:r>
            <a:r>
              <a:rPr lang="en-US" altLang="zh-CN" dirty="0">
                <a:ea typeface="宋体" panose="02010600030101010101" pitchFamily="2" charset="-122"/>
                <a:sym typeface="+mn-ea"/>
              </a:rPr>
              <a:t> = 1; </a:t>
            </a:r>
            <a:r>
              <a:rPr lang="en-US" altLang="zh-CN" dirty="0" err="1">
                <a:ea typeface="宋体" panose="02010600030101010101" pitchFamily="2" charset="-122"/>
                <a:sym typeface="+mn-ea"/>
              </a:rPr>
              <a:t>i</a:t>
            </a:r>
            <a:r>
              <a:rPr lang="en-US" altLang="zh-CN" dirty="0">
                <a:ea typeface="宋体" panose="02010600030101010101" pitchFamily="2" charset="-122"/>
                <a:sym typeface="+mn-ea"/>
              </a:rPr>
              <a:t> &lt; 10; </a:t>
            </a:r>
            <a:r>
              <a:rPr lang="en-US" altLang="zh-CN" dirty="0" err="1">
                <a:ea typeface="宋体" panose="02010600030101010101" pitchFamily="2" charset="-122"/>
                <a:sym typeface="+mn-ea"/>
              </a:rPr>
              <a:t>i</a:t>
            </a:r>
            <a:r>
              <a:rPr lang="en-US" altLang="zh-CN" dirty="0">
                <a:ea typeface="宋体" panose="02010600030101010101" pitchFamily="2" charset="-122"/>
                <a:sym typeface="+mn-ea"/>
              </a:rPr>
              <a:t>++</a:t>
            </a:r>
            <a:r>
              <a:rPr lang="en-US" altLang="zh-CN" dirty="0">
                <a:solidFill>
                  <a:srgbClr val="002060"/>
                </a:solidFill>
                <a:ea typeface="宋体" panose="02010600030101010101" pitchFamily="2" charset="-122"/>
                <a:sym typeface="+mn-ea"/>
              </a:rPr>
              <a:t>) { … }</a:t>
            </a:r>
            <a:endParaRPr lang="en-US" altLang="zh-CN" dirty="0">
              <a:solidFill>
                <a:srgbClr val="002060"/>
              </a:solidFill>
              <a:ea typeface="宋体" panose="02010600030101010101" pitchFamily="2" charset="-122"/>
            </a:endParaRPr>
          </a:p>
          <a:p>
            <a:pPr marL="0" indent="457200" eaLnBrk="1" hangingPunct="1">
              <a:lnSpc>
                <a:spcPct val="130000"/>
              </a:lnSpc>
              <a:buClr>
                <a:srgbClr val="ED7D31"/>
              </a:buClr>
              <a:buFont typeface="+mj-lt"/>
              <a:buNone/>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示例 — TestFor类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02403" name="内容占位符 2"/>
          <p:cNvSpPr>
            <a:spLocks noGrp="1"/>
          </p:cNvSpPr>
          <p:nvPr>
            <p:ph idx="4294967295"/>
          </p:nvPr>
        </p:nvSpPr>
        <p:spPr>
          <a:xfrm>
            <a:off x="1322705" y="1270635"/>
            <a:ext cx="9204325" cy="5299710"/>
          </a:xfrm>
        </p:spPr>
        <p:txBody>
          <a:bodyPr/>
          <a:p>
            <a:pPr marL="361950" indent="-361950" eaLnBrk="1" hangingPunct="1">
              <a:buFont typeface="Times"/>
              <a:buNone/>
            </a:pPr>
            <a:r>
              <a:rPr lang="en-US" altLang="zh-CN" sz="2000" dirty="0">
                <a:solidFill>
                  <a:srgbClr val="002060"/>
                </a:solidFill>
                <a:ea typeface="宋体" panose="02010600030101010101" pitchFamily="2" charset="-122"/>
              </a:rPr>
              <a:t>1 public class </a:t>
            </a:r>
            <a:r>
              <a:rPr lang="en-US" altLang="zh-CN" sz="2000" dirty="0" err="1">
                <a:solidFill>
                  <a:srgbClr val="002060"/>
                </a:solidFill>
                <a:ea typeface="宋体" panose="02010600030101010101" pitchFamily="2" charset="-122"/>
              </a:rPr>
              <a:t>TestFor</a:t>
            </a:r>
            <a:r>
              <a:rPr lang="en-US" altLang="zh-CN" sz="2000" dirty="0">
                <a:solidFill>
                  <a:srgbClr val="002060"/>
                </a:solidFill>
                <a:ea typeface="宋体" panose="02010600030101010101" pitchFamily="2" charset="-122"/>
              </a:rPr>
              <a:t> {</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2     public static void main(String[] </a:t>
            </a:r>
            <a:r>
              <a:rPr lang="en-US" altLang="zh-CN" sz="2000" dirty="0" err="1">
                <a:solidFill>
                  <a:srgbClr val="002060"/>
                </a:solidFill>
                <a:ea typeface="宋体" panose="02010600030101010101" pitchFamily="2" charset="-122"/>
              </a:rPr>
              <a:t>args</a:t>
            </a:r>
            <a:r>
              <a:rPr lang="en-US" altLang="zh-CN" sz="2000" dirty="0">
                <a:solidFill>
                  <a:srgbClr val="002060"/>
                </a:solidFill>
                <a:ea typeface="宋体" panose="02010600030101010101" pitchFamily="2" charset="-122"/>
              </a:rPr>
              <a:t>) {</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3         for (</a:t>
            </a:r>
            <a:r>
              <a:rPr lang="en-US" altLang="zh-CN" sz="2000" dirty="0" err="1">
                <a:solidFill>
                  <a:srgbClr val="002060"/>
                </a:solidFill>
                <a:ea typeface="宋体" panose="02010600030101010101" pitchFamily="2" charset="-122"/>
              </a:rPr>
              <a:t>int</a:t>
            </a:r>
            <a:r>
              <a:rPr lang="en-US" altLang="zh-CN" sz="2000" dirty="0">
                <a:solidFill>
                  <a:srgbClr val="002060"/>
                </a:solidFill>
                <a:ea typeface="宋体" panose="02010600030101010101" pitchFamily="2" charset="-122"/>
              </a:rPr>
              <a:t> </a:t>
            </a:r>
            <a:r>
              <a:rPr lang="en-US" altLang="zh-CN" sz="2000" dirty="0" err="1">
                <a:solidFill>
                  <a:srgbClr val="002060"/>
                </a:solidFill>
                <a:ea typeface="宋体" panose="02010600030101010101" pitchFamily="2" charset="-122"/>
              </a:rPr>
              <a:t>i</a:t>
            </a:r>
            <a:r>
              <a:rPr lang="en-US" altLang="zh-CN" sz="2000" dirty="0">
                <a:solidFill>
                  <a:srgbClr val="002060"/>
                </a:solidFill>
                <a:ea typeface="宋体" panose="02010600030101010101" pitchFamily="2" charset="-122"/>
              </a:rPr>
              <a:t> = 1; </a:t>
            </a:r>
            <a:r>
              <a:rPr lang="en-US" altLang="zh-CN" sz="2000" dirty="0" err="1">
                <a:solidFill>
                  <a:srgbClr val="002060"/>
                </a:solidFill>
                <a:ea typeface="宋体" panose="02010600030101010101" pitchFamily="2" charset="-122"/>
              </a:rPr>
              <a:t>i</a:t>
            </a:r>
            <a:r>
              <a:rPr lang="en-US" altLang="zh-CN" sz="2000" dirty="0">
                <a:solidFill>
                  <a:srgbClr val="002060"/>
                </a:solidFill>
                <a:ea typeface="宋体" panose="02010600030101010101" pitchFamily="2" charset="-122"/>
              </a:rPr>
              <a:t> &lt;= 60; </a:t>
            </a:r>
            <a:r>
              <a:rPr lang="en-US" altLang="zh-CN" sz="2000" dirty="0" err="1">
                <a:solidFill>
                  <a:srgbClr val="002060"/>
                </a:solidFill>
                <a:ea typeface="宋体" panose="02010600030101010101" pitchFamily="2" charset="-122"/>
              </a:rPr>
              <a:t>i</a:t>
            </a:r>
            <a:r>
              <a:rPr lang="en-US" altLang="zh-CN" sz="2000" dirty="0">
                <a:solidFill>
                  <a:srgbClr val="002060"/>
                </a:solidFill>
                <a:ea typeface="宋体" panose="02010600030101010101" pitchFamily="2" charset="-122"/>
              </a:rPr>
              <a:t>++) {</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4             if (</a:t>
            </a:r>
            <a:r>
              <a:rPr lang="en-US" altLang="zh-CN" sz="2000" dirty="0" err="1">
                <a:solidFill>
                  <a:srgbClr val="002060"/>
                </a:solidFill>
                <a:ea typeface="宋体" panose="02010600030101010101" pitchFamily="2" charset="-122"/>
              </a:rPr>
              <a:t>i</a:t>
            </a:r>
            <a:r>
              <a:rPr lang="en-US" altLang="zh-CN" sz="2000" dirty="0">
                <a:solidFill>
                  <a:srgbClr val="002060"/>
                </a:solidFill>
                <a:ea typeface="宋体" panose="02010600030101010101" pitchFamily="2" charset="-122"/>
              </a:rPr>
              <a:t> % 13 == 0)  </a:t>
            </a:r>
            <a:r>
              <a:rPr lang="en-US" altLang="zh-CN" sz="2000" dirty="0" err="1">
                <a:solidFill>
                  <a:srgbClr val="002060"/>
                </a:solidFill>
                <a:ea typeface="宋体" panose="02010600030101010101" pitchFamily="2" charset="-122"/>
              </a:rPr>
              <a:t>System.out.print</a:t>
            </a:r>
            <a:r>
              <a:rPr lang="en-US" altLang="zh-CN" sz="2000" dirty="0">
                <a:solidFill>
                  <a:srgbClr val="002060"/>
                </a:solidFill>
                <a:ea typeface="宋体" panose="02010600030101010101" pitchFamily="2" charset="-122"/>
              </a:rPr>
              <a:t>(</a:t>
            </a:r>
            <a:r>
              <a:rPr lang="en-US" altLang="zh-CN" sz="2000" dirty="0" err="1">
                <a:solidFill>
                  <a:srgbClr val="002060"/>
                </a:solidFill>
                <a:ea typeface="宋体" panose="02010600030101010101" pitchFamily="2" charset="-122"/>
              </a:rPr>
              <a:t>i</a:t>
            </a:r>
            <a:r>
              <a:rPr lang="en-US" altLang="zh-CN" sz="2000" dirty="0">
                <a:solidFill>
                  <a:srgbClr val="002060"/>
                </a:solidFill>
                <a:ea typeface="宋体" panose="02010600030101010101" pitchFamily="2" charset="-122"/>
              </a:rPr>
              <a:t> + "  ");</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5         }</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6         </a:t>
            </a:r>
            <a:r>
              <a:rPr lang="en-US" altLang="zh-CN" sz="2000" dirty="0" err="1">
                <a:solidFill>
                  <a:srgbClr val="002060"/>
                </a:solidFill>
                <a:ea typeface="宋体" panose="02010600030101010101" pitchFamily="2" charset="-122"/>
              </a:rPr>
              <a:t>System.out.println</a:t>
            </a:r>
            <a:r>
              <a:rPr lang="en-US" altLang="zh-CN" sz="2000" dirty="0">
                <a:solidFill>
                  <a:srgbClr val="002060"/>
                </a:solidFill>
                <a:ea typeface="宋体" panose="02010600030101010101" pitchFamily="2" charset="-122"/>
              </a:rPr>
              <a:t>();</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7     }</a:t>
            </a:r>
            <a:endParaRPr lang="en-US" altLang="zh-CN" sz="2000" dirty="0">
              <a:solidFill>
                <a:srgbClr val="002060"/>
              </a:solidFill>
              <a:ea typeface="宋体" panose="02010600030101010101" pitchFamily="2" charset="-122"/>
            </a:endParaRPr>
          </a:p>
          <a:p>
            <a:pPr marL="361950" indent="-361950" eaLnBrk="1" hangingPunct="1">
              <a:buFont typeface="Times"/>
              <a:buNone/>
            </a:pPr>
            <a:r>
              <a:rPr lang="en-US" altLang="zh-CN" sz="2000" dirty="0">
                <a:solidFill>
                  <a:srgbClr val="002060"/>
                </a:solidFill>
                <a:ea typeface="宋体" panose="02010600030101010101" pitchFamily="2" charset="-122"/>
              </a:rPr>
              <a:t>8 }</a:t>
            </a:r>
            <a:endParaRPr lang="en-US" altLang="zh-CN" sz="20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44320"/>
            <a:ext cx="9527540" cy="2920365"/>
          </a:xfrm>
        </p:spPr>
        <p:txBody>
          <a:bodyPr>
            <a:normAutofit/>
          </a:bodyPr>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编写</a:t>
            </a:r>
            <a:r>
              <a:rPr lang="en-US" altLang="zh-CN" dirty="0" smtClean="0">
                <a:ea typeface="宋体" panose="02010600030101010101" pitchFamily="2" charset="-122"/>
                <a:sym typeface="+mn-ea"/>
              </a:rPr>
              <a:t>Exercise13</a:t>
            </a:r>
            <a:r>
              <a:rPr lang="zh-CN" altLang="en-US" dirty="0">
                <a:ea typeface="宋体" panose="02010600030101010101" pitchFamily="2" charset="-122"/>
                <a:sym typeface="+mn-ea"/>
              </a:rPr>
              <a:t>程序，使用</a:t>
            </a:r>
            <a:r>
              <a:rPr lang="en-US" altLang="zh-CN" dirty="0">
                <a:ea typeface="宋体" panose="02010600030101010101" pitchFamily="2" charset="-122"/>
                <a:sym typeface="+mn-ea"/>
              </a:rPr>
              <a:t>for</a:t>
            </a:r>
            <a:r>
              <a:rPr lang="zh-CN" altLang="en-US" dirty="0">
                <a:ea typeface="宋体" panose="02010600030101010101" pitchFamily="2" charset="-122"/>
                <a:sym typeface="+mn-ea"/>
              </a:rPr>
              <a:t>循环，打印</a:t>
            </a:r>
            <a:r>
              <a:rPr lang="en-US" altLang="zh-CN" dirty="0">
                <a:ea typeface="宋体" panose="02010600030101010101" pitchFamily="2" charset="-122"/>
                <a:sym typeface="+mn-ea"/>
              </a:rPr>
              <a:t>1-100</a:t>
            </a:r>
            <a:r>
              <a:rPr lang="zh-CN" altLang="en-US" dirty="0">
                <a:ea typeface="宋体" panose="02010600030101010101" pitchFamily="2" charset="-122"/>
                <a:sym typeface="+mn-ea"/>
              </a:rPr>
              <a:t>之间</a:t>
            </a:r>
            <a:r>
              <a:rPr lang="en-US" altLang="zh-CN" dirty="0">
                <a:ea typeface="宋体" panose="02010600030101010101" pitchFamily="2" charset="-122"/>
                <a:sym typeface="+mn-ea"/>
              </a:rPr>
              <a:t>13</a:t>
            </a:r>
            <a:r>
              <a:rPr lang="zh-CN" altLang="en-US" dirty="0">
                <a:ea typeface="宋体" panose="02010600030101010101" pitchFamily="2" charset="-122"/>
                <a:sym typeface="+mn-ea"/>
              </a:rPr>
              <a:t>的倍数。</a:t>
            </a:r>
            <a:endParaRPr lang="zh-CN" altLang="en-US"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编写</a:t>
            </a:r>
            <a:r>
              <a:rPr lang="en-US" altLang="zh-CN" dirty="0" smtClean="0">
                <a:ea typeface="宋体" panose="02010600030101010101" pitchFamily="2" charset="-122"/>
                <a:sym typeface="+mn-ea"/>
              </a:rPr>
              <a:t>Exercise14</a:t>
            </a:r>
            <a:r>
              <a:rPr lang="zh-CN" altLang="en-US" dirty="0">
                <a:ea typeface="宋体" panose="02010600030101010101" pitchFamily="2" charset="-122"/>
                <a:sym typeface="+mn-ea"/>
              </a:rPr>
              <a:t>程序，使用两重循环打印</a:t>
            </a:r>
            <a:r>
              <a:rPr lang="en-US" altLang="zh-CN" dirty="0">
                <a:ea typeface="宋体" panose="02010600030101010101" pitchFamily="2" charset="-122"/>
                <a:sym typeface="+mn-ea"/>
              </a:rPr>
              <a:t>20X8</a:t>
            </a:r>
            <a:r>
              <a:rPr lang="zh-CN" altLang="en-US" dirty="0">
                <a:ea typeface="宋体" panose="02010600030101010101" pitchFamily="2" charset="-122"/>
                <a:sym typeface="+mn-ea"/>
              </a:rPr>
              <a:t>的矩形，使用</a:t>
            </a:r>
            <a:r>
              <a:rPr lang="en-US" altLang="zh-CN" dirty="0">
                <a:ea typeface="宋体" panose="02010600030101010101" pitchFamily="2" charset="-122"/>
                <a:sym typeface="+mn-ea"/>
              </a:rPr>
              <a:t>for</a:t>
            </a:r>
            <a:r>
              <a:rPr lang="zh-CN" altLang="en-US" dirty="0">
                <a:ea typeface="宋体" panose="02010600030101010101" pitchFamily="2" charset="-122"/>
                <a:sym typeface="+mn-ea"/>
              </a:rPr>
              <a:t>循环实现</a:t>
            </a: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循环的嵌套（多重循环）</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220470"/>
            <a:ext cx="9527540" cy="4745990"/>
          </a:xfrm>
        </p:spPr>
        <p:txBody>
          <a:bodyPr>
            <a:normAutofit/>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for</a:t>
            </a:r>
            <a:r>
              <a:rPr lang="zh-CN" altLang="en-US" dirty="0">
                <a:ea typeface="宋体" panose="02010600030101010101" pitchFamily="2" charset="-122"/>
                <a:sym typeface="+mn-ea"/>
              </a:rPr>
              <a:t>、</a:t>
            </a:r>
            <a:r>
              <a:rPr lang="en-US" altLang="zh-CN" dirty="0">
                <a:ea typeface="宋体" panose="02010600030101010101" pitchFamily="2" charset="-122"/>
                <a:sym typeface="+mn-ea"/>
              </a:rPr>
              <a:t>do-while</a:t>
            </a:r>
            <a:r>
              <a:rPr lang="zh-CN" altLang="en-US" dirty="0">
                <a:ea typeface="宋体" panose="02010600030101010101" pitchFamily="2" charset="-122"/>
                <a:sym typeface="+mn-ea"/>
              </a:rPr>
              <a:t>和</a:t>
            </a:r>
            <a:r>
              <a:rPr lang="en-US" altLang="zh-CN" dirty="0">
                <a:ea typeface="宋体" panose="02010600030101010101" pitchFamily="2" charset="-122"/>
                <a:sym typeface="+mn-ea"/>
              </a:rPr>
              <a:t>while</a:t>
            </a:r>
            <a:r>
              <a:rPr lang="zh-CN" altLang="en-US" dirty="0">
                <a:ea typeface="宋体" panose="02010600030101010101" pitchFamily="2" charset="-122"/>
                <a:sym typeface="+mn-ea"/>
              </a:rPr>
              <a:t>循环语句都可以嵌套使用</a:t>
            </a:r>
            <a:endParaRPr lang="zh-CN" altLang="en-US"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例如：</a:t>
            </a:r>
            <a:endParaRPr lang="zh-CN" altLang="en-US" dirty="0">
              <a:ea typeface="宋体" panose="02010600030101010101" pitchFamily="2" charset="-122"/>
            </a:endParaRPr>
          </a:p>
          <a:p>
            <a:pPr marL="1162050" lvl="2" indent="-361950" eaLnBrk="1" hangingPunct="1">
              <a:buFont typeface="Times"/>
              <a:buNone/>
            </a:pPr>
            <a:r>
              <a:rPr lang="en-US" altLang="zh-CN" dirty="0">
                <a:solidFill>
                  <a:srgbClr val="ED7D31"/>
                </a:solidFill>
                <a:ea typeface="宋体" panose="02010600030101010101" pitchFamily="2" charset="-122"/>
                <a:sym typeface="+mn-ea"/>
              </a:rPr>
              <a:t>for (</a:t>
            </a:r>
            <a:r>
              <a:rPr lang="en-US" altLang="zh-CN" dirty="0" err="1">
                <a:solidFill>
                  <a:srgbClr val="ED7D31"/>
                </a:solidFill>
                <a:ea typeface="宋体" panose="02010600030101010101" pitchFamily="2" charset="-122"/>
                <a:sym typeface="+mn-ea"/>
              </a:rPr>
              <a:t>int</a:t>
            </a:r>
            <a:r>
              <a:rPr lang="en-US" altLang="zh-CN" dirty="0">
                <a:solidFill>
                  <a:srgbClr val="ED7D31"/>
                </a:solidFill>
                <a:ea typeface="宋体" panose="02010600030101010101" pitchFamily="2" charset="-122"/>
                <a:sym typeface="+mn-ea"/>
              </a:rPr>
              <a:t> </a:t>
            </a:r>
            <a:r>
              <a:rPr lang="en-US" altLang="zh-CN" dirty="0" err="1">
                <a:solidFill>
                  <a:srgbClr val="ED7D31"/>
                </a:solidFill>
                <a:ea typeface="宋体" panose="02010600030101010101" pitchFamily="2" charset="-122"/>
                <a:sym typeface="+mn-ea"/>
              </a:rPr>
              <a:t>i</a:t>
            </a:r>
            <a:r>
              <a:rPr lang="en-US" altLang="zh-CN" dirty="0">
                <a:solidFill>
                  <a:srgbClr val="ED7D31"/>
                </a:solidFill>
                <a:ea typeface="宋体" panose="02010600030101010101" pitchFamily="2" charset="-122"/>
                <a:sym typeface="+mn-ea"/>
              </a:rPr>
              <a:t> = 2; </a:t>
            </a:r>
            <a:r>
              <a:rPr lang="en-US" altLang="zh-CN" dirty="0" err="1">
                <a:solidFill>
                  <a:srgbClr val="ED7D31"/>
                </a:solidFill>
                <a:ea typeface="宋体" panose="02010600030101010101" pitchFamily="2" charset="-122"/>
                <a:sym typeface="+mn-ea"/>
              </a:rPr>
              <a:t>i</a:t>
            </a:r>
            <a:r>
              <a:rPr lang="en-US" altLang="zh-CN" dirty="0">
                <a:solidFill>
                  <a:srgbClr val="ED7D31"/>
                </a:solidFill>
                <a:ea typeface="宋体" panose="02010600030101010101" pitchFamily="2" charset="-122"/>
                <a:sym typeface="+mn-ea"/>
              </a:rPr>
              <a:t> &lt;= 100; </a:t>
            </a:r>
            <a:r>
              <a:rPr lang="en-US" altLang="zh-CN" dirty="0" err="1">
                <a:solidFill>
                  <a:srgbClr val="ED7D31"/>
                </a:solidFill>
                <a:ea typeface="宋体" panose="02010600030101010101" pitchFamily="2" charset="-122"/>
                <a:sym typeface="+mn-ea"/>
              </a:rPr>
              <a:t>i</a:t>
            </a:r>
            <a:r>
              <a:rPr lang="en-US" altLang="zh-CN" dirty="0">
                <a:solidFill>
                  <a:srgbClr val="ED7D31"/>
                </a:solidFill>
                <a:ea typeface="宋体" panose="02010600030101010101" pitchFamily="2" charset="-122"/>
                <a:sym typeface="+mn-ea"/>
              </a:rPr>
              <a:t>++) {</a:t>
            </a:r>
            <a:endParaRPr lang="en-US" altLang="zh-CN" dirty="0">
              <a:solidFill>
                <a:srgbClr val="ED7D31"/>
              </a:solidFill>
              <a:ea typeface="宋体" panose="02010600030101010101" pitchFamily="2" charset="-122"/>
            </a:endParaRPr>
          </a:p>
          <a:p>
            <a:pPr marL="1162050" lvl="2" indent="-361950" eaLnBrk="1" hangingPunct="1">
              <a:buFont typeface="Times"/>
              <a:buNone/>
            </a:pPr>
            <a:r>
              <a:rPr lang="en-US" altLang="zh-CN" dirty="0">
                <a:solidFill>
                  <a:srgbClr val="ED7D31"/>
                </a:solidFill>
                <a:ea typeface="宋体" panose="02010600030101010101" pitchFamily="2" charset="-122"/>
                <a:sym typeface="+mn-ea"/>
              </a:rPr>
              <a:t>		for (</a:t>
            </a:r>
            <a:r>
              <a:rPr lang="en-US" altLang="zh-CN" dirty="0" err="1">
                <a:solidFill>
                  <a:srgbClr val="ED7D31"/>
                </a:solidFill>
                <a:ea typeface="宋体" panose="02010600030101010101" pitchFamily="2" charset="-122"/>
                <a:sym typeface="+mn-ea"/>
              </a:rPr>
              <a:t>int</a:t>
            </a:r>
            <a:r>
              <a:rPr lang="en-US" altLang="zh-CN" dirty="0">
                <a:solidFill>
                  <a:srgbClr val="ED7D31"/>
                </a:solidFill>
                <a:ea typeface="宋体" panose="02010600030101010101" pitchFamily="2" charset="-122"/>
                <a:sym typeface="+mn-ea"/>
              </a:rPr>
              <a:t> j = 2; j &lt; </a:t>
            </a:r>
            <a:r>
              <a:rPr lang="en-US" altLang="zh-CN" dirty="0" err="1">
                <a:solidFill>
                  <a:srgbClr val="ED7D31"/>
                </a:solidFill>
                <a:ea typeface="宋体" panose="02010600030101010101" pitchFamily="2" charset="-122"/>
                <a:sym typeface="+mn-ea"/>
              </a:rPr>
              <a:t>i</a:t>
            </a:r>
            <a:r>
              <a:rPr lang="en-US" altLang="zh-CN" dirty="0">
                <a:solidFill>
                  <a:srgbClr val="ED7D31"/>
                </a:solidFill>
                <a:ea typeface="宋体" panose="02010600030101010101" pitchFamily="2" charset="-122"/>
                <a:sym typeface="+mn-ea"/>
              </a:rPr>
              <a:t>; j++) {</a:t>
            </a:r>
            <a:endParaRPr lang="en-US" altLang="zh-CN" dirty="0">
              <a:solidFill>
                <a:srgbClr val="ED7D31"/>
              </a:solidFill>
              <a:ea typeface="宋体" panose="02010600030101010101" pitchFamily="2" charset="-122"/>
            </a:endParaRPr>
          </a:p>
          <a:p>
            <a:pPr marL="1162050" lvl="2" indent="-361950" eaLnBrk="1" hangingPunct="1">
              <a:buFont typeface="Times"/>
              <a:buNone/>
            </a:pPr>
            <a:r>
              <a:rPr lang="en-US" altLang="zh-CN" dirty="0">
                <a:solidFill>
                  <a:srgbClr val="ED7D31"/>
                </a:solidFill>
                <a:ea typeface="宋体" panose="02010600030101010101" pitchFamily="2" charset="-122"/>
                <a:sym typeface="+mn-ea"/>
              </a:rPr>
              <a:t>			if (</a:t>
            </a:r>
            <a:r>
              <a:rPr lang="en-US" altLang="zh-CN" dirty="0" err="1">
                <a:solidFill>
                  <a:srgbClr val="ED7D31"/>
                </a:solidFill>
                <a:ea typeface="宋体" panose="02010600030101010101" pitchFamily="2" charset="-122"/>
                <a:sym typeface="+mn-ea"/>
              </a:rPr>
              <a:t>i</a:t>
            </a:r>
            <a:r>
              <a:rPr lang="en-US" altLang="zh-CN" dirty="0">
                <a:solidFill>
                  <a:srgbClr val="ED7D31"/>
                </a:solidFill>
                <a:ea typeface="宋体" panose="02010600030101010101" pitchFamily="2" charset="-122"/>
                <a:sym typeface="+mn-ea"/>
              </a:rPr>
              <a:t> % j == 0) {</a:t>
            </a:r>
            <a:endParaRPr lang="en-US" altLang="zh-CN" dirty="0">
              <a:solidFill>
                <a:srgbClr val="ED7D31"/>
              </a:solidFill>
              <a:ea typeface="宋体" panose="02010600030101010101" pitchFamily="2" charset="-122"/>
            </a:endParaRPr>
          </a:p>
          <a:p>
            <a:pPr marL="1162050" lvl="2" indent="-361950" eaLnBrk="1" hangingPunct="1">
              <a:buFont typeface="Times"/>
              <a:buNone/>
            </a:pPr>
            <a:r>
              <a:rPr lang="en-US" altLang="zh-CN" dirty="0">
                <a:solidFill>
                  <a:srgbClr val="ED7D31"/>
                </a:solidFill>
                <a:ea typeface="宋体" panose="02010600030101010101" pitchFamily="2" charset="-122"/>
                <a:sym typeface="+mn-ea"/>
              </a:rPr>
              <a:t>				……</a:t>
            </a:r>
            <a:endParaRPr lang="en-US" altLang="zh-CN" dirty="0">
              <a:solidFill>
                <a:srgbClr val="ED7D31"/>
              </a:solidFill>
              <a:ea typeface="宋体" panose="02010600030101010101" pitchFamily="2" charset="-122"/>
            </a:endParaRPr>
          </a:p>
          <a:p>
            <a:pPr marL="1162050" lvl="2" indent="-361950" eaLnBrk="1" hangingPunct="1">
              <a:buFont typeface="Times"/>
              <a:buNone/>
            </a:pPr>
            <a:r>
              <a:rPr lang="en-US" altLang="zh-CN" dirty="0">
                <a:solidFill>
                  <a:srgbClr val="ED7D31"/>
                </a:solidFill>
                <a:ea typeface="宋体" panose="02010600030101010101" pitchFamily="2" charset="-122"/>
                <a:sym typeface="+mn-ea"/>
              </a:rPr>
              <a:t>			}</a:t>
            </a:r>
            <a:endParaRPr lang="en-US" altLang="zh-CN" dirty="0">
              <a:solidFill>
                <a:srgbClr val="ED7D31"/>
              </a:solidFill>
              <a:ea typeface="宋体" panose="02010600030101010101" pitchFamily="2" charset="-122"/>
            </a:endParaRPr>
          </a:p>
          <a:p>
            <a:pPr marL="1162050" lvl="2" indent="-361950" eaLnBrk="1" hangingPunct="1">
              <a:buFont typeface="Times"/>
              <a:buNone/>
            </a:pPr>
            <a:r>
              <a:rPr lang="en-US" altLang="zh-CN" dirty="0">
                <a:solidFill>
                  <a:srgbClr val="ED7D31"/>
                </a:solidFill>
                <a:ea typeface="宋体" panose="02010600030101010101" pitchFamily="2" charset="-122"/>
                <a:sym typeface="+mn-ea"/>
              </a:rPr>
              <a:t>		}</a:t>
            </a:r>
            <a:endParaRPr lang="en-US" altLang="zh-CN" dirty="0">
              <a:solidFill>
                <a:srgbClr val="ED7D31"/>
              </a:solidFill>
              <a:ea typeface="宋体" panose="02010600030101010101" pitchFamily="2" charset="-122"/>
            </a:endParaRPr>
          </a:p>
          <a:p>
            <a:pPr marL="1162050" lvl="2" indent="-361950" eaLnBrk="1" hangingPunct="1">
              <a:buFont typeface="Times"/>
              <a:buNone/>
            </a:pPr>
            <a:r>
              <a:rPr lang="en-US" altLang="zh-CN" dirty="0">
                <a:solidFill>
                  <a:srgbClr val="ED7D31"/>
                </a:solidFill>
                <a:ea typeface="宋体" panose="02010600030101010101" pitchFamily="2" charset="-122"/>
                <a:sym typeface="+mn-ea"/>
              </a:rPr>
              <a:t>}</a:t>
            </a: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示例 — 打印1-100之间的质数</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05475" name="内容占位符 2"/>
          <p:cNvSpPr>
            <a:spLocks noGrp="1"/>
          </p:cNvSpPr>
          <p:nvPr>
            <p:ph idx="4294967295"/>
          </p:nvPr>
        </p:nvSpPr>
        <p:spPr>
          <a:xfrm>
            <a:off x="1413802" y="1020783"/>
            <a:ext cx="7537450" cy="4816475"/>
          </a:xfrm>
        </p:spPr>
        <p:txBody>
          <a:bodyPr>
            <a:noAutofit/>
          </a:bodyPr>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1  public class TestFor1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2      public static void main(String[] </a:t>
            </a:r>
            <a:r>
              <a:rPr lang="en-US" altLang="zh-CN" sz="1400" dirty="0" err="1">
                <a:solidFill>
                  <a:srgbClr val="002060"/>
                </a:solidFill>
                <a:ea typeface="宋体" panose="02010600030101010101" pitchFamily="2" charset="-122"/>
              </a:rPr>
              <a:t>args</a:t>
            </a:r>
            <a:r>
              <a:rPr lang="en-US" altLang="zh-CN" sz="1400" dirty="0">
                <a:solidFill>
                  <a:srgbClr val="002060"/>
                </a:solidFill>
                <a:ea typeface="宋体" panose="02010600030101010101" pitchFamily="2" charset="-122"/>
              </a:rPr>
              <a:t>)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3          for (</a:t>
            </a:r>
            <a:r>
              <a:rPr lang="en-US" altLang="zh-CN" sz="1400" dirty="0" err="1">
                <a:solidFill>
                  <a:srgbClr val="002060"/>
                </a:solidFill>
                <a:ea typeface="宋体" panose="02010600030101010101" pitchFamily="2" charset="-122"/>
              </a:rPr>
              <a:t>int</a:t>
            </a:r>
            <a:r>
              <a:rPr lang="en-US" altLang="zh-CN" sz="1400" dirty="0">
                <a:solidFill>
                  <a:srgbClr val="002060"/>
                </a:solidFill>
                <a:ea typeface="宋体" panose="02010600030101010101" pitchFamily="2" charset="-122"/>
              </a:rPr>
              <a:t> </a:t>
            </a:r>
            <a:r>
              <a:rPr lang="en-US" altLang="zh-CN" sz="1400" dirty="0" err="1">
                <a:solidFill>
                  <a:srgbClr val="002060"/>
                </a:solidFill>
                <a:ea typeface="宋体" panose="02010600030101010101" pitchFamily="2" charset="-122"/>
              </a:rPr>
              <a:t>i</a:t>
            </a:r>
            <a:r>
              <a:rPr lang="en-US" altLang="zh-CN" sz="1400" dirty="0">
                <a:solidFill>
                  <a:srgbClr val="002060"/>
                </a:solidFill>
                <a:ea typeface="宋体" panose="02010600030101010101" pitchFamily="2" charset="-122"/>
              </a:rPr>
              <a:t> = 2; </a:t>
            </a:r>
            <a:r>
              <a:rPr lang="en-US" altLang="zh-CN" sz="1400" dirty="0" err="1">
                <a:solidFill>
                  <a:srgbClr val="002060"/>
                </a:solidFill>
                <a:ea typeface="宋体" panose="02010600030101010101" pitchFamily="2" charset="-122"/>
              </a:rPr>
              <a:t>i</a:t>
            </a:r>
            <a:r>
              <a:rPr lang="en-US" altLang="zh-CN" sz="1400" dirty="0">
                <a:solidFill>
                  <a:srgbClr val="002060"/>
                </a:solidFill>
                <a:ea typeface="宋体" panose="02010600030101010101" pitchFamily="2" charset="-122"/>
              </a:rPr>
              <a:t> &lt;= 100; </a:t>
            </a:r>
            <a:r>
              <a:rPr lang="en-US" altLang="zh-CN" sz="1400" dirty="0" err="1">
                <a:solidFill>
                  <a:srgbClr val="002060"/>
                </a:solidFill>
                <a:ea typeface="宋体" panose="02010600030101010101" pitchFamily="2" charset="-122"/>
              </a:rPr>
              <a:t>i</a:t>
            </a:r>
            <a:r>
              <a:rPr lang="en-US" altLang="zh-CN" sz="1400" dirty="0">
                <a:solidFill>
                  <a:srgbClr val="002060"/>
                </a:solidFill>
                <a:ea typeface="宋体" panose="02010600030101010101" pitchFamily="2" charset="-122"/>
              </a:rPr>
              <a:t>++)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4              </a:t>
            </a:r>
            <a:r>
              <a:rPr lang="en-US" altLang="zh-CN" sz="1400" dirty="0" err="1">
                <a:solidFill>
                  <a:srgbClr val="002060"/>
                </a:solidFill>
                <a:ea typeface="宋体" panose="02010600030101010101" pitchFamily="2" charset="-122"/>
              </a:rPr>
              <a:t>boolean</a:t>
            </a:r>
            <a:r>
              <a:rPr lang="en-US" altLang="zh-CN" sz="1400" dirty="0">
                <a:solidFill>
                  <a:srgbClr val="002060"/>
                </a:solidFill>
                <a:ea typeface="宋体" panose="02010600030101010101" pitchFamily="2" charset="-122"/>
              </a:rPr>
              <a:t> flag = true;</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5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6              for (</a:t>
            </a:r>
            <a:r>
              <a:rPr lang="en-US" altLang="zh-CN" sz="1400" dirty="0" err="1">
                <a:solidFill>
                  <a:srgbClr val="002060"/>
                </a:solidFill>
                <a:ea typeface="宋体" panose="02010600030101010101" pitchFamily="2" charset="-122"/>
              </a:rPr>
              <a:t>int</a:t>
            </a:r>
            <a:r>
              <a:rPr lang="en-US" altLang="zh-CN" sz="1400" dirty="0">
                <a:solidFill>
                  <a:srgbClr val="002060"/>
                </a:solidFill>
                <a:ea typeface="宋体" panose="02010600030101010101" pitchFamily="2" charset="-122"/>
              </a:rPr>
              <a:t> j = 2; j &lt; </a:t>
            </a:r>
            <a:r>
              <a:rPr lang="en-US" altLang="zh-CN" sz="1400" dirty="0" err="1">
                <a:solidFill>
                  <a:srgbClr val="002060"/>
                </a:solidFill>
                <a:ea typeface="宋体" panose="02010600030101010101" pitchFamily="2" charset="-122"/>
              </a:rPr>
              <a:t>i</a:t>
            </a:r>
            <a:r>
              <a:rPr lang="en-US" altLang="zh-CN" sz="1400" dirty="0">
                <a:solidFill>
                  <a:srgbClr val="002060"/>
                </a:solidFill>
                <a:ea typeface="宋体" panose="02010600030101010101" pitchFamily="2" charset="-122"/>
              </a:rPr>
              <a:t>; j++)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7                  if (</a:t>
            </a:r>
            <a:r>
              <a:rPr lang="en-US" altLang="zh-CN" sz="1400" dirty="0" err="1">
                <a:solidFill>
                  <a:srgbClr val="002060"/>
                </a:solidFill>
                <a:ea typeface="宋体" panose="02010600030101010101" pitchFamily="2" charset="-122"/>
              </a:rPr>
              <a:t>i</a:t>
            </a:r>
            <a:r>
              <a:rPr lang="en-US" altLang="zh-CN" sz="1400" dirty="0">
                <a:solidFill>
                  <a:srgbClr val="002060"/>
                </a:solidFill>
                <a:ea typeface="宋体" panose="02010600030101010101" pitchFamily="2" charset="-122"/>
              </a:rPr>
              <a:t> % j == 0)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8                      flag = false;</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9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10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11             if (flag)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12                 </a:t>
            </a:r>
            <a:r>
              <a:rPr lang="en-US" altLang="zh-CN" sz="1400" dirty="0" err="1">
                <a:solidFill>
                  <a:srgbClr val="002060"/>
                </a:solidFill>
                <a:ea typeface="宋体" panose="02010600030101010101" pitchFamily="2" charset="-122"/>
              </a:rPr>
              <a:t>System.out.print</a:t>
            </a:r>
            <a:r>
              <a:rPr lang="en-US" altLang="zh-CN" sz="1400" dirty="0">
                <a:solidFill>
                  <a:srgbClr val="002060"/>
                </a:solidFill>
                <a:ea typeface="宋体" panose="02010600030101010101" pitchFamily="2" charset="-122"/>
              </a:rPr>
              <a:t>(</a:t>
            </a:r>
            <a:r>
              <a:rPr lang="en-US" altLang="zh-CN" sz="1400" dirty="0" err="1">
                <a:solidFill>
                  <a:srgbClr val="002060"/>
                </a:solidFill>
                <a:ea typeface="宋体" panose="02010600030101010101" pitchFamily="2" charset="-122"/>
              </a:rPr>
              <a:t>i</a:t>
            </a:r>
            <a:r>
              <a:rPr lang="en-US" altLang="zh-CN" sz="1400" dirty="0">
                <a:solidFill>
                  <a:srgbClr val="002060"/>
                </a:solidFill>
                <a:ea typeface="宋体" panose="02010600030101010101" pitchFamily="2" charset="-122"/>
              </a:rPr>
              <a:t> + "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13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14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15         </a:t>
            </a:r>
            <a:r>
              <a:rPr lang="en-US" altLang="zh-CN" sz="1400" dirty="0" err="1">
                <a:solidFill>
                  <a:srgbClr val="002060"/>
                </a:solidFill>
                <a:ea typeface="宋体" panose="02010600030101010101" pitchFamily="2" charset="-122"/>
              </a:rPr>
              <a:t>System.out.println</a:t>
            </a:r>
            <a:r>
              <a:rPr lang="en-US" altLang="zh-CN" sz="1400" dirty="0">
                <a:solidFill>
                  <a:srgbClr val="002060"/>
                </a:solidFill>
                <a:ea typeface="宋体" panose="02010600030101010101" pitchFamily="2" charset="-122"/>
              </a:rPr>
              <a:t>();</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16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r>
              <a:rPr lang="en-US" altLang="zh-CN" sz="1400" dirty="0">
                <a:solidFill>
                  <a:srgbClr val="002060"/>
                </a:solidFill>
                <a:ea typeface="宋体" panose="02010600030101010101" pitchFamily="2" charset="-122"/>
              </a:rPr>
              <a:t>17 }</a:t>
            </a:r>
            <a:endParaRPr lang="en-US" altLang="zh-CN" sz="1400" dirty="0">
              <a:solidFill>
                <a:srgbClr val="002060"/>
              </a:solidFill>
              <a:ea typeface="宋体" panose="02010600030101010101" pitchFamily="2" charset="-122"/>
            </a:endParaRPr>
          </a:p>
          <a:p>
            <a:pPr marL="361950" indent="-361950" eaLnBrk="1" hangingPunct="1">
              <a:lnSpc>
                <a:spcPct val="90000"/>
              </a:lnSpc>
              <a:buFont typeface="Times"/>
              <a:buNone/>
            </a:pPr>
            <a:endParaRPr lang="en-US" altLang="zh-CN" sz="14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44320"/>
            <a:ext cx="9527540" cy="2920365"/>
          </a:xfrm>
        </p:spPr>
        <p:txBody>
          <a:bodyPr>
            <a:normAutofit/>
          </a:bodyPr>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编写</a:t>
            </a:r>
            <a:r>
              <a:rPr lang="en-US" altLang="zh-CN" dirty="0" smtClean="0">
                <a:ea typeface="宋体" panose="02010600030101010101" pitchFamily="2" charset="-122"/>
                <a:sym typeface="+mn-ea"/>
              </a:rPr>
              <a:t>Exercise15</a:t>
            </a:r>
            <a:r>
              <a:rPr lang="zh-CN" altLang="en-US" dirty="0">
                <a:ea typeface="宋体" panose="02010600030101010101" pitchFamily="2" charset="-122"/>
                <a:sym typeface="+mn-ea"/>
              </a:rPr>
              <a:t>程序，打印</a:t>
            </a:r>
            <a:r>
              <a:rPr lang="en-US" altLang="zh-CN" dirty="0">
                <a:ea typeface="宋体" panose="02010600030101010101" pitchFamily="2" charset="-122"/>
                <a:sym typeface="+mn-ea"/>
              </a:rPr>
              <a:t>100-200</a:t>
            </a:r>
            <a:r>
              <a:rPr lang="zh-CN" altLang="en-US" dirty="0">
                <a:ea typeface="宋体" panose="02010600030101010101" pitchFamily="2" charset="-122"/>
                <a:sym typeface="+mn-ea"/>
              </a:rPr>
              <a:t>之间的质数</a:t>
            </a: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三种循环语句的比较</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220470"/>
            <a:ext cx="9527540" cy="4745990"/>
          </a:xfrm>
        </p:spPr>
        <p:txBody>
          <a:bodyPr>
            <a:normAutofit/>
          </a:bodyPr>
          <a:p>
            <a:pPr marL="457200" indent="-457200" eaLnBrk="1" hangingPunct="1">
              <a:lnSpc>
                <a:spcPct val="160000"/>
              </a:lnSpc>
              <a:buClr>
                <a:srgbClr val="ED7D31"/>
              </a:buClr>
              <a:buFont typeface="+mj-lt"/>
              <a:buAutoNum type="arabicPeriod"/>
            </a:pPr>
            <a:r>
              <a:rPr lang="en-US" dirty="0">
                <a:ea typeface="宋体" panose="02010600030101010101" pitchFamily="2" charset="-122"/>
                <a:sym typeface="+mn-ea"/>
              </a:rPr>
              <a:t>for</a:t>
            </a:r>
            <a:r>
              <a:rPr lang="zh-CN" altLang="en-US" dirty="0">
                <a:ea typeface="宋体" panose="02010600030101010101" pitchFamily="2" charset="-122"/>
                <a:sym typeface="+mn-ea"/>
              </a:rPr>
              <a:t>循环通常用于明确循环次数的循环中</a:t>
            </a:r>
            <a:endParaRPr lang="zh-CN" altLang="en-US" dirty="0">
              <a:ea typeface="宋体" panose="02010600030101010101" pitchFamily="2" charset="-122"/>
            </a:endParaRPr>
          </a:p>
          <a:p>
            <a:pPr marL="457200" indent="-457200" eaLnBrk="1" hangingPunct="1">
              <a:lnSpc>
                <a:spcPct val="160000"/>
              </a:lnSpc>
              <a:buClr>
                <a:srgbClr val="ED7D31"/>
              </a:buClr>
              <a:buFont typeface="+mj-lt"/>
              <a:buAutoNum type="arabicPeriod"/>
            </a:pPr>
            <a:r>
              <a:rPr lang="en-US" dirty="0">
                <a:ea typeface="宋体" panose="02010600030101010101" pitchFamily="2" charset="-122"/>
                <a:sym typeface="+mn-ea"/>
              </a:rPr>
              <a:t>while/do-while</a:t>
            </a:r>
            <a:r>
              <a:rPr lang="zh-CN" altLang="en-US" dirty="0">
                <a:ea typeface="宋体" panose="02010600030101010101" pitchFamily="2" charset="-122"/>
                <a:sym typeface="+mn-ea"/>
              </a:rPr>
              <a:t>通常用于因循环过程中使条件发生变化而结束的循环中</a:t>
            </a:r>
            <a:endParaRPr lang="zh-CN" altLang="en-US" dirty="0">
              <a:ea typeface="宋体" panose="02010600030101010101" pitchFamily="2" charset="-122"/>
            </a:endParaRPr>
          </a:p>
          <a:p>
            <a:pPr marL="800100" lvl="1" indent="-342900" eaLnBrk="1" hangingPunct="1">
              <a:lnSpc>
                <a:spcPct val="160000"/>
              </a:lnSpc>
              <a:buClr>
                <a:srgbClr val="ED7D31"/>
              </a:buClr>
              <a:buFont typeface="Wingdings" panose="05000000000000000000" charset="0"/>
              <a:buChar char="l"/>
            </a:pPr>
            <a:r>
              <a:rPr lang="en-US" dirty="0">
                <a:ea typeface="宋体" panose="02010600030101010101" pitchFamily="2" charset="-122"/>
                <a:sym typeface="+mn-ea"/>
              </a:rPr>
              <a:t>while:</a:t>
            </a:r>
            <a:r>
              <a:rPr lang="zh-CN" altLang="en-US" dirty="0">
                <a:ea typeface="宋体" panose="02010600030101010101" pitchFamily="2" charset="-122"/>
                <a:sym typeface="+mn-ea"/>
              </a:rPr>
              <a:t>循环体可以执行</a:t>
            </a:r>
            <a:r>
              <a:rPr lang="en-US" dirty="0">
                <a:ea typeface="宋体" panose="02010600030101010101" pitchFamily="2" charset="-122"/>
                <a:sym typeface="+mn-ea"/>
              </a:rPr>
              <a:t>0-n</a:t>
            </a:r>
            <a:r>
              <a:rPr lang="zh-CN" altLang="en-US" dirty="0">
                <a:ea typeface="宋体" panose="02010600030101010101" pitchFamily="2" charset="-122"/>
                <a:sym typeface="+mn-ea"/>
              </a:rPr>
              <a:t>次</a:t>
            </a:r>
            <a:endParaRPr lang="zh-CN" altLang="en-US" dirty="0">
              <a:ea typeface="宋体" panose="02010600030101010101" pitchFamily="2" charset="-122"/>
              <a:sym typeface="+mn-ea"/>
            </a:endParaRPr>
          </a:p>
          <a:p>
            <a:pPr marL="800100" lvl="2" indent="-342900" eaLnBrk="1" hangingPunct="1">
              <a:lnSpc>
                <a:spcPct val="160000"/>
              </a:lnSpc>
              <a:buClr>
                <a:srgbClr val="ED7D31"/>
              </a:buClr>
              <a:buFont typeface="Wingdings" panose="05000000000000000000" charset="0"/>
              <a:buChar char="l"/>
            </a:pPr>
            <a:r>
              <a:rPr lang="en-US" sz="2160" dirty="0">
                <a:ea typeface="宋体" panose="02010600030101010101" pitchFamily="2" charset="-122"/>
                <a:sym typeface="+mn-ea"/>
              </a:rPr>
              <a:t>do-while:</a:t>
            </a:r>
            <a:r>
              <a:rPr lang="zh-CN" altLang="en-US" sz="2160" dirty="0">
                <a:ea typeface="宋体" panose="02010600030101010101" pitchFamily="2" charset="-122"/>
                <a:sym typeface="+mn-ea"/>
              </a:rPr>
              <a:t>循环体可以执行</a:t>
            </a:r>
            <a:r>
              <a:rPr lang="en-US" sz="2160" dirty="0">
                <a:ea typeface="宋体" panose="02010600030101010101" pitchFamily="2" charset="-122"/>
                <a:sym typeface="+mn-ea"/>
              </a:rPr>
              <a:t>1-n</a:t>
            </a:r>
            <a:r>
              <a:rPr lang="zh-CN" altLang="en-US" sz="2160" dirty="0">
                <a:ea typeface="宋体" panose="02010600030101010101" pitchFamily="2" charset="-122"/>
                <a:sym typeface="+mn-ea"/>
              </a:rPr>
              <a:t>次</a:t>
            </a:r>
            <a:endParaRPr lang="zh-CN" altLang="en-US" sz="2160" dirty="0">
              <a:ea typeface="宋体" panose="02010600030101010101" pitchFamily="2" charset="-122"/>
            </a:endParaRPr>
          </a:p>
          <a:p>
            <a:pPr marL="0" indent="45720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en-US" sz="2400" b="1">
                <a:ea typeface="宋体" panose="02010600030101010101" pitchFamily="2" charset="-122"/>
                <a:sym typeface="+mn-ea"/>
              </a:rPr>
              <a:t>break</a:t>
            </a:r>
            <a:r>
              <a:rPr lang="zh-CN" altLang="en-US" sz="2400" b="1">
                <a:ea typeface="宋体" panose="02010600030101010101" pitchFamily="2" charset="-122"/>
                <a:sym typeface="+mn-ea"/>
              </a:rPr>
              <a:t>语句</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220470"/>
            <a:ext cx="9527540" cy="4745990"/>
          </a:xfrm>
        </p:spPr>
        <p:txBody>
          <a:bodyPr>
            <a:normAutofit/>
          </a:bodyPr>
          <a:p>
            <a:pPr marL="457200" indent="-457200" eaLnBrk="1" hangingPunct="1">
              <a:lnSpc>
                <a:spcPct val="150000"/>
              </a:lnSpc>
              <a:buClr>
                <a:srgbClr val="ED7D31"/>
              </a:buClr>
              <a:buFont typeface="+mj-lt"/>
              <a:buAutoNum type="arabicPeriod"/>
            </a:pPr>
            <a:r>
              <a:rPr lang="zh-CN" altLang="en-US" dirty="0">
                <a:ea typeface="宋体" panose="02010600030101010101" pitchFamily="2" charset="-122"/>
                <a:sym typeface="+mn-ea"/>
              </a:rPr>
              <a:t>结束当前循环，转到循环之后</a:t>
            </a:r>
            <a:endParaRPr lang="zh-CN" altLang="en-US" dirty="0">
              <a:ea typeface="宋体" panose="02010600030101010101" pitchFamily="2" charset="-122"/>
            </a:endParaRPr>
          </a:p>
          <a:p>
            <a:pPr marL="457200" indent="-457200" eaLnBrk="1" hangingPunct="1">
              <a:lnSpc>
                <a:spcPct val="150000"/>
              </a:lnSpc>
              <a:buClr>
                <a:srgbClr val="ED7D31"/>
              </a:buClr>
              <a:buFont typeface="+mj-lt"/>
              <a:buAutoNum type="arabicPeriod"/>
            </a:pPr>
            <a:r>
              <a:rPr lang="zh-CN" altLang="en-US" dirty="0">
                <a:ea typeface="宋体" panose="02010600030101010101" pitchFamily="2" charset="-122"/>
                <a:sym typeface="+mn-ea"/>
              </a:rPr>
              <a:t>例如：</a:t>
            </a:r>
            <a:endParaRPr lang="zh-CN" altLang="en-US" dirty="0">
              <a:ea typeface="宋体" panose="02010600030101010101" pitchFamily="2" charset="-122"/>
              <a:sym typeface="+mn-ea"/>
            </a:endParaRPr>
          </a:p>
          <a:p>
            <a:pPr marL="704850" lvl="1" indent="-361950" eaLnBrk="1" hangingPunct="1">
              <a:lnSpc>
                <a:spcPct val="150000"/>
              </a:lnSpc>
              <a:buFont typeface="Times"/>
              <a:buNone/>
            </a:pPr>
            <a:r>
              <a:rPr lang="en-US" sz="1800" dirty="0">
                <a:solidFill>
                  <a:srgbClr val="002060"/>
                </a:solidFill>
                <a:ea typeface="宋体" panose="02010600030101010101" pitchFamily="2" charset="-122"/>
                <a:sym typeface="+mn-ea"/>
              </a:rPr>
              <a:t>for (</a:t>
            </a:r>
            <a:r>
              <a:rPr lang="en-US" sz="1800" dirty="0" err="1">
                <a:solidFill>
                  <a:srgbClr val="002060"/>
                </a:solidFill>
                <a:ea typeface="宋体" panose="02010600030101010101" pitchFamily="2" charset="-122"/>
                <a:sym typeface="+mn-ea"/>
              </a:rPr>
              <a:t>int</a:t>
            </a:r>
            <a:r>
              <a:rPr lang="en-US" sz="1800" dirty="0">
                <a:solidFill>
                  <a:srgbClr val="002060"/>
                </a:solidFill>
                <a:ea typeface="宋体" panose="02010600030101010101" pitchFamily="2" charset="-122"/>
                <a:sym typeface="+mn-ea"/>
              </a:rPr>
              <a:t> </a:t>
            </a:r>
            <a:r>
              <a:rPr lang="en-US" sz="1800" dirty="0" err="1">
                <a:solidFill>
                  <a:srgbClr val="002060"/>
                </a:solidFill>
                <a:ea typeface="宋体" panose="02010600030101010101" pitchFamily="2" charset="-122"/>
                <a:sym typeface="+mn-ea"/>
              </a:rPr>
              <a:t>i</a:t>
            </a:r>
            <a:r>
              <a:rPr lang="en-US" sz="1800" dirty="0">
                <a:solidFill>
                  <a:srgbClr val="002060"/>
                </a:solidFill>
                <a:ea typeface="宋体" panose="02010600030101010101" pitchFamily="2" charset="-122"/>
                <a:sym typeface="+mn-ea"/>
              </a:rPr>
              <a:t> = 1; </a:t>
            </a:r>
            <a:r>
              <a:rPr lang="en-US" sz="1800" dirty="0" err="1">
                <a:solidFill>
                  <a:srgbClr val="002060"/>
                </a:solidFill>
                <a:ea typeface="宋体" panose="02010600030101010101" pitchFamily="2" charset="-122"/>
                <a:sym typeface="+mn-ea"/>
              </a:rPr>
              <a:t>i</a:t>
            </a:r>
            <a:r>
              <a:rPr lang="en-US" sz="1800" dirty="0">
                <a:solidFill>
                  <a:srgbClr val="002060"/>
                </a:solidFill>
                <a:ea typeface="宋体" panose="02010600030101010101" pitchFamily="2" charset="-122"/>
                <a:sym typeface="+mn-ea"/>
              </a:rPr>
              <a:t> &lt; 100; </a:t>
            </a:r>
            <a:r>
              <a:rPr lang="en-US" sz="1800" dirty="0" err="1">
                <a:solidFill>
                  <a:srgbClr val="002060"/>
                </a:solidFill>
                <a:ea typeface="宋体" panose="02010600030101010101" pitchFamily="2" charset="-122"/>
                <a:sym typeface="+mn-ea"/>
              </a:rPr>
              <a:t>i</a:t>
            </a:r>
            <a:r>
              <a:rPr lang="en-US" sz="1800" dirty="0">
                <a:solidFill>
                  <a:srgbClr val="002060"/>
                </a:solidFill>
                <a:ea typeface="宋体" panose="02010600030101010101" pitchFamily="2" charset="-122"/>
                <a:sym typeface="+mn-ea"/>
              </a:rPr>
              <a:t>++) {</a:t>
            </a:r>
            <a:endParaRPr lang="en-US" sz="1800" dirty="0">
              <a:solidFill>
                <a:srgbClr val="002060"/>
              </a:solidFill>
              <a:ea typeface="宋体" panose="02010600030101010101" pitchFamily="2" charset="-122"/>
            </a:endParaRPr>
          </a:p>
          <a:p>
            <a:pPr marL="704850" lvl="1" indent="-361950" eaLnBrk="1" hangingPunct="1">
              <a:lnSpc>
                <a:spcPct val="150000"/>
              </a:lnSpc>
              <a:buFont typeface="Times"/>
              <a:buNone/>
            </a:pPr>
            <a:r>
              <a:rPr lang="en-US" sz="1800" dirty="0">
                <a:solidFill>
                  <a:srgbClr val="002060"/>
                </a:solidFill>
                <a:ea typeface="宋体" panose="02010600030101010101" pitchFamily="2" charset="-122"/>
                <a:sym typeface="+mn-ea"/>
              </a:rPr>
              <a:t>		if (</a:t>
            </a:r>
            <a:r>
              <a:rPr lang="en-US" sz="1800" dirty="0" err="1">
                <a:solidFill>
                  <a:srgbClr val="002060"/>
                </a:solidFill>
                <a:ea typeface="宋体" panose="02010600030101010101" pitchFamily="2" charset="-122"/>
                <a:sym typeface="+mn-ea"/>
              </a:rPr>
              <a:t>i</a:t>
            </a:r>
            <a:r>
              <a:rPr lang="en-US" sz="1800" dirty="0">
                <a:solidFill>
                  <a:srgbClr val="002060"/>
                </a:solidFill>
                <a:ea typeface="宋体" panose="02010600030101010101" pitchFamily="2" charset="-122"/>
                <a:sym typeface="+mn-ea"/>
              </a:rPr>
              <a:t> &gt; 50) {</a:t>
            </a:r>
            <a:endParaRPr lang="en-US" sz="1800" dirty="0">
              <a:solidFill>
                <a:srgbClr val="002060"/>
              </a:solidFill>
              <a:ea typeface="宋体" panose="02010600030101010101" pitchFamily="2" charset="-122"/>
            </a:endParaRPr>
          </a:p>
          <a:p>
            <a:pPr marL="704850" lvl="1" indent="-361950" eaLnBrk="1" hangingPunct="1">
              <a:lnSpc>
                <a:spcPct val="150000"/>
              </a:lnSpc>
              <a:buFont typeface="Times"/>
              <a:buNone/>
            </a:pPr>
            <a:r>
              <a:rPr lang="en-US" sz="1800" dirty="0">
                <a:solidFill>
                  <a:srgbClr val="002060"/>
                </a:solidFill>
                <a:ea typeface="宋体" panose="02010600030101010101" pitchFamily="2" charset="-122"/>
                <a:sym typeface="+mn-ea"/>
              </a:rPr>
              <a:t>		        break;   //</a:t>
            </a:r>
            <a:r>
              <a:rPr lang="zh-CN" altLang="en-US" sz="1800" dirty="0">
                <a:solidFill>
                  <a:srgbClr val="002060"/>
                </a:solidFill>
                <a:ea typeface="宋体" panose="02010600030101010101" pitchFamily="2" charset="-122"/>
                <a:sym typeface="+mn-ea"/>
              </a:rPr>
              <a:t>结束当前循环，转到循环之后</a:t>
            </a:r>
            <a:endParaRPr lang="zh-CN" altLang="en-US" sz="1800" dirty="0">
              <a:solidFill>
                <a:srgbClr val="002060"/>
              </a:solidFill>
              <a:ea typeface="宋体" panose="02010600030101010101" pitchFamily="2" charset="-122"/>
            </a:endParaRPr>
          </a:p>
          <a:p>
            <a:pPr marL="704850" lvl="1" indent="-361950" eaLnBrk="1" hangingPunct="1">
              <a:lnSpc>
                <a:spcPct val="150000"/>
              </a:lnSpc>
              <a:buFont typeface="Times"/>
              <a:buNone/>
            </a:pPr>
            <a:r>
              <a:rPr lang="zh-CN" altLang="en-US" sz="1800" dirty="0">
                <a:solidFill>
                  <a:srgbClr val="002060"/>
                </a:solidFill>
                <a:ea typeface="宋体" panose="02010600030101010101" pitchFamily="2" charset="-122"/>
                <a:sym typeface="+mn-ea"/>
              </a:rPr>
              <a:t>		</a:t>
            </a:r>
            <a:r>
              <a:rPr lang="en-US" sz="1800" dirty="0">
                <a:solidFill>
                  <a:srgbClr val="002060"/>
                </a:solidFill>
                <a:ea typeface="宋体" panose="02010600030101010101" pitchFamily="2" charset="-122"/>
                <a:sym typeface="+mn-ea"/>
              </a:rPr>
              <a:t>}</a:t>
            </a:r>
            <a:endParaRPr lang="en-US" sz="1800" dirty="0">
              <a:solidFill>
                <a:srgbClr val="002060"/>
              </a:solidFill>
              <a:ea typeface="宋体" panose="02010600030101010101" pitchFamily="2" charset="-122"/>
            </a:endParaRPr>
          </a:p>
          <a:p>
            <a:pPr marL="704850" lvl="1" indent="-361950" eaLnBrk="1" hangingPunct="1">
              <a:lnSpc>
                <a:spcPct val="150000"/>
              </a:lnSpc>
              <a:buFont typeface="Times"/>
              <a:buNone/>
            </a:pPr>
            <a:r>
              <a:rPr lang="en-US" sz="1800" dirty="0">
                <a:solidFill>
                  <a:srgbClr val="002060"/>
                </a:solidFill>
                <a:ea typeface="宋体" panose="02010600030101010101" pitchFamily="2" charset="-122"/>
                <a:sym typeface="+mn-ea"/>
              </a:rPr>
              <a:t>}</a:t>
            </a:r>
            <a:endParaRPr lang="en-US" sz="1800" dirty="0">
              <a:solidFill>
                <a:srgbClr val="002060"/>
              </a:solidFill>
              <a:ea typeface="宋体" panose="02010600030101010101" pitchFamily="2" charset="-122"/>
            </a:endParaRPr>
          </a:p>
          <a:p>
            <a:pPr marL="0" indent="0" eaLnBrk="1" hangingPunct="1">
              <a:lnSpc>
                <a:spcPct val="160000"/>
              </a:lnSpc>
              <a:buClr>
                <a:srgbClr val="ED7D31"/>
              </a:buClr>
              <a:buFont typeface="+mj-lt"/>
              <a:buNone/>
            </a:pPr>
            <a:endParaRPr lang="en-US" alt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a:t>
            </a:r>
            <a:r>
              <a:rPr lang="zh-CN" altLang="en-US" sz="2400">
                <a:ea typeface="宋体" panose="02010600030101010101" pitchFamily="2" charset="-122"/>
                <a:sym typeface="+mn-ea"/>
              </a:rPr>
              <a:t>使用</a:t>
            </a:r>
            <a:r>
              <a:rPr lang="en-US" sz="2400">
                <a:ea typeface="宋体" panose="02010600030101010101" pitchFamily="2" charset="-122"/>
                <a:sym typeface="+mn-ea"/>
              </a:rPr>
              <a:t>break</a:t>
            </a:r>
            <a:r>
              <a:rPr lang="zh-CN" altLang="en-US" sz="2400">
                <a:ea typeface="宋体" panose="02010600030101010101" pitchFamily="2" charset="-122"/>
                <a:sym typeface="+mn-ea"/>
              </a:rPr>
              <a:t>语句的</a:t>
            </a:r>
            <a:r>
              <a:rPr lang="en-US" sz="2400">
                <a:ea typeface="宋体" panose="02010600030101010101" pitchFamily="2" charset="-122"/>
                <a:sym typeface="+mn-ea"/>
              </a:rPr>
              <a:t>TestFor1</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09571" name="内容占位符 2"/>
          <p:cNvSpPr>
            <a:spLocks noGrp="1"/>
          </p:cNvSpPr>
          <p:nvPr>
            <p:ph idx="4294967295"/>
          </p:nvPr>
        </p:nvSpPr>
        <p:spPr>
          <a:xfrm>
            <a:off x="1234414" y="1147148"/>
            <a:ext cx="7537450" cy="4816475"/>
          </a:xfrm>
        </p:spPr>
        <p:txBody>
          <a:bodyPr>
            <a:noAutofit/>
          </a:bodyPr>
          <a:p>
            <a:pPr marL="361950" indent="-361950" eaLnBrk="1" hangingPunct="1">
              <a:spcBef>
                <a:spcPct val="0"/>
              </a:spcBef>
              <a:buFont typeface="Times"/>
              <a:buNone/>
            </a:pPr>
            <a:r>
              <a:rPr lang="en-US" sz="2000" dirty="0">
                <a:solidFill>
                  <a:srgbClr val="002060"/>
                </a:solidFill>
                <a:ea typeface="宋体" panose="02010600030101010101" pitchFamily="2" charset="-122"/>
              </a:rPr>
              <a:t>1  public class TestFor1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2      public static void main(String[] </a:t>
            </a:r>
            <a:r>
              <a:rPr lang="en-US" sz="2000" dirty="0" err="1">
                <a:solidFill>
                  <a:srgbClr val="002060"/>
                </a:solidFill>
                <a:ea typeface="宋体" panose="02010600030101010101" pitchFamily="2" charset="-122"/>
              </a:rPr>
              <a:t>args</a:t>
            </a: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3          for (</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a:t>
            </a:r>
            <a:r>
              <a:rPr lang="en-US" sz="2000" dirty="0" err="1">
                <a:solidFill>
                  <a:srgbClr val="002060"/>
                </a:solidFill>
                <a:ea typeface="宋体" panose="02010600030101010101" pitchFamily="2" charset="-122"/>
              </a:rPr>
              <a:t>i</a:t>
            </a:r>
            <a:r>
              <a:rPr lang="en-US" sz="2000" dirty="0">
                <a:solidFill>
                  <a:srgbClr val="002060"/>
                </a:solidFill>
                <a:ea typeface="宋体" panose="02010600030101010101" pitchFamily="2" charset="-122"/>
              </a:rPr>
              <a:t> = 2; </a:t>
            </a:r>
            <a:r>
              <a:rPr lang="en-US" sz="2000" dirty="0" err="1">
                <a:solidFill>
                  <a:srgbClr val="002060"/>
                </a:solidFill>
                <a:ea typeface="宋体" panose="02010600030101010101" pitchFamily="2" charset="-122"/>
              </a:rPr>
              <a:t>i</a:t>
            </a:r>
            <a:r>
              <a:rPr lang="en-US" sz="2000" dirty="0">
                <a:solidFill>
                  <a:srgbClr val="002060"/>
                </a:solidFill>
                <a:ea typeface="宋体" panose="02010600030101010101" pitchFamily="2" charset="-122"/>
              </a:rPr>
              <a:t> &lt;= 100; </a:t>
            </a:r>
            <a:r>
              <a:rPr lang="en-US" sz="2000" dirty="0" err="1">
                <a:solidFill>
                  <a:srgbClr val="002060"/>
                </a:solidFill>
                <a:ea typeface="宋体" panose="02010600030101010101" pitchFamily="2" charset="-122"/>
              </a:rPr>
              <a:t>i</a:t>
            </a: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4              </a:t>
            </a:r>
            <a:r>
              <a:rPr lang="en-US" sz="2000" dirty="0" err="1">
                <a:solidFill>
                  <a:srgbClr val="002060"/>
                </a:solidFill>
                <a:ea typeface="宋体" panose="02010600030101010101" pitchFamily="2" charset="-122"/>
              </a:rPr>
              <a:t>boolean</a:t>
            </a:r>
            <a:r>
              <a:rPr lang="en-US" sz="2000" dirty="0">
                <a:solidFill>
                  <a:srgbClr val="002060"/>
                </a:solidFill>
                <a:ea typeface="宋体" panose="02010600030101010101" pitchFamily="2" charset="-122"/>
              </a:rPr>
              <a:t> flag = true;</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5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6              for (</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j = 2; j &lt; </a:t>
            </a:r>
            <a:r>
              <a:rPr lang="en-US" sz="2000" dirty="0" err="1">
                <a:solidFill>
                  <a:srgbClr val="002060"/>
                </a:solidFill>
                <a:ea typeface="宋体" panose="02010600030101010101" pitchFamily="2" charset="-122"/>
              </a:rPr>
              <a:t>i</a:t>
            </a:r>
            <a:r>
              <a:rPr lang="en-US" sz="2000" dirty="0">
                <a:solidFill>
                  <a:srgbClr val="002060"/>
                </a:solidFill>
                <a:ea typeface="宋体" panose="02010600030101010101" pitchFamily="2" charset="-122"/>
              </a:rPr>
              <a:t>; j++)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7                  if (</a:t>
            </a:r>
            <a:r>
              <a:rPr lang="en-US" sz="2000" dirty="0" err="1">
                <a:solidFill>
                  <a:srgbClr val="002060"/>
                </a:solidFill>
                <a:ea typeface="宋体" panose="02010600030101010101" pitchFamily="2" charset="-122"/>
              </a:rPr>
              <a:t>i</a:t>
            </a:r>
            <a:r>
              <a:rPr lang="en-US" sz="2000" dirty="0">
                <a:solidFill>
                  <a:srgbClr val="002060"/>
                </a:solidFill>
                <a:ea typeface="宋体" panose="02010600030101010101" pitchFamily="2" charset="-122"/>
              </a:rPr>
              <a:t> % j == 0)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8                      flag = false;</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9                      break;   //</a:t>
            </a:r>
            <a:r>
              <a:rPr lang="zh-CN" altLang="en-US" sz="2000" dirty="0">
                <a:solidFill>
                  <a:srgbClr val="002060"/>
                </a:solidFill>
                <a:ea typeface="宋体" panose="02010600030101010101" pitchFamily="2" charset="-122"/>
              </a:rPr>
              <a:t>结束当前循环，转到循环之后</a:t>
            </a:r>
            <a:endParaRPr lang="zh-CN" alt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10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11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12             if (flag)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13                 </a:t>
            </a:r>
            <a:r>
              <a:rPr lang="en-US" sz="2000" dirty="0" err="1">
                <a:solidFill>
                  <a:srgbClr val="002060"/>
                </a:solidFill>
                <a:ea typeface="宋体" panose="02010600030101010101" pitchFamily="2" charset="-122"/>
              </a:rPr>
              <a:t>System.out.print</a:t>
            </a:r>
            <a:r>
              <a:rPr lang="en-US" sz="2000" dirty="0">
                <a:solidFill>
                  <a:srgbClr val="002060"/>
                </a:solidFill>
                <a:ea typeface="宋体" panose="02010600030101010101" pitchFamily="2" charset="-122"/>
              </a:rPr>
              <a:t>(</a:t>
            </a:r>
            <a:r>
              <a:rPr lang="en-US" sz="2000" dirty="0" err="1">
                <a:solidFill>
                  <a:srgbClr val="002060"/>
                </a:solidFill>
                <a:ea typeface="宋体" panose="02010600030101010101" pitchFamily="2" charset="-122"/>
              </a:rPr>
              <a:t>i</a:t>
            </a:r>
            <a:r>
              <a:rPr lang="en-US" sz="2000" dirty="0">
                <a:solidFill>
                  <a:srgbClr val="002060"/>
                </a:solidFill>
                <a:ea typeface="宋体" panose="02010600030101010101" pitchFamily="2" charset="-122"/>
              </a:rPr>
              <a:t> + "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14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15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16         </a:t>
            </a:r>
            <a:r>
              <a:rPr lang="en-US" sz="2000" dirty="0" err="1">
                <a:solidFill>
                  <a:srgbClr val="002060"/>
                </a:solidFill>
                <a:ea typeface="宋体" panose="02010600030101010101" pitchFamily="2" charset="-122"/>
              </a:rPr>
              <a:t>System.out.println</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17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18 }</a:t>
            </a:r>
            <a:endParaRPr lang="en-US" sz="20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44320"/>
            <a:ext cx="9527540" cy="2920365"/>
          </a:xfrm>
        </p:spPr>
        <p:txBody>
          <a:bodyPr>
            <a:normAutofit/>
          </a:bodyPr>
          <a:p>
            <a:pPr marL="457200" indent="-457200" eaLnBrk="1" hangingPunct="1">
              <a:lnSpc>
                <a:spcPct val="160000"/>
              </a:lnSpc>
              <a:buClr>
                <a:srgbClr val="ED7D31"/>
              </a:buClr>
              <a:buFont typeface="+mj-lt"/>
              <a:buAutoNum type="arabicPeriod"/>
            </a:pPr>
            <a:r>
              <a:rPr lang="zh-CN" altLang="en-US" dirty="0">
                <a:ea typeface="宋体" panose="02010600030101010101" pitchFamily="2" charset="-122"/>
                <a:sym typeface="+mn-ea"/>
              </a:rPr>
              <a:t>编写</a:t>
            </a:r>
            <a:r>
              <a:rPr lang="en-US" altLang="zh-CN" dirty="0" smtClean="0">
                <a:ea typeface="宋体" panose="02010600030101010101" pitchFamily="2" charset="-122"/>
                <a:sym typeface="+mn-ea"/>
              </a:rPr>
              <a:t>Exercise16</a:t>
            </a:r>
            <a:r>
              <a:rPr lang="zh-CN" altLang="en-US" dirty="0">
                <a:ea typeface="宋体" panose="02010600030101010101" pitchFamily="2" charset="-122"/>
                <a:sym typeface="+mn-ea"/>
              </a:rPr>
              <a:t>程序，在控制台给出</a:t>
            </a:r>
            <a:r>
              <a:rPr lang="en-US" dirty="0">
                <a:ea typeface="宋体" panose="02010600030101010101" pitchFamily="2" charset="-122"/>
                <a:sym typeface="+mn-ea"/>
              </a:rPr>
              <a:t>100</a:t>
            </a:r>
            <a:r>
              <a:rPr lang="zh-CN" altLang="en-US" dirty="0">
                <a:ea typeface="宋体" panose="02010600030101010101" pitchFamily="2" charset="-122"/>
                <a:sym typeface="+mn-ea"/>
              </a:rPr>
              <a:t>以内的整数。程序执行</a:t>
            </a:r>
            <a:r>
              <a:rPr lang="en-US" dirty="0">
                <a:ea typeface="宋体" panose="02010600030101010101" pitchFamily="2" charset="-122"/>
                <a:sym typeface="+mn-ea"/>
              </a:rPr>
              <a:t>1-100</a:t>
            </a:r>
            <a:r>
              <a:rPr lang="zh-CN" altLang="en-US" dirty="0">
                <a:ea typeface="宋体" panose="02010600030101010101" pitchFamily="2" charset="-122"/>
                <a:sym typeface="+mn-ea"/>
              </a:rPr>
              <a:t>循环，打印当前循环值，直到参数指定的值为止。</a:t>
            </a:r>
            <a:endParaRPr lang="zh-CN" altLang="en-US" dirty="0">
              <a:ea typeface="宋体" panose="02010600030101010101" pitchFamily="2" charset="-122"/>
              <a:sym typeface="+mn-ea"/>
            </a:endParaRPr>
          </a:p>
          <a:p>
            <a:pPr marL="457200" indent="-457200" eaLnBrk="1" hangingPunct="1">
              <a:lnSpc>
                <a:spcPct val="160000"/>
              </a:lnSpc>
              <a:buClr>
                <a:srgbClr val="ED7D31"/>
              </a:buClr>
              <a:buFont typeface="+mj-lt"/>
              <a:buAutoNum type="arabicPeriod"/>
            </a:pPr>
            <a:r>
              <a:rPr lang="zh-CN" altLang="en-US" dirty="0">
                <a:ea typeface="宋体" panose="02010600030101010101" pitchFamily="2" charset="-122"/>
                <a:sym typeface="+mn-ea"/>
              </a:rPr>
              <a:t>编写</a:t>
            </a:r>
            <a:r>
              <a:rPr lang="en-US" altLang="zh-CN" dirty="0" smtClean="0">
                <a:ea typeface="宋体" panose="02010600030101010101" pitchFamily="2" charset="-122"/>
                <a:sym typeface="+mn-ea"/>
              </a:rPr>
              <a:t>Exercise17</a:t>
            </a:r>
            <a:r>
              <a:rPr lang="zh-CN" altLang="en-US" dirty="0">
                <a:ea typeface="宋体" panose="02010600030101010101" pitchFamily="2" charset="-122"/>
                <a:sym typeface="+mn-ea"/>
              </a:rPr>
              <a:t>程序，使用</a:t>
            </a:r>
            <a:r>
              <a:rPr lang="en-US" dirty="0">
                <a:ea typeface="宋体" panose="02010600030101010101" pitchFamily="2" charset="-122"/>
                <a:sym typeface="+mn-ea"/>
              </a:rPr>
              <a:t>for</a:t>
            </a:r>
            <a:r>
              <a:rPr lang="zh-CN" altLang="en-US" dirty="0">
                <a:ea typeface="宋体" panose="02010600030101010101" pitchFamily="2" charset="-122"/>
                <a:sym typeface="+mn-ea"/>
              </a:rPr>
              <a:t>循环，打印</a:t>
            </a:r>
            <a:r>
              <a:rPr lang="en-US" dirty="0">
                <a:ea typeface="宋体" panose="02010600030101010101" pitchFamily="2" charset="-122"/>
                <a:sym typeface="+mn-ea"/>
              </a:rPr>
              <a:t>1-200</a:t>
            </a:r>
            <a:r>
              <a:rPr lang="zh-CN" altLang="en-US" dirty="0">
                <a:ea typeface="宋体" panose="02010600030101010101" pitchFamily="2" charset="-122"/>
                <a:sym typeface="+mn-ea"/>
              </a:rPr>
              <a:t>之间的质数</a:t>
            </a:r>
            <a:endParaRPr lang="zh-CN" altLang="en-US" dirty="0">
              <a:ea typeface="宋体" panose="02010600030101010101" pitchFamily="2" charset="-122"/>
            </a:endParaRPr>
          </a:p>
          <a:p>
            <a:pPr marL="457200" indent="-457200" eaLnBrk="1" hangingPunct="1">
              <a:lnSpc>
                <a:spcPct val="160000"/>
              </a:lnSpc>
              <a:buClr>
                <a:srgbClr val="ED7D31"/>
              </a:buClr>
              <a:buFont typeface="+mj-lt"/>
              <a:buAutoNum type="arabicPeriod"/>
            </a:pPr>
            <a:endParaRPr lang="zh-CN" altLang="en-US" dirty="0">
              <a:ea typeface="宋体" panose="02010600030101010101" pitchFamily="2" charset="-122"/>
            </a:endParaRPr>
          </a:p>
          <a:p>
            <a:pPr marL="457200" indent="-457200" eaLnBrk="1" hangingPunct="1">
              <a:lnSpc>
                <a:spcPct val="16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en-US" sz="2400" b="1">
                <a:ea typeface="宋体" panose="02010600030101010101" pitchFamily="2" charset="-122"/>
                <a:sym typeface="+mn-ea"/>
              </a:rPr>
              <a:t>continue</a:t>
            </a:r>
            <a:r>
              <a:rPr lang="zh-CN" altLang="en-US" sz="2400" b="1">
                <a:ea typeface="宋体" panose="02010600030101010101" pitchFamily="2" charset="-122"/>
                <a:sym typeface="+mn-ea"/>
              </a:rPr>
              <a:t>语句</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20</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44320"/>
            <a:ext cx="9527540" cy="2920365"/>
          </a:xfrm>
        </p:spPr>
        <p:txBody>
          <a:bodyPr>
            <a:normAutofit/>
          </a:bodyPr>
          <a:p>
            <a:pPr marL="457200" indent="-457200" eaLnBrk="1" hangingPunct="1">
              <a:lnSpc>
                <a:spcPct val="120000"/>
              </a:lnSpc>
              <a:buClr>
                <a:srgbClr val="ED7D31"/>
              </a:buClr>
              <a:buFont typeface="+mj-lt"/>
              <a:buAutoNum type="arabicPeriod"/>
            </a:pPr>
            <a:r>
              <a:rPr lang="zh-CN" altLang="en-US" dirty="0">
                <a:ea typeface="宋体" panose="02010600030101010101" pitchFamily="2" charset="-122"/>
                <a:sym typeface="+mn-ea"/>
              </a:rPr>
              <a:t>结束当前循环，直接继续下一次循环</a:t>
            </a:r>
            <a:endParaRPr lang="zh-CN" altLang="en-US" dirty="0">
              <a:ea typeface="宋体" panose="02010600030101010101" pitchFamily="2" charset="-122"/>
            </a:endParaRPr>
          </a:p>
          <a:p>
            <a:pPr marL="457200" indent="-457200" eaLnBrk="1" hangingPunct="1">
              <a:lnSpc>
                <a:spcPct val="120000"/>
              </a:lnSpc>
              <a:buClr>
                <a:srgbClr val="ED7D31"/>
              </a:buClr>
              <a:buFont typeface="+mj-lt"/>
              <a:buAutoNum type="arabicPeriod"/>
            </a:pPr>
            <a:r>
              <a:rPr lang="zh-CN" altLang="en-US" dirty="0">
                <a:ea typeface="宋体" panose="02010600030101010101" pitchFamily="2" charset="-122"/>
                <a:sym typeface="+mn-ea"/>
              </a:rPr>
              <a:t>例如：</a:t>
            </a:r>
            <a:endParaRPr lang="zh-CN" altLang="en-US" dirty="0">
              <a:ea typeface="宋体" panose="02010600030101010101" pitchFamily="2" charset="-122"/>
              <a:sym typeface="+mn-ea"/>
            </a:endParaRPr>
          </a:p>
          <a:p>
            <a:pPr marL="704850" lvl="1" indent="-361950" eaLnBrk="1" hangingPunct="1">
              <a:lnSpc>
                <a:spcPct val="120000"/>
              </a:lnSpc>
              <a:buFont typeface="Times"/>
              <a:buNone/>
            </a:pPr>
            <a:r>
              <a:rPr lang="en-US" dirty="0">
                <a:solidFill>
                  <a:srgbClr val="002060"/>
                </a:solidFill>
                <a:ea typeface="宋体" panose="02010600030101010101" pitchFamily="2" charset="-122"/>
                <a:sym typeface="+mn-ea"/>
              </a:rPr>
              <a:t>while (</a:t>
            </a:r>
            <a:r>
              <a:rPr lang="en-US" dirty="0" err="1">
                <a:solidFill>
                  <a:srgbClr val="002060"/>
                </a:solidFill>
                <a:ea typeface="宋体" panose="02010600030101010101" pitchFamily="2" charset="-122"/>
                <a:sym typeface="+mn-ea"/>
              </a:rPr>
              <a:t>i</a:t>
            </a:r>
            <a:r>
              <a:rPr lang="en-US" dirty="0">
                <a:solidFill>
                  <a:srgbClr val="002060"/>
                </a:solidFill>
                <a:ea typeface="宋体" panose="02010600030101010101" pitchFamily="2" charset="-122"/>
                <a:sym typeface="+mn-ea"/>
              </a:rPr>
              <a:t>++ &lt;= 100) {</a:t>
            </a:r>
            <a:endParaRPr lang="en-US" dirty="0">
              <a:solidFill>
                <a:srgbClr val="002060"/>
              </a:solidFill>
              <a:ea typeface="宋体" panose="02010600030101010101" pitchFamily="2" charset="-122"/>
            </a:endParaRPr>
          </a:p>
          <a:p>
            <a:pPr marL="704850" lvl="1" indent="-361950" eaLnBrk="1" hangingPunct="1">
              <a:lnSpc>
                <a:spcPct val="120000"/>
              </a:lnSpc>
              <a:buFont typeface="Times"/>
              <a:buNone/>
            </a:pPr>
            <a:r>
              <a:rPr lang="en-US" dirty="0">
                <a:solidFill>
                  <a:srgbClr val="002060"/>
                </a:solidFill>
                <a:ea typeface="宋体" panose="02010600030101010101" pitchFamily="2" charset="-122"/>
                <a:sym typeface="+mn-ea"/>
              </a:rPr>
              <a:t>		if (</a:t>
            </a:r>
            <a:r>
              <a:rPr lang="en-US" dirty="0" err="1">
                <a:solidFill>
                  <a:srgbClr val="002060"/>
                </a:solidFill>
                <a:ea typeface="宋体" panose="02010600030101010101" pitchFamily="2" charset="-122"/>
                <a:sym typeface="+mn-ea"/>
              </a:rPr>
              <a:t>i</a:t>
            </a:r>
            <a:r>
              <a:rPr lang="en-US" dirty="0">
                <a:solidFill>
                  <a:srgbClr val="002060"/>
                </a:solidFill>
                <a:ea typeface="宋体" panose="02010600030101010101" pitchFamily="2" charset="-122"/>
                <a:sym typeface="+mn-ea"/>
              </a:rPr>
              <a:t> % 2 != 0) continue;</a:t>
            </a:r>
            <a:endParaRPr lang="en-US" dirty="0">
              <a:solidFill>
                <a:srgbClr val="002060"/>
              </a:solidFill>
              <a:ea typeface="宋体" panose="02010600030101010101" pitchFamily="2" charset="-122"/>
            </a:endParaRPr>
          </a:p>
          <a:p>
            <a:pPr marL="704850" lvl="1" indent="-361950" eaLnBrk="1" hangingPunct="1">
              <a:lnSpc>
                <a:spcPct val="120000"/>
              </a:lnSpc>
              <a:buFont typeface="Times"/>
              <a:buNone/>
            </a:pPr>
            <a:r>
              <a:rPr lang="en-US" dirty="0">
                <a:solidFill>
                  <a:srgbClr val="002060"/>
                </a:solidFill>
                <a:ea typeface="宋体" panose="02010600030101010101" pitchFamily="2" charset="-122"/>
                <a:sym typeface="+mn-ea"/>
              </a:rPr>
              <a:t>		</a:t>
            </a:r>
            <a:r>
              <a:rPr lang="en-US" dirty="0" err="1">
                <a:solidFill>
                  <a:srgbClr val="002060"/>
                </a:solidFill>
                <a:ea typeface="宋体" panose="02010600030101010101" pitchFamily="2" charset="-122"/>
                <a:sym typeface="+mn-ea"/>
              </a:rPr>
              <a:t>System.out.print</a:t>
            </a:r>
            <a:r>
              <a:rPr lang="en-US" dirty="0">
                <a:solidFill>
                  <a:srgbClr val="002060"/>
                </a:solidFill>
                <a:ea typeface="宋体" panose="02010600030101010101" pitchFamily="2" charset="-122"/>
                <a:sym typeface="+mn-ea"/>
              </a:rPr>
              <a:t>(</a:t>
            </a:r>
            <a:r>
              <a:rPr lang="en-US" dirty="0" err="1">
                <a:solidFill>
                  <a:srgbClr val="002060"/>
                </a:solidFill>
                <a:ea typeface="宋体" panose="02010600030101010101" pitchFamily="2" charset="-122"/>
                <a:sym typeface="+mn-ea"/>
              </a:rPr>
              <a:t>i</a:t>
            </a:r>
            <a:r>
              <a:rPr lang="en-US" dirty="0">
                <a:solidFill>
                  <a:srgbClr val="002060"/>
                </a:solidFill>
                <a:ea typeface="宋体" panose="02010600030101010101" pitchFamily="2" charset="-122"/>
                <a:sym typeface="+mn-ea"/>
              </a:rPr>
              <a:t> + "  ");</a:t>
            </a:r>
            <a:endParaRPr lang="en-US" dirty="0">
              <a:solidFill>
                <a:srgbClr val="002060"/>
              </a:solidFill>
              <a:ea typeface="宋体" panose="02010600030101010101" pitchFamily="2" charset="-122"/>
            </a:endParaRPr>
          </a:p>
          <a:p>
            <a:pPr marL="704850" lvl="1" indent="-361950" eaLnBrk="1" hangingPunct="1">
              <a:lnSpc>
                <a:spcPct val="120000"/>
              </a:lnSpc>
              <a:buFont typeface="Times"/>
              <a:buNone/>
            </a:pPr>
            <a:r>
              <a:rPr lang="en-US" dirty="0">
                <a:solidFill>
                  <a:srgbClr val="002060"/>
                </a:solidFill>
                <a:ea typeface="宋体" panose="02010600030101010101" pitchFamily="2" charset="-122"/>
                <a:sym typeface="+mn-ea"/>
              </a:rPr>
              <a:t>}</a:t>
            </a:r>
            <a:endParaRPr lang="en-US" dirty="0">
              <a:solidFill>
                <a:srgbClr val="002060"/>
              </a:solidFill>
              <a:ea typeface="宋体" panose="02010600030101010101" pitchFamily="2" charset="-122"/>
            </a:endParaRPr>
          </a:p>
          <a:p>
            <a:pPr marL="0" indent="0" eaLnBrk="1" hangingPunct="1">
              <a:lnSpc>
                <a:spcPct val="120000"/>
              </a:lnSpc>
              <a:buClr>
                <a:srgbClr val="ED7D31"/>
              </a:buClr>
              <a:buFont typeface="+mj-lt"/>
              <a:buNone/>
            </a:pPr>
            <a:endParaRPr lang="zh-CN" altLang="en-US" dirty="0">
              <a:ea typeface="宋体" panose="02010600030101010101" pitchFamily="2" charset="-122"/>
            </a:endParaRPr>
          </a:p>
          <a:p>
            <a:pPr marL="457200" indent="-457200" eaLnBrk="1" hangingPunct="1">
              <a:lnSpc>
                <a:spcPct val="120000"/>
              </a:lnSpc>
              <a:buClr>
                <a:srgbClr val="ED7D31"/>
              </a:buClr>
              <a:buFont typeface="+mj-lt"/>
              <a:buAutoNum type="arabicPeriod"/>
            </a:pPr>
            <a:endParaRPr lang="zh-CN" altLang="en-US" dirty="0">
              <a:ea typeface="宋体" panose="02010600030101010101" pitchFamily="2" charset="-122"/>
            </a:endParaRPr>
          </a:p>
          <a:p>
            <a:pPr marL="457200" indent="-457200" eaLnBrk="1" hangingPunct="1">
              <a:lnSpc>
                <a:spcPct val="12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TestContinue</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21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2643" name="内容占位符 2"/>
          <p:cNvSpPr>
            <a:spLocks noGrp="1"/>
          </p:cNvSpPr>
          <p:nvPr>
            <p:ph idx="4294967295"/>
          </p:nvPr>
        </p:nvSpPr>
        <p:spPr>
          <a:xfrm>
            <a:off x="1234732" y="1108730"/>
            <a:ext cx="7537450" cy="4816475"/>
          </a:xfrm>
        </p:spPr>
        <p:txBody>
          <a:bodyPr/>
          <a:p>
            <a:pPr marL="361950" indent="-361950" eaLnBrk="1" hangingPunct="1">
              <a:buFont typeface="Times"/>
              <a:buNone/>
            </a:pPr>
            <a:r>
              <a:rPr lang="en-US" sz="1800" dirty="0">
                <a:solidFill>
                  <a:srgbClr val="002060"/>
                </a:solidFill>
                <a:ea typeface="宋体" panose="02010600030101010101" pitchFamily="2" charset="-122"/>
              </a:rPr>
              <a:t>1  public class </a:t>
            </a:r>
            <a:r>
              <a:rPr lang="en-US" sz="1800" dirty="0" err="1">
                <a:solidFill>
                  <a:srgbClr val="002060"/>
                </a:solidFill>
                <a:ea typeface="宋体" panose="02010600030101010101" pitchFamily="2" charset="-122"/>
              </a:rPr>
              <a:t>TestContinue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2      public static void main(String[] </a:t>
            </a:r>
            <a:r>
              <a:rPr lang="en-US" sz="1800" dirty="0" err="1">
                <a:solidFill>
                  <a:srgbClr val="002060"/>
                </a:solidFill>
                <a:ea typeface="宋体" panose="02010600030101010101" pitchFamily="2" charset="-122"/>
              </a:rPr>
              <a:t>args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3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t>
            </a:r>
            <a:r>
              <a:rPr lang="en-US" sz="1800" dirty="0" err="1">
                <a:solidFill>
                  <a:srgbClr val="002060"/>
                </a:solidFill>
                <a:ea typeface="宋体" panose="02010600030101010101" pitchFamily="2" charset="-122"/>
              </a:rPr>
              <a:t>i</a:t>
            </a:r>
            <a:r>
              <a:rPr lang="en-US" sz="1800" dirty="0">
                <a:solidFill>
                  <a:srgbClr val="002060"/>
                </a:solidFill>
                <a:ea typeface="宋体" panose="02010600030101010101" pitchFamily="2" charset="-122"/>
              </a:rPr>
              <a:t> = 1;</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4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5          while (</a:t>
            </a:r>
            <a:r>
              <a:rPr lang="en-US" sz="1800" dirty="0" err="1">
                <a:solidFill>
                  <a:srgbClr val="002060"/>
                </a:solidFill>
                <a:ea typeface="宋体" panose="02010600030101010101" pitchFamily="2" charset="-122"/>
              </a:rPr>
              <a:t>i</a:t>
            </a:r>
            <a:r>
              <a:rPr lang="en-US" sz="1800" dirty="0">
                <a:solidFill>
                  <a:srgbClr val="002060"/>
                </a:solidFill>
                <a:ea typeface="宋体" panose="02010600030101010101" pitchFamily="2" charset="-122"/>
              </a:rPr>
              <a:t>++ &lt;= 100)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6              if (</a:t>
            </a:r>
            <a:r>
              <a:rPr lang="en-US" sz="1800" dirty="0" err="1">
                <a:solidFill>
                  <a:srgbClr val="002060"/>
                </a:solidFill>
                <a:ea typeface="宋体" panose="02010600030101010101" pitchFamily="2" charset="-122"/>
              </a:rPr>
              <a:t>i</a:t>
            </a:r>
            <a:r>
              <a:rPr lang="en-US" sz="1800" dirty="0">
                <a:solidFill>
                  <a:srgbClr val="002060"/>
                </a:solidFill>
                <a:ea typeface="宋体" panose="02010600030101010101" pitchFamily="2" charset="-122"/>
              </a:rPr>
              <a:t> % 2 != 0) continue;</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7              </a:t>
            </a:r>
            <a:r>
              <a:rPr lang="en-US" sz="1800" dirty="0" err="1">
                <a:solidFill>
                  <a:srgbClr val="002060"/>
                </a:solidFill>
                <a:ea typeface="宋体" panose="02010600030101010101" pitchFamily="2" charset="-122"/>
              </a:rPr>
              <a:t>System.out.print</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i</a:t>
            </a:r>
            <a:r>
              <a:rPr lang="en-US" sz="1800" dirty="0">
                <a:solidFill>
                  <a:srgbClr val="002060"/>
                </a:solidFill>
                <a:ea typeface="宋体" panose="02010600030101010101" pitchFamily="2" charset="-122"/>
              </a:rPr>
              <a:t> + "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8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9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10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405755"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22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44320"/>
            <a:ext cx="9527540" cy="2920365"/>
          </a:xfrm>
        </p:spPr>
        <p:txBody>
          <a:bodyPr>
            <a:normAutofit/>
          </a:bodyPr>
          <a:p>
            <a:pPr marL="457200" indent="-457200" eaLnBrk="1" hangingPunct="1">
              <a:lnSpc>
                <a:spcPct val="160000"/>
              </a:lnSpc>
              <a:buClr>
                <a:srgbClr val="ED7D31"/>
              </a:buClr>
              <a:buFont typeface="+mj-lt"/>
              <a:buAutoNum type="arabicPeriod"/>
            </a:pPr>
            <a:r>
              <a:rPr lang="zh-CN" altLang="en-US" dirty="0">
                <a:ea typeface="宋体" panose="02010600030101010101" pitchFamily="2" charset="-122"/>
                <a:sym typeface="+mn-ea"/>
              </a:rPr>
              <a:t>编写</a:t>
            </a:r>
            <a:r>
              <a:rPr lang="en-US" altLang="zh-CN" dirty="0" smtClean="0">
                <a:ea typeface="宋体" panose="02010600030101010101" pitchFamily="2" charset="-122"/>
                <a:sym typeface="+mn-ea"/>
              </a:rPr>
              <a:t>Exercise18</a:t>
            </a:r>
            <a:r>
              <a:rPr lang="zh-CN" altLang="en-US" dirty="0">
                <a:ea typeface="宋体" panose="02010600030101010101" pitchFamily="2" charset="-122"/>
                <a:sym typeface="+mn-ea"/>
              </a:rPr>
              <a:t>程序，打印</a:t>
            </a:r>
            <a:r>
              <a:rPr lang="en-US" dirty="0">
                <a:ea typeface="宋体" panose="02010600030101010101" pitchFamily="2" charset="-122"/>
                <a:sym typeface="+mn-ea"/>
              </a:rPr>
              <a:t>1-100</a:t>
            </a:r>
            <a:r>
              <a:rPr lang="zh-CN" altLang="en-US" dirty="0">
                <a:ea typeface="宋体" panose="02010600030101010101" pitchFamily="2" charset="-122"/>
                <a:sym typeface="+mn-ea"/>
              </a:rPr>
              <a:t>之间</a:t>
            </a:r>
            <a:r>
              <a:rPr lang="en-US" dirty="0">
                <a:ea typeface="宋体" panose="02010600030101010101" pitchFamily="2" charset="-122"/>
                <a:sym typeface="+mn-ea"/>
              </a:rPr>
              <a:t>13</a:t>
            </a:r>
            <a:r>
              <a:rPr lang="zh-CN" altLang="en-US" dirty="0">
                <a:ea typeface="宋体" panose="02010600030101010101" pitchFamily="2" charset="-122"/>
                <a:sym typeface="+mn-ea"/>
              </a:rPr>
              <a:t>的倍数，使用</a:t>
            </a:r>
            <a:r>
              <a:rPr lang="en-US" dirty="0">
                <a:ea typeface="宋体" panose="02010600030101010101" pitchFamily="2" charset="-122"/>
                <a:sym typeface="+mn-ea"/>
              </a:rPr>
              <a:t>continue</a:t>
            </a:r>
            <a:r>
              <a:rPr lang="zh-CN" altLang="en-US" dirty="0">
                <a:ea typeface="宋体" panose="02010600030101010101" pitchFamily="2" charset="-122"/>
                <a:sym typeface="+mn-ea"/>
              </a:rPr>
              <a:t>语句</a:t>
            </a:r>
            <a:endParaRPr lang="zh-CN" altLang="en-US" dirty="0">
              <a:ea typeface="宋体" panose="02010600030101010101" pitchFamily="2" charset="-122"/>
            </a:endParaRPr>
          </a:p>
          <a:p>
            <a:pPr marL="457200" indent="-457200" eaLnBrk="1" hangingPunct="1">
              <a:lnSpc>
                <a:spcPct val="16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212975"/>
            <a:ext cx="3369310" cy="3117850"/>
          </a:xfrm>
          <a:prstGeom prst="rect">
            <a:avLst/>
          </a:prstGeom>
          <a:noFill/>
        </p:spPr>
        <p:txBody>
          <a:bodyPr wrap="square" rtlCol="0">
            <a:spAutoFit/>
          </a:bodyPr>
          <a:lstStyle/>
          <a:p>
            <a:pPr marR="0" lvl="0" indent="0" algn="l" defTabSz="914400" rtl="0" eaLnBrk="1" fontAlgn="auto" latinLnBrk="0" hangingPunct="1">
              <a:lnSpc>
                <a:spcPct val="180000"/>
              </a:lnSpc>
              <a:spcBef>
                <a:spcPts val="0"/>
              </a:spcBef>
              <a:spcAft>
                <a:spcPts val="0"/>
              </a:spcAft>
              <a:buClrTx/>
              <a:buSzTx/>
              <a:buFont typeface="+mj-lt"/>
              <a:buNone/>
              <a:defRPr/>
            </a:pPr>
            <a:r>
              <a:rPr kumimoji="0" lang="en-US" altLang="zh-CN" sz="2400" i="0" u="none" strike="noStrike" kern="1200" cap="none" spc="0" normalizeH="0" baseline="0" noProof="0" dirty="0">
                <a:ln>
                  <a:noFill/>
                </a:ln>
                <a:effectLst/>
                <a:uLnTx/>
                <a:uFillTx/>
                <a:latin typeface="+mj-ea"/>
                <a:ea typeface="+mj-ea"/>
                <a:cs typeface="+mj-ea"/>
                <a:sym typeface="思源黑体 CN Light" panose="020B0300000000000000" pitchFamily="34" charset="-122"/>
              </a:rPr>
              <a:t>1. </a:t>
            </a:r>
            <a:r>
              <a:rPr lang="zh-CN" altLang="en-US" sz="2400" dirty="0">
                <a:latin typeface="+mj-ea"/>
                <a:ea typeface="+mj-ea"/>
                <a:cs typeface="+mj-ea"/>
                <a:sym typeface="+mn-ea"/>
              </a:rPr>
              <a:t>方法的声明和调用</a:t>
            </a:r>
            <a:endParaRPr lang="zh-CN" altLang="en-US" sz="2400" dirty="0">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r>
              <a:rPr lang="en-US" altLang="zh-CN" sz="2400" noProof="0" dirty="0">
                <a:ln>
                  <a:noFill/>
                </a:ln>
                <a:solidFill>
                  <a:srgbClr val="ED7D31"/>
                </a:solidFill>
                <a:effectLst/>
                <a:uLnTx/>
                <a:uFillTx/>
                <a:latin typeface="+mj-ea"/>
                <a:ea typeface="+mj-ea"/>
                <a:cs typeface="+mj-ea"/>
                <a:sym typeface="思源黑体 CN Light" panose="020B0300000000000000" pitchFamily="34" charset="-122"/>
              </a:rPr>
              <a:t>2. </a:t>
            </a:r>
            <a:r>
              <a:rPr lang="zh-CN" altLang="en-US" sz="2400" dirty="0">
                <a:solidFill>
                  <a:srgbClr val="ED7D31"/>
                </a:solidFill>
                <a:latin typeface="+mj-ea"/>
                <a:ea typeface="+mj-ea"/>
                <a:cs typeface="+mj-ea"/>
                <a:sym typeface="+mn-ea"/>
              </a:rPr>
              <a:t>参数的值传递</a:t>
            </a:r>
            <a:endParaRPr lang="zh-CN" altLang="en-US" sz="2400" dirty="0">
              <a:solidFill>
                <a:srgbClr val="ED7D31"/>
              </a:solidFill>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r>
              <a:rPr lang="en-US" altLang="zh-CN" sz="2400" noProof="0" dirty="0">
                <a:ln>
                  <a:noFill/>
                </a:ln>
                <a:effectLst/>
                <a:uLnTx/>
                <a:uFillTx/>
                <a:latin typeface="+mj-ea"/>
                <a:ea typeface="+mj-ea"/>
                <a:cs typeface="+mj-ea"/>
                <a:sym typeface="思源黑体 CN Light" panose="020B0300000000000000" pitchFamily="34" charset="-122"/>
              </a:rPr>
              <a:t>3. </a:t>
            </a:r>
            <a:r>
              <a:rPr lang="zh-CN" altLang="en-US" sz="2400" dirty="0">
                <a:latin typeface="+mj-ea"/>
                <a:ea typeface="+mj-ea"/>
                <a:cs typeface="+mj-ea"/>
                <a:sym typeface="+mn-ea"/>
              </a:rPr>
              <a:t>方法重载</a:t>
            </a:r>
            <a:endParaRPr lang="zh-CN" altLang="en-US" sz="2400" dirty="0">
              <a:latin typeface="+mj-ea"/>
              <a:ea typeface="+mj-ea"/>
              <a:cs typeface="+mj-ea"/>
            </a:endParaRPr>
          </a:p>
          <a:p>
            <a:pPr marR="0" lvl="0" indent="0" algn="l" defTabSz="914400" rtl="0" eaLnBrk="1" fontAlgn="auto" latinLnBrk="0" hangingPunct="1">
              <a:lnSpc>
                <a:spcPct val="180000"/>
              </a:lnSpc>
              <a:spcBef>
                <a:spcPts val="0"/>
              </a:spcBef>
              <a:spcAft>
                <a:spcPts val="0"/>
              </a:spcAft>
              <a:buClrTx/>
              <a:buSzTx/>
              <a:buFont typeface="+mj-lt"/>
              <a:buNone/>
              <a:defRPr/>
            </a:pPr>
            <a:endParaRPr kumimoji="0" lang="zh-CN" altLang="en-US" sz="2400" i="0" u="none" strike="noStrike" kern="1200" cap="none" spc="0" normalizeH="0" baseline="0" noProof="0" dirty="0">
              <a:ln>
                <a:noFill/>
              </a:ln>
              <a:solidFill>
                <a:srgbClr val="ED7D31"/>
              </a:solidFill>
              <a:effectLst/>
              <a:uLnTx/>
              <a:uFillTx/>
              <a:latin typeface="+mj-ea"/>
              <a:ea typeface="+mj-ea"/>
              <a:cs typeface="+mj-ea"/>
              <a:sym typeface="+mn-ea"/>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第四章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400" b="1" dirty="0" smtClean="0">
                <a:latin typeface="Arial" panose="020B0604020202020204" pitchFamily="34" charset="0"/>
                <a:ea typeface="宋体" panose="02010600030101010101" pitchFamily="2" charset="-122"/>
                <a:sym typeface="+mn-ea"/>
              </a:rPr>
              <a:t>声明和使用方法</a:t>
            </a:r>
            <a:endParaRPr kumimoji="0" lang="zh-CN" altLang="en-US" sz="2400" b="1" i="0" u="none" strike="noStrike" kern="1200" cap="none" spc="300" normalizeH="0" baseline="0" noProof="0" dirty="0" smtClean="0">
              <a:ln>
                <a:noFill/>
              </a:ln>
              <a:solidFill>
                <a:srgbClr val="01255A"/>
              </a:solidFill>
              <a:effectLst/>
              <a:uLnTx/>
              <a:uFillTx/>
              <a:latin typeface="Arial" panose="020B0604020202020204" pitchFamily="34" charset="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484630" y="3137535"/>
            <a:ext cx="94691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方法的声明和调用</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dirty="0">
                <a:ea typeface="宋体" panose="02010600030101010101" pitchFamily="2" charset="-122"/>
                <a:sym typeface="+mn-ea"/>
              </a:rPr>
              <a:t>声明方法和调用（不考虑返回类型和参数）</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311910"/>
            <a:ext cx="9527540" cy="4650740"/>
          </a:xfrm>
        </p:spPr>
        <p:txBody>
          <a:bodyPr>
            <a:normAutofit lnSpcReduction="20000"/>
          </a:bodyPr>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方法声明的语法</a:t>
            </a:r>
            <a:r>
              <a:rPr lang="en-US" altLang="zh-CN" dirty="0">
                <a:ea typeface="宋体" panose="02010600030101010101" pitchFamily="2" charset="-122"/>
                <a:sym typeface="+mn-ea"/>
              </a:rPr>
              <a:t>:</a:t>
            </a:r>
            <a:endParaRPr lang="en-US" altLang="zh-CN" dirty="0">
              <a:ea typeface="宋体" panose="02010600030101010101" pitchFamily="2" charset="-122"/>
              <a:sym typeface="+mn-ea"/>
            </a:endParaRPr>
          </a:p>
          <a:p>
            <a:pPr marL="704850" lvl="1" indent="-361950" eaLnBrk="1" hangingPunct="1">
              <a:lnSpc>
                <a:spcPct val="100000"/>
              </a:lnSpc>
              <a:buFont typeface="Times"/>
              <a:buNone/>
            </a:pPr>
            <a:r>
              <a:rPr lang="en-US" altLang="zh-CN" dirty="0">
                <a:solidFill>
                  <a:srgbClr val="ED7D31"/>
                </a:solidFill>
                <a:ea typeface="宋体" panose="02010600030101010101" pitchFamily="2" charset="-122"/>
                <a:sym typeface="+mn-ea"/>
              </a:rPr>
              <a:t>[</a:t>
            </a:r>
            <a:r>
              <a:rPr lang="zh-CN" altLang="en-US" dirty="0">
                <a:solidFill>
                  <a:srgbClr val="ED7D31"/>
                </a:solidFill>
                <a:ea typeface="宋体" panose="02010600030101010101" pitchFamily="2" charset="-122"/>
                <a:sym typeface="+mn-ea"/>
              </a:rPr>
              <a:t>修饰符</a:t>
            </a:r>
            <a:r>
              <a:rPr lang="en-US" altLang="zh-CN" dirty="0">
                <a:solidFill>
                  <a:srgbClr val="ED7D31"/>
                </a:solidFill>
                <a:ea typeface="宋体" panose="02010600030101010101" pitchFamily="2" charset="-122"/>
                <a:sym typeface="+mn-ea"/>
              </a:rPr>
              <a:t>]</a:t>
            </a:r>
            <a:r>
              <a:rPr lang="en-US" dirty="0">
                <a:solidFill>
                  <a:srgbClr val="ED7D31"/>
                </a:solidFill>
                <a:ea typeface="宋体" panose="02010600030101010101" pitchFamily="2" charset="-122"/>
                <a:sym typeface="+mn-ea"/>
              </a:rPr>
              <a:t> </a:t>
            </a:r>
            <a:r>
              <a:rPr lang="zh-CN" altLang="en-US" dirty="0">
                <a:solidFill>
                  <a:srgbClr val="ED7D31"/>
                </a:solidFill>
                <a:ea typeface="宋体" panose="02010600030101010101" pitchFamily="2" charset="-122"/>
                <a:sym typeface="+mn-ea"/>
              </a:rPr>
              <a:t>返回类型 方法名</a:t>
            </a:r>
            <a:r>
              <a:rPr lang="en-US" dirty="0">
                <a:solidFill>
                  <a:srgbClr val="ED7D31"/>
                </a:solidFill>
                <a:ea typeface="宋体" panose="02010600030101010101" pitchFamily="2" charset="-122"/>
                <a:sym typeface="+mn-ea"/>
              </a:rPr>
              <a:t>([</a:t>
            </a:r>
            <a:r>
              <a:rPr lang="zh-CN" altLang="en-US" dirty="0">
                <a:solidFill>
                  <a:srgbClr val="ED7D31"/>
                </a:solidFill>
                <a:ea typeface="宋体" panose="02010600030101010101" pitchFamily="2" charset="-122"/>
                <a:sym typeface="+mn-ea"/>
              </a:rPr>
              <a:t>参数列表</a:t>
            </a:r>
            <a:r>
              <a:rPr lang="en-US" altLang="zh-CN" dirty="0">
                <a:solidFill>
                  <a:srgbClr val="ED7D31"/>
                </a:solidFill>
                <a:ea typeface="宋体" panose="02010600030101010101" pitchFamily="2" charset="-122"/>
                <a:sym typeface="+mn-ea"/>
              </a:rPr>
              <a:t>]</a:t>
            </a:r>
            <a:r>
              <a:rPr lang="en-US" dirty="0">
                <a:solidFill>
                  <a:srgbClr val="ED7D31"/>
                </a:solidFill>
                <a:ea typeface="宋体" panose="02010600030101010101" pitchFamily="2" charset="-122"/>
                <a:sym typeface="+mn-ea"/>
              </a:rPr>
              <a:t>) {</a:t>
            </a:r>
            <a:endParaRPr lang="en-US" dirty="0">
              <a:solidFill>
                <a:srgbClr val="ED7D31"/>
              </a:solidFill>
              <a:ea typeface="宋体" panose="02010600030101010101" pitchFamily="2" charset="-122"/>
            </a:endParaRPr>
          </a:p>
          <a:p>
            <a:pPr marL="704850" lvl="1" indent="-361950" eaLnBrk="1" hangingPunct="1">
              <a:lnSpc>
                <a:spcPct val="100000"/>
              </a:lnSpc>
              <a:buFont typeface="Times"/>
              <a:buNone/>
            </a:pPr>
            <a:r>
              <a:rPr lang="en-US" dirty="0">
                <a:solidFill>
                  <a:srgbClr val="ED7D31"/>
                </a:solidFill>
                <a:ea typeface="宋体" panose="02010600030101010101" pitchFamily="2" charset="-122"/>
                <a:sym typeface="+mn-ea"/>
              </a:rPr>
              <a:t>	</a:t>
            </a:r>
            <a:r>
              <a:rPr lang="zh-CN" altLang="en-US" dirty="0">
                <a:solidFill>
                  <a:srgbClr val="ED7D31"/>
                </a:solidFill>
                <a:ea typeface="宋体" panose="02010600030101010101" pitchFamily="2" charset="-122"/>
                <a:sym typeface="+mn-ea"/>
              </a:rPr>
              <a:t>方法体</a:t>
            </a:r>
            <a:endParaRPr lang="zh-CN" altLang="en-US" dirty="0">
              <a:solidFill>
                <a:srgbClr val="ED7D31"/>
              </a:solidFill>
              <a:ea typeface="宋体" panose="02010600030101010101" pitchFamily="2" charset="-122"/>
            </a:endParaRPr>
          </a:p>
          <a:p>
            <a:pPr marL="704850" lvl="1" indent="-361950" eaLnBrk="1" hangingPunct="1">
              <a:lnSpc>
                <a:spcPct val="100000"/>
              </a:lnSpc>
              <a:buFont typeface="Times"/>
              <a:buNone/>
            </a:pPr>
            <a:r>
              <a:rPr lang="zh-CN" altLang="en-US" dirty="0">
                <a:solidFill>
                  <a:srgbClr val="ED7D31"/>
                </a:solidFill>
                <a:ea typeface="宋体" panose="02010600030101010101" pitchFamily="2" charset="-122"/>
                <a:sym typeface="+mn-ea"/>
              </a:rPr>
              <a:t> </a:t>
            </a:r>
            <a:r>
              <a:rPr lang="en-US" dirty="0">
                <a:solidFill>
                  <a:srgbClr val="ED7D31"/>
                </a:solidFill>
                <a:ea typeface="宋体" panose="02010600030101010101" pitchFamily="2" charset="-122"/>
                <a:sym typeface="+mn-ea"/>
              </a:rPr>
              <a:t>}</a:t>
            </a:r>
            <a:endParaRPr lang="zh-CN" altLang="en-US" dirty="0">
              <a:ea typeface="宋体" panose="02010600030101010101" pitchFamily="2" charset="-122"/>
            </a:endParaRPr>
          </a:p>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例如：</a:t>
            </a:r>
            <a:endParaRPr lang="zh-CN" altLang="en-US" dirty="0">
              <a:ea typeface="宋体" panose="02010600030101010101" pitchFamily="2" charset="-122"/>
              <a:sym typeface="+mn-ea"/>
            </a:endParaRPr>
          </a:p>
          <a:p>
            <a:pPr marL="0" indent="457200" eaLnBrk="1" hangingPunct="1">
              <a:lnSpc>
                <a:spcPct val="100000"/>
              </a:lnSpc>
              <a:buClr>
                <a:srgbClr val="ED7D31"/>
              </a:buClr>
              <a:buFont typeface="+mj-lt"/>
              <a:buNone/>
            </a:pPr>
            <a:r>
              <a:rPr lang="en-US" sz="2000" dirty="0">
                <a:solidFill>
                  <a:srgbClr val="002060"/>
                </a:solidFill>
                <a:ea typeface="宋体" panose="02010600030101010101" pitchFamily="2" charset="-122"/>
                <a:sym typeface="+mn-ea"/>
              </a:rPr>
              <a:t>public static </a:t>
            </a: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 print() { … }</a:t>
            </a:r>
            <a:endParaRPr lang="en-US" sz="2000" dirty="0">
              <a:solidFill>
                <a:srgbClr val="002060"/>
              </a:solidFill>
              <a:ea typeface="宋体" panose="02010600030101010101" pitchFamily="2" charset="-122"/>
            </a:endParaRPr>
          </a:p>
          <a:p>
            <a:pPr marL="457200" indent="-457200" eaLnBrk="1" hangingPunct="1">
              <a:lnSpc>
                <a:spcPct val="100000"/>
              </a:lnSpc>
              <a:buClr>
                <a:srgbClr val="ED7D31"/>
              </a:buClr>
              <a:buFont typeface="+mj-lt"/>
              <a:buAutoNum type="arabicPeriod"/>
            </a:pPr>
            <a:r>
              <a:rPr lang="zh-CN" altLang="en-US" dirty="0">
                <a:ea typeface="宋体" panose="02010600030101010101" pitchFamily="2" charset="-122"/>
                <a:sym typeface="+mn-ea"/>
              </a:rPr>
              <a:t>方法的调用：</a:t>
            </a:r>
            <a:endParaRPr lang="zh-CN" altLang="en-US" dirty="0">
              <a:ea typeface="宋体" panose="02010600030101010101" pitchFamily="2" charset="-122"/>
              <a:sym typeface="+mn-ea"/>
            </a:endParaRPr>
          </a:p>
          <a:p>
            <a:pPr marL="0" indent="0" eaLnBrk="1" hangingPunct="1">
              <a:lnSpc>
                <a:spcPct val="100000"/>
              </a:lnSpc>
              <a:buClr>
                <a:srgbClr val="ED7D31"/>
              </a:buClr>
              <a:buFont typeface="+mj-lt"/>
              <a:buNone/>
            </a:pPr>
            <a:r>
              <a:rPr lang="en-US" altLang="zh-CN" dirty="0">
                <a:ea typeface="宋体" panose="02010600030101010101" pitchFamily="2" charset="-122"/>
                <a:sym typeface="+mn-ea"/>
              </a:rPr>
              <a:t>   </a:t>
            </a:r>
            <a:r>
              <a:rPr lang="zh-CN" altLang="en-US" dirty="0">
                <a:ea typeface="宋体" panose="02010600030101010101" pitchFamily="2" charset="-122"/>
                <a:sym typeface="+mn-ea"/>
              </a:rPr>
              <a:t> 在一个方法的代码中调用执行另一个方法。例如：</a:t>
            </a:r>
            <a:endParaRPr lang="zh-CN" altLang="en-US" dirty="0">
              <a:ea typeface="宋体" panose="02010600030101010101" pitchFamily="2" charset="-122"/>
            </a:endParaRPr>
          </a:p>
          <a:p>
            <a:pPr marL="361950" indent="0" eaLnBrk="1" hangingPunct="1">
              <a:lnSpc>
                <a:spcPct val="100000"/>
              </a:lnSpc>
              <a:buFont typeface="Times"/>
              <a:buNone/>
            </a:pPr>
            <a:r>
              <a:rPr lang="en-US" sz="2000" dirty="0">
                <a:ea typeface="宋体" panose="02010600030101010101" pitchFamily="2" charset="-122"/>
                <a:sym typeface="+mn-ea"/>
              </a:rPr>
              <a:t> public static void main(String[] </a:t>
            </a:r>
            <a:r>
              <a:rPr lang="en-US" sz="2000" dirty="0" err="1">
                <a:ea typeface="宋体" panose="02010600030101010101" pitchFamily="2" charset="-122"/>
                <a:sym typeface="+mn-ea"/>
              </a:rPr>
              <a:t>args</a:t>
            </a:r>
            <a:r>
              <a:rPr lang="en-US" sz="2000" dirty="0">
                <a:ea typeface="宋体" panose="02010600030101010101" pitchFamily="2" charset="-122"/>
                <a:sym typeface="+mn-ea"/>
              </a:rPr>
              <a:t>) {</a:t>
            </a:r>
            <a:endParaRPr lang="en-US" sz="2000" dirty="0">
              <a:ea typeface="宋体" panose="02010600030101010101" pitchFamily="2" charset="-122"/>
            </a:endParaRPr>
          </a:p>
          <a:p>
            <a:pPr marL="704850" lvl="1" indent="-361950" eaLnBrk="1" hangingPunct="1">
              <a:lnSpc>
                <a:spcPct val="100000"/>
              </a:lnSpc>
              <a:buFont typeface="Times"/>
              <a:buNone/>
            </a:pPr>
            <a:r>
              <a:rPr lang="en-US" sz="2000" dirty="0">
                <a:ea typeface="宋体" panose="02010600030101010101" pitchFamily="2" charset="-122"/>
                <a:sym typeface="+mn-ea"/>
              </a:rPr>
              <a:t>           ……</a:t>
            </a:r>
            <a:endParaRPr lang="en-US" sz="2000" dirty="0">
              <a:ea typeface="宋体" panose="02010600030101010101" pitchFamily="2" charset="-122"/>
            </a:endParaRPr>
          </a:p>
          <a:p>
            <a:pPr marL="704850" lvl="1" indent="-361950" eaLnBrk="1" hangingPunct="1">
              <a:lnSpc>
                <a:spcPct val="100000"/>
              </a:lnSpc>
              <a:buFont typeface="Times"/>
              <a:buNone/>
            </a:pPr>
            <a:r>
              <a:rPr lang="en-US" sz="2000" dirty="0">
                <a:ea typeface="宋体" panose="02010600030101010101" pitchFamily="2" charset="-122"/>
                <a:sym typeface="+mn-ea"/>
              </a:rPr>
              <a:t>           print();</a:t>
            </a:r>
            <a:endParaRPr lang="en-US" sz="2000" dirty="0">
              <a:ea typeface="宋体" panose="02010600030101010101" pitchFamily="2" charset="-122"/>
            </a:endParaRPr>
          </a:p>
          <a:p>
            <a:pPr marL="704850" lvl="1" indent="-361950" eaLnBrk="1" hangingPunct="1">
              <a:lnSpc>
                <a:spcPct val="100000"/>
              </a:lnSpc>
              <a:buFont typeface="Times"/>
              <a:buNone/>
            </a:pPr>
            <a:r>
              <a:rPr lang="en-US" sz="2000" dirty="0">
                <a:ea typeface="宋体" panose="02010600030101010101" pitchFamily="2" charset="-122"/>
                <a:sym typeface="+mn-ea"/>
              </a:rPr>
              <a:t>           ……</a:t>
            </a:r>
            <a:endParaRPr lang="en-US" sz="2000" dirty="0">
              <a:ea typeface="宋体" panose="02010600030101010101" pitchFamily="2" charset="-122"/>
            </a:endParaRPr>
          </a:p>
          <a:p>
            <a:pPr marL="704850" lvl="1" indent="-361950" eaLnBrk="1" hangingPunct="1">
              <a:lnSpc>
                <a:spcPct val="100000"/>
              </a:lnSpc>
              <a:buFont typeface="Times"/>
              <a:buNone/>
            </a:pPr>
            <a:r>
              <a:rPr lang="en-US" sz="2000" dirty="0">
                <a:ea typeface="宋体" panose="02010600030101010101" pitchFamily="2" charset="-122"/>
                <a:sym typeface="+mn-ea"/>
              </a:rPr>
              <a:t>   }</a:t>
            </a: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TestMethod</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8787" name="内容占位符 2"/>
          <p:cNvSpPr>
            <a:spLocks noGrp="1"/>
          </p:cNvSpPr>
          <p:nvPr>
            <p:ph idx="4294967295"/>
          </p:nvPr>
        </p:nvSpPr>
        <p:spPr>
          <a:xfrm>
            <a:off x="1338872" y="1088377"/>
            <a:ext cx="7537450" cy="4816475"/>
          </a:xfrm>
        </p:spPr>
        <p:txBody>
          <a:bodyPr/>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public class </a:t>
            </a:r>
            <a:r>
              <a:rPr lang="en-US" sz="2000" dirty="0" err="1">
                <a:solidFill>
                  <a:srgbClr val="002060"/>
                </a:solidFill>
                <a:ea typeface="宋体" panose="02010600030101010101" pitchFamily="2" charset="-122"/>
              </a:rPr>
              <a:t>TestMethod</a:t>
            </a: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public static void main(String[] </a:t>
            </a:r>
            <a:r>
              <a:rPr lang="en-US" sz="2000" dirty="0" err="1">
                <a:solidFill>
                  <a:srgbClr val="002060"/>
                </a:solidFill>
                <a:ea typeface="宋体" panose="02010600030101010101" pitchFamily="2" charset="-122"/>
              </a:rPr>
              <a:t>args</a:t>
            </a: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a:t>
            </a:r>
            <a:r>
              <a:rPr lang="en-US" sz="2000" dirty="0" err="1">
                <a:solidFill>
                  <a:srgbClr val="002060"/>
                </a:solidFill>
                <a:ea typeface="宋体" panose="02010600030101010101" pitchFamily="2" charset="-122"/>
              </a:rPr>
              <a:t>System.out.println</a:t>
            </a:r>
            <a:r>
              <a:rPr lang="en-US" sz="2000" dirty="0">
                <a:solidFill>
                  <a:srgbClr val="002060"/>
                </a:solidFill>
                <a:ea typeface="宋体" panose="02010600030101010101" pitchFamily="2" charset="-122"/>
              </a:rPr>
              <a:t>("</a:t>
            </a:r>
            <a:r>
              <a:rPr lang="zh-CN" altLang="en-US" sz="2000" dirty="0">
                <a:solidFill>
                  <a:srgbClr val="002060"/>
                </a:solidFill>
                <a:ea typeface="宋体" panose="02010600030101010101" pitchFamily="2" charset="-122"/>
              </a:rPr>
              <a:t>这是</a:t>
            </a:r>
            <a:r>
              <a:rPr lang="en-US" sz="2000" dirty="0">
                <a:solidFill>
                  <a:srgbClr val="002060"/>
                </a:solidFill>
                <a:ea typeface="宋体" panose="02010600030101010101" pitchFamily="2" charset="-122"/>
              </a:rPr>
              <a:t>main</a:t>
            </a:r>
            <a:r>
              <a:rPr lang="zh-CN" altLang="en-US" sz="2000" dirty="0">
                <a:solidFill>
                  <a:srgbClr val="002060"/>
                </a:solidFill>
                <a:ea typeface="宋体" panose="02010600030101010101" pitchFamily="2" charset="-122"/>
              </a:rPr>
              <a:t>方法</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a:t>
            </a:r>
            <a:r>
              <a:rPr lang="en-US" sz="2000" dirty="0" err="1">
                <a:solidFill>
                  <a:srgbClr val="002060"/>
                </a:solidFill>
                <a:ea typeface="宋体" panose="02010600030101010101" pitchFamily="2" charset="-122"/>
              </a:rPr>
              <a:t>System.out.println</a:t>
            </a:r>
            <a:r>
              <a:rPr lang="en-US" sz="2000" dirty="0">
                <a:solidFill>
                  <a:srgbClr val="002060"/>
                </a:solidFill>
                <a:ea typeface="宋体" panose="02010600030101010101" pitchFamily="2" charset="-122"/>
              </a:rPr>
              <a:t>("</a:t>
            </a:r>
            <a:r>
              <a:rPr lang="zh-CN" altLang="en-US" sz="2000" dirty="0">
                <a:solidFill>
                  <a:srgbClr val="002060"/>
                </a:solidFill>
                <a:ea typeface="宋体" panose="02010600030101010101" pitchFamily="2" charset="-122"/>
              </a:rPr>
              <a:t>即将调用</a:t>
            </a:r>
            <a:r>
              <a:rPr lang="en-US" sz="2000" dirty="0">
                <a:solidFill>
                  <a:srgbClr val="002060"/>
                </a:solidFill>
                <a:ea typeface="宋体" panose="02010600030101010101" pitchFamily="2" charset="-122"/>
                <a:sym typeface="+mn-ea"/>
              </a:rPr>
              <a:t>printNum</a:t>
            </a:r>
            <a:r>
              <a:rPr lang="zh-CN" altLang="en-US" sz="2000" dirty="0">
                <a:solidFill>
                  <a:srgbClr val="002060"/>
                </a:solidFill>
                <a:ea typeface="宋体" panose="02010600030101010101" pitchFamily="2" charset="-122"/>
              </a:rPr>
              <a:t>方法</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printNum();</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a:t>
            </a:r>
            <a:r>
              <a:rPr lang="en-US" sz="2000" dirty="0" err="1">
                <a:solidFill>
                  <a:srgbClr val="002060"/>
                </a:solidFill>
                <a:ea typeface="宋体" panose="02010600030101010101" pitchFamily="2" charset="-122"/>
                <a:sym typeface="+mn-ea"/>
              </a:rPr>
              <a:t>System.out.println("调用</a:t>
            </a:r>
            <a:r>
              <a:rPr lang="en-US" sz="2000" dirty="0" err="1">
                <a:solidFill>
                  <a:srgbClr val="002060"/>
                </a:solidFill>
                <a:ea typeface="宋体" panose="02010600030101010101" pitchFamily="2" charset="-122"/>
                <a:sym typeface="+mn-ea"/>
              </a:rPr>
              <a:t>printNum</a:t>
            </a:r>
            <a:r>
              <a:rPr lang="en-US" sz="2000" dirty="0" err="1">
                <a:solidFill>
                  <a:srgbClr val="002060"/>
                </a:solidFill>
                <a:ea typeface="宋体" panose="02010600030101010101" pitchFamily="2" charset="-122"/>
                <a:sym typeface="+mn-ea"/>
              </a:rPr>
              <a:t>方法</a:t>
            </a:r>
            <a:r>
              <a:rPr lang="zh-CN" altLang="en-US" sz="2000" dirty="0" err="1">
                <a:solidFill>
                  <a:srgbClr val="002060"/>
                </a:solidFill>
                <a:ea typeface="宋体" panose="02010600030101010101" pitchFamily="2" charset="-122"/>
                <a:sym typeface="+mn-ea"/>
              </a:rPr>
              <a:t>结束</a:t>
            </a:r>
            <a:r>
              <a:rPr lang="en-US" sz="2000" dirty="0" err="1">
                <a:solidFill>
                  <a:srgbClr val="002060"/>
                </a:solidFill>
                <a:ea typeface="宋体" panose="02010600030101010101" pitchFamily="2" charset="-122"/>
                <a:sym typeface="+mn-ea"/>
              </a:rPr>
              <a:t>");</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//编写方法输除1-10的平方</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public static void printNum(){</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for (int i = 1; i &lt;= 10; i++) {</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System.out.println("i * i = " + i * i);</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a:p>
            <a:pPr marL="457200" indent="-457200" eaLnBrk="1" hangingPunct="1">
              <a:spcBef>
                <a:spcPct val="0"/>
              </a:spcBef>
              <a:buFont typeface="+mj-lt"/>
              <a:buAutoNum type="arabicPeriod"/>
            </a:pP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544320"/>
            <a:ext cx="9527540" cy="2920365"/>
          </a:xfrm>
        </p:spPr>
        <p:txBody>
          <a:bodyPr>
            <a:normAutofit/>
          </a:bodyPr>
          <a:p>
            <a:pPr marL="457200" indent="-457200" eaLnBrk="1" hangingPunct="1">
              <a:lnSpc>
                <a:spcPct val="160000"/>
              </a:lnSpc>
              <a:buClr>
                <a:srgbClr val="ED7D31"/>
              </a:buClr>
              <a:buFont typeface="+mj-lt"/>
              <a:buAutoNum type="arabicPeriod"/>
            </a:pPr>
            <a:r>
              <a:rPr lang="zh-CN" altLang="en-US" dirty="0">
                <a:ea typeface="宋体" panose="02010600030101010101" pitchFamily="2" charset="-122"/>
                <a:sym typeface="+mn-ea"/>
              </a:rPr>
              <a:t>编写</a:t>
            </a:r>
            <a:r>
              <a:rPr lang="en-US" altLang="zh-CN" dirty="0" smtClean="0">
                <a:ea typeface="宋体" panose="02010600030101010101" pitchFamily="2" charset="-122"/>
                <a:sym typeface="+mn-ea"/>
              </a:rPr>
              <a:t>Exercise18</a:t>
            </a:r>
            <a:r>
              <a:rPr lang="zh-CN" altLang="en-US" dirty="0">
                <a:ea typeface="宋体" panose="02010600030101010101" pitchFamily="2" charset="-122"/>
                <a:sym typeface="+mn-ea"/>
              </a:rPr>
              <a:t>程序，声明一个</a:t>
            </a:r>
            <a:r>
              <a:rPr lang="en-US" altLang="zh-CN" dirty="0">
                <a:ea typeface="宋体" panose="02010600030101010101" pitchFamily="2" charset="-122"/>
                <a:sym typeface="+mn-ea"/>
              </a:rPr>
              <a:t>p</a:t>
            </a:r>
            <a:r>
              <a:rPr lang="en-US" dirty="0">
                <a:ea typeface="宋体" panose="02010600030101010101" pitchFamily="2" charset="-122"/>
                <a:sym typeface="+mn-ea"/>
              </a:rPr>
              <a:t>rintCube</a:t>
            </a:r>
            <a:r>
              <a:rPr lang="zh-CN" altLang="en-US" dirty="0">
                <a:ea typeface="宋体" panose="02010600030101010101" pitchFamily="2" charset="-122"/>
                <a:sym typeface="+mn-ea"/>
              </a:rPr>
              <a:t>方法，在方法中输出</a:t>
            </a:r>
            <a:r>
              <a:rPr lang="en-US" altLang="zh-CN" dirty="0">
                <a:ea typeface="宋体" panose="02010600030101010101" pitchFamily="2" charset="-122"/>
                <a:sym typeface="+mn-ea"/>
              </a:rPr>
              <a:t>1-5</a:t>
            </a:r>
            <a:r>
              <a:rPr lang="zh-CN" altLang="en-US" dirty="0">
                <a:ea typeface="宋体" panose="02010600030101010101" pitchFamily="2" charset="-122"/>
                <a:sym typeface="+mn-ea"/>
              </a:rPr>
              <a:t>的立方，在</a:t>
            </a:r>
            <a:r>
              <a:rPr lang="en-US" dirty="0">
                <a:ea typeface="宋体" panose="02010600030101010101" pitchFamily="2" charset="-122"/>
                <a:sym typeface="+mn-ea"/>
              </a:rPr>
              <a:t>main</a:t>
            </a:r>
            <a:r>
              <a:rPr lang="zh-CN" altLang="en-US" dirty="0">
                <a:ea typeface="宋体" panose="02010600030101010101" pitchFamily="2" charset="-122"/>
                <a:sym typeface="+mn-ea"/>
              </a:rPr>
              <a:t>方法中调用该方法。</a:t>
            </a:r>
            <a:endParaRPr lang="zh-CN" altLang="en-US" dirty="0">
              <a:ea typeface="宋体" panose="02010600030101010101" pitchFamily="2" charset="-122"/>
            </a:endParaRPr>
          </a:p>
          <a:p>
            <a:pPr marL="457200" indent="-457200" eaLnBrk="1" hangingPunct="1">
              <a:lnSpc>
                <a:spcPct val="16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方法的返回类型</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348105"/>
            <a:ext cx="9527540" cy="3949700"/>
          </a:xfrm>
        </p:spPr>
        <p:txBody>
          <a:bodyPr>
            <a:normAutofit lnSpcReduction="20000"/>
          </a:bodyPr>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声明方法时，可以为其指定返回类型：</a:t>
            </a:r>
            <a:endParaRPr lang="zh-CN" altLang="en-US" dirty="0">
              <a:ea typeface="宋体" panose="02010600030101010101" pitchFamily="2" charset="-122"/>
              <a:sym typeface="+mn-ea"/>
            </a:endParaRPr>
          </a:p>
          <a:p>
            <a:pPr marL="704850" lvl="1" indent="-361950" eaLnBrk="1" hangingPunct="1">
              <a:lnSpc>
                <a:spcPct val="140000"/>
              </a:lnSpc>
              <a:buClr>
                <a:srgbClr val="ED7D31"/>
              </a:buClr>
              <a:buFont typeface="Wingdings" panose="05000000000000000000" charset="0"/>
              <a:buChar char="l"/>
            </a:pPr>
            <a:r>
              <a:rPr lang="zh-CN" altLang="en-US" dirty="0">
                <a:ea typeface="宋体" panose="02010600030101010101" pitchFamily="2" charset="-122"/>
                <a:sym typeface="+mn-ea"/>
              </a:rPr>
              <a:t>基本</a:t>
            </a:r>
            <a:r>
              <a:rPr lang="zh-CN" altLang="en-US" dirty="0" smtClean="0">
                <a:ea typeface="宋体" panose="02010600030101010101" pitchFamily="2" charset="-122"/>
                <a:sym typeface="+mn-ea"/>
              </a:rPr>
              <a:t>类型</a:t>
            </a:r>
            <a:endParaRPr lang="en-US" altLang="zh-CN" dirty="0" smtClean="0">
              <a:ea typeface="宋体" panose="02010600030101010101" pitchFamily="2" charset="-122"/>
            </a:endParaRPr>
          </a:p>
          <a:p>
            <a:pPr marL="704850" lvl="1" indent="-361950" eaLnBrk="1" hangingPunct="1">
              <a:lnSpc>
                <a:spcPct val="140000"/>
              </a:lnSpc>
              <a:buClr>
                <a:srgbClr val="ED7D31"/>
              </a:buClr>
              <a:buFont typeface="Wingdings" panose="05000000000000000000" charset="0"/>
              <a:buChar char="l"/>
            </a:pPr>
            <a:r>
              <a:rPr lang="zh-CN" altLang="en-US" dirty="0" smtClean="0">
                <a:ea typeface="宋体" panose="02010600030101010101" pitchFamily="2" charset="-122"/>
                <a:sym typeface="+mn-ea"/>
              </a:rPr>
              <a:t>引用类型</a:t>
            </a:r>
            <a:endParaRPr lang="zh-CN" altLang="en-US" dirty="0">
              <a:ea typeface="宋体" panose="02010600030101010101" pitchFamily="2" charset="-122"/>
            </a:endParaRPr>
          </a:p>
          <a:p>
            <a:pPr marL="704850" lvl="1" indent="-361950" eaLnBrk="1" hangingPunct="1">
              <a:lnSpc>
                <a:spcPct val="140000"/>
              </a:lnSpc>
              <a:buClr>
                <a:srgbClr val="ED7D31"/>
              </a:buClr>
              <a:buFont typeface="Wingdings" panose="05000000000000000000" charset="0"/>
              <a:buChar char="l"/>
            </a:pPr>
            <a:r>
              <a:rPr lang="en-US" dirty="0">
                <a:ea typeface="宋体" panose="02010600030101010101" pitchFamily="2" charset="-122"/>
                <a:sym typeface="+mn-ea"/>
              </a:rPr>
              <a:t>void</a:t>
            </a:r>
            <a:r>
              <a:rPr lang="zh-CN" altLang="en-US" dirty="0">
                <a:ea typeface="宋体" panose="02010600030101010101" pitchFamily="2" charset="-122"/>
                <a:sym typeface="+mn-ea"/>
              </a:rPr>
              <a:t>（表示无返回值）</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方法在执行后，需返回指定类型的值（</a:t>
            </a:r>
            <a:r>
              <a:rPr lang="en-US" dirty="0">
                <a:ea typeface="宋体" panose="02010600030101010101" pitchFamily="2" charset="-122"/>
                <a:sym typeface="+mn-ea"/>
              </a:rPr>
              <a:t>void</a:t>
            </a:r>
            <a:r>
              <a:rPr lang="zh-CN" altLang="en-US" dirty="0">
                <a:ea typeface="宋体" panose="02010600030101010101" pitchFamily="2" charset="-122"/>
                <a:sym typeface="+mn-ea"/>
              </a:rPr>
              <a:t>除外）</a:t>
            </a:r>
            <a:endParaRPr lang="zh-CN" altLang="en-US" dirty="0">
              <a:ea typeface="宋体" panose="02010600030101010101" pitchFamily="2" charset="-122"/>
            </a:endParaRPr>
          </a:p>
          <a:p>
            <a:pPr marL="704850" lvl="1" indent="-361950" algn="l" eaLnBrk="1" hangingPunct="1">
              <a:lnSpc>
                <a:spcPct val="140000"/>
              </a:lnSpc>
              <a:buClr>
                <a:srgbClr val="ED7D31"/>
              </a:buClr>
              <a:buSzTx/>
              <a:buFont typeface="Wingdings" panose="05000000000000000000" charset="0"/>
              <a:buChar char="l"/>
            </a:pPr>
            <a:r>
              <a:rPr lang="zh-CN" altLang="en-US" sz="2000" dirty="0">
                <a:ea typeface="宋体" panose="02010600030101010101" pitchFamily="2" charset="-122"/>
                <a:sym typeface="+mn-ea"/>
              </a:rPr>
              <a:t>使用return语句返回值</a:t>
            </a:r>
            <a:endParaRPr lang="zh-CN" altLang="en-US" sz="2000" dirty="0">
              <a:ea typeface="宋体" panose="02010600030101010101" pitchFamily="2" charset="-122"/>
            </a:endParaRPr>
          </a:p>
          <a:p>
            <a:pPr marL="704850" lvl="1" indent="-361950" algn="l" eaLnBrk="1" hangingPunct="1">
              <a:lnSpc>
                <a:spcPct val="140000"/>
              </a:lnSpc>
              <a:buClr>
                <a:srgbClr val="ED7D31"/>
              </a:buClr>
              <a:buSzTx/>
              <a:buFont typeface="Wingdings" panose="05000000000000000000" charset="0"/>
              <a:buChar char="l"/>
            </a:pPr>
            <a:r>
              <a:rPr lang="zh-CN" altLang="en-US" sz="2000" dirty="0">
                <a:ea typeface="宋体" panose="02010600030101010101" pitchFamily="2" charset="-122"/>
                <a:sym typeface="+mn-ea"/>
              </a:rPr>
              <a:t>返回值的数据类型与返回类型一致</a:t>
            </a:r>
            <a:endParaRPr lang="zh-CN" altLang="en-US" sz="2000"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TestMethod1</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21859" name="内容占位符 2"/>
          <p:cNvSpPr>
            <a:spLocks noGrp="1"/>
          </p:cNvSpPr>
          <p:nvPr>
            <p:ph idx="4294967295"/>
          </p:nvPr>
        </p:nvSpPr>
        <p:spPr>
          <a:xfrm>
            <a:off x="1338872" y="1054404"/>
            <a:ext cx="7537450" cy="5040312"/>
          </a:xfrm>
        </p:spPr>
        <p:txBody>
          <a:bodyPr>
            <a:noAutofit/>
          </a:bodyPr>
          <a:p>
            <a:pPr marL="361950" indent="-361950" eaLnBrk="1" hangingPunct="1">
              <a:spcBef>
                <a:spcPct val="0"/>
              </a:spcBef>
              <a:buFont typeface="Times"/>
              <a:buNone/>
            </a:pPr>
            <a:r>
              <a:rPr lang="en-US" sz="2000" dirty="0">
                <a:solidFill>
                  <a:srgbClr val="002060"/>
                </a:solidFill>
                <a:ea typeface="宋体" panose="02010600030101010101" pitchFamily="2" charset="-122"/>
              </a:rPr>
              <a:t>1  public class TestMethod1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2      public static void main(String[] </a:t>
            </a:r>
            <a:r>
              <a:rPr lang="en-US" sz="2000" dirty="0" err="1">
                <a:solidFill>
                  <a:srgbClr val="002060"/>
                </a:solidFill>
                <a:ea typeface="宋体" panose="02010600030101010101" pitchFamily="2" charset="-122"/>
              </a:rPr>
              <a:t>args</a:t>
            </a: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3          </a:t>
            </a:r>
            <a:r>
              <a:rPr lang="en-US" sz="2000" dirty="0" err="1">
                <a:solidFill>
                  <a:srgbClr val="002060"/>
                </a:solidFill>
                <a:ea typeface="宋体" panose="02010600030101010101" pitchFamily="2" charset="-122"/>
              </a:rPr>
              <a:t>System.out.println</a:t>
            </a:r>
            <a:r>
              <a:rPr lang="en-US" sz="2000" dirty="0">
                <a:solidFill>
                  <a:srgbClr val="002060"/>
                </a:solidFill>
                <a:ea typeface="宋体" panose="02010600030101010101" pitchFamily="2" charset="-122"/>
              </a:rPr>
              <a:t>("</a:t>
            </a:r>
            <a:r>
              <a:rPr lang="zh-CN" altLang="en-US" sz="2000" dirty="0">
                <a:solidFill>
                  <a:srgbClr val="002060"/>
                </a:solidFill>
                <a:ea typeface="宋体" panose="02010600030101010101" pitchFamily="2" charset="-122"/>
              </a:rPr>
              <a:t>这是</a:t>
            </a:r>
            <a:r>
              <a:rPr lang="en-US" sz="2000" dirty="0">
                <a:solidFill>
                  <a:srgbClr val="002060"/>
                </a:solidFill>
                <a:ea typeface="宋体" panose="02010600030101010101" pitchFamily="2" charset="-122"/>
              </a:rPr>
              <a:t>main</a:t>
            </a:r>
            <a:r>
              <a:rPr lang="zh-CN" altLang="en-US" sz="2000" dirty="0">
                <a:solidFill>
                  <a:srgbClr val="002060"/>
                </a:solidFill>
                <a:ea typeface="宋体" panose="02010600030101010101" pitchFamily="2" charset="-122"/>
              </a:rPr>
              <a:t>方法</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4          </a:t>
            </a:r>
            <a:r>
              <a:rPr lang="en-US" sz="2000" dirty="0" err="1">
                <a:solidFill>
                  <a:srgbClr val="002060"/>
                </a:solidFill>
                <a:ea typeface="宋体" panose="02010600030101010101" pitchFamily="2" charset="-122"/>
              </a:rPr>
              <a:t>System.out.println</a:t>
            </a:r>
            <a:r>
              <a:rPr lang="en-US" sz="2000" dirty="0">
                <a:solidFill>
                  <a:srgbClr val="002060"/>
                </a:solidFill>
                <a:ea typeface="宋体" panose="02010600030101010101" pitchFamily="2" charset="-122"/>
              </a:rPr>
              <a:t>("</a:t>
            </a:r>
            <a:r>
              <a:rPr lang="zh-CN" altLang="en-US" sz="2000" dirty="0">
                <a:solidFill>
                  <a:srgbClr val="002060"/>
                </a:solidFill>
                <a:ea typeface="宋体" panose="02010600030101010101" pitchFamily="2" charset="-122"/>
              </a:rPr>
              <a:t>即将调用</a:t>
            </a:r>
            <a:r>
              <a:rPr lang="en-US" sz="2000" dirty="0">
                <a:solidFill>
                  <a:srgbClr val="002060"/>
                </a:solidFill>
                <a:ea typeface="宋体" panose="02010600030101010101" pitchFamily="2" charset="-122"/>
              </a:rPr>
              <a:t>print</a:t>
            </a:r>
            <a:r>
              <a:rPr lang="zh-CN" altLang="en-US" sz="2000" dirty="0">
                <a:solidFill>
                  <a:srgbClr val="002060"/>
                </a:solidFill>
                <a:ea typeface="宋体" panose="02010600030101010101" pitchFamily="2" charset="-122"/>
              </a:rPr>
              <a:t>方法</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5          </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ret = print();</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6          </a:t>
            </a:r>
            <a:r>
              <a:rPr lang="en-US" sz="2000" dirty="0" err="1">
                <a:solidFill>
                  <a:srgbClr val="002060"/>
                </a:solidFill>
                <a:ea typeface="宋体" panose="02010600030101010101" pitchFamily="2" charset="-122"/>
              </a:rPr>
              <a:t>System.out.println</a:t>
            </a:r>
            <a:r>
              <a:rPr lang="en-US" sz="2000" dirty="0">
                <a:solidFill>
                  <a:srgbClr val="002060"/>
                </a:solidFill>
                <a:ea typeface="宋体" panose="02010600030101010101" pitchFamily="2" charset="-122"/>
              </a:rPr>
              <a:t>("</a:t>
            </a:r>
            <a:r>
              <a:rPr lang="zh-CN" altLang="en-US" sz="2000" dirty="0">
                <a:solidFill>
                  <a:srgbClr val="002060"/>
                </a:solidFill>
                <a:ea typeface="宋体" panose="02010600030101010101" pitchFamily="2" charset="-122"/>
              </a:rPr>
              <a:t>调用</a:t>
            </a:r>
            <a:r>
              <a:rPr lang="en-US" sz="2000" dirty="0">
                <a:solidFill>
                  <a:srgbClr val="002060"/>
                </a:solidFill>
                <a:ea typeface="宋体" panose="02010600030101010101" pitchFamily="2" charset="-122"/>
              </a:rPr>
              <a:t>print</a:t>
            </a:r>
            <a:r>
              <a:rPr lang="zh-CN" altLang="en-US" sz="2000" dirty="0">
                <a:solidFill>
                  <a:srgbClr val="002060"/>
                </a:solidFill>
                <a:ea typeface="宋体" panose="02010600030101010101" pitchFamily="2" charset="-122"/>
              </a:rPr>
              <a:t>方法结束</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7          </a:t>
            </a:r>
            <a:r>
              <a:rPr lang="en-US" sz="2000" dirty="0" err="1">
                <a:solidFill>
                  <a:srgbClr val="002060"/>
                </a:solidFill>
                <a:ea typeface="宋体" panose="02010600030101010101" pitchFamily="2" charset="-122"/>
              </a:rPr>
              <a:t>System.out.println</a:t>
            </a:r>
            <a:r>
              <a:rPr lang="en-US" sz="2000" dirty="0">
                <a:solidFill>
                  <a:srgbClr val="002060"/>
                </a:solidFill>
                <a:ea typeface="宋体" panose="02010600030101010101" pitchFamily="2" charset="-122"/>
              </a:rPr>
              <a:t>(“</a:t>
            </a:r>
            <a:r>
              <a:rPr lang="zh-CN" altLang="en-US" sz="2000" dirty="0">
                <a:solidFill>
                  <a:srgbClr val="002060"/>
                </a:solidFill>
                <a:ea typeface="宋体" panose="02010600030101010101" pitchFamily="2" charset="-122"/>
              </a:rPr>
              <a:t>返回值</a:t>
            </a:r>
            <a:r>
              <a:rPr lang="en-US" sz="2000" dirty="0">
                <a:solidFill>
                  <a:srgbClr val="002060"/>
                </a:solidFill>
                <a:ea typeface="宋体" panose="02010600030101010101" pitchFamily="2" charset="-122"/>
              </a:rPr>
              <a:t>= " + ret);</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8          return;</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9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10     public static </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print()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11         </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a:t>
            </a:r>
            <a:r>
              <a:rPr lang="en-US" sz="2000" dirty="0" err="1">
                <a:solidFill>
                  <a:srgbClr val="002060"/>
                </a:solidFill>
                <a:ea typeface="宋体" panose="02010600030101010101" pitchFamily="2" charset="-122"/>
              </a:rPr>
              <a:t>i</a:t>
            </a:r>
            <a:r>
              <a:rPr lang="en-US" sz="2000" dirty="0">
                <a:solidFill>
                  <a:srgbClr val="002060"/>
                </a:solidFill>
                <a:ea typeface="宋体" panose="02010600030101010101" pitchFamily="2" charset="-122"/>
              </a:rPr>
              <a:t> = 1;</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12         do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13             </a:t>
            </a:r>
            <a:r>
              <a:rPr lang="en-US" sz="2000" dirty="0" err="1">
                <a:solidFill>
                  <a:srgbClr val="002060"/>
                </a:solidFill>
                <a:ea typeface="宋体" panose="02010600030101010101" pitchFamily="2" charset="-122"/>
              </a:rPr>
              <a:t>System.out.print</a:t>
            </a:r>
            <a:r>
              <a:rPr lang="en-US" sz="2000" dirty="0">
                <a:solidFill>
                  <a:srgbClr val="002060"/>
                </a:solidFill>
                <a:ea typeface="宋体" panose="02010600030101010101" pitchFamily="2" charset="-122"/>
              </a:rPr>
              <a:t>(</a:t>
            </a:r>
            <a:r>
              <a:rPr lang="en-US" sz="2000" dirty="0" err="1">
                <a:solidFill>
                  <a:srgbClr val="002060"/>
                </a:solidFill>
                <a:ea typeface="宋体" panose="02010600030101010101" pitchFamily="2" charset="-122"/>
              </a:rPr>
              <a:t>i</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14             </a:t>
            </a:r>
            <a:r>
              <a:rPr lang="en-US" sz="2000" dirty="0" err="1">
                <a:solidFill>
                  <a:srgbClr val="002060"/>
                </a:solidFill>
                <a:ea typeface="宋体" panose="02010600030101010101" pitchFamily="2" charset="-122"/>
              </a:rPr>
              <a:t>i</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15         } while (</a:t>
            </a:r>
            <a:r>
              <a:rPr lang="en-US" sz="2000" dirty="0" err="1">
                <a:solidFill>
                  <a:srgbClr val="002060"/>
                </a:solidFill>
                <a:ea typeface="宋体" panose="02010600030101010101" pitchFamily="2" charset="-122"/>
              </a:rPr>
              <a:t>i</a:t>
            </a:r>
            <a:r>
              <a:rPr lang="en-US" sz="2000" dirty="0">
                <a:solidFill>
                  <a:srgbClr val="002060"/>
                </a:solidFill>
                <a:ea typeface="宋体" panose="02010600030101010101" pitchFamily="2" charset="-122"/>
              </a:rPr>
              <a:t> &lt;= 10);</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16         </a:t>
            </a:r>
            <a:r>
              <a:rPr lang="en-US" sz="2000" dirty="0" err="1">
                <a:solidFill>
                  <a:srgbClr val="002060"/>
                </a:solidFill>
                <a:ea typeface="宋体" panose="02010600030101010101" pitchFamily="2" charset="-122"/>
              </a:rPr>
              <a:t>System.out.println</a:t>
            </a: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17         return </a:t>
            </a:r>
            <a:r>
              <a:rPr lang="en-US" sz="2000" dirty="0" err="1">
                <a:solidFill>
                  <a:srgbClr val="002060"/>
                </a:solidFill>
                <a:ea typeface="宋体" panose="02010600030101010101" pitchFamily="2" charset="-122"/>
              </a:rPr>
              <a:t>i</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18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19 }</a:t>
            </a:r>
            <a:endParaRPr lang="en-US" sz="20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348105"/>
            <a:ext cx="9527540" cy="3949700"/>
          </a:xfrm>
        </p:spPr>
        <p:txBody>
          <a:bodyPr>
            <a:normAutofit lnSpcReduction="20000"/>
          </a:bodyPr>
          <a:p>
            <a:pPr marL="457200" indent="-457200" eaLnBrk="1" hangingPunct="1">
              <a:lnSpc>
                <a:spcPct val="140000"/>
              </a:lnSpc>
              <a:buClr>
                <a:srgbClr val="ED7D31"/>
              </a:buClr>
              <a:buFont typeface="+mj-lt"/>
              <a:buAutoNum type="arabicPeriod"/>
            </a:pPr>
            <a:r>
              <a:rPr lang="zh-CN" altLang="en-US" dirty="0" smtClean="0">
                <a:ea typeface="宋体" panose="02010600030101010101" pitchFamily="2" charset="-122"/>
                <a:sym typeface="+mn-ea"/>
              </a:rPr>
              <a:t>编写</a:t>
            </a:r>
            <a:r>
              <a:rPr lang="en-US" altLang="zh-CN" dirty="0" smtClean="0">
                <a:ea typeface="宋体" panose="02010600030101010101" pitchFamily="2" charset="-122"/>
                <a:sym typeface="+mn-ea"/>
              </a:rPr>
              <a:t>Exercise19</a:t>
            </a:r>
            <a:r>
              <a:rPr lang="zh-CN" altLang="en-US" dirty="0">
                <a:ea typeface="宋体" panose="02010600030101010101" pitchFamily="2" charset="-122"/>
                <a:sym typeface="+mn-ea"/>
              </a:rPr>
              <a:t>程序，在</a:t>
            </a:r>
            <a:r>
              <a:rPr lang="en-US" dirty="0">
                <a:ea typeface="宋体" panose="02010600030101010101" pitchFamily="2" charset="-122"/>
                <a:sym typeface="+mn-ea"/>
              </a:rPr>
              <a:t>method</a:t>
            </a:r>
            <a:r>
              <a:rPr lang="zh-CN" altLang="en-US" dirty="0">
                <a:ea typeface="宋体" panose="02010600030101010101" pitchFamily="2" charset="-122"/>
                <a:sym typeface="+mn-ea"/>
              </a:rPr>
              <a:t>方法中，除打印一个</a:t>
            </a:r>
            <a:r>
              <a:rPr lang="en-US" dirty="0">
                <a:ea typeface="宋体" panose="02010600030101010101" pitchFamily="2" charset="-122"/>
                <a:sym typeface="+mn-ea"/>
              </a:rPr>
              <a:t>10*8</a:t>
            </a:r>
            <a:r>
              <a:rPr lang="zh-CN" altLang="en-US" dirty="0">
                <a:ea typeface="宋体" panose="02010600030101010101" pitchFamily="2" charset="-122"/>
                <a:sym typeface="+mn-ea"/>
              </a:rPr>
              <a:t>的矩形外，再计算该矩形的面积，并将其作为方法返回值。</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方</a:t>
            </a:r>
            <a:r>
              <a:rPr lang="zh-CN" altLang="en-US" dirty="0">
                <a:ea typeface="宋体" panose="02010600030101010101" pitchFamily="2" charset="-122"/>
                <a:sym typeface="+mn-ea"/>
              </a:rPr>
              <a:t>在</a:t>
            </a:r>
            <a:r>
              <a:rPr lang="en-US" dirty="0">
                <a:ea typeface="宋体" panose="02010600030101010101" pitchFamily="2" charset="-122"/>
                <a:sym typeface="+mn-ea"/>
              </a:rPr>
              <a:t>main</a:t>
            </a:r>
            <a:r>
              <a:rPr lang="zh-CN" altLang="en-US" dirty="0">
                <a:ea typeface="宋体" panose="02010600030101010101" pitchFamily="2" charset="-122"/>
                <a:sym typeface="+mn-ea"/>
              </a:rPr>
              <a:t>方法中调用该方法，接收返回的面积值并打印。</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方法的参数列表</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348105"/>
            <a:ext cx="9527540" cy="3949700"/>
          </a:xfrm>
        </p:spPr>
        <p:txBody>
          <a:bodyPr>
            <a:normAutofit lnSpcReduction="20000"/>
          </a:bodyPr>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方法的参数列表中，可以含一到多个参数</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调用方法时，参数的类型与数量需完全匹配</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在方法签名中，参数也是局部变量</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TestMethod2</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24931" name="内容占位符 2"/>
          <p:cNvSpPr>
            <a:spLocks noGrp="1"/>
          </p:cNvSpPr>
          <p:nvPr>
            <p:ph idx="4294967295"/>
          </p:nvPr>
        </p:nvSpPr>
        <p:spPr>
          <a:xfrm>
            <a:off x="1008672" y="1159850"/>
            <a:ext cx="7537450" cy="5040312"/>
          </a:xfrm>
        </p:spPr>
        <p:txBody>
          <a:bodyPr>
            <a:normAutofit lnSpcReduction="20000"/>
          </a:bodyPr>
          <a:p>
            <a:pPr marL="361950" indent="-361950" eaLnBrk="1" hangingPunct="1">
              <a:buFont typeface="Times"/>
              <a:buNone/>
            </a:pPr>
            <a:r>
              <a:rPr lang="en-US" sz="1600" dirty="0">
                <a:solidFill>
                  <a:srgbClr val="002060"/>
                </a:solidFill>
                <a:ea typeface="宋体" panose="02010600030101010101" pitchFamily="2" charset="-122"/>
              </a:rPr>
              <a:t>1  public class TestMethod2 {</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2      public static void main(String[] </a:t>
            </a:r>
            <a:r>
              <a:rPr lang="en-US" sz="1600" dirty="0" err="1">
                <a:solidFill>
                  <a:srgbClr val="002060"/>
                </a:solidFill>
                <a:ea typeface="宋体" panose="02010600030101010101" pitchFamily="2" charset="-122"/>
              </a:rPr>
              <a:t>args</a:t>
            </a:r>
            <a:r>
              <a:rPr lang="en-US" sz="1600" dirty="0">
                <a:solidFill>
                  <a:srgbClr val="002060"/>
                </a:solidFill>
                <a:ea typeface="宋体" panose="02010600030101010101" pitchFamily="2" charset="-122"/>
              </a:rPr>
              <a:t>) {</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3          </a:t>
            </a:r>
            <a:r>
              <a:rPr lang="en-US" sz="1600" dirty="0" err="1">
                <a:solidFill>
                  <a:srgbClr val="002060"/>
                </a:solidFill>
                <a:ea typeface="宋体" panose="02010600030101010101" pitchFamily="2" charset="-122"/>
              </a:rPr>
              <a:t>System.out.println</a:t>
            </a:r>
            <a:r>
              <a:rPr lang="en-US" sz="1600" dirty="0">
                <a:solidFill>
                  <a:srgbClr val="002060"/>
                </a:solidFill>
                <a:ea typeface="宋体" panose="02010600030101010101" pitchFamily="2" charset="-122"/>
              </a:rPr>
              <a:t>("</a:t>
            </a:r>
            <a:r>
              <a:rPr lang="zh-CN" altLang="en-US" sz="1600" dirty="0">
                <a:solidFill>
                  <a:srgbClr val="002060"/>
                </a:solidFill>
                <a:ea typeface="宋体" panose="02010600030101010101" pitchFamily="2" charset="-122"/>
              </a:rPr>
              <a:t>这是</a:t>
            </a:r>
            <a:r>
              <a:rPr lang="en-US" sz="1600" dirty="0">
                <a:solidFill>
                  <a:srgbClr val="002060"/>
                </a:solidFill>
                <a:ea typeface="宋体" panose="02010600030101010101" pitchFamily="2" charset="-122"/>
              </a:rPr>
              <a:t>main</a:t>
            </a:r>
            <a:r>
              <a:rPr lang="zh-CN" altLang="en-US" sz="1600" dirty="0">
                <a:solidFill>
                  <a:srgbClr val="002060"/>
                </a:solidFill>
                <a:ea typeface="宋体" panose="02010600030101010101" pitchFamily="2" charset="-122"/>
              </a:rPr>
              <a:t>方法</a:t>
            </a:r>
            <a:r>
              <a:rPr lang="en-US" sz="1600" dirty="0">
                <a:solidFill>
                  <a:srgbClr val="002060"/>
                </a:solidFill>
                <a:ea typeface="宋体" panose="02010600030101010101" pitchFamily="2" charset="-122"/>
              </a:rPr>
              <a:t>");</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4          </a:t>
            </a:r>
            <a:r>
              <a:rPr lang="en-US" sz="1600" dirty="0" err="1">
                <a:solidFill>
                  <a:srgbClr val="002060"/>
                </a:solidFill>
                <a:ea typeface="宋体" panose="02010600030101010101" pitchFamily="2" charset="-122"/>
              </a:rPr>
              <a:t>System.out.println</a:t>
            </a:r>
            <a:r>
              <a:rPr lang="en-US" sz="1600" dirty="0">
                <a:solidFill>
                  <a:srgbClr val="002060"/>
                </a:solidFill>
                <a:ea typeface="宋体" panose="02010600030101010101" pitchFamily="2" charset="-122"/>
              </a:rPr>
              <a:t>("</a:t>
            </a:r>
            <a:r>
              <a:rPr lang="zh-CN" altLang="en-US" sz="1600" dirty="0">
                <a:solidFill>
                  <a:srgbClr val="002060"/>
                </a:solidFill>
                <a:ea typeface="宋体" panose="02010600030101010101" pitchFamily="2" charset="-122"/>
              </a:rPr>
              <a:t>即将调用</a:t>
            </a:r>
            <a:r>
              <a:rPr lang="en-US" sz="1600" dirty="0">
                <a:solidFill>
                  <a:srgbClr val="002060"/>
                </a:solidFill>
                <a:ea typeface="宋体" panose="02010600030101010101" pitchFamily="2" charset="-122"/>
              </a:rPr>
              <a:t>print</a:t>
            </a:r>
            <a:r>
              <a:rPr lang="zh-CN" altLang="en-US" sz="1600" dirty="0">
                <a:solidFill>
                  <a:srgbClr val="002060"/>
                </a:solidFill>
                <a:ea typeface="宋体" panose="02010600030101010101" pitchFamily="2" charset="-122"/>
              </a:rPr>
              <a:t>方法</a:t>
            </a:r>
            <a:r>
              <a:rPr lang="en-US" sz="1600" dirty="0">
                <a:solidFill>
                  <a:srgbClr val="002060"/>
                </a:solidFill>
                <a:ea typeface="宋体" panose="02010600030101010101" pitchFamily="2" charset="-122"/>
              </a:rPr>
              <a:t>");</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5          </a:t>
            </a:r>
            <a:r>
              <a:rPr lang="en-US" sz="1600" dirty="0" err="1">
                <a:solidFill>
                  <a:srgbClr val="002060"/>
                </a:solidFill>
                <a:ea typeface="宋体" panose="02010600030101010101" pitchFamily="2" charset="-122"/>
              </a:rPr>
              <a:t>int</a:t>
            </a:r>
            <a:r>
              <a:rPr lang="en-US" sz="1600" dirty="0">
                <a:solidFill>
                  <a:srgbClr val="002060"/>
                </a:solidFill>
                <a:ea typeface="宋体" panose="02010600030101010101" pitchFamily="2" charset="-122"/>
              </a:rPr>
              <a:t> ret = add(10, 20);</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6          </a:t>
            </a:r>
            <a:r>
              <a:rPr lang="en-US" sz="1600" dirty="0" err="1">
                <a:solidFill>
                  <a:srgbClr val="002060"/>
                </a:solidFill>
                <a:ea typeface="宋体" panose="02010600030101010101" pitchFamily="2" charset="-122"/>
              </a:rPr>
              <a:t>System.out.println</a:t>
            </a:r>
            <a:r>
              <a:rPr lang="en-US" sz="1600" dirty="0">
                <a:solidFill>
                  <a:srgbClr val="002060"/>
                </a:solidFill>
                <a:ea typeface="宋体" panose="02010600030101010101" pitchFamily="2" charset="-122"/>
              </a:rPr>
              <a:t>("</a:t>
            </a:r>
            <a:r>
              <a:rPr lang="zh-CN" altLang="en-US" sz="1600" dirty="0">
                <a:solidFill>
                  <a:srgbClr val="002060"/>
                </a:solidFill>
                <a:ea typeface="宋体" panose="02010600030101010101" pitchFamily="2" charset="-122"/>
              </a:rPr>
              <a:t>调用</a:t>
            </a:r>
            <a:r>
              <a:rPr lang="en-US" sz="1600" dirty="0">
                <a:solidFill>
                  <a:srgbClr val="002060"/>
                </a:solidFill>
                <a:ea typeface="宋体" panose="02010600030101010101" pitchFamily="2" charset="-122"/>
              </a:rPr>
              <a:t>print</a:t>
            </a:r>
            <a:r>
              <a:rPr lang="zh-CN" altLang="en-US" sz="1600" dirty="0">
                <a:solidFill>
                  <a:srgbClr val="002060"/>
                </a:solidFill>
                <a:ea typeface="宋体" panose="02010600030101010101" pitchFamily="2" charset="-122"/>
              </a:rPr>
              <a:t>方法结束</a:t>
            </a:r>
            <a:r>
              <a:rPr lang="en-US" sz="1600" dirty="0">
                <a:solidFill>
                  <a:srgbClr val="002060"/>
                </a:solidFill>
                <a:ea typeface="宋体" panose="02010600030101010101" pitchFamily="2" charset="-122"/>
              </a:rPr>
              <a:t>");</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7          </a:t>
            </a:r>
            <a:r>
              <a:rPr lang="en-US" sz="1600" dirty="0" err="1">
                <a:solidFill>
                  <a:srgbClr val="002060"/>
                </a:solidFill>
                <a:ea typeface="宋体" panose="02010600030101010101" pitchFamily="2" charset="-122"/>
              </a:rPr>
              <a:t>System.out.println</a:t>
            </a:r>
            <a:r>
              <a:rPr lang="en-US" sz="1600" dirty="0">
                <a:solidFill>
                  <a:srgbClr val="002060"/>
                </a:solidFill>
                <a:ea typeface="宋体" panose="02010600030101010101" pitchFamily="2" charset="-122"/>
              </a:rPr>
              <a:t>("ret = " + ret);</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8  </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9          </a:t>
            </a:r>
            <a:r>
              <a:rPr lang="en-US" sz="1600" dirty="0" err="1">
                <a:solidFill>
                  <a:srgbClr val="002060"/>
                </a:solidFill>
                <a:ea typeface="宋体" panose="02010600030101010101" pitchFamily="2" charset="-122"/>
              </a:rPr>
              <a:t>int</a:t>
            </a:r>
            <a:r>
              <a:rPr lang="en-US" sz="1600" dirty="0">
                <a:solidFill>
                  <a:srgbClr val="002060"/>
                </a:solidFill>
                <a:ea typeface="宋体" panose="02010600030101010101" pitchFamily="2" charset="-122"/>
              </a:rPr>
              <a:t> ret2 = add(15, 25);</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10         </a:t>
            </a:r>
            <a:r>
              <a:rPr lang="en-US" sz="1600" dirty="0" err="1">
                <a:solidFill>
                  <a:srgbClr val="002060"/>
                </a:solidFill>
                <a:ea typeface="宋体" panose="02010600030101010101" pitchFamily="2" charset="-122"/>
              </a:rPr>
              <a:t>System.out.println</a:t>
            </a:r>
            <a:r>
              <a:rPr lang="en-US" sz="1600" dirty="0">
                <a:solidFill>
                  <a:srgbClr val="002060"/>
                </a:solidFill>
                <a:ea typeface="宋体" panose="02010600030101010101" pitchFamily="2" charset="-122"/>
              </a:rPr>
              <a:t>("ret2 = " + ret2);</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11     }</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12 </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13     public static </a:t>
            </a:r>
            <a:r>
              <a:rPr lang="en-US" sz="1600" dirty="0" err="1">
                <a:solidFill>
                  <a:srgbClr val="002060"/>
                </a:solidFill>
                <a:ea typeface="宋体" panose="02010600030101010101" pitchFamily="2" charset="-122"/>
              </a:rPr>
              <a:t>int</a:t>
            </a:r>
            <a:r>
              <a:rPr lang="en-US" sz="1600" dirty="0">
                <a:solidFill>
                  <a:srgbClr val="002060"/>
                </a:solidFill>
                <a:ea typeface="宋体" panose="02010600030101010101" pitchFamily="2" charset="-122"/>
              </a:rPr>
              <a:t> add(</a:t>
            </a:r>
            <a:r>
              <a:rPr lang="en-US" sz="1600" dirty="0" err="1">
                <a:solidFill>
                  <a:srgbClr val="002060"/>
                </a:solidFill>
                <a:ea typeface="宋体" panose="02010600030101010101" pitchFamily="2" charset="-122"/>
              </a:rPr>
              <a:t>int</a:t>
            </a:r>
            <a:r>
              <a:rPr lang="en-US" sz="1600" dirty="0">
                <a:solidFill>
                  <a:srgbClr val="002060"/>
                </a:solidFill>
                <a:ea typeface="宋体" panose="02010600030101010101" pitchFamily="2" charset="-122"/>
              </a:rPr>
              <a:t> a, </a:t>
            </a:r>
            <a:r>
              <a:rPr lang="en-US" sz="1600" dirty="0" err="1">
                <a:solidFill>
                  <a:srgbClr val="002060"/>
                </a:solidFill>
                <a:ea typeface="宋体" panose="02010600030101010101" pitchFamily="2" charset="-122"/>
              </a:rPr>
              <a:t>int</a:t>
            </a:r>
            <a:r>
              <a:rPr lang="en-US" sz="1600" dirty="0">
                <a:solidFill>
                  <a:srgbClr val="002060"/>
                </a:solidFill>
                <a:ea typeface="宋体" panose="02010600030101010101" pitchFamily="2" charset="-122"/>
              </a:rPr>
              <a:t> b) {</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14         return a + b;</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15     }</a:t>
            </a:r>
            <a:endParaRPr lang="en-US" sz="1600" dirty="0">
              <a:solidFill>
                <a:srgbClr val="002060"/>
              </a:solidFill>
              <a:ea typeface="宋体" panose="02010600030101010101" pitchFamily="2" charset="-122"/>
            </a:endParaRPr>
          </a:p>
          <a:p>
            <a:pPr marL="361950" indent="-361950" eaLnBrk="1" hangingPunct="1">
              <a:buFont typeface="Times"/>
              <a:buNone/>
            </a:pPr>
            <a:r>
              <a:rPr lang="en-US" sz="1600" dirty="0">
                <a:solidFill>
                  <a:srgbClr val="002060"/>
                </a:solidFill>
                <a:ea typeface="宋体" panose="02010600030101010101" pitchFamily="2" charset="-122"/>
              </a:rPr>
              <a:t>16 }</a:t>
            </a:r>
            <a:endParaRPr lang="en-US" sz="16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348105"/>
            <a:ext cx="9527540" cy="3949700"/>
          </a:xfrm>
        </p:spPr>
        <p:txBody>
          <a:bodyPr>
            <a:normAutofit lnSpcReduction="20000"/>
          </a:bodyPr>
          <a:p>
            <a:pPr marL="457200" indent="-457200" eaLnBrk="1" hangingPunct="1">
              <a:lnSpc>
                <a:spcPct val="140000"/>
              </a:lnSpc>
              <a:buClr>
                <a:srgbClr val="ED7D31"/>
              </a:buClr>
              <a:buFont typeface="+mj-lt"/>
              <a:buAutoNum type="arabicPeriod"/>
            </a:pPr>
            <a:r>
              <a:rPr lang="zh-CN" altLang="en-US" dirty="0" smtClean="0">
                <a:ea typeface="宋体" panose="02010600030101010101" pitchFamily="2" charset="-122"/>
                <a:sym typeface="+mn-ea"/>
              </a:rPr>
              <a:t>编写</a:t>
            </a:r>
            <a:r>
              <a:rPr lang="en-US" altLang="zh-CN" dirty="0" smtClean="0">
                <a:ea typeface="宋体" panose="02010600030101010101" pitchFamily="2" charset="-122"/>
                <a:sym typeface="+mn-ea"/>
              </a:rPr>
              <a:t>Exercise20</a:t>
            </a:r>
            <a:r>
              <a:rPr lang="zh-CN" altLang="en-US" dirty="0">
                <a:ea typeface="宋体" panose="02010600030101010101" pitchFamily="2" charset="-122"/>
                <a:sym typeface="+mn-ea"/>
              </a:rPr>
              <a:t>程序</a:t>
            </a:r>
            <a:r>
              <a:rPr lang="zh-CN" altLang="en-US" dirty="0">
                <a:ea typeface="宋体" panose="02010600030101010101" pitchFamily="2" charset="-122"/>
                <a:sym typeface="+mn-ea"/>
              </a:rPr>
              <a:t>，在</a:t>
            </a:r>
            <a:r>
              <a:rPr lang="en-US" dirty="0">
                <a:ea typeface="宋体" panose="02010600030101010101" pitchFamily="2" charset="-122"/>
                <a:sym typeface="+mn-ea"/>
              </a:rPr>
              <a:t>method</a:t>
            </a:r>
            <a:r>
              <a:rPr lang="zh-CN" altLang="en-US" dirty="0">
                <a:ea typeface="宋体" panose="02010600030101010101" pitchFamily="2" charset="-122"/>
                <a:sym typeface="+mn-ea"/>
              </a:rPr>
              <a:t>方法提供</a:t>
            </a:r>
            <a:r>
              <a:rPr lang="en-US" dirty="0">
                <a:ea typeface="宋体" panose="02010600030101010101" pitchFamily="2" charset="-122"/>
                <a:sym typeface="+mn-ea"/>
              </a:rPr>
              <a:t>m</a:t>
            </a:r>
            <a:r>
              <a:rPr lang="zh-CN" altLang="en-US" dirty="0">
                <a:ea typeface="宋体" panose="02010600030101010101" pitchFamily="2" charset="-122"/>
                <a:sym typeface="+mn-ea"/>
              </a:rPr>
              <a:t>和</a:t>
            </a:r>
            <a:r>
              <a:rPr lang="en-US" dirty="0">
                <a:ea typeface="宋体" panose="02010600030101010101" pitchFamily="2" charset="-122"/>
                <a:sym typeface="+mn-ea"/>
              </a:rPr>
              <a:t>n</a:t>
            </a:r>
            <a:r>
              <a:rPr lang="zh-CN" altLang="en-US" dirty="0">
                <a:ea typeface="宋体" panose="02010600030101010101" pitchFamily="2" charset="-122"/>
                <a:sym typeface="+mn-ea"/>
              </a:rPr>
              <a:t>两个参数，方法中打印一个</a:t>
            </a:r>
            <a:r>
              <a:rPr lang="en-US" dirty="0">
                <a:ea typeface="宋体" panose="02010600030101010101" pitchFamily="2" charset="-122"/>
                <a:sym typeface="+mn-ea"/>
              </a:rPr>
              <a:t>m*n</a:t>
            </a:r>
            <a:r>
              <a:rPr lang="zh-CN" altLang="en-US" dirty="0">
                <a:ea typeface="宋体" panose="02010600030101010101" pitchFamily="2" charset="-122"/>
                <a:sym typeface="+mn-ea"/>
              </a:rPr>
              <a:t>的矩形，并计算该矩形的面积， 将其作为方法返回值。</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在</a:t>
            </a:r>
            <a:r>
              <a:rPr lang="en-US" dirty="0">
                <a:ea typeface="宋体" panose="02010600030101010101" pitchFamily="2" charset="-122"/>
                <a:sym typeface="+mn-ea"/>
              </a:rPr>
              <a:t>main</a:t>
            </a:r>
            <a:r>
              <a:rPr lang="zh-CN" altLang="en-US" dirty="0">
                <a:ea typeface="宋体" panose="02010600030101010101" pitchFamily="2" charset="-122"/>
                <a:sym typeface="+mn-ea"/>
              </a:rPr>
              <a:t>方法中调用该方法，接收返回的面积值并打印。</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调用其他类的方法</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348105"/>
            <a:ext cx="9527540" cy="3949700"/>
          </a:xfrm>
        </p:spPr>
        <p:txBody>
          <a:bodyPr>
            <a:normAutofit lnSpcReduction="20000"/>
          </a:bodyPr>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类中的某个方法，除了可以调用本类的其他方法外，还可以调用其他类中的指定方法</a:t>
            </a:r>
            <a:r>
              <a:rPr lang="en-US" altLang="zh-CN" dirty="0">
                <a:ea typeface="宋体" panose="02010600030101010101" pitchFamily="2" charset="-122"/>
                <a:sym typeface="+mn-ea"/>
              </a:rPr>
              <a:t>;</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为便于理解，本例暂时使用静态方法。</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Test2Class</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28003" name="内容占位符 2"/>
          <p:cNvSpPr>
            <a:spLocks noGrp="1"/>
          </p:cNvSpPr>
          <p:nvPr>
            <p:ph idx="4294967295"/>
          </p:nvPr>
        </p:nvSpPr>
        <p:spPr>
          <a:xfrm>
            <a:off x="1303312" y="1093174"/>
            <a:ext cx="7537450" cy="4967287"/>
          </a:xfrm>
        </p:spPr>
        <p:txBody>
          <a:bodyPr>
            <a:normAutofit lnSpcReduction="20000"/>
          </a:bodyPr>
          <a:p>
            <a:pPr marL="361950" indent="-361950" eaLnBrk="1" hangingPunct="1">
              <a:buFont typeface="Times"/>
              <a:buNone/>
            </a:pPr>
            <a:r>
              <a:rPr lang="en-US" sz="1700" dirty="0">
                <a:solidFill>
                  <a:srgbClr val="002060"/>
                </a:solidFill>
                <a:ea typeface="宋体" panose="02010600030101010101" pitchFamily="2" charset="-122"/>
              </a:rPr>
              <a:t>1  public class Test2Class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2      public static void main(String[] </a:t>
            </a:r>
            <a:r>
              <a:rPr lang="en-US" sz="1700" dirty="0" err="1">
                <a:solidFill>
                  <a:srgbClr val="002060"/>
                </a:solidFill>
                <a:ea typeface="宋体" panose="02010600030101010101" pitchFamily="2" charset="-122"/>
              </a:rPr>
              <a:t>args</a:t>
            </a:r>
            <a:r>
              <a:rPr lang="en-US" sz="1700" dirty="0">
                <a:solidFill>
                  <a:srgbClr val="002060"/>
                </a:solidFill>
                <a:ea typeface="宋体" panose="02010600030101010101" pitchFamily="2" charset="-122"/>
              </a:rPr>
              <a:t>)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3          </a:t>
            </a:r>
            <a:r>
              <a:rPr lang="en-US" sz="1700" dirty="0" err="1">
                <a:solidFill>
                  <a:srgbClr val="002060"/>
                </a:solidFill>
                <a:ea typeface="宋体" panose="02010600030101010101" pitchFamily="2" charset="-122"/>
              </a:rPr>
              <a:t>int</a:t>
            </a:r>
            <a:r>
              <a:rPr lang="en-US" sz="1700" dirty="0">
                <a:solidFill>
                  <a:srgbClr val="002060"/>
                </a:solidFill>
                <a:ea typeface="宋体" panose="02010600030101010101" pitchFamily="2" charset="-122"/>
              </a:rPr>
              <a:t> ret = </a:t>
            </a:r>
            <a:r>
              <a:rPr lang="en-US" sz="1700" dirty="0" err="1">
                <a:solidFill>
                  <a:srgbClr val="002060"/>
                </a:solidFill>
                <a:ea typeface="宋体" panose="02010600030101010101" pitchFamily="2" charset="-122"/>
              </a:rPr>
              <a:t>StaticClass.add</a:t>
            </a:r>
            <a:r>
              <a:rPr lang="en-US" sz="1700" dirty="0">
                <a:solidFill>
                  <a:srgbClr val="002060"/>
                </a:solidFill>
                <a:ea typeface="宋体" panose="02010600030101010101" pitchFamily="2" charset="-122"/>
              </a:rPr>
              <a:t>(10, 20);</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4          </a:t>
            </a:r>
            <a:r>
              <a:rPr lang="en-US" sz="1700" dirty="0" err="1">
                <a:solidFill>
                  <a:srgbClr val="002060"/>
                </a:solidFill>
                <a:ea typeface="宋体" panose="02010600030101010101" pitchFamily="2" charset="-122"/>
              </a:rPr>
              <a:t>System.out.println</a:t>
            </a:r>
            <a:r>
              <a:rPr lang="en-US" sz="1700" dirty="0">
                <a:solidFill>
                  <a:srgbClr val="002060"/>
                </a:solidFill>
                <a:ea typeface="宋体" panose="02010600030101010101" pitchFamily="2" charset="-122"/>
              </a:rPr>
              <a:t>("ret = " + ret);</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5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6          </a:t>
            </a:r>
            <a:r>
              <a:rPr lang="en-US" sz="1700" dirty="0" err="1">
                <a:solidFill>
                  <a:srgbClr val="002060"/>
                </a:solidFill>
                <a:ea typeface="宋体" panose="02010600030101010101" pitchFamily="2" charset="-122"/>
              </a:rPr>
              <a:t>int</a:t>
            </a:r>
            <a:r>
              <a:rPr lang="en-US" sz="1700" dirty="0">
                <a:solidFill>
                  <a:srgbClr val="002060"/>
                </a:solidFill>
                <a:ea typeface="宋体" panose="02010600030101010101" pitchFamily="2" charset="-122"/>
              </a:rPr>
              <a:t> ret2 = </a:t>
            </a:r>
            <a:r>
              <a:rPr lang="en-US" sz="1700" dirty="0" err="1">
                <a:solidFill>
                  <a:srgbClr val="002060"/>
                </a:solidFill>
                <a:ea typeface="宋体" panose="02010600030101010101" pitchFamily="2" charset="-122"/>
              </a:rPr>
              <a:t>StaticClass.add</a:t>
            </a:r>
            <a:r>
              <a:rPr lang="en-US" sz="1700" dirty="0">
                <a:solidFill>
                  <a:srgbClr val="002060"/>
                </a:solidFill>
                <a:ea typeface="宋体" panose="02010600030101010101" pitchFamily="2" charset="-122"/>
              </a:rPr>
              <a:t>(15, 25);</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7          </a:t>
            </a:r>
            <a:r>
              <a:rPr lang="en-US" sz="1700" dirty="0" err="1">
                <a:solidFill>
                  <a:srgbClr val="002060"/>
                </a:solidFill>
                <a:ea typeface="宋体" panose="02010600030101010101" pitchFamily="2" charset="-122"/>
              </a:rPr>
              <a:t>System.out.println</a:t>
            </a:r>
            <a:r>
              <a:rPr lang="en-US" sz="1700" dirty="0">
                <a:solidFill>
                  <a:srgbClr val="002060"/>
                </a:solidFill>
                <a:ea typeface="宋体" panose="02010600030101010101" pitchFamily="2" charset="-122"/>
              </a:rPr>
              <a:t>("ret2 = " + ret2);</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8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9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10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11 public class </a:t>
            </a:r>
            <a:r>
              <a:rPr lang="en-US" sz="1700" dirty="0" err="1">
                <a:solidFill>
                  <a:srgbClr val="002060"/>
                </a:solidFill>
                <a:ea typeface="宋体" panose="02010600030101010101" pitchFamily="2" charset="-122"/>
              </a:rPr>
              <a:t>StaticClass</a:t>
            </a:r>
            <a:r>
              <a:rPr lang="en-US" sz="1700" dirty="0">
                <a:solidFill>
                  <a:srgbClr val="002060"/>
                </a:solidFill>
                <a:ea typeface="宋体" panose="02010600030101010101" pitchFamily="2" charset="-122"/>
              </a:rPr>
              <a:t>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12     public static </a:t>
            </a:r>
            <a:r>
              <a:rPr lang="en-US" sz="1700" dirty="0" err="1">
                <a:solidFill>
                  <a:srgbClr val="002060"/>
                </a:solidFill>
                <a:ea typeface="宋体" panose="02010600030101010101" pitchFamily="2" charset="-122"/>
              </a:rPr>
              <a:t>int</a:t>
            </a:r>
            <a:r>
              <a:rPr lang="en-US" sz="1700" dirty="0">
                <a:solidFill>
                  <a:srgbClr val="002060"/>
                </a:solidFill>
                <a:ea typeface="宋体" panose="02010600030101010101" pitchFamily="2" charset="-122"/>
              </a:rPr>
              <a:t> add(</a:t>
            </a:r>
            <a:r>
              <a:rPr lang="en-US" sz="1700" dirty="0" err="1">
                <a:solidFill>
                  <a:srgbClr val="002060"/>
                </a:solidFill>
                <a:ea typeface="宋体" panose="02010600030101010101" pitchFamily="2" charset="-122"/>
              </a:rPr>
              <a:t>int</a:t>
            </a:r>
            <a:r>
              <a:rPr lang="en-US" sz="1700" dirty="0">
                <a:solidFill>
                  <a:srgbClr val="002060"/>
                </a:solidFill>
                <a:ea typeface="宋体" panose="02010600030101010101" pitchFamily="2" charset="-122"/>
              </a:rPr>
              <a:t> a, </a:t>
            </a:r>
            <a:r>
              <a:rPr lang="en-US" sz="1700" dirty="0" err="1">
                <a:solidFill>
                  <a:srgbClr val="002060"/>
                </a:solidFill>
                <a:ea typeface="宋体" panose="02010600030101010101" pitchFamily="2" charset="-122"/>
              </a:rPr>
              <a:t>int</a:t>
            </a:r>
            <a:r>
              <a:rPr lang="en-US" sz="1700" dirty="0">
                <a:solidFill>
                  <a:srgbClr val="002060"/>
                </a:solidFill>
                <a:ea typeface="宋体" panose="02010600030101010101" pitchFamily="2" charset="-122"/>
              </a:rPr>
              <a:t> b)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13         </a:t>
            </a:r>
            <a:r>
              <a:rPr lang="en-US" sz="1700" dirty="0" err="1">
                <a:solidFill>
                  <a:srgbClr val="002060"/>
                </a:solidFill>
                <a:ea typeface="宋体" panose="02010600030101010101" pitchFamily="2" charset="-122"/>
              </a:rPr>
              <a:t>System.out.println</a:t>
            </a:r>
            <a:r>
              <a:rPr lang="en-US" sz="1700" dirty="0">
                <a:solidFill>
                  <a:srgbClr val="002060"/>
                </a:solidFill>
                <a:ea typeface="宋体" panose="02010600030101010101" pitchFamily="2" charset="-122"/>
              </a:rPr>
              <a:t>("a = " + a + " b = " + b);</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14         return a + b;</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15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16 }</a:t>
            </a:r>
            <a:endParaRPr lang="en-US" sz="17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348105"/>
            <a:ext cx="9527540" cy="3949700"/>
          </a:xfrm>
        </p:spPr>
        <p:txBody>
          <a:bodyPr>
            <a:normAutofit lnSpcReduction="20000"/>
          </a:bodyPr>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新建一个类（</a:t>
            </a:r>
            <a:r>
              <a:rPr lang="en-US" altLang="zh-CN" dirty="0">
                <a:ea typeface="宋体" panose="02010600030101010101" pitchFamily="2" charset="-122"/>
                <a:sym typeface="+mn-ea"/>
              </a:rPr>
              <a:t>Math01</a:t>
            </a:r>
            <a:r>
              <a:rPr lang="zh-CN" altLang="en-US" dirty="0">
                <a:ea typeface="宋体" panose="02010600030101010101" pitchFamily="2" charset="-122"/>
                <a:sym typeface="+mn-ea"/>
              </a:rPr>
              <a:t>）</a:t>
            </a:r>
            <a:r>
              <a:rPr lang="en-US" altLang="zh-CN" dirty="0">
                <a:ea typeface="宋体" panose="02010600030101010101" pitchFamily="2" charset="-122"/>
                <a:sym typeface="+mn-ea"/>
              </a:rPr>
              <a:t>,</a:t>
            </a:r>
            <a:r>
              <a:rPr lang="zh-CN" altLang="en-US" dirty="0">
                <a:ea typeface="宋体" panose="02010600030101010101" pitchFamily="2" charset="-122"/>
                <a:sym typeface="+mn-ea"/>
              </a:rPr>
              <a:t>在</a:t>
            </a:r>
            <a:r>
              <a:rPr lang="en-US" altLang="zh-CN" dirty="0">
                <a:ea typeface="宋体" panose="02010600030101010101" pitchFamily="2" charset="-122"/>
                <a:sym typeface="+mn-ea"/>
              </a:rPr>
              <a:t>Math01</a:t>
            </a:r>
            <a:r>
              <a:rPr lang="zh-CN" altLang="en-US" dirty="0">
                <a:ea typeface="宋体" panose="02010600030101010101" pitchFamily="2" charset="-122"/>
                <a:sym typeface="+mn-ea"/>
              </a:rPr>
              <a:t>类中声明一个静态的方法</a:t>
            </a:r>
            <a:r>
              <a:rPr lang="en-US" altLang="zh-CN" dirty="0">
                <a:ea typeface="宋体" panose="02010600030101010101" pitchFamily="2" charset="-122"/>
                <a:sym typeface="+mn-ea"/>
              </a:rPr>
              <a:t>div(int x,int y)</a:t>
            </a:r>
            <a:r>
              <a:rPr lang="zh-CN" altLang="en-US" dirty="0">
                <a:ea typeface="宋体" panose="02010600030101010101" pitchFamily="2" charset="-122"/>
                <a:sym typeface="+mn-ea"/>
              </a:rPr>
              <a:t>计算两个数相除</a:t>
            </a:r>
            <a:r>
              <a:rPr lang="en-US" altLang="zh-CN" dirty="0">
                <a:ea typeface="宋体" panose="02010600030101010101" pitchFamily="2" charset="-122"/>
                <a:sym typeface="+mn-ea"/>
              </a:rPr>
              <a:t>;</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新建一个类（</a:t>
            </a:r>
            <a:r>
              <a:rPr lang="en-US" altLang="zh-CN" dirty="0">
                <a:ea typeface="宋体" panose="02010600030101010101" pitchFamily="2" charset="-122"/>
                <a:sym typeface="+mn-ea"/>
              </a:rPr>
              <a:t>TestMath</a:t>
            </a:r>
            <a:r>
              <a:rPr lang="en-US" altLang="zh-CN" dirty="0">
                <a:ea typeface="宋体" panose="02010600030101010101" pitchFamily="2" charset="-122"/>
                <a:sym typeface="+mn-ea"/>
              </a:rPr>
              <a:t>01</a:t>
            </a:r>
            <a:r>
              <a:rPr lang="zh-CN" altLang="en-US" dirty="0">
                <a:ea typeface="宋体" panose="02010600030101010101" pitchFamily="2" charset="-122"/>
                <a:sym typeface="+mn-ea"/>
              </a:rPr>
              <a:t>）</a:t>
            </a:r>
            <a:r>
              <a:rPr lang="en-US" altLang="zh-CN" dirty="0">
                <a:ea typeface="宋体" panose="02010600030101010101" pitchFamily="2" charset="-122"/>
                <a:sym typeface="+mn-ea"/>
              </a:rPr>
              <a:t>,</a:t>
            </a:r>
            <a:r>
              <a:rPr lang="zh-CN" altLang="en-US" dirty="0">
                <a:ea typeface="宋体" panose="02010600030101010101" pitchFamily="2" charset="-122"/>
                <a:sym typeface="+mn-ea"/>
              </a:rPr>
              <a:t>在该类的</a:t>
            </a:r>
            <a:r>
              <a:rPr lang="en-US" dirty="0">
                <a:ea typeface="宋体" panose="02010600030101010101" pitchFamily="2" charset="-122"/>
                <a:sym typeface="+mn-ea"/>
              </a:rPr>
              <a:t>main</a:t>
            </a:r>
            <a:r>
              <a:rPr lang="zh-CN" altLang="en-US" dirty="0">
                <a:ea typeface="宋体" panose="02010600030101010101" pitchFamily="2" charset="-122"/>
                <a:sym typeface="+mn-ea"/>
              </a:rPr>
              <a:t>方法中调用</a:t>
            </a:r>
            <a:r>
              <a:rPr lang="en-US" altLang="zh-CN" dirty="0">
                <a:ea typeface="宋体" panose="02010600030101010101" pitchFamily="2" charset="-122"/>
                <a:sym typeface="+mn-ea"/>
              </a:rPr>
              <a:t>Math</a:t>
            </a:r>
            <a:r>
              <a:rPr lang="en-US" altLang="zh-CN" dirty="0">
                <a:ea typeface="宋体" panose="02010600030101010101" pitchFamily="2" charset="-122"/>
                <a:sym typeface="+mn-ea"/>
              </a:rPr>
              <a:t>01</a:t>
            </a:r>
            <a:r>
              <a:rPr lang="zh-CN" altLang="en-US" dirty="0">
                <a:ea typeface="宋体" panose="02010600030101010101" pitchFamily="2" charset="-122"/>
                <a:sym typeface="+mn-ea"/>
              </a:rPr>
              <a:t>类的</a:t>
            </a:r>
            <a:r>
              <a:rPr lang="en-US" altLang="zh-CN" dirty="0">
                <a:ea typeface="宋体" panose="02010600030101010101" pitchFamily="2" charset="-122"/>
                <a:sym typeface="+mn-ea"/>
              </a:rPr>
              <a:t>div</a:t>
            </a:r>
            <a:r>
              <a:rPr lang="zh-CN" altLang="en-US" dirty="0">
                <a:ea typeface="宋体" panose="02010600030101010101" pitchFamily="2" charset="-122"/>
                <a:sym typeface="+mn-ea"/>
              </a:rPr>
              <a:t>方法，接收返回的面积值并打印</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参数的值传递</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方法调用的参数按值传递</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348105"/>
            <a:ext cx="9527540" cy="3949700"/>
          </a:xfrm>
        </p:spPr>
        <p:txBody>
          <a:bodyPr>
            <a:normAutofit lnSpcReduction="20000"/>
          </a:bodyPr>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在调用方法时，参数是以传递值的方式进行 。</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也就是说，如果在所调用方法内部对参数进行修改，不会对原值产生影响。</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TestPassByValue</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32099" name="内容占位符 2"/>
          <p:cNvSpPr>
            <a:spLocks noGrp="1"/>
          </p:cNvSpPr>
          <p:nvPr>
            <p:ph idx="4294967295"/>
          </p:nvPr>
        </p:nvSpPr>
        <p:spPr>
          <a:xfrm>
            <a:off x="946759" y="1160165"/>
            <a:ext cx="7537450" cy="4816475"/>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1  public class </a:t>
            </a:r>
            <a:r>
              <a:rPr lang="en-US" sz="1800" dirty="0" err="1">
                <a:solidFill>
                  <a:srgbClr val="002060"/>
                </a:solidFill>
                <a:ea typeface="宋体" panose="02010600030101010101" pitchFamily="2" charset="-122"/>
              </a:rPr>
              <a:t>TestPassByValue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      public static void main(String[] </a:t>
            </a:r>
            <a:r>
              <a:rPr lang="en-US" sz="1800" dirty="0" err="1">
                <a:solidFill>
                  <a:srgbClr val="002060"/>
                </a:solidFill>
                <a:ea typeface="宋体" panose="02010600030101010101" pitchFamily="2" charset="-122"/>
              </a:rPr>
              <a:t>args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x = 5, y = 16;</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("x = " + x + " y = " + y);</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          </a:t>
            </a:r>
            <a:r>
              <a:rPr lang="en-US" sz="1800" dirty="0" err="1">
                <a:solidFill>
                  <a:srgbClr val="002060"/>
                </a:solidFill>
                <a:ea typeface="宋体" panose="02010600030101010101" pitchFamily="2" charset="-122"/>
              </a:rPr>
              <a:t>StaticClass.changInt</a:t>
            </a:r>
            <a:r>
              <a:rPr lang="en-US" sz="1800" dirty="0">
                <a:solidFill>
                  <a:srgbClr val="002060"/>
                </a:solidFill>
                <a:ea typeface="宋体" panose="02010600030101010101" pitchFamily="2" charset="-122"/>
              </a:rPr>
              <a:t>(x, y);</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("x = " + x + " y = " + y);</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8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10 public class </a:t>
            </a:r>
            <a:r>
              <a:rPr lang="en-US" sz="1800" dirty="0" err="1">
                <a:solidFill>
                  <a:srgbClr val="002060"/>
                </a:solidFill>
                <a:ea typeface="宋体" panose="02010600030101010101" pitchFamily="2" charset="-122"/>
              </a:rPr>
              <a:t>StaticClass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11     public static void </a:t>
            </a:r>
            <a:r>
              <a:rPr lang="en-US" sz="1800" dirty="0" err="1">
                <a:solidFill>
                  <a:srgbClr val="002060"/>
                </a:solidFill>
                <a:ea typeface="宋体" panose="02010600030101010101" pitchFamily="2" charset="-122"/>
              </a:rPr>
              <a:t>changInt</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b)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12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 = " + a + " b = " + b);</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13         a += 10;</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14         b -= 10;</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15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 = " + a + " b = " + b);</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17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348105"/>
            <a:ext cx="9527540" cy="3949700"/>
          </a:xfrm>
        </p:spPr>
        <p:txBody>
          <a:bodyPr>
            <a:normAutofit/>
          </a:bodyPr>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定义</a:t>
            </a:r>
            <a:r>
              <a:rPr lang="en-US" altLang="zh-CN" dirty="0">
                <a:ea typeface="宋体" panose="02010600030101010101" pitchFamily="2" charset="-122"/>
                <a:sym typeface="+mn-ea"/>
              </a:rPr>
              <a:t>Math02</a:t>
            </a:r>
            <a:r>
              <a:rPr lang="zh-CN" altLang="en-US" dirty="0">
                <a:ea typeface="宋体" panose="02010600030101010101" pitchFamily="2" charset="-122"/>
                <a:sym typeface="+mn-ea"/>
              </a:rPr>
              <a:t>类，在</a:t>
            </a:r>
            <a:r>
              <a:rPr lang="en-US" altLang="zh-CN" dirty="0">
                <a:ea typeface="宋体" panose="02010600030101010101" pitchFamily="2" charset="-122"/>
                <a:sym typeface="+mn-ea"/>
              </a:rPr>
              <a:t>Math</a:t>
            </a:r>
            <a:r>
              <a:rPr lang="en-US" altLang="zh-CN" dirty="0">
                <a:ea typeface="宋体" panose="02010600030101010101" pitchFamily="2" charset="-122"/>
                <a:sym typeface="+mn-ea"/>
              </a:rPr>
              <a:t>02</a:t>
            </a:r>
            <a:r>
              <a:rPr lang="zh-CN" altLang="en-US" dirty="0">
                <a:ea typeface="宋体" panose="02010600030101010101" pitchFamily="2" charset="-122"/>
                <a:sym typeface="+mn-ea"/>
              </a:rPr>
              <a:t>类中声明一个静态的方法</a:t>
            </a:r>
            <a:r>
              <a:rPr lang="en-US" altLang="zh-CN" dirty="0">
                <a:ea typeface="宋体" panose="02010600030101010101" pitchFamily="2" charset="-122"/>
                <a:sym typeface="+mn-ea"/>
              </a:rPr>
              <a:t>div(int x,int y)</a:t>
            </a:r>
            <a:endParaRPr lang="en-US" altLang="zh-CN"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分别修改参数</a:t>
            </a:r>
            <a:r>
              <a:rPr lang="en-US" dirty="0">
                <a:ea typeface="宋体" panose="02010600030101010101" pitchFamily="2" charset="-122"/>
                <a:sym typeface="+mn-ea"/>
              </a:rPr>
              <a:t>x</a:t>
            </a:r>
            <a:r>
              <a:rPr lang="zh-CN" altLang="en-US" dirty="0">
                <a:ea typeface="宋体" panose="02010600030101010101" pitchFamily="2" charset="-122"/>
                <a:sym typeface="+mn-ea"/>
              </a:rPr>
              <a:t>和</a:t>
            </a:r>
            <a:r>
              <a:rPr lang="en-US" dirty="0">
                <a:ea typeface="宋体" panose="02010600030101010101" pitchFamily="2" charset="-122"/>
                <a:sym typeface="+mn-ea"/>
              </a:rPr>
              <a:t>y</a:t>
            </a:r>
            <a:r>
              <a:rPr lang="zh-CN" altLang="en-US" dirty="0">
                <a:ea typeface="宋体" panose="02010600030101010101" pitchFamily="2" charset="-122"/>
                <a:sym typeface="+mn-ea"/>
              </a:rPr>
              <a:t>的值之后，计算两个数相除并把结果返回</a:t>
            </a:r>
            <a:r>
              <a:rPr lang="en-US" altLang="zh-CN" dirty="0">
                <a:ea typeface="宋体" panose="02010600030101010101" pitchFamily="2" charset="-122"/>
                <a:sym typeface="+mn-ea"/>
              </a:rPr>
              <a:t>;</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新建一个类（</a:t>
            </a:r>
            <a:r>
              <a:rPr lang="en-US" altLang="zh-CN" dirty="0">
                <a:ea typeface="宋体" panose="02010600030101010101" pitchFamily="2" charset="-122"/>
                <a:sym typeface="+mn-ea"/>
              </a:rPr>
              <a:t>TestMath</a:t>
            </a:r>
            <a:r>
              <a:rPr lang="en-US" altLang="zh-CN" dirty="0">
                <a:ea typeface="宋体" panose="02010600030101010101" pitchFamily="2" charset="-122"/>
                <a:sym typeface="+mn-ea"/>
              </a:rPr>
              <a:t>02</a:t>
            </a:r>
            <a:r>
              <a:rPr lang="zh-CN" altLang="en-US" dirty="0">
                <a:ea typeface="宋体" panose="02010600030101010101" pitchFamily="2" charset="-122"/>
                <a:sym typeface="+mn-ea"/>
              </a:rPr>
              <a:t>）</a:t>
            </a:r>
            <a:r>
              <a:rPr lang="en-US" altLang="zh-CN" dirty="0">
                <a:ea typeface="宋体" panose="02010600030101010101" pitchFamily="2" charset="-122"/>
                <a:sym typeface="+mn-ea"/>
              </a:rPr>
              <a:t>,</a:t>
            </a:r>
            <a:r>
              <a:rPr lang="zh-CN" altLang="en-US" dirty="0">
                <a:ea typeface="宋体" panose="02010600030101010101" pitchFamily="2" charset="-122"/>
                <a:sym typeface="+mn-ea"/>
              </a:rPr>
              <a:t>在该类的</a:t>
            </a:r>
            <a:r>
              <a:rPr lang="en-US" dirty="0">
                <a:ea typeface="宋体" panose="02010600030101010101" pitchFamily="2" charset="-122"/>
                <a:sym typeface="+mn-ea"/>
              </a:rPr>
              <a:t>main</a:t>
            </a:r>
            <a:r>
              <a:rPr lang="zh-CN" altLang="en-US" dirty="0">
                <a:ea typeface="宋体" panose="02010600030101010101" pitchFamily="2" charset="-122"/>
                <a:sym typeface="+mn-ea"/>
              </a:rPr>
              <a:t>方法中调用</a:t>
            </a:r>
            <a:r>
              <a:rPr lang="en-US" altLang="zh-CN" dirty="0">
                <a:ea typeface="宋体" panose="02010600030101010101" pitchFamily="2" charset="-122"/>
                <a:sym typeface="+mn-ea"/>
              </a:rPr>
              <a:t>Math</a:t>
            </a:r>
            <a:r>
              <a:rPr lang="en-US" altLang="zh-CN" dirty="0">
                <a:ea typeface="宋体" panose="02010600030101010101" pitchFamily="2" charset="-122"/>
                <a:sym typeface="+mn-ea"/>
              </a:rPr>
              <a:t>02</a:t>
            </a:r>
            <a:r>
              <a:rPr lang="zh-CN" altLang="en-US" dirty="0">
                <a:ea typeface="宋体" panose="02010600030101010101" pitchFamily="2" charset="-122"/>
                <a:sym typeface="+mn-ea"/>
              </a:rPr>
              <a:t>类的</a:t>
            </a:r>
            <a:r>
              <a:rPr lang="en-US" altLang="zh-CN" dirty="0">
                <a:ea typeface="宋体" panose="02010600030101010101" pitchFamily="2" charset="-122"/>
                <a:sym typeface="+mn-ea"/>
              </a:rPr>
              <a:t>div</a:t>
            </a:r>
            <a:r>
              <a:rPr lang="zh-CN" altLang="en-US" dirty="0">
                <a:ea typeface="宋体" panose="02010600030101010101" pitchFamily="2" charset="-122"/>
                <a:sym typeface="+mn-ea"/>
              </a:rPr>
              <a:t>方法</a:t>
            </a:r>
            <a:r>
              <a:rPr lang="zh-CN" altLang="en-US" dirty="0">
                <a:ea typeface="宋体" panose="02010600030101010101" pitchFamily="2" charset="-122"/>
                <a:sym typeface="+mn-ea"/>
              </a:rPr>
              <a:t>，接收返回值并打印，再打印调用</a:t>
            </a:r>
            <a:r>
              <a:rPr lang="en-US" altLang="zh-CN" dirty="0">
                <a:ea typeface="宋体" panose="02010600030101010101" pitchFamily="2" charset="-122"/>
                <a:sym typeface="+mn-ea"/>
              </a:rPr>
              <a:t>div</a:t>
            </a:r>
            <a:r>
              <a:rPr lang="zh-CN" altLang="en-US" dirty="0">
                <a:ea typeface="宋体" panose="02010600030101010101" pitchFamily="2" charset="-122"/>
                <a:sym typeface="+mn-ea"/>
              </a:rPr>
              <a:t>时所传递的两个变量值，验证是否被改变。</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a:solidFill>
                  <a:schemeClr val="bg1"/>
                </a:solidFill>
                <a:latin typeface="Arial" panose="020B0604020202020204" pitchFamily="34" charset="0"/>
                <a:ea typeface="宋体" panose="02010600030101010101" pitchFamily="2" charset="-122"/>
                <a:sym typeface="+mn-ea"/>
              </a:rPr>
              <a:t>方法</a:t>
            </a:r>
            <a:r>
              <a:rPr lang="zh-CN" altLang="en-US" sz="6665">
                <a:solidFill>
                  <a:schemeClr val="bg1"/>
                </a:solidFill>
                <a:latin typeface="Arial" panose="020B0604020202020204" pitchFamily="34" charset="0"/>
                <a:ea typeface="宋体" panose="02010600030101010101" pitchFamily="2" charset="-122"/>
                <a:sym typeface="+mn-ea"/>
              </a:rPr>
              <a:t>重载</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重载方法</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348105"/>
            <a:ext cx="9527540" cy="3949700"/>
          </a:xfrm>
        </p:spPr>
        <p:txBody>
          <a:bodyPr>
            <a:normAutofit fontScale="90000" lnSpcReduction="10000"/>
          </a:bodyPr>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重载方法 </a:t>
            </a:r>
            <a:r>
              <a:rPr lang="en-US" dirty="0">
                <a:ea typeface="宋体" panose="02010600030101010101" pitchFamily="2" charset="-122"/>
                <a:sym typeface="+mn-ea"/>
              </a:rPr>
              <a:t>— </a:t>
            </a:r>
            <a:r>
              <a:rPr lang="zh-CN" altLang="en-US" dirty="0">
                <a:ea typeface="宋体" panose="02010600030101010101" pitchFamily="2" charset="-122"/>
                <a:sym typeface="+mn-ea"/>
              </a:rPr>
              <a:t>同一类中方法名相同而参数（类型或数量）不同的方法</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例如，以下方法是重载方法：</a:t>
            </a:r>
            <a:endParaRPr lang="zh-CN" altLang="en-US" dirty="0">
              <a:ea typeface="宋体" panose="02010600030101010101" pitchFamily="2" charset="-122"/>
              <a:sym typeface="+mn-ea"/>
            </a:endParaRPr>
          </a:p>
          <a:p>
            <a:pPr marL="361950" indent="0" eaLnBrk="1" hangingPunct="1">
              <a:buFont typeface="Times"/>
              <a:buNone/>
            </a:pPr>
            <a:r>
              <a:rPr lang="en-US" sz="2000" dirty="0">
                <a:solidFill>
                  <a:srgbClr val="002060"/>
                </a:solidFill>
                <a:ea typeface="宋体" panose="02010600030101010101" pitchFamily="2" charset="-122"/>
                <a:sym typeface="+mn-ea"/>
              </a:rPr>
              <a:t>public static void </a:t>
            </a:r>
            <a:r>
              <a:rPr lang="en-US" sz="2000" dirty="0" err="1">
                <a:solidFill>
                  <a:srgbClr val="002060"/>
                </a:solidFill>
                <a:ea typeface="宋体" panose="02010600030101010101" pitchFamily="2" charset="-122"/>
                <a:sym typeface="+mn-ea"/>
              </a:rPr>
              <a:t>changInt</a:t>
            </a:r>
            <a:r>
              <a:rPr lang="en-US" sz="2000" dirty="0">
                <a:solidFill>
                  <a:srgbClr val="002060"/>
                </a:solidFill>
                <a:ea typeface="宋体" panose="02010600030101010101" pitchFamily="2" charset="-122"/>
                <a:sym typeface="+mn-ea"/>
              </a:rPr>
              <a:t>(</a:t>
            </a: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 a, </a:t>
            </a: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 b) </a:t>
            </a:r>
            <a:endParaRPr lang="en-US" sz="2000" dirty="0">
              <a:solidFill>
                <a:srgbClr val="002060"/>
              </a:solidFill>
              <a:ea typeface="宋体" panose="02010600030101010101" pitchFamily="2" charset="-122"/>
            </a:endParaRPr>
          </a:p>
          <a:p>
            <a:pPr marL="361950" indent="-361950" eaLnBrk="1" hangingPunct="1">
              <a:buFont typeface="Times"/>
              <a:buNone/>
            </a:pPr>
            <a:r>
              <a:rPr lang="en-US" sz="2000" dirty="0">
                <a:solidFill>
                  <a:srgbClr val="002060"/>
                </a:solidFill>
                <a:ea typeface="宋体" panose="02010600030101010101" pitchFamily="2" charset="-122"/>
                <a:sym typeface="+mn-ea"/>
              </a:rPr>
              <a:t>	public static void </a:t>
            </a:r>
            <a:r>
              <a:rPr lang="en-US" sz="2000" dirty="0" err="1">
                <a:solidFill>
                  <a:srgbClr val="002060"/>
                </a:solidFill>
                <a:ea typeface="宋体" panose="02010600030101010101" pitchFamily="2" charset="-122"/>
                <a:sym typeface="+mn-ea"/>
              </a:rPr>
              <a:t>changInt</a:t>
            </a:r>
            <a:r>
              <a:rPr lang="en-US" sz="2000" dirty="0">
                <a:solidFill>
                  <a:srgbClr val="002060"/>
                </a:solidFill>
                <a:ea typeface="宋体" panose="02010600030101010101" pitchFamily="2" charset="-122"/>
                <a:sym typeface="+mn-ea"/>
              </a:rPr>
              <a:t>(</a:t>
            </a: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 a, </a:t>
            </a: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 b, </a:t>
            </a: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 c)</a:t>
            </a:r>
            <a:endParaRPr lang="en-US" sz="2000" dirty="0">
              <a:solidFill>
                <a:srgbClr val="002060"/>
              </a:solidFill>
              <a:ea typeface="宋体" panose="02010600030101010101" pitchFamily="2" charset="-122"/>
            </a:endParaRPr>
          </a:p>
          <a:p>
            <a:pPr marL="361950" indent="-361950" eaLnBrk="1" hangingPunct="1">
              <a:buFont typeface="Times"/>
              <a:buNone/>
            </a:pPr>
            <a:r>
              <a:rPr lang="en-US" sz="2000" dirty="0">
                <a:solidFill>
                  <a:srgbClr val="002060"/>
                </a:solidFill>
                <a:ea typeface="宋体" panose="02010600030101010101" pitchFamily="2" charset="-122"/>
                <a:sym typeface="+mn-ea"/>
              </a:rPr>
              <a:t>	public static void </a:t>
            </a:r>
            <a:r>
              <a:rPr lang="en-US" sz="2000" dirty="0" err="1">
                <a:solidFill>
                  <a:srgbClr val="002060"/>
                </a:solidFill>
                <a:ea typeface="宋体" panose="02010600030101010101" pitchFamily="2" charset="-122"/>
                <a:sym typeface="+mn-ea"/>
              </a:rPr>
              <a:t>changInt</a:t>
            </a:r>
            <a:r>
              <a:rPr lang="en-US" sz="2000" dirty="0">
                <a:solidFill>
                  <a:srgbClr val="002060"/>
                </a:solidFill>
                <a:ea typeface="宋体" panose="02010600030101010101" pitchFamily="2" charset="-122"/>
                <a:sym typeface="+mn-ea"/>
              </a:rPr>
              <a:t>(float a, </a:t>
            </a:r>
            <a:r>
              <a:rPr lang="en-US" sz="2000" dirty="0" err="1">
                <a:solidFill>
                  <a:srgbClr val="002060"/>
                </a:solidFill>
                <a:ea typeface="宋体" panose="02010600030101010101" pitchFamily="2" charset="-122"/>
                <a:sym typeface="+mn-ea"/>
              </a:rPr>
              <a:t>int</a:t>
            </a:r>
            <a:r>
              <a:rPr lang="en-US" sz="2000" dirty="0">
                <a:solidFill>
                  <a:srgbClr val="002060"/>
                </a:solidFill>
                <a:ea typeface="宋体" panose="02010600030101010101" pitchFamily="2" charset="-122"/>
                <a:sym typeface="+mn-ea"/>
              </a:rPr>
              <a:t> b)</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重载方法的规则</a:t>
            </a:r>
            <a:endParaRPr lang="zh-CN" altLang="en-US" dirty="0">
              <a:ea typeface="宋体" panose="02010600030101010101" pitchFamily="2" charset="-122"/>
              <a:sym typeface="+mn-ea"/>
            </a:endParaRPr>
          </a:p>
          <a:p>
            <a:pPr marL="704850" lvl="1" indent="-361950" eaLnBrk="1" hangingPunct="1"/>
            <a:r>
              <a:rPr lang="zh-CN" altLang="en-US" dirty="0">
                <a:solidFill>
                  <a:srgbClr val="002060"/>
                </a:solidFill>
                <a:ea typeface="宋体" panose="02010600030101010101" pitchFamily="2" charset="-122"/>
                <a:sym typeface="+mn-ea"/>
              </a:rPr>
              <a:t>参数列表必须</a:t>
            </a:r>
            <a:r>
              <a:rPr lang="zh-CN" altLang="en-US" dirty="0" smtClean="0">
                <a:solidFill>
                  <a:srgbClr val="002060"/>
                </a:solidFill>
                <a:ea typeface="宋体" panose="02010600030101010101" pitchFamily="2" charset="-122"/>
                <a:sym typeface="+mn-ea"/>
              </a:rPr>
              <a:t>不同</a:t>
            </a:r>
            <a:endParaRPr lang="zh-CN" altLang="en-US" dirty="0">
              <a:solidFill>
                <a:srgbClr val="002060"/>
              </a:solidFill>
              <a:ea typeface="宋体" panose="02010600030101010101" pitchFamily="2" charset="-122"/>
            </a:endParaRPr>
          </a:p>
          <a:p>
            <a:pPr marL="704850" lvl="1" indent="-361950" eaLnBrk="1" hangingPunct="1"/>
            <a:r>
              <a:rPr lang="zh-CN" altLang="en-US" dirty="0">
                <a:solidFill>
                  <a:srgbClr val="002060"/>
                </a:solidFill>
                <a:ea typeface="宋体" panose="02010600030101010101" pitchFamily="2" charset="-122"/>
                <a:sym typeface="+mn-ea"/>
              </a:rPr>
              <a:t>返回类型可以不同</a:t>
            </a:r>
            <a:endParaRPr lang="zh-CN" altLang="en-US" dirty="0">
              <a:solidFill>
                <a:srgbClr val="002060"/>
              </a:solidFill>
              <a:ea typeface="宋体" panose="02010600030101010101" pitchFamily="2" charset="-122"/>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在调用重载方法时，</a:t>
            </a:r>
            <a:r>
              <a:rPr lang="en-US" dirty="0">
                <a:ea typeface="宋体" panose="02010600030101010101" pitchFamily="2" charset="-122"/>
                <a:sym typeface="+mn-ea"/>
              </a:rPr>
              <a:t>JVM</a:t>
            </a:r>
            <a:r>
              <a:rPr lang="zh-CN" altLang="en-US" dirty="0">
                <a:ea typeface="宋体" panose="02010600030101010101" pitchFamily="2" charset="-122"/>
                <a:sym typeface="+mn-ea"/>
              </a:rPr>
              <a:t>根据参数匹配对应方法</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a:t>
            </a:r>
            <a:r>
              <a:rPr lang="zh-CN" altLang="en-US" sz="2400">
                <a:ea typeface="宋体" panose="02010600030101010101" pitchFamily="2" charset="-122"/>
                <a:sym typeface="+mn-ea"/>
              </a:rPr>
              <a:t>重载方法</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160145"/>
            <a:ext cx="9527540" cy="4963160"/>
          </a:xfrm>
        </p:spPr>
        <p:txBody>
          <a:bodyPr>
            <a:normAutofit fontScale="70000"/>
          </a:bodyPr>
          <a:p>
            <a:pPr marL="457200" indent="-457200" eaLnBrk="1" hangingPunct="1">
              <a:lnSpc>
                <a:spcPct val="140000"/>
              </a:lnSpc>
              <a:buClr>
                <a:srgbClr val="ED7D31"/>
              </a:buClr>
              <a:buFont typeface="+mj-lt"/>
              <a:buAutoNum type="arabicPeriod"/>
            </a:pPr>
            <a:r>
              <a:rPr lang="zh-CN" altLang="en-US" sz="3000" dirty="0">
                <a:ea typeface="宋体" panose="02010600030101010101" pitchFamily="2" charset="-122"/>
                <a:sym typeface="+mn-ea"/>
              </a:rPr>
              <a:t>使用重载方法，可以为编程带来方便。</a:t>
            </a:r>
            <a:endParaRPr lang="zh-CN" altLang="en-US" sz="3000"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sz="3000" dirty="0">
                <a:ea typeface="宋体" panose="02010600030101010101" pitchFamily="2" charset="-122"/>
                <a:sym typeface="+mn-ea"/>
              </a:rPr>
              <a:t>例如，</a:t>
            </a:r>
            <a:r>
              <a:rPr lang="en-US" sz="3000" dirty="0" err="1">
                <a:ea typeface="宋体" panose="02010600030101010101" pitchFamily="2" charset="-122"/>
                <a:sym typeface="+mn-ea"/>
              </a:rPr>
              <a:t>System.out.println</a:t>
            </a:r>
            <a:r>
              <a:rPr lang="zh-CN" altLang="en-US" sz="3000" dirty="0">
                <a:ea typeface="宋体" panose="02010600030101010101" pitchFamily="2" charset="-122"/>
                <a:sym typeface="+mn-ea"/>
              </a:rPr>
              <a:t>方法就是典型的重载方法，其内部的声明形式如下：</a:t>
            </a:r>
            <a:endParaRPr lang="zh-CN" altLang="en-US" sz="3000" dirty="0">
              <a:ea typeface="宋体" panose="02010600030101010101" pitchFamily="2" charset="-122"/>
            </a:endParaRPr>
          </a:p>
          <a:p>
            <a:pPr marL="361950" indent="-361950" algn="l" eaLnBrk="1" hangingPunct="1">
              <a:lnSpc>
                <a:spcPct val="90000"/>
              </a:lnSpc>
              <a:buClrTx/>
              <a:buSzTx/>
              <a:buFont typeface="Times"/>
              <a:buNone/>
            </a:pPr>
            <a:r>
              <a:rPr lang="zh-CN" altLang="en-US" dirty="0">
                <a:ea typeface="宋体" panose="02010600030101010101" pitchFamily="2" charset="-122"/>
                <a:sym typeface="+mn-ea"/>
              </a:rPr>
              <a:t>	 </a:t>
            </a:r>
            <a:r>
              <a:rPr lang="zh-CN" altLang="en-US" dirty="0">
                <a:solidFill>
                  <a:srgbClr val="002060"/>
                </a:solidFill>
                <a:ea typeface="宋体" panose="02010600030101010101" pitchFamily="2" charset="-122"/>
                <a:sym typeface="+mn-ea"/>
              </a:rPr>
              <a:t>public void println(byte x)</a:t>
            </a:r>
            <a:endParaRPr lang="zh-CN" altLang="en-US" dirty="0">
              <a:solidFill>
                <a:srgbClr val="002060"/>
              </a:solidFill>
              <a:ea typeface="宋体" panose="02010600030101010101" pitchFamily="2" charset="-122"/>
            </a:endParaRPr>
          </a:p>
          <a:p>
            <a:pPr marL="361950" indent="-361950" algn="l" eaLnBrk="1" hangingPunct="1">
              <a:lnSpc>
                <a:spcPct val="90000"/>
              </a:lnSpc>
              <a:buClrTx/>
              <a:buSzTx/>
              <a:buFont typeface="Times"/>
              <a:buNone/>
            </a:pPr>
            <a:r>
              <a:rPr lang="zh-CN" altLang="en-US" dirty="0">
                <a:solidFill>
                  <a:srgbClr val="002060"/>
                </a:solidFill>
                <a:ea typeface="宋体" panose="02010600030101010101" pitchFamily="2" charset="-122"/>
                <a:sym typeface="+mn-ea"/>
              </a:rPr>
              <a:t>	 public void println(short x)</a:t>
            </a:r>
            <a:endParaRPr lang="zh-CN" altLang="en-US" dirty="0">
              <a:solidFill>
                <a:srgbClr val="002060"/>
              </a:solidFill>
              <a:ea typeface="宋体" panose="02010600030101010101" pitchFamily="2" charset="-122"/>
            </a:endParaRPr>
          </a:p>
          <a:p>
            <a:pPr marL="361950" indent="-361950" algn="l" eaLnBrk="1" hangingPunct="1">
              <a:lnSpc>
                <a:spcPct val="90000"/>
              </a:lnSpc>
              <a:buClrTx/>
              <a:buSzTx/>
              <a:buFont typeface="Times"/>
              <a:buNone/>
            </a:pPr>
            <a:r>
              <a:rPr lang="zh-CN" altLang="en-US" dirty="0">
                <a:solidFill>
                  <a:srgbClr val="002060"/>
                </a:solidFill>
                <a:ea typeface="宋体" panose="02010600030101010101" pitchFamily="2" charset="-122"/>
                <a:sym typeface="+mn-ea"/>
              </a:rPr>
              <a:t>	 public void println(int x)</a:t>
            </a:r>
            <a:endParaRPr lang="zh-CN" altLang="en-US" dirty="0">
              <a:solidFill>
                <a:srgbClr val="002060"/>
              </a:solidFill>
              <a:ea typeface="宋体" panose="02010600030101010101" pitchFamily="2" charset="-122"/>
            </a:endParaRPr>
          </a:p>
          <a:p>
            <a:pPr marL="361950" indent="-361950" algn="l" eaLnBrk="1" hangingPunct="1">
              <a:lnSpc>
                <a:spcPct val="90000"/>
              </a:lnSpc>
              <a:buClrTx/>
              <a:buSzTx/>
              <a:buFont typeface="Times"/>
              <a:buNone/>
            </a:pPr>
            <a:r>
              <a:rPr lang="zh-CN" altLang="en-US" dirty="0">
                <a:solidFill>
                  <a:srgbClr val="002060"/>
                </a:solidFill>
                <a:ea typeface="宋体" panose="02010600030101010101" pitchFamily="2" charset="-122"/>
                <a:sym typeface="+mn-ea"/>
              </a:rPr>
              <a:t>	 public void println(long x)</a:t>
            </a:r>
            <a:endParaRPr lang="zh-CN" altLang="en-US" dirty="0">
              <a:solidFill>
                <a:srgbClr val="002060"/>
              </a:solidFill>
              <a:ea typeface="宋体" panose="02010600030101010101" pitchFamily="2" charset="-122"/>
            </a:endParaRPr>
          </a:p>
          <a:p>
            <a:pPr marL="361950" indent="-361950" algn="l" eaLnBrk="1" hangingPunct="1">
              <a:lnSpc>
                <a:spcPct val="90000"/>
              </a:lnSpc>
              <a:buClrTx/>
              <a:buSzTx/>
              <a:buFont typeface="Times"/>
              <a:buNone/>
            </a:pPr>
            <a:r>
              <a:rPr lang="zh-CN" altLang="en-US" dirty="0">
                <a:solidFill>
                  <a:srgbClr val="002060"/>
                </a:solidFill>
                <a:ea typeface="宋体" panose="02010600030101010101" pitchFamily="2" charset="-122"/>
                <a:sym typeface="+mn-ea"/>
              </a:rPr>
              <a:t>	 public void println(float x)</a:t>
            </a:r>
            <a:endParaRPr lang="zh-CN" altLang="en-US" dirty="0">
              <a:solidFill>
                <a:srgbClr val="002060"/>
              </a:solidFill>
              <a:ea typeface="宋体" panose="02010600030101010101" pitchFamily="2" charset="-122"/>
            </a:endParaRPr>
          </a:p>
          <a:p>
            <a:pPr marL="361950" indent="-361950" algn="l" eaLnBrk="1" hangingPunct="1">
              <a:lnSpc>
                <a:spcPct val="90000"/>
              </a:lnSpc>
              <a:buClrTx/>
              <a:buSzTx/>
              <a:buFont typeface="Times"/>
              <a:buNone/>
            </a:pPr>
            <a:r>
              <a:rPr lang="zh-CN" altLang="en-US" dirty="0">
                <a:solidFill>
                  <a:srgbClr val="002060"/>
                </a:solidFill>
                <a:ea typeface="宋体" panose="02010600030101010101" pitchFamily="2" charset="-122"/>
                <a:sym typeface="+mn-ea"/>
              </a:rPr>
              <a:t> 	 public void println(double x)</a:t>
            </a:r>
            <a:endParaRPr lang="zh-CN" altLang="en-US" dirty="0">
              <a:solidFill>
                <a:srgbClr val="002060"/>
              </a:solidFill>
              <a:ea typeface="宋体" panose="02010600030101010101" pitchFamily="2" charset="-122"/>
              <a:sym typeface="+mn-ea"/>
            </a:endParaRPr>
          </a:p>
          <a:p>
            <a:pPr marL="361950" indent="-361950" algn="l" eaLnBrk="1" hangingPunct="1">
              <a:lnSpc>
                <a:spcPct val="90000"/>
              </a:lnSpc>
              <a:buClrTx/>
              <a:buSzTx/>
              <a:buFont typeface="Times"/>
              <a:buNone/>
            </a:pPr>
            <a:r>
              <a:rPr lang="zh-CN" altLang="en-US" dirty="0">
                <a:solidFill>
                  <a:srgbClr val="002060"/>
                </a:solidFill>
                <a:ea typeface="宋体" panose="02010600030101010101" pitchFamily="2" charset="-122"/>
                <a:sym typeface="+mn-ea"/>
              </a:rPr>
              <a:t>     </a:t>
            </a:r>
            <a:r>
              <a:rPr lang="en-US" altLang="zh-CN" dirty="0">
                <a:solidFill>
                  <a:srgbClr val="002060"/>
                </a:solidFill>
                <a:ea typeface="宋体" panose="02010600030101010101" pitchFamily="2" charset="-122"/>
                <a:sym typeface="+mn-ea"/>
              </a:rPr>
              <a:t> </a:t>
            </a:r>
            <a:r>
              <a:rPr lang="zh-CN" altLang="en-US" dirty="0">
                <a:solidFill>
                  <a:srgbClr val="002060"/>
                </a:solidFill>
                <a:ea typeface="宋体" panose="02010600030101010101" pitchFamily="2" charset="-122"/>
                <a:sym typeface="+mn-ea"/>
              </a:rPr>
              <a:t> public void println(char x)</a:t>
            </a:r>
            <a:endParaRPr lang="zh-CN" altLang="en-US" dirty="0">
              <a:solidFill>
                <a:srgbClr val="002060"/>
              </a:solidFill>
              <a:ea typeface="宋体" panose="02010600030101010101" pitchFamily="2" charset="-122"/>
            </a:endParaRPr>
          </a:p>
          <a:p>
            <a:pPr marL="361950" lvl="1" indent="-361950" algn="l" eaLnBrk="1" hangingPunct="1">
              <a:lnSpc>
                <a:spcPct val="90000"/>
              </a:lnSpc>
              <a:spcBef>
                <a:spcPts val="1000"/>
              </a:spcBef>
              <a:buClrTx/>
              <a:buSzTx/>
              <a:buFont typeface="Times"/>
              <a:buNone/>
            </a:pPr>
            <a:r>
              <a:rPr lang="zh-CN" altLang="en-US" sz="2400" dirty="0">
                <a:solidFill>
                  <a:srgbClr val="002060"/>
                </a:solidFill>
                <a:ea typeface="宋体" panose="02010600030101010101" pitchFamily="2" charset="-122"/>
                <a:sym typeface="+mn-ea"/>
              </a:rPr>
              <a:t>     </a:t>
            </a:r>
            <a:r>
              <a:rPr lang="en-US" altLang="zh-CN" sz="2400" dirty="0">
                <a:solidFill>
                  <a:srgbClr val="002060"/>
                </a:solidFill>
                <a:ea typeface="宋体" panose="02010600030101010101" pitchFamily="2" charset="-122"/>
                <a:sym typeface="+mn-ea"/>
              </a:rPr>
              <a:t>  </a:t>
            </a:r>
            <a:r>
              <a:rPr lang="zh-CN" altLang="en-US" sz="2400" dirty="0">
                <a:solidFill>
                  <a:srgbClr val="002060"/>
                </a:solidFill>
                <a:ea typeface="宋体" panose="02010600030101010101" pitchFamily="2" charset="-122"/>
                <a:sym typeface="+mn-ea"/>
              </a:rPr>
              <a:t>public void println(double x)</a:t>
            </a:r>
            <a:endParaRPr lang="zh-CN" altLang="en-US" sz="2400" dirty="0">
              <a:solidFill>
                <a:srgbClr val="002060"/>
              </a:solidFill>
              <a:ea typeface="宋体" panose="02010600030101010101" pitchFamily="2" charset="-122"/>
            </a:endParaRPr>
          </a:p>
          <a:p>
            <a:pPr marL="361950" lvl="1" indent="-361950" algn="l" eaLnBrk="1" hangingPunct="1">
              <a:lnSpc>
                <a:spcPct val="90000"/>
              </a:lnSpc>
              <a:spcBef>
                <a:spcPts val="1000"/>
              </a:spcBef>
              <a:buClrTx/>
              <a:buSzTx/>
              <a:buFont typeface="Times"/>
              <a:buNone/>
            </a:pPr>
            <a:r>
              <a:rPr lang="zh-CN" altLang="en-US" sz="2400" dirty="0">
                <a:solidFill>
                  <a:srgbClr val="002060"/>
                </a:solidFill>
                <a:ea typeface="宋体" panose="02010600030101010101" pitchFamily="2" charset="-122"/>
                <a:sym typeface="+mn-ea"/>
              </a:rPr>
              <a:t>     </a:t>
            </a:r>
            <a:r>
              <a:rPr lang="en-US" altLang="zh-CN" sz="2400" dirty="0">
                <a:solidFill>
                  <a:srgbClr val="002060"/>
                </a:solidFill>
                <a:ea typeface="宋体" panose="02010600030101010101" pitchFamily="2" charset="-122"/>
                <a:sym typeface="+mn-ea"/>
              </a:rPr>
              <a:t>  </a:t>
            </a:r>
            <a:r>
              <a:rPr lang="zh-CN" altLang="en-US" sz="2400" dirty="0">
                <a:solidFill>
                  <a:srgbClr val="002060"/>
                </a:solidFill>
                <a:ea typeface="宋体" panose="02010600030101010101" pitchFamily="2" charset="-122"/>
                <a:sym typeface="+mn-ea"/>
              </a:rPr>
              <a:t>public void println()</a:t>
            </a:r>
            <a:endParaRPr lang="zh-CN" altLang="en-US" sz="2400" dirty="0">
              <a:solidFill>
                <a:srgbClr val="002060"/>
              </a:solidFill>
              <a:ea typeface="宋体" panose="02010600030101010101" pitchFamily="2" charset="-122"/>
              <a:sym typeface="+mn-ea"/>
            </a:endParaRPr>
          </a:p>
          <a:p>
            <a:pPr marL="361950" lvl="1" indent="-361950" algn="l" eaLnBrk="1" hangingPunct="1">
              <a:lnSpc>
                <a:spcPct val="90000"/>
              </a:lnSpc>
              <a:spcBef>
                <a:spcPts val="1000"/>
              </a:spcBef>
              <a:buClrTx/>
              <a:buSzTx/>
              <a:buFont typeface="Times"/>
              <a:buNone/>
            </a:pPr>
            <a:r>
              <a:rPr lang="en-US" altLang="zh-CN" sz="2400" dirty="0">
                <a:solidFill>
                  <a:srgbClr val="002060"/>
                </a:solidFill>
                <a:ea typeface="宋体" panose="02010600030101010101" pitchFamily="2" charset="-122"/>
                <a:sym typeface="+mn-ea"/>
              </a:rPr>
              <a:t>       </a:t>
            </a:r>
            <a:r>
              <a:rPr lang="zh-CN" altLang="en-US" sz="2400" dirty="0">
                <a:solidFill>
                  <a:srgbClr val="002060"/>
                </a:solidFill>
                <a:ea typeface="宋体" panose="02010600030101010101" pitchFamily="2" charset="-122"/>
                <a:sym typeface="+mn-ea"/>
              </a:rPr>
              <a:t>。。。。。。</a:t>
            </a: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StaticClass</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37219" name="内容占位符 2"/>
          <p:cNvSpPr>
            <a:spLocks noGrp="1"/>
          </p:cNvSpPr>
          <p:nvPr>
            <p:ph idx="4294967295"/>
          </p:nvPr>
        </p:nvSpPr>
        <p:spPr>
          <a:xfrm>
            <a:off x="1338872" y="976652"/>
            <a:ext cx="7537450" cy="5040312"/>
          </a:xfrm>
        </p:spPr>
        <p:txBody>
          <a:bodyPr>
            <a:normAutofit lnSpcReduction="20000"/>
          </a:bodyPr>
          <a:p>
            <a:pPr marL="361950" indent="-361950" eaLnBrk="1" hangingPunct="1">
              <a:buFont typeface="Times"/>
              <a:buNone/>
            </a:pPr>
            <a:r>
              <a:rPr lang="en-US" sz="1700">
                <a:solidFill>
                  <a:srgbClr val="002060"/>
                </a:solidFill>
                <a:ea typeface="宋体" panose="02010600030101010101" pitchFamily="2" charset="-122"/>
              </a:rPr>
              <a:t>1  public class StaticClass {</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2      public static void changInt(int a, int b) {</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3          System.out.println("</a:t>
            </a:r>
            <a:r>
              <a:rPr lang="zh-CN" altLang="en-US" sz="1700">
                <a:solidFill>
                  <a:srgbClr val="002060"/>
                </a:solidFill>
                <a:ea typeface="宋体" panose="02010600030101010101" pitchFamily="2" charset="-122"/>
              </a:rPr>
              <a:t>重载方法</a:t>
            </a:r>
            <a:r>
              <a:rPr lang="en-US" sz="1700">
                <a:solidFill>
                  <a:srgbClr val="002060"/>
                </a:solidFill>
                <a:ea typeface="宋体" panose="02010600030101010101" pitchFamily="2" charset="-122"/>
              </a:rPr>
              <a:t>1");</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4          a += 10;</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5          b -= 10;</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6          System.out.println("a = " + a + " b = " + b);</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7      }</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8  </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9      public static void changInt(int a, int b, int c) {</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10         System.out.println("</a:t>
            </a:r>
            <a:r>
              <a:rPr lang="zh-CN" altLang="en-US" sz="1700">
                <a:solidFill>
                  <a:srgbClr val="002060"/>
                </a:solidFill>
                <a:ea typeface="宋体" panose="02010600030101010101" pitchFamily="2" charset="-122"/>
              </a:rPr>
              <a:t>重载方法</a:t>
            </a:r>
            <a:r>
              <a:rPr lang="en-US" sz="1700">
                <a:solidFill>
                  <a:srgbClr val="002060"/>
                </a:solidFill>
                <a:ea typeface="宋体" panose="02010600030101010101" pitchFamily="2" charset="-122"/>
              </a:rPr>
              <a:t>2");</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11     }</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12 </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13    public static void changInt(float a, int b) {</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14         System.out.println("</a:t>
            </a:r>
            <a:r>
              <a:rPr lang="zh-CN" altLang="en-US" sz="1700">
                <a:solidFill>
                  <a:srgbClr val="002060"/>
                </a:solidFill>
                <a:ea typeface="宋体" panose="02010600030101010101" pitchFamily="2" charset="-122"/>
              </a:rPr>
              <a:t>重载方法</a:t>
            </a:r>
            <a:r>
              <a:rPr lang="en-US" sz="1700">
                <a:solidFill>
                  <a:srgbClr val="002060"/>
                </a:solidFill>
                <a:ea typeface="宋体" panose="02010600030101010101" pitchFamily="2" charset="-122"/>
              </a:rPr>
              <a:t>3");</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15     }</a:t>
            </a:r>
            <a:endParaRPr lang="en-US" sz="1700">
              <a:solidFill>
                <a:srgbClr val="002060"/>
              </a:solidFill>
              <a:ea typeface="宋体" panose="02010600030101010101" pitchFamily="2" charset="-122"/>
            </a:endParaRPr>
          </a:p>
          <a:p>
            <a:pPr marL="361950" indent="-361950" eaLnBrk="1" hangingPunct="1">
              <a:buFont typeface="Times"/>
              <a:buNone/>
            </a:pPr>
            <a:r>
              <a:rPr lang="en-US" sz="1700">
                <a:solidFill>
                  <a:srgbClr val="002060"/>
                </a:solidFill>
                <a:ea typeface="宋体" panose="02010600030101010101" pitchFamily="2" charset="-122"/>
              </a:rPr>
              <a:t>16 }</a:t>
            </a:r>
            <a:endParaRPr lang="en-US" sz="170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TestOverloading</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38243" name="内容占位符 2"/>
          <p:cNvSpPr>
            <a:spLocks noGrp="1"/>
          </p:cNvSpPr>
          <p:nvPr>
            <p:ph idx="4294967295"/>
          </p:nvPr>
        </p:nvSpPr>
        <p:spPr>
          <a:xfrm>
            <a:off x="1115987" y="1107778"/>
            <a:ext cx="7537450" cy="4816475"/>
          </a:xfrm>
        </p:spPr>
        <p:txBody>
          <a:bodyPr/>
          <a:p>
            <a:pPr marL="361950" indent="-361950" eaLnBrk="1" hangingPunct="1">
              <a:buFont typeface="Times"/>
              <a:buNone/>
            </a:pPr>
            <a:r>
              <a:rPr lang="en-US" sz="1700" dirty="0">
                <a:solidFill>
                  <a:srgbClr val="002060"/>
                </a:solidFill>
                <a:ea typeface="宋体" panose="02010600030101010101" pitchFamily="2" charset="-122"/>
              </a:rPr>
              <a:t>1  public class </a:t>
            </a:r>
            <a:r>
              <a:rPr lang="en-US" sz="1700" dirty="0" err="1">
                <a:solidFill>
                  <a:srgbClr val="002060"/>
                </a:solidFill>
                <a:ea typeface="宋体" panose="02010600030101010101" pitchFamily="2" charset="-122"/>
              </a:rPr>
              <a:t>TestOverLoading</a:t>
            </a:r>
            <a:r>
              <a:rPr lang="en-US" sz="1700" dirty="0">
                <a:solidFill>
                  <a:srgbClr val="002060"/>
                </a:solidFill>
                <a:ea typeface="宋体" panose="02010600030101010101" pitchFamily="2" charset="-122"/>
              </a:rPr>
              <a:t>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2      public static void main(String[] </a:t>
            </a:r>
            <a:r>
              <a:rPr lang="en-US" sz="1700" dirty="0" err="1">
                <a:solidFill>
                  <a:srgbClr val="002060"/>
                </a:solidFill>
                <a:ea typeface="宋体" panose="02010600030101010101" pitchFamily="2" charset="-122"/>
              </a:rPr>
              <a:t>args</a:t>
            </a:r>
            <a:r>
              <a:rPr lang="en-US" sz="1700" dirty="0">
                <a:solidFill>
                  <a:srgbClr val="002060"/>
                </a:solidFill>
                <a:ea typeface="宋体" panose="02010600030101010101" pitchFamily="2" charset="-122"/>
              </a:rPr>
              <a:t>)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3          </a:t>
            </a:r>
            <a:r>
              <a:rPr lang="en-US" sz="1700" dirty="0" err="1">
                <a:solidFill>
                  <a:srgbClr val="002060"/>
                </a:solidFill>
                <a:ea typeface="宋体" panose="02010600030101010101" pitchFamily="2" charset="-122"/>
              </a:rPr>
              <a:t>int</a:t>
            </a:r>
            <a:r>
              <a:rPr lang="en-US" sz="1700" dirty="0">
                <a:solidFill>
                  <a:srgbClr val="002060"/>
                </a:solidFill>
                <a:ea typeface="宋体" panose="02010600030101010101" pitchFamily="2" charset="-122"/>
              </a:rPr>
              <a:t> x = 5, y = 16;</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4          </a:t>
            </a:r>
            <a:r>
              <a:rPr lang="en-US" sz="1700" dirty="0" err="1">
                <a:solidFill>
                  <a:srgbClr val="002060"/>
                </a:solidFill>
                <a:ea typeface="宋体" panose="02010600030101010101" pitchFamily="2" charset="-122"/>
              </a:rPr>
              <a:t>StaticClass.changInt</a:t>
            </a:r>
            <a:r>
              <a:rPr lang="en-US" sz="1700" dirty="0">
                <a:solidFill>
                  <a:srgbClr val="002060"/>
                </a:solidFill>
                <a:ea typeface="宋体" panose="02010600030101010101" pitchFamily="2" charset="-122"/>
              </a:rPr>
              <a:t>(x, y);</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5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6          </a:t>
            </a:r>
            <a:r>
              <a:rPr lang="en-US" sz="1700" dirty="0" err="1">
                <a:solidFill>
                  <a:srgbClr val="002060"/>
                </a:solidFill>
                <a:ea typeface="宋体" panose="02010600030101010101" pitchFamily="2" charset="-122"/>
              </a:rPr>
              <a:t>int</a:t>
            </a:r>
            <a:r>
              <a:rPr lang="en-US" sz="1700" dirty="0">
                <a:solidFill>
                  <a:srgbClr val="002060"/>
                </a:solidFill>
                <a:ea typeface="宋体" panose="02010600030101010101" pitchFamily="2" charset="-122"/>
              </a:rPr>
              <a:t> z = 30;</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7          </a:t>
            </a:r>
            <a:r>
              <a:rPr lang="en-US" sz="1700" dirty="0" err="1">
                <a:solidFill>
                  <a:srgbClr val="002060"/>
                </a:solidFill>
                <a:ea typeface="宋体" panose="02010600030101010101" pitchFamily="2" charset="-122"/>
              </a:rPr>
              <a:t>StaticClass.changInt</a:t>
            </a:r>
            <a:r>
              <a:rPr lang="en-US" sz="1700" dirty="0">
                <a:solidFill>
                  <a:srgbClr val="002060"/>
                </a:solidFill>
                <a:ea typeface="宋体" panose="02010600030101010101" pitchFamily="2" charset="-122"/>
              </a:rPr>
              <a:t>(x, y, z);</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8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9          float f = 12.34f;</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10         </a:t>
            </a:r>
            <a:r>
              <a:rPr lang="en-US" sz="1700" dirty="0" err="1">
                <a:solidFill>
                  <a:srgbClr val="002060"/>
                </a:solidFill>
                <a:ea typeface="宋体" panose="02010600030101010101" pitchFamily="2" charset="-122"/>
              </a:rPr>
              <a:t>StaticClass.changInt</a:t>
            </a:r>
            <a:r>
              <a:rPr lang="en-US" sz="1700" dirty="0">
                <a:solidFill>
                  <a:srgbClr val="002060"/>
                </a:solidFill>
                <a:ea typeface="宋体" panose="02010600030101010101" pitchFamily="2" charset="-122"/>
              </a:rPr>
              <a:t>(f, z);</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11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12 }</a:t>
            </a:r>
            <a:endParaRPr lang="en-US" sz="17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348105"/>
            <a:ext cx="9527540" cy="3949700"/>
          </a:xfrm>
        </p:spPr>
        <p:txBody>
          <a:bodyPr>
            <a:normAutofit/>
          </a:bodyPr>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定义一个</a:t>
            </a:r>
            <a:r>
              <a:rPr lang="en-US" altLang="zh-CN" dirty="0">
                <a:ea typeface="宋体" panose="02010600030101010101" pitchFamily="2" charset="-122"/>
                <a:sym typeface="+mn-ea"/>
              </a:rPr>
              <a:t>Math03</a:t>
            </a:r>
            <a:r>
              <a:rPr lang="zh-CN" altLang="en-US" dirty="0">
                <a:ea typeface="宋体" panose="02010600030101010101" pitchFamily="2" charset="-122"/>
                <a:sym typeface="+mn-ea"/>
              </a:rPr>
              <a:t>类，添加</a:t>
            </a:r>
            <a:r>
              <a:rPr lang="zh-CN" altLang="en-US" dirty="0">
                <a:ea typeface="宋体" panose="02010600030101010101" pitchFamily="2" charset="-122"/>
                <a:sym typeface="+mn-ea"/>
              </a:rPr>
              <a:t>两个重载的</a:t>
            </a:r>
            <a:r>
              <a:rPr lang="en-US" altLang="zh-CN" dirty="0">
                <a:ea typeface="宋体" panose="02010600030101010101" pitchFamily="2" charset="-122"/>
                <a:sym typeface="+mn-ea"/>
              </a:rPr>
              <a:t>div</a:t>
            </a:r>
            <a:r>
              <a:rPr lang="zh-CN" altLang="en-US" dirty="0">
                <a:ea typeface="宋体" panose="02010600030101010101" pitchFamily="2" charset="-122"/>
                <a:sym typeface="+mn-ea"/>
              </a:rPr>
              <a:t>方法</a:t>
            </a:r>
            <a:endParaRPr lang="zh-CN" altLang="en-US" dirty="0">
              <a:ea typeface="宋体" panose="02010600030101010101" pitchFamily="2" charset="-122"/>
              <a:sym typeface="+mn-ea"/>
            </a:endParaRPr>
          </a:p>
          <a:p>
            <a:pPr marL="800100" lvl="1" indent="-354330" eaLnBrk="1" hangingPunct="1"/>
            <a:r>
              <a:rPr lang="zh-CN" altLang="en-US" dirty="0">
                <a:ea typeface="宋体" panose="02010600030101010101" pitchFamily="2" charset="-122"/>
                <a:sym typeface="+mn-ea"/>
              </a:rPr>
              <a:t>第一个方法有</a:t>
            </a:r>
            <a:r>
              <a:rPr lang="zh-CN" dirty="0">
                <a:ea typeface="宋体" panose="02010600030101010101" pitchFamily="2" charset="-122"/>
                <a:sym typeface="+mn-ea"/>
              </a:rPr>
              <a:t>两个</a:t>
            </a:r>
            <a:r>
              <a:rPr lang="en-US" altLang="zh-CN" dirty="0">
                <a:ea typeface="宋体" panose="02010600030101010101" pitchFamily="2" charset="-122"/>
                <a:sym typeface="+mn-ea"/>
              </a:rPr>
              <a:t>double</a:t>
            </a:r>
            <a:r>
              <a:rPr lang="zh-CN" altLang="en-US" dirty="0">
                <a:ea typeface="宋体" panose="02010600030101010101" pitchFamily="2" charset="-122"/>
                <a:sym typeface="+mn-ea"/>
              </a:rPr>
              <a:t>参数，计算两数相除并返回</a:t>
            </a:r>
            <a:endParaRPr lang="zh-CN" altLang="en-US" dirty="0">
              <a:ea typeface="宋体" panose="02010600030101010101" pitchFamily="2" charset="-122"/>
            </a:endParaRPr>
          </a:p>
          <a:p>
            <a:pPr marL="800100" lvl="1" indent="-354330" eaLnBrk="1" hangingPunct="1"/>
            <a:r>
              <a:rPr lang="zh-CN" altLang="en-US" dirty="0">
                <a:ea typeface="宋体" panose="02010600030101010101" pitchFamily="2" charset="-122"/>
                <a:sym typeface="+mn-ea"/>
              </a:rPr>
              <a:t>第二个方法有两个</a:t>
            </a:r>
            <a:r>
              <a:rPr lang="en-US" dirty="0">
                <a:ea typeface="宋体" panose="02010600030101010101" pitchFamily="2" charset="-122"/>
                <a:sym typeface="+mn-ea"/>
              </a:rPr>
              <a:t>float</a:t>
            </a:r>
            <a:r>
              <a:rPr lang="zh-CN" altLang="en-US" dirty="0">
                <a:ea typeface="宋体" panose="02010600030101010101" pitchFamily="2" charset="-122"/>
                <a:sym typeface="+mn-ea"/>
              </a:rPr>
              <a:t>参数，计算两数相除并返回</a:t>
            </a:r>
            <a:endParaRPr lang="zh-CN" altLang="en-US" dirty="0">
              <a:ea typeface="宋体" panose="02010600030101010101" pitchFamily="2" charset="-122"/>
              <a:sym typeface="+mn-ea"/>
            </a:endParaRPr>
          </a:p>
          <a:p>
            <a:pPr marL="457200" lvl="1" indent="-457200" algn="l" eaLnBrk="1" hangingPunct="1">
              <a:lnSpc>
                <a:spcPct val="140000"/>
              </a:lnSpc>
              <a:spcBef>
                <a:spcPts val="1000"/>
              </a:spcBef>
              <a:buClr>
                <a:srgbClr val="ED7D31"/>
              </a:buClr>
              <a:buSzTx/>
              <a:buFont typeface="+mj-lt"/>
              <a:buAutoNum type="arabicPeriod" startAt="2"/>
            </a:pPr>
            <a:r>
              <a:rPr lang="zh-CN" altLang="en-US" sz="2400" dirty="0">
                <a:ea typeface="宋体" panose="02010600030101010101" pitchFamily="2" charset="-122"/>
                <a:sym typeface="+mn-ea"/>
              </a:rPr>
              <a:t>创建一个</a:t>
            </a:r>
            <a:r>
              <a:rPr lang="en-US" altLang="zh-CN" sz="2400" dirty="0">
                <a:ea typeface="宋体" panose="02010600030101010101" pitchFamily="2" charset="-122"/>
                <a:sym typeface="+mn-ea"/>
              </a:rPr>
              <a:t>TestMath03</a:t>
            </a:r>
            <a:r>
              <a:rPr lang="zh-CN" altLang="en-US" sz="2400" dirty="0">
                <a:ea typeface="宋体" panose="02010600030101010101" pitchFamily="2" charset="-122"/>
                <a:sym typeface="+mn-ea"/>
              </a:rPr>
              <a:t>类，在main方法中调用</a:t>
            </a:r>
            <a:r>
              <a:rPr lang="en-US" altLang="zh-CN" sz="2400" dirty="0">
                <a:ea typeface="宋体" panose="02010600030101010101" pitchFamily="2" charset="-122"/>
                <a:sym typeface="+mn-ea"/>
              </a:rPr>
              <a:t>Math03</a:t>
            </a:r>
            <a:r>
              <a:rPr lang="zh-CN" altLang="en-US" sz="2400" dirty="0">
                <a:ea typeface="宋体" panose="02010600030101010101" pitchFamily="2" charset="-122"/>
                <a:sym typeface="+mn-ea"/>
              </a:rPr>
              <a:t>类的两个重载div方法打印</a:t>
            </a:r>
            <a:endParaRPr lang="zh-CN" altLang="en-US" sz="2400"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en-US" dirty="0">
              <a:ea typeface="宋体" panose="02010600030101010101" pitchFamily="2" charset="-122"/>
            </a:endParaRPr>
          </a:p>
          <a:p>
            <a:pPr marL="0" indent="0" eaLnBrk="1" hangingPunct="1">
              <a:lnSpc>
                <a:spcPct val="100000"/>
              </a:lnSpc>
              <a:buClr>
                <a:srgbClr val="ED7D31"/>
              </a:buClr>
              <a:buFont typeface="+mj-lt"/>
              <a:buNone/>
            </a:pPr>
            <a:endParaRPr lang="zh-CN" altLang="en-US"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2352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214245"/>
            <a:ext cx="4912360" cy="3117850"/>
          </a:xfrm>
          <a:prstGeom prst="rect">
            <a:avLst/>
          </a:prstGeom>
          <a:noFill/>
        </p:spPr>
        <p:txBody>
          <a:bodyPr wrap="square" rtlCol="0">
            <a:spAutoFit/>
          </a:bodyPr>
          <a:lstStyle/>
          <a:p>
            <a:pPr marR="0" lvl="0" indent="0" algn="l" defTabSz="914400" rtl="0" eaLnBrk="1" fontAlgn="auto" latinLnBrk="0" hangingPunct="1">
              <a:lnSpc>
                <a:spcPct val="18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zh-CN" altLang="en-US" sz="2400" dirty="0">
                <a:latin typeface="+mj-ea"/>
                <a:ea typeface="+mj-ea"/>
                <a:cs typeface="+mj-ea"/>
                <a:sym typeface="+mn-ea"/>
              </a:rPr>
              <a:t>使用类和对象</a:t>
            </a:r>
            <a:endParaRPr lang="zh-CN" altLang="en-US" sz="2400" dirty="0">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r>
              <a:rPr lang="en-US" altLang="zh-CN" sz="2400" noProof="0" dirty="0">
                <a:ln>
                  <a:noFill/>
                </a:ln>
                <a:solidFill>
                  <a:srgbClr val="ED7D31"/>
                </a:solidFill>
                <a:effectLst/>
                <a:uLnTx/>
                <a:uFillTx/>
                <a:latin typeface="+mj-ea"/>
                <a:ea typeface="+mj-ea"/>
                <a:cs typeface="+mj-ea"/>
                <a:sym typeface="思源黑体 CN Light" panose="020B0300000000000000" pitchFamily="34" charset="-122"/>
              </a:rPr>
              <a:t>2.</a:t>
            </a:r>
            <a:r>
              <a:rPr lang="zh-CN" altLang="en-US" sz="2400" dirty="0">
                <a:solidFill>
                  <a:srgbClr val="ED7D31"/>
                </a:solidFill>
                <a:latin typeface="+mj-ea"/>
                <a:ea typeface="+mj-ea"/>
                <a:cs typeface="+mj-ea"/>
                <a:sym typeface="+mn-ea"/>
              </a:rPr>
              <a:t>对象属性的初始化</a:t>
            </a:r>
            <a:endParaRPr lang="zh-CN" altLang="en-US" sz="2400" dirty="0">
              <a:solidFill>
                <a:srgbClr val="ED7D31"/>
              </a:solidFill>
              <a:latin typeface="+mj-ea"/>
              <a:ea typeface="+mj-ea"/>
              <a:cs typeface="+mj-ea"/>
              <a:sym typeface="+mn-ea"/>
            </a:endParaRPr>
          </a:p>
          <a:p>
            <a:pPr marR="0" lvl="0" indent="0" algn="l" defTabSz="914400" rtl="0" eaLnBrk="1" fontAlgn="auto" latinLnBrk="0" hangingPunct="1">
              <a:lnSpc>
                <a:spcPct val="180000"/>
              </a:lnSpc>
              <a:spcBef>
                <a:spcPts val="0"/>
              </a:spcBef>
              <a:spcAft>
                <a:spcPts val="0"/>
              </a:spcAft>
              <a:buClrTx/>
              <a:buSzTx/>
              <a:buFont typeface="+mj-lt"/>
              <a:buNone/>
              <a:defRPr/>
            </a:pPr>
            <a:r>
              <a:rPr lang="en-US" altLang="zh-CN" sz="2400" noProof="0" dirty="0">
                <a:ln>
                  <a:noFill/>
                </a:ln>
                <a:effectLst/>
                <a:uLnTx/>
                <a:uFillTx/>
                <a:latin typeface="+mj-ea"/>
                <a:ea typeface="+mj-ea"/>
                <a:cs typeface="+mj-ea"/>
                <a:sym typeface="思源黑体 CN Light" panose="020B0300000000000000" pitchFamily="34" charset="-122"/>
              </a:rPr>
              <a:t>3.</a:t>
            </a:r>
            <a:r>
              <a:rPr lang="en-US" sz="2400" dirty="0">
                <a:latin typeface="+mj-ea"/>
                <a:ea typeface="+mj-ea"/>
                <a:cs typeface="+mj-ea"/>
                <a:sym typeface="+mn-ea"/>
              </a:rPr>
              <a:t>Java</a:t>
            </a:r>
            <a:r>
              <a:rPr lang="zh-CN" altLang="en-US" sz="2400" dirty="0">
                <a:latin typeface="+mj-ea"/>
                <a:ea typeface="+mj-ea"/>
                <a:cs typeface="+mj-ea"/>
                <a:sym typeface="+mn-ea"/>
              </a:rPr>
              <a:t>内存管理与垃圾回收</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a:p>
            <a:pPr marR="0" lvl="0" indent="0" algn="l" defTabSz="914400" rtl="0" eaLnBrk="1" fontAlgn="auto" latinLnBrk="0" hangingPunct="1">
              <a:lnSpc>
                <a:spcPct val="18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solidFill>
                <a:srgbClr val="ED7D31"/>
              </a:solidFill>
              <a:effectLst/>
              <a:uLnTx/>
              <a:uFillTx/>
              <a:latin typeface="+mj-ea"/>
              <a:ea typeface="+mj-ea"/>
              <a:cs typeface="+mj-ea"/>
              <a:sym typeface="+mn-ea"/>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第五章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类和对象</a:t>
            </a:r>
            <a:endPar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使用类和对象</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类和对象</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1059815" y="1160145"/>
            <a:ext cx="9527540" cy="4484370"/>
          </a:xfrm>
        </p:spPr>
        <p:txBody>
          <a:bodyPr>
            <a:normAutofit fontScale="80000"/>
          </a:bodyPr>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类是对现实世界事物的描述，也叫抽象定义</a:t>
            </a:r>
            <a:endParaRPr lang="zh-CN" altLang="en-US" dirty="0">
              <a:ea typeface="宋体" panose="02010600030101010101" pitchFamily="2" charset="-122"/>
              <a:sym typeface="+mn-ea"/>
            </a:endParaRPr>
          </a:p>
          <a:p>
            <a:pPr marL="704850" lvl="1" indent="-361950" algn="l" eaLnBrk="1" hangingPunct="1">
              <a:lnSpc>
                <a:spcPct val="90000"/>
              </a:lnSpc>
              <a:buClrTx/>
              <a:buSzTx/>
              <a:buChar char="•"/>
            </a:pPr>
            <a:r>
              <a:rPr lang="zh-CN" altLang="en-US" sz="2400" dirty="0">
                <a:ea typeface="宋体" panose="02010600030101010101" pitchFamily="2" charset="-122"/>
                <a:sym typeface="+mn-ea"/>
              </a:rPr>
              <a:t> 成员包括属性和方法</a:t>
            </a:r>
            <a:endParaRPr lang="zh-CN" altLang="en-US" sz="2400" dirty="0">
              <a:ea typeface="宋体" panose="02010600030101010101" pitchFamily="2" charset="-122"/>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对象与现实世界的具体事物相对应</a:t>
            </a:r>
            <a:endParaRPr lang="zh-CN" altLang="en-US" dirty="0">
              <a:ea typeface="宋体" panose="02010600030101010101" pitchFamily="2" charset="-122"/>
              <a:sym typeface="+mn-ea"/>
            </a:endParaRPr>
          </a:p>
          <a:p>
            <a:pPr marL="704850" lvl="1" indent="-361950" algn="l" eaLnBrk="1" hangingPunct="1">
              <a:lnSpc>
                <a:spcPct val="90000"/>
              </a:lnSpc>
              <a:buClrTx/>
              <a:buSzTx/>
              <a:buChar char="•"/>
            </a:pPr>
            <a:r>
              <a:rPr lang="zh-CN" altLang="en-US" sz="2400" dirty="0">
                <a:ea typeface="宋体" panose="02010600030101010101" pitchFamily="2" charset="-122"/>
                <a:sym typeface="+mn-ea"/>
              </a:rPr>
              <a:t> 对象是类的实例</a:t>
            </a:r>
            <a:endParaRPr lang="zh-CN" altLang="en-US" sz="2400"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对象通过</a:t>
            </a:r>
            <a:r>
              <a:rPr lang="en-US" dirty="0">
                <a:ea typeface="宋体" panose="02010600030101010101" pitchFamily="2" charset="-122"/>
                <a:sym typeface="+mn-ea"/>
              </a:rPr>
              <a:t>new</a:t>
            </a:r>
            <a:r>
              <a:rPr lang="zh-CN" altLang="en-US" dirty="0">
                <a:ea typeface="宋体" panose="02010600030101010101" pitchFamily="2" charset="-122"/>
                <a:sym typeface="+mn-ea"/>
              </a:rPr>
              <a:t>语句来创建</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引用变量用来引用对象。例如：</a:t>
            </a:r>
            <a:r>
              <a:rPr lang="en-US" altLang="zh-CN" dirty="0">
                <a:ea typeface="宋体" panose="02010600030101010101" pitchFamily="2" charset="-122"/>
                <a:sym typeface="+mn-ea"/>
              </a:rPr>
              <a:t>  </a:t>
            </a:r>
            <a:endParaRPr lang="en-US" altLang="zh-CN" dirty="0">
              <a:ea typeface="宋体" panose="02010600030101010101" pitchFamily="2" charset="-122"/>
              <a:sym typeface="+mn-ea"/>
            </a:endParaRPr>
          </a:p>
          <a:p>
            <a:pPr marL="704850" lvl="1" indent="-361950" eaLnBrk="1" hangingPunct="1"/>
            <a:r>
              <a:rPr lang="zh-CN" altLang="en-US" sz="2400" dirty="0">
                <a:ea typeface="宋体" panose="02010600030101010101" pitchFamily="2" charset="-122"/>
                <a:sym typeface="+mn-ea"/>
              </a:rPr>
              <a:t>声明</a:t>
            </a:r>
            <a:r>
              <a:rPr lang="en-US" sz="2400" dirty="0">
                <a:ea typeface="宋体" panose="02010600030101010101" pitchFamily="2" charset="-122"/>
                <a:sym typeface="+mn-ea"/>
              </a:rPr>
              <a:t>Teacher</a:t>
            </a:r>
            <a:r>
              <a:rPr lang="zh-CN" altLang="en-US" sz="2400" dirty="0">
                <a:ea typeface="宋体" panose="02010600030101010101" pitchFamily="2" charset="-122"/>
                <a:sym typeface="+mn-ea"/>
              </a:rPr>
              <a:t>类型的引用变量</a:t>
            </a:r>
            <a:r>
              <a:rPr lang="en-US" sz="2400" dirty="0">
                <a:ea typeface="宋体" panose="02010600030101010101" pitchFamily="2" charset="-122"/>
                <a:sym typeface="+mn-ea"/>
              </a:rPr>
              <a:t>t</a:t>
            </a:r>
            <a:r>
              <a:rPr lang="zh-CN" altLang="en-US" sz="2400" dirty="0">
                <a:ea typeface="宋体" panose="02010600030101010101" pitchFamily="2" charset="-122"/>
                <a:sym typeface="+mn-ea"/>
              </a:rPr>
              <a:t>：</a:t>
            </a:r>
            <a:endParaRPr lang="zh-CN" altLang="en-US" sz="2400" dirty="0">
              <a:ea typeface="宋体" panose="02010600030101010101" pitchFamily="2" charset="-122"/>
            </a:endParaRPr>
          </a:p>
          <a:p>
            <a:pPr marL="704850" lvl="1" indent="-361950" eaLnBrk="1" hangingPunct="1">
              <a:buFont typeface="Times"/>
              <a:buNone/>
            </a:pPr>
            <a:r>
              <a:rPr lang="zh-CN" altLang="en-US" sz="2400" dirty="0">
                <a:ea typeface="宋体" panose="02010600030101010101" pitchFamily="2" charset="-122"/>
                <a:sym typeface="+mn-ea"/>
              </a:rPr>
              <a:t>	 </a:t>
            </a:r>
            <a:r>
              <a:rPr lang="en-US" sz="2400" dirty="0">
                <a:ea typeface="宋体" panose="02010600030101010101" pitchFamily="2" charset="-122"/>
                <a:sym typeface="+mn-ea"/>
              </a:rPr>
              <a:t>Teacher t; </a:t>
            </a:r>
            <a:endParaRPr lang="en-US" sz="2400" dirty="0">
              <a:ea typeface="宋体" panose="02010600030101010101" pitchFamily="2" charset="-122"/>
            </a:endParaRPr>
          </a:p>
          <a:p>
            <a:pPr marL="704850" lvl="1" indent="-361950" eaLnBrk="1" hangingPunct="1"/>
            <a:r>
              <a:rPr lang="zh-CN" altLang="en-US" sz="2400" dirty="0">
                <a:ea typeface="宋体" panose="02010600030101010101" pitchFamily="2" charset="-122"/>
                <a:sym typeface="+mn-ea"/>
              </a:rPr>
              <a:t>使用引用变量引用对象：</a:t>
            </a:r>
            <a:endParaRPr lang="zh-CN" altLang="en-US" sz="2400" dirty="0">
              <a:ea typeface="宋体" panose="02010600030101010101" pitchFamily="2" charset="-122"/>
            </a:endParaRPr>
          </a:p>
          <a:p>
            <a:pPr marL="704850" lvl="1" indent="-361950" eaLnBrk="1" hangingPunct="1">
              <a:buFont typeface="Times"/>
              <a:buNone/>
            </a:pPr>
            <a:r>
              <a:rPr lang="zh-CN" altLang="en-US" sz="2400" dirty="0">
                <a:ea typeface="宋体" panose="02010600030101010101" pitchFamily="2" charset="-122"/>
                <a:sym typeface="+mn-ea"/>
              </a:rPr>
              <a:t>	</a:t>
            </a:r>
            <a:r>
              <a:rPr lang="en-US" sz="2400" dirty="0">
                <a:ea typeface="宋体" panose="02010600030101010101" pitchFamily="2" charset="-122"/>
                <a:sym typeface="+mn-ea"/>
              </a:rPr>
              <a:t>t = new Teacher();</a:t>
            </a:r>
            <a:endParaRPr lang="en-US" sz="2400"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44387" name="内容占位符 2"/>
          <p:cNvSpPr>
            <a:spLocks noGrp="1"/>
          </p:cNvSpPr>
          <p:nvPr>
            <p:ph idx="4294967295"/>
          </p:nvPr>
        </p:nvSpPr>
        <p:spPr>
          <a:xfrm>
            <a:off x="1070902" y="1068092"/>
            <a:ext cx="7537450" cy="5040312"/>
          </a:xfrm>
        </p:spPr>
        <p:txBody>
          <a:bodyPr/>
          <a:p>
            <a:pPr marL="361950" indent="-361950" eaLnBrk="1" hangingPunct="1">
              <a:spcBef>
                <a:spcPct val="0"/>
              </a:spcBef>
              <a:buFont typeface="Times"/>
              <a:buNone/>
            </a:pPr>
            <a:r>
              <a:rPr lang="en-US" sz="1700" dirty="0">
                <a:solidFill>
                  <a:srgbClr val="002060"/>
                </a:solidFill>
                <a:ea typeface="宋体" panose="02010600030101010101" pitchFamily="2" charset="-122"/>
              </a:rPr>
              <a:t>1  public class Teacher {</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2      String name;</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3      String gender = "</a:t>
            </a:r>
            <a:r>
              <a:rPr lang="zh-CN" altLang="en-US" sz="1700" dirty="0">
                <a:solidFill>
                  <a:srgbClr val="002060"/>
                </a:solidFill>
                <a:ea typeface="宋体" panose="02010600030101010101" pitchFamily="2" charset="-122"/>
              </a:rPr>
              <a:t>男</a:t>
            </a:r>
            <a:r>
              <a:rPr lang="en-US" sz="1700" dirty="0">
                <a:solidFill>
                  <a:srgbClr val="002060"/>
                </a:solidFill>
                <a:ea typeface="宋体" panose="02010600030101010101" pitchFamily="2" charset="-122"/>
              </a:rPr>
              <a:t>";</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4      </a:t>
            </a:r>
            <a:r>
              <a:rPr lang="en-US" sz="1700" dirty="0" err="1">
                <a:solidFill>
                  <a:srgbClr val="002060"/>
                </a:solidFill>
                <a:ea typeface="宋体" panose="02010600030101010101" pitchFamily="2" charset="-122"/>
              </a:rPr>
              <a:t>int</a:t>
            </a:r>
            <a:r>
              <a:rPr lang="en-US" sz="1700" dirty="0">
                <a:solidFill>
                  <a:srgbClr val="002060"/>
                </a:solidFill>
                <a:ea typeface="宋体" panose="02010600030101010101" pitchFamily="2" charset="-122"/>
              </a:rPr>
              <a:t> id = 20;</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5      </a:t>
            </a:r>
            <a:r>
              <a:rPr lang="en-US" sz="1700" dirty="0" err="1">
                <a:solidFill>
                  <a:srgbClr val="002060"/>
                </a:solidFill>
                <a:ea typeface="宋体" panose="02010600030101010101" pitchFamily="2" charset="-122"/>
              </a:rPr>
              <a:t>int</a:t>
            </a:r>
            <a:r>
              <a:rPr lang="en-US" sz="1700" dirty="0">
                <a:solidFill>
                  <a:srgbClr val="002060"/>
                </a:solidFill>
                <a:ea typeface="宋体" panose="02010600030101010101" pitchFamily="2" charset="-122"/>
              </a:rPr>
              <a:t> age = 30;</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6       </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7      public void lecture() {</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8          //...</a:t>
            </a:r>
            <a:r>
              <a:rPr lang="zh-CN" altLang="en-US" sz="1700" dirty="0">
                <a:solidFill>
                  <a:srgbClr val="002060"/>
                </a:solidFill>
                <a:ea typeface="宋体" panose="02010600030101010101" pitchFamily="2" charset="-122"/>
              </a:rPr>
              <a:t>授课</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9      }</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10 </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11     public void </a:t>
            </a:r>
            <a:r>
              <a:rPr lang="en-US" sz="1700" dirty="0" err="1">
                <a:solidFill>
                  <a:srgbClr val="002060"/>
                </a:solidFill>
                <a:ea typeface="宋体" panose="02010600030101010101" pitchFamily="2" charset="-122"/>
              </a:rPr>
              <a:t>assignHomeWork</a:t>
            </a:r>
            <a:r>
              <a:rPr lang="en-US" sz="1700" dirty="0">
                <a:solidFill>
                  <a:srgbClr val="002060"/>
                </a:solidFill>
                <a:ea typeface="宋体" panose="02010600030101010101" pitchFamily="2" charset="-122"/>
              </a:rPr>
              <a:t>() {</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12 	      //...</a:t>
            </a:r>
            <a:r>
              <a:rPr lang="zh-CN" altLang="en-US" sz="1700" dirty="0">
                <a:solidFill>
                  <a:srgbClr val="002060"/>
                </a:solidFill>
                <a:ea typeface="宋体" panose="02010600030101010101" pitchFamily="2" charset="-122"/>
              </a:rPr>
              <a:t>布置作业</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13     }</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14 </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15     public String say() {</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16         String </a:t>
            </a:r>
            <a:r>
              <a:rPr lang="en-US" sz="1700" dirty="0" err="1">
                <a:solidFill>
                  <a:srgbClr val="002060"/>
                </a:solidFill>
                <a:ea typeface="宋体" panose="02010600030101010101" pitchFamily="2" charset="-122"/>
              </a:rPr>
              <a:t>str</a:t>
            </a:r>
            <a:r>
              <a:rPr lang="en-US" sz="1700" dirty="0">
                <a:solidFill>
                  <a:srgbClr val="002060"/>
                </a:solidFill>
                <a:ea typeface="宋体" panose="02010600030101010101" pitchFamily="2" charset="-122"/>
              </a:rPr>
              <a:t> = "</a:t>
            </a:r>
            <a:r>
              <a:rPr lang="zh-CN" altLang="en-US" sz="1700" dirty="0">
                <a:solidFill>
                  <a:srgbClr val="002060"/>
                </a:solidFill>
                <a:ea typeface="宋体" panose="02010600030101010101" pitchFamily="2" charset="-122"/>
              </a:rPr>
              <a:t>我是</a:t>
            </a:r>
            <a:r>
              <a:rPr lang="en-US" sz="1700" dirty="0">
                <a:solidFill>
                  <a:srgbClr val="002060"/>
                </a:solidFill>
                <a:ea typeface="宋体" panose="02010600030101010101" pitchFamily="2" charset="-122"/>
              </a:rPr>
              <a:t>" + name + ", </a:t>
            </a:r>
            <a:r>
              <a:rPr lang="zh-CN" altLang="en-US" sz="1700" dirty="0">
                <a:solidFill>
                  <a:srgbClr val="002060"/>
                </a:solidFill>
                <a:ea typeface="宋体" panose="02010600030101010101" pitchFamily="2" charset="-122"/>
              </a:rPr>
              <a:t>性别</a:t>
            </a:r>
            <a:r>
              <a:rPr lang="en-US" sz="1700" dirty="0">
                <a:solidFill>
                  <a:srgbClr val="002060"/>
                </a:solidFill>
                <a:ea typeface="宋体" panose="02010600030101010101" pitchFamily="2" charset="-122"/>
              </a:rPr>
              <a:t>" + gender +", </a:t>
            </a:r>
            <a:r>
              <a:rPr lang="zh-CN" altLang="en-US" sz="1700" dirty="0">
                <a:solidFill>
                  <a:srgbClr val="002060"/>
                </a:solidFill>
                <a:ea typeface="宋体" panose="02010600030101010101" pitchFamily="2" charset="-122"/>
              </a:rPr>
              <a:t>年龄</a:t>
            </a:r>
            <a:r>
              <a:rPr lang="en-US" sz="1700" dirty="0">
                <a:solidFill>
                  <a:srgbClr val="002060"/>
                </a:solidFill>
                <a:ea typeface="宋体" panose="02010600030101010101" pitchFamily="2" charset="-122"/>
              </a:rPr>
              <a:t>" + age;</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17         return </a:t>
            </a:r>
            <a:r>
              <a:rPr lang="en-US" sz="1700" dirty="0" err="1">
                <a:solidFill>
                  <a:srgbClr val="002060"/>
                </a:solidFill>
                <a:ea typeface="宋体" panose="02010600030101010101" pitchFamily="2" charset="-122"/>
              </a:rPr>
              <a:t>str</a:t>
            </a:r>
            <a:r>
              <a:rPr lang="en-US" sz="1700" dirty="0">
                <a:solidFill>
                  <a:srgbClr val="002060"/>
                </a:solidFill>
                <a:ea typeface="宋体" panose="02010600030101010101" pitchFamily="2" charset="-122"/>
              </a:rPr>
              <a:t>;</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18     }</a:t>
            </a:r>
            <a:endParaRPr lang="en-US" sz="1700" dirty="0">
              <a:solidFill>
                <a:srgbClr val="002060"/>
              </a:solidFill>
              <a:ea typeface="宋体" panose="02010600030101010101" pitchFamily="2" charset="-122"/>
            </a:endParaRPr>
          </a:p>
          <a:p>
            <a:pPr marL="361950" indent="-361950" eaLnBrk="1" hangingPunct="1">
              <a:spcBef>
                <a:spcPct val="0"/>
              </a:spcBef>
              <a:buFont typeface="Times"/>
              <a:buNone/>
            </a:pPr>
            <a:r>
              <a:rPr lang="en-US" sz="1700" dirty="0">
                <a:solidFill>
                  <a:srgbClr val="002060"/>
                </a:solidFill>
                <a:ea typeface="宋体" panose="02010600030101010101" pitchFamily="2" charset="-122"/>
              </a:rPr>
              <a:t>19 }</a:t>
            </a:r>
            <a:endParaRPr lang="en-US" sz="17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TestObject</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4294967295"/>
          </p:nvPr>
        </p:nvSpPr>
        <p:spPr>
          <a:xfrm>
            <a:off x="1062012" y="1160166"/>
            <a:ext cx="7537450" cy="4816475"/>
          </a:xfrm>
        </p:spPr>
        <p:txBody>
          <a:bodyPr/>
          <a:p>
            <a:pPr marL="361950" indent="-361950" eaLnBrk="1" hangingPunct="1">
              <a:buFont typeface="Times"/>
              <a:buNone/>
            </a:pPr>
            <a:r>
              <a:rPr lang="en-US" sz="1700" dirty="0">
                <a:solidFill>
                  <a:srgbClr val="002060"/>
                </a:solidFill>
                <a:ea typeface="宋体" panose="02010600030101010101" pitchFamily="2" charset="-122"/>
              </a:rPr>
              <a:t>1 public class </a:t>
            </a:r>
            <a:r>
              <a:rPr lang="en-US" sz="1700" dirty="0" err="1">
                <a:solidFill>
                  <a:srgbClr val="002060"/>
                </a:solidFill>
                <a:ea typeface="宋体" panose="02010600030101010101" pitchFamily="2" charset="-122"/>
              </a:rPr>
              <a:t>TestObject</a:t>
            </a:r>
            <a:r>
              <a:rPr lang="en-US" sz="1700" dirty="0">
                <a:solidFill>
                  <a:srgbClr val="002060"/>
                </a:solidFill>
                <a:ea typeface="宋体" panose="02010600030101010101" pitchFamily="2" charset="-122"/>
              </a:rPr>
              <a:t>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2     public static void main(String[] </a:t>
            </a:r>
            <a:r>
              <a:rPr lang="en-US" sz="1700" dirty="0" err="1">
                <a:solidFill>
                  <a:srgbClr val="002060"/>
                </a:solidFill>
                <a:ea typeface="宋体" panose="02010600030101010101" pitchFamily="2" charset="-122"/>
              </a:rPr>
              <a:t>args</a:t>
            </a:r>
            <a:r>
              <a:rPr lang="en-US" sz="1700" dirty="0">
                <a:solidFill>
                  <a:srgbClr val="002060"/>
                </a:solidFill>
                <a:ea typeface="宋体" panose="02010600030101010101" pitchFamily="2" charset="-122"/>
              </a:rPr>
              <a:t>)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3         Teacher t = new Teacher();   //</a:t>
            </a:r>
            <a:r>
              <a:rPr lang="zh-CN" altLang="en-US" sz="1700" dirty="0">
                <a:solidFill>
                  <a:srgbClr val="002060"/>
                </a:solidFill>
                <a:ea typeface="宋体" panose="02010600030101010101" pitchFamily="2" charset="-122"/>
              </a:rPr>
              <a:t>引用类型变量</a:t>
            </a:r>
            <a:endParaRPr lang="zh-CN" alt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4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5         t.name = "</a:t>
            </a:r>
            <a:r>
              <a:rPr lang="zh-CN" altLang="en-US" sz="1700" dirty="0">
                <a:solidFill>
                  <a:srgbClr val="002060"/>
                </a:solidFill>
                <a:ea typeface="宋体" panose="02010600030101010101" pitchFamily="2" charset="-122"/>
              </a:rPr>
              <a:t>张三</a:t>
            </a:r>
            <a:r>
              <a:rPr lang="en-US" sz="1700" dirty="0">
                <a:solidFill>
                  <a:srgbClr val="002060"/>
                </a:solidFill>
                <a:ea typeface="宋体" panose="02010600030101010101" pitchFamily="2" charset="-122"/>
              </a:rPr>
              <a:t>";</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6         </a:t>
            </a:r>
            <a:r>
              <a:rPr lang="en-US" sz="1700" dirty="0" err="1">
                <a:solidFill>
                  <a:srgbClr val="002060"/>
                </a:solidFill>
                <a:ea typeface="宋体" panose="02010600030101010101" pitchFamily="2" charset="-122"/>
              </a:rPr>
              <a:t>System.out.println</a:t>
            </a:r>
            <a:r>
              <a:rPr lang="en-US" sz="1700" dirty="0">
                <a:solidFill>
                  <a:srgbClr val="002060"/>
                </a:solidFill>
                <a:ea typeface="宋体" panose="02010600030101010101" pitchFamily="2" charset="-122"/>
              </a:rPr>
              <a:t>(</a:t>
            </a:r>
            <a:r>
              <a:rPr lang="en-US" sz="1700" dirty="0" err="1">
                <a:solidFill>
                  <a:srgbClr val="002060"/>
                </a:solidFill>
                <a:ea typeface="宋体" panose="02010600030101010101" pitchFamily="2" charset="-122"/>
              </a:rPr>
              <a:t>t.gender</a:t>
            </a:r>
            <a:r>
              <a:rPr lang="en-US" sz="1700" dirty="0">
                <a:solidFill>
                  <a:srgbClr val="002060"/>
                </a:solidFill>
                <a:ea typeface="宋体" panose="02010600030101010101" pitchFamily="2" charset="-122"/>
              </a:rPr>
              <a:t>);</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7         </a:t>
            </a:r>
            <a:r>
              <a:rPr lang="en-US" sz="1700" dirty="0" err="1">
                <a:solidFill>
                  <a:srgbClr val="002060"/>
                </a:solidFill>
                <a:ea typeface="宋体" panose="02010600030101010101" pitchFamily="2" charset="-122"/>
              </a:rPr>
              <a:t>System.out.println</a:t>
            </a:r>
            <a:r>
              <a:rPr lang="en-US" sz="1700" dirty="0">
                <a:solidFill>
                  <a:srgbClr val="002060"/>
                </a:solidFill>
                <a:ea typeface="宋体" panose="02010600030101010101" pitchFamily="2" charset="-122"/>
              </a:rPr>
              <a:t>(</a:t>
            </a:r>
            <a:r>
              <a:rPr lang="en-US" sz="1700" dirty="0" err="1">
                <a:solidFill>
                  <a:srgbClr val="002060"/>
                </a:solidFill>
                <a:ea typeface="宋体" panose="02010600030101010101" pitchFamily="2" charset="-122"/>
              </a:rPr>
              <a:t>t.say</a:t>
            </a:r>
            <a:r>
              <a:rPr lang="en-US" sz="1700" dirty="0">
                <a:solidFill>
                  <a:srgbClr val="002060"/>
                </a:solidFill>
                <a:ea typeface="宋体" panose="02010600030101010101" pitchFamily="2" charset="-122"/>
              </a:rPr>
              <a:t>());</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8     }</a:t>
            </a:r>
            <a:endParaRPr lang="en-US" sz="1700" dirty="0">
              <a:solidFill>
                <a:srgbClr val="002060"/>
              </a:solidFill>
              <a:ea typeface="宋体" panose="02010600030101010101" pitchFamily="2" charset="-122"/>
            </a:endParaRPr>
          </a:p>
          <a:p>
            <a:pPr marL="361950" indent="-361950" eaLnBrk="1" hangingPunct="1">
              <a:buFont typeface="Times"/>
              <a:buNone/>
            </a:pPr>
            <a:r>
              <a:rPr lang="en-US" sz="1700" dirty="0">
                <a:solidFill>
                  <a:srgbClr val="002060"/>
                </a:solidFill>
                <a:ea typeface="宋体" panose="02010600030101010101" pitchFamily="2" charset="-122"/>
              </a:rPr>
              <a:t>9 }</a:t>
            </a:r>
            <a:endParaRPr lang="en-US" sz="17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sz="2400">
                <a:ea typeface="宋体" panose="02010600030101010101" pitchFamily="2" charset="-122"/>
                <a:sym typeface="+mn-ea"/>
              </a:rPr>
              <a:t>命名规范（养成好习惯）</a:t>
            </a:r>
            <a:endParaRPr lang="zh-CN"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2"/>
          <p:cNvSpPr>
            <a:spLocks noGrp="1"/>
          </p:cNvSpPr>
          <p:nvPr>
            <p:ph idx="4294967295"/>
          </p:nvPr>
        </p:nvSpPr>
        <p:spPr>
          <a:xfrm>
            <a:off x="1059815" y="1160145"/>
            <a:ext cx="9527540" cy="4484370"/>
          </a:xfrm>
        </p:spPr>
        <p:txBody>
          <a:bodyPr>
            <a:normAutofit lnSpcReduction="20000"/>
          </a:bodyPr>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类名</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sz="2400" dirty="0">
                <a:ea typeface="宋体" panose="02010600030101010101" pitchFamily="2" charset="-122"/>
                <a:sym typeface="+mn-ea"/>
              </a:rPr>
              <a:t> 方法名、参数名、变量、变量名称</a:t>
            </a:r>
            <a:endParaRPr lang="zh-CN" altLang="en-US" sz="2400"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常量命名全部大写</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en-US" dirty="0">
                <a:ea typeface="宋体" panose="02010600030101010101" pitchFamily="2" charset="-122"/>
                <a:sym typeface="+mn-ea"/>
              </a:rPr>
              <a:t> </a:t>
            </a:r>
            <a:r>
              <a:rPr dirty="0">
                <a:ea typeface="宋体" panose="02010600030101010101" pitchFamily="2" charset="-122"/>
                <a:sym typeface="+mn-ea"/>
              </a:rPr>
              <a:t>抽象类命名使用 Abstract 或 Base 开头</a:t>
            </a:r>
            <a:endParaRPr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en-US" dirty="0">
                <a:ea typeface="宋体" panose="02010600030101010101" pitchFamily="2" charset="-122"/>
                <a:sym typeface="+mn-ea"/>
              </a:rPr>
              <a:t>....</a:t>
            </a:r>
            <a:endParaRPr 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dirty="0">
                <a:ea typeface="宋体" panose="02010600030101010101" pitchFamily="2" charset="-122"/>
                <a:sym typeface="+mn-ea"/>
              </a:rPr>
              <a:t>具体可以参考一下《阿里巴巴Java开发手册》</a:t>
            </a: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2"/>
          <p:cNvSpPr>
            <a:spLocks noGrp="1"/>
          </p:cNvSpPr>
          <p:nvPr>
            <p:ph idx="4294967295"/>
          </p:nvPr>
        </p:nvSpPr>
        <p:spPr>
          <a:xfrm>
            <a:off x="1059815" y="1160145"/>
            <a:ext cx="9527540" cy="4974590"/>
          </a:xfrm>
        </p:spPr>
        <p:txBody>
          <a:bodyPr>
            <a:normAutofit lnSpcReduction="10000"/>
          </a:bodyPr>
          <a:p>
            <a:pPr marL="457200" indent="-457200" eaLnBrk="1" hangingPunct="1">
              <a:lnSpc>
                <a:spcPct val="12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练习：</a:t>
            </a:r>
            <a:endParaRPr lang="zh-CN" altLang="en-US" dirty="0">
              <a:ea typeface="宋体" panose="02010600030101010101" pitchFamily="2" charset="-122"/>
            </a:endParaRPr>
          </a:p>
          <a:p>
            <a:pPr marL="914400" lvl="1" indent="-457200" eaLnBrk="1" hangingPunct="1">
              <a:lnSpc>
                <a:spcPct val="120000"/>
              </a:lnSpc>
              <a:buFont typeface="Times New Roman" panose="02020603050405020304" charset="0"/>
              <a:buAutoNum type="arabicPeriod"/>
            </a:pPr>
            <a:r>
              <a:rPr lang="zh-CN" altLang="en-US" dirty="0">
                <a:ea typeface="宋体" panose="02010600030101010101" pitchFamily="2" charset="-122"/>
                <a:sym typeface="+mn-ea"/>
              </a:rPr>
              <a:t>编写一个</a:t>
            </a:r>
            <a:r>
              <a:rPr lang="en-US" dirty="0">
                <a:ea typeface="宋体" panose="02010600030101010101" pitchFamily="2" charset="-122"/>
                <a:sym typeface="+mn-ea"/>
              </a:rPr>
              <a:t>Student</a:t>
            </a:r>
            <a:r>
              <a:rPr lang="zh-CN" altLang="en-US" dirty="0">
                <a:ea typeface="宋体" panose="02010600030101010101" pitchFamily="2" charset="-122"/>
                <a:sym typeface="+mn-ea"/>
              </a:rPr>
              <a:t>类，包含</a:t>
            </a:r>
            <a:r>
              <a:rPr lang="en-US" dirty="0">
                <a:ea typeface="宋体" panose="02010600030101010101" pitchFamily="2" charset="-122"/>
                <a:sym typeface="+mn-ea"/>
              </a:rPr>
              <a:t>name</a:t>
            </a:r>
            <a:r>
              <a:rPr lang="zh-CN" altLang="en-US" dirty="0">
                <a:ea typeface="宋体" panose="02010600030101010101" pitchFamily="2" charset="-122"/>
                <a:sym typeface="+mn-ea"/>
              </a:rPr>
              <a:t>、</a:t>
            </a:r>
            <a:r>
              <a:rPr lang="en-US" dirty="0">
                <a:ea typeface="宋体" panose="02010600030101010101" pitchFamily="2" charset="-122"/>
                <a:sym typeface="+mn-ea"/>
              </a:rPr>
              <a:t>gender</a:t>
            </a:r>
            <a:r>
              <a:rPr lang="zh-CN" altLang="en-US" dirty="0">
                <a:ea typeface="宋体" panose="02010600030101010101" pitchFamily="2" charset="-122"/>
                <a:sym typeface="+mn-ea"/>
              </a:rPr>
              <a:t>、</a:t>
            </a:r>
            <a:r>
              <a:rPr lang="en-US" dirty="0">
                <a:ea typeface="宋体" panose="02010600030101010101" pitchFamily="2" charset="-122"/>
                <a:sym typeface="+mn-ea"/>
              </a:rPr>
              <a:t>age</a:t>
            </a:r>
            <a:r>
              <a:rPr lang="zh-CN" altLang="en-US" dirty="0">
                <a:ea typeface="宋体" panose="02010600030101010101" pitchFamily="2" charset="-122"/>
                <a:sym typeface="+mn-ea"/>
              </a:rPr>
              <a:t>、</a:t>
            </a:r>
            <a:r>
              <a:rPr lang="en-US" dirty="0">
                <a:ea typeface="宋体" panose="02010600030101010101" pitchFamily="2" charset="-122"/>
                <a:sym typeface="+mn-ea"/>
              </a:rPr>
              <a:t>id</a:t>
            </a:r>
            <a:r>
              <a:rPr lang="zh-CN" altLang="en-US" dirty="0">
                <a:ea typeface="宋体" panose="02010600030101010101" pitchFamily="2" charset="-122"/>
                <a:sym typeface="+mn-ea"/>
              </a:rPr>
              <a:t>、</a:t>
            </a:r>
            <a:r>
              <a:rPr lang="en-US" dirty="0">
                <a:ea typeface="宋体" panose="02010600030101010101" pitchFamily="2" charset="-122"/>
                <a:sym typeface="+mn-ea"/>
              </a:rPr>
              <a:t>score</a:t>
            </a:r>
            <a:r>
              <a:rPr lang="zh-CN" altLang="en-US" dirty="0">
                <a:ea typeface="宋体" panose="02010600030101010101" pitchFamily="2" charset="-122"/>
                <a:sym typeface="+mn-ea"/>
              </a:rPr>
              <a:t>（分数）属性，并为每个属性赋值，数据类型分别为</a:t>
            </a:r>
            <a:r>
              <a:rPr lang="en-US" dirty="0">
                <a:ea typeface="宋体" panose="02010600030101010101" pitchFamily="2" charset="-122"/>
                <a:sym typeface="+mn-ea"/>
              </a:rPr>
              <a:t>String</a:t>
            </a:r>
            <a:r>
              <a:rPr lang="zh-CN" altLang="en-US" dirty="0">
                <a:ea typeface="宋体" panose="02010600030101010101" pitchFamily="2" charset="-122"/>
                <a:sym typeface="+mn-ea"/>
              </a:rPr>
              <a:t>、</a:t>
            </a:r>
            <a:r>
              <a:rPr lang="en-US" dirty="0">
                <a:ea typeface="宋体" panose="02010600030101010101" pitchFamily="2" charset="-122"/>
                <a:sym typeface="+mn-ea"/>
              </a:rPr>
              <a:t>char</a:t>
            </a:r>
            <a:r>
              <a:rPr lang="zh-CN" altLang="en-US" dirty="0">
                <a:ea typeface="宋体" panose="02010600030101010101" pitchFamily="2" charset="-122"/>
                <a:sym typeface="+mn-ea"/>
              </a:rPr>
              <a:t>、</a:t>
            </a:r>
            <a:r>
              <a:rPr lang="en-US" dirty="0" err="1">
                <a:ea typeface="宋体" panose="02010600030101010101" pitchFamily="2" charset="-122"/>
                <a:sym typeface="+mn-ea"/>
              </a:rPr>
              <a:t>int</a:t>
            </a:r>
            <a:r>
              <a:rPr lang="zh-CN" altLang="en-US" dirty="0">
                <a:ea typeface="宋体" panose="02010600030101010101" pitchFamily="2" charset="-122"/>
                <a:sym typeface="+mn-ea"/>
              </a:rPr>
              <a:t>、</a:t>
            </a:r>
            <a:r>
              <a:rPr lang="en-US" dirty="0" err="1">
                <a:ea typeface="宋体" panose="02010600030101010101" pitchFamily="2" charset="-122"/>
                <a:sym typeface="+mn-ea"/>
              </a:rPr>
              <a:t>int</a:t>
            </a:r>
            <a:r>
              <a:rPr lang="zh-CN" altLang="en-US" dirty="0">
                <a:ea typeface="宋体" panose="02010600030101010101" pitchFamily="2" charset="-122"/>
                <a:sym typeface="+mn-ea"/>
              </a:rPr>
              <a:t>、</a:t>
            </a:r>
            <a:r>
              <a:rPr lang="en-US" dirty="0">
                <a:ea typeface="宋体" panose="02010600030101010101" pitchFamily="2" charset="-122"/>
                <a:sym typeface="+mn-ea"/>
              </a:rPr>
              <a:t>double</a:t>
            </a:r>
            <a:r>
              <a:rPr lang="zh-CN" altLang="en-US" dirty="0">
                <a:ea typeface="宋体" panose="02010600030101010101" pitchFamily="2" charset="-122"/>
                <a:sym typeface="+mn-ea"/>
              </a:rPr>
              <a:t>。</a:t>
            </a:r>
            <a:endParaRPr lang="zh-CN" altLang="en-US" dirty="0">
              <a:ea typeface="宋体" panose="02010600030101010101" pitchFamily="2" charset="-122"/>
            </a:endParaRPr>
          </a:p>
          <a:p>
            <a:pPr marL="914400" lvl="1" indent="-457200" eaLnBrk="1" hangingPunct="1">
              <a:lnSpc>
                <a:spcPct val="120000"/>
              </a:lnSpc>
              <a:buFont typeface="Times New Roman" panose="02020603050405020304" charset="0"/>
              <a:buAutoNum type="arabicPeriod"/>
            </a:pPr>
            <a:r>
              <a:rPr lang="zh-CN" altLang="en-US" dirty="0">
                <a:ea typeface="宋体" panose="02010600030101010101" pitchFamily="2" charset="-122"/>
                <a:sym typeface="+mn-ea"/>
              </a:rPr>
              <a:t>类中声明一个</a:t>
            </a:r>
            <a:r>
              <a:rPr lang="en-US" dirty="0">
                <a:ea typeface="宋体" panose="02010600030101010101" pitchFamily="2" charset="-122"/>
                <a:sym typeface="+mn-ea"/>
              </a:rPr>
              <a:t>say</a:t>
            </a:r>
            <a:r>
              <a:rPr lang="zh-CN" altLang="en-US" dirty="0">
                <a:ea typeface="宋体" panose="02010600030101010101" pitchFamily="2" charset="-122"/>
                <a:sym typeface="+mn-ea"/>
              </a:rPr>
              <a:t>方法，返回</a:t>
            </a:r>
            <a:r>
              <a:rPr lang="en-US" dirty="0">
                <a:ea typeface="宋体" panose="02010600030101010101" pitchFamily="2" charset="-122"/>
                <a:sym typeface="+mn-ea"/>
              </a:rPr>
              <a:t>String</a:t>
            </a:r>
            <a:r>
              <a:rPr lang="zh-CN" altLang="en-US" dirty="0">
                <a:ea typeface="宋体" panose="02010600030101010101" pitchFamily="2" charset="-122"/>
                <a:sym typeface="+mn-ea"/>
              </a:rPr>
              <a:t>类型，方法返回信息中包含所有属性值。</a:t>
            </a:r>
            <a:endParaRPr lang="zh-CN" altLang="en-US" dirty="0">
              <a:ea typeface="宋体" panose="02010600030101010101" pitchFamily="2" charset="-122"/>
            </a:endParaRPr>
          </a:p>
          <a:p>
            <a:pPr marL="914400" lvl="1" indent="-457200" eaLnBrk="1" hangingPunct="1">
              <a:lnSpc>
                <a:spcPct val="120000"/>
              </a:lnSpc>
              <a:buFont typeface="Times New Roman" panose="02020603050405020304" charset="0"/>
              <a:buAutoNum type="arabicPeriod"/>
            </a:pPr>
            <a:r>
              <a:rPr lang="zh-CN" altLang="en-US" dirty="0">
                <a:ea typeface="宋体" panose="02010600030101010101" pitchFamily="2" charset="-122"/>
                <a:sym typeface="+mn-ea"/>
              </a:rPr>
              <a:t>在另一个</a:t>
            </a:r>
            <a:r>
              <a:rPr lang="en-US" dirty="0" err="1">
                <a:ea typeface="宋体" panose="02010600030101010101" pitchFamily="2" charset="-122"/>
                <a:sym typeface="+mn-ea"/>
              </a:rPr>
              <a:t>TestStudent</a:t>
            </a:r>
            <a:r>
              <a:rPr lang="zh-CN" altLang="en-US" dirty="0">
                <a:ea typeface="宋体" panose="02010600030101010101" pitchFamily="2" charset="-122"/>
                <a:sym typeface="+mn-ea"/>
              </a:rPr>
              <a:t>类中的</a:t>
            </a:r>
            <a:r>
              <a:rPr lang="en-US" dirty="0">
                <a:ea typeface="宋体" panose="02010600030101010101" pitchFamily="2" charset="-122"/>
                <a:sym typeface="+mn-ea"/>
              </a:rPr>
              <a:t>main</a:t>
            </a:r>
            <a:r>
              <a:rPr lang="zh-CN" altLang="en-US" dirty="0">
                <a:ea typeface="宋体" panose="02010600030101010101" pitchFamily="2" charset="-122"/>
                <a:sym typeface="+mn-ea"/>
              </a:rPr>
              <a:t>方法中，创建</a:t>
            </a:r>
            <a:r>
              <a:rPr lang="en-US" dirty="0">
                <a:ea typeface="宋体" panose="02010600030101010101" pitchFamily="2" charset="-122"/>
                <a:sym typeface="+mn-ea"/>
              </a:rPr>
              <a:t>Student</a:t>
            </a:r>
            <a:r>
              <a:rPr lang="zh-CN" altLang="en-US" dirty="0">
                <a:ea typeface="宋体" panose="02010600030101010101" pitchFamily="2" charset="-122"/>
                <a:sym typeface="+mn-ea"/>
              </a:rPr>
              <a:t>对象，并访问</a:t>
            </a:r>
            <a:r>
              <a:rPr lang="en-US" dirty="0">
                <a:ea typeface="宋体" panose="02010600030101010101" pitchFamily="2" charset="-122"/>
                <a:sym typeface="+mn-ea"/>
              </a:rPr>
              <a:t>say</a:t>
            </a:r>
            <a:r>
              <a:rPr lang="zh-CN" altLang="en-US" dirty="0">
                <a:ea typeface="宋体" panose="02010600030101010101" pitchFamily="2" charset="-122"/>
                <a:sym typeface="+mn-ea"/>
              </a:rPr>
              <a:t>方法和所有属性，并将调用结果打印输出。</a:t>
            </a:r>
            <a:endParaRPr lang="zh-CN" altLang="en-US" dirty="0">
              <a:ea typeface="宋体" panose="02010600030101010101" pitchFamily="2" charset="-122"/>
            </a:endParaRPr>
          </a:p>
          <a:p>
            <a:pPr marL="457200" indent="-457200" eaLnBrk="1" hangingPunct="1">
              <a:lnSpc>
                <a:spcPct val="12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练习：</a:t>
            </a:r>
            <a:endParaRPr lang="zh-CN" altLang="en-US" dirty="0">
              <a:ea typeface="宋体" panose="02010600030101010101" pitchFamily="2" charset="-122"/>
              <a:sym typeface="+mn-ea"/>
            </a:endParaRPr>
          </a:p>
          <a:p>
            <a:pPr marL="914400" lvl="1" indent="-457200" eaLnBrk="1" hangingPunct="1">
              <a:lnSpc>
                <a:spcPct val="120000"/>
              </a:lnSpc>
              <a:buFont typeface="Times New Roman" panose="02020603050405020304" charset="0"/>
              <a:buAutoNum type="arabicPeriod"/>
            </a:pPr>
            <a:r>
              <a:rPr lang="zh-CN" altLang="en-US" dirty="0">
                <a:ea typeface="宋体" panose="02010600030101010101" pitchFamily="2" charset="-122"/>
                <a:sym typeface="+mn-ea"/>
              </a:rPr>
              <a:t>编写一个</a:t>
            </a:r>
            <a:r>
              <a:rPr lang="en-US" dirty="0">
                <a:ea typeface="宋体" panose="02010600030101010101" pitchFamily="2" charset="-122"/>
                <a:sym typeface="+mn-ea"/>
              </a:rPr>
              <a:t>Cat</a:t>
            </a:r>
            <a:r>
              <a:rPr lang="zh-CN" altLang="en-US" dirty="0">
                <a:ea typeface="宋体" panose="02010600030101010101" pitchFamily="2" charset="-122"/>
                <a:sym typeface="+mn-ea"/>
              </a:rPr>
              <a:t>类，包含</a:t>
            </a:r>
            <a:r>
              <a:rPr lang="en-US" dirty="0">
                <a:ea typeface="宋体" panose="02010600030101010101" pitchFamily="2" charset="-122"/>
                <a:sym typeface="+mn-ea"/>
              </a:rPr>
              <a:t>name</a:t>
            </a:r>
            <a:r>
              <a:rPr lang="zh-CN" altLang="en-US" dirty="0">
                <a:ea typeface="宋体" panose="02010600030101010101" pitchFamily="2" charset="-122"/>
                <a:sym typeface="+mn-ea"/>
              </a:rPr>
              <a:t>、</a:t>
            </a:r>
            <a:r>
              <a:rPr lang="en-US" dirty="0">
                <a:ea typeface="宋体" panose="02010600030101010101" pitchFamily="2" charset="-122"/>
                <a:sym typeface="+mn-ea"/>
              </a:rPr>
              <a:t>age</a:t>
            </a:r>
            <a:r>
              <a:rPr lang="zh-CN" altLang="en-US" dirty="0">
                <a:ea typeface="宋体" panose="02010600030101010101" pitchFamily="2" charset="-122"/>
                <a:sym typeface="+mn-ea"/>
              </a:rPr>
              <a:t>、</a:t>
            </a:r>
            <a:r>
              <a:rPr lang="en-US" dirty="0">
                <a:ea typeface="宋体" panose="02010600030101010101" pitchFamily="2" charset="-122"/>
                <a:sym typeface="+mn-ea"/>
              </a:rPr>
              <a:t>weight</a:t>
            </a:r>
            <a:r>
              <a:rPr lang="zh-CN" altLang="en-US" dirty="0">
                <a:ea typeface="宋体" panose="02010600030101010101" pitchFamily="2" charset="-122"/>
                <a:sym typeface="+mn-ea"/>
              </a:rPr>
              <a:t>（重量）属性</a:t>
            </a:r>
            <a:endParaRPr lang="zh-CN" altLang="en-US" dirty="0">
              <a:ea typeface="宋体" panose="02010600030101010101" pitchFamily="2" charset="-122"/>
              <a:sym typeface="+mn-ea"/>
            </a:endParaRPr>
          </a:p>
          <a:p>
            <a:pPr marL="914400" lvl="1" indent="-457200" eaLnBrk="1" hangingPunct="1">
              <a:lnSpc>
                <a:spcPct val="120000"/>
              </a:lnSpc>
              <a:buFont typeface="Times New Roman" panose="02020603050405020304" charset="0"/>
              <a:buAutoNum type="arabicPeriod"/>
            </a:pPr>
            <a:r>
              <a:rPr lang="zh-CN" altLang="en-US" dirty="0">
                <a:ea typeface="宋体" panose="02010600030101010101" pitchFamily="2" charset="-122"/>
                <a:sym typeface="+mn-ea"/>
              </a:rPr>
              <a:t>为每个属性赋值</a:t>
            </a:r>
            <a:endParaRPr lang="zh-CN" altLang="en-US" dirty="0">
              <a:ea typeface="宋体" panose="02010600030101010101" pitchFamily="2" charset="-122"/>
            </a:endParaRPr>
          </a:p>
          <a:p>
            <a:pPr marL="914400" lvl="1" indent="-457200" eaLnBrk="1" hangingPunct="1">
              <a:lnSpc>
                <a:spcPct val="120000"/>
              </a:lnSpc>
              <a:buFont typeface="Times New Roman" panose="02020603050405020304" charset="0"/>
              <a:buAutoNum type="arabicPeriod"/>
            </a:pPr>
            <a:r>
              <a:rPr lang="zh-CN" altLang="en-US" dirty="0">
                <a:ea typeface="宋体" panose="02010600030101010101" pitchFamily="2" charset="-122"/>
                <a:sym typeface="+mn-ea"/>
              </a:rPr>
              <a:t>类中声明一个</a:t>
            </a:r>
            <a:r>
              <a:rPr lang="en-US" dirty="0">
                <a:ea typeface="宋体" panose="02010600030101010101" pitchFamily="2" charset="-122"/>
                <a:sym typeface="+mn-ea"/>
              </a:rPr>
              <a:t>say</a:t>
            </a:r>
            <a:r>
              <a:rPr lang="zh-CN" altLang="en-US" dirty="0">
                <a:ea typeface="宋体" panose="02010600030101010101" pitchFamily="2" charset="-122"/>
                <a:sym typeface="+mn-ea"/>
              </a:rPr>
              <a:t>方法，返回</a:t>
            </a:r>
            <a:r>
              <a:rPr lang="en-US" dirty="0">
                <a:ea typeface="宋体" panose="02010600030101010101" pitchFamily="2" charset="-122"/>
                <a:sym typeface="+mn-ea"/>
              </a:rPr>
              <a:t>String</a:t>
            </a:r>
            <a:r>
              <a:rPr lang="zh-CN" altLang="en-US" dirty="0">
                <a:ea typeface="宋体" panose="02010600030101010101" pitchFamily="2" charset="-122"/>
                <a:sym typeface="+mn-ea"/>
              </a:rPr>
              <a:t>类型，方法返回信息中包含所有属性值。</a:t>
            </a:r>
            <a:endParaRPr lang="zh-CN" altLang="en-US" dirty="0">
              <a:ea typeface="宋体" panose="02010600030101010101" pitchFamily="2" charset="-122"/>
            </a:endParaRPr>
          </a:p>
          <a:p>
            <a:pPr marL="914400" lvl="1" indent="-457200" eaLnBrk="1" hangingPunct="1">
              <a:lnSpc>
                <a:spcPct val="120000"/>
              </a:lnSpc>
              <a:buFont typeface="Times New Roman" panose="02020603050405020304" charset="0"/>
              <a:buAutoNum type="arabicPeriod"/>
            </a:pPr>
            <a:r>
              <a:rPr lang="zh-CN" altLang="en-US" dirty="0">
                <a:ea typeface="宋体" panose="02010600030101010101" pitchFamily="2" charset="-122"/>
                <a:sym typeface="+mn-ea"/>
              </a:rPr>
              <a:t> 在另一个</a:t>
            </a:r>
            <a:r>
              <a:rPr lang="en-US" dirty="0">
                <a:ea typeface="宋体" panose="02010600030101010101" pitchFamily="2" charset="-122"/>
                <a:sym typeface="+mn-ea"/>
              </a:rPr>
              <a:t>Test Cat</a:t>
            </a:r>
            <a:r>
              <a:rPr lang="zh-CN" altLang="en-US" dirty="0">
                <a:ea typeface="宋体" panose="02010600030101010101" pitchFamily="2" charset="-122"/>
                <a:sym typeface="+mn-ea"/>
              </a:rPr>
              <a:t>类的</a:t>
            </a:r>
            <a:r>
              <a:rPr lang="en-US" dirty="0">
                <a:ea typeface="宋体" panose="02010600030101010101" pitchFamily="2" charset="-122"/>
                <a:sym typeface="+mn-ea"/>
              </a:rPr>
              <a:t>main</a:t>
            </a:r>
            <a:r>
              <a:rPr lang="zh-CN" altLang="en-US" dirty="0">
                <a:ea typeface="宋体" panose="02010600030101010101" pitchFamily="2" charset="-122"/>
                <a:sym typeface="+mn-ea"/>
              </a:rPr>
              <a:t>方法中，创建</a:t>
            </a:r>
            <a:r>
              <a:rPr lang="en-US" dirty="0">
                <a:ea typeface="宋体" panose="02010600030101010101" pitchFamily="2" charset="-122"/>
                <a:sym typeface="+mn-ea"/>
              </a:rPr>
              <a:t>Cat</a:t>
            </a:r>
            <a:r>
              <a:rPr lang="zh-CN" altLang="en-US" dirty="0">
                <a:ea typeface="宋体" panose="02010600030101010101" pitchFamily="2" charset="-122"/>
                <a:sym typeface="+mn-ea"/>
              </a:rPr>
              <a:t>对象，并访问</a:t>
            </a:r>
            <a:r>
              <a:rPr lang="en-US" dirty="0">
                <a:ea typeface="宋体" panose="02010600030101010101" pitchFamily="2" charset="-122"/>
                <a:sym typeface="+mn-ea"/>
              </a:rPr>
              <a:t>say</a:t>
            </a:r>
            <a:r>
              <a:rPr lang="zh-CN" altLang="en-US" dirty="0">
                <a:ea typeface="宋体" panose="02010600030101010101" pitchFamily="2" charset="-122"/>
                <a:sym typeface="+mn-ea"/>
              </a:rPr>
              <a:t>方法和所有属性，将调用结果打印输出。</a:t>
            </a: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一个类创建多个对象</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2"/>
          <p:cNvSpPr>
            <a:spLocks noGrp="1"/>
          </p:cNvSpPr>
          <p:nvPr>
            <p:ph idx="4294967295"/>
          </p:nvPr>
        </p:nvSpPr>
        <p:spPr>
          <a:xfrm>
            <a:off x="1059815" y="1160145"/>
            <a:ext cx="9527540" cy="4974590"/>
          </a:xfrm>
        </p:spPr>
        <p:txBody>
          <a:bodyPr>
            <a:normAutofit lnSpcReduction="10000"/>
          </a:bodyPr>
          <a:p>
            <a:pPr marL="457200" indent="-457200" eaLnBrk="1" hangingPunct="1">
              <a:lnSpc>
                <a:spcPct val="12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从一个类可以创建多个不同的对象</a:t>
            </a:r>
            <a:endParaRPr lang="zh-CN" altLang="en-US" dirty="0">
              <a:ea typeface="宋体" panose="02010600030101010101" pitchFamily="2" charset="-122"/>
              <a:sym typeface="+mn-ea"/>
            </a:endParaRPr>
          </a:p>
          <a:p>
            <a:pPr marL="457200" indent="-457200" eaLnBrk="1" hangingPunct="1">
              <a:lnSpc>
                <a:spcPct val="120000"/>
              </a:lnSpc>
              <a:buClr>
                <a:srgbClr val="ED7D31"/>
              </a:buClr>
              <a:buFont typeface="+mj-lt"/>
              <a:buAutoNum type="arabicPeriod"/>
            </a:pPr>
            <a:r>
              <a:rPr lang="zh-CN" altLang="en-US" dirty="0">
                <a:ea typeface="宋体" panose="02010600030101010101" pitchFamily="2" charset="-122"/>
                <a:sym typeface="+mn-ea"/>
              </a:rPr>
              <a:t> 每个对象都有自己的空间，有自己不同的属性值</a:t>
            </a:r>
            <a:endParaRPr lang="zh-CN" altLang="en-US" dirty="0">
              <a:ea typeface="宋体" panose="02010600030101010101" pitchFamily="2" charset="-122"/>
            </a:endParaRPr>
          </a:p>
          <a:p>
            <a:pPr marL="0" indent="0" eaLnBrk="1" hangingPunct="1">
              <a:lnSpc>
                <a:spcPct val="120000"/>
              </a:lnSpc>
              <a:buClr>
                <a:srgbClr val="ED7D31"/>
              </a:buClr>
              <a:buFont typeface="+mj-lt"/>
              <a:buNone/>
            </a:pPr>
            <a:endParaRPr lang="zh-CN" altLang="en-US" dirty="0">
              <a:ea typeface="宋体" panose="02010600030101010101" pitchFamily="2" charset="-122"/>
            </a:endParaRPr>
          </a:p>
          <a:p>
            <a:pPr marL="457200" indent="-457200" eaLnBrk="1" hangingPunct="1">
              <a:lnSpc>
                <a:spcPct val="12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2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
        <p:nvSpPr>
          <p:cNvPr id="148485" name="矩形 4"/>
          <p:cNvSpPr>
            <a:spLocks noChangeArrowheads="1"/>
          </p:cNvSpPr>
          <p:nvPr/>
        </p:nvSpPr>
        <p:spPr bwMode="auto">
          <a:xfrm>
            <a:off x="1476375" y="3263285"/>
            <a:ext cx="1582738" cy="1439862"/>
          </a:xfrm>
          <a:prstGeom prst="rect">
            <a:avLst/>
          </a:prstGeom>
          <a:solidFill>
            <a:schemeClr val="accent1"/>
          </a:solidFill>
          <a:ln w="9525" cmpd="sng">
            <a:solidFill>
              <a:schemeClr val="bg1"/>
            </a:solidFill>
            <a:miter lim="800000"/>
          </a:ln>
        </p:spPr>
        <p:txBody>
          <a:bodyPr/>
          <a:p>
            <a:pPr algn="ctr" latinLnBrk="1"/>
            <a:endParaRPr lang="zh-CN" altLang="en-US">
              <a:cs typeface="Times New Roman" panose="02020603050405020304" charset="0"/>
            </a:endParaRPr>
          </a:p>
        </p:txBody>
      </p:sp>
      <p:sp>
        <p:nvSpPr>
          <p:cNvPr id="148486" name="圆角矩形 5"/>
          <p:cNvSpPr>
            <a:spLocks noChangeArrowheads="1"/>
          </p:cNvSpPr>
          <p:nvPr/>
        </p:nvSpPr>
        <p:spPr bwMode="auto">
          <a:xfrm>
            <a:off x="4211638" y="2420304"/>
            <a:ext cx="2016125" cy="936625"/>
          </a:xfrm>
          <a:prstGeom prst="roundRect">
            <a:avLst>
              <a:gd name="adj" fmla="val 16667"/>
            </a:avLst>
          </a:prstGeom>
          <a:solidFill>
            <a:srgbClr val="92D050"/>
          </a:solidFill>
          <a:ln w="9525" cmpd="sng">
            <a:solidFill>
              <a:schemeClr val="bg1"/>
            </a:solidFill>
            <a:round/>
          </a:ln>
        </p:spPr>
        <p:txBody>
          <a:bodyPr/>
          <a:p>
            <a:pPr algn="ctr" latinLnBrk="1"/>
            <a:endParaRPr lang="zh-CN" altLang="en-US">
              <a:cs typeface="Times New Roman" panose="02020603050405020304" charset="0"/>
            </a:endParaRPr>
          </a:p>
        </p:txBody>
      </p:sp>
      <p:sp>
        <p:nvSpPr>
          <p:cNvPr id="148487" name="圆角矩形 6"/>
          <p:cNvSpPr>
            <a:spLocks noChangeArrowheads="1"/>
          </p:cNvSpPr>
          <p:nvPr/>
        </p:nvSpPr>
        <p:spPr bwMode="auto">
          <a:xfrm>
            <a:off x="4211638" y="3695085"/>
            <a:ext cx="2016125" cy="936625"/>
          </a:xfrm>
          <a:prstGeom prst="roundRect">
            <a:avLst>
              <a:gd name="adj" fmla="val 16667"/>
            </a:avLst>
          </a:prstGeom>
          <a:solidFill>
            <a:srgbClr val="00B0F0"/>
          </a:solidFill>
          <a:ln w="9525" cmpd="sng">
            <a:solidFill>
              <a:schemeClr val="bg1"/>
            </a:solidFill>
            <a:round/>
          </a:ln>
        </p:spPr>
        <p:txBody>
          <a:bodyPr/>
          <a:p>
            <a:pPr algn="ctr" latinLnBrk="1"/>
            <a:endParaRPr lang="zh-CN" altLang="en-US">
              <a:cs typeface="Times New Roman" panose="02020603050405020304" charset="0"/>
            </a:endParaRPr>
          </a:p>
        </p:txBody>
      </p:sp>
      <p:sp>
        <p:nvSpPr>
          <p:cNvPr id="148488" name="圆角矩形 7"/>
          <p:cNvSpPr>
            <a:spLocks noChangeArrowheads="1"/>
          </p:cNvSpPr>
          <p:nvPr/>
        </p:nvSpPr>
        <p:spPr bwMode="auto">
          <a:xfrm>
            <a:off x="4211638" y="5063510"/>
            <a:ext cx="2016125" cy="936625"/>
          </a:xfrm>
          <a:prstGeom prst="roundRect">
            <a:avLst>
              <a:gd name="adj" fmla="val 16667"/>
            </a:avLst>
          </a:prstGeom>
          <a:solidFill>
            <a:srgbClr val="FFC000"/>
          </a:solidFill>
          <a:ln w="9525" cmpd="sng">
            <a:solidFill>
              <a:schemeClr val="bg1"/>
            </a:solidFill>
            <a:round/>
          </a:ln>
        </p:spPr>
        <p:txBody>
          <a:bodyPr/>
          <a:p>
            <a:pPr algn="ctr" latinLnBrk="1"/>
            <a:endParaRPr lang="zh-CN" altLang="en-US">
              <a:cs typeface="Times New Roman" panose="02020603050405020304" charset="0"/>
            </a:endParaRPr>
          </a:p>
        </p:txBody>
      </p:sp>
      <p:cxnSp>
        <p:nvCxnSpPr>
          <p:cNvPr id="148489" name="直接箭头连接符 11"/>
          <p:cNvCxnSpPr>
            <a:cxnSpLocks noChangeShapeType="1"/>
            <a:stCxn id="148485" idx="3"/>
          </p:cNvCxnSpPr>
          <p:nvPr/>
        </p:nvCxnSpPr>
        <p:spPr bwMode="auto">
          <a:xfrm flipV="1">
            <a:off x="3059113" y="2867997"/>
            <a:ext cx="1152525" cy="1116013"/>
          </a:xfrm>
          <a:prstGeom prst="straightConnector1">
            <a:avLst/>
          </a:prstGeom>
          <a:noFill/>
          <a:ln w="9525" cmpd="sng">
            <a:solidFill>
              <a:schemeClr val="tx1"/>
            </a:solidFill>
            <a:round/>
            <a:tailEnd type="arrow" w="med" len="med"/>
          </a:ln>
        </p:spPr>
      </p:cxnSp>
      <p:cxnSp>
        <p:nvCxnSpPr>
          <p:cNvPr id="148490" name="直接箭头连接符 12"/>
          <p:cNvCxnSpPr>
            <a:cxnSpLocks noChangeShapeType="1"/>
            <a:stCxn id="148485" idx="3"/>
            <a:endCxn id="148487" idx="1"/>
          </p:cNvCxnSpPr>
          <p:nvPr/>
        </p:nvCxnSpPr>
        <p:spPr bwMode="auto">
          <a:xfrm>
            <a:off x="3059113" y="3984010"/>
            <a:ext cx="1152525" cy="179387"/>
          </a:xfrm>
          <a:prstGeom prst="straightConnector1">
            <a:avLst/>
          </a:prstGeom>
          <a:noFill/>
          <a:ln w="9525" cmpd="sng">
            <a:solidFill>
              <a:schemeClr val="tx1"/>
            </a:solidFill>
            <a:round/>
            <a:tailEnd type="arrow" w="med" len="med"/>
          </a:ln>
        </p:spPr>
      </p:cxnSp>
      <p:cxnSp>
        <p:nvCxnSpPr>
          <p:cNvPr id="148491" name="直接箭头连接符 13"/>
          <p:cNvCxnSpPr>
            <a:cxnSpLocks noChangeShapeType="1"/>
            <a:stCxn id="148485" idx="3"/>
            <a:endCxn id="148488" idx="1"/>
          </p:cNvCxnSpPr>
          <p:nvPr/>
        </p:nvCxnSpPr>
        <p:spPr bwMode="auto">
          <a:xfrm>
            <a:off x="3059113" y="3984010"/>
            <a:ext cx="1152525" cy="1547812"/>
          </a:xfrm>
          <a:prstGeom prst="straightConnector1">
            <a:avLst/>
          </a:prstGeom>
          <a:noFill/>
          <a:ln w="9525" cmpd="sng">
            <a:solidFill>
              <a:schemeClr val="tx1"/>
            </a:solidFill>
            <a:round/>
            <a:tailEnd type="arrow" w="med" len="med"/>
          </a:ln>
        </p:spPr>
      </p:cxnSp>
      <p:sp>
        <p:nvSpPr>
          <p:cNvPr id="148492" name="TextBox 21"/>
          <p:cNvSpPr txBox="1">
            <a:spLocks noChangeArrowheads="1"/>
          </p:cNvSpPr>
          <p:nvPr/>
        </p:nvSpPr>
        <p:spPr bwMode="auto">
          <a:xfrm>
            <a:off x="1908175" y="3768110"/>
            <a:ext cx="647700" cy="368300"/>
          </a:xfrm>
          <a:prstGeom prst="rect">
            <a:avLst/>
          </a:prstGeom>
          <a:noFill/>
          <a:ln w="9525">
            <a:noFill/>
            <a:miter lim="800000"/>
          </a:ln>
        </p:spPr>
        <p:txBody>
          <a:bodyPr>
            <a:spAutoFit/>
          </a:bodyPr>
          <a:p>
            <a:pPr algn="ctr"/>
            <a:r>
              <a:rPr lang="zh-CN" altLang="en-US" b="1">
                <a:solidFill>
                  <a:schemeClr val="bg1"/>
                </a:solidFill>
              </a:rPr>
              <a:t>类</a:t>
            </a:r>
            <a:endParaRPr lang="zh-CN" altLang="en-US" b="1">
              <a:solidFill>
                <a:schemeClr val="bg1"/>
              </a:solidFill>
            </a:endParaRPr>
          </a:p>
        </p:txBody>
      </p:sp>
      <p:sp>
        <p:nvSpPr>
          <p:cNvPr id="148493" name="TextBox 22"/>
          <p:cNvSpPr txBox="1">
            <a:spLocks noChangeArrowheads="1"/>
          </p:cNvSpPr>
          <p:nvPr/>
        </p:nvSpPr>
        <p:spPr bwMode="auto">
          <a:xfrm>
            <a:off x="4787900" y="2701289"/>
            <a:ext cx="1008063" cy="369888"/>
          </a:xfrm>
          <a:prstGeom prst="rect">
            <a:avLst/>
          </a:prstGeom>
          <a:noFill/>
          <a:ln w="9525">
            <a:noFill/>
            <a:miter lim="800000"/>
          </a:ln>
        </p:spPr>
        <p:txBody>
          <a:bodyPr>
            <a:spAutoFit/>
          </a:bodyPr>
          <a:p>
            <a:r>
              <a:rPr lang="zh-CN" altLang="en-US" b="1">
                <a:solidFill>
                  <a:schemeClr val="bg1"/>
                </a:solidFill>
              </a:rPr>
              <a:t>对象</a:t>
            </a:r>
            <a:r>
              <a:rPr lang="en-US" b="1">
                <a:solidFill>
                  <a:schemeClr val="bg1"/>
                </a:solidFill>
              </a:rPr>
              <a:t>1</a:t>
            </a:r>
            <a:endParaRPr lang="zh-CN" altLang="en-US" b="1">
              <a:solidFill>
                <a:schemeClr val="bg1"/>
              </a:solidFill>
            </a:endParaRPr>
          </a:p>
        </p:txBody>
      </p:sp>
      <p:sp>
        <p:nvSpPr>
          <p:cNvPr id="148494" name="TextBox 23"/>
          <p:cNvSpPr txBox="1">
            <a:spLocks noChangeArrowheads="1"/>
          </p:cNvSpPr>
          <p:nvPr/>
        </p:nvSpPr>
        <p:spPr bwMode="auto">
          <a:xfrm>
            <a:off x="4787900" y="3984010"/>
            <a:ext cx="1008063" cy="368300"/>
          </a:xfrm>
          <a:prstGeom prst="rect">
            <a:avLst/>
          </a:prstGeom>
          <a:noFill/>
          <a:ln w="9525">
            <a:noFill/>
            <a:miter lim="800000"/>
          </a:ln>
        </p:spPr>
        <p:txBody>
          <a:bodyPr>
            <a:spAutoFit/>
          </a:bodyPr>
          <a:p>
            <a:r>
              <a:rPr lang="zh-CN" altLang="en-US" b="1">
                <a:solidFill>
                  <a:schemeClr val="bg1"/>
                </a:solidFill>
              </a:rPr>
              <a:t>对象</a:t>
            </a:r>
            <a:r>
              <a:rPr lang="en-US" b="1">
                <a:solidFill>
                  <a:schemeClr val="bg1"/>
                </a:solidFill>
              </a:rPr>
              <a:t>2</a:t>
            </a:r>
            <a:endParaRPr lang="zh-CN" altLang="en-US" b="1">
              <a:solidFill>
                <a:schemeClr val="bg1"/>
              </a:solidFill>
            </a:endParaRPr>
          </a:p>
        </p:txBody>
      </p:sp>
      <p:sp>
        <p:nvSpPr>
          <p:cNvPr id="148495" name="TextBox 24"/>
          <p:cNvSpPr txBox="1">
            <a:spLocks noChangeArrowheads="1"/>
          </p:cNvSpPr>
          <p:nvPr/>
        </p:nvSpPr>
        <p:spPr bwMode="auto">
          <a:xfrm>
            <a:off x="4787900" y="5352435"/>
            <a:ext cx="1008063" cy="368300"/>
          </a:xfrm>
          <a:prstGeom prst="rect">
            <a:avLst/>
          </a:prstGeom>
          <a:noFill/>
          <a:ln w="9525">
            <a:noFill/>
            <a:miter lim="800000"/>
          </a:ln>
        </p:spPr>
        <p:txBody>
          <a:bodyPr>
            <a:spAutoFit/>
          </a:bodyPr>
          <a:p>
            <a:r>
              <a:rPr lang="zh-CN" altLang="en-US" b="1">
                <a:solidFill>
                  <a:schemeClr val="bg1"/>
                </a:solidFill>
              </a:rPr>
              <a:t>对象</a:t>
            </a:r>
            <a:r>
              <a:rPr lang="en-US" b="1">
                <a:solidFill>
                  <a:schemeClr val="bg1"/>
                </a:solidFill>
              </a:rPr>
              <a:t>3</a:t>
            </a:r>
            <a:endParaRPr lang="zh-CN" altLang="en-US" b="1">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49507" name="内容占位符 2"/>
          <p:cNvSpPr>
            <a:spLocks noGrp="1"/>
          </p:cNvSpPr>
          <p:nvPr>
            <p:ph idx="4294967295"/>
          </p:nvPr>
        </p:nvSpPr>
        <p:spPr>
          <a:xfrm>
            <a:off x="1234467" y="1079204"/>
            <a:ext cx="7537450" cy="4967287"/>
          </a:xfrm>
        </p:spPr>
        <p:txBody>
          <a:bodyPr>
            <a:noAutofit/>
          </a:bodyPr>
          <a:p>
            <a:pPr marL="361950" indent="-361950" eaLnBrk="1" hangingPunct="1">
              <a:spcBef>
                <a:spcPct val="0"/>
              </a:spcBef>
              <a:buFont typeface="Times"/>
              <a:buNone/>
            </a:pPr>
            <a:r>
              <a:rPr lang="en-US" sz="1800" dirty="0">
                <a:solidFill>
                  <a:srgbClr val="002060"/>
                </a:solidFill>
                <a:ea typeface="宋体" panose="02010600030101010101" pitchFamily="2" charset="-122"/>
              </a:rPr>
              <a:t>1  public class Teacher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      String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      String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 = 30;</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      public void lecture()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8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10     public void </a:t>
            </a:r>
            <a:r>
              <a:rPr lang="en-US" sz="1800" dirty="0" err="1">
                <a:solidFill>
                  <a:srgbClr val="002060"/>
                </a:solidFill>
                <a:ea typeface="宋体" panose="02010600030101010101" pitchFamily="2" charset="-122"/>
              </a:rPr>
              <a:t>assignHomeWork</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14     public String say()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15         String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 = "</a:t>
            </a:r>
            <a:r>
              <a:rPr lang="zh-CN" altLang="en-US" sz="1800" dirty="0">
                <a:solidFill>
                  <a:srgbClr val="002060"/>
                </a:solidFill>
                <a:ea typeface="宋体" panose="02010600030101010101" pitchFamily="2" charset="-122"/>
              </a:rPr>
              <a:t>我是</a:t>
            </a:r>
            <a:r>
              <a:rPr lang="en-US" sz="1800" dirty="0">
                <a:solidFill>
                  <a:srgbClr val="002060"/>
                </a:solidFill>
                <a:ea typeface="宋体" panose="02010600030101010101" pitchFamily="2" charset="-122"/>
              </a:rPr>
              <a:t>" + name + ", </a:t>
            </a:r>
            <a:r>
              <a:rPr lang="zh-CN" altLang="en-US" sz="1800" dirty="0">
                <a:solidFill>
                  <a:srgbClr val="002060"/>
                </a:solidFill>
                <a:ea typeface="宋体" panose="02010600030101010101" pitchFamily="2" charset="-122"/>
              </a:rPr>
              <a:t>性别</a:t>
            </a:r>
            <a:r>
              <a:rPr lang="en-US" sz="1800" dirty="0">
                <a:solidFill>
                  <a:srgbClr val="002060"/>
                </a:solidFill>
                <a:ea typeface="宋体" panose="02010600030101010101" pitchFamily="2" charset="-122"/>
              </a:rPr>
              <a:t>" + gender +", </a:t>
            </a:r>
            <a:r>
              <a:rPr lang="zh-CN" altLang="en-US" sz="1800" dirty="0">
                <a:solidFill>
                  <a:srgbClr val="002060"/>
                </a:solidFill>
                <a:ea typeface="宋体" panose="02010600030101010101" pitchFamily="2" charset="-122"/>
              </a:rPr>
              <a:t>年龄</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16         return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18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TestObject1</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50531" name="内容占位符 2"/>
          <p:cNvSpPr>
            <a:spLocks noGrp="1"/>
          </p:cNvSpPr>
          <p:nvPr>
            <p:ph idx="4294967295"/>
          </p:nvPr>
        </p:nvSpPr>
        <p:spPr>
          <a:xfrm>
            <a:off x="1008672" y="1160165"/>
            <a:ext cx="7537450" cy="4816475"/>
          </a:xfrm>
        </p:spPr>
        <p:txBody>
          <a:bodyPr>
            <a:normAutofit lnSpcReduction="20000"/>
          </a:bodyPr>
          <a:p>
            <a:pPr marL="361950" indent="-361950" eaLnBrk="1" hangingPunct="1">
              <a:buFont typeface="Times"/>
              <a:buNone/>
            </a:pPr>
            <a:r>
              <a:rPr lang="en-US" sz="1800" dirty="0">
                <a:solidFill>
                  <a:srgbClr val="002060"/>
                </a:solidFill>
                <a:ea typeface="宋体" panose="02010600030101010101" pitchFamily="2" charset="-122"/>
              </a:rPr>
              <a:t>1  public class TestObject1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2      public static void main(String[] </a:t>
            </a:r>
            <a:r>
              <a:rPr lang="en-US" sz="1800" dirty="0" err="1">
                <a:solidFill>
                  <a:srgbClr val="002060"/>
                </a:solidFill>
                <a:ea typeface="宋体" panose="02010600030101010101" pitchFamily="2" charset="-122"/>
              </a:rPr>
              <a:t>args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3          Teacher t1 = new Teacher();   //</a:t>
            </a:r>
            <a:r>
              <a:rPr lang="zh-CN" altLang="en-US" sz="1800" dirty="0">
                <a:solidFill>
                  <a:srgbClr val="002060"/>
                </a:solidFill>
                <a:ea typeface="宋体" panose="02010600030101010101" pitchFamily="2" charset="-122"/>
              </a:rPr>
              <a:t>引用类型变量</a:t>
            </a:r>
            <a:endParaRPr lang="zh-CN" alt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4          t1.name = "</a:t>
            </a:r>
            <a:r>
              <a:rPr lang="zh-CN" altLang="en-US" sz="1800" dirty="0">
                <a:solidFill>
                  <a:srgbClr val="002060"/>
                </a:solidFill>
                <a:ea typeface="宋体" panose="02010600030101010101" pitchFamily="2" charset="-122"/>
              </a:rPr>
              <a:t>张三</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5          t1.gender = "</a:t>
            </a:r>
            <a:r>
              <a:rPr lang="zh-CN" altLang="en-US" sz="1800" dirty="0">
                <a:solidFill>
                  <a:srgbClr val="002060"/>
                </a:solidFill>
                <a:ea typeface="宋体" panose="02010600030101010101" pitchFamily="2" charset="-122"/>
              </a:rPr>
              <a:t>男</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6          t1.age = 25;</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7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(t1.say());</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8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9          Teacher t2 = new Teacher();</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10         t2.name = "</a:t>
            </a:r>
            <a:r>
              <a:rPr lang="zh-CN" altLang="en-US" sz="1800" dirty="0">
                <a:solidFill>
                  <a:srgbClr val="002060"/>
                </a:solidFill>
                <a:ea typeface="宋体" panose="02010600030101010101" pitchFamily="2" charset="-122"/>
              </a:rPr>
              <a:t>李四</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11         t2.gender = "</a:t>
            </a:r>
            <a:r>
              <a:rPr lang="zh-CN" altLang="en-US" sz="1800" dirty="0">
                <a:solidFill>
                  <a:srgbClr val="002060"/>
                </a:solidFill>
                <a:ea typeface="宋体" panose="02010600030101010101" pitchFamily="2" charset="-122"/>
              </a:rPr>
              <a:t>女</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12         t2.age = 23;</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13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(t2.say());</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14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15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2"/>
          <p:cNvSpPr>
            <a:spLocks noGrp="1"/>
          </p:cNvSpPr>
          <p:nvPr>
            <p:ph idx="4294967295"/>
          </p:nvPr>
        </p:nvSpPr>
        <p:spPr>
          <a:xfrm>
            <a:off x="1059815" y="1160145"/>
            <a:ext cx="9527540" cy="4974590"/>
          </a:xfrm>
        </p:spPr>
        <p:txBody>
          <a:bodyPr>
            <a:normAutofit lnSpcReduction="10000"/>
          </a:bodyPr>
          <a:p>
            <a:pPr marL="457200" indent="-457200" eaLnBrk="1" hangingPunct="1">
              <a:lnSpc>
                <a:spcPct val="12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继续在</a:t>
            </a:r>
            <a:r>
              <a:rPr lang="en-US" dirty="0">
                <a:ea typeface="宋体" panose="02010600030101010101" pitchFamily="2" charset="-122"/>
                <a:sym typeface="+mn-ea"/>
              </a:rPr>
              <a:t>main</a:t>
            </a:r>
            <a:r>
              <a:rPr lang="zh-CN" altLang="en-US" dirty="0">
                <a:ea typeface="宋体" panose="02010600030101010101" pitchFamily="2" charset="-122"/>
                <a:sym typeface="+mn-ea"/>
              </a:rPr>
              <a:t>方法中创建另一个</a:t>
            </a:r>
            <a:r>
              <a:rPr lang="en-US" dirty="0">
                <a:ea typeface="宋体" panose="02010600030101010101" pitchFamily="2" charset="-122"/>
                <a:sym typeface="+mn-ea"/>
              </a:rPr>
              <a:t>Student</a:t>
            </a:r>
            <a:r>
              <a:rPr lang="zh-CN" altLang="en-US" dirty="0">
                <a:ea typeface="宋体" panose="02010600030101010101" pitchFamily="2" charset="-122"/>
                <a:sym typeface="+mn-ea"/>
              </a:rPr>
              <a:t>对象，将姓名赋予新值，并打印</a:t>
            </a:r>
            <a:r>
              <a:rPr lang="en-US" dirty="0">
                <a:ea typeface="宋体" panose="02010600030101010101" pitchFamily="2" charset="-122"/>
                <a:sym typeface="+mn-ea"/>
              </a:rPr>
              <a:t>say</a:t>
            </a:r>
            <a:r>
              <a:rPr lang="zh-CN" altLang="en-US" dirty="0">
                <a:ea typeface="宋体" panose="02010600030101010101" pitchFamily="2" charset="-122"/>
                <a:sym typeface="+mn-ea"/>
              </a:rPr>
              <a:t>方法结果。</a:t>
            </a:r>
            <a:endParaRPr lang="zh-CN" altLang="en-US" dirty="0">
              <a:ea typeface="宋体" panose="02010600030101010101" pitchFamily="2" charset="-122"/>
            </a:endParaRPr>
          </a:p>
          <a:p>
            <a:pPr marL="457200" indent="-457200" eaLnBrk="1" hangingPunct="1">
              <a:lnSpc>
                <a:spcPct val="12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2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247140" y="3137535"/>
            <a:ext cx="9307195"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对象属性的初始化</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sz="2400">
                <a:ea typeface="宋体" panose="02010600030101010101" pitchFamily="2" charset="-122"/>
                <a:sym typeface="+mn-ea"/>
              </a:rPr>
              <a:t>JVM</a:t>
            </a:r>
            <a:r>
              <a:rPr lang="zh-CN" altLang="en-US" sz="2400">
                <a:ea typeface="宋体" panose="02010600030101010101" pitchFamily="2" charset="-122"/>
                <a:sym typeface="+mn-ea"/>
              </a:rPr>
              <a:t>创建对象的基本步骤</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2"/>
          <p:cNvSpPr>
            <a:spLocks noGrp="1"/>
          </p:cNvSpPr>
          <p:nvPr>
            <p:ph idx="4294967295"/>
          </p:nvPr>
        </p:nvSpPr>
        <p:spPr>
          <a:xfrm>
            <a:off x="1059815" y="1160145"/>
            <a:ext cx="9527540" cy="4974590"/>
          </a:xfrm>
        </p:spPr>
        <p:txBody>
          <a:bodyPr>
            <a:normAutofit/>
          </a:bodyPr>
          <a:p>
            <a:pPr eaLnBrk="1" hangingPunct="1">
              <a:lnSpc>
                <a:spcPct val="150000"/>
              </a:lnSpc>
              <a:buClr>
                <a:srgbClr val="ED7D31"/>
              </a:buClr>
              <a:buFont typeface="Wingdings" panose="05000000000000000000" charset="0"/>
              <a:buChar char="Ø"/>
            </a:pPr>
            <a:r>
              <a:rPr lang="en-US" altLang="zh-CN" dirty="0">
                <a:ea typeface="宋体" panose="02010600030101010101" pitchFamily="2" charset="-122"/>
                <a:sym typeface="+mn-ea"/>
              </a:rPr>
              <a:t> </a:t>
            </a:r>
            <a:r>
              <a:rPr lang="zh-CN" altLang="en-US" dirty="0">
                <a:ea typeface="宋体" panose="02010600030101010101" pitchFamily="2" charset="-122"/>
                <a:sym typeface="+mn-ea"/>
              </a:rPr>
              <a:t>当执行</a:t>
            </a:r>
            <a:r>
              <a:rPr lang="en-US" dirty="0">
                <a:ea typeface="宋体" panose="02010600030101010101" pitchFamily="2" charset="-122"/>
                <a:sym typeface="+mn-ea"/>
              </a:rPr>
              <a:t>new</a:t>
            </a:r>
            <a:r>
              <a:rPr lang="zh-CN" altLang="en-US" dirty="0">
                <a:ea typeface="宋体" panose="02010600030101010101" pitchFamily="2" charset="-122"/>
                <a:sym typeface="+mn-ea"/>
              </a:rPr>
              <a:t>语句创建一个对象时，</a:t>
            </a:r>
            <a:r>
              <a:rPr lang="en-US" dirty="0">
                <a:ea typeface="宋体" panose="02010600030101010101" pitchFamily="2" charset="-122"/>
                <a:sym typeface="+mn-ea"/>
              </a:rPr>
              <a:t>JVM</a:t>
            </a:r>
            <a:r>
              <a:rPr lang="zh-CN" altLang="en-US" dirty="0">
                <a:ea typeface="宋体" panose="02010600030101010101" pitchFamily="2" charset="-122"/>
                <a:sym typeface="+mn-ea"/>
              </a:rPr>
              <a:t>执行以下基本步骤：</a:t>
            </a:r>
            <a:endParaRPr lang="zh-CN" altLang="en-US" dirty="0">
              <a:ea typeface="宋体" panose="02010600030101010101" pitchFamily="2" charset="-122"/>
            </a:endParaRPr>
          </a:p>
          <a:p>
            <a:pPr marL="1257300" lvl="2" indent="-457200" eaLnBrk="1" hangingPunct="1">
              <a:lnSpc>
                <a:spcPct val="150000"/>
              </a:lnSpc>
              <a:buFont typeface="+mj-ea"/>
              <a:buAutoNum type="circleNumDbPlain"/>
            </a:pPr>
            <a:r>
              <a:rPr lang="zh-CN" altLang="en-US" sz="2160" dirty="0">
                <a:solidFill>
                  <a:srgbClr val="002060"/>
                </a:solidFill>
                <a:ea typeface="宋体" panose="02010600030101010101" pitchFamily="2" charset="-122"/>
                <a:sym typeface="+mn-ea"/>
              </a:rPr>
              <a:t>为新对象分配一块适当大小的内存，以用来保存该对象的属性值，属性值也称为对象状态</a:t>
            </a:r>
            <a:endParaRPr lang="zh-CN" altLang="en-US" sz="2160" dirty="0">
              <a:solidFill>
                <a:srgbClr val="002060"/>
              </a:solidFill>
              <a:ea typeface="宋体" panose="02010600030101010101" pitchFamily="2" charset="-122"/>
            </a:endParaRPr>
          </a:p>
          <a:p>
            <a:pPr marL="1257300" lvl="2" indent="-457200" eaLnBrk="1" hangingPunct="1">
              <a:lnSpc>
                <a:spcPct val="150000"/>
              </a:lnSpc>
              <a:buFont typeface="+mj-ea"/>
              <a:buAutoNum type="circleNumDbPlain"/>
            </a:pPr>
            <a:r>
              <a:rPr lang="zh-CN" altLang="en-US" sz="2160" dirty="0">
                <a:solidFill>
                  <a:srgbClr val="002060"/>
                </a:solidFill>
                <a:ea typeface="宋体" panose="02010600030101010101" pitchFamily="2" charset="-122"/>
                <a:sym typeface="+mn-ea"/>
              </a:rPr>
              <a:t>在该内存中，将对象的所有属性进行缺省初始化赋值</a:t>
            </a:r>
            <a:endParaRPr lang="zh-CN" altLang="en-US" sz="2160" dirty="0">
              <a:solidFill>
                <a:srgbClr val="002060"/>
              </a:solidFill>
              <a:ea typeface="宋体" panose="02010600030101010101" pitchFamily="2" charset="-122"/>
            </a:endParaRPr>
          </a:p>
          <a:p>
            <a:pPr marL="1257300" lvl="2" indent="-457200" eaLnBrk="1" hangingPunct="1">
              <a:lnSpc>
                <a:spcPct val="150000"/>
              </a:lnSpc>
              <a:buFont typeface="+mj-ea"/>
              <a:buAutoNum type="circleNumDbPlain"/>
            </a:pPr>
            <a:r>
              <a:rPr lang="zh-CN" altLang="en-US" sz="2160" dirty="0">
                <a:solidFill>
                  <a:srgbClr val="002060"/>
                </a:solidFill>
                <a:ea typeface="宋体" panose="02010600030101010101" pitchFamily="2" charset="-122"/>
                <a:sym typeface="+mn-ea"/>
              </a:rPr>
              <a:t>对有显式初始化赋值的属性执行显式初始化赋值</a:t>
            </a:r>
            <a:endParaRPr lang="zh-CN" altLang="en-US" sz="2160" dirty="0">
              <a:solidFill>
                <a:srgbClr val="002060"/>
              </a:solidFill>
              <a:ea typeface="宋体" panose="02010600030101010101" pitchFamily="2" charset="-122"/>
            </a:endParaRPr>
          </a:p>
          <a:p>
            <a:pPr marL="457200" indent="-457200" eaLnBrk="1" hangingPunct="1">
              <a:lnSpc>
                <a:spcPct val="15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对象属性（实例变量）的初始化</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2"/>
          <p:cNvSpPr>
            <a:spLocks noGrp="1"/>
          </p:cNvSpPr>
          <p:nvPr>
            <p:ph idx="4294967295"/>
          </p:nvPr>
        </p:nvSpPr>
        <p:spPr>
          <a:xfrm>
            <a:off x="1059815" y="1160145"/>
            <a:ext cx="9527540" cy="4974590"/>
          </a:xfrm>
        </p:spPr>
        <p:txBody>
          <a:bodyPr>
            <a:normAutofit/>
          </a:bodyPr>
          <a:p>
            <a:pPr eaLnBrk="1" hangingPunct="1">
              <a:lnSpc>
                <a:spcPct val="150000"/>
              </a:lnSpc>
              <a:buClr>
                <a:srgbClr val="ED7D31"/>
              </a:buClr>
              <a:buFont typeface="Wingdings" panose="05000000000000000000" charset="0"/>
              <a:buChar char="Ø"/>
            </a:pPr>
            <a:r>
              <a:rPr lang="en-US" altLang="zh-CN" dirty="0">
                <a:ea typeface="宋体" panose="02010600030101010101" pitchFamily="2" charset="-122"/>
                <a:sym typeface="+mn-ea"/>
              </a:rPr>
              <a:t>  </a:t>
            </a:r>
            <a:r>
              <a:rPr lang="zh-CN" altLang="en-US" dirty="0">
                <a:ea typeface="宋体" panose="02010600030101010101" pitchFamily="2" charset="-122"/>
                <a:sym typeface="+mn-ea"/>
              </a:rPr>
              <a:t>对象的属性，也称为字段，又称为实例变量。</a:t>
            </a:r>
            <a:endParaRPr lang="zh-CN" altLang="en-US" dirty="0">
              <a:ea typeface="宋体" panose="02010600030101010101" pitchFamily="2" charset="-122"/>
            </a:endParaRPr>
          </a:p>
          <a:p>
            <a:pPr eaLnBrk="1" hangingPunct="1">
              <a:lnSpc>
                <a:spcPct val="150000"/>
              </a:lnSpc>
              <a:buClr>
                <a:srgbClr val="ED7D31"/>
              </a:buClr>
              <a:buFont typeface="Wingdings" panose="05000000000000000000" charset="0"/>
              <a:buChar char="Ø"/>
            </a:pPr>
            <a:r>
              <a:rPr lang="en-US" altLang="zh-CN" dirty="0">
                <a:ea typeface="宋体" panose="02010600030101010101" pitchFamily="2" charset="-122"/>
                <a:sym typeface="+mn-ea"/>
              </a:rPr>
              <a:t> </a:t>
            </a:r>
            <a:r>
              <a:rPr lang="zh-CN" altLang="en-US" dirty="0">
                <a:ea typeface="宋体" panose="02010600030101010101" pitchFamily="2" charset="-122"/>
                <a:sym typeface="+mn-ea"/>
              </a:rPr>
              <a:t>对象属性的初始化，即初始赋值，有以下同两种方式：</a:t>
            </a:r>
            <a:endParaRPr lang="zh-CN" altLang="en-US" dirty="0">
              <a:ea typeface="宋体" panose="02010600030101010101" pitchFamily="2" charset="-122"/>
            </a:endParaRPr>
          </a:p>
          <a:p>
            <a:pPr marL="800100" lvl="1" indent="-457200" eaLnBrk="1" hangingPunct="1">
              <a:lnSpc>
                <a:spcPct val="150000"/>
              </a:lnSpc>
              <a:buFont typeface="+mj-ea"/>
              <a:buAutoNum type="circleNumDbPlain"/>
            </a:pPr>
            <a:r>
              <a:rPr lang="zh-CN" altLang="en-US" sz="2160" dirty="0">
                <a:solidFill>
                  <a:srgbClr val="002060"/>
                </a:solidFill>
                <a:ea typeface="宋体" panose="02010600030101010101" pitchFamily="2" charset="-122"/>
                <a:sym typeface="+mn-ea"/>
              </a:rPr>
              <a:t>缺省初始化赋值：对象被创建时，不同类型的属性被赋予不同的缺省值：</a:t>
            </a:r>
            <a:endParaRPr lang="zh-CN" altLang="en-US" sz="2160" dirty="0">
              <a:solidFill>
                <a:srgbClr val="002060"/>
              </a:solidFill>
              <a:ea typeface="宋体" panose="02010600030101010101" pitchFamily="2" charset="-122"/>
            </a:endParaRPr>
          </a:p>
          <a:p>
            <a:pPr marL="800100" lvl="1" indent="-457200" eaLnBrk="1" hangingPunct="1">
              <a:lnSpc>
                <a:spcPct val="150000"/>
              </a:lnSpc>
              <a:buFont typeface="+mj-ea"/>
              <a:buAutoNum type="circleNumDbPlain"/>
            </a:pPr>
            <a:r>
              <a:rPr lang="zh-CN" altLang="en-US" sz="2160" dirty="0">
                <a:solidFill>
                  <a:srgbClr val="002060"/>
                </a:solidFill>
                <a:ea typeface="宋体" panose="02010600030101010101" pitchFamily="2" charset="-122"/>
                <a:sym typeface="+mn-ea"/>
              </a:rPr>
              <a:t>显式初始化赋值：如果在类中声明属性时指定了初始值，那么在对象被创建时，相应的属性就被显式地赋予此初始值。</a:t>
            </a:r>
            <a:endParaRPr lang="zh-CN" altLang="en-US" dirty="0">
              <a:solidFill>
                <a:srgbClr val="002060"/>
              </a:solidFill>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342900" indent="-342900" eaLnBrk="1" hangingPunct="1"/>
            <a:r>
              <a:rPr lang="zh-CN" altLang="en-US" sz="2400">
                <a:ea typeface="宋体" panose="02010600030101010101" pitchFamily="2" charset="-122"/>
                <a:sym typeface="+mn-ea"/>
              </a:rPr>
              <a:t>对象属性的缺省初始化赋值</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155652" name="Picture 3"/>
          <p:cNvPicPr>
            <a:picLocks noChangeAspect="1" noChangeArrowheads="1"/>
          </p:cNvPicPr>
          <p:nvPr/>
        </p:nvPicPr>
        <p:blipFill>
          <a:blip r:embed="rId5"/>
          <a:srcRect/>
          <a:stretch>
            <a:fillRect/>
          </a:stretch>
        </p:blipFill>
        <p:spPr bwMode="auto">
          <a:xfrm>
            <a:off x="2427939" y="1052853"/>
            <a:ext cx="5256213" cy="5122862"/>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56675" name="内容占位符 2"/>
          <p:cNvSpPr>
            <a:spLocks noGrp="1"/>
          </p:cNvSpPr>
          <p:nvPr>
            <p:ph idx="4294967295"/>
          </p:nvPr>
        </p:nvSpPr>
        <p:spPr>
          <a:xfrm>
            <a:off x="1234467" y="1160449"/>
            <a:ext cx="7537450" cy="4816475"/>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1  public class Teacher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      String name;     //</a:t>
            </a:r>
            <a:r>
              <a:rPr lang="zh-CN" altLang="en-US" sz="1800" dirty="0">
                <a:solidFill>
                  <a:srgbClr val="002060"/>
                </a:solidFill>
                <a:ea typeface="宋体" panose="02010600030101010101" pitchFamily="2" charset="-122"/>
              </a:rPr>
              <a:t>使用缺省初始化</a:t>
            </a:r>
            <a:endParaRPr lang="zh-CN" alt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      String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 = 30;      //</a:t>
            </a:r>
            <a:r>
              <a:rPr lang="zh-CN" altLang="en-US" sz="1800" dirty="0">
                <a:solidFill>
                  <a:srgbClr val="002060"/>
                </a:solidFill>
                <a:ea typeface="宋体" panose="02010600030101010101" pitchFamily="2" charset="-122"/>
              </a:rPr>
              <a:t>使用显式初始化</a:t>
            </a:r>
            <a:endParaRPr lang="zh-CN" alt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      public void lecture()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8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10     public void </a:t>
            </a:r>
            <a:r>
              <a:rPr lang="en-US" sz="1800" dirty="0" err="1">
                <a:solidFill>
                  <a:srgbClr val="002060"/>
                </a:solidFill>
                <a:ea typeface="宋体" panose="02010600030101010101" pitchFamily="2" charset="-122"/>
              </a:rPr>
              <a:t>assignHomeWork</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14     public String say()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15         String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 = "</a:t>
            </a:r>
            <a:r>
              <a:rPr lang="zh-CN" altLang="en-US" sz="1800" dirty="0">
                <a:solidFill>
                  <a:srgbClr val="002060"/>
                </a:solidFill>
                <a:ea typeface="宋体" panose="02010600030101010101" pitchFamily="2" charset="-122"/>
              </a:rPr>
              <a:t>我是</a:t>
            </a:r>
            <a:r>
              <a:rPr lang="en-US" sz="1800" dirty="0">
                <a:solidFill>
                  <a:srgbClr val="002060"/>
                </a:solidFill>
                <a:ea typeface="宋体" panose="02010600030101010101" pitchFamily="2" charset="-122"/>
              </a:rPr>
              <a:t>" + name + ", </a:t>
            </a:r>
            <a:r>
              <a:rPr lang="zh-CN" altLang="en-US" sz="1800" dirty="0">
                <a:solidFill>
                  <a:srgbClr val="002060"/>
                </a:solidFill>
                <a:ea typeface="宋体" panose="02010600030101010101" pitchFamily="2" charset="-122"/>
              </a:rPr>
              <a:t>性别</a:t>
            </a:r>
            <a:r>
              <a:rPr lang="en-US" sz="1800" dirty="0">
                <a:solidFill>
                  <a:srgbClr val="002060"/>
                </a:solidFill>
                <a:ea typeface="宋体" panose="02010600030101010101" pitchFamily="2" charset="-122"/>
              </a:rPr>
              <a:t>" + gender +", </a:t>
            </a:r>
            <a:r>
              <a:rPr lang="zh-CN" altLang="en-US" sz="1800" dirty="0">
                <a:solidFill>
                  <a:srgbClr val="002060"/>
                </a:solidFill>
                <a:ea typeface="宋体" panose="02010600030101010101" pitchFamily="2" charset="-122"/>
              </a:rPr>
              <a:t>年龄</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16         return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18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 name="内容占位符 2"/>
          <p:cNvSpPr>
            <a:spLocks noGrp="1"/>
          </p:cNvSpPr>
          <p:nvPr>
            <p:ph idx="4294967295"/>
          </p:nvPr>
        </p:nvSpPr>
        <p:spPr>
          <a:xfrm>
            <a:off x="1059815" y="1160145"/>
            <a:ext cx="9527540" cy="4974590"/>
          </a:xfrm>
        </p:spPr>
        <p:txBody>
          <a:bodyPr>
            <a:normAutofit lnSpcReduction="10000"/>
          </a:bodyPr>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改写</a:t>
            </a:r>
            <a:r>
              <a:rPr lang="en-US" dirty="0">
                <a:ea typeface="宋体" panose="02010600030101010101" pitchFamily="2" charset="-122"/>
                <a:sym typeface="+mn-ea"/>
              </a:rPr>
              <a:t>Cat</a:t>
            </a:r>
            <a:r>
              <a:rPr lang="zh-CN" altLang="en-US" dirty="0">
                <a:ea typeface="宋体" panose="02010600030101010101" pitchFamily="2" charset="-122"/>
                <a:sym typeface="+mn-ea"/>
              </a:rPr>
              <a:t>类，</a:t>
            </a:r>
            <a:r>
              <a:rPr lang="en-US" dirty="0">
                <a:ea typeface="宋体" panose="02010600030101010101" pitchFamily="2" charset="-122"/>
                <a:sym typeface="+mn-ea"/>
              </a:rPr>
              <a:t>name</a:t>
            </a:r>
            <a:r>
              <a:rPr lang="zh-CN" altLang="en-US" dirty="0">
                <a:ea typeface="宋体" panose="02010600030101010101" pitchFamily="2" charset="-122"/>
                <a:sym typeface="+mn-ea"/>
              </a:rPr>
              <a:t>属性使用缺省初始值，</a:t>
            </a:r>
            <a:r>
              <a:rPr lang="en-US" dirty="0">
                <a:ea typeface="宋体" panose="02010600030101010101" pitchFamily="2" charset="-122"/>
                <a:sym typeface="+mn-ea"/>
              </a:rPr>
              <a:t>age</a:t>
            </a:r>
            <a:r>
              <a:rPr lang="zh-CN" altLang="en-US" dirty="0">
                <a:ea typeface="宋体" panose="02010600030101010101" pitchFamily="2" charset="-122"/>
                <a:sym typeface="+mn-ea"/>
              </a:rPr>
              <a:t>和</a:t>
            </a:r>
            <a:r>
              <a:rPr lang="en-US" dirty="0">
                <a:ea typeface="宋体" panose="02010600030101010101" pitchFamily="2" charset="-122"/>
                <a:sym typeface="+mn-ea"/>
              </a:rPr>
              <a:t>weight</a:t>
            </a:r>
            <a:r>
              <a:rPr lang="zh-CN" altLang="en-US" dirty="0">
                <a:ea typeface="宋体" panose="02010600030101010101" pitchFamily="2" charset="-122"/>
                <a:sym typeface="+mn-ea"/>
              </a:rPr>
              <a:t>属性使用显式初始值</a:t>
            </a:r>
            <a:r>
              <a:rPr lang="en-US" dirty="0">
                <a:ea typeface="宋体" panose="02010600030101010101" pitchFamily="2" charset="-122"/>
                <a:sym typeface="+mn-ea"/>
              </a:rPr>
              <a:t>1</a:t>
            </a:r>
            <a:r>
              <a:rPr lang="zh-CN" altLang="en-US" dirty="0">
                <a:ea typeface="宋体" panose="02010600030101010101" pitchFamily="2" charset="-122"/>
                <a:sym typeface="+mn-ea"/>
              </a:rPr>
              <a:t>和</a:t>
            </a:r>
            <a:r>
              <a:rPr lang="en-US" dirty="0">
                <a:ea typeface="宋体" panose="02010600030101010101" pitchFamily="2" charset="-122"/>
                <a:sym typeface="+mn-ea"/>
              </a:rPr>
              <a:t>10</a:t>
            </a:r>
            <a:r>
              <a:rPr lang="zh-CN" altLang="en-US" dirty="0">
                <a:ea typeface="宋体" panose="02010600030101010101" pitchFamily="2" charset="-122"/>
                <a:sym typeface="+mn-ea"/>
              </a:rPr>
              <a:t>。</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在</a:t>
            </a:r>
            <a:r>
              <a:rPr lang="en-US" dirty="0">
                <a:ea typeface="宋体" panose="02010600030101010101" pitchFamily="2" charset="-122"/>
                <a:sym typeface="+mn-ea"/>
              </a:rPr>
              <a:t>Test Cat</a:t>
            </a:r>
            <a:r>
              <a:rPr lang="zh-CN" altLang="en-US" dirty="0">
                <a:ea typeface="宋体" panose="02010600030101010101" pitchFamily="2" charset="-122"/>
                <a:sym typeface="+mn-ea"/>
              </a:rPr>
              <a:t>类的</a:t>
            </a:r>
            <a:r>
              <a:rPr lang="en-US" dirty="0">
                <a:ea typeface="宋体" panose="02010600030101010101" pitchFamily="2" charset="-122"/>
                <a:sym typeface="+mn-ea"/>
              </a:rPr>
              <a:t>main</a:t>
            </a:r>
            <a:r>
              <a:rPr lang="zh-CN" altLang="en-US" dirty="0">
                <a:ea typeface="宋体" panose="02010600030101010101" pitchFamily="2" charset="-122"/>
                <a:sym typeface="+mn-ea"/>
              </a:rPr>
              <a:t>方法中，创建两个</a:t>
            </a:r>
            <a:r>
              <a:rPr lang="en-US" dirty="0">
                <a:ea typeface="宋体" panose="02010600030101010101" pitchFamily="2" charset="-122"/>
                <a:sym typeface="+mn-ea"/>
              </a:rPr>
              <a:t>Cat</a:t>
            </a:r>
            <a:r>
              <a:rPr lang="zh-CN" altLang="en-US" dirty="0">
                <a:ea typeface="宋体" panose="02010600030101010101" pitchFamily="2" charset="-122"/>
                <a:sym typeface="+mn-ea"/>
              </a:rPr>
              <a:t>对象，分别调用两对象的</a:t>
            </a:r>
            <a:r>
              <a:rPr lang="en-US" dirty="0">
                <a:ea typeface="宋体" panose="02010600030101010101" pitchFamily="2" charset="-122"/>
                <a:sym typeface="+mn-ea"/>
              </a:rPr>
              <a:t>say</a:t>
            </a:r>
            <a:r>
              <a:rPr lang="zh-CN" altLang="en-US" dirty="0">
                <a:ea typeface="宋体" panose="02010600030101010101" pitchFamily="2" charset="-122"/>
                <a:sym typeface="+mn-ea"/>
              </a:rPr>
              <a:t>方法，将调用结果打印输出。</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继续在</a:t>
            </a:r>
            <a:r>
              <a:rPr lang="en-US" dirty="0">
                <a:ea typeface="宋体" panose="02010600030101010101" pitchFamily="2" charset="-122"/>
                <a:sym typeface="+mn-ea"/>
              </a:rPr>
              <a:t>main</a:t>
            </a:r>
            <a:r>
              <a:rPr lang="zh-CN" altLang="en-US" dirty="0">
                <a:ea typeface="宋体" panose="02010600030101010101" pitchFamily="2" charset="-122"/>
                <a:sym typeface="+mn-ea"/>
              </a:rPr>
              <a:t>方法中，将两个</a:t>
            </a:r>
            <a:r>
              <a:rPr lang="en-US" dirty="0">
                <a:ea typeface="宋体" panose="02010600030101010101" pitchFamily="2" charset="-122"/>
                <a:sym typeface="+mn-ea"/>
              </a:rPr>
              <a:t>Cat</a:t>
            </a:r>
            <a:r>
              <a:rPr lang="zh-CN" altLang="en-US" dirty="0">
                <a:ea typeface="宋体" panose="02010600030101010101" pitchFamily="2" charset="-122"/>
                <a:sym typeface="+mn-ea"/>
              </a:rPr>
              <a:t>对象的</a:t>
            </a:r>
            <a:r>
              <a:rPr lang="en-US" dirty="0">
                <a:ea typeface="宋体" panose="02010600030101010101" pitchFamily="2" charset="-122"/>
                <a:sym typeface="+mn-ea"/>
              </a:rPr>
              <a:t>name</a:t>
            </a:r>
            <a:r>
              <a:rPr lang="zh-CN" altLang="en-US" dirty="0">
                <a:ea typeface="宋体" panose="02010600030101010101" pitchFamily="2" charset="-122"/>
                <a:sym typeface="+mn-ea"/>
              </a:rPr>
              <a:t>属性分别设为“喵喵 ”和“咪咪”，第二个对象的体重设为</a:t>
            </a:r>
            <a:r>
              <a:rPr lang="en-US" dirty="0">
                <a:ea typeface="宋体" panose="02010600030101010101" pitchFamily="2" charset="-122"/>
                <a:sym typeface="+mn-ea"/>
              </a:rPr>
              <a:t>8</a:t>
            </a:r>
            <a:r>
              <a:rPr lang="zh-CN" altLang="en-US" dirty="0">
                <a:ea typeface="宋体" panose="02010600030101010101" pitchFamily="2" charset="-122"/>
                <a:sym typeface="+mn-ea"/>
              </a:rPr>
              <a:t>。再分别调用两对象的</a:t>
            </a:r>
            <a:r>
              <a:rPr lang="en-US" dirty="0">
                <a:ea typeface="宋体" panose="02010600030101010101" pitchFamily="2" charset="-122"/>
                <a:sym typeface="+mn-ea"/>
              </a:rPr>
              <a:t>say</a:t>
            </a:r>
            <a:r>
              <a:rPr lang="zh-CN" altLang="en-US" dirty="0">
                <a:ea typeface="宋体" panose="02010600030101010101" pitchFamily="2" charset="-122"/>
                <a:sym typeface="+mn-ea"/>
              </a:rPr>
              <a:t>方法，将调用结果打印输出。</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根据输出结果，理解由同一类创建的不同对象的属性的独立性。</a:t>
            </a: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24460" y="3137535"/>
            <a:ext cx="11598275"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Java内存管理与垃圾回收</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sz="2400">
                <a:ea typeface="宋体" panose="02010600030101010101" pitchFamily="2" charset="-122"/>
                <a:sym typeface="+mn-ea"/>
              </a:rPr>
              <a:t>JVM</a:t>
            </a:r>
            <a:r>
              <a:rPr lang="zh-CN" altLang="en-US" sz="2400">
                <a:ea typeface="宋体" panose="02010600030101010101" pitchFamily="2" charset="-122"/>
                <a:sym typeface="+mn-ea"/>
              </a:rPr>
              <a:t>内存结构</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 name="内容占位符 2"/>
          <p:cNvSpPr>
            <a:spLocks noGrp="1"/>
          </p:cNvSpPr>
          <p:nvPr>
            <p:ph idx="4294967295"/>
          </p:nvPr>
        </p:nvSpPr>
        <p:spPr>
          <a:xfrm>
            <a:off x="1059815" y="1160145"/>
            <a:ext cx="9527540" cy="4974590"/>
          </a:xfrm>
        </p:spPr>
        <p:txBody>
          <a:bodyPr>
            <a:normAutofit lnSpcReduction="10000"/>
          </a:bodyPr>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在执行</a:t>
            </a:r>
            <a:r>
              <a:rPr lang="en-US" dirty="0">
                <a:ea typeface="宋体" panose="02010600030101010101" pitchFamily="2" charset="-122"/>
                <a:sym typeface="+mn-ea"/>
              </a:rPr>
              <a:t>Java</a:t>
            </a:r>
            <a:r>
              <a:rPr lang="zh-CN" altLang="en-US" dirty="0">
                <a:ea typeface="宋体" panose="02010600030101010101" pitchFamily="2" charset="-122"/>
                <a:sym typeface="+mn-ea"/>
              </a:rPr>
              <a:t>应用程序时，</a:t>
            </a:r>
            <a:r>
              <a:rPr lang="en-US" dirty="0">
                <a:ea typeface="宋体" panose="02010600030101010101" pitchFamily="2" charset="-122"/>
                <a:sym typeface="+mn-ea"/>
              </a:rPr>
              <a:t>JVM</a:t>
            </a:r>
            <a:r>
              <a:rPr lang="zh-CN" altLang="en-US" dirty="0">
                <a:ea typeface="宋体" panose="02010600030101010101" pitchFamily="2" charset="-122"/>
                <a:sym typeface="+mn-ea"/>
              </a:rPr>
              <a:t>将内存划分为多个不同区域，用以维持程序的运行。</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对于</a:t>
            </a:r>
            <a:r>
              <a:rPr lang="en-US" dirty="0">
                <a:ea typeface="宋体" panose="02010600030101010101" pitchFamily="2" charset="-122"/>
                <a:sym typeface="+mn-ea"/>
              </a:rPr>
              <a:t>Java</a:t>
            </a:r>
            <a:r>
              <a:rPr lang="zh-CN" altLang="en-US" dirty="0">
                <a:ea typeface="宋体" panose="02010600030101010101" pitchFamily="2" charset="-122"/>
                <a:sym typeface="+mn-ea"/>
              </a:rPr>
              <a:t>程序员来说，应了解堆和堆栈的用途：</a:t>
            </a:r>
            <a:endParaRPr lang="zh-CN" altLang="en-US" dirty="0">
              <a:ea typeface="宋体" panose="02010600030101010101" pitchFamily="2" charset="-122"/>
            </a:endParaRPr>
          </a:p>
          <a:p>
            <a:pPr marL="704850" lvl="1" indent="-361950" eaLnBrk="1" hangingPunct="1"/>
            <a:r>
              <a:rPr lang="zh-CN" altLang="en-US" sz="2400" dirty="0">
                <a:solidFill>
                  <a:srgbClr val="002060"/>
                </a:solidFill>
                <a:ea typeface="宋体" panose="02010600030101010101" pitchFamily="2" charset="-122"/>
                <a:sym typeface="+mn-ea"/>
              </a:rPr>
              <a:t>堆栈：用于临时保存局部变量的值</a:t>
            </a:r>
            <a:endParaRPr lang="zh-CN" altLang="en-US" sz="2400" dirty="0">
              <a:solidFill>
                <a:srgbClr val="002060"/>
              </a:solidFill>
              <a:ea typeface="宋体" panose="02010600030101010101" pitchFamily="2" charset="-122"/>
            </a:endParaRPr>
          </a:p>
          <a:p>
            <a:pPr marL="704850" lvl="1" indent="-361950" eaLnBrk="1" hangingPunct="1"/>
            <a:r>
              <a:rPr lang="zh-CN" altLang="en-US" sz="2400" dirty="0">
                <a:solidFill>
                  <a:srgbClr val="002060"/>
                </a:solidFill>
                <a:ea typeface="宋体" panose="02010600030101010101" pitchFamily="2" charset="-122"/>
                <a:sym typeface="+mn-ea"/>
              </a:rPr>
              <a:t>堆：用于存储对象及其加载的类</a:t>
            </a:r>
            <a:endParaRPr lang="en-US" altLang="zh-CN" dirty="0">
              <a:ea typeface="宋体" panose="02010600030101010101" pitchFamily="2" charset="-122"/>
              <a:sym typeface="+mn-ea"/>
            </a:endParaRPr>
          </a:p>
        </p:txBody>
      </p:sp>
      <p:pic>
        <p:nvPicPr>
          <p:cNvPr id="159749" name="Picture 2"/>
          <p:cNvPicPr>
            <a:picLocks noChangeAspect="1" noChangeArrowheads="1"/>
          </p:cNvPicPr>
          <p:nvPr/>
        </p:nvPicPr>
        <p:blipFill>
          <a:blip r:embed="rId5"/>
          <a:srcRect/>
          <a:stretch>
            <a:fillRect/>
          </a:stretch>
        </p:blipFill>
        <p:spPr bwMode="auto">
          <a:xfrm>
            <a:off x="4006843" y="1982780"/>
            <a:ext cx="2089150" cy="255587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sz="2400">
                <a:ea typeface="宋体" panose="02010600030101010101" pitchFamily="2" charset="-122"/>
                <a:sym typeface="+mn-ea"/>
              </a:rPr>
              <a:t>JVM</a:t>
            </a:r>
            <a:r>
              <a:rPr lang="zh-CN" altLang="en-US" sz="2400">
                <a:ea typeface="宋体" panose="02010600030101010101" pitchFamily="2" charset="-122"/>
                <a:sym typeface="+mn-ea"/>
              </a:rPr>
              <a:t>内存结构</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 name="内容占位符 2"/>
          <p:cNvSpPr>
            <a:spLocks noGrp="1"/>
          </p:cNvSpPr>
          <p:nvPr>
            <p:ph idx="4294967295"/>
          </p:nvPr>
        </p:nvSpPr>
        <p:spPr>
          <a:xfrm>
            <a:off x="1059815" y="1029335"/>
            <a:ext cx="9527540" cy="4974590"/>
          </a:xfrm>
        </p:spPr>
        <p:txBody>
          <a:bodyPr>
            <a:normAutofit lnSpcReduction="20000"/>
          </a:bodyPr>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所有由代码直接或间接创建的对象均被保存在堆（</a:t>
            </a:r>
            <a:r>
              <a:rPr lang="en-US" dirty="0">
                <a:ea typeface="宋体" panose="02010600030101010101" pitchFamily="2" charset="-122"/>
                <a:sym typeface="+mn-ea"/>
              </a:rPr>
              <a:t>Heap</a:t>
            </a:r>
            <a:r>
              <a:rPr lang="zh-CN" altLang="en-US" dirty="0">
                <a:ea typeface="宋体" panose="02010600030101010101" pitchFamily="2" charset="-122"/>
                <a:sym typeface="+mn-ea"/>
              </a:rPr>
              <a:t>）内存中</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en-US" dirty="0">
                <a:ea typeface="宋体" panose="02010600030101010101" pitchFamily="2" charset="-122"/>
                <a:sym typeface="+mn-ea"/>
              </a:rPr>
              <a:t>JVM</a:t>
            </a:r>
            <a:r>
              <a:rPr lang="zh-CN" altLang="en-US" dirty="0">
                <a:ea typeface="宋体" panose="02010600030101010101" pitchFamily="2" charset="-122"/>
                <a:sym typeface="+mn-ea"/>
              </a:rPr>
              <a:t>将堆内存划分为两个部分：垃圾回收区和永久区。</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所有创建的对象均被存放在垃圾回收区中，而永久区只用于存放</a:t>
            </a:r>
            <a:r>
              <a:rPr lang="en-US" dirty="0">
                <a:ea typeface="宋体" panose="02010600030101010101" pitchFamily="2" charset="-122"/>
                <a:sym typeface="+mn-ea"/>
              </a:rPr>
              <a:t>JVM</a:t>
            </a:r>
            <a:r>
              <a:rPr lang="zh-CN" altLang="en-US" dirty="0">
                <a:ea typeface="宋体" panose="02010600030101010101" pitchFamily="2" charset="-122"/>
                <a:sym typeface="+mn-ea"/>
              </a:rPr>
              <a:t>所加载类的信息。</a:t>
            </a:r>
            <a:endParaRPr lang="en-US" altLang="zh-CN" dirty="0">
              <a:ea typeface="宋体" panose="02010600030101010101" pitchFamily="2" charset="-122"/>
              <a:sym typeface="+mn-ea"/>
            </a:endParaRPr>
          </a:p>
        </p:txBody>
      </p:sp>
      <p:pic>
        <p:nvPicPr>
          <p:cNvPr id="160773" name="Picture 2"/>
          <p:cNvPicPr>
            <a:picLocks noChangeAspect="1" noChangeArrowheads="1"/>
          </p:cNvPicPr>
          <p:nvPr/>
        </p:nvPicPr>
        <p:blipFill>
          <a:blip r:embed="rId5"/>
          <a:srcRect/>
          <a:stretch>
            <a:fillRect/>
          </a:stretch>
        </p:blipFill>
        <p:spPr bwMode="auto">
          <a:xfrm>
            <a:off x="2576532" y="2265696"/>
            <a:ext cx="5834062" cy="2703513"/>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sz="2400">
                <a:ea typeface="宋体" panose="02010600030101010101" pitchFamily="2" charset="-122"/>
                <a:sym typeface="+mn-ea"/>
              </a:rPr>
              <a:t>JVM</a:t>
            </a:r>
            <a:r>
              <a:rPr lang="zh-CN" altLang="en-US" sz="2400">
                <a:ea typeface="宋体" panose="02010600030101010101" pitchFamily="2" charset="-122"/>
                <a:sym typeface="+mn-ea"/>
              </a:rPr>
              <a:t>垃圾回收机制</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 name="内容占位符 2"/>
          <p:cNvSpPr>
            <a:spLocks noGrp="1"/>
          </p:cNvSpPr>
          <p:nvPr>
            <p:ph idx="4294967295"/>
          </p:nvPr>
        </p:nvSpPr>
        <p:spPr>
          <a:xfrm>
            <a:off x="1059815" y="1029335"/>
            <a:ext cx="9527540" cy="5283200"/>
          </a:xfrm>
        </p:spPr>
        <p:txBody>
          <a:bodyPr>
            <a:normAutofit fontScale="90000" lnSpcReduction="20000"/>
          </a:bodyPr>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垃圾对象 </a:t>
            </a:r>
            <a:r>
              <a:rPr lang="en-US" dirty="0">
                <a:ea typeface="宋体" panose="02010600030101010101" pitchFamily="2" charset="-122"/>
                <a:sym typeface="+mn-ea"/>
              </a:rPr>
              <a:t>— </a:t>
            </a:r>
            <a:r>
              <a:rPr lang="zh-CN" altLang="en-US" dirty="0">
                <a:ea typeface="宋体" panose="02010600030101010101" pitchFamily="2" charset="-122"/>
                <a:sym typeface="+mn-ea"/>
              </a:rPr>
              <a:t>内存中不再被使用的对象</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垃圾回收（</a:t>
            </a:r>
            <a:r>
              <a:rPr lang="en-US" dirty="0">
                <a:ea typeface="宋体" panose="02010600030101010101" pitchFamily="2" charset="-122"/>
                <a:sym typeface="+mn-ea"/>
              </a:rPr>
              <a:t>GC</a:t>
            </a:r>
            <a:r>
              <a:rPr lang="zh-CN" altLang="en-US" dirty="0">
                <a:ea typeface="宋体" panose="02010600030101010101" pitchFamily="2" charset="-122"/>
                <a:sym typeface="+mn-ea"/>
              </a:rPr>
              <a:t>） </a:t>
            </a:r>
            <a:r>
              <a:rPr lang="en-US" dirty="0">
                <a:ea typeface="宋体" panose="02010600030101010101" pitchFamily="2" charset="-122"/>
                <a:sym typeface="+mn-ea"/>
              </a:rPr>
              <a:t>— JVM</a:t>
            </a:r>
            <a:r>
              <a:rPr lang="zh-CN" altLang="en-US" dirty="0">
                <a:ea typeface="宋体" panose="02010600030101010101" pitchFamily="2" charset="-122"/>
                <a:sym typeface="+mn-ea"/>
              </a:rPr>
              <a:t>自动释放垃圾对象所占内存的机制</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如果对象再没有被引用变量引用时，便称之为垃圾，其所占用的内存将很快被</a:t>
            </a:r>
            <a:r>
              <a:rPr lang="en-US" dirty="0">
                <a:ea typeface="宋体" panose="02010600030101010101" pitchFamily="2" charset="-122"/>
                <a:sym typeface="+mn-ea"/>
              </a:rPr>
              <a:t>JVM</a:t>
            </a:r>
            <a:r>
              <a:rPr lang="zh-CN" altLang="en-US" dirty="0">
                <a:ea typeface="宋体" panose="02010600030101010101" pitchFamily="2" charset="-122"/>
                <a:sym typeface="+mn-ea"/>
              </a:rPr>
              <a:t>回收。</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endParaRPr>
          </a:p>
          <a:p>
            <a:pPr lvl="1">
              <a:lnSpc>
                <a:spcPct val="90000"/>
              </a:lnSpc>
              <a:buFont typeface="Times"/>
              <a:buNone/>
            </a:pPr>
            <a:r>
              <a:rPr lang="en-US" dirty="0">
                <a:solidFill>
                  <a:srgbClr val="002060"/>
                </a:solidFill>
                <a:sym typeface="+mn-ea"/>
              </a:rPr>
              <a:t>1  public class </a:t>
            </a:r>
            <a:r>
              <a:rPr lang="en-US" dirty="0" err="1">
                <a:solidFill>
                  <a:srgbClr val="002060"/>
                </a:solidFill>
                <a:sym typeface="+mn-ea"/>
              </a:rPr>
              <a:t>TestCat</a:t>
            </a:r>
            <a:r>
              <a:rPr lang="en-US" dirty="0">
                <a:solidFill>
                  <a:srgbClr val="002060"/>
                </a:solidFill>
                <a:sym typeface="+mn-ea"/>
              </a:rPr>
              <a:t> {</a:t>
            </a:r>
            <a:endParaRPr lang="en-US" dirty="0">
              <a:solidFill>
                <a:srgbClr val="002060"/>
              </a:solidFill>
            </a:endParaRPr>
          </a:p>
          <a:p>
            <a:pPr lvl="1">
              <a:lnSpc>
                <a:spcPct val="90000"/>
              </a:lnSpc>
              <a:buFont typeface="Times"/>
              <a:buNone/>
            </a:pPr>
            <a:r>
              <a:rPr lang="en-US" dirty="0">
                <a:solidFill>
                  <a:srgbClr val="002060"/>
                </a:solidFill>
                <a:sym typeface="+mn-ea"/>
              </a:rPr>
              <a:t>2      public static void main(String[] </a:t>
            </a:r>
            <a:r>
              <a:rPr lang="en-US" dirty="0" err="1">
                <a:solidFill>
                  <a:srgbClr val="002060"/>
                </a:solidFill>
                <a:sym typeface="+mn-ea"/>
              </a:rPr>
              <a:t>args</a:t>
            </a:r>
            <a:r>
              <a:rPr lang="en-US" dirty="0">
                <a:solidFill>
                  <a:srgbClr val="002060"/>
                </a:solidFill>
                <a:sym typeface="+mn-ea"/>
              </a:rPr>
              <a:t>) {</a:t>
            </a:r>
            <a:endParaRPr lang="en-US" dirty="0">
              <a:solidFill>
                <a:srgbClr val="002060"/>
              </a:solidFill>
            </a:endParaRPr>
          </a:p>
          <a:p>
            <a:pPr lvl="1">
              <a:lnSpc>
                <a:spcPct val="90000"/>
              </a:lnSpc>
              <a:buFont typeface="Times"/>
              <a:buNone/>
            </a:pPr>
            <a:r>
              <a:rPr lang="en-US" b="1" dirty="0">
                <a:solidFill>
                  <a:srgbClr val="002060"/>
                </a:solidFill>
                <a:sym typeface="+mn-ea"/>
              </a:rPr>
              <a:t>3         </a:t>
            </a:r>
            <a:r>
              <a:rPr lang="en-US" dirty="0">
                <a:solidFill>
                  <a:srgbClr val="002060"/>
                </a:solidFill>
                <a:sym typeface="+mn-ea"/>
              </a:rPr>
              <a:t> Cat c = new Cat ();</a:t>
            </a:r>
            <a:endParaRPr lang="en-US" dirty="0">
              <a:solidFill>
                <a:srgbClr val="002060"/>
              </a:solidFill>
            </a:endParaRPr>
          </a:p>
          <a:p>
            <a:pPr lvl="1">
              <a:lnSpc>
                <a:spcPct val="90000"/>
              </a:lnSpc>
              <a:buFont typeface="Times"/>
              <a:buNone/>
            </a:pPr>
            <a:r>
              <a:rPr lang="en-US" dirty="0">
                <a:solidFill>
                  <a:srgbClr val="002060"/>
                </a:solidFill>
                <a:sym typeface="+mn-ea"/>
              </a:rPr>
              <a:t>4          </a:t>
            </a:r>
            <a:r>
              <a:rPr lang="en-US" dirty="0" err="1">
                <a:solidFill>
                  <a:srgbClr val="002060"/>
                </a:solidFill>
                <a:sym typeface="+mn-ea"/>
              </a:rPr>
              <a:t>System.out.println</a:t>
            </a:r>
            <a:r>
              <a:rPr lang="en-US" dirty="0">
                <a:solidFill>
                  <a:srgbClr val="002060"/>
                </a:solidFill>
                <a:sym typeface="+mn-ea"/>
              </a:rPr>
              <a:t>("Cat </a:t>
            </a:r>
            <a:r>
              <a:rPr lang="en-US" dirty="0" err="1">
                <a:solidFill>
                  <a:srgbClr val="002060"/>
                </a:solidFill>
                <a:sym typeface="+mn-ea"/>
              </a:rPr>
              <a:t>c’s</a:t>
            </a:r>
            <a:r>
              <a:rPr lang="en-US" dirty="0">
                <a:solidFill>
                  <a:srgbClr val="002060"/>
                </a:solidFill>
                <a:sym typeface="+mn-ea"/>
              </a:rPr>
              <a:t> weight is " + </a:t>
            </a:r>
            <a:r>
              <a:rPr lang="en-US" dirty="0" err="1">
                <a:solidFill>
                  <a:srgbClr val="002060"/>
                </a:solidFill>
                <a:sym typeface="+mn-ea"/>
              </a:rPr>
              <a:t>c.getWeight</a:t>
            </a:r>
            <a:r>
              <a:rPr lang="en-US" dirty="0">
                <a:solidFill>
                  <a:srgbClr val="002060"/>
                </a:solidFill>
                <a:sym typeface="+mn-ea"/>
              </a:rPr>
              <a:t>());</a:t>
            </a:r>
            <a:endParaRPr lang="en-US" dirty="0">
              <a:solidFill>
                <a:srgbClr val="002060"/>
              </a:solidFill>
            </a:endParaRPr>
          </a:p>
          <a:p>
            <a:pPr lvl="1">
              <a:lnSpc>
                <a:spcPct val="90000"/>
              </a:lnSpc>
              <a:buFont typeface="Times"/>
              <a:buNone/>
            </a:pPr>
            <a:r>
              <a:rPr lang="en-US" b="1" dirty="0">
                <a:solidFill>
                  <a:srgbClr val="002060"/>
                </a:solidFill>
                <a:sym typeface="+mn-ea"/>
              </a:rPr>
              <a:t>5          c = null;</a:t>
            </a:r>
            <a:endParaRPr lang="en-US" dirty="0">
              <a:solidFill>
                <a:srgbClr val="002060"/>
              </a:solidFill>
            </a:endParaRPr>
          </a:p>
          <a:p>
            <a:pPr lvl="1">
              <a:lnSpc>
                <a:spcPct val="90000"/>
              </a:lnSpc>
              <a:buFont typeface="Times"/>
              <a:buNone/>
            </a:pPr>
            <a:r>
              <a:rPr lang="en-US" dirty="0">
                <a:solidFill>
                  <a:srgbClr val="002060"/>
                </a:solidFill>
                <a:sym typeface="+mn-ea"/>
              </a:rPr>
              <a:t>6</a:t>
            </a:r>
            <a:endParaRPr lang="en-US" dirty="0">
              <a:solidFill>
                <a:srgbClr val="002060"/>
              </a:solidFill>
            </a:endParaRPr>
          </a:p>
          <a:p>
            <a:pPr lvl="1">
              <a:lnSpc>
                <a:spcPct val="90000"/>
              </a:lnSpc>
              <a:buFont typeface="Times"/>
              <a:buNone/>
            </a:pPr>
            <a:r>
              <a:rPr lang="en-US" dirty="0">
                <a:solidFill>
                  <a:srgbClr val="002060"/>
                </a:solidFill>
                <a:sym typeface="+mn-ea"/>
              </a:rPr>
              <a:t>7</a:t>
            </a:r>
            <a:r>
              <a:rPr lang="en-US" b="1" dirty="0">
                <a:solidFill>
                  <a:srgbClr val="002060"/>
                </a:solidFill>
                <a:sym typeface="+mn-ea"/>
              </a:rPr>
              <a:t>         </a:t>
            </a:r>
            <a:r>
              <a:rPr lang="en-US" dirty="0">
                <a:solidFill>
                  <a:srgbClr val="002060"/>
                </a:solidFill>
                <a:sym typeface="+mn-ea"/>
              </a:rPr>
              <a:t> Cat </a:t>
            </a:r>
            <a:r>
              <a:rPr lang="en-US" b="1" dirty="0">
                <a:solidFill>
                  <a:srgbClr val="002060"/>
                </a:solidFill>
                <a:sym typeface="+mn-ea"/>
              </a:rPr>
              <a:t>c1 = new </a:t>
            </a:r>
            <a:r>
              <a:rPr lang="en-US" dirty="0">
                <a:solidFill>
                  <a:srgbClr val="002060"/>
                </a:solidFill>
                <a:sym typeface="+mn-ea"/>
              </a:rPr>
              <a:t>Cat </a:t>
            </a:r>
            <a:r>
              <a:rPr lang="en-US" b="1" dirty="0">
                <a:solidFill>
                  <a:srgbClr val="002060"/>
                </a:solidFill>
                <a:sym typeface="+mn-ea"/>
              </a:rPr>
              <a:t>();</a:t>
            </a:r>
            <a:endParaRPr lang="en-US" dirty="0">
              <a:solidFill>
                <a:srgbClr val="002060"/>
              </a:solidFill>
            </a:endParaRPr>
          </a:p>
          <a:p>
            <a:pPr lvl="1">
              <a:lnSpc>
                <a:spcPct val="90000"/>
              </a:lnSpc>
              <a:buFont typeface="Times"/>
              <a:buNone/>
            </a:pPr>
            <a:r>
              <a:rPr lang="en-US" dirty="0">
                <a:solidFill>
                  <a:srgbClr val="002060"/>
                </a:solidFill>
                <a:sym typeface="+mn-ea"/>
              </a:rPr>
              <a:t>8          </a:t>
            </a:r>
            <a:r>
              <a:rPr lang="en-US" dirty="0" err="1">
                <a:solidFill>
                  <a:srgbClr val="002060"/>
                </a:solidFill>
                <a:sym typeface="+mn-ea"/>
              </a:rPr>
              <a:t>System.out.println</a:t>
            </a:r>
            <a:r>
              <a:rPr lang="en-US" dirty="0">
                <a:solidFill>
                  <a:srgbClr val="002060"/>
                </a:solidFill>
                <a:sym typeface="+mn-ea"/>
              </a:rPr>
              <a:t>("Cat </a:t>
            </a:r>
            <a:r>
              <a:rPr lang="en-US" dirty="0" err="1">
                <a:solidFill>
                  <a:srgbClr val="002060"/>
                </a:solidFill>
                <a:sym typeface="+mn-ea"/>
              </a:rPr>
              <a:t>c’s</a:t>
            </a:r>
            <a:r>
              <a:rPr lang="en-US" dirty="0">
                <a:solidFill>
                  <a:srgbClr val="002060"/>
                </a:solidFill>
                <a:sym typeface="+mn-ea"/>
              </a:rPr>
              <a:t> weight is " + c1.getWeight());</a:t>
            </a:r>
            <a:endParaRPr lang="en-US" dirty="0">
              <a:solidFill>
                <a:srgbClr val="002060"/>
              </a:solidFill>
            </a:endParaRPr>
          </a:p>
          <a:p>
            <a:pPr lvl="1">
              <a:lnSpc>
                <a:spcPct val="90000"/>
              </a:lnSpc>
              <a:buFont typeface="Times"/>
              <a:buNone/>
            </a:pPr>
            <a:r>
              <a:rPr lang="en-US" dirty="0">
                <a:solidFill>
                  <a:srgbClr val="002060"/>
                </a:solidFill>
                <a:sym typeface="+mn-ea"/>
              </a:rPr>
              <a:t>9      }</a:t>
            </a:r>
            <a:endParaRPr lang="en-US" dirty="0">
              <a:solidFill>
                <a:srgbClr val="002060"/>
              </a:solidFill>
            </a:endParaRPr>
          </a:p>
          <a:p>
            <a:pPr lvl="1">
              <a:lnSpc>
                <a:spcPct val="90000"/>
              </a:lnSpc>
              <a:buFont typeface="Times"/>
              <a:buNone/>
            </a:pPr>
            <a:r>
              <a:rPr lang="en-US" dirty="0">
                <a:solidFill>
                  <a:srgbClr val="002060"/>
                </a:solidFill>
                <a:sym typeface="+mn-ea"/>
              </a:rPr>
              <a:t>10 }</a:t>
            </a: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516505"/>
            <a:ext cx="3369310" cy="460375"/>
          </a:xfrm>
          <a:prstGeom prst="rect">
            <a:avLst/>
          </a:prstGeom>
          <a:noFill/>
        </p:spPr>
        <p:txBody>
          <a:bodyPr wrap="square" rtlCol="0">
            <a:spAutoFit/>
          </a:bodyPr>
          <a:lstStyle/>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zh-CN" altLang="en-US" sz="2400" dirty="0">
                <a:latin typeface="+mj-ea"/>
                <a:ea typeface="+mj-ea"/>
                <a:cs typeface="+mj-ea"/>
                <a:sym typeface="+mn-ea"/>
              </a:rPr>
              <a:t>访问权限修饰符</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第六章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类的封装</a:t>
            </a:r>
            <a:endPar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7" name="矩形 36"/>
          <p:cNvSpPr/>
          <p:nvPr/>
        </p:nvSpPr>
        <p:spPr>
          <a:xfrm>
            <a:off x="4765675" y="3362960"/>
            <a:ext cx="390715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2.</a:t>
            </a:r>
            <a:r>
              <a:rPr lang="en-US" sz="2400" dirty="0">
                <a:solidFill>
                  <a:srgbClr val="ED7D31"/>
                </a:solidFill>
                <a:latin typeface="+mj-ea"/>
                <a:ea typeface="+mj-ea"/>
                <a:cs typeface="+mj-ea"/>
                <a:sym typeface="+mn-ea"/>
              </a:rPr>
              <a:t>this</a:t>
            </a:r>
            <a:r>
              <a:rPr lang="zh-CN" altLang="en-US" sz="2400" dirty="0">
                <a:solidFill>
                  <a:srgbClr val="ED7D31"/>
                </a:solidFill>
                <a:latin typeface="+mj-ea"/>
                <a:ea typeface="+mj-ea"/>
                <a:cs typeface="+mj-ea"/>
                <a:sym typeface="+mn-ea"/>
              </a:rPr>
              <a:t>关键字</a:t>
            </a:r>
            <a:endParaRPr kumimoji="0" lang="zh-CN" altLang="en-US" sz="2400" b="0" i="0" u="none" strike="noStrike" kern="1200" cap="none" spc="0" normalizeH="0" baseline="0" noProof="0" dirty="0">
              <a:ln>
                <a:noFill/>
              </a:ln>
              <a:solidFill>
                <a:srgbClr val="ED7D31"/>
              </a:solidFill>
              <a:effectLst/>
              <a:uLnTx/>
              <a:uFillTx/>
              <a:latin typeface="+mj-ea"/>
              <a:ea typeface="+mj-ea"/>
              <a:cs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318260" y="3137535"/>
            <a:ext cx="950976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访问权限修饰符</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solidFill>
                  <a:srgbClr val="002060"/>
                </a:solidFill>
                <a:ea typeface="宋体" panose="02010600030101010101" pitchFamily="2" charset="-122"/>
                <a:sym typeface="+mn-ea"/>
              </a:rPr>
              <a:t>访问权限修饰符 </a:t>
            </a:r>
            <a:r>
              <a:rPr lang="en-US" sz="2400">
                <a:solidFill>
                  <a:srgbClr val="002060"/>
                </a:solidFill>
                <a:ea typeface="宋体" panose="02010600030101010101" pitchFamily="2" charset="-122"/>
                <a:sym typeface="+mn-ea"/>
              </a:rPr>
              <a:t>private</a:t>
            </a:r>
            <a:r>
              <a:rPr lang="zh-CN" altLang="en-US" sz="2400">
                <a:solidFill>
                  <a:srgbClr val="002060"/>
                </a:solidFill>
                <a:ea typeface="宋体" panose="02010600030101010101" pitchFamily="2" charset="-122"/>
                <a:sym typeface="+mn-ea"/>
              </a:rPr>
              <a:t>与</a:t>
            </a:r>
            <a:r>
              <a:rPr lang="en-US" sz="2400">
                <a:solidFill>
                  <a:srgbClr val="002060"/>
                </a:solidFill>
                <a:ea typeface="宋体" panose="02010600030101010101" pitchFamily="2" charset="-122"/>
                <a:sym typeface="+mn-ea"/>
              </a:rPr>
              <a:t>public</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 name="内容占位符 2"/>
          <p:cNvSpPr>
            <a:spLocks noGrp="1"/>
          </p:cNvSpPr>
          <p:nvPr>
            <p:ph idx="4294967295"/>
          </p:nvPr>
        </p:nvSpPr>
        <p:spPr>
          <a:xfrm>
            <a:off x="1059815" y="1029335"/>
            <a:ext cx="9527540" cy="5283200"/>
          </a:xfrm>
        </p:spPr>
        <p:txBody>
          <a:bodyPr>
            <a:normAutofit/>
          </a:bodyPr>
          <a:p>
            <a:pPr eaLnBrk="1" hangingPunct="1">
              <a:lnSpc>
                <a:spcPct val="160000"/>
              </a:lnSpc>
              <a:buClr>
                <a:srgbClr val="ED7D31"/>
              </a:buClr>
              <a:buFont typeface="Wingdings" panose="05000000000000000000" charset="0"/>
              <a:buChar char="Ø"/>
            </a:pPr>
            <a:r>
              <a:rPr lang="en-US" altLang="zh-CN" dirty="0">
                <a:ea typeface="宋体" panose="02010600030101010101" pitchFamily="2" charset="-122"/>
                <a:sym typeface="+mn-ea"/>
              </a:rPr>
              <a:t>  </a:t>
            </a:r>
            <a:r>
              <a:rPr lang="zh-CN" altLang="en-US" dirty="0">
                <a:ea typeface="宋体" panose="02010600030101010101" pitchFamily="2" charset="-122"/>
                <a:sym typeface="+mn-ea"/>
              </a:rPr>
              <a:t>访问权限修饰符用来修饰控制对象成员是否能够被访问</a:t>
            </a:r>
            <a:endParaRPr lang="zh-CN" altLang="en-US" dirty="0">
              <a:ea typeface="宋体" panose="02010600030101010101" pitchFamily="2" charset="-122"/>
            </a:endParaRPr>
          </a:p>
          <a:p>
            <a:pPr marL="704850" lvl="1" indent="-361950" eaLnBrk="1" hangingPunct="1">
              <a:lnSpc>
                <a:spcPct val="160000"/>
              </a:lnSpc>
            </a:pPr>
            <a:r>
              <a:rPr lang="en-US" dirty="0">
                <a:solidFill>
                  <a:srgbClr val="ED7D31"/>
                </a:solidFill>
                <a:ea typeface="宋体" panose="02010600030101010101" pitchFamily="2" charset="-122"/>
                <a:sym typeface="+mn-ea"/>
              </a:rPr>
              <a:t>public</a:t>
            </a:r>
            <a:r>
              <a:rPr lang="zh-CN" altLang="en-US" dirty="0">
                <a:solidFill>
                  <a:srgbClr val="ED7D31"/>
                </a:solidFill>
                <a:ea typeface="宋体" panose="02010600030101010101" pitchFamily="2" charset="-122"/>
                <a:sym typeface="+mn-ea"/>
              </a:rPr>
              <a:t>：允许成员（属性或方法）被从对象的外部直接访问</a:t>
            </a:r>
            <a:endParaRPr lang="zh-CN" altLang="en-US" dirty="0">
              <a:solidFill>
                <a:srgbClr val="ED7D31"/>
              </a:solidFill>
              <a:ea typeface="宋体" panose="02010600030101010101" pitchFamily="2" charset="-122"/>
            </a:endParaRPr>
          </a:p>
          <a:p>
            <a:pPr marL="704850" lvl="1" indent="-361950" eaLnBrk="1" hangingPunct="1">
              <a:lnSpc>
                <a:spcPct val="160000"/>
              </a:lnSpc>
              <a:buFont typeface="Times"/>
              <a:buNone/>
            </a:pPr>
            <a:r>
              <a:rPr lang="zh-CN" altLang="en-US" dirty="0">
                <a:ea typeface="宋体" panose="02010600030101010101" pitchFamily="2" charset="-122"/>
                <a:sym typeface="+mn-ea"/>
              </a:rPr>
              <a:t>	</a:t>
            </a:r>
            <a:r>
              <a:rPr lang="zh-CN" altLang="en-US" sz="1800" dirty="0">
                <a:ea typeface="宋体" panose="02010600030101010101" pitchFamily="2" charset="-122"/>
                <a:sym typeface="+mn-ea"/>
              </a:rPr>
              <a:t>示例：</a:t>
            </a:r>
            <a:r>
              <a:rPr lang="en-US" sz="1800" dirty="0">
                <a:ea typeface="宋体" panose="02010600030101010101" pitchFamily="2" charset="-122"/>
                <a:sym typeface="+mn-ea"/>
              </a:rPr>
              <a:t>public String name;</a:t>
            </a:r>
            <a:endParaRPr lang="en-US" sz="1800" dirty="0">
              <a:ea typeface="宋体" panose="02010600030101010101" pitchFamily="2" charset="-122"/>
            </a:endParaRPr>
          </a:p>
          <a:p>
            <a:pPr marL="704850" lvl="1" indent="-361950" eaLnBrk="1" hangingPunct="1">
              <a:lnSpc>
                <a:spcPct val="160000"/>
              </a:lnSpc>
              <a:buFont typeface="Times"/>
              <a:buNone/>
            </a:pPr>
            <a:r>
              <a:rPr lang="en-US" sz="1800" dirty="0">
                <a:ea typeface="宋体" panose="02010600030101010101" pitchFamily="2" charset="-122"/>
                <a:sym typeface="+mn-ea"/>
              </a:rPr>
              <a:t>	           public String </a:t>
            </a:r>
            <a:r>
              <a:rPr lang="en-US" sz="1800" dirty="0" err="1">
                <a:ea typeface="宋体" panose="02010600030101010101" pitchFamily="2" charset="-122"/>
                <a:sym typeface="+mn-ea"/>
              </a:rPr>
              <a:t>getName</a:t>
            </a:r>
            <a:r>
              <a:rPr lang="en-US" sz="1800" dirty="0">
                <a:ea typeface="宋体" panose="02010600030101010101" pitchFamily="2" charset="-122"/>
                <a:sym typeface="+mn-ea"/>
              </a:rPr>
              <a:t>() { … }</a:t>
            </a:r>
            <a:endParaRPr lang="zh-CN" altLang="en-US" sz="1800" dirty="0">
              <a:ea typeface="宋体" panose="02010600030101010101" pitchFamily="2" charset="-122"/>
              <a:sym typeface="+mn-ea"/>
            </a:endParaRPr>
          </a:p>
          <a:p>
            <a:pPr marL="704850" lvl="1" indent="-361950" eaLnBrk="1" hangingPunct="1">
              <a:lnSpc>
                <a:spcPct val="160000"/>
              </a:lnSpc>
            </a:pPr>
            <a:r>
              <a:rPr lang="zh-CN" altLang="en-US" dirty="0">
                <a:solidFill>
                  <a:srgbClr val="ED7D31"/>
                </a:solidFill>
                <a:ea typeface="宋体" panose="02010600030101010101" pitchFamily="2" charset="-122"/>
                <a:sym typeface="+mn-ea"/>
              </a:rPr>
              <a:t>如果对</a:t>
            </a:r>
            <a:r>
              <a:rPr lang="en-US" dirty="0">
                <a:solidFill>
                  <a:srgbClr val="ED7D31"/>
                </a:solidFill>
                <a:ea typeface="宋体" panose="02010600030101010101" pitchFamily="2" charset="-122"/>
                <a:sym typeface="+mn-ea"/>
              </a:rPr>
              <a:t>private</a:t>
            </a:r>
            <a:r>
              <a:rPr lang="zh-CN" altLang="en-US" dirty="0">
                <a:solidFill>
                  <a:srgbClr val="ED7D31"/>
                </a:solidFill>
                <a:ea typeface="宋体" panose="02010600030101010101" pitchFamily="2" charset="-122"/>
                <a:sym typeface="+mn-ea"/>
              </a:rPr>
              <a:t>：不允许成员（属性或方法）被从对象的外部直接访问</a:t>
            </a:r>
            <a:endParaRPr lang="zh-CN" altLang="en-US" dirty="0">
              <a:solidFill>
                <a:srgbClr val="ED7D31"/>
              </a:solidFill>
              <a:ea typeface="宋体" panose="02010600030101010101" pitchFamily="2" charset="-122"/>
            </a:endParaRPr>
          </a:p>
          <a:p>
            <a:pPr marL="704850" lvl="1" indent="-361950" eaLnBrk="1" hangingPunct="1">
              <a:lnSpc>
                <a:spcPct val="160000"/>
              </a:lnSpc>
              <a:buFont typeface="Times"/>
              <a:buNone/>
            </a:pPr>
            <a:r>
              <a:rPr lang="zh-CN" altLang="en-US" sz="1800" dirty="0">
                <a:ea typeface="宋体" panose="02010600030101010101" pitchFamily="2" charset="-122"/>
                <a:sym typeface="+mn-ea"/>
              </a:rPr>
              <a:t>	示例：</a:t>
            </a:r>
            <a:r>
              <a:rPr lang="en-US" sz="1800" dirty="0">
                <a:ea typeface="宋体" panose="02010600030101010101" pitchFamily="2" charset="-122"/>
                <a:sym typeface="+mn-ea"/>
              </a:rPr>
              <a:t>private String name;</a:t>
            </a:r>
            <a:endParaRPr lang="en-US" sz="1800" dirty="0">
              <a:ea typeface="宋体" panose="02010600030101010101" pitchFamily="2" charset="-122"/>
            </a:endParaRPr>
          </a:p>
          <a:p>
            <a:pPr marL="704850" lvl="1" indent="-361950" eaLnBrk="1" hangingPunct="1">
              <a:lnSpc>
                <a:spcPct val="160000"/>
              </a:lnSpc>
              <a:buFont typeface="Times"/>
              <a:buNone/>
            </a:pPr>
            <a:r>
              <a:rPr lang="en-US" sz="1800" dirty="0">
                <a:ea typeface="宋体" panose="02010600030101010101" pitchFamily="2" charset="-122"/>
                <a:sym typeface="+mn-ea"/>
              </a:rPr>
              <a:t>	           private String </a:t>
            </a:r>
            <a:r>
              <a:rPr lang="en-US" sz="1800" dirty="0" err="1">
                <a:ea typeface="宋体" panose="02010600030101010101" pitchFamily="2" charset="-122"/>
                <a:sym typeface="+mn-ea"/>
              </a:rPr>
              <a:t>getName</a:t>
            </a:r>
            <a:r>
              <a:rPr lang="en-US" sz="1800" dirty="0">
                <a:ea typeface="宋体" panose="02010600030101010101" pitchFamily="2" charset="-122"/>
                <a:sym typeface="+mn-ea"/>
              </a:rPr>
              <a:t>() { … }</a:t>
            </a: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封  装</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8" name="内容占位符 2"/>
          <p:cNvSpPr>
            <a:spLocks noGrp="1"/>
          </p:cNvSpPr>
          <p:nvPr>
            <p:ph idx="4294967295"/>
          </p:nvPr>
        </p:nvSpPr>
        <p:spPr>
          <a:xfrm>
            <a:off x="1059815" y="1029335"/>
            <a:ext cx="9527540" cy="5283200"/>
          </a:xfrm>
        </p:spPr>
        <p:txBody>
          <a:bodyPr>
            <a:normAutofit lnSpcReduction="20000"/>
          </a:bodyPr>
          <a:p>
            <a:pPr marL="457200" indent="-457200" eaLnBrk="1" hangingPunct="1">
              <a:lnSpc>
                <a:spcPct val="16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将对象的属性使用</a:t>
            </a:r>
            <a:r>
              <a:rPr lang="en-US" dirty="0">
                <a:ea typeface="宋体" panose="02010600030101010101" pitchFamily="2" charset="-122"/>
                <a:sym typeface="+mn-ea"/>
              </a:rPr>
              <a:t>private</a:t>
            </a:r>
            <a:r>
              <a:rPr lang="zh-CN" altLang="en-US" dirty="0">
                <a:ea typeface="宋体" panose="02010600030101010101" pitchFamily="2" charset="-122"/>
                <a:sym typeface="+mn-ea"/>
              </a:rPr>
              <a:t>修饰，以禁止外部对其直接访问。</a:t>
            </a:r>
            <a:endParaRPr lang="zh-CN" altLang="en-US" dirty="0">
              <a:ea typeface="宋体" panose="02010600030101010101" pitchFamily="2" charset="-122"/>
              <a:sym typeface="+mn-ea"/>
            </a:endParaRPr>
          </a:p>
          <a:p>
            <a:pPr marL="704850" lvl="1" indent="-361950" algn="l" eaLnBrk="1" hangingPunct="1">
              <a:lnSpc>
                <a:spcPct val="160000"/>
              </a:lnSpc>
              <a:buClrTx/>
              <a:buSzTx/>
              <a:buChar char="•"/>
            </a:pPr>
            <a:r>
              <a:rPr lang="en-US" sz="1800" dirty="0">
                <a:solidFill>
                  <a:srgbClr val="ED7D31"/>
                </a:solidFill>
                <a:ea typeface="宋体" panose="02010600030101010101" pitchFamily="2" charset="-122"/>
                <a:sym typeface="+mn-ea"/>
              </a:rPr>
              <a:t>例如：private String name;</a:t>
            </a:r>
            <a:endParaRPr lang="en-US" sz="1800" dirty="0">
              <a:solidFill>
                <a:srgbClr val="ED7D31"/>
              </a:solidFill>
              <a:ea typeface="宋体" panose="02010600030101010101" pitchFamily="2" charset="-122"/>
            </a:endParaRPr>
          </a:p>
          <a:p>
            <a:pPr marL="457200" lvl="1" indent="-457200" algn="l" eaLnBrk="1" hangingPunct="1">
              <a:lnSpc>
                <a:spcPct val="160000"/>
              </a:lnSpc>
              <a:spcBef>
                <a:spcPts val="1000"/>
              </a:spcBef>
              <a:buClr>
                <a:srgbClr val="ED7D31"/>
              </a:buClr>
              <a:buSzTx/>
              <a:buFont typeface="+mj-lt"/>
              <a:buAutoNum type="arabicPeriod" startAt="2"/>
            </a:pPr>
            <a:r>
              <a:rPr lang="en-US" altLang="zh-CN" sz="2400" dirty="0">
                <a:ea typeface="宋体" panose="02010600030101010101" pitchFamily="2" charset="-122"/>
                <a:sym typeface="+mn-ea"/>
              </a:rPr>
              <a:t>  提供与属性对应的public的get/set方法，使外部通过调用方法来间接访问属性。</a:t>
            </a:r>
            <a:endParaRPr lang="en-US" altLang="zh-CN" sz="2400" dirty="0">
              <a:ea typeface="宋体" panose="02010600030101010101" pitchFamily="2" charset="-122"/>
            </a:endParaRPr>
          </a:p>
          <a:p>
            <a:pPr marL="704850" lvl="1" indent="-361950" algn="l" eaLnBrk="1" hangingPunct="1">
              <a:lnSpc>
                <a:spcPct val="160000"/>
              </a:lnSpc>
              <a:buClrTx/>
              <a:buSzTx/>
            </a:pPr>
            <a:r>
              <a:rPr lang="en-US" sz="1800" dirty="0">
                <a:solidFill>
                  <a:srgbClr val="ED7D31"/>
                </a:solidFill>
                <a:ea typeface="宋体" panose="02010600030101010101" pitchFamily="2" charset="-122"/>
                <a:sym typeface="+mn-ea"/>
              </a:rPr>
              <a:t>	</a:t>
            </a:r>
            <a:r>
              <a:rPr lang="en-US" sz="1800" dirty="0">
                <a:solidFill>
                  <a:srgbClr val="ED7D31"/>
                </a:solidFill>
                <a:ea typeface="宋体" panose="02010600030101010101" pitchFamily="2" charset="-122"/>
                <a:sym typeface="+mn-ea"/>
              </a:rPr>
              <a:t>例如： public String getName() {</a:t>
            </a:r>
            <a:endParaRPr lang="en-US" sz="1800" dirty="0">
              <a:solidFill>
                <a:srgbClr val="ED7D31"/>
              </a:solidFill>
              <a:ea typeface="宋体" panose="02010600030101010101" pitchFamily="2" charset="-122"/>
            </a:endParaRPr>
          </a:p>
          <a:p>
            <a:pPr marL="704850" lvl="1" indent="-361950" algn="l" eaLnBrk="1" hangingPunct="1">
              <a:lnSpc>
                <a:spcPct val="160000"/>
              </a:lnSpc>
              <a:buClrTx/>
              <a:buSzTx/>
            </a:pPr>
            <a:r>
              <a:rPr lang="en-US" sz="1800" dirty="0">
                <a:solidFill>
                  <a:srgbClr val="ED7D31"/>
                </a:solidFill>
                <a:ea typeface="宋体" panose="02010600030101010101" pitchFamily="2" charset="-122"/>
                <a:sym typeface="+mn-ea"/>
              </a:rPr>
              <a:t>			return name;</a:t>
            </a:r>
            <a:endParaRPr lang="en-US" sz="1800" dirty="0">
              <a:solidFill>
                <a:srgbClr val="ED7D31"/>
              </a:solidFill>
              <a:ea typeface="宋体" panose="02010600030101010101" pitchFamily="2" charset="-122"/>
            </a:endParaRPr>
          </a:p>
          <a:p>
            <a:pPr marL="704850" lvl="1" indent="-361950" algn="l" eaLnBrk="1" hangingPunct="1">
              <a:lnSpc>
                <a:spcPct val="160000"/>
              </a:lnSpc>
              <a:buClrTx/>
              <a:buSzTx/>
            </a:pPr>
            <a:r>
              <a:rPr lang="en-US" sz="1800" dirty="0">
                <a:solidFill>
                  <a:srgbClr val="ED7D31"/>
                </a:solidFill>
                <a:ea typeface="宋体" panose="02010600030101010101" pitchFamily="2" charset="-122"/>
                <a:sym typeface="+mn-ea"/>
              </a:rPr>
              <a:t>		      }</a:t>
            </a:r>
            <a:endParaRPr lang="en-US" sz="1800" dirty="0">
              <a:solidFill>
                <a:srgbClr val="ED7D31"/>
              </a:solidFill>
              <a:ea typeface="宋体" panose="02010600030101010101" pitchFamily="2" charset="-122"/>
            </a:endParaRPr>
          </a:p>
          <a:p>
            <a:pPr marL="704850" lvl="1" indent="-361950" algn="l" eaLnBrk="1" hangingPunct="1">
              <a:lnSpc>
                <a:spcPct val="160000"/>
              </a:lnSpc>
              <a:buClrTx/>
              <a:buSzTx/>
            </a:pPr>
            <a:r>
              <a:rPr lang="en-US" sz="1800" dirty="0">
                <a:solidFill>
                  <a:srgbClr val="ED7D31"/>
                </a:solidFill>
                <a:ea typeface="宋体" panose="02010600030101010101" pitchFamily="2" charset="-122"/>
                <a:sym typeface="+mn-ea"/>
              </a:rPr>
              <a:t>	             public void setName(String str) {</a:t>
            </a:r>
            <a:endParaRPr lang="en-US" sz="1800" dirty="0">
              <a:solidFill>
                <a:srgbClr val="ED7D31"/>
              </a:solidFill>
              <a:ea typeface="宋体" panose="02010600030101010101" pitchFamily="2" charset="-122"/>
            </a:endParaRPr>
          </a:p>
          <a:p>
            <a:pPr marL="704850" lvl="1" indent="-361950" algn="l" eaLnBrk="1" hangingPunct="1">
              <a:lnSpc>
                <a:spcPct val="160000"/>
              </a:lnSpc>
              <a:buClrTx/>
              <a:buSzTx/>
            </a:pPr>
            <a:r>
              <a:rPr lang="en-US" sz="1800" dirty="0">
                <a:solidFill>
                  <a:srgbClr val="ED7D31"/>
                </a:solidFill>
                <a:ea typeface="宋体" panose="02010600030101010101" pitchFamily="2" charset="-122"/>
                <a:sym typeface="+mn-ea"/>
              </a:rPr>
              <a:t>		            name = str;</a:t>
            </a:r>
            <a:endParaRPr lang="en-US" sz="1800" dirty="0">
              <a:solidFill>
                <a:srgbClr val="ED7D31"/>
              </a:solidFill>
              <a:ea typeface="宋体" panose="02010600030101010101" pitchFamily="2" charset="-122"/>
            </a:endParaRPr>
          </a:p>
          <a:p>
            <a:pPr marL="704850" lvl="1" indent="-361950" algn="l" eaLnBrk="1" hangingPunct="1">
              <a:lnSpc>
                <a:spcPct val="160000"/>
              </a:lnSpc>
              <a:buClrTx/>
              <a:buSzTx/>
            </a:pPr>
            <a:r>
              <a:rPr lang="en-US" sz="1800" dirty="0">
                <a:solidFill>
                  <a:srgbClr val="ED7D31"/>
                </a:solidFill>
                <a:ea typeface="宋体" panose="02010600030101010101" pitchFamily="2" charset="-122"/>
                <a:sym typeface="+mn-ea"/>
              </a:rPr>
              <a:t>	             }</a:t>
            </a: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67939" name="内容占位符 2"/>
          <p:cNvSpPr>
            <a:spLocks noGrp="1"/>
          </p:cNvSpPr>
          <p:nvPr>
            <p:ph idx="4294967295"/>
          </p:nvPr>
        </p:nvSpPr>
        <p:spPr>
          <a:xfrm>
            <a:off x="1142075" y="1012529"/>
            <a:ext cx="7537450" cy="4967287"/>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1  public class Teacher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      private String name = “</a:t>
            </a:r>
            <a:r>
              <a:rPr lang="zh-CN" altLang="en-US" sz="1800" dirty="0">
                <a:solidFill>
                  <a:srgbClr val="002060"/>
                </a:solidFill>
                <a:ea typeface="宋体" panose="02010600030101010101" pitchFamily="2" charset="-122"/>
              </a:rPr>
              <a:t>李四</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      private String gender = "</a:t>
            </a:r>
            <a:r>
              <a:rPr lang="zh-CN" altLang="en-US" sz="1800" dirty="0">
                <a:solidFill>
                  <a:srgbClr val="002060"/>
                </a:solidFill>
                <a:ea typeface="宋体" panose="02010600030101010101" pitchFamily="2" charset="-122"/>
              </a:rPr>
              <a:t>男</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      private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 = 30;</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      public String </a:t>
            </a:r>
            <a:r>
              <a:rPr lang="en-US" sz="1800" dirty="0" err="1">
                <a:solidFill>
                  <a:srgbClr val="002060"/>
                </a:solidFill>
                <a:ea typeface="宋体" panose="02010600030101010101" pitchFamily="2" charset="-122"/>
              </a:rPr>
              <a:t>getName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7          return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8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10     public void </a:t>
            </a:r>
            <a:r>
              <a:rPr lang="en-US" sz="1800" dirty="0" err="1">
                <a:solidFill>
                  <a:srgbClr val="002060"/>
                </a:solidFill>
                <a:ea typeface="宋体" panose="02010600030101010101" pitchFamily="2" charset="-122"/>
              </a:rPr>
              <a:t>setName</a:t>
            </a:r>
            <a:r>
              <a:rPr lang="en-US" sz="1800" dirty="0">
                <a:solidFill>
                  <a:srgbClr val="002060"/>
                </a:solidFill>
                <a:ea typeface="宋体" panose="02010600030101010101" pitchFamily="2" charset="-122"/>
              </a:rPr>
              <a:t>(String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11         name =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14     public String </a:t>
            </a:r>
            <a:r>
              <a:rPr lang="en-US" sz="1800" dirty="0" err="1">
                <a:solidFill>
                  <a:srgbClr val="002060"/>
                </a:solidFill>
                <a:ea typeface="宋体" panose="02010600030101010101" pitchFamily="2" charset="-122"/>
              </a:rPr>
              <a:t>getGender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15         return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18     public void </a:t>
            </a:r>
            <a:r>
              <a:rPr lang="en-US" sz="1800" dirty="0" err="1">
                <a:solidFill>
                  <a:srgbClr val="002060"/>
                </a:solidFill>
                <a:ea typeface="宋体" panose="02010600030101010101" pitchFamily="2" charset="-122"/>
              </a:rPr>
              <a:t>setGender</a:t>
            </a:r>
            <a:r>
              <a:rPr lang="en-US" sz="1800" dirty="0">
                <a:solidFill>
                  <a:srgbClr val="002060"/>
                </a:solidFill>
                <a:ea typeface="宋体" panose="02010600030101010101" pitchFamily="2" charset="-122"/>
              </a:rPr>
              <a:t>(String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19         gender =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68963" name="内容占位符 2"/>
          <p:cNvSpPr>
            <a:spLocks noGrp="1"/>
          </p:cNvSpPr>
          <p:nvPr>
            <p:ph idx="4294967295"/>
          </p:nvPr>
        </p:nvSpPr>
        <p:spPr>
          <a:xfrm>
            <a:off x="1008672" y="1007767"/>
            <a:ext cx="7537450" cy="5040312"/>
          </a:xfrm>
        </p:spPr>
        <p:txBody>
          <a:bodyPr>
            <a:noAutofit/>
          </a:bodyPr>
          <a:p>
            <a:pPr marL="361950" indent="-361950" eaLnBrk="1" hangingPunct="1">
              <a:spcBef>
                <a:spcPct val="0"/>
              </a:spcBef>
              <a:buFont typeface="Times"/>
              <a:buNone/>
            </a:pPr>
            <a:r>
              <a:rPr lang="en-US" sz="2000" dirty="0">
                <a:solidFill>
                  <a:srgbClr val="002060"/>
                </a:solidFill>
                <a:ea typeface="宋体" panose="02010600030101010101" pitchFamily="2" charset="-122"/>
              </a:rPr>
              <a:t>20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21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22     public </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a:t>
            </a:r>
            <a:r>
              <a:rPr lang="en-US" sz="2000" dirty="0" err="1">
                <a:solidFill>
                  <a:srgbClr val="002060"/>
                </a:solidFill>
                <a:ea typeface="宋体" panose="02010600030101010101" pitchFamily="2" charset="-122"/>
              </a:rPr>
              <a:t>getAge</a:t>
            </a: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23         return age;</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24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25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26     public void </a:t>
            </a:r>
            <a:r>
              <a:rPr lang="en-US" sz="2000" dirty="0" err="1">
                <a:solidFill>
                  <a:srgbClr val="002060"/>
                </a:solidFill>
                <a:ea typeface="宋体" panose="02010600030101010101" pitchFamily="2" charset="-122"/>
              </a:rPr>
              <a:t>setAge</a:t>
            </a:r>
            <a:r>
              <a:rPr lang="en-US" sz="2000" dirty="0">
                <a:solidFill>
                  <a:srgbClr val="002060"/>
                </a:solidFill>
                <a:ea typeface="宋体" panose="02010600030101010101" pitchFamily="2" charset="-122"/>
              </a:rPr>
              <a:t>(</a:t>
            </a:r>
            <a:r>
              <a:rPr lang="en-US" sz="2000" dirty="0" err="1">
                <a:solidFill>
                  <a:srgbClr val="002060"/>
                </a:solidFill>
                <a:ea typeface="宋体" panose="02010600030101010101" pitchFamily="2" charset="-122"/>
              </a:rPr>
              <a:t>int</a:t>
            </a:r>
            <a:r>
              <a:rPr lang="en-US" sz="2000" dirty="0">
                <a:solidFill>
                  <a:srgbClr val="002060"/>
                </a:solidFill>
                <a:ea typeface="宋体" panose="02010600030101010101" pitchFamily="2" charset="-122"/>
              </a:rPr>
              <a:t> n)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27         if (n &gt; 100)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28                 return;</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29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30         age = n;</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31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32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33     private void lecture()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34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35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36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37     public void </a:t>
            </a:r>
            <a:r>
              <a:rPr lang="en-US" sz="2000" dirty="0" err="1">
                <a:solidFill>
                  <a:srgbClr val="002060"/>
                </a:solidFill>
                <a:ea typeface="宋体" panose="02010600030101010101" pitchFamily="2" charset="-122"/>
              </a:rPr>
              <a:t>assignHomeWork</a:t>
            </a:r>
            <a:r>
              <a:rPr lang="en-US" sz="2000" dirty="0">
                <a:solidFill>
                  <a:srgbClr val="002060"/>
                </a:solidFill>
                <a:ea typeface="宋体" panose="02010600030101010101" pitchFamily="2" charset="-122"/>
              </a:rPr>
              <a:t>()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38         //...</a:t>
            </a:r>
            <a:endParaRPr lang="en-US" sz="20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69987" name="内容占位符 2"/>
          <p:cNvSpPr>
            <a:spLocks noGrp="1"/>
          </p:cNvSpPr>
          <p:nvPr>
            <p:ph idx="4294967295"/>
          </p:nvPr>
        </p:nvSpPr>
        <p:spPr>
          <a:xfrm>
            <a:off x="892202" y="1428736"/>
            <a:ext cx="7537450" cy="5040312"/>
          </a:xfrm>
        </p:spPr>
        <p:txBody>
          <a:bodyPr/>
          <a:p>
            <a:pPr marL="361950" indent="-361950" eaLnBrk="1" hangingPunct="1">
              <a:spcBef>
                <a:spcPct val="0"/>
              </a:spcBef>
              <a:buFont typeface="Times"/>
              <a:buNone/>
            </a:pPr>
            <a:r>
              <a:rPr lang="en-US" sz="2000" dirty="0">
                <a:solidFill>
                  <a:srgbClr val="002060"/>
                </a:solidFill>
                <a:ea typeface="宋体" panose="02010600030101010101" pitchFamily="2" charset="-122"/>
              </a:rPr>
              <a:t>39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40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41     public String say()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42         lecture();</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43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44         String </a:t>
            </a:r>
            <a:r>
              <a:rPr lang="en-US" sz="2000" dirty="0" err="1">
                <a:solidFill>
                  <a:srgbClr val="002060"/>
                </a:solidFill>
                <a:ea typeface="宋体" panose="02010600030101010101" pitchFamily="2" charset="-122"/>
              </a:rPr>
              <a:t>str</a:t>
            </a:r>
            <a:r>
              <a:rPr lang="en-US" sz="2000" dirty="0">
                <a:solidFill>
                  <a:srgbClr val="002060"/>
                </a:solidFill>
                <a:ea typeface="宋体" panose="02010600030101010101" pitchFamily="2" charset="-122"/>
              </a:rPr>
              <a:t> = "</a:t>
            </a:r>
            <a:r>
              <a:rPr lang="zh-CN" altLang="en-US" sz="2000" dirty="0">
                <a:solidFill>
                  <a:srgbClr val="002060"/>
                </a:solidFill>
                <a:ea typeface="宋体" panose="02010600030101010101" pitchFamily="2" charset="-122"/>
              </a:rPr>
              <a:t>我是</a:t>
            </a:r>
            <a:r>
              <a:rPr lang="en-US" sz="2000" dirty="0">
                <a:solidFill>
                  <a:srgbClr val="002060"/>
                </a:solidFill>
                <a:ea typeface="宋体" panose="02010600030101010101" pitchFamily="2" charset="-122"/>
              </a:rPr>
              <a:t>" + name + ", </a:t>
            </a:r>
            <a:r>
              <a:rPr lang="zh-CN" altLang="en-US" sz="2000" dirty="0">
                <a:solidFill>
                  <a:srgbClr val="002060"/>
                </a:solidFill>
                <a:ea typeface="宋体" panose="02010600030101010101" pitchFamily="2" charset="-122"/>
              </a:rPr>
              <a:t>性别</a:t>
            </a:r>
            <a:r>
              <a:rPr lang="en-US" sz="2000" dirty="0">
                <a:solidFill>
                  <a:srgbClr val="002060"/>
                </a:solidFill>
                <a:ea typeface="宋体" panose="02010600030101010101" pitchFamily="2" charset="-122"/>
              </a:rPr>
              <a:t>" + gender +", </a:t>
            </a:r>
            <a:r>
              <a:rPr lang="zh-CN" altLang="en-US" sz="2000" dirty="0">
                <a:solidFill>
                  <a:srgbClr val="002060"/>
                </a:solidFill>
                <a:ea typeface="宋体" panose="02010600030101010101" pitchFamily="2" charset="-122"/>
              </a:rPr>
              <a:t>年龄</a:t>
            </a:r>
            <a:r>
              <a:rPr lang="en-US" sz="2000" dirty="0">
                <a:solidFill>
                  <a:srgbClr val="002060"/>
                </a:solidFill>
                <a:ea typeface="宋体" panose="02010600030101010101" pitchFamily="2" charset="-122"/>
              </a:rPr>
              <a:t>" + age;</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45         return </a:t>
            </a:r>
            <a:r>
              <a:rPr lang="en-US" sz="2000" dirty="0" err="1">
                <a:solidFill>
                  <a:srgbClr val="002060"/>
                </a:solidFill>
                <a:ea typeface="宋体" panose="02010600030101010101" pitchFamily="2" charset="-122"/>
              </a:rPr>
              <a:t>str</a:t>
            </a:r>
            <a:r>
              <a:rPr lang="en-US" sz="2000" dirty="0">
                <a:solidFill>
                  <a:srgbClr val="002060"/>
                </a:solidFill>
                <a:ea typeface="宋体" panose="02010600030101010101" pitchFamily="2" charset="-122"/>
              </a:rPr>
              <a:t>;</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46     }</a:t>
            </a:r>
            <a:endParaRPr lang="en-US" sz="2000" dirty="0">
              <a:solidFill>
                <a:srgbClr val="002060"/>
              </a:solidFill>
              <a:ea typeface="宋体" panose="02010600030101010101" pitchFamily="2" charset="-122"/>
            </a:endParaRPr>
          </a:p>
          <a:p>
            <a:pPr marL="361950" indent="-361950" eaLnBrk="1" hangingPunct="1">
              <a:spcBef>
                <a:spcPct val="0"/>
              </a:spcBef>
              <a:buFont typeface="Times"/>
              <a:buNone/>
            </a:pPr>
            <a:r>
              <a:rPr lang="en-US" sz="2000" dirty="0">
                <a:solidFill>
                  <a:srgbClr val="002060"/>
                </a:solidFill>
                <a:ea typeface="宋体" panose="02010600030101010101" pitchFamily="2" charset="-122"/>
              </a:rPr>
              <a:t>47 }</a:t>
            </a:r>
            <a:endParaRPr lang="en-US" sz="20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TestPrivate</a:t>
            </a:r>
            <a:r>
              <a:rPr lang="zh-CN" altLang="en-US" sz="2400">
                <a:ea typeface="宋体" panose="02010600030101010101" pitchFamily="2" charset="-122"/>
                <a:sym typeface="+mn-ea"/>
              </a:rPr>
              <a:t>类</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71011" name="内容占位符 2"/>
          <p:cNvSpPr>
            <a:spLocks noGrp="1"/>
          </p:cNvSpPr>
          <p:nvPr>
            <p:ph idx="4294967295"/>
          </p:nvPr>
        </p:nvSpPr>
        <p:spPr>
          <a:xfrm>
            <a:off x="1008672" y="1160165"/>
            <a:ext cx="7537450" cy="4816475"/>
          </a:xfrm>
        </p:spPr>
        <p:txBody>
          <a:bodyPr/>
          <a:p>
            <a:pPr marL="361950" indent="-361950" eaLnBrk="1" hangingPunct="1">
              <a:buFont typeface="Times"/>
              <a:buNone/>
            </a:pPr>
            <a:r>
              <a:rPr lang="en-US" sz="1800" dirty="0">
                <a:solidFill>
                  <a:srgbClr val="002060"/>
                </a:solidFill>
                <a:ea typeface="宋体" panose="02010600030101010101" pitchFamily="2" charset="-122"/>
              </a:rPr>
              <a:t>1  public class </a:t>
            </a:r>
            <a:r>
              <a:rPr lang="en-US" sz="1800" dirty="0" err="1">
                <a:solidFill>
                  <a:srgbClr val="002060"/>
                </a:solidFill>
                <a:ea typeface="宋体" panose="02010600030101010101" pitchFamily="2" charset="-122"/>
              </a:rPr>
              <a:t>TestPrivate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2      public static void main(String[] </a:t>
            </a:r>
            <a:r>
              <a:rPr lang="en-US" sz="1800" dirty="0" err="1">
                <a:solidFill>
                  <a:srgbClr val="002060"/>
                </a:solidFill>
                <a:ea typeface="宋体" panose="02010600030101010101" pitchFamily="2" charset="-122"/>
              </a:rPr>
              <a:t>args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3          Teacher t = new Teacher();   //</a:t>
            </a:r>
            <a:r>
              <a:rPr lang="zh-CN" altLang="en-US" sz="1800" dirty="0">
                <a:solidFill>
                  <a:srgbClr val="002060"/>
                </a:solidFill>
                <a:ea typeface="宋体" panose="02010600030101010101" pitchFamily="2" charset="-122"/>
              </a:rPr>
              <a:t>引用类型变量</a:t>
            </a:r>
            <a:endParaRPr lang="zh-CN" alt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4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5          </a:t>
            </a:r>
            <a:r>
              <a:rPr lang="en-US" sz="1800" dirty="0" err="1">
                <a:solidFill>
                  <a:srgbClr val="002060"/>
                </a:solidFill>
                <a:ea typeface="宋体" panose="02010600030101010101" pitchFamily="2" charset="-122"/>
              </a:rPr>
              <a:t>t.setName</a:t>
            </a:r>
            <a:r>
              <a:rPr lang="en-US"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张三</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6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t.getName</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7          </a:t>
            </a:r>
            <a:r>
              <a:rPr lang="en-US" sz="1800" dirty="0" err="1">
                <a:solidFill>
                  <a:srgbClr val="002060"/>
                </a:solidFill>
                <a:ea typeface="宋体" panose="02010600030101010101" pitchFamily="2" charset="-122"/>
              </a:rPr>
              <a:t>t.setGender</a:t>
            </a:r>
            <a:r>
              <a:rPr lang="en-US"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女</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8          </a:t>
            </a:r>
            <a:r>
              <a:rPr lang="en-US" sz="1800" dirty="0" err="1">
                <a:solidFill>
                  <a:srgbClr val="002060"/>
                </a:solidFill>
                <a:ea typeface="宋体" panose="02010600030101010101" pitchFamily="2" charset="-122"/>
              </a:rPr>
              <a:t>t.setAge</a:t>
            </a:r>
            <a:r>
              <a:rPr lang="en-US" sz="1800" dirty="0">
                <a:solidFill>
                  <a:srgbClr val="002060"/>
                </a:solidFill>
                <a:ea typeface="宋体" panose="02010600030101010101" pitchFamily="2" charset="-122"/>
              </a:rPr>
              <a:t>(250);</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9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t.say</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10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2"/>
          <p:cNvSpPr>
            <a:spLocks noGrp="1"/>
          </p:cNvSpPr>
          <p:nvPr>
            <p:ph idx="4294967295"/>
          </p:nvPr>
        </p:nvSpPr>
        <p:spPr>
          <a:xfrm>
            <a:off x="1059815" y="1029335"/>
            <a:ext cx="9527540" cy="4974590"/>
          </a:xfrm>
        </p:spPr>
        <p:txBody>
          <a:bodyPr>
            <a:normAutofit lnSpcReduction="10000"/>
          </a:bodyPr>
          <a:p>
            <a:pPr marL="457200" indent="-457200" eaLnBrk="1" hangingPunct="1">
              <a:lnSpc>
                <a:spcPct val="12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练习：</a:t>
            </a:r>
            <a:endParaRPr lang="zh-CN" altLang="en-US" dirty="0">
              <a:ea typeface="宋体" panose="02010600030101010101" pitchFamily="2" charset="-122"/>
            </a:endParaRPr>
          </a:p>
          <a:p>
            <a:pPr marL="914400" lvl="1" indent="-457200" eaLnBrk="1" hangingPunct="1">
              <a:lnSpc>
                <a:spcPct val="120000"/>
              </a:lnSpc>
              <a:buFont typeface="Times New Roman" panose="02020603050405020304" charset="0"/>
              <a:buAutoNum type="arabicPeriod"/>
            </a:pPr>
            <a:r>
              <a:rPr lang="zh-CN" altLang="en-US" dirty="0">
                <a:ea typeface="宋体" panose="02010600030101010101" pitchFamily="2" charset="-122"/>
                <a:sym typeface="+mn-ea"/>
              </a:rPr>
              <a:t>改写</a:t>
            </a:r>
            <a:r>
              <a:rPr lang="en-US" dirty="0">
                <a:ea typeface="宋体" panose="02010600030101010101" pitchFamily="2" charset="-122"/>
                <a:sym typeface="+mn-ea"/>
              </a:rPr>
              <a:t>Student</a:t>
            </a:r>
            <a:r>
              <a:rPr lang="zh-CN" altLang="en-US" dirty="0">
                <a:ea typeface="宋体" panose="02010600030101010101" pitchFamily="2" charset="-122"/>
                <a:sym typeface="+mn-ea"/>
              </a:rPr>
              <a:t>类，将</a:t>
            </a:r>
            <a:r>
              <a:rPr lang="en-US" dirty="0">
                <a:ea typeface="宋体" panose="02010600030101010101" pitchFamily="2" charset="-122"/>
                <a:sym typeface="+mn-ea"/>
              </a:rPr>
              <a:t>name</a:t>
            </a:r>
            <a:r>
              <a:rPr lang="zh-CN" altLang="en-US" dirty="0">
                <a:ea typeface="宋体" panose="02010600030101010101" pitchFamily="2" charset="-122"/>
                <a:sym typeface="+mn-ea"/>
              </a:rPr>
              <a:t>、</a:t>
            </a:r>
            <a:r>
              <a:rPr lang="en-US" dirty="0">
                <a:ea typeface="宋体" panose="02010600030101010101" pitchFamily="2" charset="-122"/>
                <a:sym typeface="+mn-ea"/>
              </a:rPr>
              <a:t>gender</a:t>
            </a:r>
            <a:r>
              <a:rPr lang="zh-CN" altLang="en-US" dirty="0">
                <a:ea typeface="宋体" panose="02010600030101010101" pitchFamily="2" charset="-122"/>
                <a:sym typeface="+mn-ea"/>
              </a:rPr>
              <a:t>、</a:t>
            </a:r>
            <a:r>
              <a:rPr lang="en-US" dirty="0">
                <a:ea typeface="宋体" panose="02010600030101010101" pitchFamily="2" charset="-122"/>
                <a:sym typeface="+mn-ea"/>
              </a:rPr>
              <a:t>age</a:t>
            </a:r>
            <a:r>
              <a:rPr lang="zh-CN" altLang="en-US" dirty="0">
                <a:ea typeface="宋体" panose="02010600030101010101" pitchFamily="2" charset="-122"/>
                <a:sym typeface="+mn-ea"/>
              </a:rPr>
              <a:t>、</a:t>
            </a:r>
            <a:r>
              <a:rPr lang="en-US" dirty="0">
                <a:ea typeface="宋体" panose="02010600030101010101" pitchFamily="2" charset="-122"/>
                <a:sym typeface="+mn-ea"/>
              </a:rPr>
              <a:t>id</a:t>
            </a:r>
            <a:r>
              <a:rPr lang="zh-CN" altLang="en-US" dirty="0">
                <a:ea typeface="宋体" panose="02010600030101010101" pitchFamily="2" charset="-122"/>
                <a:sym typeface="+mn-ea"/>
              </a:rPr>
              <a:t>、</a:t>
            </a:r>
            <a:r>
              <a:rPr lang="en-US" dirty="0">
                <a:ea typeface="宋体" panose="02010600030101010101" pitchFamily="2" charset="-122"/>
                <a:sym typeface="+mn-ea"/>
              </a:rPr>
              <a:t>score</a:t>
            </a:r>
            <a:r>
              <a:rPr lang="zh-CN" altLang="en-US" dirty="0">
                <a:ea typeface="宋体" panose="02010600030101010101" pitchFamily="2" charset="-122"/>
                <a:sym typeface="+mn-ea"/>
              </a:rPr>
              <a:t>属性均为私有，</a:t>
            </a:r>
            <a:r>
              <a:rPr lang="en-US" dirty="0">
                <a:ea typeface="宋体" panose="02010600030101010101" pitchFamily="2" charset="-122"/>
                <a:sym typeface="+mn-ea"/>
              </a:rPr>
              <a:t>say</a:t>
            </a:r>
            <a:r>
              <a:rPr lang="zh-CN" altLang="en-US" dirty="0">
                <a:ea typeface="宋体" panose="02010600030101010101" pitchFamily="2" charset="-122"/>
                <a:sym typeface="+mn-ea"/>
              </a:rPr>
              <a:t>方法设为公有。</a:t>
            </a:r>
            <a:endParaRPr lang="zh-CN" altLang="en-US" dirty="0">
              <a:ea typeface="宋体" panose="02010600030101010101" pitchFamily="2" charset="-122"/>
              <a:sym typeface="+mn-ea"/>
            </a:endParaRPr>
          </a:p>
          <a:p>
            <a:pPr marL="914400" lvl="1" indent="-457200" eaLnBrk="1" hangingPunct="1">
              <a:lnSpc>
                <a:spcPct val="120000"/>
              </a:lnSpc>
              <a:buFont typeface="Times New Roman" panose="02020603050405020304" charset="0"/>
              <a:buAutoNum type="arabicPeriod"/>
            </a:pPr>
            <a:r>
              <a:rPr lang="zh-CN" altLang="en-US" dirty="0">
                <a:ea typeface="宋体" panose="02010600030101010101" pitchFamily="2" charset="-122"/>
                <a:sym typeface="+mn-ea"/>
              </a:rPr>
              <a:t>在另一个</a:t>
            </a:r>
            <a:r>
              <a:rPr lang="en-US" dirty="0" err="1">
                <a:ea typeface="宋体" panose="02010600030101010101" pitchFamily="2" charset="-122"/>
                <a:sym typeface="+mn-ea"/>
              </a:rPr>
              <a:t>TestStudent</a:t>
            </a:r>
            <a:r>
              <a:rPr lang="zh-CN" altLang="en-US" dirty="0">
                <a:ea typeface="宋体" panose="02010600030101010101" pitchFamily="2" charset="-122"/>
                <a:sym typeface="+mn-ea"/>
              </a:rPr>
              <a:t>类中的</a:t>
            </a:r>
            <a:r>
              <a:rPr lang="en-US" dirty="0">
                <a:ea typeface="宋体" panose="02010600030101010101" pitchFamily="2" charset="-122"/>
                <a:sym typeface="+mn-ea"/>
              </a:rPr>
              <a:t>main</a:t>
            </a:r>
            <a:r>
              <a:rPr lang="zh-CN" altLang="en-US" dirty="0">
                <a:ea typeface="宋体" panose="02010600030101010101" pitchFamily="2" charset="-122"/>
                <a:sym typeface="+mn-ea"/>
              </a:rPr>
              <a:t>方法中，创建</a:t>
            </a:r>
            <a:r>
              <a:rPr lang="en-US" dirty="0">
                <a:ea typeface="宋体" panose="02010600030101010101" pitchFamily="2" charset="-122"/>
                <a:sym typeface="+mn-ea"/>
              </a:rPr>
              <a:t>Student</a:t>
            </a:r>
            <a:r>
              <a:rPr lang="zh-CN" altLang="en-US" dirty="0">
                <a:ea typeface="宋体" panose="02010600030101010101" pitchFamily="2" charset="-122"/>
                <a:sym typeface="+mn-ea"/>
              </a:rPr>
              <a:t>对象，并试着访问对象中的属性。</a:t>
            </a:r>
            <a:endParaRPr lang="zh-CN" altLang="en-US" dirty="0">
              <a:ea typeface="宋体" panose="02010600030101010101" pitchFamily="2" charset="-122"/>
              <a:sym typeface="+mn-ea"/>
            </a:endParaRPr>
          </a:p>
          <a:p>
            <a:pPr marL="914400" lvl="1" indent="-457200" eaLnBrk="1" hangingPunct="1">
              <a:lnSpc>
                <a:spcPct val="120000"/>
              </a:lnSpc>
              <a:buFont typeface="Times New Roman" panose="02020603050405020304" charset="0"/>
              <a:buAutoNum type="arabicPeriod"/>
            </a:pPr>
            <a:r>
              <a:rPr lang="zh-CN" altLang="en-US" dirty="0">
                <a:ea typeface="宋体" panose="02010600030101010101" pitchFamily="2" charset="-122"/>
                <a:sym typeface="+mn-ea"/>
              </a:rPr>
              <a:t>对所有属性提供公有的</a:t>
            </a:r>
            <a:r>
              <a:rPr lang="en-US" dirty="0">
                <a:ea typeface="宋体" panose="02010600030101010101" pitchFamily="2" charset="-122"/>
                <a:sym typeface="+mn-ea"/>
              </a:rPr>
              <a:t>get/set</a:t>
            </a:r>
            <a:r>
              <a:rPr lang="zh-CN" altLang="en-US" dirty="0">
                <a:ea typeface="宋体" panose="02010600030101010101" pitchFamily="2" charset="-122"/>
                <a:sym typeface="+mn-ea"/>
              </a:rPr>
              <a:t>方法，在</a:t>
            </a:r>
            <a:r>
              <a:rPr lang="en-US" dirty="0" err="1">
                <a:ea typeface="宋体" panose="02010600030101010101" pitchFamily="2" charset="-122"/>
                <a:sym typeface="+mn-ea"/>
              </a:rPr>
              <a:t>TestStudent</a:t>
            </a:r>
            <a:r>
              <a:rPr lang="zh-CN" altLang="en-US" dirty="0">
                <a:ea typeface="宋体" panose="02010600030101010101" pitchFamily="2" charset="-122"/>
                <a:sym typeface="+mn-ea"/>
              </a:rPr>
              <a:t>类的</a:t>
            </a:r>
            <a:r>
              <a:rPr lang="en-US" dirty="0">
                <a:ea typeface="宋体" panose="02010600030101010101" pitchFamily="2" charset="-122"/>
                <a:sym typeface="+mn-ea"/>
              </a:rPr>
              <a:t>main</a:t>
            </a:r>
            <a:r>
              <a:rPr lang="zh-CN" altLang="en-US" dirty="0">
                <a:ea typeface="宋体" panose="02010600030101010101" pitchFamily="2" charset="-122"/>
                <a:sym typeface="+mn-ea"/>
              </a:rPr>
              <a:t>方法中，访问调用</a:t>
            </a:r>
            <a:r>
              <a:rPr lang="en-US" dirty="0">
                <a:ea typeface="宋体" panose="02010600030101010101" pitchFamily="2" charset="-122"/>
                <a:sym typeface="+mn-ea"/>
              </a:rPr>
              <a:t>set</a:t>
            </a:r>
            <a:r>
              <a:rPr lang="zh-CN" altLang="en-US" dirty="0">
                <a:ea typeface="宋体" panose="02010600030101010101" pitchFamily="2" charset="-122"/>
                <a:sym typeface="+mn-ea"/>
              </a:rPr>
              <a:t>方法为属性设值，再调用</a:t>
            </a:r>
            <a:r>
              <a:rPr lang="en-US" dirty="0">
                <a:ea typeface="宋体" panose="02010600030101010101" pitchFamily="2" charset="-122"/>
                <a:sym typeface="+mn-ea"/>
              </a:rPr>
              <a:t>get</a:t>
            </a:r>
            <a:r>
              <a:rPr lang="zh-CN" altLang="en-US" dirty="0">
                <a:ea typeface="宋体" panose="02010600030101010101" pitchFamily="2" charset="-122"/>
                <a:sym typeface="+mn-ea"/>
              </a:rPr>
              <a:t>方法将值获取并打印输出。</a:t>
            </a:r>
            <a:endParaRPr lang="zh-CN" altLang="en-US" dirty="0">
              <a:ea typeface="宋体" panose="02010600030101010101" pitchFamily="2" charset="-122"/>
            </a:endParaRPr>
          </a:p>
          <a:p>
            <a:pPr marL="457200" indent="-457200" eaLnBrk="1" hangingPunct="1">
              <a:lnSpc>
                <a:spcPct val="12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练习：</a:t>
            </a:r>
            <a:endParaRPr lang="zh-CN" altLang="en-US" dirty="0">
              <a:ea typeface="宋体" panose="02010600030101010101" pitchFamily="2" charset="-122"/>
              <a:sym typeface="+mn-ea"/>
            </a:endParaRPr>
          </a:p>
          <a:p>
            <a:pPr marL="914400" lvl="1" indent="-457200" algn="l" eaLnBrk="1" hangingPunct="1">
              <a:lnSpc>
                <a:spcPct val="120000"/>
              </a:lnSpc>
              <a:buClrTx/>
              <a:buSzTx/>
              <a:buFont typeface="Times New Roman" panose="02020603050405020304" charset="0"/>
              <a:buAutoNum type="arabicPeriod"/>
            </a:pPr>
            <a:r>
              <a:rPr lang="zh-CN" altLang="en-US" dirty="0">
                <a:ea typeface="宋体" panose="02010600030101010101" pitchFamily="2" charset="-122"/>
                <a:sym typeface="+mn-ea"/>
              </a:rPr>
              <a:t>改写Cat类，将name,age,weight属性均为私有，并提供公有的get/set方法，同时将</a:t>
            </a:r>
            <a:r>
              <a:rPr lang="zh-CN" altLang="en-US" dirty="0">
                <a:ea typeface="宋体" panose="02010600030101010101" pitchFamily="2" charset="-122"/>
                <a:sym typeface="+mn-ea"/>
              </a:rPr>
              <a:t>say方法设为公有。</a:t>
            </a:r>
            <a:endParaRPr lang="zh-CN" altLang="en-US" dirty="0">
              <a:ea typeface="宋体" panose="02010600030101010101" pitchFamily="2" charset="-122"/>
              <a:sym typeface="+mn-ea"/>
            </a:endParaRPr>
          </a:p>
          <a:p>
            <a:pPr marL="914400" lvl="1" indent="-457200" algn="l" eaLnBrk="1" hangingPunct="1">
              <a:lnSpc>
                <a:spcPct val="120000"/>
              </a:lnSpc>
              <a:buClrTx/>
              <a:buSzTx/>
              <a:buFont typeface="Times New Roman" panose="02020603050405020304" charset="0"/>
              <a:buAutoNum type="arabicPeriod"/>
            </a:pPr>
            <a:r>
              <a:rPr lang="zh-CN" altLang="en-US" dirty="0">
                <a:ea typeface="宋体" panose="02010600030101010101" pitchFamily="2" charset="-122"/>
                <a:sym typeface="+mn-ea"/>
              </a:rPr>
              <a:t>在另一个TestCat类中的main方法中，创建Cat对象，调用set方法为属性设值，再调用get方法将值获取并打印输出。</a:t>
            </a: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en-US" altLang="zh-CN" sz="6665">
                <a:solidFill>
                  <a:schemeClr val="bg1"/>
                </a:solidFill>
                <a:latin typeface="Arial" panose="020B0604020202020204" pitchFamily="34" charset="0"/>
                <a:ea typeface="宋体" panose="02010600030101010101" pitchFamily="2" charset="-122"/>
                <a:sym typeface="+mn-ea"/>
              </a:rPr>
              <a:t>this</a:t>
            </a:r>
            <a:r>
              <a:rPr lang="zh-CN" altLang="en-US" sz="6665">
                <a:solidFill>
                  <a:schemeClr val="bg1"/>
                </a:solidFill>
                <a:latin typeface="Arial" panose="020B0604020202020204" pitchFamily="34" charset="0"/>
                <a:ea typeface="宋体" panose="02010600030101010101" pitchFamily="2" charset="-122"/>
                <a:sym typeface="+mn-ea"/>
              </a:rPr>
              <a:t>关键字</a:t>
            </a:r>
            <a:endParaRPr lang="zh-CN" altLang="en-US" sz="6665" dirty="0">
              <a:solidFill>
                <a:schemeClr val="bg1"/>
              </a:solidFill>
              <a:latin typeface="Arial" panose="020B0604020202020204" pitchFamily="34" charset="0"/>
              <a:ea typeface="宋体" panose="02010600030101010101" pitchFamily="2" charset="-122"/>
              <a:sym typeface="+mn-ea"/>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使用</a:t>
            </a:r>
            <a:r>
              <a:rPr lang="en-US" sz="2400">
                <a:ea typeface="宋体" panose="02010600030101010101" pitchFamily="2" charset="-122"/>
                <a:sym typeface="+mn-ea"/>
              </a:rPr>
              <a:t>this</a:t>
            </a:r>
            <a:r>
              <a:rPr lang="zh-CN" altLang="en-US" sz="2400">
                <a:ea typeface="宋体" panose="02010600030101010101" pitchFamily="2" charset="-122"/>
                <a:sym typeface="+mn-ea"/>
              </a:rPr>
              <a:t>关键字</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2"/>
          <p:cNvSpPr>
            <a:spLocks noGrp="1"/>
          </p:cNvSpPr>
          <p:nvPr>
            <p:ph idx="4294967295"/>
          </p:nvPr>
        </p:nvSpPr>
        <p:spPr>
          <a:xfrm>
            <a:off x="1059815" y="1238250"/>
            <a:ext cx="9527540" cy="4974590"/>
          </a:xfrm>
        </p:spPr>
        <p:txBody>
          <a:bodyPr>
            <a:normAutofit lnSpcReduction="20000"/>
          </a:bodyPr>
          <a:p>
            <a:pPr eaLnBrk="1" hangingPunct="1">
              <a:lnSpc>
                <a:spcPct val="150000"/>
              </a:lnSpc>
              <a:buClr>
                <a:srgbClr val="ED7D31"/>
              </a:buClr>
              <a:buFont typeface="Wingdings" panose="05000000000000000000" charset="0"/>
              <a:buChar char="Ø"/>
            </a:pPr>
            <a:r>
              <a:rPr lang="en-US" altLang="zh-CN" dirty="0">
                <a:ea typeface="宋体" panose="02010600030101010101" pitchFamily="2" charset="-122"/>
                <a:sym typeface="+mn-ea"/>
              </a:rPr>
              <a:t>  </a:t>
            </a:r>
            <a:r>
              <a:rPr lang="en-US" dirty="0">
                <a:ea typeface="宋体" panose="02010600030101010101" pitchFamily="2" charset="-122"/>
                <a:sym typeface="+mn-ea"/>
              </a:rPr>
              <a:t>this</a:t>
            </a:r>
            <a:r>
              <a:rPr lang="zh-CN" altLang="en-US" dirty="0">
                <a:ea typeface="宋体" panose="02010600030101010101" pitchFamily="2" charset="-122"/>
                <a:sym typeface="+mn-ea"/>
              </a:rPr>
              <a:t>关键字可用来区分局部变量和实例变量（属性）</a:t>
            </a:r>
            <a:endParaRPr lang="zh-CN" altLang="en-US" dirty="0">
              <a:ea typeface="宋体" panose="02010600030101010101" pitchFamily="2" charset="-122"/>
            </a:endParaRPr>
          </a:p>
          <a:p>
            <a:pPr marL="0" indent="0" eaLnBrk="1" hangingPunct="1">
              <a:lnSpc>
                <a:spcPct val="150000"/>
              </a:lnSpc>
              <a:buClr>
                <a:srgbClr val="ED7D31"/>
              </a:buClr>
              <a:buFont typeface="+mj-lt"/>
              <a:buNone/>
            </a:pPr>
            <a:r>
              <a:rPr lang="en-US" altLang="zh-CN" dirty="0">
                <a:solidFill>
                  <a:srgbClr val="ED7D31"/>
                </a:solidFill>
                <a:ea typeface="宋体" panose="02010600030101010101" pitchFamily="2" charset="-122"/>
                <a:sym typeface="+mn-ea"/>
              </a:rPr>
              <a:t>     </a:t>
            </a:r>
            <a:r>
              <a:rPr lang="zh-CN" altLang="en-US" dirty="0">
                <a:solidFill>
                  <a:srgbClr val="ED7D31"/>
                </a:solidFill>
                <a:ea typeface="宋体" panose="02010600030101010101" pitchFamily="2" charset="-122"/>
                <a:sym typeface="+mn-ea"/>
              </a:rPr>
              <a:t>例如： </a:t>
            </a:r>
            <a:r>
              <a:rPr lang="en-US" dirty="0">
                <a:solidFill>
                  <a:srgbClr val="ED7D31"/>
                </a:solidFill>
                <a:ea typeface="宋体" panose="02010600030101010101" pitchFamily="2" charset="-122"/>
                <a:sym typeface="+mn-ea"/>
              </a:rPr>
              <a:t>this.name = name;</a:t>
            </a:r>
            <a:endParaRPr lang="en-US" dirty="0">
              <a:solidFill>
                <a:srgbClr val="ED7D31"/>
              </a:solidFill>
              <a:ea typeface="宋体" panose="02010600030101010101" pitchFamily="2" charset="-122"/>
            </a:endParaRPr>
          </a:p>
          <a:p>
            <a:pPr marL="457200" indent="-457200" eaLnBrk="1" hangingPunct="1">
              <a:lnSpc>
                <a:spcPct val="15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75107" name="内容占位符 2"/>
          <p:cNvSpPr>
            <a:spLocks noGrp="1"/>
          </p:cNvSpPr>
          <p:nvPr>
            <p:ph idx="4294967295"/>
          </p:nvPr>
        </p:nvSpPr>
        <p:spPr>
          <a:xfrm>
            <a:off x="928662" y="1043644"/>
            <a:ext cx="7537450" cy="4967287"/>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1  public class Teacher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      private String name = “</a:t>
            </a:r>
            <a:r>
              <a:rPr lang="zh-CN" altLang="en-US" sz="1800" dirty="0">
                <a:solidFill>
                  <a:srgbClr val="002060"/>
                </a:solidFill>
                <a:ea typeface="宋体" panose="02010600030101010101" pitchFamily="2" charset="-122"/>
              </a:rPr>
              <a:t>李四</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      private String gender = "</a:t>
            </a:r>
            <a:r>
              <a:rPr lang="zh-CN" altLang="en-US" sz="1800" dirty="0">
                <a:solidFill>
                  <a:srgbClr val="002060"/>
                </a:solidFill>
                <a:ea typeface="宋体" panose="02010600030101010101" pitchFamily="2" charset="-122"/>
              </a:rPr>
              <a:t>男</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      private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 = 30;</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      public String </a:t>
            </a:r>
            <a:r>
              <a:rPr lang="en-US" sz="1800" dirty="0" err="1">
                <a:solidFill>
                  <a:srgbClr val="002060"/>
                </a:solidFill>
                <a:ea typeface="宋体" panose="02010600030101010101" pitchFamily="2" charset="-122"/>
              </a:rPr>
              <a:t>getName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7          return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8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10     public void </a:t>
            </a:r>
            <a:r>
              <a:rPr lang="en-US" sz="1800" dirty="0" err="1">
                <a:solidFill>
                  <a:srgbClr val="002060"/>
                </a:solidFill>
                <a:ea typeface="宋体" panose="02010600030101010101" pitchFamily="2" charset="-122"/>
              </a:rPr>
              <a:t>setName</a:t>
            </a:r>
            <a:r>
              <a:rPr lang="en-US" sz="1800" dirty="0">
                <a:solidFill>
                  <a:srgbClr val="002060"/>
                </a:solidFill>
                <a:ea typeface="宋体" panose="02010600030101010101" pitchFamily="2" charset="-122"/>
              </a:rPr>
              <a:t>(String name)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11         this.name =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14     public String </a:t>
            </a:r>
            <a:r>
              <a:rPr lang="en-US" sz="1800" dirty="0" err="1">
                <a:solidFill>
                  <a:srgbClr val="002060"/>
                </a:solidFill>
                <a:ea typeface="宋体" panose="02010600030101010101" pitchFamily="2" charset="-122"/>
              </a:rPr>
              <a:t>getGender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15         return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18     public void </a:t>
            </a:r>
            <a:r>
              <a:rPr lang="en-US" sz="1800" dirty="0" err="1">
                <a:solidFill>
                  <a:srgbClr val="002060"/>
                </a:solidFill>
                <a:ea typeface="宋体" panose="02010600030101010101" pitchFamily="2" charset="-122"/>
              </a:rPr>
              <a:t>setGender</a:t>
            </a:r>
            <a:r>
              <a:rPr lang="en-US" sz="1800" dirty="0">
                <a:solidFill>
                  <a:srgbClr val="002060"/>
                </a:solidFill>
                <a:ea typeface="宋体" panose="02010600030101010101" pitchFamily="2" charset="-122"/>
              </a:rPr>
              <a:t>(String gender)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19         </a:t>
            </a:r>
            <a:r>
              <a:rPr lang="en-US" sz="1800" dirty="0" err="1">
                <a:solidFill>
                  <a:srgbClr val="002060"/>
                </a:solidFill>
                <a:ea typeface="宋体" panose="02010600030101010101" pitchFamily="2" charset="-122"/>
              </a:rPr>
              <a:t>this.gender</a:t>
            </a:r>
            <a:r>
              <a:rPr lang="en-US" sz="1800" dirty="0">
                <a:solidFill>
                  <a:srgbClr val="002060"/>
                </a:solidFill>
                <a:ea typeface="宋体" panose="02010600030101010101" pitchFamily="2" charset="-122"/>
              </a:rPr>
              <a:t> = gender;</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76131" name="内容占位符 2"/>
          <p:cNvSpPr>
            <a:spLocks noGrp="1"/>
          </p:cNvSpPr>
          <p:nvPr>
            <p:ph idx="4294967295"/>
          </p:nvPr>
        </p:nvSpPr>
        <p:spPr>
          <a:xfrm>
            <a:off x="928662" y="1072184"/>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20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22     public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t>
            </a:r>
            <a:r>
              <a:rPr lang="en-US" sz="1800" dirty="0" err="1">
                <a:solidFill>
                  <a:srgbClr val="002060"/>
                </a:solidFill>
                <a:ea typeface="宋体" panose="02010600030101010101" pitchFamily="2" charset="-122"/>
              </a:rPr>
              <a:t>getAge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23         return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26     public void </a:t>
            </a:r>
            <a:r>
              <a:rPr lang="en-US" sz="1800" dirty="0" err="1">
                <a:solidFill>
                  <a:srgbClr val="002060"/>
                </a:solidFill>
                <a:ea typeface="宋体" panose="02010600030101010101" pitchFamily="2" charset="-122"/>
              </a:rPr>
              <a:t>setAge</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27         if (age &gt; 100)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28                   return;</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30         </a:t>
            </a:r>
            <a:r>
              <a:rPr lang="en-US" sz="1800" dirty="0" err="1">
                <a:solidFill>
                  <a:srgbClr val="002060"/>
                </a:solidFill>
                <a:ea typeface="宋体" panose="02010600030101010101" pitchFamily="2" charset="-122"/>
              </a:rPr>
              <a:t>this.age</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33     private void lecture()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37     public void </a:t>
            </a:r>
            <a:r>
              <a:rPr lang="en-US" sz="1800" dirty="0" err="1">
                <a:solidFill>
                  <a:srgbClr val="002060"/>
                </a:solidFill>
                <a:ea typeface="宋体" panose="02010600030101010101" pitchFamily="2" charset="-122"/>
              </a:rPr>
              <a:t>assignHomeWork</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38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77155" name="内容占位符 2"/>
          <p:cNvSpPr>
            <a:spLocks noGrp="1"/>
          </p:cNvSpPr>
          <p:nvPr>
            <p:ph idx="4294967295"/>
          </p:nvPr>
        </p:nvSpPr>
        <p:spPr>
          <a:xfrm>
            <a:off x="816902" y="1357617"/>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39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41     public String say()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42         lecture();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44         String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 = "</a:t>
            </a:r>
            <a:r>
              <a:rPr lang="zh-CN" altLang="en-US" sz="1800" dirty="0">
                <a:solidFill>
                  <a:srgbClr val="002060"/>
                </a:solidFill>
                <a:ea typeface="宋体" panose="02010600030101010101" pitchFamily="2" charset="-122"/>
              </a:rPr>
              <a:t>我是</a:t>
            </a:r>
            <a:r>
              <a:rPr lang="en-US" sz="1800" dirty="0">
                <a:solidFill>
                  <a:srgbClr val="002060"/>
                </a:solidFill>
                <a:ea typeface="宋体" panose="02010600030101010101" pitchFamily="2" charset="-122"/>
              </a:rPr>
              <a:t>" + name + ", </a:t>
            </a:r>
            <a:r>
              <a:rPr lang="zh-CN" altLang="en-US" sz="1800" dirty="0">
                <a:solidFill>
                  <a:srgbClr val="002060"/>
                </a:solidFill>
                <a:ea typeface="宋体" panose="02010600030101010101" pitchFamily="2" charset="-122"/>
              </a:rPr>
              <a:t>性别</a:t>
            </a:r>
            <a:r>
              <a:rPr lang="en-US" sz="1800" dirty="0">
                <a:solidFill>
                  <a:srgbClr val="002060"/>
                </a:solidFill>
                <a:ea typeface="宋体" panose="02010600030101010101" pitchFamily="2" charset="-122"/>
              </a:rPr>
              <a:t>" + gender +", </a:t>
            </a:r>
            <a:r>
              <a:rPr lang="zh-CN" altLang="en-US" sz="1800" dirty="0">
                <a:solidFill>
                  <a:srgbClr val="002060"/>
                </a:solidFill>
                <a:ea typeface="宋体" panose="02010600030101010101" pitchFamily="2" charset="-122"/>
              </a:rPr>
              <a:t>年龄</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45         return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47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TestThis</a:t>
            </a:r>
            <a:r>
              <a:rPr lang="zh-CN" altLang="en-US" sz="2400">
                <a:ea typeface="宋体" panose="02010600030101010101" pitchFamily="2" charset="-122"/>
                <a:sym typeface="+mn-ea"/>
              </a:rPr>
              <a:t>类</a:t>
            </a:r>
            <a:endParaRPr lang="en-US"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78179" name="内容占位符 2"/>
          <p:cNvSpPr>
            <a:spLocks noGrp="1"/>
          </p:cNvSpPr>
          <p:nvPr>
            <p:ph idx="4294967295"/>
          </p:nvPr>
        </p:nvSpPr>
        <p:spPr>
          <a:xfrm>
            <a:off x="928662" y="1160165"/>
            <a:ext cx="7537450" cy="4816475"/>
          </a:xfrm>
        </p:spPr>
        <p:txBody>
          <a:bodyPr/>
          <a:p>
            <a:pPr marL="361950" indent="-361950" eaLnBrk="1" hangingPunct="1">
              <a:buFont typeface="Times"/>
              <a:buNone/>
            </a:pPr>
            <a:r>
              <a:rPr lang="en-US" sz="1800" dirty="0">
                <a:solidFill>
                  <a:srgbClr val="002060"/>
                </a:solidFill>
                <a:ea typeface="宋体" panose="02010600030101010101" pitchFamily="2" charset="-122"/>
              </a:rPr>
              <a:t>1  public class </a:t>
            </a:r>
            <a:r>
              <a:rPr lang="en-US" sz="1800" dirty="0" err="1">
                <a:solidFill>
                  <a:srgbClr val="002060"/>
                </a:solidFill>
                <a:ea typeface="宋体" panose="02010600030101010101" pitchFamily="2" charset="-122"/>
              </a:rPr>
              <a:t>TestThis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2      public static void main(String[] </a:t>
            </a:r>
            <a:r>
              <a:rPr lang="en-US" sz="1800" dirty="0" err="1">
                <a:solidFill>
                  <a:srgbClr val="002060"/>
                </a:solidFill>
                <a:ea typeface="宋体" panose="02010600030101010101" pitchFamily="2" charset="-122"/>
              </a:rPr>
              <a:t>args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3          Teacher t = new Teacher();   //</a:t>
            </a:r>
            <a:r>
              <a:rPr lang="zh-CN" altLang="en-US" sz="1800" dirty="0">
                <a:solidFill>
                  <a:srgbClr val="002060"/>
                </a:solidFill>
                <a:ea typeface="宋体" panose="02010600030101010101" pitchFamily="2" charset="-122"/>
              </a:rPr>
              <a:t>引用类型变量</a:t>
            </a:r>
            <a:endParaRPr lang="zh-CN" alt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4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5          </a:t>
            </a:r>
            <a:r>
              <a:rPr lang="en-US" sz="1800" dirty="0" err="1">
                <a:solidFill>
                  <a:srgbClr val="002060"/>
                </a:solidFill>
                <a:ea typeface="宋体" panose="02010600030101010101" pitchFamily="2" charset="-122"/>
              </a:rPr>
              <a:t>t.setName</a:t>
            </a:r>
            <a:r>
              <a:rPr lang="en-US"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张三</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6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t.getName</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7          </a:t>
            </a:r>
            <a:r>
              <a:rPr lang="en-US" sz="1800" dirty="0" err="1">
                <a:solidFill>
                  <a:srgbClr val="002060"/>
                </a:solidFill>
                <a:ea typeface="宋体" panose="02010600030101010101" pitchFamily="2" charset="-122"/>
              </a:rPr>
              <a:t>t.setGender</a:t>
            </a:r>
            <a:r>
              <a:rPr lang="en-US"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女</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8          </a:t>
            </a:r>
            <a:r>
              <a:rPr lang="en-US" sz="1800" dirty="0" err="1">
                <a:solidFill>
                  <a:srgbClr val="002060"/>
                </a:solidFill>
                <a:ea typeface="宋体" panose="02010600030101010101" pitchFamily="2" charset="-122"/>
              </a:rPr>
              <a:t>t.setAge</a:t>
            </a:r>
            <a:r>
              <a:rPr lang="en-US" sz="1800" dirty="0">
                <a:solidFill>
                  <a:srgbClr val="002060"/>
                </a:solidFill>
                <a:ea typeface="宋体" panose="02010600030101010101" pitchFamily="2" charset="-122"/>
              </a:rPr>
              <a:t>(250);</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9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t.say</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10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4294967295"/>
          </p:nvPr>
        </p:nvSpPr>
        <p:spPr>
          <a:xfrm>
            <a:off x="1059815" y="1029335"/>
            <a:ext cx="9527540" cy="4974590"/>
          </a:xfrm>
        </p:spPr>
        <p:txBody>
          <a:bodyPr>
            <a:normAutofit lnSpcReduction="10000"/>
          </a:bodyPr>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练习：</a:t>
            </a:r>
            <a:endParaRPr lang="zh-CN" altLang="en-US" dirty="0">
              <a:ea typeface="宋体" panose="02010600030101010101" pitchFamily="2" charset="-122"/>
            </a:endParaRPr>
          </a:p>
          <a:p>
            <a:pPr marL="914400" lvl="1" indent="-457200" eaLnBrk="1" hangingPunct="1">
              <a:lnSpc>
                <a:spcPct val="140000"/>
              </a:lnSpc>
              <a:buFont typeface="Times New Roman" panose="02020603050405020304" charset="0"/>
              <a:buAutoNum type="arabicPeriod"/>
            </a:pPr>
            <a:r>
              <a:rPr lang="zh-CN" altLang="en-US" dirty="0">
                <a:ea typeface="宋体" panose="02010600030101010101" pitchFamily="2" charset="-122"/>
                <a:sym typeface="+mn-ea"/>
              </a:rPr>
              <a:t>修改</a:t>
            </a:r>
            <a:r>
              <a:rPr lang="en-US" dirty="0">
                <a:ea typeface="宋体" panose="02010600030101010101" pitchFamily="2" charset="-122"/>
                <a:sym typeface="+mn-ea"/>
              </a:rPr>
              <a:t>Student</a:t>
            </a:r>
            <a:r>
              <a:rPr lang="zh-CN" altLang="en-US" dirty="0">
                <a:ea typeface="宋体" panose="02010600030101010101" pitchFamily="2" charset="-122"/>
                <a:sym typeface="+mn-ea"/>
              </a:rPr>
              <a:t>类，在</a:t>
            </a:r>
            <a:r>
              <a:rPr lang="en-US" dirty="0">
                <a:ea typeface="宋体" panose="02010600030101010101" pitchFamily="2" charset="-122"/>
                <a:sym typeface="+mn-ea"/>
              </a:rPr>
              <a:t>set</a:t>
            </a:r>
            <a:r>
              <a:rPr lang="zh-CN" altLang="en-US" dirty="0">
                <a:ea typeface="宋体" panose="02010600030101010101" pitchFamily="2" charset="-122"/>
                <a:sym typeface="+mn-ea"/>
              </a:rPr>
              <a:t>方法中使用</a:t>
            </a:r>
            <a:r>
              <a:rPr lang="en-US" dirty="0">
                <a:ea typeface="宋体" panose="02010600030101010101" pitchFamily="2" charset="-122"/>
                <a:sym typeface="+mn-ea"/>
              </a:rPr>
              <a:t>this</a:t>
            </a:r>
            <a:r>
              <a:rPr lang="zh-CN" altLang="en-US" dirty="0">
                <a:ea typeface="宋体" panose="02010600030101010101" pitchFamily="2" charset="-122"/>
                <a:sym typeface="+mn-ea"/>
              </a:rPr>
              <a:t>关键字</a:t>
            </a:r>
            <a:endParaRPr lang="zh-CN" altLang="en-US" dirty="0">
              <a:ea typeface="宋体" panose="02010600030101010101" pitchFamily="2" charset="-122"/>
            </a:endParaRPr>
          </a:p>
          <a:p>
            <a:pPr marL="457200" lvl="1" indent="0" eaLnBrk="1" hangingPunct="1">
              <a:lnSpc>
                <a:spcPct val="140000"/>
              </a:lnSpc>
              <a:buFont typeface="Times New Roman" panose="02020603050405020304" charset="0"/>
              <a:buNone/>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练习：</a:t>
            </a:r>
            <a:endParaRPr lang="zh-CN" altLang="en-US" dirty="0">
              <a:ea typeface="宋体" panose="02010600030101010101" pitchFamily="2" charset="-122"/>
              <a:sym typeface="+mn-ea"/>
            </a:endParaRPr>
          </a:p>
          <a:p>
            <a:pPr marL="914400" lvl="1" indent="-457200" algn="l" eaLnBrk="1" hangingPunct="1">
              <a:lnSpc>
                <a:spcPct val="140000"/>
              </a:lnSpc>
              <a:buClrTx/>
              <a:buSzTx/>
              <a:buFont typeface="Times New Roman" panose="02020603050405020304" charset="0"/>
              <a:buAutoNum type="arabicPeriod"/>
            </a:pPr>
            <a:r>
              <a:rPr lang="zh-CN" altLang="en-US" dirty="0">
                <a:ea typeface="宋体" panose="02010600030101010101" pitchFamily="2" charset="-122"/>
                <a:sym typeface="+mn-ea"/>
              </a:rPr>
              <a:t>改写</a:t>
            </a:r>
            <a:r>
              <a:rPr lang="en-US" dirty="0">
                <a:sym typeface="+mn-ea"/>
              </a:rPr>
              <a:t>Cat</a:t>
            </a:r>
            <a:r>
              <a:rPr lang="zh-CN" altLang="en-US" dirty="0">
                <a:ea typeface="宋体" panose="02010600030101010101" pitchFamily="2" charset="-122"/>
                <a:sym typeface="+mn-ea"/>
              </a:rPr>
              <a:t>类，在</a:t>
            </a:r>
            <a:r>
              <a:rPr lang="en-US" dirty="0">
                <a:ea typeface="宋体" panose="02010600030101010101" pitchFamily="2" charset="-122"/>
                <a:sym typeface="+mn-ea"/>
              </a:rPr>
              <a:t>set</a:t>
            </a:r>
            <a:r>
              <a:rPr lang="zh-CN" altLang="en-US" dirty="0">
                <a:ea typeface="宋体" panose="02010600030101010101" pitchFamily="2" charset="-122"/>
                <a:sym typeface="+mn-ea"/>
              </a:rPr>
              <a:t>方法中使用</a:t>
            </a:r>
            <a:r>
              <a:rPr lang="en-US" dirty="0">
                <a:ea typeface="宋体" panose="02010600030101010101" pitchFamily="2" charset="-122"/>
                <a:sym typeface="+mn-ea"/>
              </a:rPr>
              <a:t>this</a:t>
            </a:r>
            <a:r>
              <a:rPr lang="zh-CN" altLang="en-US" dirty="0">
                <a:ea typeface="宋体" panose="02010600030101010101" pitchFamily="2" charset="-122"/>
                <a:sym typeface="+mn-ea"/>
              </a:rPr>
              <a:t>关键字</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108200"/>
            <a:ext cx="3369310" cy="460375"/>
          </a:xfrm>
          <a:prstGeom prst="rect">
            <a:avLst/>
          </a:prstGeom>
          <a:noFill/>
        </p:spPr>
        <p:txBody>
          <a:bodyPr wrap="square" rtlCol="0">
            <a:spAutoFit/>
          </a:bodyPr>
          <a:lstStyle/>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zh-CN" altLang="en-US" sz="2400" dirty="0">
                <a:latin typeface="+mj-ea"/>
                <a:ea typeface="+mj-ea"/>
                <a:cs typeface="+mj-ea"/>
                <a:sym typeface="+mn-ea"/>
              </a:rPr>
              <a:t>声明和使用构造器</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905510" y="2648585"/>
            <a:ext cx="3174365"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第七章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声明和使用构造器</a:t>
            </a:r>
            <a:endParaRPr kumimoji="0" lang="zh-CN" altLang="en-US" sz="24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7" name="矩形 36"/>
          <p:cNvSpPr/>
          <p:nvPr/>
        </p:nvSpPr>
        <p:spPr>
          <a:xfrm>
            <a:off x="4765675" y="2954655"/>
            <a:ext cx="390715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2.</a:t>
            </a:r>
            <a:r>
              <a:rPr lang="zh-CN" altLang="en-US" sz="2400" dirty="0">
                <a:solidFill>
                  <a:srgbClr val="ED7D31"/>
                </a:solidFill>
                <a:latin typeface="+mj-ea"/>
                <a:ea typeface="+mj-ea"/>
                <a:cs typeface="+mj-ea"/>
                <a:sym typeface="+mn-ea"/>
              </a:rPr>
              <a:t>调用重载构造器</a:t>
            </a:r>
            <a:endParaRPr kumimoji="0" lang="zh-CN" altLang="en-US" sz="2400" b="0" i="0" u="none" strike="noStrike" kern="1200" cap="none" spc="0" normalizeH="0" baseline="0" noProof="0" dirty="0">
              <a:ln>
                <a:noFill/>
              </a:ln>
              <a:solidFill>
                <a:srgbClr val="ED7D31"/>
              </a:solidFill>
              <a:effectLst/>
              <a:uLnTx/>
              <a:uFillTx/>
              <a:latin typeface="+mj-ea"/>
              <a:ea typeface="+mj-ea"/>
              <a:cs typeface="+mj-ea"/>
              <a:sym typeface="+mn-ea"/>
            </a:endParaRPr>
          </a:p>
        </p:txBody>
      </p:sp>
      <p:sp>
        <p:nvSpPr>
          <p:cNvPr id="39" name="矩形 38"/>
          <p:cNvSpPr/>
          <p:nvPr/>
        </p:nvSpPr>
        <p:spPr>
          <a:xfrm>
            <a:off x="4765675" y="3728720"/>
            <a:ext cx="4601845" cy="82994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3.</a:t>
            </a:r>
            <a:r>
              <a:rPr lang="zh-CN" altLang="en-US" sz="2400" dirty="0">
                <a:latin typeface="+mj-ea"/>
                <a:ea typeface="+mj-ea"/>
                <a:cs typeface="+mj-ea"/>
                <a:sym typeface="+mn-ea"/>
              </a:rPr>
              <a:t>对象在内存中的结构模型</a:t>
            </a:r>
            <a:endParaRPr lang="en-US" altLang="zh-CN" sz="2400" dirty="0" smtClean="0">
              <a:latin typeface="+mj-ea"/>
              <a:ea typeface="+mj-ea"/>
              <a:cs typeface="+mj-ea"/>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P spid="39" grpId="0"/>
      <p:bldP spid="39" grpId="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161415" y="3137535"/>
            <a:ext cx="96901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声明和使用构造器</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构造器</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4294967295"/>
          </p:nvPr>
        </p:nvSpPr>
        <p:spPr>
          <a:xfrm>
            <a:off x="1059815" y="1029335"/>
            <a:ext cx="9527540" cy="4974590"/>
          </a:xfrm>
        </p:spPr>
        <p:txBody>
          <a:bodyPr>
            <a:normAutofit/>
          </a:bodyPr>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作用：</a:t>
            </a:r>
            <a:r>
              <a:rPr lang="zh-CN" altLang="en-US" dirty="0">
                <a:ea typeface="宋体" panose="02010600030101010101" pitchFamily="2" charset="-122"/>
                <a:sym typeface="+mn-ea"/>
              </a:rPr>
              <a:t>构造器主要用来初始化对象的属性值</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特点：</a:t>
            </a:r>
            <a:r>
              <a:rPr lang="zh-CN" altLang="en-US" dirty="0">
                <a:ea typeface="宋体" panose="02010600030101010101" pitchFamily="2" charset="-122"/>
                <a:sym typeface="+mn-ea"/>
              </a:rPr>
              <a:t>构造器是一种特殊的方法：</a:t>
            </a:r>
            <a:endParaRPr lang="zh-CN" altLang="en-US" dirty="0">
              <a:ea typeface="宋体" panose="02010600030101010101" pitchFamily="2" charset="-122"/>
              <a:sym typeface="+mn-ea"/>
            </a:endParaRPr>
          </a:p>
          <a:p>
            <a:pPr marL="704850" lvl="1" indent="-361950" eaLnBrk="1" hangingPunct="1">
              <a:lnSpc>
                <a:spcPct val="140000"/>
              </a:lnSpc>
            </a:pPr>
            <a:r>
              <a:rPr lang="zh-CN" altLang="en-US" dirty="0">
                <a:ea typeface="宋体" panose="02010600030101010101" pitchFamily="2" charset="-122"/>
                <a:sym typeface="+mn-ea"/>
              </a:rPr>
              <a:t>方法名和类名相同</a:t>
            </a:r>
            <a:endParaRPr lang="zh-CN" altLang="en-US" dirty="0">
              <a:ea typeface="宋体" panose="02010600030101010101" pitchFamily="2" charset="-122"/>
            </a:endParaRPr>
          </a:p>
          <a:p>
            <a:pPr marL="704850" lvl="1" indent="-361950" eaLnBrk="1" hangingPunct="1">
              <a:lnSpc>
                <a:spcPct val="140000"/>
              </a:lnSpc>
            </a:pPr>
            <a:r>
              <a:rPr lang="zh-CN" altLang="en-US" dirty="0">
                <a:ea typeface="宋体" panose="02010600030101010101" pitchFamily="2" charset="-122"/>
                <a:sym typeface="+mn-ea"/>
              </a:rPr>
              <a:t>无返回类型</a:t>
            </a:r>
            <a:endParaRPr lang="zh-CN" altLang="en-US" dirty="0">
              <a:ea typeface="宋体" panose="02010600030101010101" pitchFamily="2" charset="-122"/>
            </a:endParaRPr>
          </a:p>
          <a:p>
            <a:pPr marL="704850" lvl="1" indent="-361950" eaLnBrk="1" hangingPunct="1">
              <a:lnSpc>
                <a:spcPct val="140000"/>
              </a:lnSpc>
            </a:pPr>
            <a:r>
              <a:rPr lang="zh-CN" altLang="en-US" dirty="0">
                <a:ea typeface="宋体" panose="02010600030101010101" pitchFamily="2" charset="-122"/>
                <a:sym typeface="+mn-ea"/>
              </a:rPr>
              <a:t>构造器不能像方法那样被直接调用</a:t>
            </a:r>
            <a:endParaRPr lang="zh-CN" altLang="en-US" dirty="0">
              <a:ea typeface="宋体" panose="02010600030101010101" pitchFamily="2" charset="-122"/>
            </a:endParaRPr>
          </a:p>
          <a:p>
            <a:pPr marL="457200" indent="-457200" eaLnBrk="1" hangingPunct="1">
              <a:lnSpc>
                <a:spcPct val="140000"/>
              </a:lnSpc>
              <a:buClr>
                <a:srgbClr val="ED7D31"/>
              </a:buClr>
              <a:buFont typeface="+mj-lt"/>
              <a:buAutoNum type="arabicPeriod" startAt="3"/>
            </a:pPr>
            <a:r>
              <a:rPr lang="en-US" altLang="zh-CN" dirty="0">
                <a:ea typeface="宋体" panose="02010600030101010101" pitchFamily="2" charset="-122"/>
                <a:sym typeface="+mn-ea"/>
              </a:rPr>
              <a:t> </a:t>
            </a:r>
            <a:r>
              <a:rPr lang="zh-CN" altLang="en-US" dirty="0">
                <a:ea typeface="宋体" panose="02010600030101010101" pitchFamily="2" charset="-122"/>
                <a:sym typeface="+mn-ea"/>
              </a:rPr>
              <a:t>使用：使用</a:t>
            </a:r>
            <a:r>
              <a:rPr lang="en-US" dirty="0">
                <a:ea typeface="宋体" panose="02010600030101010101" pitchFamily="2" charset="-122"/>
                <a:sym typeface="+mn-ea"/>
              </a:rPr>
              <a:t>new</a:t>
            </a:r>
            <a:r>
              <a:rPr lang="zh-CN" altLang="en-US" dirty="0">
                <a:ea typeface="宋体" panose="02010600030101010101" pitchFamily="2" charset="-122"/>
                <a:sym typeface="+mn-ea"/>
              </a:rPr>
              <a:t>语句调用构造器</a:t>
            </a:r>
            <a:endParaRPr lang="zh-CN" altLang="en-US" dirty="0">
              <a:ea typeface="宋体" panose="02010600030101010101" pitchFamily="2" charset="-122"/>
              <a:sym typeface="+mn-ea"/>
            </a:endParaRPr>
          </a:p>
          <a:p>
            <a:pPr marL="704850" lvl="1" indent="-361950" algn="l" eaLnBrk="1" hangingPunct="1">
              <a:lnSpc>
                <a:spcPct val="140000"/>
              </a:lnSpc>
              <a:buClrTx/>
              <a:buSzTx/>
            </a:pPr>
            <a:r>
              <a:rPr lang="zh-CN" altLang="en-US" dirty="0">
                <a:ea typeface="宋体" panose="02010600030101010101" pitchFamily="2" charset="-122"/>
                <a:sym typeface="+mn-ea"/>
              </a:rPr>
              <a:t>例如： Teacher t = </a:t>
            </a:r>
            <a:r>
              <a:rPr lang="zh-CN" altLang="en-US" dirty="0">
                <a:solidFill>
                  <a:srgbClr val="FF0000"/>
                </a:solidFill>
                <a:ea typeface="宋体" panose="02010600030101010101" pitchFamily="2" charset="-122"/>
                <a:sym typeface="+mn-ea"/>
              </a:rPr>
              <a:t>new</a:t>
            </a:r>
            <a:r>
              <a:rPr lang="zh-CN" altLang="en-US" dirty="0">
                <a:ea typeface="宋体" panose="02010600030101010101" pitchFamily="2" charset="-122"/>
                <a:sym typeface="+mn-ea"/>
              </a:rPr>
              <a:t> Teacher();</a:t>
            </a:r>
            <a:endParaRPr lang="zh-CN" altLang="en-US" dirty="0">
              <a:ea typeface="宋体" panose="02010600030101010101" pitchFamily="2" charset="-122"/>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85347" name="内容占位符 2"/>
          <p:cNvSpPr>
            <a:spLocks noGrp="1"/>
          </p:cNvSpPr>
          <p:nvPr>
            <p:ph idx="4294967295"/>
          </p:nvPr>
        </p:nvSpPr>
        <p:spPr>
          <a:xfrm>
            <a:off x="1047750" y="996315"/>
            <a:ext cx="7708265" cy="5223510"/>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1  public class Teacher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      private String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      private String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      private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      public Teacher()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7          name = "</a:t>
            </a:r>
            <a:r>
              <a:rPr lang="zh-CN" altLang="en-US" sz="1800" dirty="0">
                <a:solidFill>
                  <a:srgbClr val="002060"/>
                </a:solidFill>
                <a:ea typeface="宋体" panose="02010600030101010101" pitchFamily="2" charset="-122"/>
              </a:rPr>
              <a:t>张三</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8          gender = "</a:t>
            </a:r>
            <a:r>
              <a:rPr lang="zh-CN" altLang="en-US" sz="1800" dirty="0">
                <a:solidFill>
                  <a:srgbClr val="002060"/>
                </a:solidFill>
                <a:ea typeface="宋体" panose="02010600030101010101" pitchFamily="2" charset="-122"/>
              </a:rPr>
              <a:t>男</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9          age = 20;</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12     public String </a:t>
            </a:r>
            <a:r>
              <a:rPr lang="en-US" sz="1800" dirty="0" err="1">
                <a:solidFill>
                  <a:srgbClr val="002060"/>
                </a:solidFill>
                <a:ea typeface="宋体" panose="02010600030101010101" pitchFamily="2" charset="-122"/>
              </a:rPr>
              <a:t>getName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13         return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16     public void </a:t>
            </a:r>
            <a:r>
              <a:rPr lang="en-US" sz="1800" dirty="0" err="1">
                <a:solidFill>
                  <a:srgbClr val="002060"/>
                </a:solidFill>
                <a:ea typeface="宋体" panose="02010600030101010101" pitchFamily="2" charset="-122"/>
              </a:rPr>
              <a:t>setName</a:t>
            </a:r>
            <a:r>
              <a:rPr lang="en-US" sz="1800" dirty="0">
                <a:solidFill>
                  <a:srgbClr val="002060"/>
                </a:solidFill>
                <a:ea typeface="宋体" panose="02010600030101010101" pitchFamily="2" charset="-122"/>
              </a:rPr>
              <a:t>(String name)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17         this.name =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18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19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86371" name="内容占位符 2"/>
          <p:cNvSpPr>
            <a:spLocks noGrp="1"/>
          </p:cNvSpPr>
          <p:nvPr>
            <p:ph idx="4294967295"/>
          </p:nvPr>
        </p:nvSpPr>
        <p:spPr>
          <a:xfrm>
            <a:off x="1008407" y="1160131"/>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20     public String </a:t>
            </a:r>
            <a:r>
              <a:rPr lang="en-US" sz="1800" dirty="0" err="1">
                <a:solidFill>
                  <a:srgbClr val="002060"/>
                </a:solidFill>
                <a:ea typeface="宋体" panose="02010600030101010101" pitchFamily="2" charset="-122"/>
              </a:rPr>
              <a:t>getGender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21         return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24     public void </a:t>
            </a:r>
            <a:r>
              <a:rPr lang="en-US" sz="1800" dirty="0" err="1">
                <a:solidFill>
                  <a:srgbClr val="002060"/>
                </a:solidFill>
                <a:ea typeface="宋体" panose="02010600030101010101" pitchFamily="2" charset="-122"/>
              </a:rPr>
              <a:t>setGender</a:t>
            </a:r>
            <a:r>
              <a:rPr lang="en-US" sz="1800" dirty="0">
                <a:solidFill>
                  <a:srgbClr val="002060"/>
                </a:solidFill>
                <a:ea typeface="宋体" panose="02010600030101010101" pitchFamily="2" charset="-122"/>
              </a:rPr>
              <a:t>(String gender)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25         </a:t>
            </a:r>
            <a:r>
              <a:rPr lang="en-US" sz="1800" dirty="0" err="1">
                <a:solidFill>
                  <a:srgbClr val="002060"/>
                </a:solidFill>
                <a:ea typeface="宋体" panose="02010600030101010101" pitchFamily="2" charset="-122"/>
              </a:rPr>
              <a:t>this.gender</a:t>
            </a:r>
            <a:r>
              <a:rPr lang="en-US" sz="1800" dirty="0">
                <a:solidFill>
                  <a:srgbClr val="002060"/>
                </a:solidFill>
                <a:ea typeface="宋体" panose="02010600030101010101" pitchFamily="2" charset="-122"/>
              </a:rPr>
              <a:t> =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28     public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t>
            </a:r>
            <a:r>
              <a:rPr lang="en-US" sz="1800" dirty="0" err="1">
                <a:solidFill>
                  <a:srgbClr val="002060"/>
                </a:solidFill>
                <a:ea typeface="宋体" panose="02010600030101010101" pitchFamily="2" charset="-122"/>
              </a:rPr>
              <a:t>getAge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29         return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32     public void </a:t>
            </a:r>
            <a:r>
              <a:rPr lang="en-US" sz="1800" dirty="0" err="1">
                <a:solidFill>
                  <a:srgbClr val="002060"/>
                </a:solidFill>
                <a:ea typeface="宋体" panose="02010600030101010101" pitchFamily="2" charset="-122"/>
              </a:rPr>
              <a:t>setAge</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33         if (age &gt; 100)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34                 return;</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36         </a:t>
            </a:r>
            <a:r>
              <a:rPr lang="en-US" sz="1800" dirty="0" err="1">
                <a:solidFill>
                  <a:srgbClr val="002060"/>
                </a:solidFill>
                <a:ea typeface="宋体" panose="02010600030101010101" pitchFamily="2" charset="-122"/>
              </a:rPr>
              <a:t>this.age</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38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87395" name="内容占位符 2"/>
          <p:cNvSpPr>
            <a:spLocks noGrp="1"/>
          </p:cNvSpPr>
          <p:nvPr>
            <p:ph idx="4294967295"/>
          </p:nvPr>
        </p:nvSpPr>
        <p:spPr>
          <a:xfrm>
            <a:off x="1070267" y="1176959"/>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39     private void lecture()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43     public void </a:t>
            </a:r>
            <a:r>
              <a:rPr lang="en-US" sz="1800" dirty="0" err="1">
                <a:solidFill>
                  <a:srgbClr val="002060"/>
                </a:solidFill>
                <a:ea typeface="宋体" panose="02010600030101010101" pitchFamily="2" charset="-122"/>
              </a:rPr>
              <a:t>assignHomeWork</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47     public String say()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48         lecture();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50         String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 = "</a:t>
            </a:r>
            <a:r>
              <a:rPr lang="zh-CN" altLang="en-US" sz="1800" dirty="0">
                <a:solidFill>
                  <a:srgbClr val="002060"/>
                </a:solidFill>
                <a:ea typeface="宋体" panose="02010600030101010101" pitchFamily="2" charset="-122"/>
              </a:rPr>
              <a:t>我是</a:t>
            </a:r>
            <a:r>
              <a:rPr lang="en-US" sz="1800" dirty="0">
                <a:solidFill>
                  <a:srgbClr val="002060"/>
                </a:solidFill>
                <a:ea typeface="宋体" panose="02010600030101010101" pitchFamily="2" charset="-122"/>
              </a:rPr>
              <a:t>" + name + ", </a:t>
            </a:r>
            <a:r>
              <a:rPr lang="zh-CN" altLang="en-US" sz="1800" dirty="0">
                <a:solidFill>
                  <a:srgbClr val="002060"/>
                </a:solidFill>
                <a:ea typeface="宋体" panose="02010600030101010101" pitchFamily="2" charset="-122"/>
              </a:rPr>
              <a:t>性别</a:t>
            </a:r>
            <a:r>
              <a:rPr lang="en-US" sz="1800" dirty="0">
                <a:solidFill>
                  <a:srgbClr val="002060"/>
                </a:solidFill>
                <a:ea typeface="宋体" panose="02010600030101010101" pitchFamily="2" charset="-122"/>
              </a:rPr>
              <a:t>" +  gender +", </a:t>
            </a:r>
            <a:r>
              <a:rPr lang="zh-CN" altLang="en-US" sz="1800" dirty="0">
                <a:solidFill>
                  <a:srgbClr val="002060"/>
                </a:solidFill>
                <a:ea typeface="宋体" panose="02010600030101010101" pitchFamily="2" charset="-122"/>
              </a:rPr>
              <a:t>年龄</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51         return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53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TestConstructor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88419" name="内容占位符 2"/>
          <p:cNvSpPr>
            <a:spLocks noGrp="1"/>
          </p:cNvSpPr>
          <p:nvPr>
            <p:ph idx="4294967295"/>
          </p:nvPr>
        </p:nvSpPr>
        <p:spPr>
          <a:xfrm>
            <a:off x="928662" y="1160165"/>
            <a:ext cx="7537450" cy="4816475"/>
          </a:xfrm>
        </p:spPr>
        <p:txBody>
          <a:bodyPr/>
          <a:p>
            <a:pPr marL="361950" indent="-361950" eaLnBrk="1" hangingPunct="1">
              <a:buFont typeface="Times"/>
              <a:buNone/>
            </a:pPr>
            <a:r>
              <a:rPr lang="en-US" sz="1800" dirty="0">
                <a:solidFill>
                  <a:srgbClr val="002060"/>
                </a:solidFill>
                <a:ea typeface="宋体" panose="02010600030101010101" pitchFamily="2" charset="-122"/>
              </a:rPr>
              <a:t>1  public class </a:t>
            </a:r>
            <a:r>
              <a:rPr lang="en-US" sz="1800" dirty="0" err="1">
                <a:solidFill>
                  <a:srgbClr val="002060"/>
                </a:solidFill>
                <a:ea typeface="宋体" panose="02010600030101010101" pitchFamily="2" charset="-122"/>
              </a:rPr>
              <a:t>TestConstructor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2      public static void main(String[] </a:t>
            </a:r>
            <a:r>
              <a:rPr lang="en-US" sz="1800" dirty="0" err="1">
                <a:solidFill>
                  <a:srgbClr val="002060"/>
                </a:solidFill>
                <a:ea typeface="宋体" panose="02010600030101010101" pitchFamily="2" charset="-122"/>
              </a:rPr>
              <a:t>args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3          Teacher t = new Teacher();   //</a:t>
            </a:r>
            <a:r>
              <a:rPr lang="zh-CN" altLang="en-US" sz="1800" dirty="0">
                <a:solidFill>
                  <a:srgbClr val="002060"/>
                </a:solidFill>
                <a:ea typeface="宋体" panose="02010600030101010101" pitchFamily="2" charset="-122"/>
              </a:rPr>
              <a:t>引用类型变量</a:t>
            </a:r>
            <a:endParaRPr lang="zh-CN" alt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4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t.say</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6          </a:t>
            </a:r>
            <a:r>
              <a:rPr lang="en-US" sz="1800" dirty="0" err="1">
                <a:solidFill>
                  <a:srgbClr val="002060"/>
                </a:solidFill>
                <a:ea typeface="宋体" panose="02010600030101010101" pitchFamily="2" charset="-122"/>
              </a:rPr>
              <a:t>t.setName</a:t>
            </a:r>
            <a:r>
              <a:rPr lang="en-US"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李四</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7          </a:t>
            </a:r>
            <a:r>
              <a:rPr lang="en-US" sz="1800" dirty="0" err="1">
                <a:solidFill>
                  <a:srgbClr val="002060"/>
                </a:solidFill>
                <a:ea typeface="宋体" panose="02010600030101010101" pitchFamily="2" charset="-122"/>
              </a:rPr>
              <a:t>t.setGender</a:t>
            </a:r>
            <a:r>
              <a:rPr lang="en-US"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女</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8          </a:t>
            </a:r>
            <a:r>
              <a:rPr lang="en-US" sz="1800" dirty="0" err="1">
                <a:solidFill>
                  <a:srgbClr val="002060"/>
                </a:solidFill>
                <a:ea typeface="宋体" panose="02010600030101010101" pitchFamily="2" charset="-122"/>
              </a:rPr>
              <a:t>t.setAge</a:t>
            </a:r>
            <a:r>
              <a:rPr lang="en-US" sz="1800" dirty="0">
                <a:solidFill>
                  <a:srgbClr val="002060"/>
                </a:solidFill>
                <a:ea typeface="宋体" panose="02010600030101010101" pitchFamily="2" charset="-122"/>
              </a:rPr>
              <a:t>(25);</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9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t.say</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10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1059815" y="1313815"/>
            <a:ext cx="9527540" cy="4998085"/>
          </a:xfrm>
        </p:spPr>
        <p:txBody>
          <a:bodyPr>
            <a:normAutofit/>
          </a:bodyPr>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修改</a:t>
            </a:r>
            <a:r>
              <a:rPr lang="en-US" dirty="0">
                <a:ea typeface="宋体" panose="02010600030101010101" pitchFamily="2" charset="-122"/>
                <a:sym typeface="+mn-ea"/>
              </a:rPr>
              <a:t>Student</a:t>
            </a:r>
            <a:r>
              <a:rPr lang="zh-CN" altLang="en-US" dirty="0">
                <a:ea typeface="宋体" panose="02010600030101010101" pitchFamily="2" charset="-122"/>
                <a:sym typeface="+mn-ea"/>
              </a:rPr>
              <a:t>类，添加无参数的构造器，用来初始所有属性</a:t>
            </a: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a:ea typeface="宋体" panose="02010600030101010101" pitchFamily="2" charset="-122"/>
                <a:sym typeface="+mn-ea"/>
              </a:rPr>
              <a:t>创建</a:t>
            </a:r>
            <a:r>
              <a:rPr lang="en-US" dirty="0">
                <a:ea typeface="宋体" panose="02010600030101010101" pitchFamily="2" charset="-122"/>
                <a:sym typeface="+mn-ea"/>
              </a:rPr>
              <a:t>Student</a:t>
            </a:r>
            <a:r>
              <a:rPr lang="zh-CN" altLang="en-US" dirty="0">
                <a:ea typeface="宋体" panose="02010600030101010101" pitchFamily="2" charset="-122"/>
                <a:sym typeface="+mn-ea"/>
              </a:rPr>
              <a:t>对象，分别调用</a:t>
            </a:r>
            <a:r>
              <a:rPr lang="en-US" dirty="0">
                <a:ea typeface="宋体" panose="02010600030101010101" pitchFamily="2" charset="-122"/>
                <a:sym typeface="+mn-ea"/>
              </a:rPr>
              <a:t>say</a:t>
            </a:r>
            <a:r>
              <a:rPr lang="zh-CN" altLang="en-US" dirty="0">
                <a:ea typeface="宋体" panose="02010600030101010101" pitchFamily="2" charset="-122"/>
                <a:sym typeface="+mn-ea"/>
              </a:rPr>
              <a:t>方法打印输出结果。</a:t>
            </a:r>
            <a:endParaRPr lang="zh-CN" altLang="en-US" dirty="0">
              <a:ea typeface="宋体" panose="02010600030101010101" pitchFamily="2" charset="-122"/>
              <a:sym typeface="+mn-ea"/>
            </a:endParaRPr>
          </a:p>
          <a:p>
            <a:pPr marL="0" indent="0" eaLnBrk="1" hangingPunct="1">
              <a:lnSpc>
                <a:spcPct val="140000"/>
              </a:lnSpc>
              <a:buClr>
                <a:srgbClr val="ED7D31"/>
              </a:buClr>
              <a:buFont typeface="+mj-lt"/>
              <a:buNone/>
            </a:pPr>
            <a:endParaRPr lang="zh-CN" altLang="en-US" dirty="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带参数的构造器</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1059815" y="1028700"/>
            <a:ext cx="9527540" cy="4998085"/>
          </a:xfrm>
        </p:spPr>
        <p:txBody>
          <a:bodyPr>
            <a:normAutofit/>
          </a:bodyPr>
          <a:p>
            <a:pPr marL="457200" indent="-457200" eaLnBrk="1" hangingPunct="1">
              <a:lnSpc>
                <a:spcPct val="120000"/>
              </a:lnSpc>
              <a:buClr>
                <a:srgbClr val="ED7D31"/>
              </a:buClr>
              <a:buFont typeface="+mj-lt"/>
              <a:buAutoNum type="arabicPeriod"/>
            </a:pPr>
            <a:r>
              <a:rPr lang="en-US" altLang="zh-CN" dirty="0">
                <a:ea typeface="宋体" panose="02010600030101010101" pitchFamily="2" charset="-122"/>
                <a:sym typeface="+mn-ea"/>
              </a:rPr>
              <a:t> </a:t>
            </a:r>
            <a:r>
              <a:rPr lang="zh-CN" altLang="en-US" dirty="0">
                <a:ea typeface="宋体" panose="02010600030101010101" pitchFamily="2" charset="-122"/>
                <a:sym typeface="+mn-ea"/>
              </a:rPr>
              <a:t>构造器的方法签名中支持参数列表</a:t>
            </a:r>
            <a:endParaRPr lang="zh-CN" altLang="en-US" dirty="0">
              <a:ea typeface="宋体" panose="02010600030101010101" pitchFamily="2" charset="-122"/>
              <a:sym typeface="+mn-ea"/>
            </a:endParaRPr>
          </a:p>
          <a:p>
            <a:pPr marL="704850" lvl="1" indent="-361950" eaLnBrk="1" hangingPunct="1">
              <a:lnSpc>
                <a:spcPct val="120000"/>
              </a:lnSpc>
              <a:buFont typeface="Times"/>
              <a:buNone/>
            </a:pPr>
            <a:r>
              <a:rPr lang="en-US" altLang="zh-CN" dirty="0">
                <a:solidFill>
                  <a:srgbClr val="002060"/>
                </a:solidFill>
                <a:ea typeface="宋体" panose="02010600030101010101" pitchFamily="2" charset="-122"/>
                <a:sym typeface="+mn-ea"/>
              </a:rPr>
              <a:t> </a:t>
            </a:r>
            <a:r>
              <a:rPr lang="zh-CN" altLang="en-US" dirty="0">
                <a:solidFill>
                  <a:srgbClr val="002060"/>
                </a:solidFill>
                <a:ea typeface="宋体" panose="02010600030101010101" pitchFamily="2" charset="-122"/>
                <a:sym typeface="+mn-ea"/>
              </a:rPr>
              <a:t>例如：</a:t>
            </a:r>
            <a:r>
              <a:rPr lang="en-US" dirty="0">
                <a:solidFill>
                  <a:srgbClr val="002060"/>
                </a:solidFill>
                <a:ea typeface="宋体" panose="02010600030101010101" pitchFamily="2" charset="-122"/>
                <a:sym typeface="+mn-ea"/>
              </a:rPr>
              <a:t>public Teacher(String name, String gender, </a:t>
            </a:r>
            <a:r>
              <a:rPr lang="en-US" dirty="0" err="1">
                <a:solidFill>
                  <a:srgbClr val="002060"/>
                </a:solidFill>
                <a:ea typeface="宋体" panose="02010600030101010101" pitchFamily="2" charset="-122"/>
                <a:sym typeface="+mn-ea"/>
              </a:rPr>
              <a:t>int</a:t>
            </a:r>
            <a:r>
              <a:rPr lang="en-US" dirty="0">
                <a:solidFill>
                  <a:srgbClr val="002060"/>
                </a:solidFill>
                <a:ea typeface="宋体" panose="02010600030101010101" pitchFamily="2" charset="-122"/>
                <a:sym typeface="+mn-ea"/>
              </a:rPr>
              <a:t> age) {</a:t>
            </a:r>
            <a:endParaRPr lang="en-US" dirty="0">
              <a:solidFill>
                <a:srgbClr val="002060"/>
              </a:solidFill>
              <a:ea typeface="宋体" panose="02010600030101010101" pitchFamily="2" charset="-122"/>
            </a:endParaRPr>
          </a:p>
          <a:p>
            <a:pPr marL="704850" lvl="1" indent="-361950" eaLnBrk="1" hangingPunct="1">
              <a:lnSpc>
                <a:spcPct val="120000"/>
              </a:lnSpc>
              <a:buFont typeface="Times"/>
              <a:buNone/>
            </a:pPr>
            <a:r>
              <a:rPr lang="en-US" dirty="0">
                <a:solidFill>
                  <a:srgbClr val="002060"/>
                </a:solidFill>
                <a:ea typeface="宋体" panose="02010600030101010101" pitchFamily="2" charset="-122"/>
                <a:sym typeface="+mn-ea"/>
              </a:rPr>
              <a:t>		           this.name = name;</a:t>
            </a:r>
            <a:endParaRPr lang="en-US" dirty="0">
              <a:solidFill>
                <a:srgbClr val="002060"/>
              </a:solidFill>
              <a:ea typeface="宋体" panose="02010600030101010101" pitchFamily="2" charset="-122"/>
            </a:endParaRPr>
          </a:p>
          <a:p>
            <a:pPr marL="704850" lvl="1" indent="-361950" eaLnBrk="1" hangingPunct="1">
              <a:lnSpc>
                <a:spcPct val="120000"/>
              </a:lnSpc>
              <a:buFont typeface="Times"/>
              <a:buNone/>
            </a:pPr>
            <a:r>
              <a:rPr lang="en-US" dirty="0">
                <a:solidFill>
                  <a:srgbClr val="002060"/>
                </a:solidFill>
                <a:ea typeface="宋体" panose="02010600030101010101" pitchFamily="2" charset="-122"/>
                <a:sym typeface="+mn-ea"/>
              </a:rPr>
              <a:t>		           </a:t>
            </a:r>
            <a:r>
              <a:rPr lang="en-US" dirty="0" err="1">
                <a:solidFill>
                  <a:srgbClr val="002060"/>
                </a:solidFill>
                <a:ea typeface="宋体" panose="02010600030101010101" pitchFamily="2" charset="-122"/>
                <a:sym typeface="+mn-ea"/>
              </a:rPr>
              <a:t>this.gender</a:t>
            </a:r>
            <a:r>
              <a:rPr lang="en-US" dirty="0">
                <a:solidFill>
                  <a:srgbClr val="002060"/>
                </a:solidFill>
                <a:ea typeface="宋体" panose="02010600030101010101" pitchFamily="2" charset="-122"/>
                <a:sym typeface="+mn-ea"/>
              </a:rPr>
              <a:t> = gender;</a:t>
            </a:r>
            <a:endParaRPr lang="en-US" dirty="0">
              <a:solidFill>
                <a:srgbClr val="002060"/>
              </a:solidFill>
              <a:ea typeface="宋体" panose="02010600030101010101" pitchFamily="2" charset="-122"/>
            </a:endParaRPr>
          </a:p>
          <a:p>
            <a:pPr marL="704850" lvl="1" indent="-361950" eaLnBrk="1" hangingPunct="1">
              <a:lnSpc>
                <a:spcPct val="120000"/>
              </a:lnSpc>
              <a:buFont typeface="Times"/>
              <a:buNone/>
            </a:pPr>
            <a:r>
              <a:rPr lang="en-US" dirty="0">
                <a:solidFill>
                  <a:srgbClr val="002060"/>
                </a:solidFill>
                <a:ea typeface="宋体" panose="02010600030101010101" pitchFamily="2" charset="-122"/>
                <a:sym typeface="+mn-ea"/>
              </a:rPr>
              <a:t>		           </a:t>
            </a:r>
            <a:r>
              <a:rPr lang="en-US" dirty="0" err="1">
                <a:solidFill>
                  <a:srgbClr val="002060"/>
                </a:solidFill>
                <a:ea typeface="宋体" panose="02010600030101010101" pitchFamily="2" charset="-122"/>
                <a:sym typeface="+mn-ea"/>
              </a:rPr>
              <a:t>this.age</a:t>
            </a:r>
            <a:r>
              <a:rPr lang="en-US" dirty="0">
                <a:solidFill>
                  <a:srgbClr val="002060"/>
                </a:solidFill>
                <a:ea typeface="宋体" panose="02010600030101010101" pitchFamily="2" charset="-122"/>
                <a:sym typeface="+mn-ea"/>
              </a:rPr>
              <a:t> = age;</a:t>
            </a:r>
            <a:endParaRPr lang="en-US" dirty="0">
              <a:solidFill>
                <a:srgbClr val="002060"/>
              </a:solidFill>
              <a:ea typeface="宋体" panose="02010600030101010101" pitchFamily="2" charset="-122"/>
            </a:endParaRPr>
          </a:p>
          <a:p>
            <a:pPr marL="704850" lvl="1" indent="-361950" eaLnBrk="1" hangingPunct="1">
              <a:lnSpc>
                <a:spcPct val="120000"/>
              </a:lnSpc>
              <a:buFont typeface="Times"/>
              <a:buNone/>
            </a:pPr>
            <a:r>
              <a:rPr lang="en-US" dirty="0">
                <a:solidFill>
                  <a:srgbClr val="002060"/>
                </a:solidFill>
                <a:ea typeface="宋体" panose="02010600030101010101" pitchFamily="2" charset="-122"/>
                <a:sym typeface="+mn-ea"/>
              </a:rPr>
              <a:t>	       }</a:t>
            </a:r>
            <a:endParaRPr lang="zh-CN" altLang="en-US" dirty="0">
              <a:ea typeface="宋体" panose="02010600030101010101" pitchFamily="2" charset="-122"/>
              <a:sym typeface="+mn-ea"/>
            </a:endParaRPr>
          </a:p>
          <a:p>
            <a:pPr marL="457200" indent="-457200" eaLnBrk="1" hangingPunct="1">
              <a:lnSpc>
                <a:spcPct val="120000"/>
              </a:lnSpc>
              <a:buClr>
                <a:srgbClr val="ED7D31"/>
              </a:buClr>
              <a:buFont typeface="+mj-lt"/>
              <a:buAutoNum type="arabicPeriod"/>
            </a:pPr>
            <a:r>
              <a:rPr lang="zh-CN" altLang="en-US" dirty="0">
                <a:ea typeface="宋体" panose="02010600030101010101" pitchFamily="2" charset="-122"/>
                <a:sym typeface="+mn-ea"/>
              </a:rPr>
              <a:t>通常使用参数值来初始化对应的属性</a:t>
            </a:r>
            <a:endParaRPr lang="zh-CN" altLang="en-US" dirty="0">
              <a:ea typeface="宋体" panose="02010600030101010101" pitchFamily="2" charset="-122"/>
              <a:sym typeface="+mn-ea"/>
            </a:endParaRPr>
          </a:p>
          <a:p>
            <a:pPr marL="457200" indent="-457200" eaLnBrk="1" hangingPunct="1">
              <a:lnSpc>
                <a:spcPct val="120000"/>
              </a:lnSpc>
              <a:buClr>
                <a:srgbClr val="ED7D31"/>
              </a:buClr>
              <a:buFont typeface="+mj-lt"/>
              <a:buAutoNum type="arabicPeriod"/>
            </a:pPr>
            <a:r>
              <a:rPr lang="zh-CN" altLang="en-US" dirty="0">
                <a:ea typeface="宋体" panose="02010600030101010101" pitchFamily="2" charset="-122"/>
                <a:sym typeface="+mn-ea"/>
              </a:rPr>
              <a:t>在执行</a:t>
            </a:r>
            <a:r>
              <a:rPr lang="en-US" dirty="0">
                <a:ea typeface="宋体" panose="02010600030101010101" pitchFamily="2" charset="-122"/>
                <a:sym typeface="+mn-ea"/>
              </a:rPr>
              <a:t>new</a:t>
            </a:r>
            <a:r>
              <a:rPr lang="zh-CN" altLang="en-US" dirty="0">
                <a:ea typeface="宋体" panose="02010600030101010101" pitchFamily="2" charset="-122"/>
                <a:sym typeface="+mn-ea"/>
              </a:rPr>
              <a:t>语句调用构造器时，参数必须匹配</a:t>
            </a:r>
            <a:endParaRPr lang="zh-CN" altLang="en-US" dirty="0">
              <a:ea typeface="宋体" panose="02010600030101010101" pitchFamily="2" charset="-122"/>
              <a:sym typeface="+mn-ea"/>
            </a:endParaRPr>
          </a:p>
          <a:p>
            <a:pPr marL="342900" lvl="1" indent="0" algn="l" eaLnBrk="1" hangingPunct="1">
              <a:lnSpc>
                <a:spcPct val="120000"/>
              </a:lnSpc>
              <a:buClrTx/>
              <a:buSzTx/>
              <a:buFont typeface="+mj-lt"/>
              <a:buNone/>
            </a:pPr>
            <a:r>
              <a:rPr lang="zh-CN" altLang="en-US" dirty="0">
                <a:solidFill>
                  <a:srgbClr val="002060"/>
                </a:solidFill>
                <a:ea typeface="宋体" panose="02010600030101010101" pitchFamily="2" charset="-122"/>
                <a:sym typeface="+mn-ea"/>
              </a:rPr>
              <a:t>例如： Teacher t = </a:t>
            </a:r>
            <a:r>
              <a:rPr lang="zh-CN" altLang="en-US" dirty="0">
                <a:solidFill>
                  <a:srgbClr val="ED7D31"/>
                </a:solidFill>
                <a:ea typeface="宋体" panose="02010600030101010101" pitchFamily="2" charset="-122"/>
                <a:sym typeface="+mn-ea"/>
              </a:rPr>
              <a:t>new Teacher("张三", "男", 30);</a:t>
            </a:r>
            <a:endParaRPr lang="zh-CN" altLang="en-US" dirty="0">
              <a:solidFill>
                <a:srgbClr val="002060"/>
              </a:solidFill>
              <a:ea typeface="宋体" panose="02010600030101010101" pitchFamily="2" charset="-122"/>
            </a:endParaRPr>
          </a:p>
          <a:p>
            <a:pPr marL="457200" indent="-457200" eaLnBrk="1" hangingPunct="1">
              <a:lnSpc>
                <a:spcPct val="120000"/>
              </a:lnSpc>
              <a:buClr>
                <a:srgbClr val="ED7D31"/>
              </a:buClr>
              <a:buFont typeface="+mj-lt"/>
              <a:buAutoNum type="arabicPeriod"/>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91491" name="内容占位符 2"/>
          <p:cNvSpPr>
            <a:spLocks noGrp="1"/>
          </p:cNvSpPr>
          <p:nvPr>
            <p:ph idx="4294967295"/>
          </p:nvPr>
        </p:nvSpPr>
        <p:spPr>
          <a:xfrm>
            <a:off x="1234732" y="1043961"/>
            <a:ext cx="7537450" cy="4967287"/>
          </a:xfrm>
        </p:spPr>
        <p:txBody>
          <a:bodyPr>
            <a:noAutofit/>
          </a:bodyPr>
          <a:p>
            <a:pPr marL="361950" indent="-361950" eaLnBrk="1" hangingPunct="1">
              <a:spcBef>
                <a:spcPct val="0"/>
              </a:spcBef>
              <a:buFont typeface="Times"/>
              <a:buNone/>
            </a:pPr>
            <a:r>
              <a:rPr lang="en-US" sz="1800" dirty="0">
                <a:solidFill>
                  <a:srgbClr val="002060"/>
                </a:solidFill>
                <a:ea typeface="宋体" panose="02010600030101010101" pitchFamily="2" charset="-122"/>
              </a:rPr>
              <a:t>1  public class Teacher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      private String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      private String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      private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      public Teacher(String name, String gender,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7          this.name =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8          </a:t>
            </a:r>
            <a:r>
              <a:rPr lang="en-US" sz="1800" dirty="0" err="1">
                <a:solidFill>
                  <a:srgbClr val="002060"/>
                </a:solidFill>
                <a:ea typeface="宋体" panose="02010600030101010101" pitchFamily="2" charset="-122"/>
              </a:rPr>
              <a:t>this.gender</a:t>
            </a:r>
            <a:r>
              <a:rPr lang="en-US" sz="1800" dirty="0">
                <a:solidFill>
                  <a:srgbClr val="002060"/>
                </a:solidFill>
                <a:ea typeface="宋体" panose="02010600030101010101" pitchFamily="2" charset="-122"/>
              </a:rPr>
              <a:t> =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9          </a:t>
            </a:r>
            <a:r>
              <a:rPr lang="en-US" sz="1800" dirty="0" err="1">
                <a:solidFill>
                  <a:srgbClr val="002060"/>
                </a:solidFill>
                <a:ea typeface="宋体" panose="02010600030101010101" pitchFamily="2" charset="-122"/>
              </a:rPr>
              <a:t>this.age</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12     public String </a:t>
            </a:r>
            <a:r>
              <a:rPr lang="en-US" sz="1800" dirty="0" err="1">
                <a:solidFill>
                  <a:srgbClr val="002060"/>
                </a:solidFill>
                <a:ea typeface="宋体" panose="02010600030101010101" pitchFamily="2" charset="-122"/>
              </a:rPr>
              <a:t>getName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13         return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16     public void </a:t>
            </a:r>
            <a:r>
              <a:rPr lang="en-US" sz="1800" dirty="0" err="1">
                <a:solidFill>
                  <a:srgbClr val="002060"/>
                </a:solidFill>
                <a:ea typeface="宋体" panose="02010600030101010101" pitchFamily="2" charset="-122"/>
              </a:rPr>
              <a:t>setName</a:t>
            </a:r>
            <a:r>
              <a:rPr lang="en-US" sz="1800" dirty="0">
                <a:solidFill>
                  <a:srgbClr val="002060"/>
                </a:solidFill>
                <a:ea typeface="宋体" panose="02010600030101010101" pitchFamily="2" charset="-122"/>
              </a:rPr>
              <a:t>(String name)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17         this.name =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18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19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92515" name="内容占位符 2"/>
          <p:cNvSpPr>
            <a:spLocks noGrp="1"/>
          </p:cNvSpPr>
          <p:nvPr>
            <p:ph idx="4294967295"/>
          </p:nvPr>
        </p:nvSpPr>
        <p:spPr>
          <a:xfrm>
            <a:off x="1008672" y="996972"/>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20     public String </a:t>
            </a:r>
            <a:r>
              <a:rPr lang="en-US" sz="1800" dirty="0" err="1">
                <a:solidFill>
                  <a:srgbClr val="002060"/>
                </a:solidFill>
                <a:ea typeface="宋体" panose="02010600030101010101" pitchFamily="2" charset="-122"/>
              </a:rPr>
              <a:t>getGender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21         return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24     public void </a:t>
            </a:r>
            <a:r>
              <a:rPr lang="en-US" sz="1800" dirty="0" err="1">
                <a:solidFill>
                  <a:srgbClr val="002060"/>
                </a:solidFill>
                <a:ea typeface="宋体" panose="02010600030101010101" pitchFamily="2" charset="-122"/>
              </a:rPr>
              <a:t>setGender</a:t>
            </a:r>
            <a:r>
              <a:rPr lang="en-US" sz="1800" dirty="0">
                <a:solidFill>
                  <a:srgbClr val="002060"/>
                </a:solidFill>
                <a:ea typeface="宋体" panose="02010600030101010101" pitchFamily="2" charset="-122"/>
              </a:rPr>
              <a:t>(String gender)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25         </a:t>
            </a:r>
            <a:r>
              <a:rPr lang="en-US" sz="1800" dirty="0" err="1">
                <a:solidFill>
                  <a:srgbClr val="002060"/>
                </a:solidFill>
                <a:ea typeface="宋体" panose="02010600030101010101" pitchFamily="2" charset="-122"/>
              </a:rPr>
              <a:t>this.gender</a:t>
            </a:r>
            <a:r>
              <a:rPr lang="en-US" sz="1800" dirty="0">
                <a:solidFill>
                  <a:srgbClr val="002060"/>
                </a:solidFill>
                <a:ea typeface="宋体" panose="02010600030101010101" pitchFamily="2" charset="-122"/>
              </a:rPr>
              <a:t> =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28     public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t>
            </a:r>
            <a:r>
              <a:rPr lang="en-US" sz="1800" dirty="0" err="1">
                <a:solidFill>
                  <a:srgbClr val="002060"/>
                </a:solidFill>
                <a:ea typeface="宋体" panose="02010600030101010101" pitchFamily="2" charset="-122"/>
              </a:rPr>
              <a:t>getAge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29         return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32     public void </a:t>
            </a:r>
            <a:r>
              <a:rPr lang="en-US" sz="1800" dirty="0" err="1">
                <a:solidFill>
                  <a:srgbClr val="002060"/>
                </a:solidFill>
                <a:ea typeface="宋体" panose="02010600030101010101" pitchFamily="2" charset="-122"/>
              </a:rPr>
              <a:t>setAge</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33         if (age &gt; 100)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34                  return;</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36         </a:t>
            </a:r>
            <a:r>
              <a:rPr lang="en-US" sz="1800" dirty="0" err="1">
                <a:solidFill>
                  <a:srgbClr val="002060"/>
                </a:solidFill>
                <a:ea typeface="宋体" panose="02010600030101010101" pitchFamily="2" charset="-122"/>
              </a:rPr>
              <a:t>this.age</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38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93539" name="内容占位符 2"/>
          <p:cNvSpPr>
            <a:spLocks noGrp="1"/>
          </p:cNvSpPr>
          <p:nvPr>
            <p:ph idx="4294967295"/>
          </p:nvPr>
        </p:nvSpPr>
        <p:spPr>
          <a:xfrm>
            <a:off x="1008672" y="1271610"/>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39     private void lecture()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43     public void </a:t>
            </a:r>
            <a:r>
              <a:rPr lang="en-US" sz="1800" dirty="0" err="1">
                <a:solidFill>
                  <a:srgbClr val="002060"/>
                </a:solidFill>
                <a:ea typeface="宋体" panose="02010600030101010101" pitchFamily="2" charset="-122"/>
              </a:rPr>
              <a:t>assignHomeWork</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47     public String say()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48         lecture();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50         String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 = "</a:t>
            </a:r>
            <a:r>
              <a:rPr lang="zh-CN" altLang="en-US" sz="1800" dirty="0">
                <a:solidFill>
                  <a:srgbClr val="002060"/>
                </a:solidFill>
                <a:ea typeface="宋体" panose="02010600030101010101" pitchFamily="2" charset="-122"/>
              </a:rPr>
              <a:t>我是</a:t>
            </a:r>
            <a:r>
              <a:rPr lang="en-US" sz="1800" dirty="0">
                <a:solidFill>
                  <a:srgbClr val="002060"/>
                </a:solidFill>
                <a:ea typeface="宋体" panose="02010600030101010101" pitchFamily="2" charset="-122"/>
              </a:rPr>
              <a:t>" + name + ", </a:t>
            </a:r>
            <a:r>
              <a:rPr lang="zh-CN" altLang="en-US" sz="1800" dirty="0">
                <a:solidFill>
                  <a:srgbClr val="002060"/>
                </a:solidFill>
                <a:ea typeface="宋体" panose="02010600030101010101" pitchFamily="2" charset="-122"/>
              </a:rPr>
              <a:t>性别</a:t>
            </a:r>
            <a:r>
              <a:rPr lang="en-US" sz="1800" dirty="0">
                <a:solidFill>
                  <a:srgbClr val="002060"/>
                </a:solidFill>
                <a:ea typeface="宋体" panose="02010600030101010101" pitchFamily="2" charset="-122"/>
              </a:rPr>
              <a:t>" +  gender +", </a:t>
            </a:r>
            <a:r>
              <a:rPr lang="zh-CN" altLang="en-US" sz="1800" dirty="0">
                <a:solidFill>
                  <a:srgbClr val="002060"/>
                </a:solidFill>
                <a:ea typeface="宋体" panose="02010600030101010101" pitchFamily="2" charset="-122"/>
              </a:rPr>
              <a:t>年龄</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51         return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53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TestConstructor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94563" name="内容占位符 2"/>
          <p:cNvSpPr>
            <a:spLocks noGrp="1"/>
          </p:cNvSpPr>
          <p:nvPr>
            <p:ph idx="4294967295"/>
          </p:nvPr>
        </p:nvSpPr>
        <p:spPr>
          <a:xfrm>
            <a:off x="928662" y="1088410"/>
            <a:ext cx="7537450" cy="4816475"/>
          </a:xfrm>
        </p:spPr>
        <p:txBody>
          <a:bodyPr>
            <a:noAutofit/>
          </a:bodyPr>
          <a:p>
            <a:pPr marL="361950" indent="-361950" eaLnBrk="1" hangingPunct="1">
              <a:buFont typeface="Times"/>
              <a:buNone/>
            </a:pPr>
            <a:r>
              <a:rPr lang="en-US" sz="1800" dirty="0">
                <a:solidFill>
                  <a:srgbClr val="002060"/>
                </a:solidFill>
                <a:ea typeface="宋体" panose="02010600030101010101" pitchFamily="2" charset="-122"/>
              </a:rPr>
              <a:t>1  public class </a:t>
            </a:r>
            <a:r>
              <a:rPr lang="en-US" sz="1800" dirty="0" err="1">
                <a:solidFill>
                  <a:srgbClr val="002060"/>
                </a:solidFill>
                <a:ea typeface="宋体" panose="02010600030101010101" pitchFamily="2" charset="-122"/>
              </a:rPr>
              <a:t>TestConstructor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2      public static void main(String[] </a:t>
            </a:r>
            <a:r>
              <a:rPr lang="en-US" sz="1800" dirty="0" err="1">
                <a:solidFill>
                  <a:srgbClr val="002060"/>
                </a:solidFill>
                <a:ea typeface="宋体" panose="02010600030101010101" pitchFamily="2" charset="-122"/>
              </a:rPr>
              <a:t>args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3          Teacher t1 =</a:t>
            </a:r>
            <a:r>
              <a:rPr lang="en-US" sz="1800" dirty="0">
                <a:solidFill>
                  <a:srgbClr val="ED7D31"/>
                </a:solidFill>
                <a:ea typeface="宋体" panose="02010600030101010101" pitchFamily="2" charset="-122"/>
              </a:rPr>
              <a:t> new Teacher("</a:t>
            </a:r>
            <a:r>
              <a:rPr lang="zh-CN" altLang="en-US" sz="1800" dirty="0">
                <a:solidFill>
                  <a:srgbClr val="ED7D31"/>
                </a:solidFill>
                <a:ea typeface="宋体" panose="02010600030101010101" pitchFamily="2" charset="-122"/>
              </a:rPr>
              <a:t>张三</a:t>
            </a:r>
            <a:r>
              <a:rPr lang="en-US" sz="1800" dirty="0">
                <a:solidFill>
                  <a:srgbClr val="ED7D31"/>
                </a:solidFill>
                <a:ea typeface="宋体" panose="02010600030101010101" pitchFamily="2" charset="-122"/>
              </a:rPr>
              <a:t>", "</a:t>
            </a:r>
            <a:r>
              <a:rPr lang="zh-CN" altLang="en-US" sz="1800" dirty="0">
                <a:solidFill>
                  <a:srgbClr val="ED7D31"/>
                </a:solidFill>
                <a:ea typeface="宋体" panose="02010600030101010101" pitchFamily="2" charset="-122"/>
              </a:rPr>
              <a:t>男</a:t>
            </a:r>
            <a:r>
              <a:rPr lang="en-US" sz="1800" dirty="0">
                <a:solidFill>
                  <a:srgbClr val="ED7D31"/>
                </a:solidFill>
                <a:ea typeface="宋体" panose="02010600030101010101" pitchFamily="2" charset="-122"/>
              </a:rPr>
              <a:t>", 30);</a:t>
            </a:r>
            <a:endParaRPr lang="en-US" sz="1800" dirty="0">
              <a:solidFill>
                <a:srgbClr val="ED7D31"/>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4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(t1.say());</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6          Teacher t2 = </a:t>
            </a:r>
            <a:r>
              <a:rPr lang="en-US" sz="1800" dirty="0">
                <a:solidFill>
                  <a:srgbClr val="ED7D31"/>
                </a:solidFill>
                <a:ea typeface="宋体" panose="02010600030101010101" pitchFamily="2" charset="-122"/>
              </a:rPr>
              <a:t>new Teacher("</a:t>
            </a:r>
            <a:r>
              <a:rPr lang="zh-CN" altLang="en-US" sz="1800" dirty="0">
                <a:solidFill>
                  <a:srgbClr val="ED7D31"/>
                </a:solidFill>
                <a:ea typeface="宋体" panose="02010600030101010101" pitchFamily="2" charset="-122"/>
              </a:rPr>
              <a:t>李四</a:t>
            </a:r>
            <a:r>
              <a:rPr lang="en-US" sz="1800" dirty="0">
                <a:solidFill>
                  <a:srgbClr val="ED7D31"/>
                </a:solidFill>
                <a:ea typeface="宋体" panose="02010600030101010101" pitchFamily="2" charset="-122"/>
              </a:rPr>
              <a:t>", "</a:t>
            </a:r>
            <a:r>
              <a:rPr lang="zh-CN" altLang="en-US" sz="1800" dirty="0">
                <a:solidFill>
                  <a:srgbClr val="ED7D31"/>
                </a:solidFill>
                <a:ea typeface="宋体" panose="02010600030101010101" pitchFamily="2" charset="-122"/>
              </a:rPr>
              <a:t>女</a:t>
            </a:r>
            <a:r>
              <a:rPr lang="en-US" sz="1800" dirty="0">
                <a:solidFill>
                  <a:srgbClr val="ED7D31"/>
                </a:solidFill>
                <a:ea typeface="宋体" panose="02010600030101010101" pitchFamily="2" charset="-122"/>
              </a:rPr>
              <a:t>", 20);</a:t>
            </a:r>
            <a:endParaRPr lang="en-US" sz="1800" dirty="0">
              <a:solidFill>
                <a:srgbClr val="ED7D31"/>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7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(t2.say());</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8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9          Teacher t3 = </a:t>
            </a:r>
            <a:r>
              <a:rPr lang="en-US" sz="1800" dirty="0">
                <a:solidFill>
                  <a:srgbClr val="ED7D31"/>
                </a:solidFill>
                <a:ea typeface="宋体" panose="02010600030101010101" pitchFamily="2" charset="-122"/>
              </a:rPr>
              <a:t>new Teacher("</a:t>
            </a:r>
            <a:r>
              <a:rPr lang="zh-CN" altLang="en-US" sz="1800" dirty="0">
                <a:solidFill>
                  <a:srgbClr val="ED7D31"/>
                </a:solidFill>
                <a:ea typeface="宋体" panose="02010600030101010101" pitchFamily="2" charset="-122"/>
              </a:rPr>
              <a:t>王五</a:t>
            </a:r>
            <a:r>
              <a:rPr lang="en-US" sz="1800" dirty="0">
                <a:solidFill>
                  <a:srgbClr val="ED7D31"/>
                </a:solidFill>
                <a:ea typeface="宋体" panose="02010600030101010101" pitchFamily="2" charset="-122"/>
              </a:rPr>
              <a:t>", "</a:t>
            </a:r>
            <a:r>
              <a:rPr lang="zh-CN" altLang="en-US" sz="1800" dirty="0">
                <a:solidFill>
                  <a:srgbClr val="ED7D31"/>
                </a:solidFill>
                <a:ea typeface="宋体" panose="02010600030101010101" pitchFamily="2" charset="-122"/>
              </a:rPr>
              <a:t>女</a:t>
            </a:r>
            <a:r>
              <a:rPr lang="en-US" sz="1800" dirty="0">
                <a:solidFill>
                  <a:srgbClr val="ED7D31"/>
                </a:solidFill>
                <a:ea typeface="宋体" panose="02010600030101010101" pitchFamily="2" charset="-122"/>
              </a:rPr>
              <a:t>", 40);</a:t>
            </a:r>
            <a:endParaRPr lang="en-US" sz="1800" dirty="0">
              <a:solidFill>
                <a:srgbClr val="ED7D31"/>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10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(t3.say());</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12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13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50000"/>
              </a:lnSpc>
              <a:buClr>
                <a:srgbClr val="ED7D31"/>
              </a:buClr>
              <a:buFont typeface="+mj-lt"/>
              <a:buAutoNum type="arabicPeriod"/>
            </a:pPr>
            <a:r>
              <a:rPr lang="zh-CN" altLang="en-US" sz="2000" dirty="0">
                <a:ea typeface="宋体" panose="02010600030101010101" pitchFamily="2" charset="-122"/>
                <a:sym typeface="+mn-ea"/>
              </a:rPr>
              <a:t>修改</a:t>
            </a:r>
            <a:r>
              <a:rPr lang="en-US" sz="2000" dirty="0">
                <a:ea typeface="宋体" panose="02010600030101010101" pitchFamily="2" charset="-122"/>
                <a:sym typeface="+mn-ea"/>
              </a:rPr>
              <a:t>Student</a:t>
            </a:r>
            <a:r>
              <a:rPr lang="zh-CN" altLang="en-US" sz="2000" dirty="0">
                <a:ea typeface="宋体" panose="02010600030101010101" pitchFamily="2" charset="-122"/>
                <a:sym typeface="+mn-ea"/>
              </a:rPr>
              <a:t>类，添加带参数的构造器，用参数来初始所有属性。</a:t>
            </a:r>
            <a:endParaRPr lang="zh-CN" altLang="en-US" sz="20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r>
              <a:rPr lang="zh-CN" altLang="en-US" sz="2000" dirty="0">
                <a:ea typeface="宋体" panose="02010600030101010101" pitchFamily="2" charset="-122"/>
                <a:sym typeface="+mn-ea"/>
              </a:rPr>
              <a:t>创建两个不同的</a:t>
            </a:r>
            <a:r>
              <a:rPr lang="en-US" sz="2000" dirty="0">
                <a:ea typeface="宋体" panose="02010600030101010101" pitchFamily="2" charset="-122"/>
                <a:sym typeface="+mn-ea"/>
              </a:rPr>
              <a:t>Student</a:t>
            </a:r>
            <a:r>
              <a:rPr lang="zh-CN" altLang="en-US" sz="2000" dirty="0">
                <a:ea typeface="宋体" panose="02010600030101010101" pitchFamily="2" charset="-122"/>
                <a:sym typeface="+mn-ea"/>
              </a:rPr>
              <a:t>对象，调用</a:t>
            </a:r>
            <a:r>
              <a:rPr lang="en-US" sz="2000" dirty="0">
                <a:ea typeface="宋体" panose="02010600030101010101" pitchFamily="2" charset="-122"/>
                <a:sym typeface="+mn-ea"/>
              </a:rPr>
              <a:t>say</a:t>
            </a:r>
            <a:r>
              <a:rPr lang="zh-CN" altLang="en-US" sz="2000" dirty="0">
                <a:ea typeface="宋体" panose="02010600030101010101" pitchFamily="2" charset="-122"/>
                <a:sym typeface="+mn-ea"/>
              </a:rPr>
              <a:t>方法打印输出结果。</a:t>
            </a:r>
            <a:endParaRPr lang="zh-CN" altLang="en-US" sz="2000" dirty="0">
              <a:ea typeface="宋体" panose="02010600030101010101" pitchFamily="2" charset="-122"/>
            </a:endParaRPr>
          </a:p>
          <a:p>
            <a:pPr marL="704850" lvl="1" indent="-361950" eaLnBrk="1" hangingPunct="1">
              <a:lnSpc>
                <a:spcPct val="150000"/>
              </a:lnSpc>
              <a:buFont typeface="Times"/>
              <a:buNone/>
            </a:pPr>
            <a:endParaRPr lang="zh-CN" altLang="en-US" dirty="0">
              <a:ea typeface="宋体" panose="02010600030101010101" pitchFamily="2" charset="-122"/>
            </a:endParaRPr>
          </a:p>
          <a:p>
            <a:pPr marL="457200" indent="-457200" eaLnBrk="1" hangingPunct="1">
              <a:lnSpc>
                <a:spcPct val="15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缺省构造器</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50000"/>
              </a:lnSpc>
              <a:buClr>
                <a:srgbClr val="ED7D31"/>
              </a:buClr>
              <a:buFont typeface="+mj-lt"/>
              <a:buAutoNum type="arabicPeriod"/>
            </a:pPr>
            <a:r>
              <a:rPr lang="zh-CN" altLang="en-US" sz="2000" dirty="0">
                <a:ea typeface="宋体" panose="02010600030101010101" pitchFamily="2" charset="-122"/>
                <a:sym typeface="+mn-ea"/>
              </a:rPr>
              <a:t>当类中未声明构造器时，编译器会自动为该类添加一个无参数、空方法体的缺省构造器。</a:t>
            </a:r>
            <a:endParaRPr lang="zh-CN" altLang="en-US" sz="20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r>
              <a:rPr lang="zh-CN" altLang="en-US" sz="2000" dirty="0">
                <a:ea typeface="宋体" panose="02010600030101010101" pitchFamily="2" charset="-122"/>
                <a:sym typeface="+mn-ea"/>
              </a:rPr>
              <a:t>如果类中已声明了构造器，则编译器不会再为其添加缺省构造器。</a:t>
            </a:r>
            <a:endParaRPr lang="zh-CN" altLang="en-US" sz="2000" dirty="0">
              <a:ea typeface="宋体" panose="02010600030101010101" pitchFamily="2" charset="-122"/>
            </a:endParaRPr>
          </a:p>
          <a:p>
            <a:pPr marL="704850" lvl="1" indent="-361950" eaLnBrk="1" hangingPunct="1">
              <a:lnSpc>
                <a:spcPct val="150000"/>
              </a:lnSpc>
              <a:buFont typeface="Times"/>
              <a:buNone/>
            </a:pPr>
            <a:endParaRPr lang="zh-CN" altLang="en-US" dirty="0">
              <a:ea typeface="宋体" panose="02010600030101010101" pitchFamily="2" charset="-122"/>
            </a:endParaRPr>
          </a:p>
          <a:p>
            <a:pPr marL="457200" indent="-457200" eaLnBrk="1" hangingPunct="1">
              <a:lnSpc>
                <a:spcPct val="15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97635" name="内容占位符 2"/>
          <p:cNvSpPr>
            <a:spLocks noGrp="1"/>
          </p:cNvSpPr>
          <p:nvPr>
            <p:ph idx="4294967295"/>
          </p:nvPr>
        </p:nvSpPr>
        <p:spPr>
          <a:xfrm>
            <a:off x="928662" y="1159849"/>
            <a:ext cx="7537450" cy="4967287"/>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1  public class Teacher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      private String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      private String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      private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      //[public Teacher() {}]               //</a:t>
            </a:r>
            <a:r>
              <a:rPr lang="zh-CN" altLang="en-US" sz="1800" dirty="0">
                <a:solidFill>
                  <a:srgbClr val="002060"/>
                </a:solidFill>
                <a:ea typeface="宋体" panose="02010600030101010101" pitchFamily="2" charset="-122"/>
              </a:rPr>
              <a:t>缺省构造器</a:t>
            </a:r>
            <a:endParaRPr lang="zh-CN" alt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7      public String </a:t>
            </a:r>
            <a:r>
              <a:rPr lang="en-US" sz="1800" dirty="0" err="1">
                <a:solidFill>
                  <a:srgbClr val="002060"/>
                </a:solidFill>
                <a:ea typeface="宋体" panose="02010600030101010101" pitchFamily="2" charset="-122"/>
              </a:rPr>
              <a:t>getName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8          return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11     public void </a:t>
            </a:r>
            <a:r>
              <a:rPr lang="en-US" sz="1800" dirty="0" err="1">
                <a:solidFill>
                  <a:srgbClr val="002060"/>
                </a:solidFill>
                <a:ea typeface="宋体" panose="02010600030101010101" pitchFamily="2" charset="-122"/>
              </a:rPr>
              <a:t>setName</a:t>
            </a:r>
            <a:r>
              <a:rPr lang="en-US" sz="1800" dirty="0">
                <a:solidFill>
                  <a:srgbClr val="002060"/>
                </a:solidFill>
                <a:ea typeface="宋体" panose="02010600030101010101" pitchFamily="2" charset="-122"/>
              </a:rPr>
              <a:t>(String name)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12         this.name =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15     public String </a:t>
            </a:r>
            <a:r>
              <a:rPr lang="en-US" sz="1800" dirty="0" err="1">
                <a:solidFill>
                  <a:srgbClr val="002060"/>
                </a:solidFill>
                <a:ea typeface="宋体" panose="02010600030101010101" pitchFamily="2" charset="-122"/>
              </a:rPr>
              <a:t>getGender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16         return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18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19     public void </a:t>
            </a:r>
            <a:r>
              <a:rPr lang="en-US" sz="1800" dirty="0" err="1">
                <a:solidFill>
                  <a:srgbClr val="002060"/>
                </a:solidFill>
                <a:ea typeface="宋体" panose="02010600030101010101" pitchFamily="2" charset="-122"/>
              </a:rPr>
              <a:t>setGender</a:t>
            </a:r>
            <a:r>
              <a:rPr lang="en-US" sz="1800" dirty="0">
                <a:solidFill>
                  <a:srgbClr val="002060"/>
                </a:solidFill>
                <a:ea typeface="宋体" panose="02010600030101010101" pitchFamily="2" charset="-122"/>
              </a:rPr>
              <a:t>(String gender)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98659" name="内容占位符 2"/>
          <p:cNvSpPr>
            <a:spLocks noGrp="1"/>
          </p:cNvSpPr>
          <p:nvPr>
            <p:ph idx="4294967295"/>
          </p:nvPr>
        </p:nvSpPr>
        <p:spPr>
          <a:xfrm>
            <a:off x="928662" y="1205252"/>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20         </a:t>
            </a:r>
            <a:r>
              <a:rPr lang="en-US" sz="1800" dirty="0" err="1">
                <a:solidFill>
                  <a:srgbClr val="002060"/>
                </a:solidFill>
                <a:ea typeface="宋体" panose="02010600030101010101" pitchFamily="2" charset="-122"/>
              </a:rPr>
              <a:t>this.gender</a:t>
            </a:r>
            <a:r>
              <a:rPr lang="en-US" sz="1800" dirty="0">
                <a:solidFill>
                  <a:srgbClr val="002060"/>
                </a:solidFill>
                <a:ea typeface="宋体" panose="02010600030101010101" pitchFamily="2" charset="-122"/>
              </a:rPr>
              <a:t> =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23     public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t>
            </a:r>
            <a:r>
              <a:rPr lang="en-US" sz="1800" dirty="0" err="1">
                <a:solidFill>
                  <a:srgbClr val="002060"/>
                </a:solidFill>
                <a:ea typeface="宋体" panose="02010600030101010101" pitchFamily="2" charset="-122"/>
              </a:rPr>
              <a:t>getAge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24         return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27     public void </a:t>
            </a:r>
            <a:r>
              <a:rPr lang="en-US" sz="1800" dirty="0" err="1">
                <a:solidFill>
                  <a:srgbClr val="002060"/>
                </a:solidFill>
                <a:ea typeface="宋体" panose="02010600030101010101" pitchFamily="2" charset="-122"/>
              </a:rPr>
              <a:t>setAge</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28         if (age &gt; 100)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29                 return;</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31         </a:t>
            </a:r>
            <a:r>
              <a:rPr lang="en-US" sz="1800" dirty="0" err="1">
                <a:solidFill>
                  <a:srgbClr val="002060"/>
                </a:solidFill>
                <a:ea typeface="宋体" panose="02010600030101010101" pitchFamily="2" charset="-122"/>
              </a:rPr>
              <a:t>this.age</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34     private void lecture()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38     public void </a:t>
            </a:r>
            <a:r>
              <a:rPr lang="en-US" sz="1800" dirty="0" err="1">
                <a:solidFill>
                  <a:srgbClr val="002060"/>
                </a:solidFill>
                <a:ea typeface="宋体" panose="02010600030101010101" pitchFamily="2" charset="-122"/>
              </a:rPr>
              <a:t>assignHomeWork</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99683" name="内容占位符 2"/>
          <p:cNvSpPr>
            <a:spLocks noGrp="1"/>
          </p:cNvSpPr>
          <p:nvPr>
            <p:ph idx="4294967295"/>
          </p:nvPr>
        </p:nvSpPr>
        <p:spPr>
          <a:xfrm>
            <a:off x="892202" y="1531960"/>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39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42     public String say()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43         lecture();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45         String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 = "</a:t>
            </a:r>
            <a:r>
              <a:rPr lang="zh-CN" altLang="en-US" sz="1800" dirty="0">
                <a:solidFill>
                  <a:srgbClr val="002060"/>
                </a:solidFill>
                <a:ea typeface="宋体" panose="02010600030101010101" pitchFamily="2" charset="-122"/>
              </a:rPr>
              <a:t>我是</a:t>
            </a:r>
            <a:r>
              <a:rPr lang="en-US" sz="1800" dirty="0">
                <a:solidFill>
                  <a:srgbClr val="002060"/>
                </a:solidFill>
                <a:ea typeface="宋体" panose="02010600030101010101" pitchFamily="2" charset="-122"/>
              </a:rPr>
              <a:t>" + name + ", </a:t>
            </a:r>
            <a:r>
              <a:rPr lang="zh-CN" altLang="en-US" sz="1800" dirty="0">
                <a:solidFill>
                  <a:srgbClr val="002060"/>
                </a:solidFill>
                <a:ea typeface="宋体" panose="02010600030101010101" pitchFamily="2" charset="-122"/>
              </a:rPr>
              <a:t>性别</a:t>
            </a:r>
            <a:r>
              <a:rPr lang="en-US" sz="1800" dirty="0">
                <a:solidFill>
                  <a:srgbClr val="002060"/>
                </a:solidFill>
                <a:ea typeface="宋体" panose="02010600030101010101" pitchFamily="2" charset="-122"/>
              </a:rPr>
              <a:t>" + gender +", </a:t>
            </a:r>
            <a:r>
              <a:rPr lang="zh-CN" altLang="en-US" sz="1800" dirty="0">
                <a:solidFill>
                  <a:srgbClr val="002060"/>
                </a:solidFill>
                <a:ea typeface="宋体" panose="02010600030101010101" pitchFamily="2" charset="-122"/>
              </a:rPr>
              <a:t>年龄</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46         return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48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TestConstructor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00707" name="内容占位符 2"/>
          <p:cNvSpPr>
            <a:spLocks noGrp="1"/>
          </p:cNvSpPr>
          <p:nvPr>
            <p:ph idx="4294967295"/>
          </p:nvPr>
        </p:nvSpPr>
        <p:spPr>
          <a:xfrm>
            <a:off x="928662" y="1160165"/>
            <a:ext cx="7537450" cy="4816475"/>
          </a:xfrm>
        </p:spPr>
        <p:txBody>
          <a:bodyPr>
            <a:noAutofit/>
          </a:bodyPr>
          <a:p>
            <a:pPr marL="361950" indent="-361950" eaLnBrk="1" hangingPunct="1">
              <a:buFont typeface="Times"/>
              <a:buNone/>
            </a:pPr>
            <a:r>
              <a:rPr lang="en-US" sz="1800" dirty="0">
                <a:solidFill>
                  <a:srgbClr val="002060"/>
                </a:solidFill>
                <a:ea typeface="宋体" panose="02010600030101010101" pitchFamily="2" charset="-122"/>
              </a:rPr>
              <a:t>1  public class </a:t>
            </a:r>
            <a:r>
              <a:rPr lang="en-US" sz="1800" dirty="0" err="1">
                <a:solidFill>
                  <a:srgbClr val="002060"/>
                </a:solidFill>
                <a:ea typeface="宋体" panose="02010600030101010101" pitchFamily="2" charset="-122"/>
              </a:rPr>
              <a:t>TestConstructor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2      public static void main(String[] </a:t>
            </a:r>
            <a:r>
              <a:rPr lang="en-US" sz="1800" dirty="0" err="1">
                <a:solidFill>
                  <a:srgbClr val="002060"/>
                </a:solidFill>
                <a:ea typeface="宋体" panose="02010600030101010101" pitchFamily="2" charset="-122"/>
              </a:rPr>
              <a:t>args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3          Teacher t1 = new Teacher();   //</a:t>
            </a:r>
            <a:r>
              <a:rPr lang="zh-CN" altLang="en-US" sz="1800" dirty="0">
                <a:solidFill>
                  <a:srgbClr val="002060"/>
                </a:solidFill>
                <a:ea typeface="宋体" panose="02010600030101010101" pitchFamily="2" charset="-122"/>
              </a:rPr>
              <a:t>使用缺省构造器</a:t>
            </a:r>
            <a:endParaRPr lang="zh-CN" alt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4          Teacher t1 = new Teacher("</a:t>
            </a:r>
            <a:r>
              <a:rPr lang="zh-CN" altLang="en-US" sz="1800" dirty="0">
                <a:solidFill>
                  <a:srgbClr val="002060"/>
                </a:solidFill>
                <a:ea typeface="宋体" panose="02010600030101010101" pitchFamily="2" charset="-122"/>
              </a:rPr>
              <a:t>张三</a:t>
            </a:r>
            <a:r>
              <a:rPr lang="en-US" sz="1800" dirty="0">
                <a:solidFill>
                  <a:srgbClr val="002060"/>
                </a:solidFill>
                <a:ea typeface="宋体" panose="02010600030101010101" pitchFamily="2" charset="-122"/>
              </a:rPr>
              <a:t>", "</a:t>
            </a:r>
            <a:r>
              <a:rPr lang="zh-CN" altLang="en-US" sz="1800" dirty="0">
                <a:solidFill>
                  <a:srgbClr val="002060"/>
                </a:solidFill>
                <a:ea typeface="宋体" panose="02010600030101010101" pitchFamily="2" charset="-122"/>
              </a:rPr>
              <a:t>男</a:t>
            </a:r>
            <a:r>
              <a:rPr lang="en-US" sz="1800" dirty="0">
                <a:solidFill>
                  <a:srgbClr val="002060"/>
                </a:solidFill>
                <a:ea typeface="宋体" panose="02010600030101010101" pitchFamily="2" charset="-122"/>
              </a:rPr>
              <a:t>", 30);</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5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(t1.say());</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6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7          Teacher t2 = new Teacher("</a:t>
            </a:r>
            <a:r>
              <a:rPr lang="zh-CN" altLang="en-US" sz="1800" dirty="0">
                <a:solidFill>
                  <a:srgbClr val="002060"/>
                </a:solidFill>
                <a:ea typeface="宋体" panose="02010600030101010101" pitchFamily="2" charset="-122"/>
              </a:rPr>
              <a:t>李四</a:t>
            </a:r>
            <a:r>
              <a:rPr lang="en-US" sz="1800" dirty="0">
                <a:solidFill>
                  <a:srgbClr val="002060"/>
                </a:solidFill>
                <a:ea typeface="宋体" panose="02010600030101010101" pitchFamily="2" charset="-122"/>
              </a:rPr>
              <a:t>", "</a:t>
            </a:r>
            <a:r>
              <a:rPr lang="zh-CN" altLang="en-US" sz="1800" dirty="0">
                <a:solidFill>
                  <a:srgbClr val="002060"/>
                </a:solidFill>
                <a:ea typeface="宋体" panose="02010600030101010101" pitchFamily="2" charset="-122"/>
              </a:rPr>
              <a:t>女</a:t>
            </a:r>
            <a:r>
              <a:rPr lang="en-US" sz="1800" dirty="0">
                <a:solidFill>
                  <a:srgbClr val="002060"/>
                </a:solidFill>
                <a:ea typeface="宋体" panose="02010600030101010101" pitchFamily="2" charset="-122"/>
              </a:rPr>
              <a:t>", 20);</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8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(t2.say());</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9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10         Teacher t3 = new Teacher("</a:t>
            </a:r>
            <a:r>
              <a:rPr lang="zh-CN" altLang="en-US" sz="1800" dirty="0">
                <a:solidFill>
                  <a:srgbClr val="002060"/>
                </a:solidFill>
                <a:ea typeface="宋体" panose="02010600030101010101" pitchFamily="2" charset="-122"/>
              </a:rPr>
              <a:t>王五</a:t>
            </a:r>
            <a:r>
              <a:rPr lang="en-US" sz="1800" dirty="0">
                <a:solidFill>
                  <a:srgbClr val="002060"/>
                </a:solidFill>
                <a:ea typeface="宋体" panose="02010600030101010101" pitchFamily="2" charset="-122"/>
              </a:rPr>
              <a:t>", "</a:t>
            </a:r>
            <a:r>
              <a:rPr lang="zh-CN" altLang="en-US" sz="1800" dirty="0">
                <a:solidFill>
                  <a:srgbClr val="002060"/>
                </a:solidFill>
                <a:ea typeface="宋体" panose="02010600030101010101" pitchFamily="2" charset="-122"/>
              </a:rPr>
              <a:t>女</a:t>
            </a:r>
            <a:r>
              <a:rPr lang="en-US" sz="1800" dirty="0">
                <a:solidFill>
                  <a:srgbClr val="002060"/>
                </a:solidFill>
                <a:ea typeface="宋体" panose="02010600030101010101" pitchFamily="2" charset="-122"/>
              </a:rPr>
              <a:t>", 40);</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11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(t3.say());</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12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13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2098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本节无练习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868170" y="3137535"/>
            <a:ext cx="8588375"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调用重载构造器</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重载构造器</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003935"/>
            <a:ext cx="9527540" cy="4281170"/>
          </a:xfrm>
        </p:spPr>
        <p:txBody>
          <a:bodyPr>
            <a:normAutofit/>
          </a:bodyPr>
          <a:p>
            <a:pPr marL="457200" indent="-457200" eaLnBrk="1" hangingPunct="1">
              <a:lnSpc>
                <a:spcPct val="150000"/>
              </a:lnSpc>
              <a:buClr>
                <a:srgbClr val="ED7D31"/>
              </a:buClr>
              <a:buFont typeface="+mj-lt"/>
              <a:buAutoNum type="arabicPeriod"/>
            </a:pPr>
            <a:r>
              <a:rPr lang="zh-CN" altLang="en-US" sz="2000" dirty="0">
                <a:ea typeface="宋体" panose="02010600030101010101" pitchFamily="2" charset="-122"/>
                <a:sym typeface="+mn-ea"/>
              </a:rPr>
              <a:t>一个类中可以包含多个不同参数的构造器</a:t>
            </a:r>
            <a:endParaRPr lang="zh-CN" altLang="en-US" sz="20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lang="zh-CN" altLang="en-US" dirty="0">
              <a:ea typeface="宋体" panose="02010600030101010101" pitchFamily="2" charset="-122"/>
            </a:endParaRPr>
          </a:p>
          <a:p>
            <a:pPr marL="457200" indent="-457200" eaLnBrk="1" hangingPunct="1">
              <a:lnSpc>
                <a:spcPct val="15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
        <p:nvSpPr>
          <p:cNvPr id="204803" name="内容占位符 2"/>
          <p:cNvSpPr>
            <a:spLocks noGrp="1"/>
          </p:cNvSpPr>
          <p:nvPr/>
        </p:nvSpPr>
        <p:spPr>
          <a:xfrm>
            <a:off x="1484287" y="1529102"/>
            <a:ext cx="7537450" cy="5040312"/>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400">
                <a:solidFill>
                  <a:schemeClr val="accent2"/>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16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14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361950" indent="-361950" eaLnBrk="1" hangingPunct="1">
              <a:spcBef>
                <a:spcPct val="0"/>
              </a:spcBef>
              <a:buFont typeface="Times"/>
              <a:buNone/>
            </a:pPr>
            <a:r>
              <a:rPr lang="en-US" sz="1600" dirty="0">
                <a:ea typeface="宋体" panose="02010600030101010101" pitchFamily="2" charset="-122"/>
              </a:rPr>
              <a:t>1  public class Teacher {</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2      private String name;</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3      private String gender;</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4      private </a:t>
            </a:r>
            <a:r>
              <a:rPr lang="en-US" sz="1600" dirty="0" err="1">
                <a:ea typeface="宋体" panose="02010600030101010101" pitchFamily="2" charset="-122"/>
              </a:rPr>
              <a:t>int</a:t>
            </a:r>
            <a:r>
              <a:rPr lang="en-US" sz="1600" dirty="0">
                <a:ea typeface="宋体" panose="02010600030101010101" pitchFamily="2" charset="-122"/>
              </a:rPr>
              <a:t> age;</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5  </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6      public Teacher(String name) {</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7          this.name = name;</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8      }</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9  </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10     public Teacher(String name, String gender) {</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11         this.name = name;</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12         </a:t>
            </a:r>
            <a:r>
              <a:rPr lang="en-US" sz="1600" dirty="0" err="1">
                <a:ea typeface="宋体" panose="02010600030101010101" pitchFamily="2" charset="-122"/>
              </a:rPr>
              <a:t>this.gender</a:t>
            </a:r>
            <a:r>
              <a:rPr lang="en-US" sz="1600" dirty="0">
                <a:ea typeface="宋体" panose="02010600030101010101" pitchFamily="2" charset="-122"/>
              </a:rPr>
              <a:t> = gender;</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13     }</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14 </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15     public Teacher(String name, String gender, </a:t>
            </a:r>
            <a:r>
              <a:rPr lang="en-US" sz="1600" dirty="0" err="1">
                <a:ea typeface="宋体" panose="02010600030101010101" pitchFamily="2" charset="-122"/>
              </a:rPr>
              <a:t>int</a:t>
            </a:r>
            <a:r>
              <a:rPr lang="en-US" sz="1600" dirty="0">
                <a:ea typeface="宋体" panose="02010600030101010101" pitchFamily="2" charset="-122"/>
              </a:rPr>
              <a:t> age) {</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16         this.name = name;</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17         </a:t>
            </a:r>
            <a:r>
              <a:rPr lang="en-US" sz="1600" dirty="0" err="1">
                <a:ea typeface="宋体" panose="02010600030101010101" pitchFamily="2" charset="-122"/>
              </a:rPr>
              <a:t>this.gender</a:t>
            </a:r>
            <a:r>
              <a:rPr lang="en-US" sz="1600" dirty="0">
                <a:ea typeface="宋体" panose="02010600030101010101" pitchFamily="2" charset="-122"/>
              </a:rPr>
              <a:t> = gender;</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18         </a:t>
            </a:r>
            <a:r>
              <a:rPr lang="en-US" sz="1600" dirty="0" err="1">
                <a:ea typeface="宋体" panose="02010600030101010101" pitchFamily="2" charset="-122"/>
              </a:rPr>
              <a:t>this.age</a:t>
            </a:r>
            <a:r>
              <a:rPr lang="en-US" sz="1600" dirty="0">
                <a:ea typeface="宋体" panose="02010600030101010101" pitchFamily="2" charset="-122"/>
              </a:rPr>
              <a:t> = age;</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19     }</a:t>
            </a:r>
            <a:endParaRPr lang="en-US" sz="1600" dirty="0">
              <a:ea typeface="宋体" panose="02010600030101010101" pitchFamily="2" charset="-122"/>
            </a:endParaRPr>
          </a:p>
          <a:p>
            <a:pPr marL="361950" indent="-361950" eaLnBrk="1" hangingPunct="1">
              <a:spcBef>
                <a:spcPct val="0"/>
              </a:spcBef>
              <a:buFont typeface="Times"/>
              <a:buNone/>
            </a:pPr>
            <a:r>
              <a:rPr lang="en-US" sz="1600" dirty="0">
                <a:ea typeface="宋体" panose="02010600030101010101" pitchFamily="2" charset="-122"/>
              </a:rPr>
              <a:t>20}</a:t>
            </a:r>
            <a:endParaRPr lang="en-US" sz="1600"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TestConstructor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08899" name="内容占位符 2"/>
          <p:cNvSpPr>
            <a:spLocks noGrp="1"/>
          </p:cNvSpPr>
          <p:nvPr>
            <p:ph idx="4294967295"/>
          </p:nvPr>
        </p:nvSpPr>
        <p:spPr>
          <a:xfrm>
            <a:off x="1008672" y="1317010"/>
            <a:ext cx="7537450" cy="4816475"/>
          </a:xfrm>
        </p:spPr>
        <p:txBody>
          <a:bodyPr/>
          <a:p>
            <a:pPr marL="361950" indent="-361950" eaLnBrk="1" hangingPunct="1">
              <a:buFont typeface="Times"/>
              <a:buNone/>
            </a:pPr>
            <a:r>
              <a:rPr lang="en-US" sz="1800" dirty="0">
                <a:solidFill>
                  <a:srgbClr val="002060"/>
                </a:solidFill>
                <a:ea typeface="宋体" panose="02010600030101010101" pitchFamily="2" charset="-122"/>
              </a:rPr>
              <a:t>1  public class </a:t>
            </a:r>
            <a:r>
              <a:rPr lang="en-US" sz="1800" dirty="0" err="1">
                <a:solidFill>
                  <a:srgbClr val="002060"/>
                </a:solidFill>
                <a:ea typeface="宋体" panose="02010600030101010101" pitchFamily="2" charset="-122"/>
              </a:rPr>
              <a:t>TestConstructor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2      public static void main(String[] </a:t>
            </a:r>
            <a:r>
              <a:rPr lang="en-US" sz="1800" dirty="0" err="1">
                <a:solidFill>
                  <a:srgbClr val="002060"/>
                </a:solidFill>
                <a:ea typeface="宋体" panose="02010600030101010101" pitchFamily="2" charset="-122"/>
              </a:rPr>
              <a:t>args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3          Teacher t1 = new Teacher("</a:t>
            </a:r>
            <a:r>
              <a:rPr lang="zh-CN" altLang="en-US" sz="1800" dirty="0">
                <a:solidFill>
                  <a:srgbClr val="002060"/>
                </a:solidFill>
                <a:ea typeface="宋体" panose="02010600030101010101" pitchFamily="2" charset="-122"/>
              </a:rPr>
              <a:t>张三</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4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(t1);</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6          Teacher t2 = new Teacher("</a:t>
            </a:r>
            <a:r>
              <a:rPr lang="zh-CN" altLang="en-US" sz="1800" dirty="0">
                <a:solidFill>
                  <a:srgbClr val="002060"/>
                </a:solidFill>
                <a:ea typeface="宋体" panose="02010600030101010101" pitchFamily="2" charset="-122"/>
              </a:rPr>
              <a:t>李四</a:t>
            </a:r>
            <a:r>
              <a:rPr lang="en-US" sz="1800" dirty="0">
                <a:solidFill>
                  <a:srgbClr val="002060"/>
                </a:solidFill>
                <a:ea typeface="宋体" panose="02010600030101010101" pitchFamily="2" charset="-122"/>
              </a:rPr>
              <a:t>", "</a:t>
            </a:r>
            <a:r>
              <a:rPr lang="zh-CN" altLang="en-US" sz="1800" dirty="0">
                <a:solidFill>
                  <a:srgbClr val="002060"/>
                </a:solidFill>
                <a:ea typeface="宋体" panose="02010600030101010101" pitchFamily="2" charset="-122"/>
              </a:rPr>
              <a:t>女</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7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(t2);</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8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9          Teacher t3 = new Teacher("</a:t>
            </a:r>
            <a:r>
              <a:rPr lang="zh-CN" altLang="en-US" sz="1800" dirty="0">
                <a:solidFill>
                  <a:srgbClr val="002060"/>
                </a:solidFill>
                <a:ea typeface="宋体" panose="02010600030101010101" pitchFamily="2" charset="-122"/>
              </a:rPr>
              <a:t>王五</a:t>
            </a:r>
            <a:r>
              <a:rPr lang="en-US" sz="1800" dirty="0">
                <a:solidFill>
                  <a:srgbClr val="002060"/>
                </a:solidFill>
                <a:ea typeface="宋体" panose="02010600030101010101" pitchFamily="2" charset="-122"/>
              </a:rPr>
              <a:t>", "</a:t>
            </a:r>
            <a:r>
              <a:rPr lang="zh-CN" altLang="en-US" sz="1800" dirty="0">
                <a:solidFill>
                  <a:srgbClr val="002060"/>
                </a:solidFill>
                <a:ea typeface="宋体" panose="02010600030101010101" pitchFamily="2" charset="-122"/>
              </a:rPr>
              <a:t>女</a:t>
            </a:r>
            <a:r>
              <a:rPr lang="en-US" sz="1800" dirty="0">
                <a:solidFill>
                  <a:srgbClr val="002060"/>
                </a:solidFill>
                <a:ea typeface="宋体" panose="02010600030101010101" pitchFamily="2" charset="-122"/>
              </a:rPr>
              <a:t>", 40);</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10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(t3);</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12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50000"/>
              </a:lnSpc>
              <a:buClr>
                <a:srgbClr val="ED7D31"/>
              </a:buClr>
              <a:buFont typeface="+mj-lt"/>
              <a:buAutoNum type="arabicPeriod"/>
            </a:pPr>
            <a:r>
              <a:rPr lang="zh-CN" altLang="en-US" sz="2000" dirty="0">
                <a:ea typeface="宋体" panose="02010600030101010101" pitchFamily="2" charset="-122"/>
                <a:sym typeface="+mn-ea"/>
              </a:rPr>
              <a:t>修改</a:t>
            </a:r>
            <a:r>
              <a:rPr lang="en-US" sz="2000" dirty="0">
                <a:ea typeface="宋体" panose="02010600030101010101" pitchFamily="2" charset="-122"/>
                <a:sym typeface="+mn-ea"/>
              </a:rPr>
              <a:t>Student</a:t>
            </a:r>
            <a:r>
              <a:rPr lang="zh-CN" altLang="en-US" sz="2000" dirty="0">
                <a:ea typeface="宋体" panose="02010600030101010101" pitchFamily="2" charset="-122"/>
                <a:sym typeface="+mn-ea"/>
              </a:rPr>
              <a:t>类，添加一到多个带参数的重载构造器，并使用构造器来初始所有属性。</a:t>
            </a:r>
            <a:endParaRPr lang="zh-CN" altLang="en-US" sz="20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r>
              <a:rPr lang="zh-CN" altLang="en-US" sz="2000" dirty="0">
                <a:ea typeface="宋体" panose="02010600030101010101" pitchFamily="2" charset="-122"/>
                <a:sym typeface="+mn-ea"/>
              </a:rPr>
              <a:t>创建</a:t>
            </a:r>
            <a:r>
              <a:rPr lang="en-US" sz="2000" dirty="0">
                <a:ea typeface="宋体" panose="02010600030101010101" pitchFamily="2" charset="-122"/>
                <a:sym typeface="+mn-ea"/>
              </a:rPr>
              <a:t>Student</a:t>
            </a:r>
            <a:r>
              <a:rPr lang="zh-CN" altLang="en-US" sz="2000" dirty="0">
                <a:ea typeface="宋体" panose="02010600030101010101" pitchFamily="2" charset="-122"/>
                <a:sym typeface="+mn-ea"/>
              </a:rPr>
              <a:t>对象，调用</a:t>
            </a:r>
            <a:r>
              <a:rPr lang="en-US" sz="2000" dirty="0">
                <a:ea typeface="宋体" panose="02010600030101010101" pitchFamily="2" charset="-122"/>
                <a:sym typeface="+mn-ea"/>
              </a:rPr>
              <a:t>say</a:t>
            </a:r>
            <a:r>
              <a:rPr lang="zh-CN" altLang="en-US" sz="2000" dirty="0">
                <a:ea typeface="宋体" panose="02010600030101010101" pitchFamily="2" charset="-122"/>
                <a:sym typeface="+mn-ea"/>
              </a:rPr>
              <a:t>方法打印输出结果。</a:t>
            </a:r>
            <a:endParaRPr lang="zh-CN" altLang="en-US" sz="2000" dirty="0">
              <a:ea typeface="宋体" panose="02010600030101010101" pitchFamily="2" charset="-122"/>
            </a:endParaRPr>
          </a:p>
          <a:p>
            <a:pPr marL="704850" lvl="1" indent="-361950" eaLnBrk="1" hangingPunct="1">
              <a:lnSpc>
                <a:spcPct val="150000"/>
              </a:lnSpc>
              <a:buFont typeface="Times"/>
              <a:buNone/>
            </a:pPr>
            <a:endParaRPr lang="zh-CN" altLang="en-US" dirty="0">
              <a:ea typeface="宋体" panose="02010600030101010101" pitchFamily="2" charset="-122"/>
            </a:endParaRPr>
          </a:p>
          <a:p>
            <a:pPr marL="457200" indent="-457200" eaLnBrk="1" hangingPunct="1">
              <a:lnSpc>
                <a:spcPct val="15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使用</a:t>
            </a:r>
            <a:r>
              <a:rPr lang="en-US" sz="2400">
                <a:ea typeface="宋体" panose="02010600030101010101" pitchFamily="2" charset="-122"/>
                <a:sym typeface="+mn-ea"/>
              </a:rPr>
              <a:t>this(…)</a:t>
            </a:r>
            <a:r>
              <a:rPr lang="zh-CN" altLang="en-US" sz="2400">
                <a:ea typeface="宋体" panose="02010600030101010101" pitchFamily="2" charset="-122"/>
                <a:sym typeface="+mn-ea"/>
              </a:rPr>
              <a:t>调用重载构造器</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eaLnBrk="1" hangingPunct="1">
              <a:lnSpc>
                <a:spcPct val="150000"/>
              </a:lnSpc>
              <a:buClr>
                <a:srgbClr val="ED7D31"/>
              </a:buClr>
              <a:buFont typeface="Wingdings" panose="05000000000000000000" charset="0"/>
              <a:buChar char="Ø"/>
            </a:pPr>
            <a:r>
              <a:rPr lang="en-US" altLang="zh-CN" sz="2000" dirty="0">
                <a:ea typeface="宋体" panose="02010600030101010101" pitchFamily="2" charset="-122"/>
                <a:sym typeface="+mn-ea"/>
              </a:rPr>
              <a:t>  </a:t>
            </a:r>
            <a:r>
              <a:rPr lang="zh-CN" altLang="en-US" sz="2000" dirty="0">
                <a:ea typeface="宋体" panose="02010600030101010101" pitchFamily="2" charset="-122"/>
                <a:sym typeface="+mn-ea"/>
              </a:rPr>
              <a:t>在构造器中可以调用本类的其他重载构造器</a:t>
            </a:r>
            <a:endParaRPr lang="zh-CN" altLang="en-US" sz="2000" dirty="0">
              <a:ea typeface="宋体" panose="02010600030101010101" pitchFamily="2" charset="-122"/>
              <a:sym typeface="+mn-ea"/>
            </a:endParaRPr>
          </a:p>
          <a:p>
            <a:pPr marL="704850" lvl="1" indent="-361950" eaLnBrk="1" hangingPunct="1"/>
            <a:r>
              <a:rPr lang="zh-CN" altLang="en-US" dirty="0">
                <a:ea typeface="宋体" panose="02010600030101010101" pitchFamily="2" charset="-122"/>
                <a:sym typeface="+mn-ea"/>
              </a:rPr>
              <a:t>必须在构造器的第一行，使用</a:t>
            </a:r>
            <a:r>
              <a:rPr lang="en-US" dirty="0">
                <a:ea typeface="宋体" panose="02010600030101010101" pitchFamily="2" charset="-122"/>
                <a:sym typeface="+mn-ea"/>
              </a:rPr>
              <a:t>this(…)</a:t>
            </a:r>
            <a:r>
              <a:rPr lang="zh-CN" altLang="en-US" dirty="0">
                <a:ea typeface="宋体" panose="02010600030101010101" pitchFamily="2" charset="-122"/>
                <a:sym typeface="+mn-ea"/>
              </a:rPr>
              <a:t>来调用其他重载构造器。参数必须严格匹配</a:t>
            </a:r>
            <a:endParaRPr lang="zh-CN" altLang="en-US" dirty="0">
              <a:ea typeface="宋体" panose="02010600030101010101" pitchFamily="2" charset="-122"/>
            </a:endParaRPr>
          </a:p>
          <a:p>
            <a:pPr marL="704850" lvl="1" indent="-361950" eaLnBrk="1" hangingPunct="1"/>
            <a:r>
              <a:rPr lang="zh-CN" altLang="en-US" dirty="0">
                <a:ea typeface="宋体" panose="02010600030101010101" pitchFamily="2" charset="-122"/>
                <a:sym typeface="+mn-ea"/>
              </a:rPr>
              <a:t>例如：</a:t>
            </a:r>
            <a:endParaRPr lang="zh-CN" altLang="en-US" dirty="0">
              <a:ea typeface="宋体" panose="02010600030101010101" pitchFamily="2" charset="-122"/>
            </a:endParaRPr>
          </a:p>
          <a:p>
            <a:pPr marL="704850" lvl="1" indent="-361950" eaLnBrk="1" hangingPunct="1">
              <a:buFont typeface="Times"/>
              <a:buNone/>
            </a:pPr>
            <a:r>
              <a:rPr lang="zh-CN" altLang="en-US" dirty="0">
                <a:ea typeface="宋体" panose="02010600030101010101" pitchFamily="2" charset="-122"/>
                <a:sym typeface="+mn-ea"/>
              </a:rPr>
              <a:t>	 </a:t>
            </a:r>
            <a:r>
              <a:rPr lang="en-US" dirty="0">
                <a:ea typeface="宋体" panose="02010600030101010101" pitchFamily="2" charset="-122"/>
                <a:sym typeface="+mn-ea"/>
              </a:rPr>
              <a:t>public Teacher(String name, String gender) {</a:t>
            </a:r>
            <a:endParaRPr lang="en-US" dirty="0">
              <a:ea typeface="宋体" panose="02010600030101010101" pitchFamily="2" charset="-122"/>
            </a:endParaRPr>
          </a:p>
          <a:p>
            <a:pPr marL="704850" lvl="1" indent="-361950" eaLnBrk="1" hangingPunct="1">
              <a:buFont typeface="Times"/>
              <a:buNone/>
            </a:pPr>
            <a:r>
              <a:rPr lang="en-US" dirty="0">
                <a:ea typeface="宋体" panose="02010600030101010101" pitchFamily="2" charset="-122"/>
                <a:sym typeface="+mn-ea"/>
              </a:rPr>
              <a:t>		</a:t>
            </a:r>
            <a:r>
              <a:rPr lang="en-US" b="1" dirty="0">
                <a:solidFill>
                  <a:srgbClr val="0070C0"/>
                </a:solidFill>
                <a:ea typeface="宋体" panose="02010600030101010101" pitchFamily="2" charset="-122"/>
                <a:sym typeface="+mn-ea"/>
              </a:rPr>
              <a:t>    this(name, gender, 30);  //</a:t>
            </a:r>
            <a:r>
              <a:rPr lang="zh-CN" altLang="en-US" b="1" dirty="0">
                <a:solidFill>
                  <a:srgbClr val="0070C0"/>
                </a:solidFill>
                <a:ea typeface="宋体" panose="02010600030101010101" pitchFamily="2" charset="-122"/>
                <a:sym typeface="+mn-ea"/>
              </a:rPr>
              <a:t>必须在构造器的第</a:t>
            </a:r>
            <a:r>
              <a:rPr lang="en-US" b="1" dirty="0">
                <a:solidFill>
                  <a:srgbClr val="0070C0"/>
                </a:solidFill>
                <a:ea typeface="宋体" panose="02010600030101010101" pitchFamily="2" charset="-122"/>
                <a:sym typeface="+mn-ea"/>
              </a:rPr>
              <a:t>1</a:t>
            </a:r>
            <a:r>
              <a:rPr lang="zh-CN" altLang="en-US" b="1" dirty="0">
                <a:solidFill>
                  <a:srgbClr val="0070C0"/>
                </a:solidFill>
                <a:ea typeface="宋体" panose="02010600030101010101" pitchFamily="2" charset="-122"/>
                <a:sym typeface="+mn-ea"/>
              </a:rPr>
              <a:t>行</a:t>
            </a:r>
            <a:endParaRPr lang="zh-CN" altLang="en-US" b="1" dirty="0">
              <a:solidFill>
                <a:srgbClr val="0070C0"/>
              </a:solidFill>
              <a:ea typeface="宋体" panose="02010600030101010101" pitchFamily="2" charset="-122"/>
            </a:endParaRPr>
          </a:p>
          <a:p>
            <a:pPr marL="704850" lvl="1" indent="-361950" eaLnBrk="1" hangingPunct="1">
              <a:buFont typeface="Times"/>
              <a:buNone/>
            </a:pPr>
            <a:r>
              <a:rPr lang="zh-CN" altLang="en-US" dirty="0">
                <a:ea typeface="宋体" panose="02010600030101010101" pitchFamily="2" charset="-122"/>
                <a:sym typeface="+mn-ea"/>
              </a:rPr>
              <a:t>		    </a:t>
            </a:r>
            <a:r>
              <a:rPr lang="en-US" dirty="0" err="1">
                <a:ea typeface="宋体" panose="02010600030101010101" pitchFamily="2" charset="-122"/>
                <a:sym typeface="+mn-ea"/>
              </a:rPr>
              <a:t>System.out.println</a:t>
            </a:r>
            <a:r>
              <a:rPr lang="en-US" dirty="0">
                <a:ea typeface="宋体" panose="02010600030101010101" pitchFamily="2" charset="-122"/>
                <a:sym typeface="+mn-ea"/>
              </a:rPr>
              <a:t>("</a:t>
            </a:r>
            <a:r>
              <a:rPr lang="zh-CN" altLang="en-US" dirty="0">
                <a:ea typeface="宋体" panose="02010600030101010101" pitchFamily="2" charset="-122"/>
                <a:sym typeface="+mn-ea"/>
              </a:rPr>
              <a:t>第二个构造器</a:t>
            </a:r>
            <a:r>
              <a:rPr lang="en-US" dirty="0">
                <a:ea typeface="宋体" panose="02010600030101010101" pitchFamily="2" charset="-122"/>
                <a:sym typeface="+mn-ea"/>
              </a:rPr>
              <a:t>");</a:t>
            </a:r>
            <a:endParaRPr lang="en-US" dirty="0">
              <a:ea typeface="宋体" panose="02010600030101010101" pitchFamily="2" charset="-122"/>
            </a:endParaRPr>
          </a:p>
          <a:p>
            <a:pPr marL="704850" lvl="1" indent="-361950" eaLnBrk="1" hangingPunct="1">
              <a:buFont typeface="Times"/>
              <a:buNone/>
            </a:pPr>
            <a:r>
              <a:rPr lang="en-US" dirty="0">
                <a:ea typeface="宋体" panose="02010600030101010101" pitchFamily="2" charset="-122"/>
                <a:sym typeface="+mn-ea"/>
              </a:rPr>
              <a:t>	}</a:t>
            </a:r>
            <a:endParaRPr lang="en-US" dirty="0">
              <a:ea typeface="宋体" panose="02010600030101010101" pitchFamily="2" charset="-122"/>
            </a:endParaRPr>
          </a:p>
          <a:p>
            <a:pPr marL="704850" lvl="1" indent="-361950" eaLnBrk="1" hangingPunct="1">
              <a:lnSpc>
                <a:spcPct val="150000"/>
              </a:lnSpc>
              <a:buFont typeface="Times"/>
              <a:buNone/>
            </a:pPr>
            <a:endParaRPr lang="zh-CN" altLang="en-US" dirty="0">
              <a:ea typeface="宋体" panose="02010600030101010101" pitchFamily="2" charset="-122"/>
            </a:endParaRPr>
          </a:p>
          <a:p>
            <a:pPr marL="457200" indent="-457200" eaLnBrk="1" hangingPunct="1">
              <a:lnSpc>
                <a:spcPct val="15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11971" name="内容占位符 2"/>
          <p:cNvSpPr>
            <a:spLocks noGrp="1"/>
          </p:cNvSpPr>
          <p:nvPr>
            <p:ph idx="4294967295"/>
          </p:nvPr>
        </p:nvSpPr>
        <p:spPr>
          <a:xfrm>
            <a:off x="1008407" y="1160167"/>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1  public class Teacher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      private String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      private String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      private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      public Teacher(String name)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7          this(name, "</a:t>
            </a:r>
            <a:r>
              <a:rPr lang="zh-CN" altLang="en-US" sz="1800" dirty="0">
                <a:solidFill>
                  <a:srgbClr val="002060"/>
                </a:solidFill>
                <a:ea typeface="宋体" panose="02010600030101010101" pitchFamily="2" charset="-122"/>
              </a:rPr>
              <a:t>男</a:t>
            </a:r>
            <a:r>
              <a:rPr lang="en-US" sz="1800" dirty="0">
                <a:solidFill>
                  <a:srgbClr val="002060"/>
                </a:solidFill>
                <a:ea typeface="宋体" panose="02010600030101010101" pitchFamily="2" charset="-122"/>
              </a:rPr>
              <a:t>");  //</a:t>
            </a:r>
            <a:r>
              <a:rPr lang="zh-CN" altLang="en-US" sz="1800" dirty="0">
                <a:solidFill>
                  <a:srgbClr val="002060"/>
                </a:solidFill>
                <a:ea typeface="宋体" panose="02010600030101010101" pitchFamily="2" charset="-122"/>
              </a:rPr>
              <a:t>必须在构造器的第</a:t>
            </a:r>
            <a:r>
              <a:rPr lang="en-US" sz="1800" dirty="0">
                <a:solidFill>
                  <a:srgbClr val="002060"/>
                </a:solidFill>
                <a:ea typeface="宋体" panose="02010600030101010101" pitchFamily="2" charset="-122"/>
              </a:rPr>
              <a:t>1</a:t>
            </a:r>
            <a:r>
              <a:rPr lang="zh-CN" altLang="en-US" sz="1800" dirty="0">
                <a:solidFill>
                  <a:srgbClr val="002060"/>
                </a:solidFill>
                <a:ea typeface="宋体" panose="02010600030101010101" pitchFamily="2" charset="-122"/>
              </a:rPr>
              <a:t>行</a:t>
            </a:r>
            <a:endParaRPr lang="zh-CN" alt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8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第一个构造器</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11     public Teacher(String name, String gender)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12         this(name, gender, 30);  //</a:t>
            </a:r>
            <a:r>
              <a:rPr lang="zh-CN" altLang="en-US" sz="1800" dirty="0">
                <a:solidFill>
                  <a:srgbClr val="002060"/>
                </a:solidFill>
                <a:ea typeface="宋体" panose="02010600030101010101" pitchFamily="2" charset="-122"/>
              </a:rPr>
              <a:t>必须在构造器的第</a:t>
            </a:r>
            <a:r>
              <a:rPr lang="en-US" sz="1800" dirty="0">
                <a:solidFill>
                  <a:srgbClr val="002060"/>
                </a:solidFill>
                <a:ea typeface="宋体" panose="02010600030101010101" pitchFamily="2" charset="-122"/>
              </a:rPr>
              <a:t>1</a:t>
            </a:r>
            <a:r>
              <a:rPr lang="zh-CN" altLang="en-US" sz="1800" dirty="0">
                <a:solidFill>
                  <a:srgbClr val="002060"/>
                </a:solidFill>
                <a:ea typeface="宋体" panose="02010600030101010101" pitchFamily="2" charset="-122"/>
              </a:rPr>
              <a:t>行</a:t>
            </a:r>
            <a:endParaRPr lang="zh-CN" alt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13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第二个构造器</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16         public Teacher(String name, String gender,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17         this.name =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18         </a:t>
            </a:r>
            <a:r>
              <a:rPr lang="en-US" sz="1800" dirty="0" err="1">
                <a:solidFill>
                  <a:srgbClr val="002060"/>
                </a:solidFill>
                <a:ea typeface="宋体" panose="02010600030101010101" pitchFamily="2" charset="-122"/>
              </a:rPr>
              <a:t>this.gender</a:t>
            </a:r>
            <a:r>
              <a:rPr lang="en-US" sz="1800" dirty="0">
                <a:solidFill>
                  <a:srgbClr val="002060"/>
                </a:solidFill>
                <a:ea typeface="宋体" panose="02010600030101010101" pitchFamily="2" charset="-122"/>
              </a:rPr>
              <a:t> =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19         </a:t>
            </a:r>
            <a:r>
              <a:rPr lang="en-US" sz="1800" dirty="0" err="1">
                <a:solidFill>
                  <a:srgbClr val="002060"/>
                </a:solidFill>
                <a:ea typeface="宋体" panose="02010600030101010101" pitchFamily="2" charset="-122"/>
              </a:rPr>
              <a:t>this.age</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12995" name="内容占位符 2"/>
          <p:cNvSpPr>
            <a:spLocks noGrp="1"/>
          </p:cNvSpPr>
          <p:nvPr>
            <p:ph idx="4294967295"/>
          </p:nvPr>
        </p:nvSpPr>
        <p:spPr>
          <a:xfrm>
            <a:off x="928662" y="1205252"/>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20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a:t>
            </a:r>
            <a:r>
              <a:rPr lang="zh-CN" altLang="en-US" sz="1800" dirty="0">
                <a:solidFill>
                  <a:srgbClr val="002060"/>
                </a:solidFill>
                <a:ea typeface="宋体" panose="02010600030101010101" pitchFamily="2" charset="-122"/>
              </a:rPr>
              <a:t>第三个构造器</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23     public String </a:t>
            </a:r>
            <a:r>
              <a:rPr lang="en-US" sz="1800" dirty="0" err="1">
                <a:solidFill>
                  <a:srgbClr val="002060"/>
                </a:solidFill>
                <a:ea typeface="宋体" panose="02010600030101010101" pitchFamily="2" charset="-122"/>
              </a:rPr>
              <a:t>getName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24         return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25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27     public void </a:t>
            </a:r>
            <a:r>
              <a:rPr lang="en-US" sz="1800" dirty="0" err="1">
                <a:solidFill>
                  <a:srgbClr val="002060"/>
                </a:solidFill>
                <a:ea typeface="宋体" panose="02010600030101010101" pitchFamily="2" charset="-122"/>
              </a:rPr>
              <a:t>setName</a:t>
            </a:r>
            <a:r>
              <a:rPr lang="en-US" sz="1800" dirty="0">
                <a:solidFill>
                  <a:srgbClr val="002060"/>
                </a:solidFill>
                <a:ea typeface="宋体" panose="02010600030101010101" pitchFamily="2" charset="-122"/>
              </a:rPr>
              <a:t>(String name)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28         this.name = name;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29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31     public String </a:t>
            </a:r>
            <a:r>
              <a:rPr lang="en-US" sz="1800" dirty="0" err="1">
                <a:solidFill>
                  <a:srgbClr val="002060"/>
                </a:solidFill>
                <a:ea typeface="宋体" panose="02010600030101010101" pitchFamily="2" charset="-122"/>
              </a:rPr>
              <a:t>getGender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32         return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35     public void </a:t>
            </a:r>
            <a:r>
              <a:rPr lang="en-US" sz="1800" dirty="0" err="1">
                <a:solidFill>
                  <a:srgbClr val="002060"/>
                </a:solidFill>
                <a:ea typeface="宋体" panose="02010600030101010101" pitchFamily="2" charset="-122"/>
              </a:rPr>
              <a:t>setGender</a:t>
            </a:r>
            <a:r>
              <a:rPr lang="en-US" sz="1800" dirty="0">
                <a:solidFill>
                  <a:srgbClr val="002060"/>
                </a:solidFill>
                <a:ea typeface="宋体" panose="02010600030101010101" pitchFamily="2" charset="-122"/>
              </a:rPr>
              <a:t>(String gender)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36         </a:t>
            </a:r>
            <a:r>
              <a:rPr lang="en-US" sz="1800" dirty="0" err="1">
                <a:solidFill>
                  <a:srgbClr val="002060"/>
                </a:solidFill>
                <a:ea typeface="宋体" panose="02010600030101010101" pitchFamily="2" charset="-122"/>
              </a:rPr>
              <a:t>this.gender</a:t>
            </a:r>
            <a:r>
              <a:rPr lang="en-US" sz="1800" dirty="0">
                <a:solidFill>
                  <a:srgbClr val="002060"/>
                </a:solidFill>
                <a:ea typeface="宋体" panose="02010600030101010101" pitchFamily="2" charset="-122"/>
              </a:rPr>
              <a:t> = gender;</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38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14019" name="内容占位符 2"/>
          <p:cNvSpPr>
            <a:spLocks noGrp="1"/>
          </p:cNvSpPr>
          <p:nvPr>
            <p:ph idx="4294967295"/>
          </p:nvPr>
        </p:nvSpPr>
        <p:spPr>
          <a:xfrm>
            <a:off x="928662" y="1205252"/>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39     public </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t>
            </a:r>
            <a:r>
              <a:rPr lang="en-US" sz="1800" dirty="0" err="1">
                <a:solidFill>
                  <a:srgbClr val="002060"/>
                </a:solidFill>
                <a:ea typeface="宋体" panose="02010600030101010101" pitchFamily="2" charset="-122"/>
              </a:rPr>
              <a:t>getAge</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40         return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44     public void </a:t>
            </a:r>
            <a:r>
              <a:rPr lang="en-US" sz="1800" dirty="0" err="1">
                <a:solidFill>
                  <a:srgbClr val="002060"/>
                </a:solidFill>
                <a:ea typeface="宋体" panose="02010600030101010101" pitchFamily="2" charset="-122"/>
              </a:rPr>
              <a:t>setAge</a:t>
            </a:r>
            <a:r>
              <a:rPr lang="en-US" sz="1800" dirty="0">
                <a:solidFill>
                  <a:srgbClr val="002060"/>
                </a:solidFill>
                <a:ea typeface="宋体" panose="02010600030101010101" pitchFamily="2" charset="-122"/>
              </a:rPr>
              <a:t>(</a:t>
            </a:r>
            <a:r>
              <a:rPr lang="en-US" sz="1800" dirty="0" err="1">
                <a:solidFill>
                  <a:srgbClr val="002060"/>
                </a:solidFill>
                <a:ea typeface="宋体" panose="02010600030101010101" pitchFamily="2" charset="-122"/>
              </a:rPr>
              <a:t>int</a:t>
            </a:r>
            <a:r>
              <a:rPr lang="en-US" sz="1800" dirty="0">
                <a:solidFill>
                  <a:srgbClr val="002060"/>
                </a:solidFill>
                <a:ea typeface="宋体" panose="02010600030101010101" pitchFamily="2" charset="-122"/>
              </a:rPr>
              <a:t> age)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45         if (age &gt; 100)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46                 return;</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47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48         </a:t>
            </a:r>
            <a:r>
              <a:rPr lang="en-US" sz="1800" dirty="0" err="1">
                <a:solidFill>
                  <a:srgbClr val="002060"/>
                </a:solidFill>
                <a:ea typeface="宋体" panose="02010600030101010101" pitchFamily="2" charset="-122"/>
              </a:rPr>
              <a:t>this.age</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49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50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51     private void lecture()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52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53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55     public void </a:t>
            </a:r>
            <a:r>
              <a:rPr lang="en-US" sz="1800" dirty="0" err="1">
                <a:solidFill>
                  <a:srgbClr val="002060"/>
                </a:solidFill>
                <a:ea typeface="宋体" panose="02010600030101010101" pitchFamily="2" charset="-122"/>
              </a:rPr>
              <a:t>assignHomeWork</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56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57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Teacher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15043" name="内容占位符 2"/>
          <p:cNvSpPr>
            <a:spLocks noGrp="1"/>
          </p:cNvSpPr>
          <p:nvPr>
            <p:ph idx="4294967295"/>
          </p:nvPr>
        </p:nvSpPr>
        <p:spPr>
          <a:xfrm>
            <a:off x="928662" y="1500174"/>
            <a:ext cx="7537450" cy="5040312"/>
          </a:xfrm>
        </p:spPr>
        <p:txBody>
          <a:bodyPr/>
          <a:p>
            <a:pPr marL="361950" indent="-361950" eaLnBrk="1" hangingPunct="1">
              <a:spcBef>
                <a:spcPct val="0"/>
              </a:spcBef>
              <a:buFont typeface="Times"/>
              <a:buNone/>
            </a:pPr>
            <a:r>
              <a:rPr lang="en-US" sz="1800" dirty="0">
                <a:solidFill>
                  <a:srgbClr val="002060"/>
                </a:solidFill>
                <a:ea typeface="宋体" panose="02010600030101010101" pitchFamily="2" charset="-122"/>
              </a:rPr>
              <a:t>58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59     public String say()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60         lecture();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61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62         String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 = "</a:t>
            </a:r>
            <a:r>
              <a:rPr lang="zh-CN" altLang="en-US" sz="1800" dirty="0">
                <a:solidFill>
                  <a:srgbClr val="002060"/>
                </a:solidFill>
                <a:ea typeface="宋体" panose="02010600030101010101" pitchFamily="2" charset="-122"/>
              </a:rPr>
              <a:t>我是</a:t>
            </a:r>
            <a:r>
              <a:rPr lang="en-US" sz="1800" dirty="0">
                <a:solidFill>
                  <a:srgbClr val="002060"/>
                </a:solidFill>
                <a:ea typeface="宋体" panose="02010600030101010101" pitchFamily="2" charset="-122"/>
              </a:rPr>
              <a:t>" + name + ", </a:t>
            </a:r>
            <a:r>
              <a:rPr lang="zh-CN" altLang="en-US" sz="1800" dirty="0">
                <a:solidFill>
                  <a:srgbClr val="002060"/>
                </a:solidFill>
                <a:ea typeface="宋体" panose="02010600030101010101" pitchFamily="2" charset="-122"/>
              </a:rPr>
              <a:t>性别</a:t>
            </a:r>
            <a:r>
              <a:rPr lang="en-US" sz="1800" dirty="0">
                <a:solidFill>
                  <a:srgbClr val="002060"/>
                </a:solidFill>
                <a:ea typeface="宋体" panose="02010600030101010101" pitchFamily="2" charset="-122"/>
              </a:rPr>
              <a:t>" +  gender +", </a:t>
            </a:r>
            <a:r>
              <a:rPr lang="zh-CN" altLang="en-US" sz="1800" dirty="0">
                <a:solidFill>
                  <a:srgbClr val="002060"/>
                </a:solidFill>
                <a:ea typeface="宋体" panose="02010600030101010101" pitchFamily="2" charset="-122"/>
              </a:rPr>
              <a:t>年龄</a:t>
            </a:r>
            <a:r>
              <a:rPr lang="en-US" sz="1800" dirty="0">
                <a:solidFill>
                  <a:srgbClr val="002060"/>
                </a:solidFill>
                <a:ea typeface="宋体" panose="02010600030101010101" pitchFamily="2" charset="-122"/>
              </a:rPr>
              <a:t>" + age;</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63         return </a:t>
            </a:r>
            <a:r>
              <a:rPr lang="en-US" sz="1800" dirty="0" err="1">
                <a:solidFill>
                  <a:srgbClr val="002060"/>
                </a:solidFill>
                <a:ea typeface="宋体" panose="02010600030101010101" pitchFamily="2" charset="-122"/>
              </a:rPr>
              <a:t>str</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64     }</a:t>
            </a:r>
            <a:endParaRPr lang="en-US" sz="1800" dirty="0">
              <a:solidFill>
                <a:srgbClr val="002060"/>
              </a:solidFill>
              <a:ea typeface="宋体" panose="02010600030101010101" pitchFamily="2" charset="-122"/>
            </a:endParaRPr>
          </a:p>
          <a:p>
            <a:pPr marL="361950" indent="-361950" eaLnBrk="1" hangingPunct="1">
              <a:spcBef>
                <a:spcPct val="0"/>
              </a:spcBef>
              <a:buFont typeface="Times"/>
              <a:buNone/>
            </a:pPr>
            <a:r>
              <a:rPr lang="en-US" sz="1800" dirty="0">
                <a:solidFill>
                  <a:srgbClr val="002060"/>
                </a:solidFill>
                <a:ea typeface="宋体" panose="02010600030101010101" pitchFamily="2" charset="-122"/>
              </a:rPr>
              <a:t>65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示例 </a:t>
            </a:r>
            <a:r>
              <a:rPr lang="en-US" sz="2400">
                <a:ea typeface="宋体" panose="02010600030101010101" pitchFamily="2" charset="-122"/>
                <a:sym typeface="+mn-ea"/>
              </a:rPr>
              <a:t>— TestConstructor</a:t>
            </a:r>
            <a:r>
              <a:rPr lang="zh-CN" altLang="en-US" sz="240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16067" name="内容占位符 2"/>
          <p:cNvSpPr>
            <a:spLocks noGrp="1"/>
          </p:cNvSpPr>
          <p:nvPr>
            <p:ph idx="4294967295"/>
          </p:nvPr>
        </p:nvSpPr>
        <p:spPr>
          <a:xfrm>
            <a:off x="928662" y="1108413"/>
            <a:ext cx="7537450" cy="4816475"/>
          </a:xfrm>
        </p:spPr>
        <p:txBody>
          <a:bodyPr/>
          <a:p>
            <a:pPr marL="361950" indent="-361950" eaLnBrk="1" hangingPunct="1">
              <a:buFont typeface="Times"/>
              <a:buNone/>
            </a:pPr>
            <a:r>
              <a:rPr lang="en-US" sz="1800" dirty="0">
                <a:solidFill>
                  <a:srgbClr val="002060"/>
                </a:solidFill>
                <a:ea typeface="宋体" panose="02010600030101010101" pitchFamily="2" charset="-122"/>
              </a:rPr>
              <a:t>1  public class </a:t>
            </a:r>
            <a:r>
              <a:rPr lang="en-US" sz="1800" dirty="0" err="1">
                <a:solidFill>
                  <a:srgbClr val="002060"/>
                </a:solidFill>
                <a:ea typeface="宋体" panose="02010600030101010101" pitchFamily="2" charset="-122"/>
              </a:rPr>
              <a:t>TestConstructor</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2      public static void main(String[] </a:t>
            </a:r>
            <a:r>
              <a:rPr lang="en-US" sz="1800" dirty="0" err="1">
                <a:solidFill>
                  <a:srgbClr val="002060"/>
                </a:solidFill>
                <a:ea typeface="宋体" panose="02010600030101010101" pitchFamily="2" charset="-122"/>
              </a:rPr>
              <a:t>args</a:t>
            </a:r>
            <a:r>
              <a:rPr lang="en-US" sz="1800" dirty="0">
                <a:solidFill>
                  <a:srgbClr val="002060"/>
                </a:solidFill>
                <a:ea typeface="宋体" panose="02010600030101010101" pitchFamily="2" charset="-122"/>
              </a:rPr>
              <a:t>)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3          Teacher t1 = new Teacher("</a:t>
            </a:r>
            <a:r>
              <a:rPr lang="zh-CN" altLang="en-US" sz="1800" dirty="0">
                <a:solidFill>
                  <a:srgbClr val="002060"/>
                </a:solidFill>
                <a:ea typeface="宋体" panose="02010600030101010101" pitchFamily="2" charset="-122"/>
              </a:rPr>
              <a:t>张三</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4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(t1.say());</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5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6          Teacher t2 = new Teacher("</a:t>
            </a:r>
            <a:r>
              <a:rPr lang="zh-CN" altLang="en-US" sz="1800" dirty="0">
                <a:solidFill>
                  <a:srgbClr val="002060"/>
                </a:solidFill>
                <a:ea typeface="宋体" panose="02010600030101010101" pitchFamily="2" charset="-122"/>
              </a:rPr>
              <a:t>李四</a:t>
            </a:r>
            <a:r>
              <a:rPr lang="en-US" sz="1800" dirty="0">
                <a:solidFill>
                  <a:srgbClr val="002060"/>
                </a:solidFill>
                <a:ea typeface="宋体" panose="02010600030101010101" pitchFamily="2" charset="-122"/>
              </a:rPr>
              <a:t>", "</a:t>
            </a:r>
            <a:r>
              <a:rPr lang="zh-CN" altLang="en-US" sz="1800" dirty="0">
                <a:solidFill>
                  <a:srgbClr val="002060"/>
                </a:solidFill>
                <a:ea typeface="宋体" panose="02010600030101010101" pitchFamily="2" charset="-122"/>
              </a:rPr>
              <a:t>女</a:t>
            </a:r>
            <a:r>
              <a:rPr lang="en-US" sz="1800" dirty="0">
                <a:solidFill>
                  <a:srgbClr val="002060"/>
                </a:solidFill>
                <a:ea typeface="宋体" panose="02010600030101010101" pitchFamily="2" charset="-122"/>
              </a:rPr>
              <a:t>");</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7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(t2.say());</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8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9          Teacher t3 = new Teacher("</a:t>
            </a:r>
            <a:r>
              <a:rPr lang="zh-CN" altLang="en-US" sz="1800" dirty="0">
                <a:solidFill>
                  <a:srgbClr val="002060"/>
                </a:solidFill>
                <a:ea typeface="宋体" panose="02010600030101010101" pitchFamily="2" charset="-122"/>
              </a:rPr>
              <a:t>王五</a:t>
            </a:r>
            <a:r>
              <a:rPr lang="en-US" sz="1800" dirty="0">
                <a:solidFill>
                  <a:srgbClr val="002060"/>
                </a:solidFill>
                <a:ea typeface="宋体" panose="02010600030101010101" pitchFamily="2" charset="-122"/>
              </a:rPr>
              <a:t>", "</a:t>
            </a:r>
            <a:r>
              <a:rPr lang="zh-CN" altLang="en-US" sz="1800" dirty="0">
                <a:solidFill>
                  <a:srgbClr val="002060"/>
                </a:solidFill>
                <a:ea typeface="宋体" panose="02010600030101010101" pitchFamily="2" charset="-122"/>
              </a:rPr>
              <a:t>女</a:t>
            </a:r>
            <a:r>
              <a:rPr lang="en-US" sz="1800" dirty="0">
                <a:solidFill>
                  <a:srgbClr val="002060"/>
                </a:solidFill>
                <a:ea typeface="宋体" panose="02010600030101010101" pitchFamily="2" charset="-122"/>
              </a:rPr>
              <a:t>", 40);</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10         </a:t>
            </a:r>
            <a:r>
              <a:rPr lang="en-US" sz="1800" dirty="0" err="1">
                <a:solidFill>
                  <a:srgbClr val="002060"/>
                </a:solidFill>
                <a:ea typeface="宋体" panose="02010600030101010101" pitchFamily="2" charset="-122"/>
              </a:rPr>
              <a:t>System.out.println</a:t>
            </a:r>
            <a:r>
              <a:rPr lang="en-US" sz="1800" dirty="0">
                <a:solidFill>
                  <a:srgbClr val="002060"/>
                </a:solidFill>
                <a:ea typeface="宋体" panose="02010600030101010101" pitchFamily="2" charset="-122"/>
              </a:rPr>
              <a:t>(t3.say());</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11     }</a:t>
            </a:r>
            <a:endParaRPr lang="en-US" sz="1800" dirty="0">
              <a:solidFill>
                <a:srgbClr val="002060"/>
              </a:solidFill>
              <a:ea typeface="宋体" panose="02010600030101010101" pitchFamily="2" charset="-122"/>
            </a:endParaRPr>
          </a:p>
          <a:p>
            <a:pPr marL="361950" indent="-361950" eaLnBrk="1" hangingPunct="1">
              <a:buFont typeface="Times"/>
              <a:buNone/>
            </a:pPr>
            <a:r>
              <a:rPr lang="en-US" sz="1800" dirty="0">
                <a:solidFill>
                  <a:srgbClr val="002060"/>
                </a:solidFill>
                <a:ea typeface="宋体" panose="02010600030101010101" pitchFamily="2" charset="-122"/>
              </a:rPr>
              <a:t>12 }</a:t>
            </a:r>
            <a:endParaRPr lang="en-US" sz="1800" dirty="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50000"/>
              </a:lnSpc>
              <a:buClr>
                <a:srgbClr val="ED7D31"/>
              </a:buClr>
              <a:buFont typeface="+mj-lt"/>
              <a:buAutoNum type="arabicPeriod"/>
            </a:pPr>
            <a:r>
              <a:rPr lang="zh-CN" altLang="en-US" sz="2000" dirty="0">
                <a:ea typeface="宋体" panose="02010600030101010101" pitchFamily="2" charset="-122"/>
                <a:sym typeface="+mn-ea"/>
              </a:rPr>
              <a:t>修改</a:t>
            </a:r>
            <a:r>
              <a:rPr lang="en-US" sz="2000" dirty="0">
                <a:ea typeface="宋体" panose="02010600030101010101" pitchFamily="2" charset="-122"/>
                <a:sym typeface="+mn-ea"/>
              </a:rPr>
              <a:t>Student</a:t>
            </a:r>
            <a:r>
              <a:rPr lang="zh-CN" altLang="en-US" sz="2000" dirty="0">
                <a:ea typeface="宋体" panose="02010600030101010101" pitchFamily="2" charset="-122"/>
                <a:sym typeface="+mn-ea"/>
              </a:rPr>
              <a:t>类，在构造器中使用</a:t>
            </a:r>
            <a:r>
              <a:rPr lang="en-US" sz="2000" dirty="0">
                <a:ea typeface="宋体" panose="02010600030101010101" pitchFamily="2" charset="-122"/>
                <a:sym typeface="+mn-ea"/>
              </a:rPr>
              <a:t>this</a:t>
            </a:r>
            <a:r>
              <a:rPr lang="zh-CN" altLang="en-US" sz="2000" dirty="0">
                <a:ea typeface="宋体" panose="02010600030101010101" pitchFamily="2" charset="-122"/>
                <a:sym typeface="+mn-ea"/>
              </a:rPr>
              <a:t>调用其他重载构造器，以完全初始所有属性。</a:t>
            </a:r>
            <a:endParaRPr lang="zh-CN" altLang="en-US" sz="2000"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r>
              <a:rPr lang="zh-CN" altLang="en-US" sz="2000" dirty="0">
                <a:ea typeface="宋体" panose="02010600030101010101" pitchFamily="2" charset="-122"/>
                <a:sym typeface="+mn-ea"/>
              </a:rPr>
              <a:t>用不同数量的参数分别创建多个不同的</a:t>
            </a:r>
            <a:r>
              <a:rPr lang="en-US" sz="2000" dirty="0">
                <a:ea typeface="宋体" panose="02010600030101010101" pitchFamily="2" charset="-122"/>
                <a:sym typeface="+mn-ea"/>
              </a:rPr>
              <a:t>Student</a:t>
            </a:r>
            <a:r>
              <a:rPr lang="zh-CN" altLang="en-US" sz="2000" dirty="0">
                <a:ea typeface="宋体" panose="02010600030101010101" pitchFamily="2" charset="-122"/>
                <a:sym typeface="+mn-ea"/>
              </a:rPr>
              <a:t>对象，并分别调用</a:t>
            </a:r>
            <a:r>
              <a:rPr lang="en-US" sz="2000" dirty="0">
                <a:ea typeface="宋体" panose="02010600030101010101" pitchFamily="2" charset="-122"/>
                <a:sym typeface="+mn-ea"/>
              </a:rPr>
              <a:t>say</a:t>
            </a:r>
            <a:r>
              <a:rPr lang="zh-CN" altLang="en-US" sz="2000" dirty="0">
                <a:ea typeface="宋体" panose="02010600030101010101" pitchFamily="2" charset="-122"/>
                <a:sym typeface="+mn-ea"/>
              </a:rPr>
              <a:t>方法打印输出结果。</a:t>
            </a:r>
            <a:endParaRPr lang="zh-CN" altLang="en-US" sz="2000" dirty="0">
              <a:ea typeface="宋体" panose="02010600030101010101" pitchFamily="2" charset="-122"/>
            </a:endParaRPr>
          </a:p>
          <a:p>
            <a:pPr marL="457200" indent="-457200" eaLnBrk="1" hangingPunct="1">
              <a:lnSpc>
                <a:spcPct val="150000"/>
              </a:lnSpc>
              <a:buClr>
                <a:srgbClr val="ED7D31"/>
              </a:buClr>
              <a:buFont typeface="+mj-lt"/>
              <a:buAutoNum type="arabicPeriod"/>
            </a:pPr>
            <a:endParaRPr lang="zh-CN" altLang="en-US" sz="2000" dirty="0">
              <a:ea typeface="宋体" panose="02010600030101010101" pitchFamily="2" charset="-122"/>
            </a:endParaRPr>
          </a:p>
          <a:p>
            <a:pPr marL="704850" lvl="1" indent="-361950" eaLnBrk="1" hangingPunct="1">
              <a:lnSpc>
                <a:spcPct val="150000"/>
              </a:lnSpc>
              <a:buFont typeface="Times"/>
              <a:buNone/>
            </a:pPr>
            <a:endParaRPr lang="zh-CN" altLang="en-US" dirty="0">
              <a:ea typeface="宋体" panose="02010600030101010101" pitchFamily="2" charset="-122"/>
            </a:endParaRPr>
          </a:p>
          <a:p>
            <a:pPr marL="457200" indent="-457200" eaLnBrk="1" hangingPunct="1">
              <a:lnSpc>
                <a:spcPct val="15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5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综合练习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50000"/>
              </a:lnSpc>
              <a:buClr>
                <a:srgbClr val="ED7D31"/>
              </a:buClr>
              <a:buFont typeface="+mj-lt"/>
              <a:buAutoNum type="arabicPeriod"/>
            </a:pPr>
            <a:r>
              <a:rPr lang="en-US" sz="2000" dirty="0">
                <a:ea typeface="宋体" panose="02010600030101010101" pitchFamily="2" charset="-122"/>
                <a:sym typeface="+mn-ea"/>
              </a:rPr>
              <a:t>Room</a:t>
            </a:r>
            <a:r>
              <a:rPr lang="zh-CN" altLang="en-US" sz="2000" dirty="0">
                <a:ea typeface="宋体" panose="02010600030101010101" pitchFamily="2" charset="-122"/>
                <a:sym typeface="+mn-ea"/>
              </a:rPr>
              <a:t>类</a:t>
            </a:r>
            <a:endParaRPr lang="zh-CN" altLang="en-US" sz="2000" dirty="0">
              <a:ea typeface="宋体" panose="02010600030101010101" pitchFamily="2" charset="-122"/>
            </a:endParaRPr>
          </a:p>
          <a:p>
            <a:pPr marL="800100" lvl="1" indent="-457200" eaLnBrk="1" hangingPunct="1"/>
            <a:r>
              <a:rPr lang="zh-CN" altLang="en-US" dirty="0">
                <a:ea typeface="宋体" panose="02010600030101010101" pitchFamily="2" charset="-122"/>
                <a:sym typeface="+mn-ea"/>
              </a:rPr>
              <a:t>属性：房号（</a:t>
            </a:r>
            <a:r>
              <a:rPr lang="en-US" altLang="zh-CN" dirty="0">
                <a:ea typeface="宋体" panose="02010600030101010101" pitchFamily="2" charset="-122"/>
                <a:sym typeface="+mn-ea"/>
              </a:rPr>
              <a:t>rNO</a:t>
            </a:r>
            <a:r>
              <a:rPr lang="zh-CN" altLang="en-US" dirty="0">
                <a:ea typeface="宋体" panose="02010600030101010101" pitchFamily="2" charset="-122"/>
                <a:sym typeface="+mn-ea"/>
              </a:rPr>
              <a:t>）、面积（</a:t>
            </a:r>
            <a:r>
              <a:rPr lang="en-US" altLang="zh-CN" dirty="0">
                <a:ea typeface="宋体" panose="02010600030101010101" pitchFamily="2" charset="-122"/>
                <a:sym typeface="+mn-ea"/>
              </a:rPr>
              <a:t>area</a:t>
            </a:r>
            <a:r>
              <a:rPr lang="zh-CN" altLang="en-US" dirty="0">
                <a:ea typeface="宋体" panose="02010600030101010101" pitchFamily="2" charset="-122"/>
                <a:sym typeface="+mn-ea"/>
              </a:rPr>
              <a:t>）、地址（</a:t>
            </a:r>
            <a:r>
              <a:rPr lang="en-US" altLang="zh-CN" dirty="0">
                <a:ea typeface="宋体" panose="02010600030101010101" pitchFamily="2" charset="-122"/>
                <a:sym typeface="+mn-ea"/>
              </a:rPr>
              <a:t>address</a:t>
            </a:r>
            <a:r>
              <a:rPr lang="zh-CN" altLang="en-US" dirty="0">
                <a:ea typeface="宋体" panose="02010600030101010101" pitchFamily="2" charset="-122"/>
                <a:sym typeface="+mn-ea"/>
              </a:rPr>
              <a:t>）</a:t>
            </a:r>
            <a:endParaRPr lang="zh-CN" altLang="en-US" dirty="0">
              <a:ea typeface="宋体" panose="02010600030101010101" pitchFamily="2" charset="-122"/>
              <a:sym typeface="+mn-ea"/>
            </a:endParaRPr>
          </a:p>
          <a:p>
            <a:pPr marL="800100" lvl="1" indent="-457200" eaLnBrk="1" hangingPunct="1"/>
            <a:r>
              <a:rPr lang="zh-CN" altLang="en-US" dirty="0">
                <a:ea typeface="宋体" panose="02010600030101010101" pitchFamily="2" charset="-122"/>
                <a:sym typeface="+mn-ea"/>
              </a:rPr>
              <a:t>使用封装</a:t>
            </a:r>
            <a:endParaRPr lang="zh-CN" altLang="en-US" dirty="0">
              <a:ea typeface="宋体" panose="02010600030101010101" pitchFamily="2" charset="-122"/>
              <a:sym typeface="+mn-ea"/>
            </a:endParaRPr>
          </a:p>
          <a:p>
            <a:pPr marL="800100" lvl="1" indent="-457200" eaLnBrk="1" hangingPunct="1"/>
            <a:r>
              <a:rPr lang="zh-CN" altLang="en-US" dirty="0">
                <a:ea typeface="宋体" panose="02010600030101010101" pitchFamily="2" charset="-122"/>
                <a:sym typeface="+mn-ea"/>
              </a:rPr>
              <a:t>构造器：定义</a:t>
            </a:r>
            <a:r>
              <a:rPr lang="en-US" dirty="0">
                <a:ea typeface="宋体" panose="02010600030101010101" pitchFamily="2" charset="-122"/>
                <a:sym typeface="+mn-ea"/>
              </a:rPr>
              <a:t>4</a:t>
            </a:r>
            <a:r>
              <a:rPr lang="zh-CN" altLang="en-US" dirty="0">
                <a:ea typeface="宋体" panose="02010600030101010101" pitchFamily="2" charset="-122"/>
                <a:sym typeface="+mn-ea"/>
              </a:rPr>
              <a:t>个重载构造器</a:t>
            </a:r>
            <a:endParaRPr lang="zh-CN" altLang="en-US" dirty="0">
              <a:ea typeface="宋体" panose="02010600030101010101" pitchFamily="2" charset="-122"/>
              <a:sym typeface="+mn-ea"/>
            </a:endParaRPr>
          </a:p>
          <a:p>
            <a:pPr marL="800100" lvl="1" indent="-457200" eaLnBrk="1" hangingPunct="1"/>
            <a:r>
              <a:rPr lang="zh-CN" altLang="en-US" dirty="0">
                <a:ea typeface="宋体" panose="02010600030101010101" pitchFamily="2" charset="-122"/>
                <a:sym typeface="+mn-ea"/>
              </a:rPr>
              <a:t>使用</a:t>
            </a:r>
            <a:r>
              <a:rPr lang="en-US" dirty="0">
                <a:ea typeface="宋体" panose="02010600030101010101" pitchFamily="2" charset="-122"/>
                <a:sym typeface="+mn-ea"/>
              </a:rPr>
              <a:t>this</a:t>
            </a:r>
            <a:r>
              <a:rPr lang="zh-CN" altLang="en-US" dirty="0">
                <a:ea typeface="宋体" panose="02010600030101010101" pitchFamily="2" charset="-122"/>
                <a:sym typeface="+mn-ea"/>
              </a:rPr>
              <a:t>（）调用重载构造器</a:t>
            </a:r>
            <a:endParaRPr lang="zh-CN" altLang="en-US" dirty="0">
              <a:ea typeface="宋体" panose="02010600030101010101" pitchFamily="2" charset="-122"/>
            </a:endParaRPr>
          </a:p>
          <a:p>
            <a:pPr marL="800100" lvl="1" indent="-457200" eaLnBrk="1" hangingPunct="1"/>
            <a:r>
              <a:rPr lang="zh-CN" altLang="en-US" dirty="0">
                <a:ea typeface="宋体" panose="02010600030101010101" pitchFamily="2" charset="-122"/>
                <a:sym typeface="+mn-ea"/>
              </a:rPr>
              <a:t>方法：</a:t>
            </a:r>
            <a:r>
              <a:rPr lang="en-US" dirty="0" err="1">
                <a:ea typeface="宋体" panose="02010600030101010101" pitchFamily="2" charset="-122"/>
                <a:sym typeface="+mn-ea"/>
              </a:rPr>
              <a:t>getDetails</a:t>
            </a:r>
            <a:r>
              <a:rPr lang="en-US" dirty="0">
                <a:ea typeface="宋体" panose="02010600030101010101" pitchFamily="2" charset="-122"/>
                <a:sym typeface="+mn-ea"/>
              </a:rPr>
              <a:t> </a:t>
            </a:r>
            <a:r>
              <a:rPr lang="zh-CN" altLang="en-US" dirty="0">
                <a:ea typeface="宋体" panose="02010600030101010101" pitchFamily="2" charset="-122"/>
                <a:sym typeface="+mn-ea"/>
              </a:rPr>
              <a:t>返回</a:t>
            </a:r>
            <a:r>
              <a:rPr lang="en-US" dirty="0">
                <a:ea typeface="宋体" panose="02010600030101010101" pitchFamily="2" charset="-122"/>
                <a:sym typeface="+mn-ea"/>
              </a:rPr>
              <a:t>String</a:t>
            </a:r>
            <a:r>
              <a:rPr lang="zh-CN" altLang="en-US" dirty="0">
                <a:ea typeface="宋体" panose="02010600030101010101" pitchFamily="2" charset="-122"/>
                <a:sym typeface="+mn-ea"/>
              </a:rPr>
              <a:t>，描述房间详细信息</a:t>
            </a:r>
            <a:endParaRPr lang="zh-CN" altLang="en-US" dirty="0">
              <a:ea typeface="宋体" panose="02010600030101010101" pitchFamily="2" charset="-122"/>
            </a:endParaRPr>
          </a:p>
          <a:p>
            <a:pPr marL="457200" indent="-457200" eaLnBrk="1" hangingPunct="1">
              <a:lnSpc>
                <a:spcPct val="150000"/>
              </a:lnSpc>
              <a:buClr>
                <a:srgbClr val="ED7D31"/>
              </a:buClr>
              <a:buFont typeface="+mj-lt"/>
              <a:buAutoNum type="arabicPeriod"/>
            </a:pPr>
            <a:r>
              <a:rPr lang="en-US" sz="2000" dirty="0" err="1">
                <a:ea typeface="宋体" panose="02010600030101010101" pitchFamily="2" charset="-122"/>
                <a:sym typeface="+mn-ea"/>
              </a:rPr>
              <a:t>TestRoom</a:t>
            </a:r>
            <a:r>
              <a:rPr lang="zh-CN" altLang="en-US" sz="2000" dirty="0">
                <a:ea typeface="宋体" panose="02010600030101010101" pitchFamily="2" charset="-122"/>
                <a:sym typeface="+mn-ea"/>
              </a:rPr>
              <a:t>类</a:t>
            </a:r>
            <a:endParaRPr lang="zh-CN" altLang="en-US" sz="2000" dirty="0">
              <a:ea typeface="宋体" panose="02010600030101010101" pitchFamily="2" charset="-122"/>
              <a:sym typeface="+mn-ea"/>
            </a:endParaRPr>
          </a:p>
          <a:p>
            <a:pPr marL="800100" lvl="1" indent="-457200" algn="l" eaLnBrk="1" hangingPunct="1">
              <a:lnSpc>
                <a:spcPct val="90000"/>
              </a:lnSpc>
              <a:buClrTx/>
              <a:buSzTx/>
            </a:pPr>
            <a:r>
              <a:rPr lang="zh-CN" altLang="en-US" sz="2000" dirty="0">
                <a:ea typeface="宋体" panose="02010600030101010101" pitchFamily="2" charset="-122"/>
                <a:sym typeface="+mn-ea"/>
              </a:rPr>
              <a:t>分别用4个构造器创建4个room对象，打印对象的详细信息</a:t>
            </a:r>
            <a:endParaRPr lang="zh-CN" altLang="en-US" sz="2000" dirty="0">
              <a:ea typeface="宋体" panose="02010600030101010101" pitchFamily="2" charset="-122"/>
            </a:endParaRPr>
          </a:p>
          <a:p>
            <a:pPr marL="0" indent="0" eaLnBrk="1" hangingPunct="1">
              <a:lnSpc>
                <a:spcPct val="15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 y="3137535"/>
            <a:ext cx="112649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对象在内存中的结构模型</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对象在内存中的结构模型</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53135" y="845185"/>
            <a:ext cx="9527540" cy="5615940"/>
          </a:xfrm>
        </p:spPr>
        <p:txBody>
          <a:bodyPr>
            <a:noAutofit/>
          </a:bodyPr>
          <a:p>
            <a:pPr marL="0" indent="0" eaLnBrk="1" hangingPunct="1">
              <a:lnSpc>
                <a:spcPct val="150000"/>
              </a:lnSpc>
              <a:buClr>
                <a:srgbClr val="ED7D31"/>
              </a:buClr>
              <a:buFont typeface="+mj-lt"/>
              <a:buNone/>
            </a:pPr>
            <a:r>
              <a:rPr lang="en-US" altLang="zh-CN" sz="1600" dirty="0">
                <a:ea typeface="宋体" panose="02010600030101010101" pitchFamily="2" charset="-122"/>
                <a:sym typeface="+mn-ea"/>
              </a:rPr>
              <a:t>//</a:t>
            </a:r>
            <a:r>
              <a:rPr lang="zh-CN" altLang="en-US" sz="1800" dirty="0">
                <a:ea typeface="宋体" panose="02010600030101010101" pitchFamily="2" charset="-122"/>
                <a:sym typeface="+mn-ea"/>
              </a:rPr>
              <a:t>现定义用于表示日期的</a:t>
            </a:r>
            <a:r>
              <a:rPr lang="en-US" sz="1800" dirty="0" err="1">
                <a:ea typeface="宋体" panose="02010600030101010101" pitchFamily="2" charset="-122"/>
                <a:sym typeface="+mn-ea"/>
              </a:rPr>
              <a:t>MyDate</a:t>
            </a:r>
            <a:r>
              <a:rPr lang="zh-CN" altLang="en-US" sz="1800" dirty="0">
                <a:ea typeface="宋体" panose="02010600030101010101" pitchFamily="2" charset="-122"/>
                <a:sym typeface="+mn-ea"/>
              </a:rPr>
              <a:t>类：</a:t>
            </a:r>
            <a:endParaRPr lang="zh-CN" altLang="en-US" sz="1800" dirty="0">
              <a:ea typeface="宋体" panose="02010600030101010101" pitchFamily="2" charset="-122"/>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public class MyDate {</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private int day = 1;</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private int month = 5;</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private int year = 1999;</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public MyDate(int day, int month, int year) {</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this.day = day;</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this.month = month;</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this.year = year;</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public void print() {</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a:t>
            </a:r>
            <a:endParaRPr lang="en-US" sz="1800">
              <a:solidFill>
                <a:srgbClr val="002060"/>
              </a:solidFill>
              <a:ea typeface="宋体" panose="02010600030101010101" pitchFamily="2" charset="-122"/>
              <a:sym typeface="+mn-ea"/>
            </a:endParaRPr>
          </a:p>
          <a:p>
            <a:pPr marL="800100" lvl="1" indent="-457200">
              <a:lnSpc>
                <a:spcPct val="110000"/>
              </a:lnSpc>
              <a:buFont typeface="+mj-lt"/>
              <a:buAutoNum type="arabicPeriod"/>
            </a:pPr>
            <a:r>
              <a:rPr lang="en-US" sz="1800">
                <a:solidFill>
                  <a:srgbClr val="002060"/>
                </a:solidFill>
                <a:ea typeface="宋体" panose="02010600030101010101" pitchFamily="2" charset="-122"/>
                <a:sym typeface="+mn-ea"/>
              </a:rPr>
              <a:t> }</a:t>
            </a:r>
            <a:endParaRPr lang="en-US" sz="1800">
              <a:solidFill>
                <a:srgbClr val="002060"/>
              </a:solidFill>
              <a:ea typeface="宋体" panose="02010600030101010101" pitchFamily="2" charset="-122"/>
              <a:sym typeface="+mn-ea"/>
            </a:endParaRPr>
          </a:p>
          <a:p>
            <a:pPr marL="0" indent="0" eaLnBrk="1" hangingPunct="1">
              <a:lnSpc>
                <a:spcPct val="150000"/>
              </a:lnSpc>
              <a:buClr>
                <a:srgbClr val="ED7D31"/>
              </a:buClr>
              <a:buFont typeface="+mj-lt"/>
              <a:buNone/>
            </a:pPr>
            <a:endParaRPr lang="en-US" altLang="zh-CN" sz="1800" dirty="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构造和初始化对象</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fontScale="90000" lnSpcReduction="10000"/>
          </a:bodyPr>
          <a:p>
            <a:pPr marL="457200" indent="-457200" eaLnBrk="1" hangingPunct="1">
              <a:lnSpc>
                <a:spcPct val="130000"/>
              </a:lnSpc>
              <a:buClr>
                <a:srgbClr val="ED7D31"/>
              </a:buClr>
              <a:buFont typeface="+mj-lt"/>
              <a:buAutoNum type="arabicPeriod"/>
            </a:pPr>
            <a:r>
              <a:rPr lang="zh-CN" altLang="en-US" sz="2000" dirty="0">
                <a:ea typeface="宋体" panose="02010600030101010101" pitchFamily="2" charset="-122"/>
                <a:sym typeface="+mn-ea"/>
              </a:rPr>
              <a:t>可以如下使用 </a:t>
            </a:r>
            <a:r>
              <a:rPr lang="en-US" sz="2000" dirty="0" err="1">
                <a:ea typeface="宋体" panose="02010600030101010101" pitchFamily="2" charset="-122"/>
                <a:sym typeface="+mn-ea"/>
              </a:rPr>
              <a:t>MyDate</a:t>
            </a:r>
            <a:r>
              <a:rPr lang="en-US" sz="2000" dirty="0">
                <a:ea typeface="宋体" panose="02010600030101010101" pitchFamily="2" charset="-122"/>
                <a:sym typeface="+mn-ea"/>
              </a:rPr>
              <a:t> </a:t>
            </a:r>
            <a:r>
              <a:rPr lang="zh-CN" altLang="en-US" sz="2000" dirty="0">
                <a:ea typeface="宋体" panose="02010600030101010101" pitchFamily="2" charset="-122"/>
                <a:sym typeface="+mn-ea"/>
              </a:rPr>
              <a:t>类：</a:t>
            </a:r>
            <a:endParaRPr lang="zh-CN" altLang="en-US" sz="2000" dirty="0">
              <a:ea typeface="宋体" panose="02010600030101010101" pitchFamily="2" charset="-122"/>
              <a:sym typeface="+mn-ea"/>
            </a:endParaRPr>
          </a:p>
          <a:p>
            <a:pPr marL="704850" lvl="1" indent="-361950">
              <a:lnSpc>
                <a:spcPct val="130000"/>
              </a:lnSpc>
              <a:buFont typeface="+mj-lt"/>
              <a:buAutoNum type="arabicPeriod"/>
            </a:pPr>
            <a:r>
              <a:rPr lang="en-US" sz="1800" dirty="0">
                <a:solidFill>
                  <a:srgbClr val="002060"/>
                </a:solidFill>
                <a:ea typeface="宋体" panose="02010600030101010101" pitchFamily="2" charset="-122"/>
                <a:sym typeface="+mn-ea"/>
              </a:rPr>
              <a:t> public class </a:t>
            </a:r>
            <a:r>
              <a:rPr lang="en-US" sz="1800" dirty="0" err="1">
                <a:solidFill>
                  <a:srgbClr val="002060"/>
                </a:solidFill>
                <a:ea typeface="宋体" panose="02010600030101010101" pitchFamily="2" charset="-122"/>
                <a:sym typeface="+mn-ea"/>
              </a:rPr>
              <a:t>TestMyDate</a:t>
            </a:r>
            <a:r>
              <a:rPr lang="en-US" sz="1800" dirty="0">
                <a:solidFill>
                  <a:srgbClr val="002060"/>
                </a:solidFill>
                <a:ea typeface="宋体" panose="02010600030101010101" pitchFamily="2" charset="-122"/>
                <a:sym typeface="+mn-ea"/>
              </a:rPr>
              <a:t> {</a:t>
            </a:r>
            <a:endParaRPr lang="en-US" sz="1800" dirty="0">
              <a:solidFill>
                <a:srgbClr val="002060"/>
              </a:solidFill>
              <a:ea typeface="宋体" panose="02010600030101010101" pitchFamily="2" charset="-122"/>
            </a:endParaRPr>
          </a:p>
          <a:p>
            <a:pPr marL="704850" lvl="1" indent="-361950">
              <a:lnSpc>
                <a:spcPct val="130000"/>
              </a:lnSpc>
              <a:buFont typeface="+mj-lt"/>
              <a:buAutoNum type="arabicPeriod"/>
            </a:pPr>
            <a:r>
              <a:rPr lang="en-US" sz="1800" dirty="0">
                <a:solidFill>
                  <a:srgbClr val="002060"/>
                </a:solidFill>
                <a:ea typeface="宋体" panose="02010600030101010101" pitchFamily="2" charset="-122"/>
                <a:sym typeface="+mn-ea"/>
              </a:rPr>
              <a:t>     public static void main(String[] </a:t>
            </a:r>
            <a:r>
              <a:rPr lang="en-US" sz="1800" dirty="0" err="1">
                <a:solidFill>
                  <a:srgbClr val="002060"/>
                </a:solidFill>
                <a:ea typeface="宋体" panose="02010600030101010101" pitchFamily="2" charset="-122"/>
                <a:sym typeface="+mn-ea"/>
              </a:rPr>
              <a:t>args</a:t>
            </a:r>
            <a:r>
              <a:rPr lang="en-US" sz="1800" dirty="0">
                <a:solidFill>
                  <a:srgbClr val="002060"/>
                </a:solidFill>
                <a:ea typeface="宋体" panose="02010600030101010101" pitchFamily="2" charset="-122"/>
                <a:sym typeface="+mn-ea"/>
              </a:rPr>
              <a:t>) {</a:t>
            </a:r>
            <a:endParaRPr lang="en-US" sz="1800" dirty="0">
              <a:solidFill>
                <a:srgbClr val="002060"/>
              </a:solidFill>
              <a:ea typeface="宋体" panose="02010600030101010101" pitchFamily="2" charset="-122"/>
            </a:endParaRPr>
          </a:p>
          <a:p>
            <a:pPr marL="704850" lvl="1" indent="-361950">
              <a:lnSpc>
                <a:spcPct val="130000"/>
              </a:lnSpc>
              <a:buFont typeface="+mj-lt"/>
              <a:buAutoNum type="arabicPeriod"/>
            </a:pPr>
            <a:r>
              <a:rPr lang="en-US" sz="1800" dirty="0">
                <a:solidFill>
                  <a:srgbClr val="002060"/>
                </a:solidFill>
                <a:ea typeface="宋体" panose="02010600030101010101" pitchFamily="2" charset="-122"/>
                <a:sym typeface="+mn-ea"/>
              </a:rPr>
              <a:t>         </a:t>
            </a:r>
            <a:r>
              <a:rPr lang="en-US" sz="1800" b="1" dirty="0" err="1">
                <a:solidFill>
                  <a:srgbClr val="002060"/>
                </a:solidFill>
                <a:ea typeface="宋体" panose="02010600030101010101" pitchFamily="2" charset="-122"/>
                <a:sym typeface="+mn-ea"/>
              </a:rPr>
              <a:t>MyDate</a:t>
            </a:r>
            <a:r>
              <a:rPr lang="en-US" sz="1800" b="1" dirty="0">
                <a:solidFill>
                  <a:srgbClr val="002060"/>
                </a:solidFill>
                <a:ea typeface="宋体" panose="02010600030101010101" pitchFamily="2" charset="-122"/>
                <a:sym typeface="+mn-ea"/>
              </a:rPr>
              <a:t> ref = new </a:t>
            </a:r>
            <a:r>
              <a:rPr lang="en-US" sz="1800" b="1" dirty="0" err="1">
                <a:solidFill>
                  <a:srgbClr val="002060"/>
                </a:solidFill>
                <a:ea typeface="宋体" panose="02010600030101010101" pitchFamily="2" charset="-122"/>
                <a:sym typeface="+mn-ea"/>
              </a:rPr>
              <a:t>MyDate</a:t>
            </a:r>
            <a:r>
              <a:rPr lang="en-US" sz="1800" b="1" dirty="0">
                <a:solidFill>
                  <a:srgbClr val="002060"/>
                </a:solidFill>
                <a:ea typeface="宋体" panose="02010600030101010101" pitchFamily="2" charset="-122"/>
                <a:sym typeface="+mn-ea"/>
              </a:rPr>
              <a:t>(1,10, 2010);</a:t>
            </a:r>
            <a:endParaRPr lang="en-US" sz="1800" b="1" dirty="0">
              <a:solidFill>
                <a:srgbClr val="002060"/>
              </a:solidFill>
              <a:ea typeface="宋体" panose="02010600030101010101" pitchFamily="2" charset="-122"/>
            </a:endParaRPr>
          </a:p>
          <a:p>
            <a:pPr marL="704850" lvl="1" indent="-361950">
              <a:lnSpc>
                <a:spcPct val="130000"/>
              </a:lnSpc>
              <a:buFont typeface="+mj-lt"/>
              <a:buAutoNum type="arabicPeriod"/>
            </a:pPr>
            <a:r>
              <a:rPr lang="en-US" sz="1800" dirty="0">
                <a:solidFill>
                  <a:srgbClr val="002060"/>
                </a:solidFill>
                <a:ea typeface="宋体" panose="02010600030101010101" pitchFamily="2" charset="-122"/>
                <a:sym typeface="+mn-ea"/>
              </a:rPr>
              <a:t>     }</a:t>
            </a:r>
            <a:endParaRPr lang="en-US" sz="1800" dirty="0">
              <a:solidFill>
                <a:srgbClr val="002060"/>
              </a:solidFill>
              <a:ea typeface="宋体" panose="02010600030101010101" pitchFamily="2" charset="-122"/>
            </a:endParaRPr>
          </a:p>
          <a:p>
            <a:pPr marL="704850" lvl="1" indent="-361950">
              <a:lnSpc>
                <a:spcPct val="130000"/>
              </a:lnSpc>
              <a:buFont typeface="+mj-lt"/>
              <a:buAutoNum type="arabicPeriod"/>
            </a:pPr>
            <a:r>
              <a:rPr lang="en-US" sz="1800" dirty="0">
                <a:solidFill>
                  <a:srgbClr val="002060"/>
                </a:solidFill>
                <a:ea typeface="宋体" panose="02010600030101010101" pitchFamily="2" charset="-122"/>
                <a:sym typeface="+mn-ea"/>
              </a:rPr>
              <a:t> }</a:t>
            </a:r>
            <a:endParaRPr lang="zh-CN" altLang="en-US" sz="1800" dirty="0">
              <a:solidFill>
                <a:srgbClr val="002060"/>
              </a:solidFill>
              <a:ea typeface="宋体" panose="02010600030101010101" pitchFamily="2" charset="-122"/>
            </a:endParaRPr>
          </a:p>
          <a:p>
            <a:pPr marL="457200" indent="-457200" eaLnBrk="1" hangingPunct="1">
              <a:lnSpc>
                <a:spcPct val="130000"/>
              </a:lnSpc>
              <a:buClr>
                <a:srgbClr val="ED7D31"/>
              </a:buClr>
              <a:buFont typeface="+mj-lt"/>
              <a:buAutoNum type="arabicPeriod"/>
            </a:pPr>
            <a:r>
              <a:rPr lang="zh-CN" altLang="en-US" sz="2000" dirty="0">
                <a:ea typeface="宋体" panose="02010600030101010101" pitchFamily="2" charset="-122"/>
                <a:sym typeface="+mn-ea"/>
              </a:rPr>
              <a:t>执行第</a:t>
            </a:r>
            <a:r>
              <a:rPr lang="en-US" sz="2000" dirty="0">
                <a:ea typeface="宋体" panose="02010600030101010101" pitchFamily="2" charset="-122"/>
                <a:sym typeface="+mn-ea"/>
              </a:rPr>
              <a:t>3</a:t>
            </a:r>
            <a:r>
              <a:rPr lang="zh-CN" altLang="en-US" sz="2000" dirty="0">
                <a:ea typeface="宋体" panose="02010600030101010101" pitchFamily="2" charset="-122"/>
                <a:sym typeface="+mn-ea"/>
              </a:rPr>
              <a:t>行创建</a:t>
            </a:r>
            <a:r>
              <a:rPr lang="en-US" sz="2000" dirty="0" err="1">
                <a:ea typeface="宋体" panose="02010600030101010101" pitchFamily="2" charset="-122"/>
                <a:sym typeface="+mn-ea"/>
              </a:rPr>
              <a:t>MyDate</a:t>
            </a:r>
            <a:r>
              <a:rPr lang="zh-CN" altLang="en-US" sz="2000" dirty="0">
                <a:ea typeface="宋体" panose="02010600030101010101" pitchFamily="2" charset="-122"/>
                <a:sym typeface="+mn-ea"/>
              </a:rPr>
              <a:t>对象时，内部过程大致如下</a:t>
            </a:r>
            <a:endParaRPr lang="zh-CN" altLang="en-US" sz="2000" dirty="0">
              <a:ea typeface="宋体" panose="02010600030101010101" pitchFamily="2" charset="-122"/>
            </a:endParaRPr>
          </a:p>
          <a:p>
            <a:pPr marL="704850" lvl="1" indent="-361950">
              <a:lnSpc>
                <a:spcPct val="130000"/>
              </a:lnSpc>
              <a:buFont typeface="Times"/>
              <a:buNone/>
            </a:pPr>
            <a:r>
              <a:rPr lang="en-US" dirty="0">
                <a:solidFill>
                  <a:srgbClr val="002060"/>
                </a:solidFill>
                <a:ea typeface="宋体" panose="02010600030101010101" pitchFamily="2" charset="-122"/>
                <a:sym typeface="+mn-ea"/>
              </a:rPr>
              <a:t>1.	</a:t>
            </a:r>
            <a:r>
              <a:rPr lang="zh-CN" altLang="en-US" dirty="0">
                <a:solidFill>
                  <a:srgbClr val="002060"/>
                </a:solidFill>
                <a:ea typeface="宋体" panose="02010600030101010101" pitchFamily="2" charset="-122"/>
                <a:sym typeface="+mn-ea"/>
              </a:rPr>
              <a:t>为新对象分配空间并初始化为 </a:t>
            </a:r>
            <a:r>
              <a:rPr lang="en-US" dirty="0">
                <a:solidFill>
                  <a:srgbClr val="002060"/>
                </a:solidFill>
                <a:ea typeface="宋体" panose="02010600030101010101" pitchFamily="2" charset="-122"/>
                <a:sym typeface="+mn-ea"/>
              </a:rPr>
              <a:t>0 </a:t>
            </a:r>
            <a:r>
              <a:rPr lang="zh-CN" altLang="en-US" dirty="0">
                <a:solidFill>
                  <a:srgbClr val="002060"/>
                </a:solidFill>
                <a:ea typeface="宋体" panose="02010600030101010101" pitchFamily="2" charset="-122"/>
                <a:sym typeface="+mn-ea"/>
              </a:rPr>
              <a:t>或 </a:t>
            </a:r>
            <a:r>
              <a:rPr lang="en-US" dirty="0">
                <a:solidFill>
                  <a:srgbClr val="002060"/>
                </a:solidFill>
                <a:ea typeface="宋体" panose="02010600030101010101" pitchFamily="2" charset="-122"/>
                <a:sym typeface="+mn-ea"/>
              </a:rPr>
              <a:t>null</a:t>
            </a:r>
            <a:r>
              <a:rPr lang="zh-CN" altLang="en-US" dirty="0">
                <a:solidFill>
                  <a:srgbClr val="002060"/>
                </a:solidFill>
                <a:ea typeface="宋体" panose="02010600030101010101" pitchFamily="2" charset="-122"/>
                <a:sym typeface="+mn-ea"/>
              </a:rPr>
              <a:t>。</a:t>
            </a:r>
            <a:endParaRPr lang="zh-CN" altLang="en-US" dirty="0">
              <a:solidFill>
                <a:srgbClr val="002060"/>
              </a:solidFill>
              <a:ea typeface="宋体" panose="02010600030101010101" pitchFamily="2" charset="-122"/>
            </a:endParaRPr>
          </a:p>
          <a:p>
            <a:pPr marL="704850" lvl="1" indent="-361950">
              <a:lnSpc>
                <a:spcPct val="130000"/>
              </a:lnSpc>
              <a:buFont typeface="Times"/>
              <a:buNone/>
            </a:pPr>
            <a:r>
              <a:rPr lang="en-US" dirty="0">
                <a:solidFill>
                  <a:srgbClr val="002060"/>
                </a:solidFill>
                <a:ea typeface="宋体" panose="02010600030101010101" pitchFamily="2" charset="-122"/>
                <a:sym typeface="+mn-ea"/>
              </a:rPr>
              <a:t>2.	</a:t>
            </a:r>
            <a:r>
              <a:rPr lang="zh-CN" altLang="en-US" dirty="0">
                <a:solidFill>
                  <a:srgbClr val="002060"/>
                </a:solidFill>
                <a:ea typeface="宋体" panose="02010600030101010101" pitchFamily="2" charset="-122"/>
                <a:sym typeface="+mn-ea"/>
              </a:rPr>
              <a:t>执行显式的初始化。</a:t>
            </a:r>
            <a:endParaRPr lang="zh-CN" altLang="en-US" dirty="0">
              <a:solidFill>
                <a:srgbClr val="002060"/>
              </a:solidFill>
              <a:ea typeface="宋体" panose="02010600030101010101" pitchFamily="2" charset="-122"/>
            </a:endParaRPr>
          </a:p>
          <a:p>
            <a:pPr marL="704850" lvl="1" indent="-361950">
              <a:lnSpc>
                <a:spcPct val="130000"/>
              </a:lnSpc>
              <a:buFont typeface="Times"/>
              <a:buNone/>
            </a:pPr>
            <a:r>
              <a:rPr lang="en-US" dirty="0">
                <a:solidFill>
                  <a:srgbClr val="002060"/>
                </a:solidFill>
                <a:ea typeface="宋体" panose="02010600030101010101" pitchFamily="2" charset="-122"/>
                <a:sym typeface="+mn-ea"/>
              </a:rPr>
              <a:t>3.	</a:t>
            </a:r>
            <a:r>
              <a:rPr lang="zh-CN" altLang="en-US" dirty="0">
                <a:solidFill>
                  <a:srgbClr val="002060"/>
                </a:solidFill>
                <a:ea typeface="宋体" panose="02010600030101010101" pitchFamily="2" charset="-122"/>
                <a:sym typeface="+mn-ea"/>
              </a:rPr>
              <a:t>执行构造器。</a:t>
            </a:r>
            <a:r>
              <a:rPr lang="en-US" dirty="0">
                <a:solidFill>
                  <a:srgbClr val="002060"/>
                </a:solidFill>
                <a:ea typeface="宋体" panose="02010600030101010101" pitchFamily="2" charset="-122"/>
                <a:sym typeface="+mn-ea"/>
              </a:rPr>
              <a:t>new</a:t>
            </a:r>
            <a:r>
              <a:rPr lang="zh-CN" altLang="en-US" dirty="0">
                <a:solidFill>
                  <a:srgbClr val="002060"/>
                </a:solidFill>
                <a:ea typeface="宋体" panose="02010600030101010101" pitchFamily="2" charset="-122"/>
                <a:sym typeface="+mn-ea"/>
              </a:rPr>
              <a:t>方法的括号中的参数传递给构造器 </a:t>
            </a:r>
            <a:r>
              <a:rPr lang="en-US" dirty="0">
                <a:solidFill>
                  <a:srgbClr val="002060"/>
                </a:solidFill>
                <a:ea typeface="宋体" panose="02010600030101010101" pitchFamily="2" charset="-122"/>
                <a:sym typeface="+mn-ea"/>
              </a:rPr>
              <a:t>(1, 10, 2010)</a:t>
            </a:r>
            <a:r>
              <a:rPr lang="zh-CN" altLang="en-US" dirty="0">
                <a:solidFill>
                  <a:srgbClr val="002060"/>
                </a:solidFill>
                <a:ea typeface="宋体" panose="02010600030101010101" pitchFamily="2" charset="-122"/>
                <a:sym typeface="+mn-ea"/>
              </a:rPr>
              <a:t>。</a:t>
            </a:r>
            <a:endParaRPr lang="zh-CN" altLang="en-US" dirty="0">
              <a:solidFill>
                <a:srgbClr val="002060"/>
              </a:solidFill>
              <a:ea typeface="宋体" panose="02010600030101010101" pitchFamily="2" charset="-122"/>
            </a:endParaRPr>
          </a:p>
          <a:p>
            <a:pPr marL="704850" lvl="1" indent="-361950">
              <a:lnSpc>
                <a:spcPct val="130000"/>
              </a:lnSpc>
              <a:buFont typeface="Times"/>
              <a:buNone/>
            </a:pPr>
            <a:r>
              <a:rPr lang="en-US" dirty="0">
                <a:solidFill>
                  <a:srgbClr val="002060"/>
                </a:solidFill>
                <a:ea typeface="宋体" panose="02010600030101010101" pitchFamily="2" charset="-122"/>
                <a:sym typeface="+mn-ea"/>
              </a:rPr>
              <a:t>4.	</a:t>
            </a:r>
            <a:r>
              <a:rPr lang="zh-CN" altLang="en-US" dirty="0">
                <a:solidFill>
                  <a:srgbClr val="002060"/>
                </a:solidFill>
                <a:ea typeface="宋体" panose="02010600030101010101" pitchFamily="2" charset="-122"/>
                <a:sym typeface="+mn-ea"/>
              </a:rPr>
              <a:t>将</a:t>
            </a:r>
            <a:r>
              <a:rPr lang="en-US" dirty="0">
                <a:solidFill>
                  <a:srgbClr val="002060"/>
                </a:solidFill>
                <a:ea typeface="宋体" panose="02010600030101010101" pitchFamily="2" charset="-122"/>
                <a:sym typeface="+mn-ea"/>
              </a:rPr>
              <a:t>ref</a:t>
            </a:r>
            <a:r>
              <a:rPr lang="zh-CN" altLang="en-US" dirty="0">
                <a:solidFill>
                  <a:srgbClr val="002060"/>
                </a:solidFill>
                <a:ea typeface="宋体" panose="02010600030101010101" pitchFamily="2" charset="-122"/>
                <a:sym typeface="+mn-ea"/>
              </a:rPr>
              <a:t>变量赋值为对堆内存中新对象的引用。</a:t>
            </a:r>
            <a:endParaRPr lang="zh-CN" altLang="en-US" dirty="0">
              <a:solidFill>
                <a:srgbClr val="002060"/>
              </a:solidFill>
              <a:ea typeface="宋体" panose="02010600030101010101" pitchFamily="2" charset="-122"/>
            </a:endParaRPr>
          </a:p>
          <a:p>
            <a:pPr marL="0" indent="0" eaLnBrk="1" hangingPunct="1">
              <a:lnSpc>
                <a:spcPct val="13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202438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在堆中为对象分配内存</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1142365"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223237" name="Picture 2" descr="D:\My Documents\My Projects\远程课程\Java编程语言基础\5-5-2.png"/>
          <p:cNvPicPr>
            <a:picLocks noChangeAspect="1" noChangeArrowheads="1"/>
          </p:cNvPicPr>
          <p:nvPr/>
        </p:nvPicPr>
        <p:blipFill>
          <a:blip r:embed="rId5"/>
          <a:srcRect/>
          <a:stretch>
            <a:fillRect/>
          </a:stretch>
        </p:blipFill>
        <p:spPr bwMode="auto">
          <a:xfrm>
            <a:off x="1065874" y="1022687"/>
            <a:ext cx="7747000" cy="4687888"/>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2019935" y="25908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执行属性的显式初始化</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1337945"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224261" name="Picture 3" descr="D:\My Documents\My Projects\远程课程\Java编程语言基础\5-5-3.png"/>
          <p:cNvPicPr>
            <a:picLocks noChangeAspect="1" noChangeArrowheads="1"/>
          </p:cNvPicPr>
          <p:nvPr/>
        </p:nvPicPr>
        <p:blipFill>
          <a:blip r:embed="rId5"/>
          <a:srcRect/>
          <a:stretch>
            <a:fillRect/>
          </a:stretch>
        </p:blipFill>
        <p:spPr bwMode="auto">
          <a:xfrm>
            <a:off x="906117" y="1235412"/>
            <a:ext cx="7742238" cy="46863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993265"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执行构造器</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138557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225285" name="Picture 2" descr="D:\My Documents\My Projects\远程课程\Java编程语言基础\5-5-4.png"/>
          <p:cNvPicPr>
            <a:picLocks noChangeAspect="1" noChangeArrowheads="1"/>
          </p:cNvPicPr>
          <p:nvPr/>
        </p:nvPicPr>
        <p:blipFill>
          <a:blip r:embed="rId5"/>
          <a:srcRect/>
          <a:stretch>
            <a:fillRect/>
          </a:stretch>
        </p:blipFill>
        <p:spPr bwMode="auto">
          <a:xfrm>
            <a:off x="816582" y="1085552"/>
            <a:ext cx="7742238" cy="46863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20027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由 </a:t>
            </a:r>
            <a:r>
              <a:rPr lang="en-US" sz="2400">
                <a:ea typeface="宋体" panose="02010600030101010101" pitchFamily="2" charset="-122"/>
                <a:sym typeface="+mn-ea"/>
              </a:rPr>
              <a:t>new </a:t>
            </a:r>
            <a:r>
              <a:rPr lang="zh-CN" altLang="en-US" sz="2400">
                <a:ea typeface="宋体" panose="02010600030101010101" pitchFamily="2" charset="-122"/>
                <a:sym typeface="+mn-ea"/>
              </a:rPr>
              <a:t>运算符返回对象引用值</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1264285"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226309" name="Picture 2" descr="D:\My Documents\My Projects\远程课程\Java编程语言基础\5-5-5.png"/>
          <p:cNvPicPr>
            <a:picLocks noChangeAspect="1" noChangeArrowheads="1"/>
          </p:cNvPicPr>
          <p:nvPr/>
        </p:nvPicPr>
        <p:blipFill>
          <a:blip r:embed="rId5"/>
          <a:srcRect/>
          <a:stretch>
            <a:fillRect/>
          </a:stretch>
        </p:blipFill>
        <p:spPr bwMode="auto">
          <a:xfrm>
            <a:off x="816582" y="1085552"/>
            <a:ext cx="7742238" cy="46863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20027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将对象引用值赋给引用变量</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1264285"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227333" name="Picture 2" descr="D:\My Documents\My Projects\远程课程\Java编程语言基础\5-5-6.png"/>
          <p:cNvPicPr>
            <a:picLocks noChangeAspect="1" noChangeArrowheads="1"/>
          </p:cNvPicPr>
          <p:nvPr/>
        </p:nvPicPr>
        <p:blipFill>
          <a:blip r:embed="rId5"/>
          <a:srcRect/>
          <a:stretch>
            <a:fillRect/>
          </a:stretch>
        </p:blipFill>
        <p:spPr bwMode="auto">
          <a:xfrm>
            <a:off x="898551" y="1085869"/>
            <a:ext cx="7742238" cy="46863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综合练习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lnSpcReduction="10000"/>
          </a:bodyPr>
          <a:p>
            <a:pPr marL="457200" indent="-457200" eaLnBrk="1" hangingPunct="1">
              <a:lnSpc>
                <a:spcPct val="150000"/>
              </a:lnSpc>
              <a:buClr>
                <a:srgbClr val="ED7D31"/>
              </a:buClr>
              <a:buFont typeface="+mj-lt"/>
              <a:buAutoNum type="arabicPeriod"/>
            </a:pPr>
            <a:r>
              <a:rPr lang="zh-CN" altLang="en-US" sz="2000" dirty="0">
                <a:ea typeface="宋体" panose="02010600030101010101" pitchFamily="2" charset="-122"/>
                <a:sym typeface="+mn-ea"/>
              </a:rPr>
              <a:t>编写一个</a:t>
            </a:r>
            <a:r>
              <a:rPr lang="en-US" sz="2000" dirty="0">
                <a:ea typeface="宋体" panose="02010600030101010101" pitchFamily="2" charset="-122"/>
                <a:sym typeface="+mn-ea"/>
              </a:rPr>
              <a:t>Computer</a:t>
            </a:r>
            <a:r>
              <a:rPr lang="zh-CN" altLang="en-US" sz="2000" dirty="0">
                <a:ea typeface="宋体" panose="02010600030101010101" pitchFamily="2" charset="-122"/>
                <a:sym typeface="+mn-ea"/>
              </a:rPr>
              <a:t>类，包括：</a:t>
            </a:r>
            <a:endParaRPr lang="zh-CN" altLang="en-US" sz="2000" dirty="0">
              <a:ea typeface="宋体" panose="02010600030101010101" pitchFamily="2" charset="-122"/>
            </a:endParaRPr>
          </a:p>
          <a:p>
            <a:pPr marL="800100" lvl="1" indent="-457200" eaLnBrk="1" hangingPunct="1">
              <a:buClr>
                <a:srgbClr val="ED7D31"/>
              </a:buClr>
              <a:buFont typeface="+mj-ea"/>
              <a:buAutoNum type="circleNumDbPlain"/>
            </a:pPr>
            <a:r>
              <a:rPr lang="zh-CN" altLang="en-US" sz="1800" dirty="0">
                <a:ea typeface="宋体" panose="02010600030101010101" pitchFamily="2" charset="-122"/>
                <a:sym typeface="+mn-ea"/>
              </a:rPr>
              <a:t>属性</a:t>
            </a:r>
            <a:r>
              <a:rPr lang="en-US" sz="1800" dirty="0" err="1">
                <a:ea typeface="宋体" panose="02010600030101010101" pitchFamily="2" charset="-122"/>
                <a:sym typeface="+mn-ea"/>
              </a:rPr>
              <a:t>cpu</a:t>
            </a:r>
            <a:r>
              <a:rPr lang="zh-CN" altLang="en-US" sz="1800" dirty="0">
                <a:ea typeface="宋体" panose="02010600030101010101" pitchFamily="2" charset="-122"/>
                <a:sym typeface="+mn-ea"/>
              </a:rPr>
              <a:t>、内存（</a:t>
            </a:r>
            <a:r>
              <a:rPr lang="en-US" sz="1800" dirty="0">
                <a:ea typeface="宋体" panose="02010600030101010101" pitchFamily="2" charset="-122"/>
                <a:sym typeface="+mn-ea"/>
              </a:rPr>
              <a:t>memory</a:t>
            </a:r>
            <a:r>
              <a:rPr lang="zh-CN" altLang="en-US" sz="1800" dirty="0">
                <a:ea typeface="宋体" panose="02010600030101010101" pitchFamily="2" charset="-122"/>
                <a:sym typeface="+mn-ea"/>
              </a:rPr>
              <a:t>）和硬盘（</a:t>
            </a:r>
            <a:r>
              <a:rPr lang="en-US" sz="1800" dirty="0" err="1">
                <a:ea typeface="宋体" panose="02010600030101010101" pitchFamily="2" charset="-122"/>
                <a:sym typeface="+mn-ea"/>
              </a:rPr>
              <a:t>hardDisk</a:t>
            </a:r>
            <a:r>
              <a:rPr lang="zh-CN" altLang="en-US" sz="1800" dirty="0">
                <a:ea typeface="宋体" panose="02010600030101010101" pitchFamily="2" charset="-122"/>
                <a:sym typeface="+mn-ea"/>
              </a:rPr>
              <a:t>）</a:t>
            </a:r>
            <a:endParaRPr lang="zh-CN" altLang="en-US" sz="1800" dirty="0">
              <a:ea typeface="宋体" panose="02010600030101010101" pitchFamily="2" charset="-122"/>
            </a:endParaRPr>
          </a:p>
          <a:p>
            <a:pPr marL="800100" lvl="1" indent="-457200" eaLnBrk="1" hangingPunct="1">
              <a:buClr>
                <a:srgbClr val="ED7D31"/>
              </a:buClr>
              <a:buFont typeface="+mj-ea"/>
              <a:buAutoNum type="circleNumDbPlain"/>
            </a:pPr>
            <a:r>
              <a:rPr lang="zh-CN" altLang="en-US" sz="1800" dirty="0">
                <a:ea typeface="宋体" panose="02010600030101010101" pitchFamily="2" charset="-122"/>
                <a:sym typeface="+mn-ea"/>
              </a:rPr>
              <a:t>带参数的构造器用来初始化相关属性</a:t>
            </a:r>
            <a:endParaRPr lang="zh-CN" altLang="en-US" sz="1800" dirty="0">
              <a:ea typeface="宋体" panose="02010600030101010101" pitchFamily="2" charset="-122"/>
            </a:endParaRPr>
          </a:p>
          <a:p>
            <a:pPr marL="800100" lvl="1" indent="-457200" eaLnBrk="1" hangingPunct="1">
              <a:buClr>
                <a:srgbClr val="ED7D31"/>
              </a:buClr>
              <a:buFont typeface="+mj-ea"/>
              <a:buAutoNum type="circleNumDbPlain"/>
            </a:pPr>
            <a:r>
              <a:rPr lang="zh-CN" altLang="en-US" sz="1800" dirty="0">
                <a:ea typeface="宋体" panose="02010600030101010101" pitchFamily="2" charset="-122"/>
                <a:sym typeface="+mn-ea"/>
              </a:rPr>
              <a:t>为各属性提供对应的</a:t>
            </a:r>
            <a:r>
              <a:rPr lang="en-US" sz="1800" dirty="0">
                <a:ea typeface="宋体" panose="02010600030101010101" pitchFamily="2" charset="-122"/>
                <a:sym typeface="+mn-ea"/>
              </a:rPr>
              <a:t>get/set</a:t>
            </a:r>
            <a:r>
              <a:rPr lang="zh-CN" altLang="en-US" sz="1800" dirty="0">
                <a:ea typeface="宋体" panose="02010600030101010101" pitchFamily="2" charset="-122"/>
                <a:sym typeface="+mn-ea"/>
              </a:rPr>
              <a:t>方法</a:t>
            </a:r>
            <a:endParaRPr lang="zh-CN" altLang="en-US" sz="1800" dirty="0">
              <a:ea typeface="宋体" panose="02010600030101010101" pitchFamily="2" charset="-122"/>
            </a:endParaRPr>
          </a:p>
          <a:p>
            <a:pPr marL="800100" lvl="1" indent="-457200" eaLnBrk="1" hangingPunct="1">
              <a:buClr>
                <a:srgbClr val="ED7D31"/>
              </a:buClr>
              <a:buFont typeface="+mj-ea"/>
              <a:buAutoNum type="circleNumDbPlain"/>
            </a:pPr>
            <a:r>
              <a:rPr lang="zh-CN" altLang="en-US" sz="1800" dirty="0">
                <a:ea typeface="宋体" panose="02010600030101010101" pitchFamily="2" charset="-122"/>
                <a:sym typeface="+mn-ea"/>
              </a:rPr>
              <a:t>提供</a:t>
            </a:r>
            <a:r>
              <a:rPr lang="en-US" sz="1800" dirty="0" err="1">
                <a:ea typeface="宋体" panose="02010600030101010101" pitchFamily="2" charset="-122"/>
                <a:sym typeface="+mn-ea"/>
              </a:rPr>
              <a:t>getDetails</a:t>
            </a:r>
            <a:r>
              <a:rPr lang="zh-CN" altLang="en-US" sz="1800" dirty="0">
                <a:ea typeface="宋体" panose="02010600030101010101" pitchFamily="2" charset="-122"/>
                <a:sym typeface="+mn-ea"/>
              </a:rPr>
              <a:t>方法，用来返回自我描述的字符串</a:t>
            </a:r>
            <a:endParaRPr lang="zh-CN" altLang="en-US" sz="1800" dirty="0">
              <a:ea typeface="宋体" panose="02010600030101010101" pitchFamily="2" charset="-122"/>
            </a:endParaRPr>
          </a:p>
          <a:p>
            <a:pPr marL="457200" indent="-457200" algn="l" eaLnBrk="1" hangingPunct="1">
              <a:lnSpc>
                <a:spcPct val="150000"/>
              </a:lnSpc>
              <a:buClr>
                <a:srgbClr val="ED7D31"/>
              </a:buClr>
              <a:buSzTx/>
              <a:buFont typeface="+mj-lt"/>
              <a:buAutoNum type="arabicPeriod" startAt="2"/>
            </a:pPr>
            <a:r>
              <a:rPr lang="zh-CN" altLang="en-US" sz="2000" dirty="0">
                <a:ea typeface="宋体" panose="02010600030101010101" pitchFamily="2" charset="-122"/>
                <a:sym typeface="+mn-ea"/>
              </a:rPr>
              <a:t>编写Test类，在main 方法中分别创建两个Computer对象，并分别调用对象上的getDetails方法输出自我描述。</a:t>
            </a:r>
            <a:endParaRPr lang="zh-CN" altLang="en-US" sz="2000" dirty="0">
              <a:ea typeface="宋体" panose="02010600030101010101" pitchFamily="2" charset="-122"/>
            </a:endParaRPr>
          </a:p>
          <a:p>
            <a:pPr marL="457200" indent="-457200" eaLnBrk="1" hangingPunct="1">
              <a:lnSpc>
                <a:spcPct val="150000"/>
              </a:lnSpc>
              <a:buClr>
                <a:srgbClr val="ED7D31"/>
              </a:buClr>
              <a:buFont typeface="+mj-lt"/>
              <a:buAutoNum type="arabicPeriod" startAt="2"/>
            </a:pPr>
            <a:endParaRPr lang="zh-CN" altLang="en-US" sz="2000" dirty="0">
              <a:ea typeface="宋体" panose="02010600030101010101" pitchFamily="2" charset="-122"/>
            </a:endParaRPr>
          </a:p>
          <a:p>
            <a:pPr marL="457200" indent="-457200" eaLnBrk="1" hangingPunct="1">
              <a:lnSpc>
                <a:spcPct val="150000"/>
              </a:lnSpc>
              <a:buClr>
                <a:srgbClr val="ED7D31"/>
              </a:buClr>
              <a:buFont typeface="+mj-lt"/>
              <a:buAutoNum type="arabicPeriod" startAt="2"/>
            </a:pPr>
            <a:endParaRPr lang="zh-CN" altLang="en-US" sz="2000" dirty="0">
              <a:ea typeface="宋体" panose="02010600030101010101" pitchFamily="2" charset="-122"/>
            </a:endParaRPr>
          </a:p>
          <a:p>
            <a:pPr marL="704850" lvl="1" indent="-361950" eaLnBrk="1" hangingPunct="1">
              <a:lnSpc>
                <a:spcPct val="150000"/>
              </a:lnSpc>
              <a:buFont typeface="Times"/>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参考答案 </a:t>
            </a:r>
            <a:r>
              <a:rPr lang="en-US" sz="2400">
                <a:ea typeface="宋体" panose="02010600030101010101" pitchFamily="2" charset="-122"/>
                <a:sym typeface="+mn-ea"/>
              </a:rPr>
              <a:t>— Computer</a:t>
            </a:r>
            <a:r>
              <a:rPr lang="zh-CN" altLang="en-US" sz="2400">
                <a:ea typeface="宋体" panose="02010600030101010101" pitchFamily="2" charset="-122"/>
                <a:sym typeface="+mn-ea"/>
              </a:rPr>
              <a:t>类</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53955" name="内容占位符 2"/>
          <p:cNvSpPr>
            <a:spLocks noGrp="1"/>
          </p:cNvSpPr>
          <p:nvPr>
            <p:ph idx="4294967295"/>
          </p:nvPr>
        </p:nvSpPr>
        <p:spPr>
          <a:xfrm>
            <a:off x="1008672" y="970620"/>
            <a:ext cx="7537450" cy="5113337"/>
          </a:xfrm>
        </p:spPr>
        <p:txBody>
          <a:bodyPr>
            <a:normAutofit lnSpcReduction="10000"/>
          </a:bodyPr>
          <a:p>
            <a:pPr marL="361950" indent="-361950" eaLnBrk="1" hangingPunct="1">
              <a:spcBef>
                <a:spcPct val="0"/>
              </a:spcBef>
              <a:buFont typeface="Times"/>
              <a:buNone/>
            </a:pPr>
            <a:r>
              <a:rPr lang="en-US" sz="1700" dirty="0">
                <a:ea typeface="宋体" panose="02010600030101010101" pitchFamily="2" charset="-122"/>
              </a:rPr>
              <a:t>1  public class Computer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2      private float </a:t>
            </a:r>
            <a:r>
              <a:rPr lang="en-US" sz="1700" dirty="0" err="1">
                <a:ea typeface="宋体" panose="02010600030101010101" pitchFamily="2" charset="-122"/>
              </a:rPr>
              <a:t>cpu</a:t>
            </a:r>
            <a:r>
              <a:rPr lang="en-US" sz="1700" dirty="0">
                <a:ea typeface="宋体" panose="02010600030101010101" pitchFamily="2" charset="-122"/>
              </a:rPr>
              <a:t>;</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3      private </a:t>
            </a:r>
            <a:r>
              <a:rPr lang="en-US" sz="1700" dirty="0" err="1">
                <a:ea typeface="宋体" panose="02010600030101010101" pitchFamily="2" charset="-122"/>
              </a:rPr>
              <a:t>int</a:t>
            </a:r>
            <a:r>
              <a:rPr lang="en-US" sz="1700" dirty="0">
                <a:ea typeface="宋体" panose="02010600030101010101" pitchFamily="2" charset="-122"/>
              </a:rPr>
              <a:t> memory;</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4      private </a:t>
            </a:r>
            <a:r>
              <a:rPr lang="en-US" sz="1700" dirty="0" err="1">
                <a:ea typeface="宋体" panose="02010600030101010101" pitchFamily="2" charset="-122"/>
              </a:rPr>
              <a:t>int</a:t>
            </a:r>
            <a:r>
              <a:rPr lang="en-US" sz="1700" dirty="0">
                <a:ea typeface="宋体" panose="02010600030101010101" pitchFamily="2" charset="-122"/>
              </a:rPr>
              <a:t> </a:t>
            </a:r>
            <a:r>
              <a:rPr lang="en-US" sz="1700" dirty="0" err="1">
                <a:ea typeface="宋体" panose="02010600030101010101" pitchFamily="2" charset="-122"/>
              </a:rPr>
              <a:t>hardDisk</a:t>
            </a:r>
            <a:r>
              <a:rPr lang="en-US" sz="1700" dirty="0">
                <a:ea typeface="宋体" panose="02010600030101010101" pitchFamily="2" charset="-122"/>
              </a:rPr>
              <a:t>;</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5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6      public Computer(float </a:t>
            </a:r>
            <a:r>
              <a:rPr lang="en-US" sz="1700" dirty="0" err="1">
                <a:ea typeface="宋体" panose="02010600030101010101" pitchFamily="2" charset="-122"/>
              </a:rPr>
              <a:t>cpu</a:t>
            </a:r>
            <a:r>
              <a:rPr lang="en-US" sz="1700" dirty="0">
                <a:ea typeface="宋体" panose="02010600030101010101" pitchFamily="2" charset="-122"/>
              </a:rPr>
              <a:t>, </a:t>
            </a:r>
            <a:r>
              <a:rPr lang="en-US" sz="1700" dirty="0" err="1">
                <a:ea typeface="宋体" panose="02010600030101010101" pitchFamily="2" charset="-122"/>
              </a:rPr>
              <a:t>int</a:t>
            </a:r>
            <a:r>
              <a:rPr lang="en-US" sz="1700" dirty="0">
                <a:ea typeface="宋体" panose="02010600030101010101" pitchFamily="2" charset="-122"/>
              </a:rPr>
              <a:t> memory, </a:t>
            </a:r>
            <a:r>
              <a:rPr lang="en-US" sz="1700" dirty="0" err="1">
                <a:ea typeface="宋体" panose="02010600030101010101" pitchFamily="2" charset="-122"/>
              </a:rPr>
              <a:t>int</a:t>
            </a:r>
            <a:r>
              <a:rPr lang="en-US" sz="1700" dirty="0">
                <a:ea typeface="宋体" panose="02010600030101010101" pitchFamily="2" charset="-122"/>
              </a:rPr>
              <a:t> </a:t>
            </a:r>
            <a:r>
              <a:rPr lang="en-US" sz="1700" dirty="0" err="1">
                <a:ea typeface="宋体" panose="02010600030101010101" pitchFamily="2" charset="-122"/>
              </a:rPr>
              <a:t>hardDisk</a:t>
            </a:r>
            <a:r>
              <a:rPr lang="en-US" sz="1700" dirty="0">
                <a:ea typeface="宋体" panose="02010600030101010101" pitchFamily="2" charset="-122"/>
              </a:rPr>
              <a:t>)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7          this.cpu = </a:t>
            </a:r>
            <a:r>
              <a:rPr lang="en-US" sz="1700" dirty="0" err="1">
                <a:ea typeface="宋体" panose="02010600030101010101" pitchFamily="2" charset="-122"/>
              </a:rPr>
              <a:t>cpu</a:t>
            </a:r>
            <a:r>
              <a:rPr lang="en-US" sz="1700" dirty="0">
                <a:ea typeface="宋体" panose="02010600030101010101" pitchFamily="2" charset="-122"/>
              </a:rPr>
              <a:t>;</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8          </a:t>
            </a:r>
            <a:r>
              <a:rPr lang="en-US" sz="1700" dirty="0" err="1">
                <a:ea typeface="宋体" panose="02010600030101010101" pitchFamily="2" charset="-122"/>
              </a:rPr>
              <a:t>this.memory</a:t>
            </a:r>
            <a:r>
              <a:rPr lang="en-US" sz="1700" dirty="0">
                <a:ea typeface="宋体" panose="02010600030101010101" pitchFamily="2" charset="-122"/>
              </a:rPr>
              <a:t> = memory;</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9          </a:t>
            </a:r>
            <a:r>
              <a:rPr lang="en-US" sz="1700" dirty="0" err="1">
                <a:ea typeface="宋体" panose="02010600030101010101" pitchFamily="2" charset="-122"/>
              </a:rPr>
              <a:t>this.hardDisk</a:t>
            </a:r>
            <a:r>
              <a:rPr lang="en-US" sz="1700" dirty="0">
                <a:ea typeface="宋体" panose="02010600030101010101" pitchFamily="2" charset="-122"/>
              </a:rPr>
              <a:t> = </a:t>
            </a:r>
            <a:r>
              <a:rPr lang="en-US" sz="1700" dirty="0" err="1">
                <a:ea typeface="宋体" panose="02010600030101010101" pitchFamily="2" charset="-122"/>
              </a:rPr>
              <a:t>hardDisk</a:t>
            </a:r>
            <a:r>
              <a:rPr lang="en-US" sz="1700" dirty="0">
                <a:ea typeface="宋体" panose="02010600030101010101" pitchFamily="2" charset="-122"/>
              </a:rPr>
              <a:t>;</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10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11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12     public </a:t>
            </a:r>
            <a:r>
              <a:rPr lang="en-US" sz="1700" dirty="0" err="1">
                <a:ea typeface="宋体" panose="02010600030101010101" pitchFamily="2" charset="-122"/>
              </a:rPr>
              <a:t>int</a:t>
            </a:r>
            <a:r>
              <a:rPr lang="en-US" sz="1700" dirty="0">
                <a:ea typeface="宋体" panose="02010600030101010101" pitchFamily="2" charset="-122"/>
              </a:rPr>
              <a:t> </a:t>
            </a:r>
            <a:r>
              <a:rPr lang="en-US" sz="1700" dirty="0" err="1">
                <a:ea typeface="宋体" panose="02010600030101010101" pitchFamily="2" charset="-122"/>
              </a:rPr>
              <a:t>getMemory</a:t>
            </a:r>
            <a:r>
              <a:rPr lang="en-US" sz="1700" dirty="0">
                <a:ea typeface="宋体" panose="02010600030101010101" pitchFamily="2" charset="-122"/>
              </a:rPr>
              <a:t>()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13         return memory;</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14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15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16     public void </a:t>
            </a:r>
            <a:r>
              <a:rPr lang="en-US" sz="1700" dirty="0" err="1">
                <a:ea typeface="宋体" panose="02010600030101010101" pitchFamily="2" charset="-122"/>
              </a:rPr>
              <a:t>setMemory</a:t>
            </a:r>
            <a:r>
              <a:rPr lang="en-US" sz="1700" dirty="0">
                <a:ea typeface="宋体" panose="02010600030101010101" pitchFamily="2" charset="-122"/>
              </a:rPr>
              <a:t>(</a:t>
            </a:r>
            <a:r>
              <a:rPr lang="en-US" sz="1700" dirty="0" err="1">
                <a:ea typeface="宋体" panose="02010600030101010101" pitchFamily="2" charset="-122"/>
              </a:rPr>
              <a:t>int</a:t>
            </a:r>
            <a:r>
              <a:rPr lang="en-US" sz="1700" dirty="0">
                <a:ea typeface="宋体" panose="02010600030101010101" pitchFamily="2" charset="-122"/>
              </a:rPr>
              <a:t> memory)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17         </a:t>
            </a:r>
            <a:r>
              <a:rPr lang="en-US" sz="1700" dirty="0" err="1">
                <a:ea typeface="宋体" panose="02010600030101010101" pitchFamily="2" charset="-122"/>
              </a:rPr>
              <a:t>this.memory</a:t>
            </a:r>
            <a:r>
              <a:rPr lang="en-US" sz="1700" dirty="0">
                <a:ea typeface="宋体" panose="02010600030101010101" pitchFamily="2" charset="-122"/>
              </a:rPr>
              <a:t> = memory;</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18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rPr>
              <a:t>19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sym typeface="+mn-ea"/>
              </a:rPr>
              <a:t>20     public String </a:t>
            </a:r>
            <a:r>
              <a:rPr lang="en-US" sz="1700" dirty="0" err="1">
                <a:ea typeface="宋体" panose="02010600030101010101" pitchFamily="2" charset="-122"/>
                <a:sym typeface="+mn-ea"/>
              </a:rPr>
              <a:t>getDetails</a:t>
            </a:r>
            <a:r>
              <a:rPr lang="en-US" sz="1700" dirty="0">
                <a:ea typeface="宋体" panose="02010600030101010101" pitchFamily="2" charset="-122"/>
                <a:sym typeface="+mn-ea"/>
              </a:rPr>
              <a:t>()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sym typeface="+mn-ea"/>
              </a:rPr>
              <a:t>21         return "CPU = " + </a:t>
            </a:r>
            <a:r>
              <a:rPr lang="en-US" sz="1700" dirty="0" err="1">
                <a:ea typeface="宋体" panose="02010600030101010101" pitchFamily="2" charset="-122"/>
                <a:sym typeface="+mn-ea"/>
              </a:rPr>
              <a:t>cpu</a:t>
            </a:r>
            <a:r>
              <a:rPr lang="en-US" sz="1700" dirty="0">
                <a:ea typeface="宋体" panose="02010600030101010101" pitchFamily="2" charset="-122"/>
                <a:sym typeface="+mn-ea"/>
              </a:rPr>
              <a:t> + "MHz\n"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sym typeface="+mn-ea"/>
              </a:rPr>
              <a:t>22                "</a:t>
            </a:r>
            <a:r>
              <a:rPr lang="zh-CN" altLang="en-US" sz="1700" dirty="0">
                <a:ea typeface="宋体" panose="02010600030101010101" pitchFamily="2" charset="-122"/>
                <a:sym typeface="+mn-ea"/>
              </a:rPr>
              <a:t>内存 </a:t>
            </a:r>
            <a:r>
              <a:rPr lang="en-US" sz="1700" dirty="0">
                <a:ea typeface="宋体" panose="02010600030101010101" pitchFamily="2" charset="-122"/>
                <a:sym typeface="+mn-ea"/>
              </a:rPr>
              <a:t>= " + memory + "G\n" +  "</a:t>
            </a:r>
            <a:r>
              <a:rPr lang="zh-CN" altLang="en-US" sz="1700" dirty="0">
                <a:ea typeface="宋体" panose="02010600030101010101" pitchFamily="2" charset="-122"/>
                <a:sym typeface="+mn-ea"/>
              </a:rPr>
              <a:t>硬盘 </a:t>
            </a:r>
            <a:r>
              <a:rPr lang="en-US" sz="1700" dirty="0">
                <a:ea typeface="宋体" panose="02010600030101010101" pitchFamily="2" charset="-122"/>
                <a:sym typeface="+mn-ea"/>
              </a:rPr>
              <a:t>= " + </a:t>
            </a:r>
            <a:r>
              <a:rPr lang="en-US" sz="1700" dirty="0" err="1">
                <a:ea typeface="宋体" panose="02010600030101010101" pitchFamily="2" charset="-122"/>
                <a:sym typeface="+mn-ea"/>
              </a:rPr>
              <a:t>hardDisk</a:t>
            </a:r>
            <a:r>
              <a:rPr lang="en-US" sz="1700" dirty="0">
                <a:ea typeface="宋体" panose="02010600030101010101" pitchFamily="2" charset="-122"/>
                <a:sym typeface="+mn-ea"/>
              </a:rPr>
              <a:t> + "G";</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sym typeface="+mn-ea"/>
              </a:rPr>
              <a:t>23     }</a:t>
            </a:r>
            <a:endParaRPr lang="en-US" sz="1700" dirty="0">
              <a:ea typeface="宋体" panose="02010600030101010101" pitchFamily="2" charset="-122"/>
            </a:endParaRPr>
          </a:p>
          <a:p>
            <a:pPr marL="361950" indent="-361950" eaLnBrk="1" hangingPunct="1">
              <a:spcBef>
                <a:spcPct val="0"/>
              </a:spcBef>
              <a:buFont typeface="Times"/>
              <a:buNone/>
            </a:pPr>
            <a:r>
              <a:rPr lang="en-US" sz="1700" dirty="0">
                <a:ea typeface="宋体" panose="02010600030101010101" pitchFamily="2" charset="-122"/>
                <a:sym typeface="+mn-ea"/>
              </a:rPr>
              <a:t>24 }</a:t>
            </a:r>
            <a:endParaRPr lang="en-US" sz="1700" dirty="0">
              <a:ea typeface="宋体" panose="02010600030101010101" pitchFamily="2" charset="-122"/>
            </a:endParaRPr>
          </a:p>
          <a:p>
            <a:pPr marL="361950" indent="-361950" eaLnBrk="1" hangingPunct="1">
              <a:spcBef>
                <a:spcPct val="0"/>
              </a:spcBef>
              <a:buFont typeface="Times"/>
              <a:buNone/>
            </a:pPr>
            <a:endParaRPr lang="en-US" sz="1700"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a:ea typeface="宋体" panose="02010600030101010101" pitchFamily="2" charset="-122"/>
                <a:sym typeface="+mn-ea"/>
              </a:rPr>
              <a:t>参考答案 </a:t>
            </a:r>
            <a:r>
              <a:rPr lang="en-US" sz="2400">
                <a:ea typeface="宋体" panose="02010600030101010101" pitchFamily="2" charset="-122"/>
                <a:sym typeface="+mn-ea"/>
              </a:rPr>
              <a:t>— Computer</a:t>
            </a:r>
            <a:r>
              <a:rPr lang="zh-CN" altLang="en-US" sz="2400">
                <a:ea typeface="宋体" panose="02010600030101010101" pitchFamily="2" charset="-122"/>
                <a:sym typeface="+mn-ea"/>
              </a:rPr>
              <a:t>类</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53955" name="内容占位符 2"/>
          <p:cNvSpPr>
            <a:spLocks noGrp="1"/>
          </p:cNvSpPr>
          <p:nvPr>
            <p:ph idx="4294967295"/>
          </p:nvPr>
        </p:nvSpPr>
        <p:spPr>
          <a:xfrm>
            <a:off x="1008672" y="970620"/>
            <a:ext cx="7537450" cy="5113337"/>
          </a:xfrm>
        </p:spPr>
        <p:txBody>
          <a:bodyPr/>
          <a:p>
            <a:pPr marL="361950" indent="-361950" eaLnBrk="1" hangingPunct="1">
              <a:buFont typeface="Times"/>
              <a:buNone/>
            </a:pPr>
            <a:r>
              <a:rPr lang="en-US" sz="1700" dirty="0">
                <a:ea typeface="宋体" panose="02010600030101010101" pitchFamily="2" charset="-122"/>
                <a:sym typeface="+mn-ea"/>
              </a:rPr>
              <a:t>1 public  class Test {</a:t>
            </a:r>
            <a:endParaRPr lang="en-US" sz="1700" dirty="0">
              <a:ea typeface="宋体" panose="02010600030101010101" pitchFamily="2" charset="-122"/>
            </a:endParaRPr>
          </a:p>
          <a:p>
            <a:pPr marL="361950" indent="-361950" eaLnBrk="1" hangingPunct="1">
              <a:buFont typeface="Times"/>
              <a:buNone/>
            </a:pPr>
            <a:r>
              <a:rPr lang="en-US" sz="1700" dirty="0">
                <a:ea typeface="宋体" panose="02010600030101010101" pitchFamily="2" charset="-122"/>
                <a:sym typeface="+mn-ea"/>
              </a:rPr>
              <a:t>2     public static void main(String[] </a:t>
            </a:r>
            <a:r>
              <a:rPr lang="en-US" sz="1700" dirty="0" err="1">
                <a:ea typeface="宋体" panose="02010600030101010101" pitchFamily="2" charset="-122"/>
                <a:sym typeface="+mn-ea"/>
              </a:rPr>
              <a:t>args</a:t>
            </a:r>
            <a:r>
              <a:rPr lang="en-US" sz="1700" dirty="0">
                <a:ea typeface="宋体" panose="02010600030101010101" pitchFamily="2" charset="-122"/>
                <a:sym typeface="+mn-ea"/>
              </a:rPr>
              <a:t>) {</a:t>
            </a:r>
            <a:endParaRPr lang="en-US" sz="1700" dirty="0">
              <a:ea typeface="宋体" panose="02010600030101010101" pitchFamily="2" charset="-122"/>
            </a:endParaRPr>
          </a:p>
          <a:p>
            <a:pPr marL="361950" indent="-361950" eaLnBrk="1" hangingPunct="1">
              <a:buFont typeface="Times"/>
              <a:buNone/>
            </a:pPr>
            <a:r>
              <a:rPr lang="en-US" sz="1700" dirty="0">
                <a:ea typeface="宋体" panose="02010600030101010101" pitchFamily="2" charset="-122"/>
                <a:sym typeface="+mn-ea"/>
              </a:rPr>
              <a:t>3         Computer computer1 = new Computer(3.0f,  8, 500);</a:t>
            </a:r>
            <a:endParaRPr lang="en-US" sz="1700" dirty="0">
              <a:ea typeface="宋体" panose="02010600030101010101" pitchFamily="2" charset="-122"/>
            </a:endParaRPr>
          </a:p>
          <a:p>
            <a:pPr marL="361950" indent="-361950" eaLnBrk="1" hangingPunct="1">
              <a:buFont typeface="Times"/>
              <a:buNone/>
            </a:pPr>
            <a:r>
              <a:rPr lang="en-US" sz="1700" dirty="0">
                <a:ea typeface="宋体" panose="02010600030101010101" pitchFamily="2" charset="-122"/>
                <a:sym typeface="+mn-ea"/>
              </a:rPr>
              <a:t>4         </a:t>
            </a:r>
            <a:r>
              <a:rPr lang="en-US" sz="1700" dirty="0" err="1">
                <a:ea typeface="宋体" panose="02010600030101010101" pitchFamily="2" charset="-122"/>
                <a:sym typeface="+mn-ea"/>
              </a:rPr>
              <a:t>System.out.println</a:t>
            </a:r>
            <a:r>
              <a:rPr lang="en-US" sz="1700" dirty="0">
                <a:ea typeface="宋体" panose="02010600030101010101" pitchFamily="2" charset="-122"/>
                <a:sym typeface="+mn-ea"/>
              </a:rPr>
              <a:t>(computer1.getDetails());</a:t>
            </a:r>
            <a:endParaRPr lang="en-US" sz="1700" dirty="0">
              <a:ea typeface="宋体" panose="02010600030101010101" pitchFamily="2" charset="-122"/>
            </a:endParaRPr>
          </a:p>
          <a:p>
            <a:pPr marL="361950" indent="-361950" eaLnBrk="1" hangingPunct="1">
              <a:buFont typeface="Times"/>
              <a:buNone/>
            </a:pPr>
            <a:r>
              <a:rPr lang="en-US" sz="1700" dirty="0">
                <a:ea typeface="宋体" panose="02010600030101010101" pitchFamily="2" charset="-122"/>
                <a:sym typeface="+mn-ea"/>
              </a:rPr>
              <a:t>5 </a:t>
            </a:r>
            <a:endParaRPr lang="en-US" sz="1700" dirty="0">
              <a:ea typeface="宋体" panose="02010600030101010101" pitchFamily="2" charset="-122"/>
            </a:endParaRPr>
          </a:p>
          <a:p>
            <a:pPr marL="361950" indent="-361950" eaLnBrk="1" hangingPunct="1">
              <a:buFont typeface="Times"/>
              <a:buNone/>
            </a:pPr>
            <a:r>
              <a:rPr lang="en-US" sz="1700" dirty="0">
                <a:ea typeface="宋体" panose="02010600030101010101" pitchFamily="2" charset="-122"/>
                <a:sym typeface="+mn-ea"/>
              </a:rPr>
              <a:t>6         Computer computer2 = new Computer(3.3f,  4, 800);</a:t>
            </a:r>
            <a:endParaRPr lang="en-US" sz="1700" dirty="0">
              <a:ea typeface="宋体" panose="02010600030101010101" pitchFamily="2" charset="-122"/>
            </a:endParaRPr>
          </a:p>
          <a:p>
            <a:pPr marL="361950" indent="-361950" eaLnBrk="1" hangingPunct="1">
              <a:buFont typeface="Times"/>
              <a:buNone/>
            </a:pPr>
            <a:r>
              <a:rPr lang="en-US" sz="1700" dirty="0">
                <a:ea typeface="宋体" panose="02010600030101010101" pitchFamily="2" charset="-122"/>
                <a:sym typeface="+mn-ea"/>
              </a:rPr>
              <a:t>7         </a:t>
            </a:r>
            <a:r>
              <a:rPr lang="en-US" sz="1700" dirty="0" err="1">
                <a:ea typeface="宋体" panose="02010600030101010101" pitchFamily="2" charset="-122"/>
                <a:sym typeface="+mn-ea"/>
              </a:rPr>
              <a:t>System.out.println</a:t>
            </a:r>
            <a:r>
              <a:rPr lang="en-US" sz="1700" dirty="0">
                <a:ea typeface="宋体" panose="02010600030101010101" pitchFamily="2" charset="-122"/>
                <a:sym typeface="+mn-ea"/>
              </a:rPr>
              <a:t>(computer2.getDetails());</a:t>
            </a:r>
            <a:endParaRPr lang="en-US" sz="1700" dirty="0">
              <a:ea typeface="宋体" panose="02010600030101010101" pitchFamily="2" charset="-122"/>
            </a:endParaRPr>
          </a:p>
          <a:p>
            <a:pPr marL="361950" indent="-361950" eaLnBrk="1" hangingPunct="1">
              <a:buFont typeface="Times"/>
              <a:buNone/>
            </a:pPr>
            <a:r>
              <a:rPr lang="en-US" sz="1700" dirty="0">
                <a:ea typeface="宋体" panose="02010600030101010101" pitchFamily="2" charset="-122"/>
                <a:sym typeface="+mn-ea"/>
              </a:rPr>
              <a:t>8     }</a:t>
            </a:r>
            <a:endParaRPr lang="en-US" sz="1700" dirty="0">
              <a:ea typeface="宋体" panose="02010600030101010101" pitchFamily="2" charset="-122"/>
            </a:endParaRPr>
          </a:p>
          <a:p>
            <a:pPr marL="361950" indent="-361950" eaLnBrk="1" hangingPunct="1">
              <a:buFont typeface="Times"/>
              <a:buNone/>
            </a:pPr>
            <a:r>
              <a:rPr lang="en-US" sz="1700" dirty="0">
                <a:ea typeface="宋体" panose="02010600030101010101" pitchFamily="2" charset="-122"/>
                <a:sym typeface="+mn-ea"/>
              </a:rPr>
              <a:t>9 }</a:t>
            </a:r>
            <a:endParaRPr lang="en-US" sz="1700"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108200"/>
            <a:ext cx="3369310" cy="460375"/>
          </a:xfrm>
          <a:prstGeom prst="rect">
            <a:avLst/>
          </a:prstGeom>
          <a:noFill/>
        </p:spPr>
        <p:txBody>
          <a:bodyPr wrap="square" rtlCol="0">
            <a:spAutoFit/>
          </a:bodyPr>
          <a:lstStyle/>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 </a:t>
            </a:r>
            <a:r>
              <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继承（</a:t>
            </a: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extends</a:t>
            </a:r>
            <a:r>
              <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第八章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400" b="1" dirty="0" smtClean="0">
                <a:solidFill>
                  <a:srgbClr val="002060"/>
                </a:solidFill>
                <a:latin typeface="Arial" panose="020B0604020202020204" pitchFamily="34" charset="0"/>
                <a:ea typeface="宋体" panose="02010600030101010101" pitchFamily="2" charset="-122"/>
                <a:sym typeface="+mn-ea"/>
              </a:rPr>
              <a:t>类的继承</a:t>
            </a:r>
            <a:endParaRPr kumimoji="0" lang="zh-CN" altLang="en-US"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37" name="矩形 36"/>
          <p:cNvSpPr/>
          <p:nvPr/>
        </p:nvSpPr>
        <p:spPr>
          <a:xfrm>
            <a:off x="4765675" y="2954655"/>
            <a:ext cx="390715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2. </a:t>
            </a:r>
            <a:r>
              <a:rPr lang="zh-CN" altLang="en-US" sz="2400" dirty="0">
                <a:solidFill>
                  <a:srgbClr val="ED7D31"/>
                </a:solidFill>
                <a:ea typeface="宋体" panose="02010600030101010101" pitchFamily="2" charset="-122"/>
                <a:sym typeface="+mn-ea"/>
              </a:rPr>
              <a:t>方法覆盖</a:t>
            </a:r>
            <a:endParaRPr kumimoji="0" lang="zh-CN" altLang="en-US" sz="2400" b="0" i="0" u="none" strike="noStrike" kern="1200" cap="none" spc="0" normalizeH="0" baseline="0" noProof="0" dirty="0">
              <a:ln>
                <a:noFill/>
              </a:ln>
              <a:solidFill>
                <a:srgbClr val="ED7D31"/>
              </a:solidFill>
              <a:effectLst/>
              <a:uLnTx/>
              <a:uFillTx/>
              <a:latin typeface="+mj-ea"/>
              <a:ea typeface="宋体" panose="02010600030101010101" pitchFamily="2" charset="-122"/>
              <a:cs typeface="+mj-ea"/>
              <a:sym typeface="+mn-ea"/>
            </a:endParaRPr>
          </a:p>
        </p:txBody>
      </p:sp>
      <p:sp>
        <p:nvSpPr>
          <p:cNvPr id="39" name="矩形 38"/>
          <p:cNvSpPr/>
          <p:nvPr/>
        </p:nvSpPr>
        <p:spPr>
          <a:xfrm>
            <a:off x="4765675" y="3728720"/>
            <a:ext cx="4601845" cy="82994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3. </a:t>
            </a:r>
            <a:r>
              <a:rPr lang="zh-CN" altLang="en-US" sz="2400" dirty="0">
                <a:ea typeface="宋体" panose="02010600030101010101" pitchFamily="2" charset="-122"/>
                <a:sym typeface="+mn-ea"/>
              </a:rPr>
              <a:t>调用父类构造器</a:t>
            </a:r>
            <a:endParaRPr lang="en-US" altLang="zh-CN" sz="2400" dirty="0" smtClean="0">
              <a:latin typeface="+mj-ea"/>
              <a:ea typeface="+mj-ea"/>
              <a:cs typeface="+mj-ea"/>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P spid="39" grpId="0"/>
      <p:bldP spid="39" grpId="1"/>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思源黑体 CN Light" panose="020B0300000000000000" pitchFamily="34" charset="-122"/>
              </a:rPr>
              <a:t>继承</a:t>
            </a:r>
            <a:r>
              <a:rPr lang="en-US" altLang="zh-CN" sz="6665" dirty="0">
                <a:solidFill>
                  <a:schemeClr val="bg1"/>
                </a:solidFill>
                <a:latin typeface="Arial" panose="020B0604020202020204" pitchFamily="34" charset="0"/>
                <a:ea typeface="宋体" panose="02010600030101010101" pitchFamily="2" charset="-122"/>
                <a:sym typeface="思源黑体 CN Light" panose="020B0300000000000000" pitchFamily="34" charset="-122"/>
              </a:rPr>
              <a:t>extends</a:t>
            </a:r>
            <a:endParaRPr lang="en-US" altLang="zh-CN" sz="6665" dirty="0">
              <a:solidFill>
                <a:schemeClr val="bg1"/>
              </a:solidFill>
              <a:latin typeface="Arial" panose="020B0604020202020204" pitchFamily="34" charset="0"/>
              <a:ea typeface="宋体" panose="02010600030101010101" pitchFamily="2" charset="-122"/>
              <a:sym typeface="思源黑体 CN Light" panose="020B0300000000000000" pitchFamily="34"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mtClean="0">
                <a:ea typeface="宋体" panose="02010600030101010101" pitchFamily="2" charset="-122"/>
                <a:sym typeface="+mn-ea"/>
              </a:rPr>
              <a:t>继  承</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073150"/>
            <a:ext cx="9527540" cy="4846320"/>
          </a:xfrm>
        </p:spPr>
        <p:txBody>
          <a:bodyPr>
            <a:normAutofit fontScale="80000"/>
          </a:bodyPr>
          <a:p>
            <a:pPr marL="457200" indent="-457200" eaLnBrk="1" hangingPunct="1">
              <a:lnSpc>
                <a:spcPct val="140000"/>
              </a:lnSpc>
              <a:buClr>
                <a:srgbClr val="ED7D31"/>
              </a:buClr>
              <a:buFont typeface="+mj-lt"/>
              <a:buAutoNum type="arabicPeriod"/>
            </a:pPr>
            <a:r>
              <a:rPr lang="en-US" altLang="zh-CN" dirty="0">
                <a:ea typeface="宋体" panose="02010600030101010101" pitchFamily="2" charset="-122"/>
                <a:sym typeface="+mn-ea"/>
              </a:rPr>
              <a:t> </a:t>
            </a:r>
            <a:r>
              <a:rPr lang="zh-CN" altLang="en-US" dirty="0" smtClean="0">
                <a:latin typeface="+mj-lt"/>
                <a:ea typeface="宋体" panose="02010600030101010101" pitchFamily="2" charset="-122"/>
                <a:sym typeface="+mn-ea"/>
              </a:rPr>
              <a:t>继承（</a:t>
            </a:r>
            <a:r>
              <a:rPr lang="en-US" altLang="zh-CN" dirty="0" smtClean="0">
                <a:solidFill>
                  <a:srgbClr val="ED7D31"/>
                </a:solidFill>
                <a:latin typeface="+mj-lt"/>
                <a:ea typeface="宋体" panose="02010600030101010101" pitchFamily="2" charset="-122"/>
                <a:sym typeface="+mn-ea"/>
              </a:rPr>
              <a:t>extends</a:t>
            </a:r>
            <a:r>
              <a:rPr lang="zh-CN" altLang="en-US" dirty="0" smtClean="0">
                <a:latin typeface="+mj-lt"/>
                <a:ea typeface="宋体" panose="02010600030101010101" pitchFamily="2" charset="-122"/>
                <a:sym typeface="+mn-ea"/>
              </a:rPr>
              <a:t>） </a:t>
            </a:r>
            <a:r>
              <a:rPr lang="en-US" altLang="zh-CN" dirty="0" smtClean="0">
                <a:latin typeface="+mj-lt"/>
                <a:ea typeface="宋体" panose="02010600030101010101" pitchFamily="2" charset="-122"/>
                <a:sym typeface="+mn-ea"/>
              </a:rPr>
              <a:t>— </a:t>
            </a:r>
            <a:r>
              <a:rPr lang="zh-CN" altLang="en-US" dirty="0" err="1" smtClean="0">
                <a:latin typeface="+mj-lt"/>
                <a:ea typeface="宋体" panose="02010600030101010101" pitchFamily="2" charset="-122"/>
                <a:sym typeface="+mn-ea"/>
              </a:rPr>
              <a:t>子</a:t>
            </a:r>
            <a:r>
              <a:rPr lang="en-US" altLang="zh-CN" dirty="0" err="1" smtClean="0">
                <a:latin typeface="+mj-lt"/>
                <a:ea typeface="宋体" panose="02010600030101010101" pitchFamily="2" charset="-122"/>
                <a:sym typeface="+mn-ea"/>
              </a:rPr>
              <a:t>类</a:t>
            </a:r>
            <a:r>
              <a:rPr lang="zh-CN" altLang="en-US" dirty="0" err="1" smtClean="0">
                <a:latin typeface="+mj-lt"/>
                <a:ea typeface="宋体" panose="02010600030101010101" pitchFamily="2" charset="-122"/>
                <a:sym typeface="+mn-ea"/>
              </a:rPr>
              <a:t>继承父类</a:t>
            </a:r>
            <a:endParaRPr lang="zh-CN" altLang="en-US" dirty="0">
              <a:ea typeface="宋体" panose="02010600030101010101" pitchFamily="2" charset="-122"/>
              <a:sym typeface="+mn-ea"/>
            </a:endParaRPr>
          </a:p>
          <a:p>
            <a:pPr marL="457200" indent="-457200" algn="l" eaLnBrk="1" hangingPunct="1">
              <a:lnSpc>
                <a:spcPct val="140000"/>
              </a:lnSpc>
              <a:buClr>
                <a:srgbClr val="ED7D31"/>
              </a:buClr>
              <a:buSzTx/>
              <a:buFont typeface="+mj-lt"/>
              <a:buAutoNum type="arabicPeriod"/>
            </a:pPr>
            <a:r>
              <a:rPr lang="en-US" altLang="zh-CN" dirty="0">
                <a:ea typeface="宋体" panose="02010600030101010101" pitchFamily="2" charset="-122"/>
                <a:sym typeface="+mn-ea"/>
              </a:rPr>
              <a:t>子类继承父类的所有成员（构造器</a:t>
            </a:r>
            <a:r>
              <a:rPr lang="zh-CN" altLang="en-US" dirty="0">
                <a:ea typeface="宋体" panose="02010600030101010101" pitchFamily="2" charset="-122"/>
                <a:sym typeface="+mn-ea"/>
              </a:rPr>
              <a:t>和私有成员</a:t>
            </a:r>
            <a:r>
              <a:rPr lang="en-US" altLang="zh-CN" dirty="0">
                <a:ea typeface="宋体" panose="02010600030101010101" pitchFamily="2" charset="-122"/>
                <a:sym typeface="+mn-ea"/>
              </a:rPr>
              <a:t>除外）</a:t>
            </a:r>
            <a:endParaRPr lang="en-US" altLang="zh-CN" dirty="0">
              <a:ea typeface="宋体" panose="02010600030101010101" pitchFamily="2" charset="-122"/>
              <a:sym typeface="+mn-ea"/>
            </a:endParaRPr>
          </a:p>
          <a:p>
            <a:pPr marL="457200" indent="-457200" algn="l" eaLnBrk="1" hangingPunct="1">
              <a:lnSpc>
                <a:spcPct val="140000"/>
              </a:lnSpc>
              <a:buClr>
                <a:srgbClr val="ED7D31"/>
              </a:buClr>
              <a:buSzTx/>
              <a:buFont typeface="+mj-lt"/>
              <a:buAutoNum type="arabicPeriod"/>
            </a:pPr>
            <a:r>
              <a:rPr lang="zh-CN" sz="2400" dirty="0">
                <a:ea typeface="宋体" panose="02010600030101010101" pitchFamily="2" charset="-122"/>
                <a:sym typeface="+mn-ea"/>
              </a:rPr>
              <a:t>作用：</a:t>
            </a:r>
            <a:endParaRPr lang="zh-CN" sz="2400" dirty="0">
              <a:ea typeface="宋体" panose="02010600030101010101" pitchFamily="2" charset="-122"/>
              <a:sym typeface="+mn-ea"/>
            </a:endParaRPr>
          </a:p>
          <a:p>
            <a:pPr marL="914400" lvl="1" indent="-457200" algn="l" eaLnBrk="1" hangingPunct="1">
              <a:lnSpc>
                <a:spcPct val="140000"/>
              </a:lnSpc>
              <a:buClr>
                <a:srgbClr val="ED7D31"/>
              </a:buClr>
              <a:buSzTx/>
              <a:buFont typeface="+mj-lt"/>
              <a:buAutoNum type="arabicPeriod"/>
            </a:pPr>
            <a:r>
              <a:rPr lang="zh-CN" altLang="en-US" dirty="0">
                <a:ea typeface="宋体" panose="02010600030101010101" pitchFamily="2" charset="-122"/>
              </a:rPr>
              <a:t>减少成员的重复定义，</a:t>
            </a:r>
            <a:endParaRPr lang="zh-CN" altLang="en-US" dirty="0">
              <a:ea typeface="宋体" panose="02010600030101010101" pitchFamily="2" charset="-122"/>
            </a:endParaRPr>
          </a:p>
          <a:p>
            <a:pPr marL="914400" lvl="1" indent="-457200" algn="l" eaLnBrk="1" hangingPunct="1">
              <a:lnSpc>
                <a:spcPct val="140000"/>
              </a:lnSpc>
              <a:buClr>
                <a:srgbClr val="ED7D31"/>
              </a:buClr>
              <a:buSzTx/>
              <a:buFont typeface="+mj-lt"/>
              <a:buAutoNum type="arabicPeriod"/>
            </a:pPr>
            <a:r>
              <a:rPr lang="zh-CN" altLang="en-US" dirty="0">
                <a:ea typeface="宋体" panose="02010600030101010101" pitchFamily="2" charset="-122"/>
              </a:rPr>
              <a:t>方便程序的扩展，可以在子类中重新定义方法属性和方法</a:t>
            </a:r>
            <a:endParaRPr lang="zh-CN" altLang="en-US" dirty="0">
              <a:ea typeface="宋体" panose="02010600030101010101" pitchFamily="2" charset="-122"/>
            </a:endParaRPr>
          </a:p>
          <a:p>
            <a:pPr marL="457200" lvl="1" indent="-457200" algn="l" eaLnBrk="1" hangingPunct="1">
              <a:lnSpc>
                <a:spcPct val="140000"/>
              </a:lnSpc>
              <a:spcBef>
                <a:spcPts val="1000"/>
              </a:spcBef>
              <a:buClr>
                <a:srgbClr val="ED7D31"/>
              </a:buClr>
              <a:buSzTx/>
              <a:buFont typeface="+mj-lt"/>
              <a:buAutoNum type="arabicPeriod" startAt="4"/>
            </a:pPr>
            <a:r>
              <a:rPr lang="en-US" altLang="zh-CN" sz="2400" dirty="0">
                <a:ea typeface="宋体" panose="02010600030101010101" pitchFamily="2" charset="-122"/>
                <a:sym typeface="+mn-ea"/>
              </a:rPr>
              <a:t>继承的</a:t>
            </a:r>
            <a:r>
              <a:rPr lang="zh-CN" sz="2400" dirty="0">
                <a:ea typeface="宋体" panose="02010600030101010101" pitchFamily="2" charset="-122"/>
                <a:sym typeface="+mn-ea"/>
              </a:rPr>
              <a:t>语法</a:t>
            </a:r>
            <a:r>
              <a:rPr lang="en-US" altLang="zh-CN" sz="2400" dirty="0">
                <a:ea typeface="宋体" panose="02010600030101010101" pitchFamily="2" charset="-122"/>
                <a:sym typeface="+mn-ea"/>
              </a:rPr>
              <a:t>格式</a:t>
            </a:r>
            <a:r>
              <a:rPr lang="zh-CN" sz="2400" dirty="0">
                <a:ea typeface="宋体" panose="02010600030101010101" pitchFamily="2" charset="-122"/>
                <a:sym typeface="+mn-ea"/>
              </a:rPr>
              <a:t>：</a:t>
            </a:r>
            <a:endParaRPr lang="en-US" altLang="zh-CN" dirty="0">
              <a:ea typeface="宋体" panose="02010600030101010101" pitchFamily="2" charset="-122"/>
            </a:endParaRPr>
          </a:p>
          <a:p>
            <a:pPr marL="914400" lvl="1" indent="-457200" algn="l" eaLnBrk="1" hangingPunct="1">
              <a:lnSpc>
                <a:spcPct val="140000"/>
              </a:lnSpc>
              <a:buClr>
                <a:srgbClr val="ED7D31"/>
              </a:buClr>
              <a:buSzTx/>
              <a:buFont typeface="+mj-lt"/>
              <a:buAutoNum type="arabicPeriod" startAt="4"/>
            </a:pPr>
            <a:r>
              <a:rPr lang="en-US" altLang="zh-CN" dirty="0">
                <a:ea typeface="宋体" panose="02010600030101010101" pitchFamily="2" charset="-122"/>
              </a:rPr>
              <a:t>格式: public class 子类名 extends 父类名{}</a:t>
            </a:r>
            <a:endParaRPr lang="en-US" altLang="zh-CN" dirty="0">
              <a:ea typeface="宋体" panose="02010600030101010101" pitchFamily="2" charset="-122"/>
            </a:endParaRPr>
          </a:p>
          <a:p>
            <a:pPr marL="914400" lvl="1" indent="-457200" algn="l" eaLnBrk="1" hangingPunct="1">
              <a:lnSpc>
                <a:spcPct val="140000"/>
              </a:lnSpc>
              <a:buClr>
                <a:srgbClr val="ED7D31"/>
              </a:buClr>
              <a:buSzTx/>
              <a:buFont typeface="+mj-lt"/>
              <a:buAutoNum type="arabicPeriod" startAt="4"/>
            </a:pPr>
            <a:r>
              <a:rPr lang="en-US" altLang="zh-CN" dirty="0">
                <a:ea typeface="宋体" panose="02010600030101010101" pitchFamily="2" charset="-122"/>
              </a:rPr>
              <a:t>例如: public class Zi extends Fu {}</a:t>
            </a:r>
            <a:endParaRPr lang="en-US" altLang="zh-CN" dirty="0">
              <a:ea typeface="宋体" panose="02010600030101010101" pitchFamily="2" charset="-122"/>
            </a:endParaRPr>
          </a:p>
          <a:p>
            <a:pPr marL="914400" lvl="1" indent="-457200" algn="l" eaLnBrk="1" hangingPunct="1">
              <a:lnSpc>
                <a:spcPct val="140000"/>
              </a:lnSpc>
              <a:buClr>
                <a:srgbClr val="ED7D31"/>
              </a:buClr>
              <a:buSzTx/>
              <a:buFont typeface="+mj-lt"/>
              <a:buAutoNum type="arabicPeriod" startAt="4"/>
            </a:pPr>
            <a:r>
              <a:rPr lang="en-US" altLang="zh-CN" dirty="0">
                <a:ea typeface="宋体" panose="02010600030101010101" pitchFamily="2" charset="-122"/>
              </a:rPr>
              <a:t>Fu:是父类，也被称为基类、超类</a:t>
            </a:r>
            <a:endParaRPr lang="en-US" altLang="zh-CN" dirty="0">
              <a:ea typeface="宋体" panose="02010600030101010101" pitchFamily="2" charset="-122"/>
            </a:endParaRPr>
          </a:p>
          <a:p>
            <a:pPr marL="914400" lvl="1" indent="-457200" algn="l" eaLnBrk="1" hangingPunct="1">
              <a:lnSpc>
                <a:spcPct val="140000"/>
              </a:lnSpc>
              <a:buClr>
                <a:srgbClr val="ED7D31"/>
              </a:buClr>
              <a:buSzTx/>
              <a:buFont typeface="+mj-lt"/>
              <a:buAutoNum type="arabicPeriod" startAt="4"/>
            </a:pPr>
            <a:r>
              <a:rPr lang="en-US" altLang="zh-CN" dirty="0">
                <a:ea typeface="宋体" panose="02010600030101010101" pitchFamily="2" charset="-122"/>
              </a:rPr>
              <a:t>Zi: 是子类，也被称为派生类</a:t>
            </a:r>
            <a:endParaRPr lang="zh-CN" altLang="en-US" dirty="0">
              <a:ea typeface="宋体" panose="02010600030101010101" pitchFamily="2" charset="-122"/>
              <a:sym typeface="+mn-ea"/>
            </a:endParaRPr>
          </a:p>
          <a:p>
            <a:pPr marL="457200" indent="-457200" eaLnBrk="1" hangingPunct="1">
              <a:lnSpc>
                <a:spcPct val="19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问题：成员的</a:t>
            </a:r>
            <a:r>
              <a:rPr lang="en-US" altLang="zh-CN" sz="2400" smtClean="0">
                <a:ea typeface="宋体" panose="02010600030101010101" pitchFamily="2" charset="-122"/>
                <a:sym typeface="+mn-ea"/>
              </a:rPr>
              <a:t>重复定义</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10244" name="Picture 4"/>
          <p:cNvPicPr>
            <a:picLocks noChangeAspect="1" noChangeArrowheads="1"/>
          </p:cNvPicPr>
          <p:nvPr/>
        </p:nvPicPr>
        <p:blipFill>
          <a:blip r:embed="rId5"/>
          <a:srcRect/>
          <a:stretch>
            <a:fillRect/>
          </a:stretch>
        </p:blipFill>
        <p:spPr bwMode="auto">
          <a:xfrm>
            <a:off x="892810" y="1271270"/>
            <a:ext cx="9836150" cy="451231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解决方案：使用继承</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pic>
        <p:nvPicPr>
          <p:cNvPr id="11268" name="Picture 2"/>
          <p:cNvPicPr>
            <a:picLocks noChangeAspect="1" noChangeArrowheads="1"/>
          </p:cNvPicPr>
          <p:nvPr/>
        </p:nvPicPr>
        <p:blipFill>
          <a:blip r:embed="rId5"/>
          <a:srcRect/>
          <a:stretch>
            <a:fillRect/>
          </a:stretch>
        </p:blipFill>
        <p:spPr bwMode="auto">
          <a:xfrm>
            <a:off x="1250950" y="1069975"/>
            <a:ext cx="7019290" cy="51562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Person 类</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1008063" y="1020466"/>
            <a:ext cx="7537450" cy="4816475"/>
          </a:xfrm>
        </p:spPr>
        <p:txBody>
          <a:bodyPr>
            <a:noAutofit/>
          </a:bodyPr>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public class Person {</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public String name = "</a:t>
            </a:r>
            <a:r>
              <a:rPr lang="zh-CN" altLang="en-US" sz="1600" dirty="0" smtClean="0">
                <a:solidFill>
                  <a:srgbClr val="002060"/>
                </a:solidFill>
                <a:ea typeface="宋体" panose="02010600030101010101" pitchFamily="2" charset="-122"/>
                <a:cs typeface="+mn-lt"/>
              </a:rPr>
              <a:t>张三</a:t>
            </a:r>
            <a:r>
              <a:rPr lang="en-US" altLang="zh-CN" sz="1600" dirty="0" smtClean="0">
                <a:solidFill>
                  <a:srgbClr val="002060"/>
                </a:solidFill>
                <a:ea typeface="宋体" panose="02010600030101010101" pitchFamily="2" charset="-122"/>
                <a:cs typeface="+mn-lt"/>
              </a:rPr>
              <a:t>";</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public </a:t>
            </a:r>
            <a:r>
              <a:rPr lang="en-US" altLang="zh-CN" sz="1600" dirty="0" err="1" smtClean="0">
                <a:solidFill>
                  <a:srgbClr val="002060"/>
                </a:solidFill>
                <a:ea typeface="宋体" panose="02010600030101010101" pitchFamily="2" charset="-122"/>
                <a:cs typeface="+mn-lt"/>
              </a:rPr>
              <a:t>int</a:t>
            </a:r>
            <a:r>
              <a:rPr lang="en-US" altLang="zh-CN" sz="1600" dirty="0" smtClean="0">
                <a:solidFill>
                  <a:srgbClr val="002060"/>
                </a:solidFill>
                <a:ea typeface="宋体" panose="02010600030101010101" pitchFamily="2" charset="-122"/>
                <a:cs typeface="+mn-lt"/>
              </a:rPr>
              <a:t> age;</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public char sex;</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endParaRPr lang="zh-CN" altLang="en-US"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public String </a:t>
            </a:r>
            <a:r>
              <a:rPr lang="en-US" altLang="zh-CN" sz="1600" dirty="0" err="1" smtClean="0">
                <a:solidFill>
                  <a:srgbClr val="002060"/>
                </a:solidFill>
                <a:ea typeface="宋体" panose="02010600030101010101" pitchFamily="2" charset="-122"/>
                <a:cs typeface="+mn-lt"/>
              </a:rPr>
              <a:t>getName</a:t>
            </a: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return name;</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public void </a:t>
            </a:r>
            <a:r>
              <a:rPr lang="en-US" altLang="zh-CN" sz="1600" dirty="0" err="1" smtClean="0">
                <a:solidFill>
                  <a:srgbClr val="002060"/>
                </a:solidFill>
                <a:ea typeface="宋体" panose="02010600030101010101" pitchFamily="2" charset="-122"/>
                <a:cs typeface="+mn-lt"/>
              </a:rPr>
              <a:t>setName</a:t>
            </a:r>
            <a:r>
              <a:rPr lang="en-US" altLang="zh-CN" sz="1600" dirty="0" smtClean="0">
                <a:solidFill>
                  <a:srgbClr val="002060"/>
                </a:solidFill>
                <a:ea typeface="宋体" panose="02010600030101010101" pitchFamily="2" charset="-122"/>
                <a:cs typeface="+mn-lt"/>
              </a:rPr>
              <a:t>(String name) {</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this.name = name;</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public </a:t>
            </a:r>
            <a:r>
              <a:rPr lang="en-US" altLang="zh-CN" sz="1600" dirty="0" err="1" smtClean="0">
                <a:solidFill>
                  <a:srgbClr val="002060"/>
                </a:solidFill>
                <a:ea typeface="宋体" panose="02010600030101010101" pitchFamily="2" charset="-122"/>
                <a:cs typeface="+mn-lt"/>
              </a:rPr>
              <a:t>int</a:t>
            </a:r>
            <a:r>
              <a:rPr lang="en-US" altLang="zh-CN" sz="1600" dirty="0" smtClean="0">
                <a:solidFill>
                  <a:srgbClr val="002060"/>
                </a:solidFill>
                <a:ea typeface="宋体" panose="02010600030101010101" pitchFamily="2" charset="-122"/>
                <a:cs typeface="+mn-lt"/>
              </a:rPr>
              <a:t> </a:t>
            </a:r>
            <a:r>
              <a:rPr lang="en-US" altLang="zh-CN" sz="1600" dirty="0" err="1" smtClean="0">
                <a:solidFill>
                  <a:srgbClr val="002060"/>
                </a:solidFill>
                <a:ea typeface="宋体" panose="02010600030101010101" pitchFamily="2" charset="-122"/>
                <a:cs typeface="+mn-lt"/>
              </a:rPr>
              <a:t>getAge</a:t>
            </a: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return age;</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mn-ea"/>
                <a:cs typeface="+mn-lt"/>
              </a:rPr>
              <a:t>   	 }</a:t>
            </a:r>
            <a:endParaRPr lang="en-US" altLang="zh-CN" sz="1600" dirty="0" smtClean="0">
              <a:solidFill>
                <a:srgbClr val="002060"/>
              </a:solidFill>
              <a:ea typeface="+mn-ea"/>
              <a:cs typeface="+mn-lt"/>
            </a:endParaRPr>
          </a:p>
          <a:p>
            <a:pPr marL="342900" indent="-342900">
              <a:buFont typeface="+mj-lt"/>
              <a:buAutoNum type="arabicPeriod"/>
              <a:defRPr/>
            </a:pPr>
            <a:endParaRPr lang="en-US" altLang="zh-CN" sz="1600" dirty="0" smtClean="0">
              <a:solidFill>
                <a:srgbClr val="002060"/>
              </a:solidFill>
              <a:ea typeface="+mn-ea"/>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Person 类</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文本框 6"/>
          <p:cNvSpPr txBox="1"/>
          <p:nvPr/>
        </p:nvSpPr>
        <p:spPr>
          <a:xfrm>
            <a:off x="1451610" y="1290320"/>
            <a:ext cx="6096000" cy="4523105"/>
          </a:xfrm>
          <a:prstGeom prst="rect">
            <a:avLst/>
          </a:prstGeom>
          <a:noFill/>
        </p:spPr>
        <p:txBody>
          <a:bodyPr wrap="square" rtlCol="0" anchor="t">
            <a:spAutoFit/>
          </a:bodyPr>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public void </a:t>
            </a:r>
            <a:r>
              <a:rPr lang="en-US" altLang="zh-CN" dirty="0" err="1" smtClean="0">
                <a:solidFill>
                  <a:srgbClr val="002060"/>
                </a:solidFill>
                <a:ea typeface="宋体" panose="02010600030101010101" pitchFamily="2" charset="-122"/>
                <a:cs typeface="+mn-lt"/>
                <a:sym typeface="+mn-ea"/>
              </a:rPr>
              <a:t>setAge</a:t>
            </a:r>
            <a:r>
              <a:rPr lang="en-US" altLang="zh-CN" dirty="0" smtClean="0">
                <a:solidFill>
                  <a:srgbClr val="002060"/>
                </a:solidFill>
                <a:ea typeface="宋体" panose="02010600030101010101" pitchFamily="2" charset="-122"/>
                <a:cs typeface="+mn-lt"/>
                <a:sym typeface="+mn-ea"/>
              </a:rPr>
              <a:t>(</a:t>
            </a:r>
            <a:r>
              <a:rPr lang="en-US" altLang="zh-CN" dirty="0" err="1" smtClean="0">
                <a:solidFill>
                  <a:srgbClr val="002060"/>
                </a:solidFill>
                <a:ea typeface="宋体" panose="02010600030101010101" pitchFamily="2" charset="-122"/>
                <a:cs typeface="+mn-lt"/>
                <a:sym typeface="+mn-ea"/>
              </a:rPr>
              <a:t>int</a:t>
            </a:r>
            <a:r>
              <a:rPr lang="en-US" altLang="zh-CN" dirty="0" smtClean="0">
                <a:solidFill>
                  <a:srgbClr val="002060"/>
                </a:solidFill>
                <a:ea typeface="宋体" panose="02010600030101010101" pitchFamily="2" charset="-122"/>
                <a:cs typeface="+mn-lt"/>
                <a:sym typeface="+mn-ea"/>
              </a:rPr>
              <a:t> age) {</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a:t>
            </a:r>
            <a:r>
              <a:rPr lang="en-US" altLang="zh-CN" dirty="0" err="1" smtClean="0">
                <a:solidFill>
                  <a:srgbClr val="002060"/>
                </a:solidFill>
                <a:ea typeface="宋体" panose="02010600030101010101" pitchFamily="2" charset="-122"/>
                <a:cs typeface="+mn-lt"/>
                <a:sym typeface="+mn-ea"/>
              </a:rPr>
              <a:t>this.age</a:t>
            </a:r>
            <a:r>
              <a:rPr lang="en-US" altLang="zh-CN" dirty="0" smtClean="0">
                <a:solidFill>
                  <a:srgbClr val="002060"/>
                </a:solidFill>
                <a:ea typeface="宋体" panose="02010600030101010101" pitchFamily="2" charset="-122"/>
                <a:cs typeface="+mn-lt"/>
                <a:sym typeface="+mn-ea"/>
              </a:rPr>
              <a:t> = age;</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public char </a:t>
            </a:r>
            <a:r>
              <a:rPr lang="en-US" altLang="zh-CN" dirty="0" err="1" smtClean="0">
                <a:solidFill>
                  <a:srgbClr val="002060"/>
                </a:solidFill>
                <a:ea typeface="宋体" panose="02010600030101010101" pitchFamily="2" charset="-122"/>
                <a:cs typeface="+mn-lt"/>
                <a:sym typeface="+mn-ea"/>
              </a:rPr>
              <a:t>getSex</a:t>
            </a:r>
            <a:r>
              <a:rPr lang="en-US" altLang="zh-CN" dirty="0" smtClean="0">
                <a:solidFill>
                  <a:srgbClr val="002060"/>
                </a:solidFill>
                <a:ea typeface="宋体" panose="02010600030101010101" pitchFamily="2" charset="-122"/>
                <a:cs typeface="+mn-lt"/>
                <a:sym typeface="+mn-ea"/>
              </a:rPr>
              <a:t>() {</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return sex;</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public void </a:t>
            </a:r>
            <a:r>
              <a:rPr lang="en-US" altLang="zh-CN" dirty="0" err="1" smtClean="0">
                <a:solidFill>
                  <a:srgbClr val="002060"/>
                </a:solidFill>
                <a:ea typeface="宋体" panose="02010600030101010101" pitchFamily="2" charset="-122"/>
                <a:cs typeface="+mn-lt"/>
                <a:sym typeface="+mn-ea"/>
              </a:rPr>
              <a:t>setSex</a:t>
            </a:r>
            <a:r>
              <a:rPr lang="en-US" altLang="zh-CN" dirty="0" smtClean="0">
                <a:solidFill>
                  <a:srgbClr val="002060"/>
                </a:solidFill>
                <a:ea typeface="宋体" panose="02010600030101010101" pitchFamily="2" charset="-122"/>
                <a:cs typeface="+mn-lt"/>
                <a:sym typeface="+mn-ea"/>
              </a:rPr>
              <a:t>(char sex) {</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this.sex = sex;</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public void eat() {</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a:t>
            </a:r>
            <a:r>
              <a:rPr lang="en-US" altLang="zh-CN" dirty="0" err="1" smtClean="0">
                <a:solidFill>
                  <a:srgbClr val="002060"/>
                </a:solidFill>
                <a:ea typeface="宋体" panose="02010600030101010101" pitchFamily="2" charset="-122"/>
                <a:cs typeface="+mn-lt"/>
                <a:sym typeface="+mn-ea"/>
              </a:rPr>
              <a:t>System.out.println</a:t>
            </a:r>
            <a:r>
              <a:rPr lang="en-US" altLang="zh-CN" dirty="0" smtClean="0">
                <a:solidFill>
                  <a:srgbClr val="002060"/>
                </a:solidFill>
                <a:ea typeface="宋体" panose="02010600030101010101" pitchFamily="2" charset="-122"/>
                <a:cs typeface="+mn-lt"/>
                <a:sym typeface="+mn-ea"/>
              </a:rPr>
              <a:t>(“</a:t>
            </a:r>
            <a:r>
              <a:rPr lang="zh-CN" altLang="en-US" dirty="0" smtClean="0">
                <a:solidFill>
                  <a:srgbClr val="002060"/>
                </a:solidFill>
                <a:ea typeface="宋体" panose="02010600030101010101" pitchFamily="2" charset="-122"/>
                <a:cs typeface="+mn-lt"/>
                <a:sym typeface="+mn-ea"/>
              </a:rPr>
              <a:t>吃饭</a:t>
            </a:r>
            <a:r>
              <a:rPr lang="en-US" altLang="zh-CN" dirty="0" smtClean="0">
                <a:solidFill>
                  <a:srgbClr val="002060"/>
                </a:solidFill>
                <a:ea typeface="宋体" panose="02010600030101010101" pitchFamily="2" charset="-122"/>
                <a:cs typeface="+mn-lt"/>
                <a:sym typeface="+mn-ea"/>
              </a:rPr>
              <a:t>");</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public void sleep() {</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a:t>
            </a:r>
            <a:r>
              <a:rPr lang="en-US" altLang="zh-CN" dirty="0" err="1" smtClean="0">
                <a:solidFill>
                  <a:srgbClr val="002060"/>
                </a:solidFill>
                <a:ea typeface="宋体" panose="02010600030101010101" pitchFamily="2" charset="-122"/>
                <a:cs typeface="+mn-lt"/>
                <a:sym typeface="+mn-ea"/>
              </a:rPr>
              <a:t>System.out.println</a:t>
            </a:r>
            <a:r>
              <a:rPr lang="en-US" altLang="zh-CN" dirty="0" smtClean="0">
                <a:solidFill>
                  <a:srgbClr val="002060"/>
                </a:solidFill>
                <a:ea typeface="宋体" panose="02010600030101010101" pitchFamily="2" charset="-122"/>
                <a:cs typeface="+mn-lt"/>
                <a:sym typeface="+mn-ea"/>
              </a:rPr>
              <a:t>(“</a:t>
            </a:r>
            <a:r>
              <a:rPr lang="zh-CN" altLang="en-US" dirty="0" smtClean="0">
                <a:solidFill>
                  <a:srgbClr val="002060"/>
                </a:solidFill>
                <a:ea typeface="宋体" panose="02010600030101010101" pitchFamily="2" charset="-122"/>
                <a:cs typeface="+mn-lt"/>
                <a:sym typeface="+mn-ea"/>
              </a:rPr>
              <a:t>睡觉</a:t>
            </a:r>
            <a:r>
              <a:rPr lang="en-US" altLang="zh-CN" dirty="0" smtClean="0">
                <a:solidFill>
                  <a:srgbClr val="002060"/>
                </a:solidFill>
                <a:ea typeface="宋体" panose="02010600030101010101" pitchFamily="2" charset="-122"/>
                <a:cs typeface="+mn-lt"/>
                <a:sym typeface="+mn-ea"/>
              </a:rPr>
              <a:t>");</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     	}</a:t>
            </a:r>
            <a:endParaRPr lang="en-US" altLang="zh-CN"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dirty="0" smtClean="0">
                <a:solidFill>
                  <a:srgbClr val="002060"/>
                </a:solidFill>
                <a:ea typeface="宋体" panose="02010600030101010101" pitchFamily="2" charset="-122"/>
                <a:cs typeface="+mn-lt"/>
                <a:sym typeface="+mn-ea"/>
              </a:rPr>
              <a:t>}</a:t>
            </a:r>
            <a:endParaRPr lang="en-US" altLang="zh-CN" dirty="0" smtClean="0">
              <a:solidFill>
                <a:srgbClr val="002060"/>
              </a:solidFill>
              <a:ea typeface="宋体" panose="02010600030101010101" pitchFamily="2" charset="-122"/>
              <a:cs typeface="+mn-lt"/>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Student 类</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1160145" y="842667"/>
            <a:ext cx="7537450" cy="5173662"/>
          </a:xfrm>
        </p:spPr>
        <p:txBody>
          <a:bodyPr>
            <a:noAutofit/>
          </a:bodyPr>
          <a:p>
            <a:pPr marL="342900" indent="-342900">
              <a:buFont typeface="+mj-lt"/>
              <a:buAutoNum type="arabicPeriod"/>
              <a:defRPr/>
            </a:pPr>
            <a:r>
              <a:rPr lang="zh-CN" altLang="en-US" sz="1700" dirty="0" smtClean="0">
                <a:ea typeface="宋体" panose="02010600030101010101" pitchFamily="2" charset="-122"/>
                <a:cs typeface="+mn-lt"/>
              </a:rPr>
              <a:t> </a:t>
            </a:r>
            <a:r>
              <a:rPr lang="en-US" altLang="zh-CN" sz="1700" dirty="0" smtClean="0">
                <a:ea typeface="宋体" panose="02010600030101010101" pitchFamily="2" charset="-122"/>
                <a:cs typeface="+mn-lt"/>
              </a:rPr>
              <a:t>public class Student </a:t>
            </a:r>
            <a:r>
              <a:rPr lang="en-US" altLang="zh-CN" sz="1700" dirty="0" smtClean="0">
                <a:solidFill>
                  <a:srgbClr val="ED7D31"/>
                </a:solidFill>
                <a:ea typeface="宋体" panose="02010600030101010101" pitchFamily="2" charset="-122"/>
                <a:cs typeface="+mn-lt"/>
              </a:rPr>
              <a:t>extends </a:t>
            </a:r>
            <a:r>
              <a:rPr lang="en-US" altLang="zh-CN" sz="1700" dirty="0" smtClean="0">
                <a:ea typeface="宋体" panose="02010600030101010101" pitchFamily="2" charset="-122"/>
                <a:cs typeface="+mn-lt"/>
              </a:rPr>
              <a:t>Person{</a:t>
            </a:r>
            <a:endParaRPr lang="en-US" altLang="zh-CN"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private String </a:t>
            </a:r>
            <a:r>
              <a:rPr lang="en-US" altLang="zh-CN" sz="1700" dirty="0" err="1" smtClean="0">
                <a:ea typeface="宋体" panose="02010600030101010101" pitchFamily="2" charset="-122"/>
                <a:cs typeface="+mn-lt"/>
              </a:rPr>
              <a:t>className</a:t>
            </a: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a:p>
            <a:pPr marL="342900" indent="-342900">
              <a:buFont typeface="+mj-lt"/>
              <a:buAutoNum type="arabicPeriod"/>
              <a:defRPr/>
            </a:pPr>
            <a:endParaRPr lang="zh-CN" altLang="en-US"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public String </a:t>
            </a:r>
            <a:r>
              <a:rPr lang="en-US" altLang="zh-CN" sz="1700" dirty="0" err="1" smtClean="0">
                <a:ea typeface="宋体" panose="02010600030101010101" pitchFamily="2" charset="-122"/>
                <a:cs typeface="+mn-lt"/>
              </a:rPr>
              <a:t>getClassName</a:t>
            </a: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return </a:t>
            </a:r>
            <a:r>
              <a:rPr lang="en-US" altLang="zh-CN" sz="1700" dirty="0" err="1" smtClean="0">
                <a:ea typeface="宋体" panose="02010600030101010101" pitchFamily="2" charset="-122"/>
                <a:cs typeface="+mn-lt"/>
              </a:rPr>
              <a:t>className</a:t>
            </a: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a:t>
            </a:r>
            <a:endParaRPr lang="zh-CN" altLang="en-US"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public void </a:t>
            </a:r>
            <a:r>
              <a:rPr lang="en-US" altLang="zh-CN" sz="1700" dirty="0" err="1" smtClean="0">
                <a:ea typeface="宋体" panose="02010600030101010101" pitchFamily="2" charset="-122"/>
                <a:cs typeface="+mn-lt"/>
              </a:rPr>
              <a:t>setClassName</a:t>
            </a:r>
            <a:r>
              <a:rPr lang="en-US" altLang="zh-CN" sz="1700" dirty="0" smtClean="0">
                <a:ea typeface="宋体" panose="02010600030101010101" pitchFamily="2" charset="-122"/>
                <a:cs typeface="+mn-lt"/>
              </a:rPr>
              <a:t>(String </a:t>
            </a:r>
            <a:r>
              <a:rPr lang="en-US" altLang="zh-CN" sz="1700" dirty="0" err="1" smtClean="0">
                <a:ea typeface="宋体" panose="02010600030101010101" pitchFamily="2" charset="-122"/>
                <a:cs typeface="+mn-lt"/>
              </a:rPr>
              <a:t>className</a:t>
            </a: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a:t>
            </a:r>
            <a:r>
              <a:rPr lang="en-US" altLang="zh-CN" sz="1700" dirty="0" err="1" smtClean="0">
                <a:ea typeface="宋体" panose="02010600030101010101" pitchFamily="2" charset="-122"/>
                <a:cs typeface="+mn-lt"/>
              </a:rPr>
              <a:t>this.className</a:t>
            </a:r>
            <a:r>
              <a:rPr lang="en-US" altLang="zh-CN" sz="1700" dirty="0" smtClean="0">
                <a:ea typeface="宋体" panose="02010600030101010101" pitchFamily="2" charset="-122"/>
                <a:cs typeface="+mn-lt"/>
              </a:rPr>
              <a:t> = </a:t>
            </a:r>
            <a:r>
              <a:rPr lang="en-US" altLang="zh-CN" sz="1700" dirty="0" err="1" smtClean="0">
                <a:ea typeface="宋体" panose="02010600030101010101" pitchFamily="2" charset="-122"/>
                <a:cs typeface="+mn-lt"/>
              </a:rPr>
              <a:t>className</a:t>
            </a: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a:t>
            </a:r>
            <a:endParaRPr lang="zh-CN" altLang="en-US"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public void </a:t>
            </a:r>
            <a:r>
              <a:rPr lang="en-US" altLang="zh-CN" sz="1700" dirty="0" err="1" smtClean="0">
                <a:ea typeface="宋体" panose="02010600030101010101" pitchFamily="2" charset="-122"/>
                <a:cs typeface="+mn-lt"/>
              </a:rPr>
              <a:t>doHomeWork</a:t>
            </a: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public void </a:t>
            </a:r>
            <a:r>
              <a:rPr lang="en-US" altLang="zh-CN" sz="1700" dirty="0" err="1" smtClean="0">
                <a:ea typeface="宋体" panose="02010600030101010101" pitchFamily="2" charset="-122"/>
                <a:cs typeface="+mn-lt"/>
              </a:rPr>
              <a:t>attendLecture</a:t>
            </a: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mj-lt"/>
              <a:buAutoNum type="arabicPeriod"/>
              <a:defRPr/>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Test类</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5363" name="内容占位符 2"/>
          <p:cNvSpPr>
            <a:spLocks noGrp="1"/>
          </p:cNvSpPr>
          <p:nvPr>
            <p:ph idx="1"/>
          </p:nvPr>
        </p:nvSpPr>
        <p:spPr>
          <a:xfrm>
            <a:off x="900113" y="1267480"/>
            <a:ext cx="7537450" cy="4816475"/>
          </a:xfrm>
        </p:spPr>
        <p:txBody>
          <a:bodyPr/>
          <a:p>
            <a:pPr marL="361950" indent="-361950" eaLnBrk="1" hangingPunct="1">
              <a:buFont typeface="Times New Roman" panose="02020603050405020304" charset="0"/>
              <a:buAutoNum type="arabicPeriod"/>
            </a:pPr>
            <a:r>
              <a:rPr lang="en-US" altLang="zh-CN" sz="1700" dirty="0" smtClean="0">
                <a:solidFill>
                  <a:srgbClr val="002060"/>
                </a:solidFill>
                <a:ea typeface="宋体" panose="02010600030101010101" pitchFamily="2" charset="-122"/>
              </a:rPr>
              <a:t>public class Test {</a:t>
            </a:r>
            <a:endParaRPr lang="en-US" altLang="zh-CN" sz="1700" dirty="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dirty="0" smtClean="0">
                <a:solidFill>
                  <a:srgbClr val="002060"/>
                </a:solidFill>
                <a:ea typeface="宋体" panose="02010600030101010101" pitchFamily="2" charset="-122"/>
              </a:rPr>
              <a:t>    	 public static void main(String[] </a:t>
            </a:r>
            <a:r>
              <a:rPr lang="en-US" altLang="zh-CN" sz="1700" dirty="0" err="1" smtClean="0">
                <a:solidFill>
                  <a:srgbClr val="002060"/>
                </a:solidFill>
                <a:ea typeface="宋体" panose="02010600030101010101" pitchFamily="2" charset="-122"/>
              </a:rPr>
              <a:t>args</a:t>
            </a:r>
            <a:r>
              <a:rPr lang="en-US" altLang="zh-CN" sz="1700" dirty="0" smtClean="0">
                <a:solidFill>
                  <a:srgbClr val="002060"/>
                </a:solidFill>
                <a:ea typeface="宋体" panose="02010600030101010101" pitchFamily="2" charset="-122"/>
              </a:rPr>
              <a:t>) {</a:t>
            </a:r>
            <a:endParaRPr lang="en-US" altLang="zh-CN" sz="1700" dirty="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dirty="0" smtClean="0">
                <a:solidFill>
                  <a:srgbClr val="002060"/>
                </a:solidFill>
                <a:ea typeface="宋体" panose="02010600030101010101" pitchFamily="2" charset="-122"/>
              </a:rPr>
              <a:t>     		Student </a:t>
            </a:r>
            <a:r>
              <a:rPr lang="en-US" altLang="zh-CN" sz="1700" dirty="0" err="1" smtClean="0">
                <a:solidFill>
                  <a:srgbClr val="002060"/>
                </a:solidFill>
                <a:ea typeface="宋体" panose="02010600030101010101" pitchFamily="2" charset="-122"/>
              </a:rPr>
              <a:t>student</a:t>
            </a:r>
            <a:r>
              <a:rPr lang="en-US" altLang="zh-CN" sz="1700" dirty="0" smtClean="0">
                <a:solidFill>
                  <a:srgbClr val="002060"/>
                </a:solidFill>
                <a:ea typeface="宋体" panose="02010600030101010101" pitchFamily="2" charset="-122"/>
              </a:rPr>
              <a:t> = new Student();</a:t>
            </a:r>
            <a:endParaRPr lang="en-US" altLang="zh-CN" sz="1700" dirty="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endParaRPr lang="zh-CN" altLang="en-US" sz="1700" dirty="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dirty="0" smtClean="0">
                <a:solidFill>
                  <a:srgbClr val="002060"/>
                </a:solidFill>
                <a:ea typeface="宋体" panose="02010600030101010101" pitchFamily="2" charset="-122"/>
              </a:rPr>
              <a:t> 		</a:t>
            </a:r>
            <a:r>
              <a:rPr lang="en-US" altLang="zh-CN" sz="1700" dirty="0" err="1" smtClean="0">
                <a:solidFill>
                  <a:srgbClr val="002060"/>
                </a:solidFill>
                <a:ea typeface="宋体" panose="02010600030101010101" pitchFamily="2" charset="-122"/>
              </a:rPr>
              <a:t>System.out.println</a:t>
            </a:r>
            <a:r>
              <a:rPr lang="en-US" altLang="zh-CN" sz="1700" dirty="0" smtClean="0">
                <a:solidFill>
                  <a:srgbClr val="002060"/>
                </a:solidFill>
                <a:ea typeface="宋体" panose="02010600030101010101" pitchFamily="2" charset="-122"/>
              </a:rPr>
              <a:t>(student.name);</a:t>
            </a:r>
            <a:endParaRPr lang="en-US" altLang="zh-CN" sz="1700" dirty="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dirty="0" smtClean="0">
                <a:solidFill>
                  <a:srgbClr val="002060"/>
                </a:solidFill>
                <a:ea typeface="宋体" panose="02010600030101010101" pitchFamily="2" charset="-122"/>
              </a:rPr>
              <a:t> 		</a:t>
            </a:r>
            <a:r>
              <a:rPr lang="en-US" altLang="zh-CN" sz="1700" dirty="0" err="1" smtClean="0">
                <a:solidFill>
                  <a:srgbClr val="002060"/>
                </a:solidFill>
                <a:ea typeface="宋体" panose="02010600030101010101" pitchFamily="2" charset="-122"/>
              </a:rPr>
              <a:t>System.out.println</a:t>
            </a:r>
            <a:r>
              <a:rPr lang="en-US" altLang="zh-CN" sz="1700" dirty="0" smtClean="0">
                <a:solidFill>
                  <a:srgbClr val="002060"/>
                </a:solidFill>
                <a:ea typeface="宋体" panose="02010600030101010101" pitchFamily="2" charset="-122"/>
              </a:rPr>
              <a:t>(</a:t>
            </a:r>
            <a:r>
              <a:rPr lang="en-US" altLang="zh-CN" sz="1700" dirty="0" err="1" smtClean="0">
                <a:solidFill>
                  <a:srgbClr val="002060"/>
                </a:solidFill>
                <a:ea typeface="宋体" panose="02010600030101010101" pitchFamily="2" charset="-122"/>
              </a:rPr>
              <a:t>student.age</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endParaRPr lang="zh-CN" altLang="en-US" sz="1700" dirty="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dirty="0" smtClean="0">
                <a:solidFill>
                  <a:srgbClr val="002060"/>
                </a:solidFill>
                <a:ea typeface="宋体" panose="02010600030101010101" pitchFamily="2" charset="-122"/>
              </a:rPr>
              <a:t> 		</a:t>
            </a:r>
            <a:r>
              <a:rPr lang="en-US" altLang="zh-CN" sz="1700" dirty="0" err="1" smtClean="0">
                <a:solidFill>
                  <a:srgbClr val="002060"/>
                </a:solidFill>
                <a:ea typeface="宋体" panose="02010600030101010101" pitchFamily="2" charset="-122"/>
              </a:rPr>
              <a:t>student.sleep</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dirty="0" smtClean="0">
                <a:solidFill>
                  <a:srgbClr val="002060"/>
                </a:solidFill>
                <a:ea typeface="宋体" panose="02010600030101010101" pitchFamily="2" charset="-122"/>
              </a:rPr>
              <a:t>    	 }</a:t>
            </a:r>
            <a:endParaRPr lang="en-US" altLang="zh-CN" sz="1700" dirty="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073150"/>
            <a:ext cx="9527540" cy="4846320"/>
          </a:xfrm>
        </p:spPr>
        <p:txBody>
          <a:bodyPr>
            <a:normAutofit lnSpcReduction="20000"/>
          </a:bodyPr>
          <a:p>
            <a:pPr marL="457200" indent="-457200" eaLnBrk="1" hangingPunct="1">
              <a:lnSpc>
                <a:spcPct val="170000"/>
              </a:lnSpc>
              <a:buClr>
                <a:srgbClr val="ED7D31"/>
              </a:buClr>
              <a:buFont typeface="+mj-lt"/>
              <a:buAutoNum type="arabicPeriod"/>
            </a:pPr>
            <a:r>
              <a:rPr lang="en-US" altLang="zh-CN" dirty="0">
                <a:ea typeface="宋体" panose="02010600030101010101" pitchFamily="2" charset="-122"/>
                <a:sym typeface="+mn-ea"/>
              </a:rPr>
              <a:t> </a:t>
            </a:r>
            <a:r>
              <a:rPr lang="en-US" altLang="zh-CN" dirty="0">
                <a:ea typeface="宋体" panose="02010600030101010101" pitchFamily="2" charset="-122"/>
                <a:sym typeface="+mn-ea"/>
              </a:rPr>
              <a:t>编写Animal类，包含名字(name) 、年龄(age)等属性，getDetails方法用于返回Animal的详细信息</a:t>
            </a:r>
            <a:endParaRPr lang="en-US" altLang="zh-CN" dirty="0">
              <a:ea typeface="宋体" panose="02010600030101010101" pitchFamily="2" charset="-122"/>
              <a:sym typeface="+mn-ea"/>
            </a:endParaRPr>
          </a:p>
          <a:p>
            <a:pPr marL="457200" indent="-457200" algn="l" eaLnBrk="1" hangingPunct="1">
              <a:lnSpc>
                <a:spcPct val="170000"/>
              </a:lnSpc>
              <a:buClr>
                <a:srgbClr val="ED7D31"/>
              </a:buClr>
              <a:buSzTx/>
              <a:buFont typeface="+mj-lt"/>
              <a:buAutoNum type="arabicPeriod"/>
            </a:pPr>
            <a:r>
              <a:rPr lang="en-US" altLang="zh-CN" dirty="0">
                <a:ea typeface="宋体" panose="02010600030101010101" pitchFamily="2" charset="-122"/>
                <a:sym typeface="+mn-ea"/>
              </a:rPr>
              <a:t>编写Fish子类，继承Animal类，添加特有属性(scale)和方法(swim)</a:t>
            </a:r>
            <a:endParaRPr lang="en-US" altLang="zh-CN" dirty="0">
              <a:ea typeface="宋体" panose="02010600030101010101" pitchFamily="2" charset="-122"/>
              <a:sym typeface="+mn-ea"/>
            </a:endParaRPr>
          </a:p>
          <a:p>
            <a:pPr marL="457200" indent="-457200" algn="l" eaLnBrk="1" hangingPunct="1">
              <a:lnSpc>
                <a:spcPct val="170000"/>
              </a:lnSpc>
              <a:buClr>
                <a:srgbClr val="ED7D31"/>
              </a:buClr>
              <a:buSzTx/>
              <a:buFont typeface="+mj-lt"/>
              <a:buAutoNum type="arabicPeriod"/>
            </a:pPr>
            <a:r>
              <a:rPr lang="en-US" altLang="zh-CN" dirty="0">
                <a:ea typeface="宋体" panose="02010600030101010101" pitchFamily="2" charset="-122"/>
                <a:sym typeface="+mn-ea"/>
              </a:rPr>
              <a:t>编写Cat子类，继承Animal类，添加特有属性(hairColor)和方法(catchMouse)</a:t>
            </a:r>
            <a:endParaRPr lang="en-US" altLang="zh-CN" dirty="0">
              <a:ea typeface="宋体" panose="02010600030101010101" pitchFamily="2" charset="-122"/>
              <a:sym typeface="+mn-ea"/>
            </a:endParaRPr>
          </a:p>
          <a:p>
            <a:pPr marL="457200" indent="-457200" algn="l" eaLnBrk="1" hangingPunct="1">
              <a:lnSpc>
                <a:spcPct val="170000"/>
              </a:lnSpc>
              <a:buClr>
                <a:srgbClr val="ED7D31"/>
              </a:buClr>
              <a:buSzTx/>
              <a:buFont typeface="+mj-lt"/>
              <a:buAutoNum type="arabicPeriod"/>
            </a:pPr>
            <a:r>
              <a:rPr lang="en-US" altLang="zh-CN" dirty="0">
                <a:ea typeface="宋体" panose="02010600030101010101" pitchFamily="2" charset="-122"/>
                <a:sym typeface="+mn-ea"/>
              </a:rPr>
              <a:t>编写Test类，在main方法中创建Fish和Cat对象，分别访问对象中特有的属性、方法，以及从Animal类继承的属性和方法并打印输出。</a:t>
            </a: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继承中的私有成员</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073150"/>
            <a:ext cx="9527540" cy="4846320"/>
          </a:xfrm>
        </p:spPr>
        <p:txBody>
          <a:bodyPr>
            <a:normAutofit/>
          </a:bodyPr>
          <a:p>
            <a:pPr marL="457200" indent="-457200" eaLnBrk="1" hangingPunct="1">
              <a:lnSpc>
                <a:spcPct val="170000"/>
              </a:lnSpc>
              <a:buClr>
                <a:srgbClr val="ED7D31"/>
              </a:buClr>
              <a:buFont typeface="+mj-lt"/>
              <a:buAutoNum type="arabicPeriod"/>
            </a:pPr>
            <a:r>
              <a:rPr lang="en-US" altLang="zh-CN" dirty="0">
                <a:ea typeface="宋体" panose="02010600030101010101" pitchFamily="2" charset="-122"/>
                <a:sym typeface="+mn-ea"/>
              </a:rPr>
              <a:t> </a:t>
            </a:r>
            <a:r>
              <a:rPr lang="zh-CN" altLang="en-US" dirty="0" smtClean="0">
                <a:latin typeface="+mj-lt"/>
                <a:ea typeface="宋体" panose="02010600030101010101" pitchFamily="2" charset="-122"/>
                <a:sym typeface="+mn-ea"/>
              </a:rPr>
              <a:t>父类中的私有成员，未被子类继承</a:t>
            </a:r>
            <a:endParaRPr lang="zh-CN" altLang="en-US" dirty="0" smtClean="0">
              <a:latin typeface="+mj-lt"/>
              <a:ea typeface="宋体" panose="02010600030101010101" pitchFamily="2" charset="-122"/>
              <a:sym typeface="+mn-ea"/>
            </a:endParaRPr>
          </a:p>
          <a:p>
            <a:pPr marL="0" indent="0" eaLnBrk="1" hangingPunct="1">
              <a:lnSpc>
                <a:spcPct val="170000"/>
              </a:lnSpc>
              <a:buClr>
                <a:srgbClr val="ED7D31"/>
              </a:buClr>
              <a:buFont typeface="+mj-lt"/>
              <a:buNone/>
            </a:pPr>
            <a:r>
              <a:rPr lang="zh-CN" altLang="en-US" dirty="0">
                <a:ea typeface="宋体" panose="02010600030101010101" pitchFamily="2" charset="-122"/>
                <a:sym typeface="+mn-ea"/>
              </a:rPr>
              <a:t>（https://docs.oracle.com/javase/tutorial/java/IandI/subclasses.html）</a:t>
            </a:r>
            <a:endParaRPr lang="zh-CN" altLang="en-US" dirty="0">
              <a:ea typeface="宋体" panose="02010600030101010101" pitchFamily="2" charset="-122"/>
              <a:sym typeface="+mn-ea"/>
            </a:endParaRPr>
          </a:p>
          <a:p>
            <a:pPr marL="0" indent="0" eaLnBrk="1" hangingPunct="1">
              <a:lnSpc>
                <a:spcPct val="170000"/>
              </a:lnSpc>
              <a:buClr>
                <a:srgbClr val="ED7D31"/>
              </a:buClr>
              <a:buFont typeface="+mj-lt"/>
              <a:buNone/>
            </a:pPr>
            <a:r>
              <a:rPr lang="en-US" altLang="zh-CN" sz="900" dirty="0">
                <a:ea typeface="宋体" panose="02010600030101010101" pitchFamily="2" charset="-122"/>
                <a:sym typeface="+mn-ea"/>
              </a:rPr>
              <a:t>Private Members in a Superclass</a:t>
            </a:r>
            <a:endParaRPr lang="en-US" altLang="zh-CN" sz="900" dirty="0">
              <a:ea typeface="宋体" panose="02010600030101010101" pitchFamily="2" charset="-122"/>
              <a:sym typeface="+mn-ea"/>
            </a:endParaRPr>
          </a:p>
          <a:p>
            <a:pPr marL="0" indent="0" eaLnBrk="1" hangingPunct="1">
              <a:lnSpc>
                <a:spcPct val="170000"/>
              </a:lnSpc>
              <a:buClr>
                <a:srgbClr val="ED7D31"/>
              </a:buClr>
              <a:buFont typeface="+mj-lt"/>
              <a:buNone/>
            </a:pPr>
            <a:r>
              <a:rPr lang="en-US" altLang="zh-CN" sz="900" dirty="0">
                <a:ea typeface="宋体" panose="02010600030101010101" pitchFamily="2" charset="-122"/>
                <a:sym typeface="+mn-ea"/>
              </a:rPr>
              <a:t>A subclass does not inherit the private members of its parent class. However, if the superclass has public or protected methods for accessing its private fields, these can also be used by the subclass.</a:t>
            </a:r>
            <a:endParaRPr lang="en-US" altLang="zh-CN" sz="900" dirty="0">
              <a:ea typeface="宋体" panose="02010600030101010101" pitchFamily="2" charset="-122"/>
              <a:sym typeface="+mn-ea"/>
            </a:endParaRPr>
          </a:p>
          <a:p>
            <a:pPr marL="0" indent="0" eaLnBrk="1" hangingPunct="1">
              <a:lnSpc>
                <a:spcPct val="170000"/>
              </a:lnSpc>
              <a:buClr>
                <a:srgbClr val="ED7D31"/>
              </a:buClr>
              <a:buFont typeface="+mj-lt"/>
              <a:buNone/>
            </a:pPr>
            <a:r>
              <a:rPr lang="en-US" altLang="zh-CN" sz="900" dirty="0">
                <a:ea typeface="宋体" panose="02010600030101010101" pitchFamily="2" charset="-122"/>
                <a:sym typeface="+mn-ea"/>
              </a:rPr>
              <a:t>A nested class has access to all the private members of its enclosing class—both fields and methods. Therefore, a public or protected nested class inherited by a subclass has indirect access to all of the private members of the superclass.</a:t>
            </a:r>
            <a:endParaRPr lang="en-US" altLang="zh-CN" sz="900" dirty="0">
              <a:ea typeface="宋体" panose="02010600030101010101" pitchFamily="2" charset="-122"/>
              <a:sym typeface="+mn-ea"/>
            </a:endParaRPr>
          </a:p>
          <a:p>
            <a:pPr marL="457200" indent="-457200" algn="l" eaLnBrk="1" hangingPunct="1">
              <a:lnSpc>
                <a:spcPct val="170000"/>
              </a:lnSpc>
              <a:buClr>
                <a:srgbClr val="ED7D31"/>
              </a:buClr>
              <a:buSzTx/>
              <a:buFont typeface="+mj-lt"/>
              <a:buAutoNum type="arabicPeriod" startAt="2"/>
            </a:pPr>
            <a:r>
              <a:rPr lang="en-US" altLang="zh-CN" dirty="0">
                <a:ea typeface="宋体" panose="02010600030101010101" pitchFamily="2" charset="-122"/>
                <a:sym typeface="+mn-ea"/>
              </a:rPr>
              <a:t>子类不能对私有成员直接进行访问，可通过继承的公有方法来访问</a:t>
            </a:r>
            <a:endParaRPr lang="en-US" altLang="zh-CN" dirty="0">
              <a:ea typeface="宋体" panose="02010600030101010101" pitchFamily="2" charset="-122"/>
            </a:endParaRPr>
          </a:p>
          <a:p>
            <a:pPr eaLnBrk="1" hangingPunct="1">
              <a:lnSpc>
                <a:spcPct val="170000"/>
              </a:lnSpc>
              <a:buClr>
                <a:srgbClr val="ED7D31"/>
              </a:buClr>
              <a:buFont typeface="Wingdings" panose="05000000000000000000" charset="0"/>
              <a:buChar char="Ø"/>
            </a:pPr>
            <a:endParaRPr lang="zh-CN" altLang="en-US" sz="2000" dirty="0">
              <a:ea typeface="宋体" panose="02010600030101010101" pitchFamily="2" charset="-122"/>
              <a:sym typeface="+mn-ea"/>
            </a:endParaRPr>
          </a:p>
          <a:p>
            <a:pPr marL="0" indent="0" eaLnBrk="1" hangingPunct="1">
              <a:lnSpc>
                <a:spcPct val="170000"/>
              </a:lnSpc>
              <a:buNone/>
            </a:pPr>
            <a:endParaRPr lang="zh-CN" altLang="en-US" sz="2000" dirty="0">
              <a:ea typeface="宋体" panose="02010600030101010101" pitchFamily="2" charset="-122"/>
            </a:endParaRPr>
          </a:p>
          <a:p>
            <a:pPr marL="457200" indent="-457200" algn="l" eaLnBrk="1" hangingPunct="1">
              <a:lnSpc>
                <a:spcPct val="170000"/>
              </a:lnSpc>
              <a:buClr>
                <a:srgbClr val="ED7D31"/>
              </a:buClr>
              <a:buSzTx/>
              <a:buFont typeface="+mj-lt"/>
              <a:buAutoNum type="arabicPeriod"/>
            </a:pPr>
            <a:endParaRPr lang="zh-CN" altLang="en-US" sz="1665" dirty="0">
              <a:ea typeface="宋体" panose="02010600030101010101" pitchFamily="2" charset="-122"/>
            </a:endParaRPr>
          </a:p>
          <a:p>
            <a:pPr marL="457200" indent="-457200" eaLnBrk="1" hangingPunct="1">
              <a:lnSpc>
                <a:spcPct val="170000"/>
              </a:lnSpc>
              <a:buClr>
                <a:srgbClr val="ED7D31"/>
              </a:buClr>
              <a:buFont typeface="+mj-lt"/>
              <a:buAutoNum type="arabicPeriod"/>
            </a:pPr>
            <a:endParaRPr lang="zh-CN" altLang="en-US" sz="2000" dirty="0">
              <a:ea typeface="宋体" panose="02010600030101010101" pitchFamily="2" charset="-122"/>
            </a:endParaRPr>
          </a:p>
          <a:p>
            <a:pPr marL="704850" lvl="1" indent="-361950" eaLnBrk="1" hangingPunct="1">
              <a:lnSpc>
                <a:spcPct val="170000"/>
              </a:lnSpc>
              <a:buFont typeface="Times"/>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Person 类</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1008063" y="1020147"/>
            <a:ext cx="7537450" cy="4816475"/>
          </a:xfrm>
        </p:spPr>
        <p:txBody>
          <a:bodyPr>
            <a:noAutofit/>
          </a:bodyPr>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public class Person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private String name = "</a:t>
            </a:r>
            <a:r>
              <a:rPr lang="zh-CN" altLang="en-US" sz="1700" dirty="0" smtClean="0">
                <a:solidFill>
                  <a:srgbClr val="002060"/>
                </a:solidFill>
                <a:ea typeface="宋体" panose="02010600030101010101" pitchFamily="2" charset="-122"/>
                <a:cs typeface="+mn-lt"/>
              </a:rPr>
              <a:t>张三</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private </a:t>
            </a:r>
            <a:r>
              <a:rPr lang="en-US" altLang="zh-CN" sz="1700" dirty="0" err="1" smtClean="0">
                <a:solidFill>
                  <a:srgbClr val="002060"/>
                </a:solidFill>
                <a:ea typeface="宋体" panose="02010600030101010101" pitchFamily="2" charset="-122"/>
                <a:cs typeface="+mn-lt"/>
              </a:rPr>
              <a:t>int</a:t>
            </a:r>
            <a:r>
              <a:rPr lang="en-US" altLang="zh-CN" sz="1700" dirty="0" smtClean="0">
                <a:solidFill>
                  <a:srgbClr val="002060"/>
                </a:solidFill>
                <a:ea typeface="宋体" panose="02010600030101010101" pitchFamily="2" charset="-122"/>
                <a:cs typeface="+mn-lt"/>
              </a:rPr>
              <a:t> age;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private char sex;</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endParaRPr lang="zh-CN" altLang="en-US"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String </a:t>
            </a:r>
            <a:r>
              <a:rPr lang="en-US" altLang="zh-CN" sz="1700" dirty="0" err="1" smtClean="0">
                <a:solidFill>
                  <a:srgbClr val="002060"/>
                </a:solidFill>
                <a:ea typeface="宋体" panose="02010600030101010101" pitchFamily="2" charset="-122"/>
                <a:cs typeface="+mn-lt"/>
              </a:rPr>
              <a:t>getName</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return name;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void </a:t>
            </a:r>
            <a:r>
              <a:rPr lang="en-US" altLang="zh-CN" sz="1700" dirty="0" err="1" smtClean="0">
                <a:solidFill>
                  <a:srgbClr val="002060"/>
                </a:solidFill>
                <a:ea typeface="宋体" panose="02010600030101010101" pitchFamily="2" charset="-122"/>
                <a:cs typeface="+mn-lt"/>
              </a:rPr>
              <a:t>setName</a:t>
            </a:r>
            <a:r>
              <a:rPr lang="en-US" altLang="zh-CN" sz="1700" dirty="0" smtClean="0">
                <a:solidFill>
                  <a:srgbClr val="002060"/>
                </a:solidFill>
                <a:ea typeface="宋体" panose="02010600030101010101" pitchFamily="2" charset="-122"/>
                <a:cs typeface="+mn-lt"/>
              </a:rPr>
              <a:t>(String name)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this.name = name;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a:t>
            </a:r>
            <a:r>
              <a:rPr lang="en-US" altLang="zh-CN" sz="1700" dirty="0" err="1" smtClean="0">
                <a:solidFill>
                  <a:srgbClr val="002060"/>
                </a:solidFill>
                <a:ea typeface="宋体" panose="02010600030101010101" pitchFamily="2" charset="-122"/>
                <a:cs typeface="+mn-lt"/>
              </a:rPr>
              <a:t>int</a:t>
            </a: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getAge</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return age;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mn-ea"/>
                <a:cs typeface="+mn-lt"/>
              </a:rPr>
              <a:t>    	}</a:t>
            </a:r>
            <a:endParaRPr lang="en-US" altLang="zh-CN" sz="1800" dirty="0" smtClean="0">
              <a:solidFill>
                <a:srgbClr val="002060"/>
              </a:solidFill>
              <a:ea typeface="+mn-ea"/>
              <a:cs typeface="+mn-lt"/>
            </a:endParaRPr>
          </a:p>
          <a:p>
            <a:pPr marL="342900" indent="-342900">
              <a:buFont typeface="+mj-lt"/>
              <a:buAutoNum type="arabicPeriod"/>
              <a:defRPr/>
            </a:pPr>
            <a:endParaRPr lang="en-US" altLang="zh-CN" sz="1800" dirty="0" smtClean="0">
              <a:solidFill>
                <a:srgbClr val="002060"/>
              </a:solidFill>
              <a:ea typeface="+mn-ea"/>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Person 类</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900113" y="978557"/>
            <a:ext cx="7537450" cy="5232400"/>
          </a:xfrm>
        </p:spPr>
        <p:txBody>
          <a:bodyPr>
            <a:noAutofit/>
          </a:bodyPr>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public void </a:t>
            </a:r>
            <a:r>
              <a:rPr lang="en-US" altLang="zh-CN" sz="1700" dirty="0" err="1" smtClean="0">
                <a:solidFill>
                  <a:srgbClr val="002060"/>
                </a:solidFill>
                <a:ea typeface="宋体" panose="02010600030101010101" pitchFamily="2" charset="-122"/>
                <a:cs typeface="+mn-lt"/>
              </a:rPr>
              <a:t>setAge</a:t>
            </a:r>
            <a:r>
              <a:rPr lang="en-US" altLang="zh-CN" sz="1700" dirty="0" smtClean="0">
                <a:solidFill>
                  <a:srgbClr val="002060"/>
                </a:solidFill>
                <a:ea typeface="宋体" panose="02010600030101010101" pitchFamily="2" charset="-122"/>
                <a:cs typeface="+mn-lt"/>
              </a:rPr>
              <a:t>(</a:t>
            </a:r>
            <a:r>
              <a:rPr lang="en-US" altLang="zh-CN" sz="1700" dirty="0" err="1" smtClean="0">
                <a:solidFill>
                  <a:srgbClr val="002060"/>
                </a:solidFill>
                <a:ea typeface="宋体" panose="02010600030101010101" pitchFamily="2" charset="-122"/>
                <a:cs typeface="+mn-lt"/>
              </a:rPr>
              <a:t>int</a:t>
            </a:r>
            <a:r>
              <a:rPr lang="en-US" altLang="zh-CN" sz="1700" dirty="0" smtClean="0">
                <a:solidFill>
                  <a:srgbClr val="002060"/>
                </a:solidFill>
                <a:ea typeface="宋体" panose="02010600030101010101" pitchFamily="2" charset="-122"/>
                <a:cs typeface="+mn-lt"/>
              </a:rPr>
              <a:t> age)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this.age</a:t>
            </a:r>
            <a:r>
              <a:rPr lang="en-US" altLang="zh-CN" sz="1700" dirty="0" smtClean="0">
                <a:solidFill>
                  <a:srgbClr val="002060"/>
                </a:solidFill>
                <a:ea typeface="宋体" panose="02010600030101010101" pitchFamily="2" charset="-122"/>
                <a:cs typeface="+mn-lt"/>
              </a:rPr>
              <a:t> = age;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public char </a:t>
            </a:r>
            <a:r>
              <a:rPr lang="en-US" altLang="zh-CN" sz="1700" dirty="0" err="1" smtClean="0">
                <a:solidFill>
                  <a:srgbClr val="002060"/>
                </a:solidFill>
                <a:ea typeface="宋体" panose="02010600030101010101" pitchFamily="2" charset="-122"/>
                <a:cs typeface="+mn-lt"/>
              </a:rPr>
              <a:t>getSex</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return sex;</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public void </a:t>
            </a:r>
            <a:r>
              <a:rPr lang="en-US" altLang="zh-CN" sz="1700" dirty="0" err="1" smtClean="0">
                <a:solidFill>
                  <a:srgbClr val="002060"/>
                </a:solidFill>
                <a:ea typeface="宋体" panose="02010600030101010101" pitchFamily="2" charset="-122"/>
                <a:cs typeface="+mn-lt"/>
              </a:rPr>
              <a:t>setSex</a:t>
            </a:r>
            <a:r>
              <a:rPr lang="en-US" altLang="zh-CN" sz="1700" dirty="0" smtClean="0">
                <a:solidFill>
                  <a:srgbClr val="002060"/>
                </a:solidFill>
                <a:ea typeface="宋体" panose="02010600030101010101" pitchFamily="2" charset="-122"/>
                <a:cs typeface="+mn-lt"/>
              </a:rPr>
              <a:t>(char sex)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this.sex = sex;</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public void eat()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System.out.println</a:t>
            </a:r>
            <a:r>
              <a:rPr lang="en-US" altLang="zh-CN" sz="1700" dirty="0" smtClean="0">
                <a:solidFill>
                  <a:srgbClr val="002060"/>
                </a:solidFill>
                <a:ea typeface="宋体" panose="02010600030101010101" pitchFamily="2" charset="-122"/>
                <a:cs typeface="+mn-lt"/>
              </a:rPr>
              <a:t>(“</a:t>
            </a:r>
            <a:r>
              <a:rPr lang="zh-CN" altLang="en-US" sz="1700" dirty="0" smtClean="0">
                <a:solidFill>
                  <a:srgbClr val="002060"/>
                </a:solidFill>
                <a:ea typeface="宋体" panose="02010600030101010101" pitchFamily="2" charset="-122"/>
                <a:cs typeface="+mn-lt"/>
              </a:rPr>
              <a:t>吃饭</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public void sleep()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System.out.println</a:t>
            </a:r>
            <a:r>
              <a:rPr lang="en-US" altLang="zh-CN" sz="1700" dirty="0" smtClean="0">
                <a:solidFill>
                  <a:srgbClr val="002060"/>
                </a:solidFill>
                <a:ea typeface="宋体" panose="02010600030101010101" pitchFamily="2" charset="-122"/>
                <a:cs typeface="+mn-lt"/>
              </a:rPr>
              <a:t>(“</a:t>
            </a:r>
            <a:r>
              <a:rPr lang="zh-CN" altLang="en-US" sz="1700" dirty="0" smtClean="0">
                <a:solidFill>
                  <a:srgbClr val="002060"/>
                </a:solidFill>
                <a:ea typeface="宋体" panose="02010600030101010101" pitchFamily="2" charset="-122"/>
                <a:cs typeface="+mn-lt"/>
              </a:rPr>
              <a:t>睡觉</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Student 类</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900113" y="996019"/>
            <a:ext cx="7537450" cy="5040312"/>
          </a:xfrm>
        </p:spPr>
        <p:txBody>
          <a:bodyPr>
            <a:noAutofit/>
          </a:bodyPr>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public class Student extends Person{</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//[private String name = "</a:t>
            </a:r>
            <a:r>
              <a:rPr lang="zh-CN" altLang="en-US" sz="1700" dirty="0" smtClean="0">
                <a:ea typeface="宋体" panose="02010600030101010101" pitchFamily="2" charset="-122"/>
                <a:cs typeface="+mn-lt"/>
              </a:rPr>
              <a:t>张三</a:t>
            </a: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/*[public String </a:t>
            </a:r>
            <a:r>
              <a:rPr lang="en-US" altLang="zh-CN" sz="1700" dirty="0" err="1" smtClean="0">
                <a:ea typeface="宋体" panose="02010600030101010101" pitchFamily="2" charset="-122"/>
                <a:cs typeface="+mn-lt"/>
              </a:rPr>
              <a:t>getName</a:t>
            </a: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return name;</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public void </a:t>
            </a:r>
            <a:r>
              <a:rPr lang="en-US" altLang="zh-CN" sz="1700" dirty="0" err="1" smtClean="0">
                <a:ea typeface="宋体" panose="02010600030101010101" pitchFamily="2" charset="-122"/>
                <a:cs typeface="+mn-lt"/>
              </a:rPr>
              <a:t>setName</a:t>
            </a:r>
            <a:r>
              <a:rPr lang="en-US" altLang="zh-CN" sz="1700" dirty="0" smtClean="0">
                <a:ea typeface="宋体" panose="02010600030101010101" pitchFamily="2" charset="-122"/>
                <a:cs typeface="+mn-lt"/>
              </a:rPr>
              <a:t>(String name) {</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this.name = name;</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a:t>
            </a:r>
            <a:r>
              <a:rPr lang="zh-CN" altLang="en-US" sz="1700" dirty="0" smtClean="0">
                <a:ea typeface="宋体" panose="02010600030101010101" pitchFamily="2" charset="-122"/>
                <a:cs typeface="+mn-lt"/>
              </a:rPr>
              <a:t> *</a:t>
            </a: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public String </a:t>
            </a:r>
            <a:r>
              <a:rPr lang="en-US" altLang="zh-CN" sz="1700" dirty="0" err="1" smtClean="0">
                <a:ea typeface="宋体" panose="02010600030101010101" pitchFamily="2" charset="-122"/>
                <a:cs typeface="+mn-lt"/>
              </a:rPr>
              <a:t>className</a:t>
            </a: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public String </a:t>
            </a:r>
            <a:r>
              <a:rPr lang="en-US" altLang="zh-CN" sz="1700" dirty="0" err="1" smtClean="0">
                <a:ea typeface="宋体" panose="02010600030101010101" pitchFamily="2" charset="-122"/>
                <a:cs typeface="+mn-lt"/>
              </a:rPr>
              <a:t>getClassName</a:t>
            </a: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return </a:t>
            </a:r>
            <a:r>
              <a:rPr lang="en-US" altLang="zh-CN" sz="1700" dirty="0" err="1" smtClean="0">
                <a:ea typeface="宋体" panose="02010600030101010101" pitchFamily="2" charset="-122"/>
                <a:cs typeface="+mn-lt"/>
              </a:rPr>
              <a:t>className</a:t>
            </a: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a:t>
            </a:r>
            <a:endParaRPr lang="zh-CN" altLang="en-US"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public void </a:t>
            </a:r>
            <a:r>
              <a:rPr lang="en-US" altLang="zh-CN" sz="1700" dirty="0" err="1" smtClean="0">
                <a:ea typeface="宋体" panose="02010600030101010101" pitchFamily="2" charset="-122"/>
                <a:cs typeface="+mn-lt"/>
              </a:rPr>
              <a:t>setClassName</a:t>
            </a:r>
            <a:r>
              <a:rPr lang="en-US" altLang="zh-CN" sz="1700" dirty="0" smtClean="0">
                <a:ea typeface="宋体" panose="02010600030101010101" pitchFamily="2" charset="-122"/>
                <a:cs typeface="+mn-lt"/>
              </a:rPr>
              <a:t>(String </a:t>
            </a:r>
            <a:r>
              <a:rPr lang="en-US" altLang="zh-CN" sz="1700" dirty="0" err="1" smtClean="0">
                <a:ea typeface="宋体" panose="02010600030101010101" pitchFamily="2" charset="-122"/>
                <a:cs typeface="+mn-lt"/>
              </a:rPr>
              <a:t>className</a:t>
            </a: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a:t>
            </a:r>
            <a:r>
              <a:rPr lang="en-US" altLang="zh-CN" sz="1700" dirty="0" err="1" smtClean="0">
                <a:ea typeface="宋体" panose="02010600030101010101" pitchFamily="2" charset="-122"/>
                <a:cs typeface="+mn-lt"/>
              </a:rPr>
              <a:t>this.className</a:t>
            </a:r>
            <a:r>
              <a:rPr lang="en-US" altLang="zh-CN" sz="1700" dirty="0" smtClean="0">
                <a:ea typeface="宋体" panose="02010600030101010101" pitchFamily="2" charset="-122"/>
                <a:cs typeface="+mn-lt"/>
              </a:rPr>
              <a:t> = </a:t>
            </a:r>
            <a:r>
              <a:rPr lang="en-US" altLang="zh-CN" sz="1700" dirty="0" err="1" smtClean="0">
                <a:ea typeface="宋体" panose="02010600030101010101" pitchFamily="2" charset="-122"/>
                <a:cs typeface="+mn-lt"/>
              </a:rPr>
              <a:t>className</a:t>
            </a: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a:p>
            <a:pPr marL="342900" indent="-342900">
              <a:buFont typeface="Times New Roman" panose="02020603050405020304" charset="0"/>
              <a:buAutoNum type="arabicPeriod"/>
            </a:pPr>
            <a:r>
              <a:rPr lang="en-US" altLang="zh-CN" sz="1700" dirty="0" smtClean="0">
                <a:ea typeface="宋体" panose="02010600030101010101" pitchFamily="2" charset="-122"/>
                <a:cs typeface="+mn-lt"/>
              </a:rPr>
              <a:t>    	}	</a:t>
            </a:r>
            <a:endParaRPr lang="zh-CN" altLang="en-US" sz="1800" dirty="0" smtClean="0">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Student 类</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900113" y="1389084"/>
            <a:ext cx="7537450" cy="5040312"/>
          </a:xfrm>
        </p:spPr>
        <p:txBody>
          <a:bodyPr>
            <a:noAutofit/>
          </a:bodyPr>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void </a:t>
            </a:r>
            <a:r>
              <a:rPr lang="en-US" altLang="zh-CN" sz="1700" dirty="0" err="1" smtClean="0">
                <a:solidFill>
                  <a:srgbClr val="002060"/>
                </a:solidFill>
                <a:ea typeface="宋体" panose="02010600030101010101" pitchFamily="2" charset="-122"/>
                <a:cs typeface="+mn-lt"/>
              </a:rPr>
              <a:t>doHomeWork</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void </a:t>
            </a:r>
            <a:r>
              <a:rPr lang="en-US" altLang="zh-CN" sz="1700" dirty="0" err="1" smtClean="0">
                <a:solidFill>
                  <a:srgbClr val="002060"/>
                </a:solidFill>
                <a:ea typeface="宋体" panose="02010600030101010101" pitchFamily="2" charset="-122"/>
                <a:cs typeface="+mn-lt"/>
              </a:rPr>
              <a:t>attendLecture</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Test类</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900113" y="1398607"/>
            <a:ext cx="7537450" cy="4816475"/>
          </a:xfrm>
        </p:spPr>
        <p:txBody>
          <a:bodyPr>
            <a:normAutofit/>
          </a:bodyPr>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public class Test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static void main(String[] </a:t>
            </a:r>
            <a:r>
              <a:rPr lang="en-US" altLang="zh-CN" sz="1700" dirty="0" err="1" smtClean="0">
                <a:solidFill>
                  <a:srgbClr val="002060"/>
                </a:solidFill>
                <a:ea typeface="宋体" panose="02010600030101010101" pitchFamily="2" charset="-122"/>
                <a:cs typeface="+mn-lt"/>
              </a:rPr>
              <a:t>args</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Student </a:t>
            </a:r>
            <a:r>
              <a:rPr lang="en-US" altLang="zh-CN" sz="1700" dirty="0" err="1" smtClean="0">
                <a:solidFill>
                  <a:srgbClr val="002060"/>
                </a:solidFill>
                <a:ea typeface="宋体" panose="02010600030101010101" pitchFamily="2" charset="-122"/>
                <a:cs typeface="+mn-lt"/>
              </a:rPr>
              <a:t>student</a:t>
            </a:r>
            <a:r>
              <a:rPr lang="en-US" altLang="zh-CN" sz="1700" dirty="0" smtClean="0">
                <a:solidFill>
                  <a:srgbClr val="002060"/>
                </a:solidFill>
                <a:ea typeface="宋体" panose="02010600030101010101" pitchFamily="2" charset="-122"/>
                <a:cs typeface="+mn-lt"/>
              </a:rPr>
              <a:t> = new Student();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endParaRPr lang="zh-CN" altLang="en-US"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System.out.println</a:t>
            </a:r>
            <a:r>
              <a:rPr lang="en-US" altLang="zh-CN" sz="1700" dirty="0" smtClean="0">
                <a:solidFill>
                  <a:srgbClr val="002060"/>
                </a:solidFill>
                <a:ea typeface="宋体" panose="02010600030101010101" pitchFamily="2" charset="-122"/>
                <a:cs typeface="+mn-lt"/>
              </a:rPr>
              <a:t>(</a:t>
            </a:r>
            <a:r>
              <a:rPr lang="en-US" altLang="zh-CN" sz="1700" dirty="0" err="1" smtClean="0">
                <a:solidFill>
                  <a:srgbClr val="002060"/>
                </a:solidFill>
                <a:ea typeface="宋体" panose="02010600030101010101" pitchFamily="2" charset="-122"/>
                <a:cs typeface="+mn-lt"/>
              </a:rPr>
              <a:t>student.className</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System.out.println</a:t>
            </a:r>
            <a:r>
              <a:rPr lang="en-US" altLang="zh-CN" sz="1700" dirty="0" smtClean="0">
                <a:solidFill>
                  <a:srgbClr val="002060"/>
                </a:solidFill>
                <a:ea typeface="宋体" panose="02010600030101010101" pitchFamily="2" charset="-122"/>
                <a:cs typeface="+mn-lt"/>
              </a:rPr>
              <a:t>(</a:t>
            </a:r>
            <a:r>
              <a:rPr lang="en-US" altLang="zh-CN" sz="1700" dirty="0" err="1" smtClean="0">
                <a:solidFill>
                  <a:srgbClr val="002060"/>
                </a:solidFill>
                <a:ea typeface="宋体" panose="02010600030101010101" pitchFamily="2" charset="-122"/>
                <a:cs typeface="+mn-lt"/>
              </a:rPr>
              <a:t>student.getName</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endParaRPr lang="zh-CN" altLang="en-US"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student.sleep</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70000"/>
              </a:lnSpc>
              <a:buClr>
                <a:srgbClr val="ED7D31"/>
              </a:buClr>
              <a:buFont typeface="+mj-lt"/>
              <a:buAutoNum type="arabicPeriod"/>
            </a:pPr>
            <a:r>
              <a:rPr lang="en-US" altLang="zh-CN" dirty="0">
                <a:ea typeface="宋体" panose="02010600030101010101" pitchFamily="2" charset="-122"/>
                <a:sym typeface="+mn-ea"/>
              </a:rPr>
              <a:t> </a:t>
            </a:r>
            <a:r>
              <a:rPr lang="en-US" altLang="zh-CN" dirty="0">
                <a:ea typeface="宋体" panose="02010600030101010101" pitchFamily="2" charset="-122"/>
                <a:sym typeface="+mn-ea"/>
              </a:rPr>
              <a:t>改写Animal类，将所有属性声明为private，getDetails方法用于返回Animal的详细信息</a:t>
            </a:r>
            <a:endParaRPr lang="en-US" altLang="zh-CN" dirty="0">
              <a:ea typeface="宋体" panose="02010600030101010101" pitchFamily="2" charset="-122"/>
              <a:sym typeface="+mn-ea"/>
            </a:endParaRPr>
          </a:p>
          <a:p>
            <a:pPr marL="457200" indent="-457200" eaLnBrk="1" hangingPunct="1">
              <a:lnSpc>
                <a:spcPct val="170000"/>
              </a:lnSpc>
              <a:buClr>
                <a:srgbClr val="ED7D31"/>
              </a:buClr>
              <a:buFont typeface="+mj-lt"/>
              <a:buAutoNum type="arabicPeriod"/>
            </a:pPr>
            <a:r>
              <a:rPr lang="en-US" altLang="zh-CN" dirty="0">
                <a:ea typeface="宋体" panose="02010600030101010101" pitchFamily="2" charset="-122"/>
                <a:sym typeface="+mn-ea"/>
              </a:rPr>
              <a:t>在Cat子类中直接访问继承的私有属性，结果如何？</a:t>
            </a:r>
            <a:endParaRPr lang="en-US" altLang="zh-CN" dirty="0">
              <a:ea typeface="宋体" panose="02010600030101010101" pitchFamily="2" charset="-122"/>
              <a:sym typeface="+mn-ea"/>
            </a:endParaRPr>
          </a:p>
          <a:p>
            <a:pPr marL="457200" indent="-457200" eaLnBrk="1" hangingPunct="1">
              <a:lnSpc>
                <a:spcPct val="170000"/>
              </a:lnSpc>
              <a:buClr>
                <a:srgbClr val="ED7D31"/>
              </a:buClr>
              <a:buFont typeface="+mj-lt"/>
              <a:buAutoNum type="arabicPeriod"/>
            </a:pPr>
            <a:r>
              <a:rPr lang="en-US" altLang="zh-CN" dirty="0">
                <a:ea typeface="宋体" panose="02010600030101010101" pitchFamily="2" charset="-122"/>
                <a:sym typeface="+mn-ea"/>
              </a:rPr>
              <a:t>在Animal类中对私有属性添加公有的get/set方法，在Cat子类中通过这些公有的get/set方法访问私有属性，结果如何？</a:t>
            </a:r>
            <a:endParaRPr lang="zh-CN" altLang="en-US" sz="2000" dirty="0">
              <a:ea typeface="宋体" panose="02010600030101010101" pitchFamily="2" charset="-122"/>
            </a:endParaRPr>
          </a:p>
          <a:p>
            <a:pPr marL="704850" lvl="1" indent="-361950" eaLnBrk="1" hangingPunct="1">
              <a:lnSpc>
                <a:spcPct val="170000"/>
              </a:lnSpc>
              <a:buFont typeface="Times"/>
              <a:buNone/>
            </a:pPr>
            <a:endParaRPr lang="zh-CN" altLang="en-US" dirty="0">
              <a:ea typeface="宋体" panose="02010600030101010101" pitchFamily="2" charset="-122"/>
            </a:endParaRPr>
          </a:p>
          <a:p>
            <a:pPr marL="457200" indent="-457200" eaLnBrk="1" hangingPunct="1">
              <a:lnSpc>
                <a:spcPct val="170000"/>
              </a:lnSpc>
              <a:buClr>
                <a:srgbClr val="ED7D31"/>
              </a:buClr>
              <a:buFont typeface="+mj-lt"/>
              <a:buAutoNum type="arabicPeriod"/>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方法覆盖</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继承中的方法覆盖（override）</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553085" y="1029970"/>
            <a:ext cx="11272520" cy="5341620"/>
          </a:xfrm>
        </p:spPr>
        <p:txBody>
          <a:bodyPr>
            <a:normAutofit fontScale="70000"/>
          </a:bodyPr>
          <a:p>
            <a:pPr eaLnBrk="1" hangingPunct="1">
              <a:lnSpc>
                <a:spcPct val="140000"/>
              </a:lnSpc>
              <a:buClr>
                <a:srgbClr val="ED7D31"/>
              </a:buClr>
              <a:buFont typeface="Wingdings" panose="05000000000000000000" charset="0"/>
              <a:buChar char="Ø"/>
            </a:pPr>
            <a:r>
              <a:rPr lang="en-US" altLang="zh-CN" sz="2000" dirty="0">
                <a:ea typeface="宋体" panose="02010600030101010101" pitchFamily="2" charset="-122"/>
                <a:sym typeface="+mn-ea"/>
              </a:rPr>
              <a:t>  </a:t>
            </a:r>
            <a:r>
              <a:rPr lang="zh-CN" altLang="en-US" sz="2000" dirty="0" smtClean="0">
                <a:latin typeface="+mj-lt"/>
                <a:ea typeface="宋体" panose="02010600030101010101" pitchFamily="2" charset="-122"/>
                <a:sym typeface="+mn-ea"/>
              </a:rPr>
              <a:t>当父类的方法不能满</a:t>
            </a:r>
            <a:r>
              <a:rPr lang="zh-CN" altLang="en-US" sz="2000" dirty="0" smtClean="0">
                <a:latin typeface="+mj-lt"/>
                <a:ea typeface="宋体" panose="02010600030101010101" pitchFamily="2" charset="-122"/>
                <a:sym typeface="+mn-ea"/>
              </a:rPr>
              <a:t>足子类的需求时，我们可以在子类中重写父类的方法，重写也称为复写或者覆盖。方法重写需要符合以下三个要点：</a:t>
            </a:r>
            <a:endParaRPr lang="zh-CN" altLang="en-US" sz="2000" dirty="0" smtClean="0">
              <a:latin typeface="+mj-lt"/>
              <a:ea typeface="宋体" panose="02010600030101010101" pitchFamily="2" charset="-122"/>
              <a:sym typeface="+mn-ea"/>
            </a:endParaRPr>
          </a:p>
          <a:p>
            <a:pPr marL="457200" indent="-457200" eaLnBrk="1" hangingPunct="1">
              <a:lnSpc>
                <a:spcPct val="140000"/>
              </a:lnSpc>
              <a:buClr>
                <a:srgbClr val="ED7D31"/>
              </a:buClr>
              <a:buFont typeface="+mj-ea"/>
              <a:buAutoNum type="circleNumDbPlain"/>
            </a:pPr>
            <a:r>
              <a:rPr lang="zh-CN" altLang="en-US" sz="2000" dirty="0" smtClean="0">
                <a:latin typeface="+mj-lt"/>
                <a:ea typeface="宋体" panose="02010600030101010101" pitchFamily="2" charset="-122"/>
                <a:sym typeface="+mn-ea"/>
              </a:rPr>
              <a:t>要求重写方法的“</a:t>
            </a:r>
            <a:r>
              <a:rPr lang="zh-CN" altLang="en-US" sz="2000" dirty="0" smtClean="0">
                <a:solidFill>
                  <a:srgbClr val="FF0000"/>
                </a:solidFill>
                <a:latin typeface="+mj-lt"/>
                <a:ea typeface="宋体" panose="02010600030101010101" pitchFamily="2" charset="-122"/>
                <a:sym typeface="+mn-ea"/>
              </a:rPr>
              <a:t>方法名</a:t>
            </a:r>
            <a:r>
              <a:rPr lang="zh-CN" altLang="en-US" sz="2000" dirty="0" smtClean="0">
                <a:latin typeface="+mj-lt"/>
                <a:ea typeface="宋体" panose="02010600030101010101" pitchFamily="2" charset="-122"/>
                <a:sym typeface="+mn-ea"/>
              </a:rPr>
              <a:t>”和“</a:t>
            </a:r>
            <a:r>
              <a:rPr lang="zh-CN" altLang="en-US" sz="2000" dirty="0" smtClean="0">
                <a:solidFill>
                  <a:srgbClr val="FF0000"/>
                </a:solidFill>
                <a:latin typeface="+mj-lt"/>
                <a:ea typeface="宋体" panose="02010600030101010101" pitchFamily="2" charset="-122"/>
                <a:sym typeface="+mn-ea"/>
              </a:rPr>
              <a:t>形参列表</a:t>
            </a:r>
            <a:r>
              <a:rPr lang="zh-CN" altLang="en-US" sz="2000" dirty="0" smtClean="0">
                <a:latin typeface="+mj-lt"/>
                <a:ea typeface="宋体" panose="02010600030101010101" pitchFamily="2" charset="-122"/>
                <a:sym typeface="+mn-ea"/>
              </a:rPr>
              <a:t>（个数和类型）”必须</a:t>
            </a:r>
            <a:r>
              <a:rPr lang="zh-CN" altLang="en-US" sz="2000" dirty="0" smtClean="0">
                <a:solidFill>
                  <a:srgbClr val="FF0000"/>
                </a:solidFill>
                <a:latin typeface="+mj-lt"/>
                <a:ea typeface="宋体" panose="02010600030101010101" pitchFamily="2" charset="-122"/>
                <a:sym typeface="+mn-ea"/>
              </a:rPr>
              <a:t>一模一样</a:t>
            </a:r>
            <a:r>
              <a:rPr lang="zh-CN" altLang="en-US" sz="2000" dirty="0" smtClean="0">
                <a:latin typeface="+mj-lt"/>
                <a:ea typeface="宋体" panose="02010600030101010101" pitchFamily="2" charset="-122"/>
                <a:sym typeface="+mn-ea"/>
              </a:rPr>
              <a:t>！</a:t>
            </a:r>
            <a:endParaRPr lang="zh-CN" altLang="en-US" sz="2000" dirty="0" smtClean="0">
              <a:latin typeface="+mj-lt"/>
              <a:ea typeface="宋体" panose="02010600030101010101" pitchFamily="2" charset="-122"/>
              <a:sym typeface="+mn-ea"/>
            </a:endParaRPr>
          </a:p>
          <a:p>
            <a:pPr marL="457200" indent="-457200" eaLnBrk="1" hangingPunct="1">
              <a:lnSpc>
                <a:spcPct val="140000"/>
              </a:lnSpc>
              <a:buClr>
                <a:srgbClr val="ED7D31"/>
              </a:buClr>
              <a:buFont typeface="+mj-ea"/>
              <a:buAutoNum type="circleNumDbPlain"/>
            </a:pPr>
            <a:r>
              <a:rPr lang="zh-CN" altLang="en-US" sz="2000" dirty="0" smtClean="0">
                <a:latin typeface="+mj-lt"/>
                <a:ea typeface="宋体" panose="02010600030101010101" pitchFamily="2" charset="-122"/>
                <a:sym typeface="+mn-ea"/>
              </a:rPr>
              <a:t>要求子类重写方法的</a:t>
            </a:r>
            <a:r>
              <a:rPr lang="zh-CN" altLang="en-US" sz="2000" dirty="0" smtClean="0">
                <a:solidFill>
                  <a:srgbClr val="FF0000"/>
                </a:solidFill>
                <a:latin typeface="+mj-lt"/>
                <a:ea typeface="宋体" panose="02010600030101010101" pitchFamily="2" charset="-122"/>
                <a:sym typeface="+mn-ea"/>
              </a:rPr>
              <a:t>修饰符权限</a:t>
            </a:r>
            <a:r>
              <a:rPr lang="zh-CN" altLang="en-US" sz="2000" dirty="0" smtClean="0">
                <a:latin typeface="+mj-lt"/>
                <a:ea typeface="宋体" panose="02010600030101010101" pitchFamily="2" charset="-122"/>
                <a:sym typeface="+mn-ea"/>
              </a:rPr>
              <a:t>必须</a:t>
            </a:r>
            <a:r>
              <a:rPr lang="zh-CN" altLang="en-US" sz="2000" dirty="0" smtClean="0">
                <a:solidFill>
                  <a:srgbClr val="FF0000"/>
                </a:solidFill>
                <a:latin typeface="+mj-lt"/>
                <a:ea typeface="宋体" panose="02010600030101010101" pitchFamily="2" charset="-122"/>
                <a:sym typeface="+mn-ea"/>
              </a:rPr>
              <a:t>大于等于父类</a:t>
            </a:r>
            <a:r>
              <a:rPr lang="zh-CN" altLang="en-US" sz="2000" dirty="0" smtClean="0">
                <a:latin typeface="+mj-lt"/>
                <a:ea typeface="宋体" panose="02010600030101010101" pitchFamily="2" charset="-122"/>
                <a:sym typeface="+mn-ea"/>
              </a:rPr>
              <a:t>被重写方法的</a:t>
            </a:r>
            <a:r>
              <a:rPr lang="zh-CN" altLang="en-US" sz="2000" dirty="0" smtClean="0">
                <a:solidFill>
                  <a:srgbClr val="FF0000"/>
                </a:solidFill>
                <a:latin typeface="+mj-lt"/>
                <a:ea typeface="宋体" panose="02010600030101010101" pitchFamily="2" charset="-122"/>
                <a:sym typeface="+mn-ea"/>
              </a:rPr>
              <a:t>修饰符权限</a:t>
            </a:r>
            <a:r>
              <a:rPr lang="zh-CN" altLang="en-US" sz="2000" dirty="0" smtClean="0">
                <a:latin typeface="+mj-lt"/>
                <a:ea typeface="宋体" panose="02010600030101010101" pitchFamily="2" charset="-122"/>
                <a:sym typeface="+mn-ea"/>
              </a:rPr>
              <a:t>。</a:t>
            </a:r>
            <a:endParaRPr lang="zh-CN" altLang="en-US" sz="2000" dirty="0" smtClean="0">
              <a:latin typeface="+mj-lt"/>
              <a:ea typeface="宋体" panose="02010600030101010101" pitchFamily="2" charset="-122"/>
              <a:sym typeface="+mn-ea"/>
            </a:endParaRPr>
          </a:p>
          <a:p>
            <a:pPr marL="914400" lvl="1" indent="-457200" eaLnBrk="1" hangingPunct="1">
              <a:lnSpc>
                <a:spcPct val="140000"/>
              </a:lnSpc>
              <a:buClr>
                <a:srgbClr val="ED7D31"/>
              </a:buClr>
              <a:buFont typeface="+mj-ea"/>
              <a:buAutoNum type="circleNumDbPlain"/>
            </a:pPr>
            <a:r>
              <a:rPr lang="zh-CN" altLang="en-US" sz="2000" dirty="0" smtClean="0">
                <a:latin typeface="+mn-ea"/>
                <a:sym typeface="+mn-ea"/>
              </a:rPr>
              <a:t>public &gt; protected &gt; default &gt; private</a:t>
            </a:r>
            <a:endParaRPr lang="zh-CN" altLang="en-US" sz="2000" dirty="0" smtClean="0">
              <a:latin typeface="+mn-ea"/>
              <a:sym typeface="+mn-ea"/>
            </a:endParaRPr>
          </a:p>
          <a:p>
            <a:pPr marL="914400" lvl="1" indent="-457200" eaLnBrk="1" hangingPunct="1">
              <a:lnSpc>
                <a:spcPct val="140000"/>
              </a:lnSpc>
              <a:buClr>
                <a:srgbClr val="ED7D31"/>
              </a:buClr>
              <a:buFont typeface="+mj-ea"/>
              <a:buAutoNum type="circleNumDbPlain"/>
            </a:pPr>
            <a:r>
              <a:rPr lang="zh-CN" altLang="en-US" sz="2000" dirty="0" smtClean="0">
                <a:latin typeface="+mj-lt"/>
                <a:ea typeface="宋体" panose="02010600030101010101" pitchFamily="2" charset="-122"/>
                <a:sym typeface="+mn-ea"/>
              </a:rPr>
              <a:t>注意：</a:t>
            </a:r>
            <a:endParaRPr lang="zh-CN" altLang="en-US" sz="2000" dirty="0" smtClean="0">
              <a:latin typeface="+mj-lt"/>
              <a:ea typeface="宋体" panose="02010600030101010101" pitchFamily="2" charset="-122"/>
              <a:sym typeface="+mn-ea"/>
            </a:endParaRPr>
          </a:p>
          <a:p>
            <a:pPr marL="1371600" lvl="2" indent="-457200" eaLnBrk="1" hangingPunct="1">
              <a:lnSpc>
                <a:spcPct val="140000"/>
              </a:lnSpc>
              <a:buClr>
                <a:srgbClr val="ED7D31"/>
              </a:buClr>
              <a:buFont typeface="+mj-ea"/>
              <a:buAutoNum type="circleNumDbPlain"/>
            </a:pPr>
            <a:r>
              <a:rPr lang="zh-CN" altLang="en-US" sz="2000" dirty="0" smtClean="0">
                <a:latin typeface="+mj-lt"/>
                <a:ea typeface="宋体" panose="02010600030101010101" pitchFamily="2" charset="-122"/>
                <a:sym typeface="+mn-ea"/>
              </a:rPr>
              <a:t>父类中被private修饰的方法不能被子类重写！。</a:t>
            </a:r>
            <a:endParaRPr lang="zh-CN" altLang="en-US" sz="2000" dirty="0" smtClean="0">
              <a:latin typeface="+mj-lt"/>
              <a:ea typeface="宋体" panose="02010600030101010101" pitchFamily="2" charset="-122"/>
              <a:sym typeface="+mn-ea"/>
            </a:endParaRPr>
          </a:p>
          <a:p>
            <a:pPr marL="1371600" lvl="2" indent="-457200" eaLnBrk="1" hangingPunct="1">
              <a:lnSpc>
                <a:spcPct val="140000"/>
              </a:lnSpc>
              <a:buClr>
                <a:srgbClr val="ED7D31"/>
              </a:buClr>
              <a:buFont typeface="+mj-ea"/>
              <a:buAutoNum type="circleNumDbPlain"/>
            </a:pPr>
            <a:r>
              <a:rPr lang="zh-CN" altLang="en-US" sz="2000" dirty="0" smtClean="0">
                <a:latin typeface="+mj-lt"/>
                <a:ea typeface="宋体" panose="02010600030101010101" pitchFamily="2" charset="-122"/>
                <a:sym typeface="+mn-ea"/>
              </a:rPr>
              <a:t>父类被static修饰的方法不能被子类重写！</a:t>
            </a:r>
            <a:endParaRPr lang="zh-CN" altLang="en-US" sz="2000" dirty="0" smtClean="0">
              <a:latin typeface="+mj-lt"/>
              <a:ea typeface="宋体" panose="02010600030101010101" pitchFamily="2" charset="-122"/>
              <a:sym typeface="+mn-ea"/>
            </a:endParaRPr>
          </a:p>
          <a:p>
            <a:pPr marL="457200" indent="-457200" eaLnBrk="1" hangingPunct="1">
              <a:lnSpc>
                <a:spcPct val="140000"/>
              </a:lnSpc>
              <a:buClr>
                <a:srgbClr val="ED7D31"/>
              </a:buClr>
              <a:buFont typeface="+mj-ea"/>
              <a:buAutoNum type="circleNumDbPlain"/>
            </a:pPr>
            <a:r>
              <a:rPr lang="zh-CN" altLang="en-US" sz="2000" dirty="0" smtClean="0">
                <a:latin typeface="+mj-lt"/>
                <a:ea typeface="宋体" panose="02010600030101010101" pitchFamily="2" charset="-122"/>
                <a:sym typeface="+mn-ea"/>
              </a:rPr>
              <a:t>返回值类型和异常类型，子类小于等于父类，“&lt;=”强调的是辈分关系</a:t>
            </a:r>
            <a:endParaRPr lang="zh-CN" altLang="en-US" sz="2000" dirty="0" smtClean="0">
              <a:latin typeface="+mj-lt"/>
              <a:ea typeface="宋体" panose="02010600030101010101" pitchFamily="2" charset="-122"/>
              <a:sym typeface="+mn-ea"/>
            </a:endParaRPr>
          </a:p>
          <a:p>
            <a:pPr marL="914400" lvl="1" indent="-457200" eaLnBrk="1" hangingPunct="1">
              <a:lnSpc>
                <a:spcPct val="140000"/>
              </a:lnSpc>
              <a:buClr>
                <a:srgbClr val="ED7D31"/>
              </a:buClr>
              <a:buFont typeface="+mj-ea"/>
              <a:buAutoNum type="circleNumDbPlain"/>
            </a:pPr>
            <a:r>
              <a:rPr lang="zh-CN" altLang="en-US" sz="1665" dirty="0" smtClean="0">
                <a:latin typeface="+mj-lt"/>
                <a:ea typeface="宋体" panose="02010600030101010101" pitchFamily="2" charset="-122"/>
                <a:sym typeface="+mn-ea"/>
              </a:rPr>
              <a:t>如果返回值类型为“基本数据类型”、“字符串类型”和“void”，</a:t>
            </a:r>
            <a:endParaRPr lang="zh-CN" altLang="en-US" sz="1665" dirty="0" smtClean="0">
              <a:latin typeface="+mj-lt"/>
              <a:ea typeface="宋体" panose="02010600030101010101" pitchFamily="2" charset="-122"/>
              <a:sym typeface="+mn-ea"/>
            </a:endParaRPr>
          </a:p>
          <a:p>
            <a:pPr marL="1371600" lvl="2" indent="-457200" eaLnBrk="1" hangingPunct="1">
              <a:lnSpc>
                <a:spcPct val="140000"/>
              </a:lnSpc>
              <a:buClr>
                <a:srgbClr val="ED7D31"/>
              </a:buClr>
              <a:buFont typeface="+mj-ea"/>
              <a:buAutoNum type="circleNumDbPlain"/>
            </a:pPr>
            <a:r>
              <a:rPr lang="zh-CN" altLang="en-US" sz="1800" dirty="0" smtClean="0">
                <a:latin typeface="+mj-lt"/>
                <a:ea typeface="宋体" panose="02010600030101010101" pitchFamily="2" charset="-122"/>
                <a:sym typeface="+mn-ea"/>
              </a:rPr>
              <a:t>那么要求子类重写方法的返回值类型必须和父类被重写方法的返回值类型保持一致！</a:t>
            </a:r>
            <a:endParaRPr lang="zh-CN" altLang="en-US" sz="1800" dirty="0" smtClean="0">
              <a:latin typeface="+mj-lt"/>
              <a:ea typeface="宋体" panose="02010600030101010101" pitchFamily="2" charset="-122"/>
              <a:sym typeface="+mn-ea"/>
            </a:endParaRPr>
          </a:p>
          <a:p>
            <a:pPr marL="914400" lvl="1" indent="-457200" algn="l" eaLnBrk="1" hangingPunct="1">
              <a:lnSpc>
                <a:spcPct val="140000"/>
              </a:lnSpc>
              <a:buClr>
                <a:srgbClr val="ED7D31"/>
              </a:buClr>
              <a:buSzTx/>
              <a:buFont typeface="+mj-ea"/>
              <a:buAutoNum type="circleNumDbPlain"/>
            </a:pPr>
            <a:r>
              <a:rPr lang="zh-CN" altLang="en-US" sz="1665" dirty="0" smtClean="0">
                <a:latin typeface="+mj-lt"/>
                <a:ea typeface="宋体" panose="02010600030101010101" pitchFamily="2" charset="-122"/>
                <a:sym typeface="+mn-ea"/>
              </a:rPr>
              <a:t>如果返回值类型为“引用数据类型”（不包含“字符串”），</a:t>
            </a:r>
            <a:endParaRPr lang="zh-CN" altLang="en-US" sz="1665" dirty="0" smtClean="0">
              <a:latin typeface="+mj-lt"/>
              <a:ea typeface="宋体" panose="02010600030101010101" pitchFamily="2" charset="-122"/>
              <a:sym typeface="+mn-ea"/>
            </a:endParaRPr>
          </a:p>
          <a:p>
            <a:pPr marL="1371600" lvl="2" indent="-457200" algn="l" eaLnBrk="1" hangingPunct="1">
              <a:lnSpc>
                <a:spcPct val="140000"/>
              </a:lnSpc>
              <a:buClr>
                <a:srgbClr val="ED7D31"/>
              </a:buClr>
              <a:buSzTx/>
              <a:buFont typeface="+mj-ea"/>
              <a:buAutoNum type="circleNumDbPlain"/>
            </a:pPr>
            <a:r>
              <a:rPr lang="zh-CN" altLang="en-US" sz="1800" dirty="0" smtClean="0">
                <a:latin typeface="+mj-lt"/>
                <a:ea typeface="宋体" panose="02010600030101010101" pitchFamily="2" charset="-122"/>
                <a:sym typeface="+mn-ea"/>
              </a:rPr>
              <a:t>要么子类重写方法的返回值类型和父类被重写方法的返回值类型保持一致。</a:t>
            </a:r>
            <a:endParaRPr lang="zh-CN" altLang="en-US" sz="1800" dirty="0" smtClean="0">
              <a:latin typeface="+mj-lt"/>
              <a:ea typeface="宋体" panose="02010600030101010101" pitchFamily="2" charset="-122"/>
              <a:sym typeface="+mn-ea"/>
            </a:endParaRPr>
          </a:p>
          <a:p>
            <a:pPr marL="1371600" lvl="2" indent="-457200" algn="l" eaLnBrk="1" hangingPunct="1">
              <a:lnSpc>
                <a:spcPct val="140000"/>
              </a:lnSpc>
              <a:buClr>
                <a:srgbClr val="ED7D31"/>
              </a:buClr>
              <a:buSzTx/>
              <a:buFont typeface="+mj-ea"/>
              <a:buAutoNum type="circleNumDbPlain"/>
            </a:pPr>
            <a:r>
              <a:rPr lang="zh-CN" altLang="en-US" sz="2000" dirty="0" smtClean="0">
                <a:latin typeface="+mj-lt"/>
                <a:ea typeface="宋体" panose="02010600030101010101" pitchFamily="2" charset="-122"/>
                <a:sym typeface="+mn-ea"/>
              </a:rPr>
              <a:t>要么子类重写方法的返回值类型为父类被重写方法的返回值类型的子类。</a:t>
            </a: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r>
              <a:rPr lang="zh-CN" altLang="en-US" sz="2400" smtClean="0">
                <a:ea typeface="宋体" panose="02010600030101010101" pitchFamily="2" charset="-122"/>
                <a:sym typeface="+mn-ea"/>
              </a:rPr>
              <a:t>方法重写和重载有什么区别？</a:t>
            </a:r>
            <a:endParaRPr lang="zh-CN" altLang="en-US" sz="2400" smtClean="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R="0" indent="0" algn="ctr" defTabSz="914400" fontAlgn="auto">
              <a:lnSpc>
                <a:spcPct val="100000"/>
              </a:lnSpc>
              <a:spcBef>
                <a:spcPts val="0"/>
              </a:spcBef>
              <a:spcAft>
                <a:spcPts val="0"/>
              </a:spcAft>
              <a:buClrTx/>
              <a:buSzTx/>
              <a:buFontTx/>
              <a:buNone/>
              <a:defRPr/>
            </a:pPr>
            <a:r>
              <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solidFill>
                <a:srgbClr val="01255A"/>
              </a:solidFill>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graphicFrame>
        <p:nvGraphicFramePr>
          <p:cNvPr id="8" name="表格 7"/>
          <p:cNvGraphicFramePr/>
          <p:nvPr>
            <p:custDataLst>
              <p:tags r:id="rId5"/>
            </p:custDataLst>
          </p:nvPr>
        </p:nvGraphicFramePr>
        <p:xfrm>
          <a:off x="1545590" y="1508125"/>
          <a:ext cx="8541385" cy="3074670"/>
        </p:xfrm>
        <a:graphic>
          <a:graphicData uri="http://schemas.openxmlformats.org/drawingml/2006/table">
            <a:tbl>
              <a:tblPr/>
              <a:tblGrid>
                <a:gridCol w="1496695"/>
                <a:gridCol w="3018790"/>
                <a:gridCol w="4025900"/>
              </a:tblGrid>
              <a:tr h="454660">
                <a:tc>
                  <a:txBody>
                    <a:bodyPr/>
                    <a:p>
                      <a:pPr indent="0" algn="ctr">
                        <a:buNone/>
                      </a:pPr>
                      <a:r>
                        <a:rPr lang="zh-CN" sz="1200" b="1">
                          <a:solidFill>
                            <a:srgbClr val="000000"/>
                          </a:solidFill>
                          <a:latin typeface="Arial" panose="020B0604020202020204" pitchFamily="34" charset="0"/>
                          <a:ea typeface="等线" panose="02010600030101010101" charset="-122"/>
                        </a:rPr>
                        <a:t>区别点</a:t>
                      </a:r>
                      <a:endParaRPr lang="en-US" altLang="en-US" sz="1200" b="1">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chemeClr val="accent6">
                        <a:lumMod val="60000"/>
                        <a:lumOff val="40000"/>
                      </a:schemeClr>
                    </a:solidFill>
                  </a:tcPr>
                </a:tc>
                <a:tc>
                  <a:txBody>
                    <a:bodyPr/>
                    <a:p>
                      <a:pPr indent="0" algn="ctr">
                        <a:buNone/>
                      </a:pPr>
                      <a:r>
                        <a:rPr lang="zh-CN" sz="1200" b="1">
                          <a:solidFill>
                            <a:srgbClr val="000000"/>
                          </a:solidFill>
                          <a:latin typeface="Arial" panose="020B0604020202020204" pitchFamily="34" charset="0"/>
                          <a:ea typeface="等线" panose="02010600030101010101" charset="-122"/>
                        </a:rPr>
                        <a:t>方法重载</a:t>
                      </a:r>
                      <a:endParaRPr lang="en-US" altLang="en-US" sz="1200" b="1">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chemeClr val="accent6">
                        <a:lumMod val="60000"/>
                        <a:lumOff val="40000"/>
                      </a:schemeClr>
                    </a:solidFill>
                  </a:tcPr>
                </a:tc>
                <a:tc>
                  <a:txBody>
                    <a:bodyPr/>
                    <a:p>
                      <a:pPr indent="0" algn="ctr">
                        <a:buNone/>
                      </a:pPr>
                      <a:r>
                        <a:rPr lang="zh-CN" sz="1200" b="1">
                          <a:solidFill>
                            <a:srgbClr val="000000"/>
                          </a:solidFill>
                          <a:latin typeface="Arial" panose="020B0604020202020204" pitchFamily="34" charset="0"/>
                          <a:ea typeface="等线" panose="02010600030101010101" charset="-122"/>
                        </a:rPr>
                        <a:t>方法重写</a:t>
                      </a:r>
                      <a:endParaRPr lang="en-US" altLang="en-US" sz="1200" b="1">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chemeClr val="accent6">
                        <a:lumMod val="60000"/>
                        <a:lumOff val="40000"/>
                      </a:schemeClr>
                    </a:solidFill>
                  </a:tcPr>
                </a:tc>
              </a:tr>
              <a:tr h="455295">
                <a:tc>
                  <a:txBody>
                    <a:bodyPr/>
                    <a:p>
                      <a:pPr indent="0" algn="ctr">
                        <a:buNone/>
                      </a:pPr>
                      <a:r>
                        <a:rPr lang="zh-CN" sz="1200" b="0">
                          <a:solidFill>
                            <a:srgbClr val="000000"/>
                          </a:solidFill>
                          <a:latin typeface="Arial" panose="020B0604020202020204" pitchFamily="34" charset="0"/>
                          <a:ea typeface="等线" panose="02010600030101010101" charset="-122"/>
                        </a:rPr>
                        <a:t>英文名</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c>
                  <a:txBody>
                    <a:bodyPr/>
                    <a:p>
                      <a:pPr indent="0">
                        <a:buNone/>
                      </a:pPr>
                      <a:r>
                        <a:rPr lang="en-US" sz="1200" b="0">
                          <a:solidFill>
                            <a:srgbClr val="000000"/>
                          </a:solidFill>
                          <a:latin typeface="等线" panose="02010600030101010101" charset="-122"/>
                        </a:rPr>
                        <a:t>overload</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c>
                  <a:txBody>
                    <a:bodyPr/>
                    <a:p>
                      <a:pPr indent="0">
                        <a:buNone/>
                      </a:pPr>
                      <a:r>
                        <a:rPr lang="en-US" sz="1200" b="0">
                          <a:solidFill>
                            <a:srgbClr val="000000"/>
                          </a:solidFill>
                          <a:latin typeface="等线" panose="02010600030101010101" charset="-122"/>
                        </a:rPr>
                        <a:t>override</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r>
              <a:tr h="454660">
                <a:tc>
                  <a:txBody>
                    <a:bodyPr/>
                    <a:p>
                      <a:pPr indent="0" algn="ctr">
                        <a:buNone/>
                      </a:pPr>
                      <a:r>
                        <a:rPr lang="zh-CN" sz="1200" b="0">
                          <a:solidFill>
                            <a:srgbClr val="000000"/>
                          </a:solidFill>
                          <a:latin typeface="Arial" panose="020B0604020202020204" pitchFamily="34" charset="0"/>
                          <a:ea typeface="等线" panose="02010600030101010101" charset="-122"/>
                        </a:rPr>
                        <a:t>范围</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000000"/>
                          </a:solidFill>
                          <a:latin typeface="Arial" panose="020B0604020202020204" pitchFamily="34" charset="0"/>
                          <a:ea typeface="等线" panose="02010600030101010101" charset="-122"/>
                        </a:rPr>
                        <a:t>发生在同一个类中</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000000"/>
                          </a:solidFill>
                          <a:latin typeface="Arial" panose="020B0604020202020204" pitchFamily="34" charset="0"/>
                          <a:ea typeface="等线" panose="02010600030101010101" charset="-122"/>
                        </a:rPr>
                        <a:t>发生在继承关系中</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r>
              <a:tr h="455295">
                <a:tc>
                  <a:txBody>
                    <a:bodyPr/>
                    <a:p>
                      <a:pPr indent="0" algn="ctr">
                        <a:buNone/>
                      </a:pPr>
                      <a:r>
                        <a:rPr lang="zh-CN" sz="1200" b="0">
                          <a:solidFill>
                            <a:srgbClr val="000000"/>
                          </a:solidFill>
                          <a:latin typeface="Arial" panose="020B0604020202020204" pitchFamily="34" charset="0"/>
                          <a:ea typeface="等线" panose="02010600030101010101" charset="-122"/>
                        </a:rPr>
                        <a:t>定义</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等线" panose="02010600030101010101" charset="-122"/>
                        </a:rPr>
                        <a:t>方法名相同、形参列表不相同</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等线" panose="02010600030101010101" charset="-122"/>
                        </a:rPr>
                        <a:t>方法名相同、形参列表相同</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r>
              <a:tr h="454660">
                <a:tc>
                  <a:txBody>
                    <a:bodyPr/>
                    <a:p>
                      <a:pPr indent="0" algn="ctr">
                        <a:buNone/>
                      </a:pP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000000"/>
                          </a:solidFill>
                          <a:latin typeface="Arial" panose="020B0604020202020204" pitchFamily="34" charset="0"/>
                          <a:ea typeface="等线" panose="02010600030101010101" charset="-122"/>
                        </a:rPr>
                        <a:t>对访问权限没有要求</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c>
                  <a:txBody>
                    <a:bodyPr/>
                    <a:p>
                      <a:pPr indent="0">
                        <a:buNone/>
                      </a:pPr>
                      <a:r>
                        <a:rPr lang="zh-CN" sz="1200" b="0">
                          <a:solidFill>
                            <a:srgbClr val="000000"/>
                          </a:solidFill>
                          <a:latin typeface="Arial" panose="020B0604020202020204" pitchFamily="34" charset="0"/>
                          <a:ea typeface="等线" panose="02010600030101010101" charset="-122"/>
                        </a:rPr>
                        <a:t>访问权限，子类大于等于父类</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solidFill>
                      <a:srgbClr val="F8F8F8"/>
                    </a:solidFill>
                  </a:tcPr>
                </a:tc>
              </a:tr>
              <a:tr h="800100">
                <a:tc>
                  <a:txBody>
                    <a:bodyPr/>
                    <a:p>
                      <a:pPr indent="0" algn="ctr">
                        <a:buNone/>
                      </a:pP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等线" panose="02010600030101010101" charset="-122"/>
                        </a:rPr>
                        <a:t>对返回值类型和异常类型没有要求</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等线" panose="02010600030101010101" charset="-122"/>
                        </a:rPr>
                        <a:t>返回值类型和异常类型，子类小于等于父类</a:t>
                      </a:r>
                      <a:endParaRPr lang="en-US" altLang="en-US" sz="1200" b="0">
                        <a:solidFill>
                          <a:srgbClr val="000000"/>
                        </a:solidFill>
                        <a:latin typeface="等线" panose="02010600030101010101" charset="-122"/>
                      </a:endParaRPr>
                    </a:p>
                  </a:txBody>
                  <a:tcPr marL="12700" marR="12700" marT="12700" vert="horz"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Person 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113" y="1088092"/>
            <a:ext cx="7537450" cy="4816475"/>
          </a:xfrm>
        </p:spPr>
        <p:txBody>
          <a:bodyPr>
            <a:noAutofit/>
          </a:bodyPr>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public class Person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private String name = "</a:t>
            </a:r>
            <a:r>
              <a:rPr lang="zh-CN" altLang="en-US" sz="1700" dirty="0" smtClean="0">
                <a:solidFill>
                  <a:srgbClr val="002060"/>
                </a:solidFill>
                <a:ea typeface="宋体" panose="02010600030101010101" pitchFamily="2" charset="-122"/>
                <a:cs typeface="+mn-lt"/>
              </a:rPr>
              <a:t>张三</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private </a:t>
            </a:r>
            <a:r>
              <a:rPr lang="en-US" altLang="zh-CN" sz="1700" dirty="0" err="1" smtClean="0">
                <a:solidFill>
                  <a:srgbClr val="002060"/>
                </a:solidFill>
                <a:ea typeface="宋体" panose="02010600030101010101" pitchFamily="2" charset="-122"/>
                <a:cs typeface="+mn-lt"/>
              </a:rPr>
              <a:t>int</a:t>
            </a:r>
            <a:r>
              <a:rPr lang="en-US" altLang="zh-CN" sz="1700" dirty="0" smtClean="0">
                <a:solidFill>
                  <a:srgbClr val="002060"/>
                </a:solidFill>
                <a:ea typeface="宋体" panose="02010600030101010101" pitchFamily="2" charset="-122"/>
                <a:cs typeface="+mn-lt"/>
              </a:rPr>
              <a:t> age;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private char sex;</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endParaRPr lang="zh-CN" altLang="en-US"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String </a:t>
            </a:r>
            <a:r>
              <a:rPr lang="en-US" altLang="zh-CN" sz="1700" dirty="0" err="1" smtClean="0">
                <a:solidFill>
                  <a:srgbClr val="002060"/>
                </a:solidFill>
                <a:ea typeface="宋体" panose="02010600030101010101" pitchFamily="2" charset="-122"/>
                <a:cs typeface="+mn-lt"/>
              </a:rPr>
              <a:t>getName</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return name;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void </a:t>
            </a:r>
            <a:r>
              <a:rPr lang="en-US" altLang="zh-CN" sz="1700" dirty="0" err="1" smtClean="0">
                <a:solidFill>
                  <a:srgbClr val="002060"/>
                </a:solidFill>
                <a:ea typeface="宋体" panose="02010600030101010101" pitchFamily="2" charset="-122"/>
                <a:cs typeface="+mn-lt"/>
              </a:rPr>
              <a:t>setName</a:t>
            </a:r>
            <a:r>
              <a:rPr lang="en-US" altLang="zh-CN" sz="1700" dirty="0" smtClean="0">
                <a:solidFill>
                  <a:srgbClr val="002060"/>
                </a:solidFill>
                <a:ea typeface="宋体" panose="02010600030101010101" pitchFamily="2" charset="-122"/>
                <a:cs typeface="+mn-lt"/>
              </a:rPr>
              <a:t>(String name)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this.name = name;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a:t>
            </a:r>
            <a:r>
              <a:rPr lang="en-US" altLang="zh-CN" sz="1700" dirty="0" err="1" smtClean="0">
                <a:solidFill>
                  <a:srgbClr val="002060"/>
                </a:solidFill>
                <a:ea typeface="宋体" panose="02010600030101010101" pitchFamily="2" charset="-122"/>
                <a:cs typeface="+mn-lt"/>
              </a:rPr>
              <a:t>int</a:t>
            </a: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getAge</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return age;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mn-ea"/>
                <a:cs typeface="+mn-lt"/>
              </a:rPr>
              <a:t>    	}</a:t>
            </a:r>
            <a:endParaRPr lang="en-US" altLang="zh-CN" sz="1800" dirty="0" smtClean="0">
              <a:solidFill>
                <a:srgbClr val="002060"/>
              </a:solidFill>
              <a:ea typeface="+mn-ea"/>
              <a:cs typeface="+mn-lt"/>
            </a:endParaRPr>
          </a:p>
          <a:p>
            <a:pPr marL="342900" indent="-342900">
              <a:buFont typeface="+mj-lt"/>
              <a:buAutoNum type="arabicPeriod"/>
              <a:defRPr/>
            </a:pPr>
            <a:endParaRPr lang="en-US" altLang="zh-CN" sz="1800" dirty="0" smtClean="0">
              <a:solidFill>
                <a:srgbClr val="002060"/>
              </a:solidFill>
              <a:ea typeface="+mn-ea"/>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Person 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1068388" y="900135"/>
            <a:ext cx="7537450" cy="5232400"/>
          </a:xfrm>
        </p:spPr>
        <p:txBody>
          <a:bodyPr>
            <a:noAutofit/>
          </a:bodyPr>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public void </a:t>
            </a:r>
            <a:r>
              <a:rPr lang="en-US" altLang="zh-CN" sz="1700" dirty="0" err="1" smtClean="0">
                <a:solidFill>
                  <a:srgbClr val="002060"/>
                </a:solidFill>
                <a:ea typeface="宋体" panose="02010600030101010101" pitchFamily="2" charset="-122"/>
                <a:cs typeface="+mn-lt"/>
              </a:rPr>
              <a:t>setAge</a:t>
            </a:r>
            <a:r>
              <a:rPr lang="en-US" altLang="zh-CN" sz="1700" dirty="0" smtClean="0">
                <a:solidFill>
                  <a:srgbClr val="002060"/>
                </a:solidFill>
                <a:ea typeface="宋体" panose="02010600030101010101" pitchFamily="2" charset="-122"/>
                <a:cs typeface="+mn-lt"/>
              </a:rPr>
              <a:t>(</a:t>
            </a:r>
            <a:r>
              <a:rPr lang="en-US" altLang="zh-CN" sz="1700" dirty="0" err="1" smtClean="0">
                <a:solidFill>
                  <a:srgbClr val="002060"/>
                </a:solidFill>
                <a:ea typeface="宋体" panose="02010600030101010101" pitchFamily="2" charset="-122"/>
                <a:cs typeface="+mn-lt"/>
              </a:rPr>
              <a:t>int</a:t>
            </a:r>
            <a:r>
              <a:rPr lang="en-US" altLang="zh-CN" sz="1700" dirty="0" smtClean="0">
                <a:solidFill>
                  <a:srgbClr val="002060"/>
                </a:solidFill>
                <a:ea typeface="宋体" panose="02010600030101010101" pitchFamily="2" charset="-122"/>
                <a:cs typeface="+mn-lt"/>
              </a:rPr>
              <a:t> age)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this.age</a:t>
            </a:r>
            <a:r>
              <a:rPr lang="en-US" altLang="zh-CN" sz="1700" dirty="0" smtClean="0">
                <a:solidFill>
                  <a:srgbClr val="002060"/>
                </a:solidFill>
                <a:ea typeface="宋体" panose="02010600030101010101" pitchFamily="2" charset="-122"/>
                <a:cs typeface="+mn-lt"/>
              </a:rPr>
              <a:t> = age;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public char </a:t>
            </a:r>
            <a:r>
              <a:rPr lang="en-US" altLang="zh-CN" sz="1700" dirty="0" err="1" smtClean="0">
                <a:solidFill>
                  <a:srgbClr val="002060"/>
                </a:solidFill>
                <a:ea typeface="宋体" panose="02010600030101010101" pitchFamily="2" charset="-122"/>
                <a:cs typeface="+mn-lt"/>
              </a:rPr>
              <a:t>getSex</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return sex;</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public void </a:t>
            </a:r>
            <a:r>
              <a:rPr lang="en-US" altLang="zh-CN" sz="1700" dirty="0" err="1" smtClean="0">
                <a:solidFill>
                  <a:srgbClr val="002060"/>
                </a:solidFill>
                <a:ea typeface="宋体" panose="02010600030101010101" pitchFamily="2" charset="-122"/>
                <a:cs typeface="+mn-lt"/>
              </a:rPr>
              <a:t>setSex</a:t>
            </a:r>
            <a:r>
              <a:rPr lang="en-US" altLang="zh-CN" sz="1700" dirty="0" smtClean="0">
                <a:solidFill>
                  <a:srgbClr val="002060"/>
                </a:solidFill>
                <a:ea typeface="宋体" panose="02010600030101010101" pitchFamily="2" charset="-122"/>
                <a:cs typeface="+mn-lt"/>
              </a:rPr>
              <a:t>(char sex)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this.sex = sex;</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public void eat()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System.out.println</a:t>
            </a:r>
            <a:r>
              <a:rPr lang="en-US" altLang="zh-CN" sz="1700" dirty="0" smtClean="0">
                <a:solidFill>
                  <a:srgbClr val="002060"/>
                </a:solidFill>
                <a:ea typeface="宋体" panose="02010600030101010101" pitchFamily="2" charset="-122"/>
                <a:cs typeface="+mn-lt"/>
              </a:rPr>
              <a:t>(“</a:t>
            </a:r>
            <a:r>
              <a:rPr lang="zh-CN" altLang="en-US" sz="1700" dirty="0" smtClean="0">
                <a:solidFill>
                  <a:srgbClr val="002060"/>
                </a:solidFill>
                <a:ea typeface="宋体" panose="02010600030101010101" pitchFamily="2" charset="-122"/>
                <a:cs typeface="+mn-lt"/>
              </a:rPr>
              <a:t>吃饭</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public void sleep()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System.out.println</a:t>
            </a:r>
            <a:r>
              <a:rPr lang="en-US" altLang="zh-CN" sz="1700" dirty="0" smtClean="0">
                <a:solidFill>
                  <a:srgbClr val="002060"/>
                </a:solidFill>
                <a:ea typeface="宋体" panose="02010600030101010101" pitchFamily="2" charset="-122"/>
                <a:cs typeface="+mn-lt"/>
              </a:rPr>
              <a:t>(“</a:t>
            </a:r>
            <a:r>
              <a:rPr lang="zh-CN" altLang="en-US" sz="1700" dirty="0" smtClean="0">
                <a:solidFill>
                  <a:srgbClr val="002060"/>
                </a:solidFill>
                <a:ea typeface="宋体" panose="02010600030101010101" pitchFamily="2" charset="-122"/>
                <a:cs typeface="+mn-lt"/>
              </a:rPr>
              <a:t>睡觉</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startAt="14"/>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Student 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1008063" y="882036"/>
            <a:ext cx="7537450" cy="5094287"/>
          </a:xfrm>
        </p:spPr>
        <p:txBody>
          <a:bodyPr>
            <a:noAutofit/>
          </a:bodyPr>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public class Student extends Person{</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String </a:t>
            </a:r>
            <a:r>
              <a:rPr lang="en-US" altLang="zh-CN" sz="1700" dirty="0" err="1" smtClean="0">
                <a:solidFill>
                  <a:srgbClr val="002060"/>
                </a:solidFill>
                <a:ea typeface="宋体" panose="02010600030101010101" pitchFamily="2" charset="-122"/>
                <a:cs typeface="+mn-lt"/>
              </a:rPr>
              <a:t>className</a:t>
            </a:r>
            <a:r>
              <a:rPr lang="en-US" altLang="zh-CN" sz="1700" dirty="0" smtClean="0">
                <a:solidFill>
                  <a:srgbClr val="002060"/>
                </a:solidFill>
                <a:ea typeface="宋体" panose="02010600030101010101" pitchFamily="2" charset="-122"/>
                <a:cs typeface="+mn-lt"/>
              </a:rPr>
              <a:t> = “OJ033”;</a:t>
            </a:r>
            <a:endParaRPr lang="zh-CN" altLang="en-US"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String </a:t>
            </a:r>
            <a:r>
              <a:rPr lang="en-US" altLang="zh-CN" sz="1700" dirty="0" err="1" smtClean="0">
                <a:solidFill>
                  <a:srgbClr val="002060"/>
                </a:solidFill>
                <a:ea typeface="宋体" panose="02010600030101010101" pitchFamily="2" charset="-122"/>
                <a:cs typeface="+mn-lt"/>
              </a:rPr>
              <a:t>getClassName</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return </a:t>
            </a:r>
            <a:r>
              <a:rPr lang="en-US" altLang="zh-CN" sz="1700" dirty="0" err="1" smtClean="0">
                <a:solidFill>
                  <a:srgbClr val="002060"/>
                </a:solidFill>
                <a:ea typeface="宋体" panose="02010600030101010101" pitchFamily="2" charset="-122"/>
                <a:cs typeface="+mn-lt"/>
              </a:rPr>
              <a:t>className</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zh-CN" altLang="en-US"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void </a:t>
            </a:r>
            <a:r>
              <a:rPr lang="en-US" altLang="zh-CN" sz="1700" dirty="0" err="1" smtClean="0">
                <a:solidFill>
                  <a:srgbClr val="002060"/>
                </a:solidFill>
                <a:ea typeface="宋体" panose="02010600030101010101" pitchFamily="2" charset="-122"/>
                <a:cs typeface="+mn-lt"/>
              </a:rPr>
              <a:t>setClassName</a:t>
            </a:r>
            <a:r>
              <a:rPr lang="en-US" altLang="zh-CN" sz="1700" dirty="0" smtClean="0">
                <a:solidFill>
                  <a:srgbClr val="002060"/>
                </a:solidFill>
                <a:ea typeface="宋体" panose="02010600030101010101" pitchFamily="2" charset="-122"/>
                <a:cs typeface="+mn-lt"/>
              </a:rPr>
              <a:t>(String </a:t>
            </a:r>
            <a:r>
              <a:rPr lang="en-US" altLang="zh-CN" sz="1700" dirty="0" err="1" smtClean="0">
                <a:solidFill>
                  <a:srgbClr val="002060"/>
                </a:solidFill>
                <a:ea typeface="宋体" panose="02010600030101010101" pitchFamily="2" charset="-122"/>
                <a:cs typeface="+mn-lt"/>
              </a:rPr>
              <a:t>className</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this.className</a:t>
            </a:r>
            <a:r>
              <a:rPr lang="en-US" altLang="zh-CN" sz="1700" dirty="0" smtClean="0">
                <a:solidFill>
                  <a:srgbClr val="002060"/>
                </a:solidFill>
                <a:ea typeface="宋体" panose="02010600030101010101" pitchFamily="2" charset="-122"/>
                <a:cs typeface="+mn-lt"/>
              </a:rPr>
              <a:t> = </a:t>
            </a:r>
            <a:r>
              <a:rPr lang="en-US" altLang="zh-CN" sz="1700" dirty="0" err="1" smtClean="0">
                <a:solidFill>
                  <a:srgbClr val="002060"/>
                </a:solidFill>
                <a:ea typeface="宋体" panose="02010600030101010101" pitchFamily="2" charset="-122"/>
                <a:cs typeface="+mn-lt"/>
              </a:rPr>
              <a:t>className</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zh-CN" altLang="en-US"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void </a:t>
            </a:r>
            <a:r>
              <a:rPr lang="en-US" altLang="zh-CN" sz="1700" dirty="0" err="1" smtClean="0">
                <a:solidFill>
                  <a:srgbClr val="002060"/>
                </a:solidFill>
                <a:ea typeface="宋体" panose="02010600030101010101" pitchFamily="2" charset="-122"/>
                <a:cs typeface="+mn-lt"/>
              </a:rPr>
              <a:t>doHomeWork</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void sleep()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System.out.println</a:t>
            </a:r>
            <a:r>
              <a:rPr lang="en-US" altLang="zh-CN" sz="1700" dirty="0" smtClean="0">
                <a:solidFill>
                  <a:srgbClr val="002060"/>
                </a:solidFill>
                <a:ea typeface="宋体" panose="02010600030101010101" pitchFamily="2" charset="-122"/>
                <a:cs typeface="+mn-lt"/>
              </a:rPr>
              <a:t>(“</a:t>
            </a:r>
            <a:r>
              <a:rPr lang="zh-CN" altLang="en-US" sz="1700" dirty="0" smtClean="0">
                <a:solidFill>
                  <a:srgbClr val="002060"/>
                </a:solidFill>
                <a:ea typeface="宋体" panose="02010600030101010101" pitchFamily="2" charset="-122"/>
                <a:cs typeface="+mn-lt"/>
              </a:rPr>
              <a:t>坐着睡</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Test类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900113" y="1327169"/>
            <a:ext cx="7537450" cy="4816475"/>
          </a:xfrm>
        </p:spPr>
        <p:txBody>
          <a:bodyPr>
            <a:normAutofit/>
          </a:bodyPr>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public class Test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static void main(String[] </a:t>
            </a:r>
            <a:r>
              <a:rPr lang="en-US" altLang="zh-CN" sz="1700" dirty="0" err="1" smtClean="0">
                <a:solidFill>
                  <a:srgbClr val="002060"/>
                </a:solidFill>
                <a:ea typeface="宋体" panose="02010600030101010101" pitchFamily="2" charset="-122"/>
                <a:cs typeface="+mn-lt"/>
              </a:rPr>
              <a:t>args</a:t>
            </a: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Student </a:t>
            </a:r>
            <a:r>
              <a:rPr lang="en-US" altLang="zh-CN" sz="1700" dirty="0" err="1" smtClean="0">
                <a:solidFill>
                  <a:srgbClr val="002060"/>
                </a:solidFill>
                <a:ea typeface="宋体" panose="02010600030101010101" pitchFamily="2" charset="-122"/>
                <a:cs typeface="+mn-lt"/>
              </a:rPr>
              <a:t>student</a:t>
            </a:r>
            <a:r>
              <a:rPr lang="en-US" altLang="zh-CN" sz="1700" dirty="0" smtClean="0">
                <a:solidFill>
                  <a:srgbClr val="002060"/>
                </a:solidFill>
                <a:ea typeface="宋体" panose="02010600030101010101" pitchFamily="2" charset="-122"/>
                <a:cs typeface="+mn-lt"/>
              </a:rPr>
              <a:t> = new Student();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endParaRPr lang="zh-CN" altLang="en-US"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System.out.println</a:t>
            </a:r>
            <a:r>
              <a:rPr lang="en-US" altLang="zh-CN" sz="1700" dirty="0" smtClean="0">
                <a:solidFill>
                  <a:srgbClr val="002060"/>
                </a:solidFill>
                <a:ea typeface="宋体" panose="02010600030101010101" pitchFamily="2" charset="-122"/>
                <a:cs typeface="+mn-lt"/>
              </a:rPr>
              <a:t>(</a:t>
            </a:r>
            <a:r>
              <a:rPr lang="en-US" altLang="zh-CN" sz="1700" dirty="0" err="1" smtClean="0">
                <a:solidFill>
                  <a:srgbClr val="002060"/>
                </a:solidFill>
                <a:ea typeface="宋体" panose="02010600030101010101" pitchFamily="2" charset="-122"/>
                <a:cs typeface="+mn-lt"/>
              </a:rPr>
              <a:t>student.className</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System.out.println</a:t>
            </a:r>
            <a:r>
              <a:rPr lang="en-US" altLang="zh-CN" sz="1700" dirty="0" smtClean="0">
                <a:solidFill>
                  <a:srgbClr val="002060"/>
                </a:solidFill>
                <a:ea typeface="宋体" panose="02010600030101010101" pitchFamily="2" charset="-122"/>
                <a:cs typeface="+mn-lt"/>
              </a:rPr>
              <a:t>(</a:t>
            </a:r>
            <a:r>
              <a:rPr lang="en-US" altLang="zh-CN" sz="1700" dirty="0" err="1" smtClean="0">
                <a:solidFill>
                  <a:srgbClr val="002060"/>
                </a:solidFill>
                <a:ea typeface="宋体" panose="02010600030101010101" pitchFamily="2" charset="-122"/>
                <a:cs typeface="+mn-lt"/>
              </a:rPr>
              <a:t>student.getName</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endParaRPr lang="zh-CN" altLang="en-US"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r>
              <a:rPr lang="en-US" altLang="zh-CN" sz="1700" dirty="0" err="1" smtClean="0">
                <a:solidFill>
                  <a:srgbClr val="002060"/>
                </a:solidFill>
                <a:ea typeface="宋体" panose="02010600030101010101" pitchFamily="2" charset="-122"/>
                <a:cs typeface="+mn-lt"/>
              </a:rPr>
              <a:t>student.sleep</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60000"/>
              </a:lnSpc>
              <a:buClr>
                <a:srgbClr val="ED7D31"/>
              </a:buClr>
              <a:buFont typeface="+mj-lt"/>
              <a:buAutoNum type="arabicPeriod"/>
            </a:pPr>
            <a:r>
              <a:rPr lang="zh-CN" altLang="en-US" dirty="0" smtClean="0">
                <a:ea typeface="宋体" panose="02010600030101010101" pitchFamily="2" charset="-122"/>
                <a:sym typeface="+mn-ea"/>
              </a:rPr>
              <a:t>在</a:t>
            </a:r>
            <a:r>
              <a:rPr lang="en-US" altLang="zh-CN" dirty="0" smtClean="0">
                <a:ea typeface="宋体" panose="02010600030101010101" pitchFamily="2" charset="-122"/>
                <a:sym typeface="+mn-ea"/>
              </a:rPr>
              <a:t>Animal</a:t>
            </a:r>
            <a:r>
              <a:rPr lang="zh-CN" altLang="en-US" dirty="0" smtClean="0">
                <a:ea typeface="宋体" panose="02010600030101010101" pitchFamily="2" charset="-122"/>
                <a:sym typeface="+mn-ea"/>
              </a:rPr>
              <a:t>类中添加</a:t>
            </a:r>
            <a:r>
              <a:rPr lang="en-US" altLang="zh-CN" dirty="0" smtClean="0">
                <a:ea typeface="宋体" panose="02010600030101010101" pitchFamily="2" charset="-122"/>
                <a:sym typeface="+mn-ea"/>
              </a:rPr>
              <a:t>eat</a:t>
            </a:r>
            <a:r>
              <a:rPr lang="zh-CN" altLang="en-US" dirty="0" smtClean="0">
                <a:ea typeface="宋体" panose="02010600030101010101" pitchFamily="2" charset="-122"/>
                <a:sym typeface="+mn-ea"/>
              </a:rPr>
              <a:t>方法返回</a:t>
            </a:r>
            <a:r>
              <a:rPr lang="en-US" altLang="zh-CN" dirty="0" smtClean="0">
                <a:ea typeface="宋体" panose="02010600030101010101" pitchFamily="2" charset="-122"/>
                <a:sym typeface="+mn-ea"/>
              </a:rPr>
              <a:t>String</a:t>
            </a:r>
            <a:r>
              <a:rPr lang="zh-CN" altLang="en-US" dirty="0" smtClean="0">
                <a:ea typeface="宋体" panose="02010600030101010101" pitchFamily="2" charset="-122"/>
                <a:sym typeface="+mn-ea"/>
              </a:rPr>
              <a:t>类型数据。</a:t>
            </a:r>
            <a:endParaRPr lang="zh-CN" altLang="en-US" dirty="0" smtClean="0">
              <a:ea typeface="宋体" panose="02010600030101010101" pitchFamily="2" charset="-122"/>
              <a:sym typeface="+mn-ea"/>
            </a:endParaRPr>
          </a:p>
          <a:p>
            <a:pPr marL="457200" indent="-457200" eaLnBrk="1" hangingPunct="1">
              <a:lnSpc>
                <a:spcPct val="160000"/>
              </a:lnSpc>
              <a:buClr>
                <a:srgbClr val="ED7D31"/>
              </a:buClr>
              <a:buFont typeface="+mj-lt"/>
              <a:buAutoNum type="arabicPeriod"/>
            </a:pPr>
            <a:r>
              <a:rPr lang="zh-CN" altLang="en-US" dirty="0" smtClean="0">
                <a:ea typeface="宋体" panose="02010600030101010101" pitchFamily="2" charset="-122"/>
                <a:sym typeface="+mn-ea"/>
              </a:rPr>
              <a:t>在</a:t>
            </a:r>
            <a:r>
              <a:rPr lang="en-US" altLang="zh-CN" dirty="0" smtClean="0">
                <a:sym typeface="+mn-ea"/>
              </a:rPr>
              <a:t>Cat</a:t>
            </a:r>
            <a:r>
              <a:rPr lang="zh-CN" altLang="en-US" dirty="0" smtClean="0">
                <a:ea typeface="宋体" panose="02010600030101010101" pitchFamily="2" charset="-122"/>
                <a:sym typeface="+mn-ea"/>
              </a:rPr>
              <a:t>类中，覆盖</a:t>
            </a:r>
            <a:r>
              <a:rPr lang="en-US" altLang="zh-CN" dirty="0" smtClean="0">
                <a:ea typeface="宋体" panose="02010600030101010101" pitchFamily="2" charset="-122"/>
                <a:sym typeface="+mn-ea"/>
              </a:rPr>
              <a:t>eat </a:t>
            </a:r>
            <a:r>
              <a:rPr lang="zh-CN" altLang="en-US" dirty="0" smtClean="0">
                <a:ea typeface="宋体" panose="02010600030101010101" pitchFamily="2" charset="-122"/>
                <a:sym typeface="+mn-ea"/>
              </a:rPr>
              <a:t>方法和</a:t>
            </a:r>
            <a:r>
              <a:rPr lang="en-US" altLang="zh-CN" dirty="0" err="1" smtClean="0">
                <a:ea typeface="宋体" panose="02010600030101010101" pitchFamily="2" charset="-122"/>
                <a:sym typeface="+mn-ea"/>
              </a:rPr>
              <a:t>getDetails</a:t>
            </a:r>
            <a:r>
              <a:rPr lang="zh-CN" altLang="en-US" dirty="0" smtClean="0">
                <a:ea typeface="宋体" panose="02010600030101010101" pitchFamily="2" charset="-122"/>
                <a:sym typeface="+mn-ea"/>
              </a:rPr>
              <a:t>方法，方法返回</a:t>
            </a:r>
            <a:r>
              <a:rPr lang="en-US" altLang="zh-CN" dirty="0" smtClean="0">
                <a:sym typeface="+mn-ea"/>
              </a:rPr>
              <a:t>Cat</a:t>
            </a:r>
            <a:r>
              <a:rPr lang="zh-CN" altLang="en-US" dirty="0" smtClean="0">
                <a:sym typeface="+mn-ea"/>
              </a:rPr>
              <a:t>吃什么以及</a:t>
            </a:r>
            <a:r>
              <a:rPr lang="en-US" altLang="zh-CN" dirty="0" smtClean="0">
                <a:sym typeface="+mn-ea"/>
              </a:rPr>
              <a:t>Cat</a:t>
            </a:r>
            <a:r>
              <a:rPr lang="zh-CN" altLang="en-US" dirty="0" smtClean="0">
                <a:ea typeface="宋体" panose="02010600030101010101" pitchFamily="2" charset="-122"/>
                <a:sym typeface="+mn-ea"/>
              </a:rPr>
              <a:t>的详细信息。</a:t>
            </a:r>
            <a:endParaRPr lang="zh-CN" altLang="en-US" dirty="0" smtClean="0">
              <a:ea typeface="宋体" panose="02010600030101010101" pitchFamily="2" charset="-122"/>
              <a:sym typeface="+mn-ea"/>
            </a:endParaRPr>
          </a:p>
          <a:p>
            <a:pPr marL="457200" indent="-457200" eaLnBrk="1" hangingPunct="1">
              <a:lnSpc>
                <a:spcPct val="160000"/>
              </a:lnSpc>
              <a:buClr>
                <a:srgbClr val="ED7D31"/>
              </a:buClr>
              <a:buFont typeface="+mj-lt"/>
              <a:buAutoNum type="arabicPeriod"/>
            </a:pPr>
            <a:r>
              <a:rPr lang="zh-CN" altLang="en-US" dirty="0" smtClean="0">
                <a:ea typeface="宋体" panose="02010600030101010101" pitchFamily="2" charset="-122"/>
                <a:sym typeface="+mn-ea"/>
              </a:rPr>
              <a:t>在</a:t>
            </a:r>
            <a:r>
              <a:rPr lang="en-US" altLang="zh-CN" dirty="0" smtClean="0">
                <a:ea typeface="宋体" panose="02010600030101010101" pitchFamily="2" charset="-122"/>
                <a:sym typeface="+mn-ea"/>
              </a:rPr>
              <a:t>Test</a:t>
            </a:r>
            <a:r>
              <a:rPr lang="zh-CN" altLang="en-US" dirty="0" smtClean="0">
                <a:ea typeface="宋体" panose="02010600030101010101" pitchFamily="2" charset="-122"/>
                <a:sym typeface="+mn-ea"/>
              </a:rPr>
              <a:t>类中调用调用</a:t>
            </a:r>
            <a:r>
              <a:rPr lang="en-US" altLang="zh-CN" dirty="0" smtClean="0">
                <a:ea typeface="宋体" panose="02010600030101010101" pitchFamily="2" charset="-122"/>
                <a:sym typeface="+mn-ea"/>
              </a:rPr>
              <a:t>eat</a:t>
            </a:r>
            <a:r>
              <a:rPr lang="zh-CN" altLang="en-US" dirty="0" smtClean="0">
                <a:ea typeface="宋体" panose="02010600030101010101" pitchFamily="2" charset="-122"/>
                <a:sym typeface="+mn-ea"/>
              </a:rPr>
              <a:t>方法和</a:t>
            </a:r>
            <a:r>
              <a:rPr lang="en-US" altLang="zh-CN" dirty="0" err="1" smtClean="0">
                <a:ea typeface="宋体" panose="02010600030101010101" pitchFamily="2" charset="-122"/>
                <a:sym typeface="+mn-ea"/>
              </a:rPr>
              <a:t>getDetails</a:t>
            </a:r>
            <a:r>
              <a:rPr lang="zh-CN" altLang="en-US" dirty="0" smtClean="0">
                <a:ea typeface="宋体" panose="02010600030101010101" pitchFamily="2" charset="-122"/>
                <a:sym typeface="+mn-ea"/>
              </a:rPr>
              <a:t>方法，确认输出结果。</a:t>
            </a:r>
            <a:endParaRPr lang="zh-CN" altLang="en-US" dirty="0" smtClean="0">
              <a:ea typeface="宋体" panose="02010600030101010101" pitchFamily="2" charset="-122"/>
            </a:endParaRPr>
          </a:p>
          <a:p>
            <a:pPr marL="0" indent="0" eaLnBrk="1" hangingPunct="1">
              <a:lnSpc>
                <a:spcPct val="16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使用</a:t>
            </a:r>
            <a:r>
              <a:rPr lang="en-US" altLang="zh-CN" sz="2400" smtClean="0">
                <a:ea typeface="宋体" panose="02010600030101010101" pitchFamily="2" charset="-122"/>
                <a:sym typeface="+mn-ea"/>
              </a:rPr>
              <a:t>super</a:t>
            </a:r>
            <a:r>
              <a:rPr lang="zh-CN" altLang="en-US" sz="2400" smtClean="0">
                <a:ea typeface="宋体" panose="02010600030101010101" pitchFamily="2" charset="-122"/>
                <a:sym typeface="+mn-ea"/>
              </a:rPr>
              <a:t>关键字</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726940"/>
          </a:xfrm>
        </p:spPr>
        <p:txBody>
          <a:bodyPr>
            <a:normAutofit/>
          </a:bodyPr>
          <a:p>
            <a:pPr marL="457200" indent="-457200" eaLnBrk="1" hangingPunct="1">
              <a:lnSpc>
                <a:spcPct val="160000"/>
              </a:lnSpc>
              <a:buClr>
                <a:srgbClr val="ED7D31"/>
              </a:buClr>
              <a:buFont typeface="+mj-lt"/>
              <a:buAutoNum type="arabicPeriod"/>
            </a:pPr>
            <a:r>
              <a:rPr lang="en-US" altLang="zh-CN" dirty="0" smtClean="0">
                <a:ea typeface="宋体" panose="02010600030101010101" pitchFamily="2" charset="-122"/>
                <a:sym typeface="+mn-ea"/>
              </a:rPr>
              <a:t>   super</a:t>
            </a:r>
            <a:r>
              <a:rPr lang="zh-CN" altLang="en-US" dirty="0" smtClean="0">
                <a:ea typeface="宋体" panose="02010600030101010101" pitchFamily="2" charset="-122"/>
                <a:sym typeface="+mn-ea"/>
              </a:rPr>
              <a:t>关键字用来</a:t>
            </a:r>
            <a:r>
              <a:rPr lang="zh-CN" altLang="en-US" dirty="0" smtClean="0">
                <a:latin typeface="+mj-lt"/>
                <a:ea typeface="宋体" panose="02010600030101010101" pitchFamily="2" charset="-122"/>
                <a:sym typeface="+mn-ea"/>
              </a:rPr>
              <a:t>调用（本类中）被覆盖的（父类）属性和方法</a:t>
            </a:r>
            <a:endParaRPr lang="en-US" altLang="zh-CN" dirty="0" smtClean="0">
              <a:latin typeface="+mj-lt"/>
              <a:ea typeface="宋体" panose="02010600030101010101" pitchFamily="2" charset="-122"/>
            </a:endParaRPr>
          </a:p>
          <a:p>
            <a:pPr marL="800100" lvl="1" indent="-342900" eaLnBrk="1" hangingPunct="1">
              <a:lnSpc>
                <a:spcPct val="160000"/>
              </a:lnSpc>
              <a:buClr>
                <a:srgbClr val="ED7D31"/>
              </a:buClr>
              <a:buFont typeface="Arial" panose="020B0604020202020204" pitchFamily="34" charset="0"/>
              <a:buChar char="•"/>
            </a:pPr>
            <a:r>
              <a:rPr lang="zh-CN" altLang="en-US" dirty="0" smtClean="0">
                <a:solidFill>
                  <a:srgbClr val="002060"/>
                </a:solidFill>
                <a:latin typeface="+mj-lt"/>
                <a:ea typeface="宋体" panose="02010600030101010101" pitchFamily="2" charset="-122"/>
                <a:sym typeface="+mn-ea"/>
              </a:rPr>
              <a:t>例如：</a:t>
            </a:r>
            <a:endParaRPr lang="zh-CN" altLang="en-US" dirty="0" smtClean="0">
              <a:solidFill>
                <a:srgbClr val="002060"/>
              </a:solidFill>
              <a:latin typeface="+mj-lt"/>
              <a:ea typeface="宋体" panose="02010600030101010101" pitchFamily="2" charset="-122"/>
              <a:sym typeface="+mn-ea"/>
            </a:endParaRPr>
          </a:p>
          <a:p>
            <a:pPr marL="800100" lvl="1" indent="-342900" eaLnBrk="1" hangingPunct="1">
              <a:lnSpc>
                <a:spcPct val="160000"/>
              </a:lnSpc>
              <a:buClr>
                <a:srgbClr val="ED7D31"/>
              </a:buClr>
              <a:buFont typeface="Arial" panose="020B0604020202020204" pitchFamily="34" charset="0"/>
              <a:buChar char="•"/>
            </a:pPr>
            <a:r>
              <a:rPr lang="en-US" altLang="zh-CN" dirty="0" err="1" smtClean="0">
                <a:solidFill>
                  <a:srgbClr val="002060"/>
                </a:solidFill>
                <a:latin typeface="+mj-lt"/>
                <a:ea typeface="宋体" panose="02010600030101010101" pitchFamily="2" charset="-122"/>
                <a:sym typeface="+mn-ea"/>
              </a:rPr>
              <a:t>super.</a:t>
            </a:r>
            <a:r>
              <a:rPr lang="en-US" altLang="zh-CN" dirty="0" smtClean="0">
                <a:solidFill>
                  <a:srgbClr val="002060"/>
                </a:solidFill>
                <a:cs typeface="+mn-lt"/>
                <a:sym typeface="+mn-ea"/>
              </a:rPr>
              <a:t>name</a:t>
            </a:r>
            <a:r>
              <a:rPr lang="en-US" altLang="zh-CN" dirty="0" smtClean="0">
                <a:solidFill>
                  <a:srgbClr val="002060"/>
                </a:solidFill>
                <a:latin typeface="+mj-lt"/>
                <a:ea typeface="宋体" panose="02010600030101010101" pitchFamily="2" charset="-122"/>
                <a:sym typeface="+mn-ea"/>
              </a:rPr>
              <a:t>;</a:t>
            </a:r>
            <a:endParaRPr lang="en-US" altLang="zh-CN" dirty="0" smtClean="0">
              <a:solidFill>
                <a:srgbClr val="002060"/>
              </a:solidFill>
              <a:latin typeface="+mj-lt"/>
              <a:ea typeface="宋体" panose="02010600030101010101" pitchFamily="2" charset="-122"/>
              <a:sym typeface="+mn-ea"/>
            </a:endParaRPr>
          </a:p>
          <a:p>
            <a:pPr marL="800100" lvl="1" indent="-342900" eaLnBrk="1" hangingPunct="1">
              <a:lnSpc>
                <a:spcPct val="160000"/>
              </a:lnSpc>
              <a:buClr>
                <a:srgbClr val="ED7D31"/>
              </a:buClr>
              <a:buFont typeface="Arial" panose="020B0604020202020204" pitchFamily="34" charset="0"/>
              <a:buChar char="•"/>
            </a:pPr>
            <a:r>
              <a:rPr lang="en-US" altLang="zh-CN" dirty="0" err="1" smtClean="0">
                <a:solidFill>
                  <a:srgbClr val="002060"/>
                </a:solidFill>
                <a:latin typeface="+mj-lt"/>
                <a:ea typeface="宋体" panose="02010600030101010101" pitchFamily="2" charset="-122"/>
                <a:sym typeface="+mn-ea"/>
              </a:rPr>
              <a:t>super.</a:t>
            </a:r>
            <a:r>
              <a:rPr lang="en-US" altLang="zh-CN" dirty="0" smtClean="0">
                <a:solidFill>
                  <a:srgbClr val="002060"/>
                </a:solidFill>
                <a:cs typeface="+mn-lt"/>
                <a:sym typeface="+mn-ea"/>
              </a:rPr>
              <a:t>detail</a:t>
            </a:r>
            <a:r>
              <a:rPr lang="en-US" altLang="zh-CN" dirty="0" smtClean="0">
                <a:solidFill>
                  <a:srgbClr val="002060"/>
                </a:solidFill>
                <a:latin typeface="+mj-lt"/>
                <a:ea typeface="宋体" panose="02010600030101010101" pitchFamily="2" charset="-122"/>
                <a:sym typeface="+mn-ea"/>
              </a:rPr>
              <a:t>();</a:t>
            </a:r>
            <a:endParaRPr lang="en-US" altLang="zh-CN" dirty="0" smtClean="0">
              <a:solidFill>
                <a:srgbClr val="002060"/>
              </a:solidFill>
              <a:latin typeface="+mj-lt"/>
              <a:ea typeface="宋体" panose="02010600030101010101" pitchFamily="2" charset="-122"/>
              <a:sym typeface="+mn-ea"/>
            </a:endParaRPr>
          </a:p>
          <a:p>
            <a:pPr marL="457200" lvl="1" indent="-457200" algn="l" eaLnBrk="1" hangingPunct="1">
              <a:lnSpc>
                <a:spcPct val="160000"/>
              </a:lnSpc>
              <a:spcBef>
                <a:spcPts val="1000"/>
              </a:spcBef>
              <a:buClr>
                <a:srgbClr val="ED7D31"/>
              </a:buClr>
              <a:buSzTx/>
              <a:buFont typeface="+mj-lt"/>
              <a:buAutoNum type="arabicPeriod" startAt="2"/>
            </a:pPr>
            <a:r>
              <a:rPr lang="en-US" altLang="zh-CN" sz="2400" dirty="0" smtClean="0">
                <a:ea typeface="宋体" panose="02010600030101010101" pitchFamily="2" charset="-122"/>
              </a:rPr>
              <a:t>super可以理解为直接父类对象的引用，或者说super指向子类对象的父类对象存储空间。我们可以通过super来访问父类中被子类覆盖的方法或属性，super的使用和this关键字非常的相似。</a:t>
            </a:r>
            <a:endParaRPr lang="en-US" altLang="zh-CN" sz="2400" dirty="0" smtClean="0">
              <a:ea typeface="宋体" panose="02010600030101010101" pitchFamily="2" charset="-122"/>
            </a:endParaRPr>
          </a:p>
          <a:p>
            <a:pPr marL="457200" lvl="1" indent="0" eaLnBrk="1" hangingPunct="1">
              <a:lnSpc>
                <a:spcPct val="160000"/>
              </a:lnSpc>
              <a:buClr>
                <a:srgbClr val="ED7D31"/>
              </a:buClr>
              <a:buFont typeface="Arial" panose="020B0604020202020204" pitchFamily="34" charset="0"/>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Person 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1089025" y="1010285"/>
            <a:ext cx="9784080" cy="5191760"/>
          </a:xfrm>
        </p:spPr>
        <p:txBody>
          <a:bodyPr>
            <a:noAutofit/>
          </a:bodyPr>
          <a:p>
            <a:pPr marL="342900" indent="-342900">
              <a:buFont typeface="+mj-lt"/>
              <a:buAutoNum type="arabicPeriod"/>
              <a:defRPr/>
            </a:pPr>
            <a:r>
              <a:rPr lang="en-US" altLang="zh-CN" sz="1800" dirty="0" smtClean="0">
                <a:solidFill>
                  <a:srgbClr val="002060"/>
                </a:solidFill>
                <a:ea typeface="+mn-ea"/>
                <a:cs typeface="+mn-lt"/>
              </a:rPr>
              <a:t>class Parent{</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    String name = "父name";</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    public void detail(){</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        System.out.println("Parent.sleep");</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    }</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class Child extends Parent{</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    String name = "子name";</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    public void detail(){</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      </a:t>
            </a:r>
            <a:r>
              <a:rPr lang="en-US" altLang="zh-CN" sz="1800" dirty="0" smtClean="0">
                <a:solidFill>
                  <a:srgbClr val="FF0000"/>
                </a:solidFill>
                <a:ea typeface="+mn-ea"/>
                <a:cs typeface="+mn-lt"/>
              </a:rPr>
              <a:t> super.detail();/</a:t>
            </a:r>
            <a:r>
              <a:rPr lang="en-US" altLang="zh-CN" sz="1800" dirty="0" smtClean="0">
                <a:solidFill>
                  <a:srgbClr val="002060"/>
                </a:solidFill>
                <a:ea typeface="+mn-ea"/>
                <a:cs typeface="+mn-lt"/>
              </a:rPr>
              <a:t>/调用父类的方法</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        System.out.println(</a:t>
            </a:r>
            <a:r>
              <a:rPr lang="en-US" altLang="zh-CN" sz="1800" dirty="0" smtClean="0">
                <a:solidFill>
                  <a:srgbClr val="FF0000"/>
                </a:solidFill>
                <a:ea typeface="+mn-ea"/>
                <a:cs typeface="+mn-lt"/>
              </a:rPr>
              <a:t>super.name</a:t>
            </a:r>
            <a:r>
              <a:rPr lang="en-US" altLang="zh-CN" sz="1800" dirty="0" smtClean="0">
                <a:solidFill>
                  <a:srgbClr val="002060"/>
                </a:solidFill>
                <a:ea typeface="+mn-ea"/>
                <a:cs typeface="+mn-lt"/>
              </a:rPr>
              <a:t>);//调用父类的属性</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    }</a:t>
            </a:r>
            <a:endParaRPr lang="en-US" altLang="zh-CN" sz="1800" dirty="0" smtClean="0">
              <a:solidFill>
                <a:srgbClr val="002060"/>
              </a:solidFill>
              <a:ea typeface="+mn-ea"/>
              <a:cs typeface="+mn-lt"/>
            </a:endParaRPr>
          </a:p>
          <a:p>
            <a:pPr marL="342900" indent="-342900">
              <a:buFont typeface="+mj-lt"/>
              <a:buAutoNum type="arabicPeriod"/>
              <a:defRPr/>
            </a:pPr>
            <a:r>
              <a:rPr lang="en-US" altLang="zh-CN" sz="1800" dirty="0" smtClean="0">
                <a:solidFill>
                  <a:srgbClr val="002060"/>
                </a:solidFill>
                <a:ea typeface="+mn-ea"/>
                <a:cs typeface="+mn-lt"/>
              </a:rPr>
              <a:t>}   	 </a:t>
            </a:r>
            <a:endParaRPr lang="en-US" altLang="zh-CN" sz="1800" dirty="0" smtClean="0">
              <a:solidFill>
                <a:srgbClr val="002060"/>
              </a:solidFill>
              <a:ea typeface="+mn-ea"/>
              <a:cs typeface="+mn-lt"/>
            </a:endParaRPr>
          </a:p>
          <a:p>
            <a:pPr marL="342900" indent="-342900">
              <a:buFont typeface="+mj-lt"/>
              <a:buAutoNum type="arabicPeriod"/>
              <a:defRPr/>
            </a:pPr>
            <a:endParaRPr lang="en-US" altLang="zh-CN" sz="1800" dirty="0" smtClean="0">
              <a:solidFill>
                <a:srgbClr val="002060"/>
              </a:solidFill>
              <a:ea typeface="+mn-ea"/>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Test类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900113" y="1398607"/>
            <a:ext cx="7537450" cy="4816475"/>
          </a:xfrm>
        </p:spPr>
        <p:txBody>
          <a:bodyPr>
            <a:normAutofit/>
          </a:bodyPr>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public class SuperDemo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static void main(String[] args)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Child child = new Child();</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child.detail();</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40000"/>
              </a:lnSpc>
              <a:buClr>
                <a:srgbClr val="ED7D31"/>
              </a:buClr>
              <a:buFont typeface="+mj-lt"/>
              <a:buAutoNum type="arabicPeriod"/>
            </a:pPr>
            <a:r>
              <a:rPr lang="zh-CN" altLang="en-US" dirty="0" smtClean="0">
                <a:ea typeface="宋体" panose="02010600030101010101" pitchFamily="2" charset="-122"/>
                <a:sym typeface="+mn-ea"/>
              </a:rPr>
              <a:t>在</a:t>
            </a:r>
            <a:r>
              <a:rPr lang="en-US" altLang="zh-CN" dirty="0" smtClean="0">
                <a:sym typeface="+mn-ea"/>
              </a:rPr>
              <a:t>Cat</a:t>
            </a:r>
            <a:r>
              <a:rPr lang="zh-CN" altLang="en-US" dirty="0" smtClean="0">
                <a:ea typeface="宋体" panose="02010600030101010101" pitchFamily="2" charset="-122"/>
                <a:sym typeface="+mn-ea"/>
              </a:rPr>
              <a:t>类中，改写</a:t>
            </a:r>
            <a:r>
              <a:rPr lang="en-US" altLang="zh-CN" dirty="0" smtClean="0">
                <a:sym typeface="+mn-ea"/>
              </a:rPr>
              <a:t>Cat</a:t>
            </a:r>
            <a:r>
              <a:rPr lang="zh-CN" altLang="en-US" dirty="0" smtClean="0">
                <a:ea typeface="宋体" panose="02010600030101010101" pitchFamily="2" charset="-122"/>
                <a:sym typeface="+mn-ea"/>
              </a:rPr>
              <a:t>覆盖的</a:t>
            </a:r>
            <a:r>
              <a:rPr lang="en-US" altLang="zh-CN" dirty="0" err="1" smtClean="0">
                <a:ea typeface="宋体" panose="02010600030101010101" pitchFamily="2" charset="-122"/>
                <a:sym typeface="+mn-ea"/>
              </a:rPr>
              <a:t>getDetails</a:t>
            </a:r>
            <a:r>
              <a:rPr lang="zh-CN" altLang="en-US" dirty="0" smtClean="0">
                <a:ea typeface="宋体" panose="02010600030101010101" pitchFamily="2" charset="-122"/>
                <a:sym typeface="+mn-ea"/>
              </a:rPr>
              <a:t>方法，使用</a:t>
            </a:r>
            <a:r>
              <a:rPr lang="en-US" altLang="zh-CN" dirty="0" err="1" smtClean="0">
                <a:ea typeface="宋体" panose="02010600030101010101" pitchFamily="2" charset="-122"/>
                <a:sym typeface="+mn-ea"/>
              </a:rPr>
              <a:t>super调用</a:t>
            </a:r>
            <a:endParaRPr lang="en-US" altLang="zh-CN" dirty="0" err="1" smtClean="0">
              <a:ea typeface="宋体" panose="02010600030101010101" pitchFamily="2" charset="-122"/>
              <a:sym typeface="+mn-ea"/>
            </a:endParaRPr>
          </a:p>
          <a:p>
            <a:pPr marL="457200" indent="-457200" eaLnBrk="1" hangingPunct="1">
              <a:lnSpc>
                <a:spcPct val="140000"/>
              </a:lnSpc>
              <a:buClr>
                <a:srgbClr val="ED7D31"/>
              </a:buClr>
              <a:buFont typeface="+mj-lt"/>
              <a:buAutoNum type="arabicPeriod"/>
            </a:pPr>
            <a:r>
              <a:rPr lang="zh-CN" altLang="en-US" dirty="0" smtClean="0">
                <a:ea typeface="宋体" panose="02010600030101010101" pitchFamily="2" charset="-122"/>
                <a:sym typeface="+mn-ea"/>
              </a:rPr>
              <a:t>在</a:t>
            </a:r>
            <a:r>
              <a:rPr lang="en-US" altLang="zh-CN" dirty="0" smtClean="0">
                <a:ea typeface="宋体" panose="02010600030101010101" pitchFamily="2" charset="-122"/>
                <a:sym typeface="+mn-ea"/>
              </a:rPr>
              <a:t>Test</a:t>
            </a:r>
            <a:r>
              <a:rPr lang="zh-CN" altLang="en-US" dirty="0" smtClean="0">
                <a:ea typeface="宋体" panose="02010600030101010101" pitchFamily="2" charset="-122"/>
                <a:sym typeface="+mn-ea"/>
              </a:rPr>
              <a:t>类中调用</a:t>
            </a:r>
            <a:r>
              <a:rPr lang="en-US" altLang="zh-CN" dirty="0" err="1" smtClean="0">
                <a:ea typeface="宋体" panose="02010600030101010101" pitchFamily="2" charset="-122"/>
                <a:sym typeface="+mn-ea"/>
              </a:rPr>
              <a:t>getDetails</a:t>
            </a:r>
            <a:r>
              <a:rPr lang="zh-CN" altLang="en-US" dirty="0" smtClean="0">
                <a:ea typeface="宋体" panose="02010600030101010101" pitchFamily="2" charset="-122"/>
                <a:sym typeface="+mn-ea"/>
              </a:rPr>
              <a:t>方法，确认输出结果。</a:t>
            </a:r>
            <a:endParaRPr lang="zh-CN" altLang="en-US" dirty="0" smtClean="0">
              <a:ea typeface="宋体" panose="02010600030101010101" pitchFamily="2" charset="-122"/>
            </a:endParaRPr>
          </a:p>
          <a:p>
            <a:pPr marL="457200" indent="-457200" eaLnBrk="1" hangingPunct="1">
              <a:lnSpc>
                <a:spcPct val="140000"/>
              </a:lnSpc>
              <a:buClr>
                <a:srgbClr val="ED7D31"/>
              </a:buClr>
              <a:buFont typeface="+mj-lt"/>
              <a:buAutoNum type="arabicPeriod"/>
            </a:pPr>
            <a:endParaRPr lang="zh-CN" altLang="en-US" dirty="0">
              <a:ea typeface="宋体" panose="02010600030101010101" pitchFamily="2" charset="-122"/>
            </a:endParaRPr>
          </a:p>
          <a:p>
            <a:pPr eaLnBrk="1" hangingPunct="1">
              <a:lnSpc>
                <a:spcPct val="140000"/>
              </a:lnSpc>
              <a:buClr>
                <a:srgbClr val="ED7D31"/>
              </a:buClr>
              <a:buFont typeface="Wingdings" panose="05000000000000000000" charset="0"/>
              <a:buChar char="Ø"/>
            </a:pPr>
            <a:endParaRPr lang="zh-CN" altLang="en-US" sz="2000" dirty="0">
              <a:ea typeface="宋体" panose="02010600030101010101" pitchFamily="2" charset="-122"/>
              <a:sym typeface="+mn-ea"/>
            </a:endParaRPr>
          </a:p>
          <a:p>
            <a:pPr marL="0" indent="0" eaLnBrk="1" hangingPunct="1">
              <a:lnSpc>
                <a:spcPct val="190000"/>
              </a:lnSpc>
              <a:buNone/>
            </a:pPr>
            <a:endParaRPr lang="zh-CN" altLang="en-US" sz="2000" dirty="0">
              <a:ea typeface="宋体" panose="02010600030101010101" pitchFamily="2" charset="-122"/>
            </a:endParaRPr>
          </a:p>
          <a:p>
            <a:pPr marL="457200" indent="-457200" algn="l" eaLnBrk="1" hangingPunct="1">
              <a:lnSpc>
                <a:spcPct val="190000"/>
              </a:lnSpc>
              <a:buClr>
                <a:srgbClr val="ED7D31"/>
              </a:buClr>
              <a:buSzTx/>
              <a:buFont typeface="+mj-lt"/>
              <a:buAutoNum type="arabicPeriod"/>
            </a:pPr>
            <a:endParaRPr lang="zh-CN" altLang="en-US" sz="1665" dirty="0">
              <a:ea typeface="宋体" panose="02010600030101010101" pitchFamily="2" charset="-122"/>
            </a:endParaRPr>
          </a:p>
          <a:p>
            <a:pPr marL="457200" indent="-457200" eaLnBrk="1" hangingPunct="1">
              <a:lnSpc>
                <a:spcPct val="190000"/>
              </a:lnSpc>
              <a:buClr>
                <a:srgbClr val="ED7D31"/>
              </a:buClr>
              <a:buFont typeface="+mj-lt"/>
              <a:buAutoNum type="arabicPeriod"/>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384300" y="3137535"/>
            <a:ext cx="861822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调用父类构造器</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82994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调用父类的无参数构造器</a:t>
            </a:r>
            <a:endParaRPr lang="zh-CN" altLang="en-US" sz="2400" smtClean="0">
              <a:ea typeface="宋体" panose="02010600030101010101" pitchFamily="2" charset="-122"/>
            </a:endParaRPr>
          </a:p>
          <a:p>
            <a:pPr eaLnBrk="1" hangingPunct="1"/>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43965"/>
            <a:ext cx="8778875" cy="4102735"/>
          </a:xfrm>
        </p:spPr>
        <p:txBody>
          <a:bodyPr>
            <a:normAutofit/>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 </a:t>
            </a:r>
            <a:r>
              <a:rPr lang="zh-CN" altLang="en-US" dirty="0" smtClean="0">
                <a:latin typeface="+mj-lt"/>
                <a:ea typeface="宋体" panose="02010600030101010101" pitchFamily="2" charset="-122"/>
                <a:sym typeface="+mn-ea"/>
              </a:rPr>
              <a:t>子类构造器将使用</a:t>
            </a:r>
            <a:r>
              <a:rPr lang="en-US" altLang="zh-CN" dirty="0" smtClean="0">
                <a:ea typeface="宋体" panose="02010600030101010101" pitchFamily="2" charset="-122"/>
                <a:sym typeface="+mn-ea"/>
              </a:rPr>
              <a:t>super()</a:t>
            </a:r>
            <a:r>
              <a:rPr lang="zh-CN" altLang="en-US" dirty="0" smtClean="0">
                <a:ea typeface="宋体" panose="02010600030101010101" pitchFamily="2" charset="-122"/>
                <a:sym typeface="+mn-ea"/>
              </a:rPr>
              <a:t>，隐式调用</a:t>
            </a:r>
            <a:r>
              <a:rPr lang="zh-CN" altLang="en-US" dirty="0" smtClean="0">
                <a:latin typeface="+mj-lt"/>
                <a:ea typeface="宋体" panose="02010600030101010101" pitchFamily="2" charset="-122"/>
                <a:sym typeface="+mn-ea"/>
              </a:rPr>
              <a:t>父类构造器。</a:t>
            </a:r>
            <a:r>
              <a:rPr lang="en-US" altLang="zh-CN" dirty="0" smtClean="0">
                <a:ea typeface="宋体" panose="02010600030101010101" pitchFamily="2" charset="-122"/>
                <a:sym typeface="+mn-ea"/>
              </a:rPr>
              <a:t> super(),</a:t>
            </a:r>
            <a:r>
              <a:rPr lang="en-US" altLang="zh-CN" dirty="0" err="1" smtClean="0">
                <a:ea typeface="宋体" panose="02010600030101010101" pitchFamily="2" charset="-122"/>
                <a:sym typeface="+mn-ea"/>
              </a:rPr>
              <a:t>语句在编译时被自动添加</a:t>
            </a:r>
            <a:r>
              <a:rPr lang="en-US" altLang="zh-CN" dirty="0" smtClean="0">
                <a:ea typeface="宋体" panose="02010600030101010101" pitchFamily="2" charset="-122"/>
                <a:sym typeface="+mn-ea"/>
              </a:rPr>
              <a:t>。</a:t>
            </a:r>
            <a:endParaRPr lang="zh-CN" altLang="en-US" dirty="0">
              <a:ea typeface="宋体" panose="02010600030101010101" pitchFamily="2" charset="-122"/>
              <a:sym typeface="+mn-ea"/>
            </a:endParaRPr>
          </a:p>
          <a:p>
            <a:pPr marL="457200" indent="-457200" algn="l" eaLnBrk="1" hangingPunct="1">
              <a:lnSpc>
                <a:spcPct val="130000"/>
              </a:lnSpc>
              <a:buClr>
                <a:srgbClr val="ED7D31"/>
              </a:buClr>
              <a:buSzTx/>
              <a:buFont typeface="+mj-lt"/>
              <a:buAutoNum type="arabicPeriod"/>
            </a:pPr>
            <a:r>
              <a:rPr lang="en-US" altLang="zh-CN" dirty="0">
                <a:ea typeface="宋体" panose="02010600030101010101" pitchFamily="2" charset="-122"/>
                <a:sym typeface="+mn-ea"/>
              </a:rPr>
              <a:t>隐式super()的作用：</a:t>
            </a:r>
            <a:endParaRPr lang="en-US" altLang="zh-CN" dirty="0">
              <a:ea typeface="宋体" panose="02010600030101010101" pitchFamily="2" charset="-122"/>
            </a:endParaRPr>
          </a:p>
          <a:p>
            <a:pPr lvl="1" indent="-342900" eaLnBrk="1" hangingPunct="1">
              <a:lnSpc>
                <a:spcPct val="130000"/>
              </a:lnSpc>
              <a:buFont typeface="Arial" panose="020B0604020202020204" pitchFamily="34" charset="0"/>
              <a:buChar char="•"/>
              <a:defRPr/>
            </a:pPr>
            <a:r>
              <a:rPr lang="zh-CN" altLang="en-US" sz="2400" dirty="0" smtClean="0">
                <a:solidFill>
                  <a:srgbClr val="002060"/>
                </a:solidFill>
                <a:latin typeface="+mj-lt"/>
                <a:ea typeface="宋体" panose="02010600030101010101" pitchFamily="2" charset="-122"/>
                <a:sym typeface="+mn-ea"/>
              </a:rPr>
              <a:t>调用父类无参数的构造器</a:t>
            </a:r>
            <a:endParaRPr lang="zh-CN" altLang="en-US" sz="2400" dirty="0" smtClean="0">
              <a:solidFill>
                <a:srgbClr val="002060"/>
              </a:solidFill>
              <a:latin typeface="+mj-lt"/>
              <a:ea typeface="宋体" panose="02010600030101010101" pitchFamily="2" charset="-122"/>
            </a:endParaRPr>
          </a:p>
          <a:p>
            <a:pPr lvl="1" indent="-342900" eaLnBrk="1" hangingPunct="1">
              <a:lnSpc>
                <a:spcPct val="130000"/>
              </a:lnSpc>
              <a:buFont typeface="Arial" panose="020B0604020202020204" pitchFamily="34" charset="0"/>
              <a:buChar char="•"/>
              <a:defRPr/>
            </a:pPr>
            <a:r>
              <a:rPr lang="zh-CN" altLang="en-US" sz="2400" dirty="0" smtClean="0">
                <a:solidFill>
                  <a:srgbClr val="002060"/>
                </a:solidFill>
                <a:latin typeface="+mj-lt"/>
                <a:ea typeface="宋体" panose="02010600030101010101" pitchFamily="2" charset="-122"/>
                <a:sym typeface="+mn-ea"/>
              </a:rPr>
              <a:t>借用父类的构造器，来初始化本类继承的属性</a:t>
            </a:r>
            <a:endParaRPr lang="zh-CN" altLang="en-US" sz="2400" dirty="0" smtClean="0">
              <a:solidFill>
                <a:srgbClr val="002060"/>
              </a:solidFill>
              <a:latin typeface="+mj-lt"/>
              <a:ea typeface="宋体" panose="02010600030101010101" pitchFamily="2" charset="-122"/>
            </a:endParaRPr>
          </a:p>
          <a:p>
            <a:pPr marL="457200" indent="-457200" eaLnBrk="1" hangingPunct="1">
              <a:lnSpc>
                <a:spcPct val="130000"/>
              </a:lnSpc>
              <a:buClr>
                <a:srgbClr val="ED7D31"/>
              </a:buClr>
              <a:buFont typeface="+mj-lt"/>
              <a:buAutoNum type="arabicPeriod"/>
            </a:pPr>
            <a:endParaRPr lang="zh-CN" altLang="en-US" dirty="0">
              <a:ea typeface="宋体" panose="02010600030101010101" pitchFamily="2" charset="-122"/>
            </a:endParaRPr>
          </a:p>
          <a:p>
            <a:pPr eaLnBrk="1" hangingPunct="1">
              <a:lnSpc>
                <a:spcPct val="130000"/>
              </a:lnSpc>
              <a:buClr>
                <a:srgbClr val="ED7D31"/>
              </a:buClr>
              <a:buFont typeface="Wingdings" panose="05000000000000000000" charset="0"/>
              <a:buChar char="Ø"/>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Test类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113" y="1470045"/>
            <a:ext cx="7537450" cy="4816475"/>
          </a:xfrm>
        </p:spPr>
        <p:txBody>
          <a:bodyPr>
            <a:normAutofit/>
          </a:bodyPr>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public class Test{</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    public static void main(String[] args) {</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        Child child = new Child();</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113" y="1470045"/>
            <a:ext cx="7537450" cy="4816475"/>
          </a:xfrm>
        </p:spPr>
        <p:txBody>
          <a:bodyPr>
            <a:normAutofit/>
          </a:bodyPr>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class Parent {</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    public Parent(){</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        System.out.println("父类构造器");</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class Child extends  Parent{</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    public Child(){</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       // super(); 默认添加super，调用父类的构造器</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        System.out.println("调用子类构造器");</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在Animal类中添加无参数的构造器，初始化各属性值。</a:t>
            </a:r>
            <a:endParaRPr lang="en-US" altLang="zh-CN"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在Cat类中，添加构造器以初始化属性，（隐式）调用父类无参数构造器。</a:t>
            </a:r>
            <a:endParaRPr lang="en-US" altLang="zh-CN"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创建Cat实例，调用getDetails方法获取输出结果，确认属性值</a:t>
            </a:r>
            <a:endParaRPr lang="en-US" altLang="zh-CN"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考虑一个问题，如果父类中定义了一个有参数的构造器会怎么样？</a:t>
            </a:r>
            <a:endParaRPr lang="en-US" altLang="zh-CN"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zh-CN" altLang="en-US" dirty="0">
              <a:ea typeface="宋体" panose="02010600030101010101" pitchFamily="2" charset="-122"/>
            </a:endParaRPr>
          </a:p>
          <a:p>
            <a:pPr eaLnBrk="1" hangingPunct="1">
              <a:lnSpc>
                <a:spcPct val="130000"/>
              </a:lnSpc>
              <a:buClr>
                <a:srgbClr val="ED7D31"/>
              </a:buClr>
              <a:buFont typeface="Wingdings" panose="05000000000000000000" charset="0"/>
              <a:buChar char="Ø"/>
            </a:pPr>
            <a:endParaRPr lang="zh-CN" altLang="en-US" sz="2000" dirty="0">
              <a:ea typeface="宋体" panose="02010600030101010101" pitchFamily="2" charset="-122"/>
              <a:sym typeface="+mn-ea"/>
            </a:endParaRPr>
          </a:p>
          <a:p>
            <a:pPr marL="0" indent="0" eaLnBrk="1" hangingPunct="1">
              <a:lnSpc>
                <a:spcPct val="130000"/>
              </a:lnSpc>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调用父类的有参数构造器</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 子类的构造器可使用显式的</a:t>
            </a:r>
            <a:r>
              <a:rPr lang="zh-CN" altLang="en-US" dirty="0">
                <a:ea typeface="宋体" panose="02010600030101010101" pitchFamily="2" charset="-122"/>
                <a:sym typeface="+mn-ea"/>
              </a:rPr>
              <a:t>用</a:t>
            </a:r>
            <a:r>
              <a:rPr lang="en-US" altLang="zh-CN" dirty="0">
                <a:ea typeface="宋体" panose="02010600030101010101" pitchFamily="2" charset="-122"/>
                <a:sym typeface="+mn-ea"/>
              </a:rPr>
              <a:t>super()调用父类对应参数构造器</a:t>
            </a:r>
            <a:endParaRPr lang="en-US" altLang="zh-CN"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构造器的第一行，不是super(...)就是this(...)</a:t>
            </a:r>
            <a:endParaRPr lang="en-US" altLang="zh-CN" dirty="0">
              <a:ea typeface="宋体" panose="02010600030101010101" pitchFamily="2" charset="-122"/>
            </a:endParaRPr>
          </a:p>
          <a:p>
            <a:pPr eaLnBrk="1" hangingPunct="1">
              <a:lnSpc>
                <a:spcPct val="130000"/>
              </a:lnSpc>
              <a:buClr>
                <a:srgbClr val="ED7D31"/>
              </a:buClr>
              <a:buFont typeface="Wingdings" panose="05000000000000000000" charset="0"/>
              <a:buChar char="Ø"/>
            </a:pPr>
            <a:endParaRPr lang="en-US" altLang="zh-CN" dirty="0" smtClean="0">
              <a:latin typeface="+mj-lt"/>
              <a:ea typeface="宋体" panose="02010600030101010101" pitchFamily="2" charset="-122"/>
            </a:endParaRPr>
          </a:p>
          <a:p>
            <a:pPr marL="0" indent="0" eaLnBrk="1" hangingPunct="1">
              <a:lnSpc>
                <a:spcPct val="130000"/>
              </a:lnSpc>
              <a:buClr>
                <a:srgbClr val="ED7D31"/>
              </a:buClr>
              <a:buFont typeface="+mj-lt"/>
              <a:buNone/>
            </a:pPr>
            <a:endParaRPr lang="zh-CN" altLang="en-US" dirty="0">
              <a:ea typeface="宋体" panose="02010600030101010101" pitchFamily="2" charset="-122"/>
            </a:endParaRPr>
          </a:p>
          <a:p>
            <a:pPr eaLnBrk="1" hangingPunct="1">
              <a:lnSpc>
                <a:spcPct val="130000"/>
              </a:lnSpc>
              <a:buClr>
                <a:srgbClr val="ED7D31"/>
              </a:buClr>
              <a:buFont typeface="Wingdings" panose="05000000000000000000" charset="0"/>
              <a:buChar char="Ø"/>
            </a:pPr>
            <a:endParaRPr lang="zh-CN" altLang="en-US" sz="2000" dirty="0">
              <a:ea typeface="宋体" panose="02010600030101010101" pitchFamily="2" charset="-122"/>
              <a:sym typeface="+mn-ea"/>
            </a:endParaRPr>
          </a:p>
          <a:p>
            <a:pPr marL="0" indent="0" eaLnBrk="1" hangingPunct="1">
              <a:lnSpc>
                <a:spcPct val="130000"/>
              </a:lnSpc>
              <a:buNone/>
            </a:pPr>
            <a:endParaRPr lang="zh-CN" altLang="en-US" sz="2000" dirty="0">
              <a:ea typeface="宋体" panose="02010600030101010101" pitchFamily="2" charset="-122"/>
            </a:endParaRPr>
          </a:p>
          <a:p>
            <a:pPr marL="457200" indent="-457200" algn="l" eaLnBrk="1" hangingPunct="1">
              <a:lnSpc>
                <a:spcPct val="130000"/>
              </a:lnSpc>
              <a:buClr>
                <a:srgbClr val="ED7D31"/>
              </a:buClr>
              <a:buSzTx/>
              <a:buFont typeface="+mj-lt"/>
              <a:buAutoNum type="arabicPeriod"/>
            </a:pPr>
            <a:endParaRPr lang="zh-CN" altLang="en-US" sz="1665"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1088073" y="928072"/>
            <a:ext cx="7537450" cy="4816475"/>
          </a:xfrm>
        </p:spPr>
        <p:txBody>
          <a:bodyPr>
            <a:noAutofit/>
          </a:bodyPr>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class Parent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Parent(){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System.out.println("父类构造器");</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class Child extends  Parent{</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Child(){</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this(23);//必须在第一行,所以第一行不是this就是super</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System.out.println("调用子类构造器");</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public Child(int age){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super();//必须在第一行,所以第一行不是this就是super</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System.out.println("调用子类构造器age");</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Test类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113" y="1398607"/>
            <a:ext cx="7537450" cy="4816475"/>
          </a:xfrm>
        </p:spPr>
        <p:txBody>
          <a:bodyPr>
            <a:normAutofit/>
          </a:bodyPr>
          <a:p>
            <a:pPr marL="342900" indent="-342900">
              <a:lnSpc>
                <a:spcPct val="130000"/>
              </a:lnSpc>
              <a:buFont typeface="+mj-lt"/>
              <a:buAutoNum type="arabicPeriod"/>
              <a:defRPr/>
            </a:pPr>
            <a:r>
              <a:rPr lang="en-US" altLang="zh-CN" sz="1700" dirty="0" smtClean="0">
                <a:solidFill>
                  <a:srgbClr val="002060"/>
                </a:solidFill>
                <a:ea typeface="宋体" panose="02010600030101010101" pitchFamily="2" charset="-122"/>
                <a:cs typeface="+mn-lt"/>
              </a:rPr>
              <a:t>public class Test{</a:t>
            </a:r>
            <a:endParaRPr lang="en-US" altLang="zh-CN" sz="1700" dirty="0" smtClean="0">
              <a:solidFill>
                <a:srgbClr val="002060"/>
              </a:solidFill>
              <a:ea typeface="宋体" panose="02010600030101010101" pitchFamily="2" charset="-122"/>
              <a:cs typeface="+mn-lt"/>
            </a:endParaRPr>
          </a:p>
          <a:p>
            <a:pPr marL="342900" indent="-342900">
              <a:lnSpc>
                <a:spcPct val="130000"/>
              </a:lnSpc>
              <a:buFont typeface="+mj-lt"/>
              <a:buAutoNum type="arabicPeriod"/>
              <a:defRPr/>
            </a:pPr>
            <a:r>
              <a:rPr lang="en-US" altLang="zh-CN" sz="1700" dirty="0" smtClean="0">
                <a:solidFill>
                  <a:srgbClr val="002060"/>
                </a:solidFill>
                <a:ea typeface="宋体" panose="02010600030101010101" pitchFamily="2" charset="-122"/>
                <a:cs typeface="+mn-lt"/>
              </a:rPr>
              <a:t>    public static void main(String[] args) {</a:t>
            </a:r>
            <a:endParaRPr lang="en-US" altLang="zh-CN" sz="1700" dirty="0" smtClean="0">
              <a:solidFill>
                <a:srgbClr val="002060"/>
              </a:solidFill>
              <a:ea typeface="宋体" panose="02010600030101010101" pitchFamily="2" charset="-122"/>
              <a:cs typeface="+mn-lt"/>
            </a:endParaRPr>
          </a:p>
          <a:p>
            <a:pPr marL="342900" indent="-342900">
              <a:lnSpc>
                <a:spcPct val="130000"/>
              </a:lnSpc>
              <a:buFont typeface="+mj-lt"/>
              <a:buAutoNum type="arabicPeriod"/>
              <a:defRPr/>
            </a:pPr>
            <a:r>
              <a:rPr lang="en-US" altLang="zh-CN" sz="1700" dirty="0" smtClean="0">
                <a:solidFill>
                  <a:srgbClr val="002060"/>
                </a:solidFill>
                <a:ea typeface="宋体" panose="02010600030101010101" pitchFamily="2" charset="-122"/>
                <a:cs typeface="+mn-lt"/>
              </a:rPr>
              <a:t>        Child child = new Child();</a:t>
            </a:r>
            <a:endParaRPr lang="en-US" altLang="zh-CN" sz="1700" dirty="0" smtClean="0">
              <a:solidFill>
                <a:srgbClr val="002060"/>
              </a:solidFill>
              <a:ea typeface="宋体" panose="02010600030101010101" pitchFamily="2" charset="-122"/>
              <a:cs typeface="+mn-lt"/>
            </a:endParaRPr>
          </a:p>
          <a:p>
            <a:pPr marL="342900" indent="-342900">
              <a:lnSpc>
                <a:spcPct val="130000"/>
              </a:lnSpc>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42900" indent="-342900">
              <a:lnSpc>
                <a:spcPct val="130000"/>
              </a:lnSpc>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在Cat类</a:t>
            </a:r>
            <a:r>
              <a:rPr lang="zh-CN" altLang="en-US" dirty="0" smtClean="0">
                <a:latin typeface="+mj-lt"/>
                <a:ea typeface="宋体" panose="02010600030101010101" pitchFamily="2" charset="-122"/>
                <a:sym typeface="+mn-ea"/>
              </a:rPr>
              <a:t>在</a:t>
            </a:r>
            <a:r>
              <a:rPr lang="en-US" altLang="zh-CN" dirty="0" smtClean="0">
                <a:sym typeface="+mn-ea"/>
              </a:rPr>
              <a:t>Animal</a:t>
            </a:r>
            <a:r>
              <a:rPr lang="zh-CN" altLang="en-US" dirty="0" smtClean="0">
                <a:latin typeface="+mj-lt"/>
                <a:ea typeface="宋体" panose="02010600030101010101" pitchFamily="2" charset="-122"/>
                <a:sym typeface="+mn-ea"/>
              </a:rPr>
              <a:t>类中添加有参数的构造器，使用参数初始化各属性值。</a:t>
            </a:r>
            <a:endParaRPr lang="zh-CN" altLang="en-US" dirty="0" smtClean="0">
              <a:latin typeface="+mj-lt"/>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dirty="0" smtClean="0">
                <a:latin typeface="+mj-lt"/>
                <a:ea typeface="宋体" panose="02010600030101010101" pitchFamily="2" charset="-122"/>
                <a:sym typeface="+mn-ea"/>
              </a:rPr>
              <a:t>在</a:t>
            </a:r>
            <a:r>
              <a:rPr lang="en-US" altLang="zh-CN" dirty="0" smtClean="0">
                <a:sym typeface="+mn-ea"/>
              </a:rPr>
              <a:t>Cat</a:t>
            </a:r>
            <a:r>
              <a:rPr lang="zh-CN" altLang="en-US" dirty="0" smtClean="0">
                <a:latin typeface="+mj-lt"/>
                <a:ea typeface="宋体" panose="02010600030101010101" pitchFamily="2" charset="-122"/>
                <a:sym typeface="+mn-ea"/>
              </a:rPr>
              <a:t>类的构造器中显式调用父类有参数构造器。</a:t>
            </a:r>
            <a:endParaRPr lang="zh-CN" altLang="en-US" dirty="0" smtClean="0">
              <a:latin typeface="+mj-lt"/>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dirty="0" smtClean="0">
                <a:latin typeface="+mj-lt"/>
                <a:ea typeface="宋体" panose="02010600030101010101" pitchFamily="2" charset="-122"/>
                <a:sym typeface="+mn-ea"/>
              </a:rPr>
              <a:t>创建</a:t>
            </a:r>
            <a:r>
              <a:rPr lang="en-US" altLang="zh-CN" dirty="0" smtClean="0">
                <a:sym typeface="+mn-ea"/>
              </a:rPr>
              <a:t>Cat</a:t>
            </a:r>
            <a:r>
              <a:rPr lang="zh-CN" altLang="en-US" dirty="0" smtClean="0">
                <a:latin typeface="+mj-lt"/>
                <a:ea typeface="宋体" panose="02010600030101010101" pitchFamily="2" charset="-122"/>
                <a:sym typeface="+mn-ea"/>
              </a:rPr>
              <a:t>实例，调用</a:t>
            </a:r>
            <a:r>
              <a:rPr lang="en-US" altLang="zh-CN" dirty="0" err="1" smtClean="0">
                <a:latin typeface="+mj-lt"/>
                <a:ea typeface="宋体" panose="02010600030101010101" pitchFamily="2" charset="-122"/>
                <a:sym typeface="+mn-ea"/>
              </a:rPr>
              <a:t>getDetails</a:t>
            </a:r>
            <a:r>
              <a:rPr lang="zh-CN" altLang="en-US" dirty="0" smtClean="0">
                <a:latin typeface="+mj-lt"/>
                <a:ea typeface="宋体" panose="02010600030101010101" pitchFamily="2" charset="-122"/>
                <a:sym typeface="+mn-ea"/>
              </a:rPr>
              <a:t>方法获取输出结果，确认属性值。</a:t>
            </a:r>
            <a:endParaRPr lang="zh-CN" altLang="en-US" dirty="0" smtClean="0">
              <a:latin typeface="+mj-lt"/>
              <a:ea typeface="宋体" panose="02010600030101010101" pitchFamily="2" charset="-122"/>
            </a:endParaRPr>
          </a:p>
          <a:p>
            <a:pPr marL="457200" indent="-457200" eaLnBrk="1" hangingPunct="1">
              <a:lnSpc>
                <a:spcPct val="130000"/>
              </a:lnSpc>
              <a:buClr>
                <a:srgbClr val="ED7D31"/>
              </a:buClr>
              <a:buFont typeface="+mj-lt"/>
              <a:buAutoNum type="arabicPeriod"/>
            </a:pPr>
            <a:endParaRPr lang="zh-CN" altLang="en-US" dirty="0">
              <a:ea typeface="宋体" panose="02010600030101010101" pitchFamily="2" charset="-122"/>
            </a:endParaRPr>
          </a:p>
          <a:p>
            <a:pPr eaLnBrk="1" hangingPunct="1">
              <a:lnSpc>
                <a:spcPct val="130000"/>
              </a:lnSpc>
              <a:buClr>
                <a:srgbClr val="ED7D31"/>
              </a:buClr>
              <a:buFont typeface="Wingdings" panose="05000000000000000000" charset="0"/>
              <a:buChar char="Ø"/>
            </a:pPr>
            <a:endParaRPr lang="zh-CN" altLang="en-US" sz="2000" dirty="0">
              <a:ea typeface="宋体" panose="02010600030101010101" pitchFamily="2" charset="-122"/>
              <a:sym typeface="+mn-ea"/>
            </a:endParaRPr>
          </a:p>
          <a:p>
            <a:pPr marL="0" indent="0" eaLnBrk="1" hangingPunct="1">
              <a:lnSpc>
                <a:spcPct val="130000"/>
              </a:lnSpc>
              <a:buNone/>
            </a:pPr>
            <a:endParaRPr lang="zh-CN" altLang="en-US" sz="2000" dirty="0">
              <a:ea typeface="宋体" panose="02010600030101010101" pitchFamily="2" charset="-122"/>
            </a:endParaRPr>
          </a:p>
          <a:p>
            <a:pPr marL="457200" indent="-457200" algn="l" eaLnBrk="1" hangingPunct="1">
              <a:lnSpc>
                <a:spcPct val="130000"/>
              </a:lnSpc>
              <a:buClr>
                <a:srgbClr val="ED7D31"/>
              </a:buClr>
              <a:buSzTx/>
              <a:buFont typeface="+mj-lt"/>
              <a:buAutoNum type="arabicPeriod"/>
            </a:pPr>
            <a:endParaRPr lang="zh-CN" altLang="en-US" sz="1665" dirty="0">
              <a:ea typeface="宋体" panose="02010600030101010101" pitchFamily="2" charset="-122"/>
            </a:endParaRPr>
          </a:p>
          <a:p>
            <a:pPr marL="0" indent="0" eaLnBrk="1" hangingPunct="1">
              <a:lnSpc>
                <a:spcPct val="13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综</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合</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编写一个Person类，包括属性（name、age），构造器、方法say(返回自我介绍的字符串）。</a:t>
            </a:r>
            <a:endParaRPr lang="en-US" altLang="zh-CN"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编写一个Student类，继承Person类，增加ID、Score属性，以及构造器，并覆盖say方法。</a:t>
            </a:r>
            <a:endParaRPr lang="en-US" altLang="zh-CN"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编写Test类，创建分别Person和Student对象，调用say方法输出自我介绍。</a:t>
            </a:r>
            <a:endParaRPr lang="en-US" altLang="zh-CN"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zh-CN" altLang="en-US" dirty="0">
              <a:ea typeface="宋体" panose="02010600030101010101" pitchFamily="2" charset="-122"/>
            </a:endParaRPr>
          </a:p>
          <a:p>
            <a:pPr eaLnBrk="1" hangingPunct="1">
              <a:lnSpc>
                <a:spcPct val="130000"/>
              </a:lnSpc>
              <a:buClr>
                <a:srgbClr val="ED7D31"/>
              </a:buClr>
              <a:buFont typeface="Wingdings" panose="05000000000000000000" charset="0"/>
              <a:buChar char="Ø"/>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参考答案 </a:t>
            </a:r>
            <a:r>
              <a:rPr lang="en-US" altLang="zh-CN" sz="2400" smtClean="0">
                <a:ea typeface="宋体" panose="02010600030101010101" pitchFamily="2" charset="-122"/>
                <a:sym typeface="+mn-ea"/>
              </a:rPr>
              <a:t>— Person类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1008063" y="1020465"/>
            <a:ext cx="7537450" cy="4816475"/>
          </a:xfrm>
        </p:spPr>
        <p:txBody>
          <a:bodyPr>
            <a:normAutofit lnSpcReduction="20000"/>
          </a:bodyPr>
          <a:p>
            <a:pPr marL="361950" indent="-361950" eaLnBrk="1" hangingPunct="1">
              <a:buFont typeface="Times"/>
              <a:buNone/>
            </a:pPr>
            <a:r>
              <a:rPr lang="en-US" altLang="zh-CN" sz="1700" dirty="0" smtClean="0">
                <a:solidFill>
                  <a:srgbClr val="002060"/>
                </a:solidFill>
                <a:ea typeface="宋体" panose="02010600030101010101" pitchFamily="2" charset="-122"/>
                <a:cs typeface="+mn-lt"/>
              </a:rPr>
              <a:t>1  public class Person {</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2      private String name;</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3      private </a:t>
            </a:r>
            <a:r>
              <a:rPr lang="en-US" altLang="zh-CN" sz="1700" dirty="0" err="1" smtClean="0">
                <a:solidFill>
                  <a:srgbClr val="002060"/>
                </a:solidFill>
                <a:ea typeface="宋体" panose="02010600030101010101" pitchFamily="2" charset="-122"/>
                <a:cs typeface="+mn-lt"/>
              </a:rPr>
              <a:t>int</a:t>
            </a:r>
            <a:r>
              <a:rPr lang="en-US" altLang="zh-CN" sz="1700" dirty="0" smtClean="0">
                <a:solidFill>
                  <a:srgbClr val="002060"/>
                </a:solidFill>
                <a:ea typeface="宋体" panose="02010600030101010101" pitchFamily="2" charset="-122"/>
                <a:cs typeface="+mn-lt"/>
              </a:rPr>
              <a:t> age;</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4  </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5      public Person() {}</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6  </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7      public Person(String name, </a:t>
            </a:r>
            <a:r>
              <a:rPr lang="en-US" altLang="zh-CN" sz="1700" dirty="0" err="1" smtClean="0">
                <a:solidFill>
                  <a:srgbClr val="002060"/>
                </a:solidFill>
                <a:ea typeface="宋体" panose="02010600030101010101" pitchFamily="2" charset="-122"/>
                <a:cs typeface="+mn-lt"/>
              </a:rPr>
              <a:t>int</a:t>
            </a:r>
            <a:r>
              <a:rPr lang="en-US" altLang="zh-CN" sz="1700" dirty="0" smtClean="0">
                <a:solidFill>
                  <a:srgbClr val="002060"/>
                </a:solidFill>
                <a:ea typeface="宋体" panose="02010600030101010101" pitchFamily="2" charset="-122"/>
                <a:cs typeface="+mn-lt"/>
              </a:rPr>
              <a:t> age) {</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8          this.name = name;</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9          </a:t>
            </a:r>
            <a:r>
              <a:rPr lang="en-US" altLang="zh-CN" sz="1700" dirty="0" err="1" smtClean="0">
                <a:solidFill>
                  <a:srgbClr val="002060"/>
                </a:solidFill>
                <a:ea typeface="宋体" panose="02010600030101010101" pitchFamily="2" charset="-122"/>
                <a:cs typeface="+mn-lt"/>
              </a:rPr>
              <a:t>this.age</a:t>
            </a:r>
            <a:r>
              <a:rPr lang="en-US" altLang="zh-CN" sz="1700" dirty="0" smtClean="0">
                <a:solidFill>
                  <a:srgbClr val="002060"/>
                </a:solidFill>
                <a:ea typeface="宋体" panose="02010600030101010101" pitchFamily="2" charset="-122"/>
                <a:cs typeface="+mn-lt"/>
              </a:rPr>
              <a:t> = age;</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10     }</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11    //……</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12     public String say() {</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13         return "</a:t>
            </a:r>
            <a:r>
              <a:rPr lang="zh-CN" altLang="en-US" sz="1700" dirty="0" smtClean="0">
                <a:solidFill>
                  <a:srgbClr val="002060"/>
                </a:solidFill>
                <a:ea typeface="宋体" panose="02010600030101010101" pitchFamily="2" charset="-122"/>
                <a:cs typeface="+mn-lt"/>
              </a:rPr>
              <a:t>姓名：</a:t>
            </a:r>
            <a:r>
              <a:rPr lang="en-US" altLang="zh-CN" sz="1700" dirty="0" smtClean="0">
                <a:solidFill>
                  <a:srgbClr val="002060"/>
                </a:solidFill>
                <a:ea typeface="宋体" panose="02010600030101010101" pitchFamily="2" charset="-122"/>
                <a:cs typeface="+mn-lt"/>
              </a:rPr>
              <a:t>" + name + "  </a:t>
            </a:r>
            <a:r>
              <a:rPr lang="zh-CN" altLang="en-US" sz="1700" dirty="0" smtClean="0">
                <a:solidFill>
                  <a:srgbClr val="002060"/>
                </a:solidFill>
                <a:ea typeface="宋体" panose="02010600030101010101" pitchFamily="2" charset="-122"/>
                <a:cs typeface="+mn-lt"/>
              </a:rPr>
              <a:t>年龄：</a:t>
            </a:r>
            <a:r>
              <a:rPr lang="en-US" altLang="zh-CN" sz="1700" dirty="0" smtClean="0">
                <a:solidFill>
                  <a:srgbClr val="002060"/>
                </a:solidFill>
                <a:ea typeface="宋体" panose="02010600030101010101" pitchFamily="2" charset="-122"/>
                <a:cs typeface="+mn-lt"/>
              </a:rPr>
              <a:t>" + age;</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14     }</a:t>
            </a:r>
            <a:endParaRPr lang="en-US" altLang="zh-CN" sz="1700" dirty="0" smtClean="0">
              <a:solidFill>
                <a:srgbClr val="002060"/>
              </a:solidFill>
              <a:ea typeface="宋体" panose="02010600030101010101" pitchFamily="2" charset="-122"/>
              <a:cs typeface="+mn-lt"/>
            </a:endParaRPr>
          </a:p>
          <a:p>
            <a:pPr marL="361950" indent="-361950" eaLnBrk="1" hangingPunct="1">
              <a:buFont typeface="Times"/>
              <a:buNone/>
            </a:pPr>
            <a:r>
              <a:rPr lang="en-US" altLang="zh-CN" sz="1700" dirty="0" smtClean="0">
                <a:solidFill>
                  <a:srgbClr val="002060"/>
                </a:solidFill>
                <a:ea typeface="宋体" panose="02010600030101010101" pitchFamily="2" charset="-122"/>
                <a:cs typeface="+mn-lt"/>
              </a:rPr>
              <a:t>15 }</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参考答案 </a:t>
            </a:r>
            <a:r>
              <a:rPr lang="en-US" altLang="zh-CN" sz="2400" smtClean="0">
                <a:ea typeface="宋体" panose="02010600030101010101" pitchFamily="2" charset="-122"/>
                <a:sym typeface="+mn-ea"/>
              </a:rPr>
              <a:t>— Student类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900113" y="1398607"/>
            <a:ext cx="7537450" cy="4816475"/>
          </a:xfrm>
        </p:spPr>
        <p:txBody>
          <a:bodyPr>
            <a:noAutofit/>
          </a:bodyPr>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  public class Student extends Person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2      private </a:t>
            </a:r>
            <a:r>
              <a:rPr lang="en-US" altLang="zh-CN" sz="1700" dirty="0" err="1" smtClean="0">
                <a:solidFill>
                  <a:srgbClr val="002060"/>
                </a:solidFill>
                <a:ea typeface="宋体" panose="02010600030101010101" pitchFamily="2" charset="-122"/>
              </a:rPr>
              <a:t>int</a:t>
            </a:r>
            <a:r>
              <a:rPr lang="en-US" altLang="zh-CN" sz="1700" dirty="0" smtClean="0">
                <a:solidFill>
                  <a:srgbClr val="002060"/>
                </a:solidFill>
                <a:ea typeface="宋体" panose="02010600030101010101" pitchFamily="2" charset="-122"/>
              </a:rPr>
              <a:t> id;</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3      private double score;</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4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5      public Student(String name, </a:t>
            </a:r>
            <a:r>
              <a:rPr lang="en-US" altLang="zh-CN" sz="1700" dirty="0" err="1" smtClean="0">
                <a:solidFill>
                  <a:srgbClr val="002060"/>
                </a:solidFill>
                <a:ea typeface="宋体" panose="02010600030101010101" pitchFamily="2" charset="-122"/>
              </a:rPr>
              <a:t>int</a:t>
            </a:r>
            <a:r>
              <a:rPr lang="en-US" altLang="zh-CN" sz="1700" dirty="0" smtClean="0">
                <a:solidFill>
                  <a:srgbClr val="002060"/>
                </a:solidFill>
                <a:ea typeface="宋体" panose="02010600030101010101" pitchFamily="2" charset="-122"/>
              </a:rPr>
              <a:t> id)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6          this(name, 20, id, 100.0);</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7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8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9      public Student(String name, </a:t>
            </a:r>
            <a:r>
              <a:rPr lang="en-US" altLang="zh-CN" sz="1700" dirty="0" err="1" smtClean="0">
                <a:solidFill>
                  <a:srgbClr val="002060"/>
                </a:solidFill>
                <a:ea typeface="宋体" panose="02010600030101010101" pitchFamily="2" charset="-122"/>
              </a:rPr>
              <a:t>int</a:t>
            </a:r>
            <a:r>
              <a:rPr lang="en-US" altLang="zh-CN" sz="1700" dirty="0" smtClean="0">
                <a:solidFill>
                  <a:srgbClr val="002060"/>
                </a:solidFill>
                <a:ea typeface="宋体" panose="02010600030101010101" pitchFamily="2" charset="-122"/>
              </a:rPr>
              <a:t> age, </a:t>
            </a:r>
            <a:r>
              <a:rPr lang="en-US" altLang="zh-CN" sz="1700" dirty="0" err="1" smtClean="0">
                <a:solidFill>
                  <a:srgbClr val="002060"/>
                </a:solidFill>
                <a:ea typeface="宋体" panose="02010600030101010101" pitchFamily="2" charset="-122"/>
              </a:rPr>
              <a:t>int</a:t>
            </a:r>
            <a:r>
              <a:rPr lang="en-US" altLang="zh-CN" sz="1700" dirty="0" smtClean="0">
                <a:solidFill>
                  <a:srgbClr val="002060"/>
                </a:solidFill>
                <a:ea typeface="宋体" panose="02010600030101010101" pitchFamily="2" charset="-122"/>
              </a:rPr>
              <a:t> id, double score)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10         super(name, age);</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11         this.id = id;</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12         </a:t>
            </a:r>
            <a:r>
              <a:rPr lang="en-US" altLang="zh-CN" sz="1700" dirty="0" err="1" smtClean="0">
                <a:solidFill>
                  <a:srgbClr val="002060"/>
                </a:solidFill>
                <a:ea typeface="宋体" panose="02010600030101010101" pitchFamily="2" charset="-122"/>
              </a:rPr>
              <a:t>this.score</a:t>
            </a:r>
            <a:r>
              <a:rPr lang="en-US" altLang="zh-CN" sz="1700" dirty="0" smtClean="0">
                <a:solidFill>
                  <a:srgbClr val="002060"/>
                </a:solidFill>
                <a:ea typeface="宋体" panose="02010600030101010101" pitchFamily="2" charset="-122"/>
              </a:rPr>
              <a:t> = score;</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13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14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15     public String say()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16         return </a:t>
            </a:r>
            <a:r>
              <a:rPr lang="en-US" altLang="zh-CN" sz="1700" dirty="0" err="1" smtClean="0">
                <a:solidFill>
                  <a:srgbClr val="002060"/>
                </a:solidFill>
                <a:ea typeface="宋体" panose="02010600030101010101" pitchFamily="2" charset="-122"/>
              </a:rPr>
              <a:t>super.say</a:t>
            </a:r>
            <a:r>
              <a:rPr lang="en-US" altLang="zh-CN" sz="1700" dirty="0" smtClean="0">
                <a:solidFill>
                  <a:srgbClr val="002060"/>
                </a:solidFill>
                <a:ea typeface="宋体" panose="02010600030101010101" pitchFamily="2" charset="-122"/>
              </a:rPr>
              <a:t>() + " </a:t>
            </a:r>
            <a:r>
              <a:rPr lang="zh-CN" altLang="en-US" sz="1700" dirty="0" smtClean="0">
                <a:solidFill>
                  <a:srgbClr val="002060"/>
                </a:solidFill>
                <a:ea typeface="宋体" panose="02010600030101010101" pitchFamily="2" charset="-122"/>
              </a:rPr>
              <a:t>学号：</a:t>
            </a:r>
            <a:r>
              <a:rPr lang="en-US" altLang="zh-CN" sz="1700" dirty="0" smtClean="0">
                <a:solidFill>
                  <a:srgbClr val="002060"/>
                </a:solidFill>
                <a:ea typeface="宋体" panose="02010600030101010101" pitchFamily="2" charset="-122"/>
              </a:rPr>
              <a:t>" + id + " </a:t>
            </a:r>
            <a:r>
              <a:rPr lang="zh-CN" altLang="en-US" sz="1700" dirty="0" smtClean="0">
                <a:solidFill>
                  <a:srgbClr val="002060"/>
                </a:solidFill>
                <a:ea typeface="宋体" panose="02010600030101010101" pitchFamily="2" charset="-122"/>
              </a:rPr>
              <a:t>分数：</a:t>
            </a:r>
            <a:r>
              <a:rPr lang="en-US" altLang="zh-CN" sz="1700" dirty="0" smtClean="0">
                <a:solidFill>
                  <a:srgbClr val="002060"/>
                </a:solidFill>
                <a:ea typeface="宋体" panose="02010600030101010101" pitchFamily="2" charset="-122"/>
              </a:rPr>
              <a:t>" + score;</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17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18 }</a:t>
            </a:r>
            <a:endParaRPr lang="en-US" altLang="zh-CN" sz="1700" dirty="0" smtClean="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参考答案 </a:t>
            </a:r>
            <a:r>
              <a:rPr lang="en-US" altLang="zh-CN" sz="2400" smtClean="0">
                <a:ea typeface="宋体" panose="02010600030101010101" pitchFamily="2" charset="-122"/>
                <a:sym typeface="+mn-ea"/>
              </a:rPr>
              <a:t>— Test类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5299" name="内容占位符 2"/>
          <p:cNvSpPr>
            <a:spLocks noGrp="1"/>
          </p:cNvSpPr>
          <p:nvPr>
            <p:ph idx="1"/>
          </p:nvPr>
        </p:nvSpPr>
        <p:spPr>
          <a:xfrm>
            <a:off x="900113" y="1398607"/>
            <a:ext cx="7537450" cy="4816475"/>
          </a:xfrm>
        </p:spPr>
        <p:txBody>
          <a:bodyPr/>
          <a:p>
            <a:pPr marL="361950" indent="-361950" eaLnBrk="1" hangingPunct="1">
              <a:buFont typeface="Times"/>
              <a:buNone/>
            </a:pPr>
            <a:r>
              <a:rPr lang="en-US" altLang="zh-CN" sz="1700" dirty="0" smtClean="0">
                <a:solidFill>
                  <a:srgbClr val="002060"/>
                </a:solidFill>
                <a:ea typeface="宋体" panose="02010600030101010101" pitchFamily="2" charset="-122"/>
              </a:rPr>
              <a:t>1 public  class Test {</a:t>
            </a:r>
            <a:endParaRPr lang="en-US" altLang="zh-CN" sz="1700" dirty="0" smtClean="0">
              <a:solidFill>
                <a:srgbClr val="002060"/>
              </a:solidFill>
              <a:ea typeface="宋体" panose="02010600030101010101" pitchFamily="2" charset="-122"/>
            </a:endParaRPr>
          </a:p>
          <a:p>
            <a:pPr marL="361950" indent="-361950" eaLnBrk="1" hangingPunct="1">
              <a:buFont typeface="Times"/>
              <a:buNone/>
            </a:pPr>
            <a:r>
              <a:rPr lang="en-US" altLang="zh-CN" sz="1700" dirty="0" smtClean="0">
                <a:solidFill>
                  <a:srgbClr val="002060"/>
                </a:solidFill>
                <a:ea typeface="宋体" panose="02010600030101010101" pitchFamily="2" charset="-122"/>
              </a:rPr>
              <a:t>2     public static void main(String[] </a:t>
            </a:r>
            <a:r>
              <a:rPr lang="en-US" altLang="zh-CN" sz="1700" dirty="0" err="1" smtClean="0">
                <a:solidFill>
                  <a:srgbClr val="002060"/>
                </a:solidFill>
                <a:ea typeface="宋体" panose="02010600030101010101" pitchFamily="2" charset="-122"/>
              </a:rPr>
              <a:t>args</a:t>
            </a:r>
            <a:r>
              <a:rPr lang="en-US" altLang="zh-CN" sz="1700" dirty="0" smtClean="0">
                <a:solidFill>
                  <a:srgbClr val="002060"/>
                </a:solidFill>
                <a:ea typeface="宋体" panose="02010600030101010101" pitchFamily="2" charset="-122"/>
              </a:rPr>
              <a:t>) {</a:t>
            </a:r>
            <a:endParaRPr lang="en-US" altLang="zh-CN" sz="1700" dirty="0" smtClean="0">
              <a:solidFill>
                <a:srgbClr val="002060"/>
              </a:solidFill>
              <a:ea typeface="宋体" panose="02010600030101010101" pitchFamily="2" charset="-122"/>
            </a:endParaRPr>
          </a:p>
          <a:p>
            <a:pPr marL="361950" indent="-361950" eaLnBrk="1" hangingPunct="1">
              <a:buFont typeface="Times"/>
              <a:buNone/>
            </a:pPr>
            <a:r>
              <a:rPr lang="en-US" altLang="zh-CN" sz="1700" dirty="0" smtClean="0">
                <a:solidFill>
                  <a:srgbClr val="002060"/>
                </a:solidFill>
                <a:ea typeface="宋体" panose="02010600030101010101" pitchFamily="2" charset="-122"/>
              </a:rPr>
              <a:t>3         Person </a:t>
            </a:r>
            <a:r>
              <a:rPr lang="en-US" altLang="zh-CN" sz="1700" dirty="0" err="1" smtClean="0">
                <a:solidFill>
                  <a:srgbClr val="002060"/>
                </a:solidFill>
                <a:ea typeface="宋体" panose="02010600030101010101" pitchFamily="2" charset="-122"/>
              </a:rPr>
              <a:t>person</a:t>
            </a:r>
            <a:r>
              <a:rPr lang="en-US" altLang="zh-CN" sz="1700" dirty="0" smtClean="0">
                <a:solidFill>
                  <a:srgbClr val="002060"/>
                </a:solidFill>
                <a:ea typeface="宋体" panose="02010600030101010101" pitchFamily="2" charset="-122"/>
              </a:rPr>
              <a:t> = new Person("</a:t>
            </a:r>
            <a:r>
              <a:rPr lang="zh-CN" altLang="en-US" sz="1700" dirty="0" smtClean="0">
                <a:solidFill>
                  <a:srgbClr val="002060"/>
                </a:solidFill>
                <a:ea typeface="宋体" panose="02010600030101010101" pitchFamily="2" charset="-122"/>
              </a:rPr>
              <a:t>张三</a:t>
            </a:r>
            <a:r>
              <a:rPr lang="en-US" altLang="zh-CN" sz="1700" dirty="0" smtClean="0">
                <a:solidFill>
                  <a:srgbClr val="002060"/>
                </a:solidFill>
                <a:ea typeface="宋体" panose="02010600030101010101" pitchFamily="2" charset="-122"/>
              </a:rPr>
              <a:t>", 30);</a:t>
            </a:r>
            <a:endParaRPr lang="en-US" altLang="zh-CN" sz="1700" dirty="0" smtClean="0">
              <a:solidFill>
                <a:srgbClr val="002060"/>
              </a:solidFill>
              <a:ea typeface="宋体" panose="02010600030101010101" pitchFamily="2" charset="-122"/>
            </a:endParaRPr>
          </a:p>
          <a:p>
            <a:pPr marL="361950" indent="-361950" eaLnBrk="1" hangingPunct="1">
              <a:buFont typeface="Times"/>
              <a:buNone/>
            </a:pPr>
            <a:r>
              <a:rPr lang="en-US" altLang="zh-CN" sz="1700" dirty="0" smtClean="0">
                <a:solidFill>
                  <a:srgbClr val="002060"/>
                </a:solidFill>
                <a:ea typeface="宋体" panose="02010600030101010101" pitchFamily="2" charset="-122"/>
              </a:rPr>
              <a:t>4         </a:t>
            </a:r>
            <a:r>
              <a:rPr lang="en-US" altLang="zh-CN" sz="1700" dirty="0" err="1" smtClean="0">
                <a:solidFill>
                  <a:srgbClr val="002060"/>
                </a:solidFill>
                <a:ea typeface="宋体" panose="02010600030101010101" pitchFamily="2" charset="-122"/>
              </a:rPr>
              <a:t>System.out.println</a:t>
            </a:r>
            <a:r>
              <a:rPr lang="en-US" altLang="zh-CN" sz="1700" dirty="0" smtClean="0">
                <a:solidFill>
                  <a:srgbClr val="002060"/>
                </a:solidFill>
                <a:ea typeface="宋体" panose="02010600030101010101" pitchFamily="2" charset="-122"/>
              </a:rPr>
              <a:t>(</a:t>
            </a:r>
            <a:r>
              <a:rPr lang="en-US" altLang="zh-CN" sz="1700" dirty="0" err="1" smtClean="0">
                <a:solidFill>
                  <a:srgbClr val="002060"/>
                </a:solidFill>
                <a:ea typeface="宋体" panose="02010600030101010101" pitchFamily="2" charset="-122"/>
              </a:rPr>
              <a:t>person.say</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buFont typeface="Times"/>
              <a:buNone/>
            </a:pPr>
            <a:r>
              <a:rPr lang="en-US" altLang="zh-CN" sz="1700" dirty="0" smtClean="0">
                <a:solidFill>
                  <a:srgbClr val="002060"/>
                </a:solidFill>
                <a:ea typeface="宋体" panose="02010600030101010101" pitchFamily="2" charset="-122"/>
              </a:rPr>
              <a:t>5 </a:t>
            </a:r>
            <a:endParaRPr lang="en-US" altLang="zh-CN" sz="1700" dirty="0" smtClean="0">
              <a:solidFill>
                <a:srgbClr val="002060"/>
              </a:solidFill>
              <a:ea typeface="宋体" panose="02010600030101010101" pitchFamily="2" charset="-122"/>
            </a:endParaRPr>
          </a:p>
          <a:p>
            <a:pPr marL="361950" indent="-361950" eaLnBrk="1" hangingPunct="1">
              <a:buFont typeface="Times"/>
              <a:buNone/>
            </a:pPr>
            <a:r>
              <a:rPr lang="en-US" altLang="zh-CN" sz="1700" dirty="0" smtClean="0">
                <a:solidFill>
                  <a:srgbClr val="002060"/>
                </a:solidFill>
                <a:ea typeface="宋体" panose="02010600030101010101" pitchFamily="2" charset="-122"/>
              </a:rPr>
              <a:t>6         Student </a:t>
            </a:r>
            <a:r>
              <a:rPr lang="en-US" altLang="zh-CN" sz="1700" dirty="0" err="1" smtClean="0">
                <a:solidFill>
                  <a:srgbClr val="002060"/>
                </a:solidFill>
                <a:ea typeface="宋体" panose="02010600030101010101" pitchFamily="2" charset="-122"/>
              </a:rPr>
              <a:t>student</a:t>
            </a:r>
            <a:r>
              <a:rPr lang="en-US" altLang="zh-CN" sz="1700" dirty="0" smtClean="0">
                <a:solidFill>
                  <a:srgbClr val="002060"/>
                </a:solidFill>
                <a:ea typeface="宋体" panose="02010600030101010101" pitchFamily="2" charset="-122"/>
              </a:rPr>
              <a:t> = new Student("</a:t>
            </a:r>
            <a:r>
              <a:rPr lang="zh-CN" altLang="en-US" sz="1700" dirty="0" smtClean="0">
                <a:solidFill>
                  <a:srgbClr val="002060"/>
                </a:solidFill>
                <a:ea typeface="宋体" panose="02010600030101010101" pitchFamily="2" charset="-122"/>
              </a:rPr>
              <a:t>李四</a:t>
            </a:r>
            <a:r>
              <a:rPr lang="en-US" altLang="zh-CN" sz="1700" dirty="0" smtClean="0">
                <a:solidFill>
                  <a:srgbClr val="002060"/>
                </a:solidFill>
                <a:ea typeface="宋体" panose="02010600030101010101" pitchFamily="2" charset="-122"/>
              </a:rPr>
              <a:t>", 120);</a:t>
            </a:r>
            <a:endParaRPr lang="en-US" altLang="zh-CN" sz="1700" dirty="0" smtClean="0">
              <a:solidFill>
                <a:srgbClr val="002060"/>
              </a:solidFill>
              <a:ea typeface="宋体" panose="02010600030101010101" pitchFamily="2" charset="-122"/>
            </a:endParaRPr>
          </a:p>
          <a:p>
            <a:pPr marL="361950" indent="-361950" eaLnBrk="1" hangingPunct="1">
              <a:buFont typeface="Times"/>
              <a:buNone/>
            </a:pPr>
            <a:r>
              <a:rPr lang="en-US" altLang="zh-CN" sz="1700" dirty="0" smtClean="0">
                <a:solidFill>
                  <a:srgbClr val="002060"/>
                </a:solidFill>
                <a:ea typeface="宋体" panose="02010600030101010101" pitchFamily="2" charset="-122"/>
              </a:rPr>
              <a:t>7         </a:t>
            </a:r>
            <a:r>
              <a:rPr lang="en-US" altLang="zh-CN" sz="1700" dirty="0" err="1" smtClean="0">
                <a:solidFill>
                  <a:srgbClr val="002060"/>
                </a:solidFill>
                <a:ea typeface="宋体" panose="02010600030101010101" pitchFamily="2" charset="-122"/>
              </a:rPr>
              <a:t>System.out.println</a:t>
            </a:r>
            <a:r>
              <a:rPr lang="en-US" altLang="zh-CN" sz="1700" dirty="0" smtClean="0">
                <a:solidFill>
                  <a:srgbClr val="002060"/>
                </a:solidFill>
                <a:ea typeface="宋体" panose="02010600030101010101" pitchFamily="2" charset="-122"/>
              </a:rPr>
              <a:t>(</a:t>
            </a:r>
            <a:r>
              <a:rPr lang="en-US" altLang="zh-CN" sz="1700" dirty="0" err="1" smtClean="0">
                <a:solidFill>
                  <a:srgbClr val="002060"/>
                </a:solidFill>
                <a:ea typeface="宋体" panose="02010600030101010101" pitchFamily="2" charset="-122"/>
              </a:rPr>
              <a:t>student.say</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buFont typeface="Times"/>
              <a:buNone/>
            </a:pPr>
            <a:r>
              <a:rPr lang="en-US" altLang="zh-CN" sz="1700" dirty="0" smtClean="0">
                <a:solidFill>
                  <a:srgbClr val="002060"/>
                </a:solidFill>
                <a:ea typeface="宋体" panose="02010600030101010101" pitchFamily="2" charset="-122"/>
              </a:rPr>
              <a:t>8     }</a:t>
            </a:r>
            <a:endParaRPr lang="en-US" altLang="zh-CN" sz="1700" dirty="0" smtClean="0">
              <a:solidFill>
                <a:srgbClr val="002060"/>
              </a:solidFill>
              <a:ea typeface="宋体" panose="02010600030101010101" pitchFamily="2" charset="-122"/>
            </a:endParaRPr>
          </a:p>
          <a:p>
            <a:pPr marL="361950" indent="-361950" eaLnBrk="1" hangingPunct="1">
              <a:buFont typeface="Times"/>
              <a:buNone/>
            </a:pPr>
            <a:r>
              <a:rPr lang="en-US" altLang="zh-CN" sz="1700" dirty="0" smtClean="0">
                <a:solidFill>
                  <a:srgbClr val="002060"/>
                </a:solidFill>
                <a:ea typeface="宋体" panose="02010600030101010101" pitchFamily="2" charset="-122"/>
              </a:rPr>
              <a:t>9 }</a:t>
            </a:r>
            <a:endParaRPr lang="en-US" altLang="zh-CN" sz="1700" dirty="0" smtClean="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251075"/>
            <a:ext cx="3369310" cy="829945"/>
          </a:xfrm>
          <a:prstGeom prst="rect">
            <a:avLst/>
          </a:prstGeom>
          <a:noFill/>
        </p:spPr>
        <p:txBody>
          <a:bodyPr wrap="square" rtlCol="0">
            <a:spAutoFit/>
          </a:bodyPr>
          <a:lstStyle/>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zh-CN" altLang="en-US" sz="2400" dirty="0" smtClean="0">
                <a:ea typeface="宋体" panose="02010600030101010101" pitchFamily="2" charset="-122"/>
                <a:sym typeface="+mn-ea"/>
              </a:rPr>
              <a:t>多态的概述与实现</a:t>
            </a:r>
            <a:endParaRPr lang="zh-CN" altLang="en-US" sz="2400" dirty="0" smtClean="0">
              <a:ea typeface="宋体" panose="02010600030101010101" pitchFamily="2" charset="-122"/>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167765" y="2648585"/>
            <a:ext cx="2912110"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第九章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400" b="1" dirty="0" smtClean="0">
                <a:solidFill>
                  <a:srgbClr val="002060"/>
                </a:solidFill>
                <a:latin typeface="Arial" panose="020B0604020202020204" pitchFamily="34" charset="0"/>
                <a:ea typeface="宋体" panose="02010600030101010101" pitchFamily="2" charset="-122"/>
                <a:sym typeface="+mn-ea"/>
              </a:rPr>
              <a:t>多态</a:t>
            </a:r>
            <a:endParaRPr kumimoji="0" lang="zh-CN" altLang="en-US"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37" name="矩形 36"/>
          <p:cNvSpPr/>
          <p:nvPr/>
        </p:nvSpPr>
        <p:spPr>
          <a:xfrm>
            <a:off x="4765675" y="3002280"/>
            <a:ext cx="3907155" cy="618490"/>
          </a:xfrm>
          <a:prstGeom prst="rect">
            <a:avLst/>
          </a:prstGeom>
          <a:noFill/>
        </p:spPr>
        <p:txBody>
          <a:bodyPr wrap="square" rtlCol="0">
            <a:no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2.</a:t>
            </a:r>
            <a:r>
              <a:rPr lang="zh-CN" altLang="en-US" sz="2400" dirty="0" smtClean="0">
                <a:solidFill>
                  <a:srgbClr val="ED7D31"/>
                </a:solidFill>
                <a:ea typeface="宋体" panose="02010600030101010101" pitchFamily="2" charset="-122"/>
                <a:sym typeface="+mn-ea"/>
              </a:rPr>
              <a:t>引用数据类型转换</a:t>
            </a:r>
            <a:endParaRPr lang="zh-CN" altLang="en-US" sz="2400" dirty="0" smtClean="0">
              <a:solidFill>
                <a:srgbClr val="ED7D31"/>
              </a:solidFill>
              <a:latin typeface="+mj-lt"/>
              <a:ea typeface="宋体" panose="02010600030101010101" pitchFamily="2" charset="-122"/>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b="0" i="0" u="none" strike="noStrike" kern="1200" cap="none" spc="0" normalizeH="0" baseline="0" noProof="0" dirty="0" smtClean="0">
              <a:ln>
                <a:noFill/>
              </a:ln>
              <a:solidFill>
                <a:srgbClr val="ED7D31"/>
              </a:solidFill>
              <a:effectLst/>
              <a:uLnTx/>
              <a:uFillTx/>
              <a:latin typeface="+mj-lt"/>
              <a:ea typeface="宋体" panose="02010600030101010101" pitchFamily="2" charset="-122"/>
              <a:cs typeface="+mj-ea"/>
              <a:sym typeface="+mn-ea"/>
            </a:endParaRPr>
          </a:p>
        </p:txBody>
      </p:sp>
      <p:sp>
        <p:nvSpPr>
          <p:cNvPr id="4" name="矩形 3"/>
          <p:cNvSpPr/>
          <p:nvPr/>
        </p:nvSpPr>
        <p:spPr>
          <a:xfrm>
            <a:off x="4768850" y="3637280"/>
            <a:ext cx="563562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3.</a:t>
            </a:r>
            <a:r>
              <a:rPr lang="zh-CN" altLang="en-US" sz="2400" dirty="0" smtClean="0">
                <a:ea typeface="宋体" panose="02010600030101010101" pitchFamily="2" charset="-122"/>
                <a:sym typeface="+mn-ea"/>
              </a:rPr>
              <a:t>多态的变量和方法特点</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60450" y="3137535"/>
            <a:ext cx="10527665"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多态的概述与实现</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多  态</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5003800"/>
          </a:xfrm>
        </p:spPr>
        <p:txBody>
          <a:bodyPr>
            <a:normAutofit fontScale="90000"/>
          </a:bodyPr>
          <a:p>
            <a:pPr marL="457200" indent="-457200" algn="l" eaLnBrk="1" hangingPunct="1">
              <a:lnSpc>
                <a:spcPct val="130000"/>
              </a:lnSpc>
              <a:buClr>
                <a:srgbClr val="ED7D31"/>
              </a:buClr>
              <a:buSzTx/>
              <a:buFont typeface="+mj-lt"/>
              <a:buAutoNum type="arabicPeriod"/>
            </a:pPr>
            <a:r>
              <a:rPr lang="en-US" altLang="zh-CN" dirty="0">
                <a:ea typeface="宋体" panose="02010600030101010101" pitchFamily="2" charset="-122"/>
                <a:cs typeface="+mn-lt"/>
                <a:sym typeface="+mn-ea"/>
              </a:rPr>
              <a:t>多态 — 是同一个方法调用，由于对象不同可能会有不同的行为</a:t>
            </a:r>
            <a:r>
              <a:rPr lang="zh-CN" altLang="en-US" dirty="0">
                <a:ea typeface="宋体" panose="02010600030101010101" pitchFamily="2" charset="-122"/>
                <a:cs typeface="+mn-lt"/>
                <a:sym typeface="+mn-ea"/>
              </a:rPr>
              <a:t>，</a:t>
            </a:r>
            <a:r>
              <a:rPr lang="en-US" altLang="zh-CN" dirty="0">
                <a:ea typeface="宋体" panose="02010600030101010101" pitchFamily="2" charset="-122"/>
                <a:cs typeface="+mn-lt"/>
                <a:sym typeface="+mn-ea"/>
              </a:rPr>
              <a:t>现实生活中，同一个方法，具体实现会完全不同。</a:t>
            </a:r>
            <a:endParaRPr lang="en-US" altLang="zh-CN" dirty="0">
              <a:ea typeface="宋体" panose="02010600030101010101" pitchFamily="2" charset="-122"/>
              <a:cs typeface="+mn-lt"/>
              <a:sym typeface="+mn-ea"/>
            </a:endParaRPr>
          </a:p>
          <a:p>
            <a:pPr marL="457200" indent="-457200" algn="l" eaLnBrk="1" hangingPunct="1">
              <a:lnSpc>
                <a:spcPct val="130000"/>
              </a:lnSpc>
              <a:buClr>
                <a:srgbClr val="ED7D31"/>
              </a:buClr>
              <a:buSzTx/>
              <a:buFont typeface="+mj-lt"/>
              <a:buAutoNum type="arabicPeriod"/>
            </a:pPr>
            <a:r>
              <a:rPr lang="zh-CN" altLang="en-US" dirty="0">
                <a:ea typeface="宋体" panose="02010600030101010101" pitchFamily="2" charset="-122"/>
                <a:cs typeface="+mn-lt"/>
                <a:sym typeface="+mn-ea"/>
              </a:rPr>
              <a:t>必备条件</a:t>
            </a:r>
            <a:endParaRPr lang="en-US" altLang="zh-CN" dirty="0">
              <a:ea typeface="宋体" panose="02010600030101010101" pitchFamily="2" charset="-122"/>
              <a:cs typeface="+mn-lt"/>
              <a:sym typeface="+mn-ea"/>
            </a:endParaRPr>
          </a:p>
          <a:p>
            <a:pPr marL="914400" lvl="2" indent="-457200" algn="l" eaLnBrk="1" hangingPunct="1">
              <a:lnSpc>
                <a:spcPct val="130000"/>
              </a:lnSpc>
              <a:spcBef>
                <a:spcPts val="1000"/>
              </a:spcBef>
              <a:buClr>
                <a:srgbClr val="ED7D31"/>
              </a:buClr>
              <a:buSzTx/>
              <a:buFont typeface="+mj-lt"/>
              <a:buAutoNum type="arabicPeriod"/>
            </a:pPr>
            <a:r>
              <a:rPr lang="zh-CN" altLang="en-US" sz="2160" dirty="0">
                <a:ea typeface="宋体" panose="02010600030101010101" pitchFamily="2" charset="-122"/>
                <a:cs typeface="+mn-lt"/>
                <a:sym typeface="+mn-ea"/>
              </a:rPr>
              <a:t> 继承是多态的前提</a:t>
            </a:r>
            <a:endParaRPr lang="zh-CN" altLang="en-US" sz="2160" dirty="0">
              <a:ea typeface="宋体" panose="02010600030101010101" pitchFamily="2" charset="-122"/>
              <a:cs typeface="+mn-lt"/>
              <a:sym typeface="+mn-ea"/>
            </a:endParaRPr>
          </a:p>
          <a:p>
            <a:pPr marL="914400" lvl="2" indent="-457200" algn="l" eaLnBrk="1" hangingPunct="1">
              <a:lnSpc>
                <a:spcPct val="130000"/>
              </a:lnSpc>
              <a:spcBef>
                <a:spcPts val="1000"/>
              </a:spcBef>
              <a:buClr>
                <a:srgbClr val="ED7D31"/>
              </a:buClr>
              <a:buSzTx/>
              <a:buFont typeface="+mj-lt"/>
              <a:buAutoNum type="arabicPeriod"/>
            </a:pPr>
            <a:r>
              <a:rPr lang="zh-CN" altLang="en-US" sz="2160" dirty="0">
                <a:ea typeface="宋体" panose="02010600030101010101" pitchFamily="2" charset="-122"/>
                <a:cs typeface="+mn-lt"/>
                <a:sym typeface="+mn-ea"/>
              </a:rPr>
              <a:t>子类重写父类方法</a:t>
            </a:r>
            <a:endParaRPr lang="zh-CN" altLang="en-US" sz="2160" dirty="0">
              <a:ea typeface="宋体" panose="02010600030101010101" pitchFamily="2" charset="-122"/>
              <a:cs typeface="+mn-lt"/>
              <a:sym typeface="+mn-ea"/>
            </a:endParaRPr>
          </a:p>
          <a:p>
            <a:pPr marL="914400" lvl="2" indent="-457200" algn="l" eaLnBrk="1" hangingPunct="1">
              <a:lnSpc>
                <a:spcPct val="130000"/>
              </a:lnSpc>
              <a:spcBef>
                <a:spcPts val="1000"/>
              </a:spcBef>
              <a:buClr>
                <a:srgbClr val="ED7D31"/>
              </a:buClr>
              <a:buSzTx/>
              <a:buFont typeface="+mj-lt"/>
              <a:buAutoNum type="arabicPeriod"/>
            </a:pPr>
            <a:r>
              <a:rPr lang="zh-CN" altLang="en-US" sz="2160" dirty="0">
                <a:ea typeface="宋体" panose="02010600030101010101" pitchFamily="2" charset="-122"/>
                <a:cs typeface="+mn-lt"/>
                <a:sym typeface="+mn-ea"/>
              </a:rPr>
              <a:t>父类引用指向子类对象虚方法调用</a:t>
            </a:r>
            <a:endParaRPr lang="zh-CN" altLang="en-US" sz="2160" dirty="0">
              <a:ea typeface="宋体" panose="02010600030101010101" pitchFamily="2" charset="-122"/>
              <a:cs typeface="+mn-lt"/>
              <a:sym typeface="+mn-ea"/>
            </a:endParaRPr>
          </a:p>
          <a:p>
            <a:pPr marL="457200" lvl="1" indent="-457200" algn="l" eaLnBrk="1" hangingPunct="1">
              <a:lnSpc>
                <a:spcPct val="130000"/>
              </a:lnSpc>
              <a:spcBef>
                <a:spcPts val="1000"/>
              </a:spcBef>
              <a:buClr>
                <a:srgbClr val="ED7D31"/>
              </a:buClr>
              <a:buSzTx/>
              <a:buFont typeface="+mj-lt"/>
              <a:buAutoNum type="arabicPeriod" startAt="3"/>
            </a:pPr>
            <a:r>
              <a:rPr lang="zh-CN" altLang="en-US" sz="2400" dirty="0">
                <a:ea typeface="宋体" panose="02010600030101010101" pitchFamily="2" charset="-122"/>
                <a:cs typeface="+mn-lt"/>
                <a:sym typeface="+mn-ea"/>
              </a:rPr>
              <a:t>多态的使用场合：</a:t>
            </a:r>
            <a:endParaRPr lang="zh-CN" altLang="en-US" sz="2400" dirty="0">
              <a:ea typeface="宋体" panose="02010600030101010101" pitchFamily="2" charset="-122"/>
              <a:cs typeface="+mn-lt"/>
              <a:sym typeface="+mn-ea"/>
            </a:endParaRPr>
          </a:p>
          <a:p>
            <a:pPr marL="914400" lvl="2" indent="-457200" algn="l" eaLnBrk="1" hangingPunct="1">
              <a:lnSpc>
                <a:spcPct val="130000"/>
              </a:lnSpc>
              <a:spcBef>
                <a:spcPts val="1000"/>
              </a:spcBef>
              <a:buClr>
                <a:srgbClr val="ED7D31"/>
              </a:buClr>
              <a:buSzTx/>
              <a:buFont typeface="+mj-lt"/>
              <a:buAutoNum type="arabicPeriod"/>
            </a:pPr>
            <a:r>
              <a:rPr lang="zh-CN" altLang="en-US" sz="2160" dirty="0">
                <a:ea typeface="宋体" panose="02010600030101010101" pitchFamily="2" charset="-122"/>
                <a:cs typeface="+mn-lt"/>
                <a:sym typeface="+mn-ea"/>
              </a:rPr>
              <a:t>使用父类做方法的形参，实参可以是任意子类类型</a:t>
            </a:r>
            <a:endParaRPr lang="zh-CN" altLang="en-US" sz="2160" dirty="0">
              <a:ea typeface="宋体" panose="02010600030101010101" pitchFamily="2" charset="-122"/>
              <a:cs typeface="+mn-lt"/>
              <a:sym typeface="+mn-ea"/>
            </a:endParaRPr>
          </a:p>
          <a:p>
            <a:pPr marL="914400" lvl="2" indent="-457200" algn="l" eaLnBrk="1" hangingPunct="1">
              <a:lnSpc>
                <a:spcPct val="130000"/>
              </a:lnSpc>
              <a:spcBef>
                <a:spcPts val="1000"/>
              </a:spcBef>
              <a:buClr>
                <a:srgbClr val="ED7D31"/>
              </a:buClr>
              <a:buSzTx/>
              <a:buFont typeface="+mj-lt"/>
              <a:buAutoNum type="arabicPeriod"/>
            </a:pPr>
            <a:r>
              <a:rPr lang="zh-CN" altLang="en-US" sz="2160" dirty="0">
                <a:ea typeface="宋体" panose="02010600030101010101" pitchFamily="2" charset="-122"/>
                <a:cs typeface="+mn-lt"/>
                <a:sym typeface="+mn-ea"/>
              </a:rPr>
              <a:t>使用父类做方法的返回值类型，返回值可以是任意子类的对象</a:t>
            </a: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zh-CN" altLang="en-US" dirty="0">
              <a:ea typeface="宋体" panose="02010600030101010101" pitchFamily="2" charset="-122"/>
              <a:sym typeface="+mn-ea"/>
            </a:endParaRPr>
          </a:p>
          <a:p>
            <a:pPr marL="0" indent="0" eaLnBrk="1" hangingPunct="1">
              <a:lnSpc>
                <a:spcPct val="13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dirty="0" smtClean="0">
                <a:solidFill>
                  <a:srgbClr val="002060"/>
                </a:solidFill>
                <a:ea typeface="宋体" panose="02010600030101010101" pitchFamily="2" charset="-122"/>
                <a:cs typeface="+mn-lt"/>
                <a:sym typeface="+mn-ea"/>
              </a:rPr>
              <a:t>多态</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430" y="945515"/>
            <a:ext cx="8638540" cy="4966970"/>
          </a:xfrm>
        </p:spPr>
        <p:txBody>
          <a:bodyPr>
            <a:noAutofit/>
          </a:bodyPr>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public class Animal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public  void eat(){</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System.out.println("Animal.eat");</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class Cat </a:t>
            </a:r>
            <a:r>
              <a:rPr lang="en-US" altLang="zh-CN" sz="1700" dirty="0" smtClean="0">
                <a:solidFill>
                  <a:srgbClr val="FF0000"/>
                </a:solidFill>
                <a:ea typeface="宋体" panose="02010600030101010101" pitchFamily="2" charset="-122"/>
                <a:cs typeface="+mn-lt"/>
              </a:rPr>
              <a:t>extends</a:t>
            </a:r>
            <a:r>
              <a:rPr lang="en-US" altLang="zh-CN" sz="1700" dirty="0" smtClean="0">
                <a:solidFill>
                  <a:srgbClr val="002060"/>
                </a:solidFill>
                <a:ea typeface="宋体" panose="02010600030101010101" pitchFamily="2" charset="-122"/>
                <a:cs typeface="+mn-lt"/>
              </a:rPr>
              <a:t> Animal{</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@Override</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public void eat()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System.out.println("Cat.eat:鱼");</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class Dog </a:t>
            </a:r>
            <a:r>
              <a:rPr lang="en-US" altLang="zh-CN" sz="1700" dirty="0" smtClean="0">
                <a:solidFill>
                  <a:srgbClr val="FF0000"/>
                </a:solidFill>
                <a:ea typeface="宋体" panose="02010600030101010101" pitchFamily="2" charset="-122"/>
                <a:cs typeface="+mn-lt"/>
              </a:rPr>
              <a:t>extends </a:t>
            </a:r>
            <a:r>
              <a:rPr lang="en-US" altLang="zh-CN" sz="1700" dirty="0" smtClean="0">
                <a:solidFill>
                  <a:srgbClr val="002060"/>
                </a:solidFill>
                <a:ea typeface="宋体" panose="02010600030101010101" pitchFamily="2" charset="-122"/>
                <a:cs typeface="+mn-lt"/>
              </a:rPr>
              <a:t>Animal{</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@Override</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public void eat()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System.out.println("Dog.eat:骨头");</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class Pig </a:t>
            </a:r>
            <a:r>
              <a:rPr lang="en-US" altLang="zh-CN" sz="1700" dirty="0" smtClean="0">
                <a:solidFill>
                  <a:srgbClr val="FF0000"/>
                </a:solidFill>
                <a:ea typeface="宋体" panose="02010600030101010101" pitchFamily="2" charset="-122"/>
                <a:cs typeface="+mn-lt"/>
              </a:rPr>
              <a:t>extends  </a:t>
            </a:r>
            <a:r>
              <a:rPr lang="en-US" altLang="zh-CN" sz="1700" dirty="0" smtClean="0">
                <a:solidFill>
                  <a:srgbClr val="002060"/>
                </a:solidFill>
                <a:ea typeface="宋体" panose="02010600030101010101" pitchFamily="2" charset="-122"/>
                <a:cs typeface="+mn-lt"/>
              </a:rPr>
              <a:t>Animal{</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@Override</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public void eat()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System.out.println("Pig.eat:食料");</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dirty="0" smtClean="0">
                <a:solidFill>
                  <a:srgbClr val="002060"/>
                </a:solidFill>
                <a:ea typeface="宋体" panose="02010600030101010101" pitchFamily="2" charset="-122"/>
                <a:cs typeface="+mn-lt"/>
                <a:sym typeface="+mn-ea"/>
              </a:rPr>
              <a:t>多态</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939165" y="976630"/>
            <a:ext cx="11252835" cy="5039995"/>
          </a:xfrm>
        </p:spPr>
        <p:txBody>
          <a:bodyPr>
            <a:noAutofit/>
          </a:bodyPr>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class Admin{</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 动态绑定：</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  1：feedAnimal(Animal animal) 参数</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      1：animal传入的对象参数是Dog 就会调用dog的eat方法</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          1：比如传入的是Dog对象  那么就相当于  Animal animal = new Dog()</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          2: 实际上animal对象指向的还是Dog对象，所以才调用Dog的方法</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      2：animal传入的对象参数是Cat 就会调用Cat的eat方法</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      。。。</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public void feedAnimal(</a:t>
            </a:r>
            <a:r>
              <a:rPr lang="en-US" altLang="zh-CN" sz="1600" dirty="0" smtClean="0">
                <a:solidFill>
                  <a:srgbClr val="FF0000"/>
                </a:solidFill>
                <a:ea typeface="宋体" panose="02010600030101010101" pitchFamily="2" charset="-122"/>
                <a:cs typeface="+mn-lt"/>
              </a:rPr>
              <a:t>Animal animal</a:t>
            </a:r>
            <a:r>
              <a:rPr lang="en-US" altLang="zh-CN" sz="1600" dirty="0" smtClean="0">
                <a:solidFill>
                  <a:srgbClr val="002060"/>
                </a:solidFill>
                <a:ea typeface="宋体" panose="02010600030101010101" pitchFamily="2" charset="-122"/>
                <a:cs typeface="+mn-lt"/>
              </a:rPr>
              <a:t>){</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animal.eat();</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class Test{</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public static void main(String[] args) {</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//初始化管理员对象</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Admin admin = new Admin();</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//管理给动物喂食</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admin.feedAnimal(new Cat());</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admin.feedAnimal(new Dog());</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admin.feedAnimal(new Pig());</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600" dirty="0" smtClean="0">
                <a:solidFill>
                  <a:srgbClr val="002060"/>
                </a:solidFill>
                <a:ea typeface="宋体" panose="02010600030101010101" pitchFamily="2" charset="-122"/>
                <a:cs typeface="+mn-lt"/>
              </a:rPr>
              <a:t>}</a:t>
            </a:r>
            <a:endParaRPr lang="en-US" altLang="zh-CN" sz="16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综</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合</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编写一个Person类，</a:t>
            </a:r>
            <a:r>
              <a:rPr lang="zh-CN" altLang="en-US" dirty="0">
                <a:ea typeface="宋体" panose="02010600030101010101" pitchFamily="2" charset="-122"/>
                <a:sym typeface="+mn-ea"/>
              </a:rPr>
              <a:t>声明一个</a:t>
            </a:r>
            <a:r>
              <a:rPr lang="en-US" altLang="zh-CN" dirty="0">
                <a:ea typeface="宋体" panose="02010600030101010101" pitchFamily="2" charset="-122"/>
                <a:sym typeface="+mn-ea"/>
              </a:rPr>
              <a:t>eat()</a:t>
            </a:r>
            <a:r>
              <a:rPr lang="zh-CN" altLang="en-US" dirty="0">
                <a:ea typeface="宋体" panose="02010600030101010101" pitchFamily="2" charset="-122"/>
                <a:sym typeface="+mn-ea"/>
              </a:rPr>
              <a:t>方法</a:t>
            </a:r>
            <a:r>
              <a:rPr lang="en-US" altLang="zh-CN" dirty="0">
                <a:ea typeface="宋体" panose="02010600030101010101" pitchFamily="2" charset="-122"/>
                <a:sym typeface="+mn-ea"/>
              </a:rPr>
              <a:t>。</a:t>
            </a:r>
            <a:endParaRPr lang="en-US" altLang="zh-CN"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编写一个Student类，继承Person类，</a:t>
            </a:r>
            <a:r>
              <a:rPr lang="zh-CN" altLang="en-US" dirty="0">
                <a:ea typeface="宋体" panose="02010600030101010101" pitchFamily="2" charset="-122"/>
                <a:sym typeface="+mn-ea"/>
              </a:rPr>
              <a:t>添加</a:t>
            </a:r>
            <a:r>
              <a:rPr lang="en-US" altLang="zh-CN" dirty="0">
                <a:ea typeface="宋体" panose="02010600030101010101" pitchFamily="2" charset="-122"/>
                <a:sym typeface="+mn-ea"/>
              </a:rPr>
              <a:t>swimming</a:t>
            </a:r>
            <a:r>
              <a:rPr lang="zh-CN" altLang="en-US" dirty="0">
                <a:ea typeface="宋体" panose="02010600030101010101" pitchFamily="2" charset="-122"/>
                <a:sym typeface="+mn-ea"/>
              </a:rPr>
              <a:t>（）方法</a:t>
            </a:r>
            <a:endParaRPr lang="zh-CN" altLang="en-US"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重写父类的</a:t>
            </a:r>
            <a:r>
              <a:rPr lang="en-US" altLang="zh-CN" dirty="0">
                <a:ea typeface="宋体" panose="02010600030101010101" pitchFamily="2" charset="-122"/>
                <a:sym typeface="+mn-ea"/>
              </a:rPr>
              <a:t>eat()</a:t>
            </a:r>
            <a:r>
              <a:rPr lang="zh-CN" altLang="en-US" dirty="0">
                <a:ea typeface="宋体" panose="02010600030101010101" pitchFamily="2" charset="-122"/>
                <a:sym typeface="+mn-ea"/>
              </a:rPr>
              <a:t>方法</a:t>
            </a:r>
            <a:r>
              <a:rPr lang="en-US" altLang="zh-CN" dirty="0">
                <a:ea typeface="宋体" panose="02010600030101010101" pitchFamily="2" charset="-122"/>
                <a:sym typeface="+mn-ea"/>
              </a:rPr>
              <a:t>。</a:t>
            </a:r>
            <a:endParaRPr lang="en-US" altLang="zh-CN"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en-US" altLang="zh-CN" dirty="0">
                <a:ea typeface="宋体" panose="02010600030101010101" pitchFamily="2" charset="-122"/>
                <a:sym typeface="+mn-ea"/>
              </a:rPr>
              <a:t>编写Test类，</a:t>
            </a:r>
            <a:r>
              <a:rPr lang="zh-CN" altLang="en-US" dirty="0">
                <a:ea typeface="宋体" panose="02010600030101010101" pitchFamily="2" charset="-122"/>
                <a:sym typeface="+mn-ea"/>
              </a:rPr>
              <a:t>创建两个对象分别使用</a:t>
            </a:r>
            <a:r>
              <a:rPr lang="en-US" altLang="zh-CN" dirty="0">
                <a:ea typeface="宋体" panose="02010600030101010101" pitchFamily="2" charset="-122"/>
                <a:sym typeface="+mn-ea"/>
              </a:rPr>
              <a:t>Person</a:t>
            </a:r>
            <a:r>
              <a:rPr lang="zh-CN" altLang="en-US" dirty="0">
                <a:ea typeface="宋体" panose="02010600030101010101" pitchFamily="2" charset="-122"/>
                <a:sym typeface="+mn-ea"/>
              </a:rPr>
              <a:t>多态</a:t>
            </a:r>
            <a:r>
              <a:rPr lang="en-US" altLang="zh-CN" dirty="0">
                <a:ea typeface="宋体" panose="02010600030101010101" pitchFamily="2" charset="-122"/>
                <a:sym typeface="+mn-ea"/>
              </a:rPr>
              <a:t>和Student</a:t>
            </a:r>
            <a:r>
              <a:rPr lang="zh-CN" altLang="en-US" dirty="0">
                <a:ea typeface="宋体" panose="02010600030101010101" pitchFamily="2" charset="-122"/>
                <a:sym typeface="+mn-ea"/>
              </a:rPr>
              <a:t>本态</a:t>
            </a:r>
            <a:r>
              <a:rPr lang="en-US" altLang="zh-CN" dirty="0">
                <a:ea typeface="宋体" panose="02010600030101010101" pitchFamily="2" charset="-122"/>
                <a:sym typeface="+mn-ea"/>
              </a:rPr>
              <a:t>，调用</a:t>
            </a:r>
            <a:r>
              <a:rPr lang="en-US" altLang="zh-CN" dirty="0">
                <a:ea typeface="宋体" panose="02010600030101010101" pitchFamily="2" charset="-122"/>
                <a:sym typeface="+mn-ea"/>
              </a:rPr>
              <a:t>eat</a:t>
            </a:r>
            <a:r>
              <a:rPr lang="en-US" altLang="zh-CN" dirty="0">
                <a:ea typeface="宋体" panose="02010600030101010101" pitchFamily="2" charset="-122"/>
                <a:sym typeface="+mn-ea"/>
              </a:rPr>
              <a:t>方法输出自我介绍。</a:t>
            </a:r>
            <a:endParaRPr lang="en-US" altLang="zh-CN"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r>
              <a:rPr lang="zh-CN" altLang="en-US" dirty="0">
                <a:ea typeface="宋体" panose="02010600030101010101" pitchFamily="2" charset="-122"/>
                <a:sym typeface="+mn-ea"/>
              </a:rPr>
              <a:t>尝试用</a:t>
            </a:r>
            <a:r>
              <a:rPr lang="en-US" altLang="zh-CN" dirty="0">
                <a:ea typeface="宋体" panose="02010600030101010101" pitchFamily="2" charset="-122"/>
                <a:sym typeface="+mn-ea"/>
              </a:rPr>
              <a:t>Person</a:t>
            </a:r>
            <a:r>
              <a:rPr lang="zh-CN" altLang="en-US" dirty="0">
                <a:ea typeface="宋体" panose="02010600030101010101" pitchFamily="2" charset="-122"/>
                <a:sym typeface="+mn-ea"/>
              </a:rPr>
              <a:t>调用</a:t>
            </a:r>
            <a:r>
              <a:rPr lang="en-US" altLang="zh-CN" dirty="0">
                <a:ea typeface="宋体" panose="02010600030101010101" pitchFamily="2" charset="-122"/>
                <a:sym typeface="+mn-ea"/>
              </a:rPr>
              <a:t>swimming</a:t>
            </a:r>
            <a:r>
              <a:rPr lang="zh-CN" altLang="en-US" dirty="0">
                <a:ea typeface="宋体" panose="02010600030101010101" pitchFamily="2" charset="-122"/>
                <a:sym typeface="+mn-ea"/>
              </a:rPr>
              <a:t>方法是否可行</a:t>
            </a:r>
            <a:endParaRPr lang="en-US" altLang="zh-CN" dirty="0">
              <a:ea typeface="宋体" panose="02010600030101010101" pitchFamily="2" charset="-122"/>
            </a:endParaRPr>
          </a:p>
          <a:p>
            <a:pPr marL="0" indent="0" eaLnBrk="1" hangingPunct="1">
              <a:lnSpc>
                <a:spcPct val="13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60450" y="3137535"/>
            <a:ext cx="10527665"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引用数据类型转换</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引用数据类型转换</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014730"/>
            <a:ext cx="9527540" cy="5003800"/>
          </a:xfrm>
        </p:spPr>
        <p:txBody>
          <a:bodyPr>
            <a:noAutofit/>
          </a:bodyPr>
          <a:p>
            <a:pPr marL="457200" indent="-457200" algn="l" eaLnBrk="1" hangingPunct="1">
              <a:lnSpc>
                <a:spcPct val="130000"/>
              </a:lnSpc>
              <a:buClr>
                <a:srgbClr val="ED7D31"/>
              </a:buClr>
              <a:buSzTx/>
              <a:buFont typeface="+mj-lt"/>
              <a:buAutoNum type="arabicPeriod"/>
            </a:pPr>
            <a:r>
              <a:rPr lang="en-US" altLang="zh-CN" sz="2000" dirty="0">
                <a:ea typeface="宋体" panose="02010600030101010101" pitchFamily="2" charset="-122"/>
                <a:cs typeface="+mn-lt"/>
                <a:sym typeface="+mn-ea"/>
              </a:rPr>
              <a:t>基本数据类型转换</a:t>
            </a:r>
            <a:endParaRPr lang="en-US" altLang="zh-CN" sz="2000" dirty="0">
              <a:ea typeface="宋体" panose="02010600030101010101" pitchFamily="2" charset="-122"/>
              <a:cs typeface="+mn-lt"/>
              <a:sym typeface="+mn-ea"/>
            </a:endParaRPr>
          </a:p>
          <a:p>
            <a:pPr marL="800100" lvl="1" indent="-342900" algn="l" eaLnBrk="1" hangingPunct="1">
              <a:lnSpc>
                <a:spcPct val="130000"/>
              </a:lnSpc>
              <a:buClr>
                <a:srgbClr val="ED7D31"/>
              </a:buClr>
              <a:buSzTx/>
              <a:buFont typeface="+mj-ea"/>
              <a:buAutoNum type="circleNumDbPlain"/>
            </a:pPr>
            <a:r>
              <a:rPr lang="en-US" altLang="zh-CN" sz="1800" dirty="0">
                <a:ea typeface="宋体" panose="02010600030101010101" pitchFamily="2" charset="-122"/>
                <a:cs typeface="+mn-lt"/>
                <a:sym typeface="+mn-ea"/>
              </a:rPr>
              <a:t>// 整数（int）转换成小数（double）</a:t>
            </a:r>
            <a:endParaRPr lang="en-US" altLang="zh-CN" sz="1800" dirty="0">
              <a:ea typeface="宋体" panose="02010600030101010101" pitchFamily="2" charset="-122"/>
              <a:cs typeface="+mn-lt"/>
              <a:sym typeface="+mn-ea"/>
            </a:endParaRPr>
          </a:p>
          <a:p>
            <a:pPr marL="457200" lvl="1" indent="457200" algn="l" eaLnBrk="1" hangingPunct="1">
              <a:lnSpc>
                <a:spcPct val="130000"/>
              </a:lnSpc>
              <a:buClr>
                <a:srgbClr val="ED7D31"/>
              </a:buClr>
              <a:buSzTx/>
              <a:buFont typeface="Arial" panose="020B0604020202020204" pitchFamily="34" charset="0"/>
              <a:buNone/>
            </a:pPr>
            <a:r>
              <a:rPr lang="en-US" altLang="zh-CN" sz="1600" dirty="0">
                <a:ea typeface="宋体" panose="02010600030101010101" pitchFamily="2" charset="-122"/>
                <a:cs typeface="+mn-lt"/>
                <a:sym typeface="+mn-ea"/>
              </a:rPr>
              <a:t>int x = 10;</a:t>
            </a:r>
            <a:endParaRPr lang="en-US" altLang="zh-CN" sz="1600" dirty="0">
              <a:ea typeface="宋体" panose="02010600030101010101" pitchFamily="2" charset="-122"/>
              <a:cs typeface="+mn-lt"/>
              <a:sym typeface="+mn-ea"/>
            </a:endParaRPr>
          </a:p>
          <a:p>
            <a:pPr marL="457200" lvl="1" indent="457200" algn="l" eaLnBrk="1" hangingPunct="1">
              <a:lnSpc>
                <a:spcPct val="130000"/>
              </a:lnSpc>
              <a:buClr>
                <a:srgbClr val="ED7D31"/>
              </a:buClr>
              <a:buSzTx/>
              <a:buFont typeface="Arial" panose="020B0604020202020204" pitchFamily="34" charset="0"/>
              <a:buNone/>
            </a:pPr>
            <a:r>
              <a:rPr lang="en-US" altLang="zh-CN" sz="1600" dirty="0">
                <a:ea typeface="宋体" panose="02010600030101010101" pitchFamily="2" charset="-122"/>
                <a:cs typeface="+mn-lt"/>
                <a:sym typeface="+mn-ea"/>
              </a:rPr>
              <a:t>double y = x;</a:t>
            </a:r>
            <a:endParaRPr lang="en-US" altLang="zh-CN" sz="1600" dirty="0">
              <a:ea typeface="宋体" panose="02010600030101010101" pitchFamily="2" charset="-122"/>
              <a:cs typeface="+mn-lt"/>
              <a:sym typeface="+mn-ea"/>
            </a:endParaRPr>
          </a:p>
          <a:p>
            <a:pPr marL="800100" lvl="1" indent="-342900" algn="l" eaLnBrk="1" hangingPunct="1">
              <a:lnSpc>
                <a:spcPct val="130000"/>
              </a:lnSpc>
              <a:buClr>
                <a:srgbClr val="ED7D31"/>
              </a:buClr>
              <a:buSzTx/>
              <a:buFont typeface="+mj-ea"/>
              <a:buAutoNum type="circleNumDbPlain" startAt="2"/>
            </a:pPr>
            <a:r>
              <a:rPr lang="en-US" altLang="zh-CN" sz="1800" dirty="0">
                <a:ea typeface="宋体" panose="02010600030101010101" pitchFamily="2" charset="-122"/>
                <a:cs typeface="+mn-lt"/>
                <a:sym typeface="+mn-ea"/>
              </a:rPr>
              <a:t>// 小数（double）转换成整数（int）</a:t>
            </a:r>
            <a:endParaRPr lang="en-US" altLang="zh-CN" sz="1800" dirty="0">
              <a:ea typeface="宋体" panose="02010600030101010101" pitchFamily="2" charset="-122"/>
              <a:cs typeface="+mn-lt"/>
              <a:sym typeface="+mn-ea"/>
            </a:endParaRPr>
          </a:p>
          <a:p>
            <a:pPr marL="457200" lvl="1" indent="457200" algn="l" eaLnBrk="1" hangingPunct="1">
              <a:lnSpc>
                <a:spcPct val="130000"/>
              </a:lnSpc>
              <a:buClr>
                <a:srgbClr val="ED7D31"/>
              </a:buClr>
              <a:buSzTx/>
              <a:buFont typeface="Arial" panose="020B0604020202020204" pitchFamily="34" charset="0"/>
              <a:buNone/>
            </a:pPr>
            <a:r>
              <a:rPr lang="en-US" altLang="zh-CN" sz="1600" dirty="0">
                <a:ea typeface="宋体" panose="02010600030101010101" pitchFamily="2" charset="-122"/>
                <a:cs typeface="+mn-lt"/>
                <a:sym typeface="+mn-ea"/>
              </a:rPr>
              <a:t>double n = 2.2;</a:t>
            </a:r>
            <a:endParaRPr lang="en-US" altLang="zh-CN" sz="1600" dirty="0">
              <a:ea typeface="宋体" panose="02010600030101010101" pitchFamily="2" charset="-122"/>
              <a:cs typeface="+mn-lt"/>
              <a:sym typeface="+mn-ea"/>
            </a:endParaRPr>
          </a:p>
          <a:p>
            <a:pPr marL="457200" lvl="1" indent="457200" algn="l" eaLnBrk="1" hangingPunct="1">
              <a:lnSpc>
                <a:spcPct val="130000"/>
              </a:lnSpc>
              <a:buClr>
                <a:srgbClr val="ED7D31"/>
              </a:buClr>
              <a:buSzTx/>
              <a:buFont typeface="Arial" panose="020B0604020202020204" pitchFamily="34" charset="0"/>
              <a:buNone/>
            </a:pPr>
            <a:r>
              <a:rPr lang="en-US" altLang="zh-CN" sz="1600" dirty="0">
                <a:ea typeface="宋体" panose="02010600030101010101" pitchFamily="2" charset="-122"/>
                <a:cs typeface="+mn-lt"/>
                <a:sym typeface="+mn-ea"/>
              </a:rPr>
              <a:t>int m = (int)n;</a:t>
            </a:r>
            <a:endParaRPr lang="en-US" altLang="zh-CN" sz="1600" dirty="0">
              <a:ea typeface="宋体" panose="02010600030101010101" pitchFamily="2" charset="-122"/>
              <a:cs typeface="+mn-lt"/>
              <a:sym typeface="+mn-ea"/>
            </a:endParaRPr>
          </a:p>
          <a:p>
            <a:pPr marL="457200" indent="-457200" algn="l" eaLnBrk="1" hangingPunct="1">
              <a:lnSpc>
                <a:spcPct val="130000"/>
              </a:lnSpc>
              <a:buClr>
                <a:srgbClr val="ED7D31"/>
              </a:buClr>
              <a:buSzTx/>
              <a:buFont typeface="+mj-lt"/>
              <a:buAutoNum type="arabicPeriod"/>
            </a:pPr>
            <a:r>
              <a:rPr lang="zh-CN" altLang="en-US" sz="2000" dirty="0">
                <a:ea typeface="宋体" panose="02010600030101010101" pitchFamily="2" charset="-122"/>
                <a:cs typeface="+mn-lt"/>
                <a:sym typeface="+mn-ea"/>
              </a:rPr>
              <a:t>引用数据类型转换</a:t>
            </a:r>
            <a:endParaRPr lang="zh-CN" altLang="en-US" sz="2000" dirty="0">
              <a:ea typeface="宋体" panose="02010600030101010101" pitchFamily="2" charset="-122"/>
              <a:cs typeface="+mn-lt"/>
              <a:sym typeface="+mn-ea"/>
            </a:endParaRPr>
          </a:p>
          <a:p>
            <a:pPr marL="914400" lvl="1" indent="-457200" eaLnBrk="1" hangingPunct="1">
              <a:lnSpc>
                <a:spcPct val="130000"/>
              </a:lnSpc>
              <a:buClr>
                <a:srgbClr val="ED7D31"/>
              </a:buClr>
              <a:buFont typeface="+mj-ea"/>
              <a:buAutoNum type="circleNumDbPlain"/>
            </a:pPr>
            <a:r>
              <a:rPr lang="zh-CN" altLang="en-US" sz="1800" dirty="0">
                <a:ea typeface="宋体" panose="02010600030101010101" pitchFamily="2" charset="-122"/>
              </a:rPr>
              <a:t>向上转型：父类引用指向子类对象，属于自动类型转换。</a:t>
            </a:r>
            <a:endParaRPr lang="zh-CN" altLang="en-US" sz="1800" dirty="0">
              <a:ea typeface="宋体" panose="02010600030101010101" pitchFamily="2" charset="-122"/>
            </a:endParaRPr>
          </a:p>
          <a:p>
            <a:pPr marL="457200" lvl="1" indent="457200" eaLnBrk="1" hangingPunct="1">
              <a:lnSpc>
                <a:spcPct val="130000"/>
              </a:lnSpc>
              <a:buClr>
                <a:srgbClr val="ED7D31"/>
              </a:buClr>
              <a:buFont typeface="+mj-lt"/>
              <a:buNone/>
            </a:pPr>
            <a:r>
              <a:rPr lang="zh-CN" altLang="en-US" sz="1600" dirty="0">
                <a:ea typeface="宋体" panose="02010600030101010101" pitchFamily="2" charset="-122"/>
              </a:rPr>
              <a:t>格式：父类类型 变量名 =  子类对象;</a:t>
            </a:r>
            <a:endParaRPr lang="zh-CN" altLang="en-US" sz="1600" dirty="0">
              <a:ea typeface="宋体" panose="02010600030101010101" pitchFamily="2" charset="-122"/>
            </a:endParaRPr>
          </a:p>
          <a:p>
            <a:pPr marL="914400" lvl="1" indent="-457200" eaLnBrk="1" hangingPunct="1">
              <a:lnSpc>
                <a:spcPct val="130000"/>
              </a:lnSpc>
              <a:buClr>
                <a:srgbClr val="ED7D31"/>
              </a:buClr>
              <a:buFont typeface="+mj-ea"/>
              <a:buAutoNum type="circleNumDbPlain" startAt="2"/>
            </a:pPr>
            <a:r>
              <a:rPr lang="zh-CN" altLang="en-US" sz="1800" dirty="0">
                <a:ea typeface="宋体" panose="02010600030101010101" pitchFamily="2" charset="-122"/>
              </a:rPr>
              <a:t>向下转型：子类引用指向父类对象，属于强制类型转换。</a:t>
            </a:r>
            <a:endParaRPr lang="zh-CN" altLang="en-US" sz="1800" dirty="0">
              <a:ea typeface="宋体" panose="02010600030101010101" pitchFamily="2" charset="-122"/>
            </a:endParaRPr>
          </a:p>
          <a:p>
            <a:pPr marL="457200" lvl="1" indent="457200" eaLnBrk="1" hangingPunct="1">
              <a:lnSpc>
                <a:spcPct val="130000"/>
              </a:lnSpc>
              <a:buClr>
                <a:srgbClr val="ED7D31"/>
              </a:buClr>
              <a:buFont typeface="+mj-lt"/>
              <a:buNone/>
            </a:pPr>
            <a:r>
              <a:rPr lang="zh-CN" altLang="en-US" sz="1600" dirty="0">
                <a:ea typeface="宋体" panose="02010600030101010101" pitchFamily="2" charset="-122"/>
              </a:rPr>
              <a:t>格式：子类类型 变量名 =  (子类类型) 父类对象;</a:t>
            </a:r>
            <a:endParaRPr lang="zh-CN" altLang="en-US" sz="1600" dirty="0">
              <a:ea typeface="宋体" panose="02010600030101010101" pitchFamily="2" charset="-122"/>
            </a:endParaRPr>
          </a:p>
          <a:p>
            <a:pPr marL="0" indent="0" eaLnBrk="1" hangingPunct="1">
              <a:lnSpc>
                <a:spcPct val="130000"/>
              </a:lnSpc>
              <a:buClr>
                <a:srgbClr val="ED7D31"/>
              </a:buClr>
              <a:buFont typeface="Wingdings" panose="05000000000000000000" charset="0"/>
              <a:buNone/>
            </a:pPr>
            <a:endParaRPr lang="en-US" altLang="zh-CN" sz="20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Person类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430" y="945515"/>
            <a:ext cx="9466580" cy="5572760"/>
          </a:xfrm>
        </p:spPr>
        <p:txBody>
          <a:bodyPr>
            <a:noAutofit/>
          </a:bodyPr>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public class Animal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void eat(){</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System.out.println("Animal.eat:吃东西");</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class Dog extends Animal{</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//狗拥有了吃东西的方法</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void catchMouse(){</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System.out.println("Dog.catchMouse:多管闲事，逮耗子");</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class Test{</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static void main(String[] args)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//向上转型：多态，父类引用指向子类对象</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Animal </a:t>
            </a:r>
            <a:r>
              <a:rPr lang="en-US" altLang="zh-CN" sz="1800" dirty="0" smtClean="0">
                <a:solidFill>
                  <a:srgbClr val="FF0000"/>
                </a:solidFill>
                <a:ea typeface="宋体" panose="02010600030101010101" pitchFamily="2" charset="-122"/>
                <a:cs typeface="+mn-lt"/>
              </a:rPr>
              <a:t>animal =  new Dog();</a:t>
            </a:r>
            <a:endParaRPr lang="en-US" altLang="zh-CN" sz="1800" dirty="0" smtClean="0">
              <a:solidFill>
                <a:srgbClr val="FF000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animal.eat();//调用子类继承下来的方法</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//向下转型：子类引用指向父类对象</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Dog </a:t>
            </a:r>
            <a:r>
              <a:rPr lang="en-US" altLang="zh-CN" sz="1800" dirty="0" smtClean="0">
                <a:solidFill>
                  <a:srgbClr val="FF0000"/>
                </a:solidFill>
                <a:ea typeface="宋体" panose="02010600030101010101" pitchFamily="2" charset="-122"/>
                <a:cs typeface="+mn-lt"/>
              </a:rPr>
              <a:t>dog = (Dog)animal;</a:t>
            </a:r>
            <a:endParaRPr lang="en-US" altLang="zh-CN" sz="1800" dirty="0" smtClean="0">
              <a:solidFill>
                <a:srgbClr val="FF000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dog.catchMouse();</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instanceof</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014730"/>
            <a:ext cx="9527540" cy="5003800"/>
          </a:xfrm>
        </p:spPr>
        <p:txBody>
          <a:bodyPr>
            <a:noAutofit/>
          </a:bodyPr>
          <a:p>
            <a:pPr marL="457200" indent="-457200" algn="l" eaLnBrk="1" hangingPunct="1">
              <a:lnSpc>
                <a:spcPct val="130000"/>
              </a:lnSpc>
              <a:buClr>
                <a:srgbClr val="ED7D31"/>
              </a:buClr>
              <a:buSzTx/>
              <a:buFont typeface="+mj-lt"/>
              <a:buAutoNum type="arabicPeriod"/>
            </a:pPr>
            <a:r>
              <a:rPr lang="en-US" altLang="zh-CN" sz="2000" dirty="0">
                <a:ea typeface="宋体" panose="02010600030101010101" pitchFamily="2" charset="-122"/>
                <a:cs typeface="+mn-lt"/>
                <a:sym typeface="+mn-ea"/>
              </a:rPr>
              <a:t>instanceof</a:t>
            </a:r>
            <a:r>
              <a:rPr lang="zh-CN" altLang="en-US" sz="2000" dirty="0">
                <a:ea typeface="宋体" panose="02010600030101010101" pitchFamily="2" charset="-122"/>
                <a:cs typeface="+mn-lt"/>
                <a:sym typeface="+mn-ea"/>
              </a:rPr>
              <a:t>作用</a:t>
            </a:r>
            <a:endParaRPr lang="zh-CN" altLang="en-US" sz="2000" dirty="0">
              <a:ea typeface="宋体" panose="02010600030101010101" pitchFamily="2" charset="-122"/>
              <a:cs typeface="+mn-lt"/>
              <a:sym typeface="+mn-ea"/>
            </a:endParaRPr>
          </a:p>
          <a:p>
            <a:pPr marL="0" indent="457200" algn="l" eaLnBrk="1" hangingPunct="1">
              <a:lnSpc>
                <a:spcPct val="130000"/>
              </a:lnSpc>
              <a:buClr>
                <a:srgbClr val="ED7D31"/>
              </a:buClr>
              <a:buSzTx/>
              <a:buFont typeface="+mj-lt"/>
              <a:buNone/>
            </a:pPr>
            <a:r>
              <a:rPr lang="en-US" altLang="zh-CN" sz="1600" dirty="0">
                <a:ea typeface="宋体" panose="02010600030101010101" pitchFamily="2" charset="-122"/>
                <a:cs typeface="+mn-lt"/>
                <a:sym typeface="+mn-ea"/>
              </a:rPr>
              <a:t>       当要使用子类特有功能时，就需要使用向下转型。但是面对具体的子类对象，在向下转型时容易发生ClassCastException类型转换异常，在转换之前必须做类型判断。</a:t>
            </a:r>
            <a:endParaRPr lang="en-US" altLang="zh-CN" sz="1600" dirty="0">
              <a:ea typeface="宋体" panose="02010600030101010101" pitchFamily="2" charset="-122"/>
              <a:cs typeface="+mn-lt"/>
              <a:sym typeface="+mn-ea"/>
            </a:endParaRPr>
          </a:p>
          <a:p>
            <a:pPr marL="457200" indent="-457200" algn="l" eaLnBrk="1" hangingPunct="1">
              <a:lnSpc>
                <a:spcPct val="130000"/>
              </a:lnSpc>
              <a:buClr>
                <a:srgbClr val="ED7D31"/>
              </a:buClr>
              <a:buSzTx/>
              <a:buFont typeface="+mj-lt"/>
              <a:buAutoNum type="arabicPeriod" startAt="2"/>
            </a:pPr>
            <a:r>
              <a:rPr lang="zh-CN" altLang="en-US" sz="2000" dirty="0">
                <a:ea typeface="宋体" panose="02010600030101010101" pitchFamily="2" charset="-122"/>
                <a:cs typeface="+mn-lt"/>
                <a:sym typeface="+mn-ea"/>
              </a:rPr>
              <a:t>语法结构</a:t>
            </a:r>
            <a:r>
              <a:rPr lang="en-US" altLang="zh-CN" sz="2000" dirty="0">
                <a:ea typeface="宋体" panose="02010600030101010101" pitchFamily="2" charset="-122"/>
                <a:cs typeface="+mn-lt"/>
                <a:sym typeface="+mn-ea"/>
              </a:rPr>
              <a:t> </a:t>
            </a:r>
            <a:endParaRPr lang="en-US" altLang="zh-CN" sz="2000" dirty="0">
              <a:ea typeface="宋体" panose="02010600030101010101" pitchFamily="2" charset="-122"/>
              <a:cs typeface="+mn-lt"/>
              <a:sym typeface="+mn-ea"/>
            </a:endParaRPr>
          </a:p>
          <a:p>
            <a:pPr marL="914400" lvl="1" indent="-457200" algn="l" eaLnBrk="1" hangingPunct="1">
              <a:lnSpc>
                <a:spcPct val="130000"/>
              </a:lnSpc>
              <a:buClr>
                <a:srgbClr val="ED7D31"/>
              </a:buClr>
              <a:buSzTx/>
              <a:buFont typeface="+mj-ea"/>
              <a:buAutoNum type="circleNumDbPlain"/>
            </a:pPr>
            <a:r>
              <a:rPr lang="en-US" altLang="zh-CN" sz="1665" dirty="0">
                <a:ea typeface="宋体" panose="02010600030101010101" pitchFamily="2" charset="-122"/>
                <a:cs typeface="+mn-lt"/>
                <a:sym typeface="+mn-ea"/>
              </a:rPr>
              <a:t>boolean result = 引用 instanceof  </a:t>
            </a:r>
            <a:r>
              <a:rPr lang="zh-CN" altLang="en-US" sz="1665" dirty="0">
                <a:ea typeface="宋体" panose="02010600030101010101" pitchFamily="2" charset="-122"/>
                <a:cs typeface="+mn-lt"/>
                <a:sym typeface="+mn-ea"/>
              </a:rPr>
              <a:t>类</a:t>
            </a:r>
            <a:r>
              <a:rPr lang="en-US" altLang="zh-CN" sz="1665" dirty="0">
                <a:ea typeface="宋体" panose="02010600030101010101" pitchFamily="2" charset="-122"/>
                <a:cs typeface="+mn-lt"/>
                <a:sym typeface="+mn-ea"/>
              </a:rPr>
              <a:t>类型</a:t>
            </a:r>
            <a:endParaRPr lang="en-US" altLang="zh-CN" sz="1385" dirty="0">
              <a:ea typeface="宋体" panose="02010600030101010101" pitchFamily="2" charset="-122"/>
              <a:cs typeface="+mn-lt"/>
              <a:sym typeface="+mn-ea"/>
            </a:endParaRPr>
          </a:p>
          <a:p>
            <a:pPr marL="800100" lvl="1" indent="-342900" algn="l" eaLnBrk="1" hangingPunct="1">
              <a:lnSpc>
                <a:spcPct val="130000"/>
              </a:lnSpc>
              <a:buClr>
                <a:srgbClr val="ED7D31"/>
              </a:buClr>
              <a:buSzTx/>
              <a:buFont typeface="+mj-ea"/>
              <a:buAutoNum type="circleNumDbPlain"/>
            </a:pPr>
            <a:r>
              <a:rPr lang="zh-CN" altLang="en-US" sz="1600" dirty="0">
                <a:ea typeface="宋体" panose="02010600030101010101" pitchFamily="2" charset="-122"/>
                <a:cs typeface="+mn-lt"/>
                <a:sym typeface="+mn-ea"/>
              </a:rPr>
              <a:t>判断：</a:t>
            </a:r>
            <a:r>
              <a:rPr lang="en-US" altLang="zh-CN" sz="1600" dirty="0">
                <a:ea typeface="宋体" panose="02010600030101010101" pitchFamily="2" charset="-122"/>
                <a:cs typeface="+mn-lt"/>
                <a:sym typeface="+mn-ea"/>
              </a:rPr>
              <a:t>引用</a:t>
            </a:r>
            <a:r>
              <a:rPr lang="en-US" altLang="zh-CN" sz="1600" dirty="0">
                <a:ea typeface="宋体" panose="02010600030101010101" pitchFamily="2" charset="-122"/>
                <a:cs typeface="+mn-lt"/>
                <a:sym typeface="+mn-ea"/>
              </a:rPr>
              <a:t>对象是否是这个特定类或者是它的子类的一个实例,</a:t>
            </a:r>
            <a:r>
              <a:rPr lang="zh-CN" altLang="en-US" sz="1600" dirty="0">
                <a:ea typeface="宋体" panose="02010600030101010101" pitchFamily="2" charset="-122"/>
                <a:cs typeface="+mn-lt"/>
                <a:sym typeface="+mn-ea"/>
              </a:rPr>
              <a:t>是返回</a:t>
            </a:r>
            <a:r>
              <a:rPr lang="en-US" altLang="zh-CN" sz="1600" dirty="0">
                <a:ea typeface="宋体" panose="02010600030101010101" pitchFamily="2" charset="-122"/>
                <a:cs typeface="+mn-lt"/>
                <a:sym typeface="+mn-ea"/>
              </a:rPr>
              <a:t>true</a:t>
            </a:r>
            <a:r>
              <a:rPr lang="zh-CN" altLang="en-US" sz="1600" dirty="0">
                <a:ea typeface="宋体" panose="02010600030101010101" pitchFamily="2" charset="-122"/>
                <a:cs typeface="+mn-lt"/>
                <a:sym typeface="+mn-ea"/>
              </a:rPr>
              <a:t>，否则返回</a:t>
            </a:r>
            <a:r>
              <a:rPr lang="en-US" altLang="zh-CN" sz="1600" dirty="0">
                <a:ea typeface="宋体" panose="02010600030101010101" pitchFamily="2" charset="-122"/>
                <a:cs typeface="+mn-lt"/>
                <a:sym typeface="+mn-ea"/>
              </a:rPr>
              <a:t>false</a:t>
            </a:r>
            <a:endParaRPr lang="en-US" altLang="zh-CN" sz="1600" dirty="0">
              <a:ea typeface="宋体" panose="02010600030101010101" pitchFamily="2" charset="-122"/>
              <a:cs typeface="+mn-lt"/>
              <a:sym typeface="+mn-ea"/>
            </a:endParaRPr>
          </a:p>
          <a:p>
            <a:pPr marL="800100" lvl="1" indent="-342900" algn="l" eaLnBrk="1" hangingPunct="1">
              <a:lnSpc>
                <a:spcPct val="130000"/>
              </a:lnSpc>
              <a:buClr>
                <a:srgbClr val="ED7D31"/>
              </a:buClr>
              <a:buSzTx/>
              <a:buFont typeface="+mj-ea"/>
              <a:buAutoNum type="circleNumDbPlain"/>
            </a:pPr>
            <a:r>
              <a:rPr lang="zh-CN" altLang="en-US" sz="1600" dirty="0">
                <a:ea typeface="宋体" panose="02010600030101010101" pitchFamily="2" charset="-122"/>
                <a:cs typeface="+mn-lt"/>
                <a:sym typeface="+mn-ea"/>
              </a:rPr>
              <a:t>案例：</a:t>
            </a:r>
            <a:endParaRPr lang="zh-CN" altLang="en-US" sz="1600" dirty="0">
              <a:ea typeface="宋体" panose="02010600030101010101" pitchFamily="2" charset="-122"/>
              <a:cs typeface="+mn-lt"/>
              <a:sym typeface="+mn-ea"/>
            </a:endParaRPr>
          </a:p>
          <a:p>
            <a:pPr marL="914400" lvl="2" indent="0" algn="l" eaLnBrk="1" hangingPunct="1">
              <a:lnSpc>
                <a:spcPct val="130000"/>
              </a:lnSpc>
              <a:buClr>
                <a:srgbClr val="ED7D31"/>
              </a:buClr>
              <a:buSzTx/>
              <a:buFont typeface="+mj-ea"/>
              <a:buNone/>
            </a:pPr>
            <a:r>
              <a:rPr lang="en-US" altLang="zh-CN" sz="1400" dirty="0">
                <a:ea typeface="宋体" panose="02010600030101010101" pitchFamily="2" charset="-122"/>
                <a:cs typeface="+mn-lt"/>
                <a:sym typeface="+mn-ea"/>
              </a:rPr>
              <a:t>//父类引用是否指向子类对象，如果是返回true</a:t>
            </a:r>
            <a:endParaRPr lang="en-US" altLang="zh-CN" sz="1400" dirty="0">
              <a:ea typeface="宋体" panose="02010600030101010101" pitchFamily="2" charset="-122"/>
              <a:cs typeface="+mn-lt"/>
              <a:sym typeface="+mn-ea"/>
            </a:endParaRPr>
          </a:p>
          <a:p>
            <a:pPr marL="914400" lvl="2" indent="0" algn="l" eaLnBrk="1" hangingPunct="1">
              <a:lnSpc>
                <a:spcPct val="130000"/>
              </a:lnSpc>
              <a:buClr>
                <a:srgbClr val="ED7D31"/>
              </a:buClr>
              <a:buSzTx/>
              <a:buFont typeface="+mj-ea"/>
              <a:buNone/>
            </a:pPr>
            <a:r>
              <a:rPr lang="en-US" altLang="zh-CN" sz="1400" dirty="0">
                <a:ea typeface="宋体" panose="02010600030101010101" pitchFamily="2" charset="-122"/>
                <a:cs typeface="+mn-lt"/>
                <a:sym typeface="+mn-ea"/>
              </a:rPr>
              <a:t>        if(animal instanceof Dog){// animal </a:t>
            </a:r>
            <a:r>
              <a:rPr lang="zh-CN" altLang="en-US" sz="1400" dirty="0">
                <a:ea typeface="宋体" panose="02010600030101010101" pitchFamily="2" charset="-122"/>
                <a:cs typeface="+mn-lt"/>
                <a:sym typeface="+mn-ea"/>
              </a:rPr>
              <a:t>如果等于</a:t>
            </a:r>
            <a:r>
              <a:rPr lang="en-US" altLang="zh-CN" sz="1400" dirty="0">
                <a:ea typeface="宋体" panose="02010600030101010101" pitchFamily="2" charset="-122"/>
                <a:cs typeface="+mn-lt"/>
                <a:sym typeface="+mn-ea"/>
              </a:rPr>
              <a:t>null</a:t>
            </a:r>
            <a:r>
              <a:rPr lang="zh-CN" altLang="en-US" sz="1400" dirty="0">
                <a:ea typeface="宋体" panose="02010600030101010101" pitchFamily="2" charset="-122"/>
                <a:cs typeface="+mn-lt"/>
                <a:sym typeface="+mn-ea"/>
              </a:rPr>
              <a:t>也会返回</a:t>
            </a:r>
            <a:r>
              <a:rPr lang="en-US" altLang="zh-CN" sz="1400" dirty="0">
                <a:ea typeface="宋体" panose="02010600030101010101" pitchFamily="2" charset="-122"/>
                <a:cs typeface="+mn-lt"/>
                <a:sym typeface="+mn-ea"/>
              </a:rPr>
              <a:t>false</a:t>
            </a:r>
            <a:endParaRPr lang="en-US" altLang="zh-CN" sz="1400" dirty="0">
              <a:ea typeface="宋体" panose="02010600030101010101" pitchFamily="2" charset="-122"/>
              <a:cs typeface="+mn-lt"/>
              <a:sym typeface="+mn-ea"/>
            </a:endParaRPr>
          </a:p>
          <a:p>
            <a:pPr marL="914400" lvl="2" indent="0" algn="l" eaLnBrk="1" hangingPunct="1">
              <a:lnSpc>
                <a:spcPct val="130000"/>
              </a:lnSpc>
              <a:buClr>
                <a:srgbClr val="ED7D31"/>
              </a:buClr>
              <a:buSzTx/>
              <a:buFont typeface="+mj-ea"/>
              <a:buNone/>
            </a:pPr>
            <a:r>
              <a:rPr lang="en-US" altLang="zh-CN" sz="1400" dirty="0">
                <a:ea typeface="宋体" panose="02010600030101010101" pitchFamily="2" charset="-122"/>
                <a:cs typeface="+mn-lt"/>
                <a:sym typeface="+mn-ea"/>
              </a:rPr>
              <a:t>            //向下转型：子类引用指向父类对象</a:t>
            </a:r>
            <a:endParaRPr lang="en-US" altLang="zh-CN" sz="1400" dirty="0">
              <a:ea typeface="宋体" panose="02010600030101010101" pitchFamily="2" charset="-122"/>
              <a:cs typeface="+mn-lt"/>
              <a:sym typeface="+mn-ea"/>
            </a:endParaRPr>
          </a:p>
          <a:p>
            <a:pPr marL="914400" lvl="2" indent="0" algn="l" eaLnBrk="1" hangingPunct="1">
              <a:lnSpc>
                <a:spcPct val="130000"/>
              </a:lnSpc>
              <a:buClr>
                <a:srgbClr val="ED7D31"/>
              </a:buClr>
              <a:buSzTx/>
              <a:buFont typeface="+mj-ea"/>
              <a:buNone/>
            </a:pPr>
            <a:r>
              <a:rPr lang="en-US" altLang="zh-CN" sz="1400" dirty="0">
                <a:ea typeface="宋体" panose="02010600030101010101" pitchFamily="2" charset="-122"/>
                <a:cs typeface="+mn-lt"/>
                <a:sym typeface="+mn-ea"/>
              </a:rPr>
              <a:t>            Dog dog = (Dog)animal;</a:t>
            </a:r>
            <a:endParaRPr lang="en-US" altLang="zh-CN" sz="1400" dirty="0">
              <a:ea typeface="宋体" panose="02010600030101010101" pitchFamily="2" charset="-122"/>
              <a:cs typeface="+mn-lt"/>
              <a:sym typeface="+mn-ea"/>
            </a:endParaRPr>
          </a:p>
          <a:p>
            <a:pPr marL="914400" lvl="2" indent="0" algn="l" eaLnBrk="1" hangingPunct="1">
              <a:lnSpc>
                <a:spcPct val="130000"/>
              </a:lnSpc>
              <a:buClr>
                <a:srgbClr val="ED7D31"/>
              </a:buClr>
              <a:buSzTx/>
              <a:buFont typeface="+mj-ea"/>
              <a:buNone/>
            </a:pPr>
            <a:r>
              <a:rPr lang="en-US" altLang="zh-CN" sz="1400" dirty="0">
                <a:ea typeface="宋体" panose="02010600030101010101" pitchFamily="2" charset="-122"/>
                <a:cs typeface="+mn-lt"/>
                <a:sym typeface="+mn-ea"/>
              </a:rPr>
              <a:t>            dog.catchMouse();</a:t>
            </a:r>
            <a:endParaRPr lang="en-US" altLang="zh-CN" sz="1400" dirty="0">
              <a:ea typeface="宋体" panose="02010600030101010101" pitchFamily="2" charset="-122"/>
              <a:cs typeface="+mn-lt"/>
              <a:sym typeface="+mn-ea"/>
            </a:endParaRPr>
          </a:p>
          <a:p>
            <a:pPr marL="914400" lvl="2" indent="0" algn="l" eaLnBrk="1" hangingPunct="1">
              <a:lnSpc>
                <a:spcPct val="130000"/>
              </a:lnSpc>
              <a:buClr>
                <a:srgbClr val="ED7D31"/>
              </a:buClr>
              <a:buSzTx/>
              <a:buFont typeface="+mj-ea"/>
              <a:buNone/>
            </a:pPr>
            <a:r>
              <a:rPr lang="en-US" altLang="zh-CN" sz="1400" dirty="0">
                <a:ea typeface="宋体" panose="02010600030101010101" pitchFamily="2" charset="-122"/>
                <a:cs typeface="+mn-lt"/>
                <a:sym typeface="+mn-ea"/>
              </a:rPr>
              <a:t>        }</a:t>
            </a:r>
            <a:endParaRPr lang="en-US" altLang="zh-CN" sz="20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a:t>
            </a:r>
            <a:r>
              <a:rPr lang="en-US" altLang="zh-CN" sz="2400" dirty="0" smtClean="0">
                <a:solidFill>
                  <a:srgbClr val="FF0000"/>
                </a:solidFill>
                <a:ea typeface="宋体" panose="02010600030101010101" pitchFamily="2" charset="-122"/>
                <a:cs typeface="+mn-lt"/>
                <a:sym typeface="+mn-ea"/>
              </a:rPr>
              <a:t>instanceof </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430" y="945515"/>
            <a:ext cx="9466580" cy="5572760"/>
          </a:xfrm>
        </p:spPr>
        <p:txBody>
          <a:bodyPr>
            <a:noAutofit/>
          </a:bodyPr>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public class Animal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void eat(){</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System.out.println("Animal.eat:吃东西");</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class Dog extends Animal{</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//狗拥有了吃东西的方法</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void catchMouse(){</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System.out.println("Dog.catchMouse:多管闲事，逮耗子");</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class Test{</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static void main(String[] args)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//向上转型：多态，父类引用指向子类对象</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Animal animal =  new Dog();</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animal.eat();//调用子类继承下来的方法</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//父类引用是否指向子类对象，如果是返回true</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if(animal </a:t>
            </a:r>
            <a:r>
              <a:rPr lang="en-US" altLang="zh-CN" sz="1800" dirty="0" smtClean="0">
                <a:solidFill>
                  <a:srgbClr val="FF0000"/>
                </a:solidFill>
                <a:ea typeface="宋体" panose="02010600030101010101" pitchFamily="2" charset="-122"/>
                <a:cs typeface="+mn-lt"/>
              </a:rPr>
              <a:t>instanceof </a:t>
            </a:r>
            <a:r>
              <a:rPr lang="en-US" altLang="zh-CN" sz="1800" dirty="0" smtClean="0">
                <a:solidFill>
                  <a:srgbClr val="002060"/>
                </a:solidFill>
                <a:ea typeface="宋体" panose="02010600030101010101" pitchFamily="2" charset="-122"/>
                <a:cs typeface="+mn-lt"/>
              </a:rPr>
              <a:t>Dog){//animal 返回null也会返回false</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//向下转型：子类引用指向父类对象</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Dog dog = (Dog)animal;</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dog.catchMouse();</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060450" y="3137535"/>
            <a:ext cx="10527665"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多态的变量和方法特点</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多态中的变量和方法</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014730"/>
            <a:ext cx="10393680" cy="5003800"/>
          </a:xfrm>
        </p:spPr>
        <p:txBody>
          <a:bodyPr>
            <a:noAutofit/>
          </a:bodyPr>
          <a:p>
            <a:pPr marL="457200" indent="-457200" algn="l" eaLnBrk="1" hangingPunct="1">
              <a:lnSpc>
                <a:spcPct val="130000"/>
              </a:lnSpc>
              <a:buClr>
                <a:srgbClr val="ED7D31"/>
              </a:buClr>
              <a:buSzTx/>
              <a:buFont typeface="+mj-lt"/>
              <a:buAutoNum type="arabicPeriod"/>
            </a:pPr>
            <a:r>
              <a:rPr lang="zh-CN" altLang="en-US" sz="2000" dirty="0">
                <a:ea typeface="宋体" panose="02010600030101010101" pitchFamily="2" charset="-122"/>
                <a:cs typeface="+mn-lt"/>
                <a:sym typeface="+mn-ea"/>
              </a:rPr>
              <a:t>变量</a:t>
            </a:r>
            <a:r>
              <a:rPr lang="zh-CN" altLang="en-US" sz="2000" dirty="0">
                <a:ea typeface="宋体" panose="02010600030101010101" pitchFamily="2" charset="-122"/>
                <a:cs typeface="+mn-lt"/>
                <a:sym typeface="+mn-ea"/>
              </a:rPr>
              <a:t>：</a:t>
            </a:r>
            <a:r>
              <a:rPr lang="zh-CN" altLang="en-US" sz="2000" dirty="0">
                <a:solidFill>
                  <a:srgbClr val="FF0000"/>
                </a:solidFill>
                <a:ea typeface="宋体" panose="02010600030101010101" pitchFamily="2" charset="-122"/>
                <a:cs typeface="+mn-lt"/>
                <a:sym typeface="+mn-ea"/>
              </a:rPr>
              <a:t>编译和运行都看左边（父类）</a:t>
            </a:r>
            <a:endParaRPr lang="en-US" altLang="zh-CN" sz="2000" dirty="0">
              <a:ea typeface="宋体" panose="02010600030101010101" pitchFamily="2" charset="-122"/>
              <a:cs typeface="+mn-lt"/>
              <a:sym typeface="+mn-ea"/>
            </a:endParaRPr>
          </a:p>
          <a:p>
            <a:pPr marL="800100" lvl="1" indent="-342900" algn="l" eaLnBrk="1" hangingPunct="1">
              <a:lnSpc>
                <a:spcPct val="130000"/>
              </a:lnSpc>
              <a:buClr>
                <a:srgbClr val="ED7D31"/>
              </a:buClr>
              <a:buSzTx/>
              <a:buFont typeface="+mj-ea"/>
              <a:buAutoNum type="circleNumDbPlain"/>
            </a:pPr>
            <a:r>
              <a:rPr lang="zh-CN" altLang="en-US" sz="1800" dirty="0">
                <a:ea typeface="宋体" panose="02010600030101010101" pitchFamily="2" charset="-122"/>
                <a:cs typeface="+mn-lt"/>
                <a:sym typeface="+mn-ea"/>
              </a:rPr>
              <a:t>例如：Animal</a:t>
            </a:r>
            <a:r>
              <a:rPr lang="en-US" altLang="zh-CN" sz="1800" dirty="0">
                <a:ea typeface="宋体" panose="02010600030101010101" pitchFamily="2" charset="-122"/>
                <a:cs typeface="+mn-lt"/>
                <a:sym typeface="+mn-ea"/>
              </a:rPr>
              <a:t>  </a:t>
            </a:r>
            <a:r>
              <a:rPr lang="zh-CN" altLang="en-US" sz="1800" dirty="0">
                <a:ea typeface="宋体" panose="02010600030101010101" pitchFamily="2" charset="-122"/>
                <a:cs typeface="+mn-lt"/>
                <a:sym typeface="+mn-ea"/>
              </a:rPr>
              <a:t>中有实例变量</a:t>
            </a:r>
            <a:r>
              <a:rPr lang="en-US" altLang="zh-CN" sz="1800" dirty="0">
                <a:ea typeface="宋体" panose="02010600030101010101" pitchFamily="2" charset="-122"/>
                <a:cs typeface="+mn-lt"/>
                <a:sym typeface="+mn-ea"/>
              </a:rPr>
              <a:t>name=“</a:t>
            </a:r>
            <a:r>
              <a:rPr lang="zh-CN" altLang="en-US" sz="1800" dirty="0">
                <a:ea typeface="宋体" panose="02010600030101010101" pitchFamily="2" charset="-122"/>
                <a:cs typeface="+mn-lt"/>
                <a:sym typeface="+mn-ea"/>
              </a:rPr>
              <a:t>动物</a:t>
            </a:r>
            <a:r>
              <a:rPr lang="en-US" altLang="zh-CN" sz="1800" dirty="0">
                <a:ea typeface="宋体" panose="02010600030101010101" pitchFamily="2" charset="-122"/>
                <a:cs typeface="+mn-lt"/>
                <a:sym typeface="+mn-ea"/>
              </a:rPr>
              <a:t>”</a:t>
            </a:r>
            <a:r>
              <a:rPr lang="zh-CN" altLang="en-US" sz="1800" dirty="0">
                <a:ea typeface="宋体" panose="02010600030101010101" pitchFamily="2" charset="-122"/>
                <a:cs typeface="+mn-lt"/>
                <a:sym typeface="+mn-ea"/>
              </a:rPr>
              <a:t>，</a:t>
            </a:r>
            <a:r>
              <a:rPr lang="en-US" altLang="zh-CN" sz="1800" dirty="0">
                <a:ea typeface="宋体" panose="02010600030101010101" pitchFamily="2" charset="-122"/>
                <a:cs typeface="+mn-lt"/>
                <a:sym typeface="+mn-ea"/>
              </a:rPr>
              <a:t>Dog</a:t>
            </a:r>
            <a:r>
              <a:rPr lang="zh-CN" altLang="en-US" sz="1800" dirty="0">
                <a:ea typeface="宋体" panose="02010600030101010101" pitchFamily="2" charset="-122"/>
                <a:cs typeface="+mn-lt"/>
                <a:sym typeface="+mn-ea"/>
              </a:rPr>
              <a:t>有实例变量</a:t>
            </a:r>
            <a:r>
              <a:rPr lang="en-US" altLang="zh-CN" sz="1800" dirty="0">
                <a:ea typeface="宋体" panose="02010600030101010101" pitchFamily="2" charset="-122"/>
                <a:cs typeface="+mn-lt"/>
                <a:sym typeface="+mn-ea"/>
              </a:rPr>
              <a:t>name=“</a:t>
            </a:r>
            <a:r>
              <a:rPr lang="zh-CN" altLang="en-US" sz="1800" dirty="0">
                <a:ea typeface="宋体" panose="02010600030101010101" pitchFamily="2" charset="-122"/>
                <a:cs typeface="+mn-lt"/>
                <a:sym typeface="+mn-ea"/>
              </a:rPr>
              <a:t>小花</a:t>
            </a:r>
            <a:r>
              <a:rPr lang="en-US" altLang="zh-CN" sz="1800" dirty="0">
                <a:ea typeface="宋体" panose="02010600030101010101" pitchFamily="2" charset="-122"/>
                <a:cs typeface="+mn-lt"/>
                <a:sym typeface="+mn-ea"/>
              </a:rPr>
              <a:t>”</a:t>
            </a:r>
            <a:r>
              <a:rPr lang="zh-CN" altLang="en-US" sz="1800" dirty="0">
                <a:ea typeface="宋体" panose="02010600030101010101" pitchFamily="2" charset="-122"/>
                <a:cs typeface="+mn-lt"/>
                <a:sym typeface="+mn-ea"/>
              </a:rPr>
              <a:t>和</a:t>
            </a:r>
            <a:r>
              <a:rPr lang="en-US" altLang="zh-CN" sz="1800" dirty="0">
                <a:ea typeface="宋体" panose="02010600030101010101" pitchFamily="2" charset="-122"/>
                <a:cs typeface="+mn-lt"/>
                <a:sym typeface="+mn-ea"/>
              </a:rPr>
              <a:t>age=0</a:t>
            </a:r>
            <a:endParaRPr lang="zh-CN" altLang="en-US" sz="1800" dirty="0">
              <a:ea typeface="宋体" panose="02010600030101010101" pitchFamily="2" charset="-122"/>
              <a:cs typeface="+mn-lt"/>
              <a:sym typeface="+mn-ea"/>
            </a:endParaRPr>
          </a:p>
          <a:p>
            <a:pPr marL="457200" lvl="1" indent="457200" algn="l" eaLnBrk="1" hangingPunct="1">
              <a:lnSpc>
                <a:spcPct val="130000"/>
              </a:lnSpc>
              <a:buClr>
                <a:srgbClr val="ED7D31"/>
              </a:buClr>
              <a:buSzTx/>
              <a:buFont typeface="Arial" panose="020B0604020202020204" pitchFamily="34" charset="0"/>
              <a:buNone/>
            </a:pPr>
            <a:r>
              <a:rPr lang="en-US" altLang="zh-CN" sz="1600" dirty="0">
                <a:ea typeface="宋体" panose="02010600030101010101" pitchFamily="2" charset="-122"/>
                <a:cs typeface="+mn-lt"/>
                <a:sym typeface="+mn-ea"/>
              </a:rPr>
              <a:t>Animal animal = new Dog();</a:t>
            </a:r>
            <a:endParaRPr lang="en-US" altLang="zh-CN" sz="1600" dirty="0">
              <a:ea typeface="宋体" panose="02010600030101010101" pitchFamily="2" charset="-122"/>
              <a:cs typeface="+mn-lt"/>
              <a:sym typeface="+mn-ea"/>
            </a:endParaRPr>
          </a:p>
          <a:p>
            <a:pPr marL="457200" lvl="1" indent="457200" algn="l" eaLnBrk="1" hangingPunct="1">
              <a:lnSpc>
                <a:spcPct val="130000"/>
              </a:lnSpc>
              <a:buClr>
                <a:srgbClr val="ED7D31"/>
              </a:buClr>
              <a:buSzTx/>
              <a:buFont typeface="Arial" panose="020B0604020202020204" pitchFamily="34" charset="0"/>
              <a:buNone/>
            </a:pPr>
            <a:r>
              <a:rPr lang="en-US" altLang="zh-CN" sz="1600" dirty="0">
                <a:ea typeface="宋体" panose="02010600030101010101" pitchFamily="2" charset="-122"/>
                <a:cs typeface="+mn-lt"/>
                <a:sym typeface="+mn-ea"/>
              </a:rPr>
              <a:t>System.out.println(animal);//父类的名称：</a:t>
            </a:r>
            <a:r>
              <a:rPr lang="zh-CN" altLang="en-US" sz="1600" dirty="0">
                <a:ea typeface="宋体" panose="02010600030101010101" pitchFamily="2" charset="-122"/>
                <a:cs typeface="+mn-lt"/>
                <a:sym typeface="+mn-ea"/>
              </a:rPr>
              <a:t>动物</a:t>
            </a:r>
            <a:endParaRPr lang="en-US" altLang="zh-CN" sz="1600" dirty="0">
              <a:ea typeface="宋体" panose="02010600030101010101" pitchFamily="2" charset="-122"/>
              <a:cs typeface="+mn-lt"/>
              <a:sym typeface="+mn-ea"/>
            </a:endParaRPr>
          </a:p>
          <a:p>
            <a:pPr marL="457200" lvl="1" indent="457200" algn="l" eaLnBrk="1" hangingPunct="1">
              <a:lnSpc>
                <a:spcPct val="130000"/>
              </a:lnSpc>
              <a:buClr>
                <a:srgbClr val="ED7D31"/>
              </a:buClr>
              <a:buSzTx/>
              <a:buFont typeface="Arial" panose="020B0604020202020204" pitchFamily="34" charset="0"/>
              <a:buNone/>
            </a:pPr>
            <a:r>
              <a:rPr lang="en-US" altLang="zh-CN" sz="1600" dirty="0">
                <a:ea typeface="宋体" panose="02010600030101010101" pitchFamily="2" charset="-122"/>
                <a:cs typeface="+mn-lt"/>
                <a:sym typeface="+mn-ea"/>
              </a:rPr>
              <a:t>System.out.println(animal.age);//编译错误</a:t>
            </a:r>
            <a:r>
              <a:rPr lang="zh-CN" sz="1600" dirty="0">
                <a:ea typeface="宋体" panose="02010600030101010101" pitchFamily="2" charset="-122"/>
                <a:cs typeface="+mn-lt"/>
                <a:sym typeface="+mn-ea"/>
              </a:rPr>
              <a:t>编译和运行都看左边</a:t>
            </a:r>
            <a:endParaRPr lang="en-US" altLang="zh-CN" sz="1600" dirty="0">
              <a:ea typeface="宋体" panose="02010600030101010101" pitchFamily="2" charset="-122"/>
              <a:cs typeface="+mn-lt"/>
              <a:sym typeface="+mn-ea"/>
            </a:endParaRPr>
          </a:p>
          <a:p>
            <a:pPr marL="457200" indent="-457200" algn="l" eaLnBrk="1" hangingPunct="1">
              <a:lnSpc>
                <a:spcPct val="130000"/>
              </a:lnSpc>
              <a:buClr>
                <a:srgbClr val="ED7D31"/>
              </a:buClr>
              <a:buSzTx/>
              <a:buFont typeface="+mj-lt"/>
              <a:buAutoNum type="arabicPeriod"/>
            </a:pPr>
            <a:r>
              <a:rPr lang="zh-CN" altLang="en-US" sz="2000" dirty="0">
                <a:ea typeface="宋体" panose="02010600030101010101" pitchFamily="2" charset="-122"/>
                <a:cs typeface="+mn-lt"/>
                <a:sym typeface="+mn-ea"/>
              </a:rPr>
              <a:t>方法：</a:t>
            </a:r>
            <a:r>
              <a:rPr lang="zh-CN" altLang="en-US" sz="2000" dirty="0">
                <a:solidFill>
                  <a:srgbClr val="FF0000"/>
                </a:solidFill>
                <a:ea typeface="宋体" panose="02010600030101010101" pitchFamily="2" charset="-122"/>
                <a:cs typeface="+mn-lt"/>
                <a:sym typeface="+mn-ea"/>
              </a:rPr>
              <a:t>编译看左边（父类），运行看右边（子类）</a:t>
            </a:r>
            <a:endParaRPr lang="zh-CN" altLang="en-US" sz="2000" dirty="0">
              <a:ea typeface="宋体" panose="02010600030101010101" pitchFamily="2" charset="-122"/>
              <a:cs typeface="+mn-lt"/>
              <a:sym typeface="+mn-ea"/>
            </a:endParaRPr>
          </a:p>
          <a:p>
            <a:pPr marL="914400" lvl="1" indent="-457200" algn="l" eaLnBrk="1" hangingPunct="1">
              <a:lnSpc>
                <a:spcPct val="130000"/>
              </a:lnSpc>
              <a:buClr>
                <a:srgbClr val="ED7D31"/>
              </a:buClr>
              <a:buSzTx/>
              <a:buFont typeface="+mj-ea"/>
              <a:buAutoNum type="circleNumDbPlain" startAt="2"/>
            </a:pPr>
            <a:r>
              <a:rPr lang="zh-CN" altLang="en-US" sz="1800" dirty="0">
                <a:ea typeface="宋体" panose="02010600030101010101" pitchFamily="2" charset="-122"/>
                <a:sym typeface="+mn-ea"/>
              </a:rPr>
              <a:t>例如：Animal  中有实例方法</a:t>
            </a:r>
            <a:r>
              <a:rPr lang="en-US" altLang="zh-CN" sz="1800" dirty="0">
                <a:ea typeface="宋体" panose="02010600030101010101" pitchFamily="2" charset="-122"/>
                <a:sym typeface="+mn-ea"/>
              </a:rPr>
              <a:t>eat()</a:t>
            </a:r>
            <a:r>
              <a:rPr lang="zh-CN" altLang="en-US" sz="1800" dirty="0">
                <a:ea typeface="宋体" panose="02010600030101010101" pitchFamily="2" charset="-122"/>
                <a:sym typeface="+mn-ea"/>
              </a:rPr>
              <a:t>，Dog有实力方法</a:t>
            </a:r>
            <a:r>
              <a:rPr lang="en-US" altLang="zh-CN" sz="1800" dirty="0">
                <a:ea typeface="宋体" panose="02010600030101010101" pitchFamily="2" charset="-122"/>
                <a:sym typeface="+mn-ea"/>
              </a:rPr>
              <a:t>eat()</a:t>
            </a:r>
            <a:r>
              <a:rPr lang="zh-CN" altLang="en-US" sz="1800" dirty="0">
                <a:ea typeface="宋体" panose="02010600030101010101" pitchFamily="2" charset="-122"/>
                <a:sym typeface="+mn-ea"/>
              </a:rPr>
              <a:t>和</a:t>
            </a:r>
            <a:r>
              <a:rPr lang="en-US" altLang="zh-CN" sz="1800" dirty="0">
                <a:ea typeface="宋体" panose="02010600030101010101" pitchFamily="2" charset="-122"/>
                <a:sym typeface="+mn-ea"/>
              </a:rPr>
              <a:t>catchMouse</a:t>
            </a:r>
            <a:endParaRPr lang="zh-CN" altLang="en-US" sz="1800" dirty="0">
              <a:ea typeface="宋体" panose="02010600030101010101" pitchFamily="2" charset="-122"/>
              <a:sym typeface="+mn-ea"/>
            </a:endParaRPr>
          </a:p>
          <a:p>
            <a:pPr marL="457200" lvl="1" indent="457200" eaLnBrk="1" hangingPunct="1">
              <a:lnSpc>
                <a:spcPct val="130000"/>
              </a:lnSpc>
              <a:buClr>
                <a:srgbClr val="ED7D31"/>
              </a:buClr>
              <a:buFont typeface="+mj-lt"/>
              <a:buNone/>
            </a:pPr>
            <a:r>
              <a:rPr lang="zh-CN" altLang="en-US" sz="1600" dirty="0">
                <a:ea typeface="宋体" panose="02010600030101010101" pitchFamily="2" charset="-122"/>
              </a:rPr>
              <a:t>Animal animal = new Dog();</a:t>
            </a:r>
            <a:r>
              <a:rPr lang="en-US" altLang="zh-CN" sz="1600" dirty="0">
                <a:ea typeface="宋体" panose="02010600030101010101" pitchFamily="2" charset="-122"/>
              </a:rPr>
              <a:t>\</a:t>
            </a:r>
            <a:endParaRPr lang="en-US" altLang="zh-CN" sz="1600" dirty="0">
              <a:ea typeface="宋体" panose="02010600030101010101" pitchFamily="2" charset="-122"/>
            </a:endParaRPr>
          </a:p>
          <a:p>
            <a:pPr marL="457200" lvl="1" indent="457200" eaLnBrk="1" hangingPunct="1">
              <a:lnSpc>
                <a:spcPct val="130000"/>
              </a:lnSpc>
              <a:buClr>
                <a:srgbClr val="ED7D31"/>
              </a:buClr>
              <a:buFont typeface="+mj-lt"/>
              <a:buNone/>
            </a:pPr>
            <a:r>
              <a:rPr lang="zh-CN" altLang="en-US" sz="1600" dirty="0">
                <a:ea typeface="宋体" panose="02010600030101010101" pitchFamily="2" charset="-122"/>
              </a:rPr>
              <a:t>animal.eat();//调用的是子类的方法</a:t>
            </a:r>
            <a:endParaRPr lang="zh-CN" altLang="en-US" sz="1600" dirty="0">
              <a:ea typeface="宋体" panose="02010600030101010101" pitchFamily="2" charset="-122"/>
            </a:endParaRPr>
          </a:p>
          <a:p>
            <a:pPr marL="457200" lvl="1" indent="457200" eaLnBrk="1" hangingPunct="1">
              <a:lnSpc>
                <a:spcPct val="130000"/>
              </a:lnSpc>
              <a:buClr>
                <a:srgbClr val="ED7D31"/>
              </a:buClr>
              <a:buFont typeface="+mj-lt"/>
              <a:buNone/>
            </a:pPr>
            <a:r>
              <a:rPr lang="zh-CN" altLang="en-US" sz="1600" dirty="0">
                <a:ea typeface="宋体" panose="02010600030101010101" pitchFamily="2" charset="-122"/>
              </a:rPr>
              <a:t>animal.catchMouse();//错误，编译无法通过</a:t>
            </a:r>
            <a:endParaRPr lang="zh-CN" altLang="en-US" sz="1600" dirty="0">
              <a:ea typeface="宋体" panose="02010600030101010101" pitchFamily="2" charset="-122"/>
            </a:endParaRPr>
          </a:p>
          <a:p>
            <a:pPr marL="0" indent="0" eaLnBrk="1" hangingPunct="1">
              <a:lnSpc>
                <a:spcPct val="130000"/>
              </a:lnSpc>
              <a:buClr>
                <a:srgbClr val="ED7D31"/>
              </a:buClr>
              <a:buFont typeface="Wingdings" panose="05000000000000000000" charset="0"/>
              <a:buNone/>
            </a:pPr>
            <a:endParaRPr lang="zh-CN" altLang="en-US" sz="2000"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endParaRPr sz="2000"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sz="20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Person类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430" y="945515"/>
            <a:ext cx="9466580" cy="5572760"/>
          </a:xfrm>
        </p:spPr>
        <p:txBody>
          <a:bodyPr>
            <a:noAutofit/>
          </a:bodyPr>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public class Animal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String name = "动物";</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void eat(){</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System.out.println("Animal.eat:动物喂食");</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class Dog extends  Animal{</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String name = "小花";</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int age = 0;</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@Override</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void eat()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System.out.println("Dog.eat:吃骨头");</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void catchMouse(){</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System.out.println("Dog.catchMouse");</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class Test{</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static void main(String[] args)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Animal animal = new Dog();</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System.out.println(animal);//父类的名称：动物</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System.out.println(animal.age);//编译错误</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animal.eat();//子类的：Dog.eat:吃骨头</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animal.catchMouse();//错误，编译无法通过</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498725"/>
            <a:ext cx="3369310" cy="829945"/>
          </a:xfrm>
          <a:prstGeom prst="rect">
            <a:avLst/>
          </a:prstGeom>
          <a:noFill/>
        </p:spPr>
        <p:txBody>
          <a:bodyPr wrap="square" rtlCol="0">
            <a:spAutoFit/>
          </a:bodyPr>
          <a:lstStyle/>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zh-CN" altLang="en-US" sz="2400" dirty="0" smtClean="0">
                <a:ea typeface="宋体" panose="02010600030101010101" pitchFamily="2" charset="-122"/>
                <a:sym typeface="+mn-ea"/>
              </a:rPr>
              <a:t>对象的引用传递</a:t>
            </a:r>
            <a:endParaRPr lang="en-US" altLang="zh-CN" sz="2400" dirty="0" smtClean="0">
              <a:ea typeface="宋体" panose="02010600030101010101" pitchFamily="2" charset="-122"/>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300355" y="2648585"/>
            <a:ext cx="3779520" cy="175323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第十章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400" b="1" spc="300" noProof="0" dirty="0" smtClean="0">
                <a:ln>
                  <a:noFill/>
                </a:ln>
                <a:solidFill>
                  <a:srgbClr val="002060"/>
                </a:solidFill>
                <a:effectLst/>
                <a:uLnTx/>
                <a:uFillTx/>
                <a:latin typeface="Arial" panose="020B0604020202020204" pitchFamily="34" charset="0"/>
                <a:ea typeface="宋体" panose="02010600030101010101" pitchFamily="2" charset="-122"/>
                <a:sym typeface="+mn-ea"/>
              </a:rPr>
              <a:t>对象与Object类</a:t>
            </a:r>
            <a:endParaRPr lang="zh-CN" altLang="en-US" sz="2400" b="1" dirty="0">
              <a:latin typeface="Arial" panose="020B0604020202020204" pitchFamily="34" charset="0"/>
              <a:ea typeface="宋体" panose="02010600030101010101" pitchFamily="2" charset="-122"/>
            </a:endParaRPr>
          </a:p>
          <a:p>
            <a:pPr marL="0" marR="0" lvl="0" indent="0" algn="dist"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37" name="矩形 36"/>
          <p:cNvSpPr/>
          <p:nvPr/>
        </p:nvSpPr>
        <p:spPr>
          <a:xfrm>
            <a:off x="4765675" y="3345180"/>
            <a:ext cx="390715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2.</a:t>
            </a:r>
            <a:r>
              <a:rPr lang="zh-CN" sz="2400" dirty="0" smtClean="0">
                <a:solidFill>
                  <a:srgbClr val="ED7D31"/>
                </a:solidFill>
                <a:ea typeface="宋体" panose="02010600030101010101" pitchFamily="2" charset="-122"/>
                <a:sym typeface="+mn-ea"/>
              </a:rPr>
              <a:t>对象的关联引用</a:t>
            </a:r>
            <a:endParaRPr kumimoji="0" lang="zh-CN" sz="2400" b="0" i="0" u="none" strike="noStrike" kern="1200" cap="none" spc="0" normalizeH="0" baseline="0" noProof="0" dirty="0" smtClean="0">
              <a:ln>
                <a:noFill/>
              </a:ln>
              <a:solidFill>
                <a:srgbClr val="ED7D31"/>
              </a:solidFill>
              <a:effectLst/>
              <a:uLnTx/>
              <a:uFillTx/>
              <a:latin typeface="+mj-ea"/>
              <a:ea typeface="宋体" panose="02010600030101010101" pitchFamily="2" charset="-122"/>
              <a:cs typeface="+mj-ea"/>
              <a:sym typeface="+mn-ea"/>
            </a:endParaRPr>
          </a:p>
        </p:txBody>
      </p:sp>
      <p:sp>
        <p:nvSpPr>
          <p:cNvPr id="4" name="矩形 3"/>
          <p:cNvSpPr/>
          <p:nvPr/>
        </p:nvSpPr>
        <p:spPr>
          <a:xfrm>
            <a:off x="4765675" y="4064000"/>
            <a:ext cx="3369310" cy="82994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3.Object</a:t>
            </a:r>
            <a:r>
              <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类</a:t>
            </a:r>
            <a:endParaRPr lang="en-US" altLang="zh-CN" sz="2400" dirty="0" smtClean="0">
              <a:ea typeface="宋体" panose="02010600030101010101" pitchFamily="2" charset="-122"/>
            </a:endParaRPr>
          </a:p>
          <a:p>
            <a:pPr marR="0" lvl="0" indent="0" algn="l" defTabSz="914400" rtl="0" eaLnBrk="1" fontAlgn="auto" latinLnBrk="0" hangingPunct="1">
              <a:lnSpc>
                <a:spcPct val="100000"/>
              </a:lnSpc>
              <a:spcBef>
                <a:spcPts val="0"/>
              </a:spcBef>
              <a:spcAft>
                <a:spcPts val="0"/>
              </a:spcAft>
              <a:buClrTx/>
              <a:buSzTx/>
              <a:buFont typeface="+mj-lt"/>
              <a:buNone/>
              <a:defRPr/>
            </a:pP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535"/>
            <a:ext cx="8340725"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对象的引用传递</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引用数据类型转换</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014730"/>
            <a:ext cx="9527540" cy="5003800"/>
          </a:xfrm>
        </p:spPr>
        <p:txBody>
          <a:bodyPr>
            <a:noAutofit/>
          </a:bodyPr>
          <a:p>
            <a:pPr marL="457200" indent="-457200" algn="l" eaLnBrk="1" hangingPunct="1">
              <a:lnSpc>
                <a:spcPct val="130000"/>
              </a:lnSpc>
              <a:buClr>
                <a:srgbClr val="ED7D31"/>
              </a:buClr>
              <a:buSzTx/>
              <a:buFont typeface="+mj-lt"/>
              <a:buAutoNum type="arabicPeriod"/>
            </a:pPr>
            <a:r>
              <a:rPr lang="en-US" altLang="zh-CN" sz="2000" dirty="0">
                <a:ea typeface="宋体" panose="02010600030101010101" pitchFamily="2" charset="-122"/>
                <a:cs typeface="+mn-lt"/>
                <a:sym typeface="+mn-ea"/>
              </a:rPr>
              <a:t>基本数据</a:t>
            </a:r>
            <a:r>
              <a:rPr lang="zh-CN" altLang="en-US" sz="2000" dirty="0">
                <a:ea typeface="宋体" panose="02010600030101010101" pitchFamily="2" charset="-122"/>
                <a:cs typeface="+mn-lt"/>
                <a:sym typeface="+mn-ea"/>
              </a:rPr>
              <a:t>的值传递</a:t>
            </a:r>
            <a:endParaRPr lang="en-US" altLang="zh-CN" sz="2000" dirty="0">
              <a:ea typeface="宋体" panose="02010600030101010101" pitchFamily="2" charset="-122"/>
              <a:cs typeface="+mn-lt"/>
              <a:sym typeface="+mn-ea"/>
            </a:endParaRPr>
          </a:p>
          <a:p>
            <a:pPr marL="800100" lvl="1" indent="-342900" algn="l" eaLnBrk="1" hangingPunct="1">
              <a:lnSpc>
                <a:spcPct val="130000"/>
              </a:lnSpc>
              <a:buClr>
                <a:srgbClr val="ED7D31"/>
              </a:buClr>
              <a:buSzTx/>
              <a:buFont typeface="+mj-ea"/>
              <a:buAutoNum type="circleNumDbPlain"/>
            </a:pPr>
            <a:r>
              <a:rPr lang="zh-CN" altLang="en-US" sz="1800" dirty="0" smtClean="0">
                <a:solidFill>
                  <a:srgbClr val="002060"/>
                </a:solidFill>
                <a:ea typeface="宋体" panose="02010600030101010101" pitchFamily="2" charset="-122"/>
                <a:cs typeface="+mn-lt"/>
              </a:rPr>
              <a:t>示例</a:t>
            </a:r>
            <a:endParaRPr lang="en-US" altLang="zh-CN" sz="1800" dirty="0" smtClean="0">
              <a:solidFill>
                <a:srgbClr val="002060"/>
              </a:solidFill>
              <a:ea typeface="宋体" panose="02010600030101010101" pitchFamily="2" charset="-122"/>
              <a:cs typeface="+mn-lt"/>
            </a:endParaRPr>
          </a:p>
          <a:p>
            <a:pPr marL="457200" lvl="1" indent="457200" eaLnBrk="1" hangingPunct="1">
              <a:spcBef>
                <a:spcPts val="0"/>
              </a:spcBef>
              <a:buFont typeface="+mj-lt"/>
              <a:buNone/>
              <a:defRPr/>
            </a:pPr>
            <a:r>
              <a:rPr lang="en-US" altLang="zh-CN" sz="1440" dirty="0" smtClean="0">
                <a:solidFill>
                  <a:srgbClr val="002060"/>
                </a:solidFill>
                <a:ea typeface="宋体" panose="02010600030101010101" pitchFamily="2" charset="-122"/>
                <a:cs typeface="+mn-lt"/>
                <a:sym typeface="+mn-ea"/>
              </a:rPr>
              <a:t>int x = 2,y = 3;</a:t>
            </a:r>
            <a:endParaRPr lang="en-US" altLang="zh-CN" sz="1440" dirty="0" smtClean="0">
              <a:solidFill>
                <a:srgbClr val="002060"/>
              </a:solidFill>
              <a:ea typeface="宋体" panose="02010600030101010101" pitchFamily="2" charset="-122"/>
              <a:cs typeface="+mn-lt"/>
              <a:sym typeface="+mn-ea"/>
            </a:endParaRPr>
          </a:p>
          <a:p>
            <a:pPr marL="457200" lvl="1" indent="457200" eaLnBrk="1" hangingPunct="1">
              <a:spcBef>
                <a:spcPts val="0"/>
              </a:spcBef>
              <a:buFont typeface="+mj-lt"/>
              <a:buNone/>
              <a:defRPr/>
            </a:pPr>
            <a:r>
              <a:rPr lang="en-US" altLang="zh-CN" sz="1440" dirty="0" smtClean="0">
                <a:solidFill>
                  <a:srgbClr val="FF0000"/>
                </a:solidFill>
                <a:ea typeface="宋体" panose="02010600030101010101" pitchFamily="2" charset="-122"/>
                <a:cs typeface="+mn-lt"/>
                <a:sym typeface="+mn-ea"/>
              </a:rPr>
              <a:t>changeInt(x,y);//基本类型的值传递</a:t>
            </a:r>
            <a:r>
              <a:rPr lang="zh-CN" altLang="en-US" sz="1440" dirty="0" smtClean="0">
                <a:solidFill>
                  <a:srgbClr val="FF0000"/>
                </a:solidFill>
                <a:ea typeface="宋体" panose="02010600030101010101" pitchFamily="2" charset="-122"/>
                <a:cs typeface="+mn-lt"/>
                <a:sym typeface="+mn-ea"/>
              </a:rPr>
              <a:t>，</a:t>
            </a:r>
            <a:endParaRPr lang="zh-CN" altLang="en-US" sz="1440" dirty="0" smtClean="0">
              <a:solidFill>
                <a:srgbClr val="FF0000"/>
              </a:solidFill>
              <a:ea typeface="宋体" panose="02010600030101010101" pitchFamily="2" charset="-122"/>
              <a:cs typeface="+mn-lt"/>
              <a:sym typeface="+mn-ea"/>
            </a:endParaRPr>
          </a:p>
          <a:p>
            <a:pPr marL="800100" lvl="1" indent="-342900" algn="l" eaLnBrk="1" hangingPunct="1">
              <a:lnSpc>
                <a:spcPct val="130000"/>
              </a:lnSpc>
              <a:spcBef>
                <a:spcPts val="500"/>
              </a:spcBef>
              <a:buClr>
                <a:srgbClr val="ED7D31"/>
              </a:buClr>
              <a:buSzTx/>
              <a:buFont typeface="+mj-ea"/>
              <a:buAutoNum type="circleNumDbPlain" startAt="2"/>
            </a:pPr>
            <a:r>
              <a:rPr lang="zh-CN" altLang="en-US" sz="1800" dirty="0" smtClean="0">
                <a:solidFill>
                  <a:srgbClr val="002060"/>
                </a:solidFill>
                <a:ea typeface="宋体" panose="02010600030101010101" pitchFamily="2" charset="-122"/>
                <a:cs typeface="+mn-lt"/>
                <a:sym typeface="+mn-ea"/>
              </a:rPr>
              <a:t>如果</a:t>
            </a:r>
            <a:r>
              <a:rPr lang="zh-CN" altLang="en-US" sz="1800" dirty="0" smtClean="0">
                <a:solidFill>
                  <a:srgbClr val="002060"/>
                </a:solidFill>
                <a:ea typeface="宋体" panose="02010600030101010101" pitchFamily="2" charset="-122"/>
                <a:cs typeface="+mn-lt"/>
                <a:sym typeface="+mn-ea"/>
              </a:rPr>
              <a:t>changeInt 修改了x和y的值，原来的值也不变</a:t>
            </a:r>
            <a:endParaRPr lang="zh-CN" altLang="en-US" sz="1800" dirty="0" smtClean="0">
              <a:solidFill>
                <a:srgbClr val="002060"/>
              </a:solidFill>
              <a:ea typeface="宋体" panose="02010600030101010101" pitchFamily="2" charset="-122"/>
              <a:cs typeface="+mn-lt"/>
            </a:endParaRPr>
          </a:p>
          <a:p>
            <a:pPr marL="457200" indent="-457200" algn="l" eaLnBrk="1" hangingPunct="1">
              <a:lnSpc>
                <a:spcPct val="130000"/>
              </a:lnSpc>
              <a:buClr>
                <a:srgbClr val="ED7D31"/>
              </a:buClr>
              <a:buSzTx/>
              <a:buFont typeface="+mj-lt"/>
              <a:buAutoNum type="arabicPeriod" startAt="2"/>
            </a:pPr>
            <a:r>
              <a:rPr lang="zh-CN" altLang="en-US" sz="2000" dirty="0">
                <a:ea typeface="宋体" panose="02010600030101010101" pitchFamily="2" charset="-122"/>
                <a:cs typeface="+mn-lt"/>
                <a:sym typeface="+mn-ea"/>
              </a:rPr>
              <a:t>引用类型的地址传递</a:t>
            </a:r>
            <a:endParaRPr lang="zh-CN" altLang="en-US" sz="2000" dirty="0">
              <a:ea typeface="宋体" panose="02010600030101010101" pitchFamily="2" charset="-122"/>
              <a:cs typeface="+mn-lt"/>
              <a:sym typeface="+mn-ea"/>
            </a:endParaRPr>
          </a:p>
          <a:p>
            <a:pPr marL="800100" lvl="1" indent="-342900" algn="l" eaLnBrk="1" hangingPunct="1">
              <a:lnSpc>
                <a:spcPct val="130000"/>
              </a:lnSpc>
              <a:buClr>
                <a:srgbClr val="ED7D31"/>
              </a:buClr>
              <a:buSzTx/>
              <a:buFont typeface="+mj-ea"/>
              <a:buAutoNum type="circleNumDbPlain"/>
            </a:pPr>
            <a:r>
              <a:rPr lang="zh-CN" altLang="en-US" sz="1800" dirty="0" smtClean="0">
                <a:solidFill>
                  <a:srgbClr val="002060"/>
                </a:solidFill>
                <a:ea typeface="宋体" panose="02010600030101010101" pitchFamily="2" charset="-122"/>
                <a:cs typeface="+mn-lt"/>
                <a:sym typeface="+mn-ea"/>
              </a:rPr>
              <a:t>示例</a:t>
            </a:r>
            <a:endParaRPr lang="zh-CN" altLang="en-US" sz="1800" dirty="0" smtClean="0">
              <a:solidFill>
                <a:srgbClr val="002060"/>
              </a:solidFill>
              <a:ea typeface="宋体" panose="02010600030101010101" pitchFamily="2" charset="-122"/>
              <a:cs typeface="+mn-lt"/>
            </a:endParaRPr>
          </a:p>
          <a:p>
            <a:pPr marL="457200" lvl="1" indent="457200" eaLnBrk="1" hangingPunct="1">
              <a:spcBef>
                <a:spcPts val="0"/>
              </a:spcBef>
              <a:buFont typeface="+mj-lt"/>
              <a:buNone/>
              <a:defRPr/>
            </a:pPr>
            <a:r>
              <a:rPr lang="en-US" altLang="zh-CN" sz="1800" dirty="0" smtClean="0">
                <a:solidFill>
                  <a:srgbClr val="002060"/>
                </a:solidFill>
                <a:ea typeface="宋体" panose="02010600030101010101" pitchFamily="2" charset="-122"/>
                <a:cs typeface="+mn-lt"/>
                <a:sym typeface="+mn-ea"/>
              </a:rPr>
              <a:t> Cat cat = new Cat("小花",23);</a:t>
            </a:r>
            <a:endParaRPr lang="en-US" altLang="zh-CN" sz="1800" dirty="0" smtClean="0">
              <a:solidFill>
                <a:srgbClr val="002060"/>
              </a:solidFill>
              <a:ea typeface="宋体" panose="02010600030101010101" pitchFamily="2" charset="-122"/>
              <a:cs typeface="+mn-lt"/>
              <a:sym typeface="+mn-ea"/>
            </a:endParaRPr>
          </a:p>
          <a:p>
            <a:pPr marL="457200" lvl="1" indent="457200" eaLnBrk="1" hangingPunct="1">
              <a:spcBef>
                <a:spcPts val="0"/>
              </a:spcBef>
              <a:buFont typeface="+mj-lt"/>
              <a:buNone/>
              <a:defRPr/>
            </a:pPr>
            <a:r>
              <a:rPr lang="en-US" altLang="zh-CN" sz="1800" dirty="0" smtClean="0">
                <a:solidFill>
                  <a:srgbClr val="002060"/>
                </a:solidFill>
                <a:ea typeface="宋体" panose="02010600030101010101" pitchFamily="2" charset="-122"/>
                <a:cs typeface="+mn-lt"/>
                <a:sym typeface="+mn-ea"/>
              </a:rPr>
              <a:t> </a:t>
            </a:r>
            <a:r>
              <a:rPr lang="en-US" altLang="zh-CN" sz="1800" dirty="0" smtClean="0">
                <a:solidFill>
                  <a:srgbClr val="FF0000"/>
                </a:solidFill>
                <a:ea typeface="宋体" panose="02010600030101010101" pitchFamily="2" charset="-122"/>
                <a:cs typeface="+mn-lt"/>
                <a:sym typeface="+mn-ea"/>
              </a:rPr>
              <a:t>changeCat(cat);//引用类型的地址传递</a:t>
            </a:r>
            <a:endParaRPr lang="en-US" altLang="zh-CN" sz="1800" dirty="0" smtClean="0">
              <a:solidFill>
                <a:srgbClr val="002060"/>
              </a:solidFill>
              <a:ea typeface="宋体" panose="02010600030101010101" pitchFamily="2" charset="-122"/>
              <a:cs typeface="+mn-lt"/>
              <a:sym typeface="+mn-ea"/>
            </a:endParaRPr>
          </a:p>
          <a:p>
            <a:pPr marL="800100" lvl="1" indent="-342900" algn="l" eaLnBrk="1" hangingPunct="1">
              <a:lnSpc>
                <a:spcPct val="130000"/>
              </a:lnSpc>
              <a:spcBef>
                <a:spcPts val="500"/>
              </a:spcBef>
              <a:buClr>
                <a:srgbClr val="ED7D31"/>
              </a:buClr>
              <a:buSzTx/>
              <a:buFont typeface="+mj-ea"/>
              <a:buAutoNum type="circleNumDbPlain" startAt="2"/>
            </a:pPr>
            <a:r>
              <a:rPr lang="zh-CN" altLang="en-US" sz="1800" dirty="0" smtClean="0">
                <a:solidFill>
                  <a:srgbClr val="002060"/>
                </a:solidFill>
                <a:ea typeface="宋体" panose="02010600030101010101" pitchFamily="2" charset="-122"/>
                <a:cs typeface="+mn-lt"/>
                <a:sym typeface="+mn-ea"/>
              </a:rPr>
              <a:t>如果change</a:t>
            </a:r>
            <a:r>
              <a:rPr lang="en-US" altLang="zh-CN" sz="1800" dirty="0" smtClean="0">
                <a:solidFill>
                  <a:srgbClr val="002060"/>
                </a:solidFill>
                <a:ea typeface="宋体" panose="02010600030101010101" pitchFamily="2" charset="-122"/>
                <a:cs typeface="+mn-lt"/>
                <a:sym typeface="+mn-ea"/>
              </a:rPr>
              <a:t>Cat</a:t>
            </a:r>
            <a:r>
              <a:rPr lang="zh-CN" altLang="en-US" sz="1800" dirty="0" smtClean="0">
                <a:solidFill>
                  <a:srgbClr val="002060"/>
                </a:solidFill>
                <a:ea typeface="宋体" panose="02010600030101010101" pitchFamily="2" charset="-122"/>
                <a:cs typeface="+mn-lt"/>
                <a:sym typeface="+mn-ea"/>
              </a:rPr>
              <a:t> 修改了</a:t>
            </a:r>
            <a:r>
              <a:rPr lang="en-US" altLang="zh-CN" sz="1800" dirty="0" smtClean="0">
                <a:solidFill>
                  <a:srgbClr val="002060"/>
                </a:solidFill>
                <a:ea typeface="宋体" panose="02010600030101010101" pitchFamily="2" charset="-122"/>
                <a:cs typeface="+mn-lt"/>
                <a:sym typeface="+mn-ea"/>
              </a:rPr>
              <a:t>cat</a:t>
            </a:r>
            <a:r>
              <a:rPr lang="zh-CN" altLang="en-US" sz="1800" dirty="0" smtClean="0">
                <a:solidFill>
                  <a:srgbClr val="002060"/>
                </a:solidFill>
                <a:ea typeface="宋体" panose="02010600030101010101" pitchFamily="2" charset="-122"/>
                <a:cs typeface="+mn-lt"/>
                <a:sym typeface="+mn-ea"/>
              </a:rPr>
              <a:t>的值，原来的值会变，因为change</a:t>
            </a:r>
            <a:r>
              <a:rPr lang="en-US" altLang="zh-CN" sz="1800" dirty="0" smtClean="0">
                <a:solidFill>
                  <a:srgbClr val="002060"/>
                </a:solidFill>
                <a:ea typeface="宋体" panose="02010600030101010101" pitchFamily="2" charset="-122"/>
                <a:cs typeface="+mn-lt"/>
                <a:sym typeface="+mn-ea"/>
              </a:rPr>
              <a:t>Cat</a:t>
            </a:r>
            <a:r>
              <a:rPr lang="zh-CN" altLang="en-US" sz="1800" dirty="0" smtClean="0">
                <a:solidFill>
                  <a:srgbClr val="002060"/>
                </a:solidFill>
                <a:ea typeface="宋体" panose="02010600030101010101" pitchFamily="2" charset="-122"/>
                <a:cs typeface="+mn-lt"/>
                <a:sym typeface="+mn-ea"/>
              </a:rPr>
              <a:t> 传递的是</a:t>
            </a:r>
            <a:r>
              <a:rPr lang="en-US" altLang="zh-CN" sz="1800" dirty="0" smtClean="0">
                <a:solidFill>
                  <a:srgbClr val="002060"/>
                </a:solidFill>
                <a:ea typeface="宋体" panose="02010600030101010101" pitchFamily="2" charset="-122"/>
                <a:cs typeface="+mn-lt"/>
                <a:sym typeface="+mn-ea"/>
              </a:rPr>
              <a:t>Cat</a:t>
            </a:r>
            <a:r>
              <a:rPr lang="zh-CN" altLang="en-US" sz="1800" dirty="0" smtClean="0">
                <a:solidFill>
                  <a:srgbClr val="002060"/>
                </a:solidFill>
                <a:ea typeface="宋体" panose="02010600030101010101" pitchFamily="2" charset="-122"/>
                <a:cs typeface="+mn-lt"/>
                <a:sym typeface="+mn-ea"/>
              </a:rPr>
              <a:t>对象的地址，内存都是同一块</a:t>
            </a:r>
            <a:endParaRPr lang="en-US" altLang="zh-CN" sz="20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Person类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430" y="945515"/>
            <a:ext cx="9466580" cy="5572760"/>
          </a:xfrm>
        </p:spPr>
        <p:txBody>
          <a:bodyPr>
            <a:noAutofit/>
          </a:bodyPr>
          <a:p>
            <a:pPr marL="361950" indent="-361950" eaLnBrk="1" hangingPunct="1">
              <a:spcBef>
                <a:spcPts val="0"/>
              </a:spcBef>
              <a:buFont typeface="+mj-lt"/>
              <a:buAutoNum type="arabicPeriod"/>
              <a:defRPr/>
            </a:pP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public class Test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static void main(String[] args)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int x = 2,y = 3;</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a:t>
            </a:r>
            <a:r>
              <a:rPr lang="en-US" altLang="zh-CN" sz="1200" dirty="0" smtClean="0">
                <a:solidFill>
                  <a:srgbClr val="FF0000"/>
                </a:solidFill>
                <a:ea typeface="宋体" panose="02010600030101010101" pitchFamily="2" charset="-122"/>
                <a:cs typeface="+mn-lt"/>
              </a:rPr>
              <a:t>changeInt(x,y);//基本类型的值传递</a:t>
            </a:r>
            <a:endParaRPr lang="en-US" altLang="zh-CN" sz="1200" dirty="0" smtClean="0">
              <a:solidFill>
                <a:srgbClr val="FF000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System.out.println("x = " + x);</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System.out.println("y = " + y);</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Cat cat = new Cat("小花",23);</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a:t>
            </a:r>
            <a:r>
              <a:rPr lang="en-US" altLang="zh-CN" sz="1200" dirty="0" smtClean="0">
                <a:solidFill>
                  <a:srgbClr val="FF0000"/>
                </a:solidFill>
                <a:ea typeface="宋体" panose="02010600030101010101" pitchFamily="2" charset="-122"/>
                <a:cs typeface="+mn-lt"/>
              </a:rPr>
              <a:t> changeCat(cat);//引用类型的地址传递</a:t>
            </a:r>
            <a:endParaRPr lang="en-US" altLang="zh-CN" sz="1200" dirty="0" smtClean="0">
              <a:solidFill>
                <a:srgbClr val="FF000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System.out.println("name = " + cat.name);</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System.out.println("age = " + cat.age);</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static void changeInt(int x, int y){</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++x;</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++y;</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static void changeCat(Cat cat){</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cat.name = "小黑";</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cat.age = 30;</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class Cat{</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String name;</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int age;</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public Cat(String name, int age)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this.name = name;</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this.age = age;</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200" dirty="0" smtClean="0">
                <a:solidFill>
                  <a:srgbClr val="002060"/>
                </a:solidFill>
                <a:ea typeface="宋体" panose="02010600030101010101" pitchFamily="2" charset="-122"/>
                <a:cs typeface="+mn-lt"/>
              </a:rPr>
              <a:t>}</a:t>
            </a:r>
            <a:endParaRPr lang="en-US" altLang="zh-CN" sz="12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对象的关联</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对象的关联</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algn="l" eaLnBrk="1" hangingPunct="1">
              <a:lnSpc>
                <a:spcPct val="130000"/>
              </a:lnSpc>
              <a:buClr>
                <a:srgbClr val="ED7D31"/>
              </a:buClr>
              <a:buSzTx/>
              <a:buFont typeface="+mj-lt"/>
              <a:buAutoNum type="arabicPeriod"/>
            </a:pPr>
            <a:r>
              <a:rPr lang="zh-CN" altLang="en-US" dirty="0" smtClean="0">
                <a:ea typeface="宋体" panose="02010600030101010101" pitchFamily="2" charset="-122"/>
                <a:sym typeface="+mn-ea"/>
              </a:rPr>
              <a:t>对象的关联 — 简单地说，是指一个对象中使用了另一个对象</a:t>
            </a:r>
            <a:endParaRPr lang="zh-CN" altLang="en-US" dirty="0" smtClean="0">
              <a:ea typeface="宋体" panose="02010600030101010101" pitchFamily="2" charset="-122"/>
            </a:endParaRPr>
          </a:p>
          <a:p>
            <a:pPr marL="457200" indent="-457200" algn="l" eaLnBrk="1" hangingPunct="1">
              <a:lnSpc>
                <a:spcPct val="130000"/>
              </a:lnSpc>
              <a:buClr>
                <a:srgbClr val="ED7D31"/>
              </a:buClr>
              <a:buSzTx/>
              <a:buFont typeface="+mj-lt"/>
              <a:buAutoNum type="arabicPeriod"/>
            </a:pPr>
            <a:r>
              <a:rPr lang="zh-CN" altLang="en-US" dirty="0" smtClean="0">
                <a:ea typeface="宋体" panose="02010600030101010101" pitchFamily="2" charset="-122"/>
                <a:sym typeface="+mn-ea"/>
              </a:rPr>
              <a:t>例如，教师对象中使用了电脑对象。</a:t>
            </a:r>
            <a:endParaRPr lang="zh-CN" altLang="en-US" dirty="0" smtClean="0">
              <a:ea typeface="宋体" panose="02010600030101010101" pitchFamily="2" charset="-122"/>
            </a:endParaRPr>
          </a:p>
          <a:p>
            <a:pPr marL="457200" indent="-457200" algn="l" eaLnBrk="1" hangingPunct="1">
              <a:lnSpc>
                <a:spcPct val="130000"/>
              </a:lnSpc>
              <a:buClr>
                <a:srgbClr val="ED7D31"/>
              </a:buClr>
              <a:buSzTx/>
              <a:buFont typeface="+mj-lt"/>
              <a:buAutoNum type="arabicPeriod"/>
            </a:pPr>
            <a:endParaRPr lang="zh-CN" altLang="en-US" dirty="0" smtClean="0">
              <a:ea typeface="宋体" panose="02010600030101010101" pitchFamily="2" charset="-122"/>
            </a:endParaRPr>
          </a:p>
          <a:p>
            <a:pPr marL="457200" indent="-457200" algn="l" eaLnBrk="1" hangingPunct="1">
              <a:lnSpc>
                <a:spcPct val="130000"/>
              </a:lnSpc>
              <a:buClr>
                <a:srgbClr val="ED7D31"/>
              </a:buClr>
              <a:buSzTx/>
              <a:buFont typeface="+mj-lt"/>
              <a:buAutoNum type="arabicPeriod"/>
            </a:pPr>
            <a:endParaRPr lang="en-US" altLang="zh-CN" dirty="0">
              <a:ea typeface="宋体" panose="02010600030101010101" pitchFamily="2" charset="-122"/>
              <a:cs typeface="+mn-lt"/>
            </a:endParaRPr>
          </a:p>
          <a:p>
            <a:pPr marL="457200" indent="-457200" eaLnBrk="1" hangingPunct="1">
              <a:lnSpc>
                <a:spcPct val="130000"/>
              </a:lnSpc>
              <a:buClr>
                <a:srgbClr val="ED7D31"/>
              </a:buClr>
              <a:buFont typeface="+mj-lt"/>
              <a:buAutoNum type="arabicPeriod"/>
            </a:pPr>
            <a:endParaRPr lang="zh-CN" altLang="en-US" dirty="0">
              <a:ea typeface="宋体" panose="02010600030101010101" pitchFamily="2" charset="-122"/>
            </a:endParaRPr>
          </a:p>
          <a:p>
            <a:pPr eaLnBrk="1" hangingPunct="1">
              <a:lnSpc>
                <a:spcPct val="130000"/>
              </a:lnSpc>
              <a:buClr>
                <a:srgbClr val="ED7D31"/>
              </a:buClr>
              <a:buFont typeface="Wingdings" panose="05000000000000000000" charset="0"/>
              <a:buChar char="Ø"/>
            </a:pPr>
            <a:endParaRPr lang="zh-CN" altLang="en-US" sz="2000" dirty="0">
              <a:ea typeface="宋体" panose="02010600030101010101" pitchFamily="2" charset="-122"/>
              <a:sym typeface="+mn-ea"/>
            </a:endParaRPr>
          </a:p>
          <a:p>
            <a:pPr marL="0" indent="0" eaLnBrk="1" hangingPunct="1">
              <a:lnSpc>
                <a:spcPct val="130000"/>
              </a:lnSpc>
              <a:buNone/>
            </a:pPr>
            <a:endParaRPr lang="en-US" altLang="zh-CN" dirty="0">
              <a:ea typeface="宋体" panose="02010600030101010101" pitchFamily="2" charset="-122"/>
              <a:sym typeface="+mn-ea"/>
            </a:endParaRPr>
          </a:p>
        </p:txBody>
      </p:sp>
      <p:sp>
        <p:nvSpPr>
          <p:cNvPr id="83973" name="TextBox 6"/>
          <p:cNvSpPr txBox="1">
            <a:spLocks noChangeArrowheads="1"/>
          </p:cNvSpPr>
          <p:nvPr/>
        </p:nvSpPr>
        <p:spPr bwMode="auto">
          <a:xfrm>
            <a:off x="2554288" y="2892435"/>
            <a:ext cx="1511300" cy="935038"/>
          </a:xfrm>
          <a:prstGeom prst="rect">
            <a:avLst/>
          </a:prstGeom>
          <a:noFill/>
          <a:ln w="19050">
            <a:solidFill>
              <a:schemeClr val="tx1"/>
            </a:solidFill>
            <a:miter lim="800000"/>
          </a:ln>
        </p:spPr>
        <p:txBody>
          <a:bodyPr>
            <a:spAutoFit/>
          </a:bodyPr>
          <a:p>
            <a:pPr algn="ctr" latinLnBrk="1"/>
            <a:endParaRPr lang="en-US" altLang="zh-CN" b="1" dirty="0"/>
          </a:p>
          <a:p>
            <a:pPr algn="ctr" latinLnBrk="1"/>
            <a:r>
              <a:rPr lang="en-US" altLang="zh-CN" b="1" dirty="0"/>
              <a:t>Teacher</a:t>
            </a:r>
            <a:endParaRPr lang="en-US" altLang="zh-CN" b="1" dirty="0"/>
          </a:p>
          <a:p>
            <a:pPr algn="ctr" latinLnBrk="1"/>
            <a:endParaRPr lang="zh-CN" altLang="en-US" b="1" dirty="0"/>
          </a:p>
        </p:txBody>
      </p:sp>
      <p:sp>
        <p:nvSpPr>
          <p:cNvPr id="83974" name="TextBox 7"/>
          <p:cNvSpPr txBox="1">
            <a:spLocks noChangeArrowheads="1"/>
          </p:cNvSpPr>
          <p:nvPr/>
        </p:nvSpPr>
        <p:spPr bwMode="auto">
          <a:xfrm>
            <a:off x="5865813" y="2898779"/>
            <a:ext cx="1512887" cy="935038"/>
          </a:xfrm>
          <a:prstGeom prst="rect">
            <a:avLst/>
          </a:prstGeom>
          <a:noFill/>
          <a:ln w="19050">
            <a:solidFill>
              <a:schemeClr val="tx1"/>
            </a:solidFill>
            <a:miter lim="800000"/>
          </a:ln>
        </p:spPr>
        <p:txBody>
          <a:bodyPr>
            <a:spAutoFit/>
          </a:bodyPr>
          <a:p>
            <a:pPr algn="ctr" latinLnBrk="1"/>
            <a:endParaRPr lang="en-US" altLang="zh-CN" b="1"/>
          </a:p>
          <a:p>
            <a:pPr algn="ctr" latinLnBrk="1"/>
            <a:r>
              <a:rPr lang="en-US" altLang="zh-CN" b="1"/>
              <a:t>Computer</a:t>
            </a:r>
            <a:endParaRPr lang="en-US" altLang="zh-CN" b="1"/>
          </a:p>
          <a:p>
            <a:pPr algn="ctr" latinLnBrk="1"/>
            <a:endParaRPr lang="zh-CN" altLang="en-US" b="1"/>
          </a:p>
        </p:txBody>
      </p:sp>
      <p:cxnSp>
        <p:nvCxnSpPr>
          <p:cNvPr id="11" name="直接连接符 10"/>
          <p:cNvCxnSpPr/>
          <p:nvPr/>
        </p:nvCxnSpPr>
        <p:spPr bwMode="auto">
          <a:xfrm>
            <a:off x="4065588" y="3327407"/>
            <a:ext cx="1800225" cy="6344"/>
          </a:xfrm>
          <a:prstGeom prst="line">
            <a:avLst/>
          </a:prstGeom>
          <a:ln w="19050">
            <a:headEnd type="none" w="med" len="med"/>
            <a:tailEnd type="none" w="med" len="med"/>
          </a:ln>
        </p:spPr>
        <p:style>
          <a:lnRef idx="1">
            <a:schemeClr val="accent4"/>
          </a:lnRef>
          <a:fillRef idx="0">
            <a:schemeClr val="accent4"/>
          </a:fillRef>
          <a:effectRef idx="0">
            <a:schemeClr val="accent4"/>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Computer类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900430" y="1390650"/>
            <a:ext cx="11042650" cy="4966970"/>
          </a:xfrm>
        </p:spPr>
        <p:txBody>
          <a:bodyPr>
            <a:noAutofit/>
          </a:bodyPr>
          <a:lstStyle/>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public class Computer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private double cpu;</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private int memory;</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private int hardDisk;</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Computer(double cpu, int memory, int hardDisk)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this.cpu = cpu;</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this.memory = memory;</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this.hardDisk = hardDisk;</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public String getDetails()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return "电脑配置：{" + "cpu=" + cpu + ", memory=" + memory + ", hardDisk=" + hardDisk +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    }</a:t>
            </a:r>
            <a:endParaRPr lang="en-US" altLang="zh-CN" sz="18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800" dirty="0" smtClean="0">
                <a:solidFill>
                  <a:srgbClr val="002060"/>
                </a:solidFill>
                <a:ea typeface="宋体" panose="02010600030101010101" pitchFamily="2" charset="-122"/>
                <a:cs typeface="+mn-lt"/>
              </a:rPr>
              <a:t>}</a:t>
            </a:r>
            <a:endParaRPr lang="en-US" altLang="zh-CN" sz="18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Teacher类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430" y="1462405"/>
            <a:ext cx="10436225" cy="4895850"/>
          </a:xfrm>
        </p:spPr>
        <p:txBody>
          <a:bodyPr>
            <a:noAutofit/>
          </a:bodyPr>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class Teacher{</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int tno;</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a:t>
            </a:r>
            <a:r>
              <a:rPr lang="en-US" altLang="zh-CN" sz="1700" dirty="0" smtClean="0">
                <a:solidFill>
                  <a:srgbClr val="FF0000"/>
                </a:solidFill>
                <a:ea typeface="宋体" panose="02010600030101010101" pitchFamily="2" charset="-122"/>
                <a:cs typeface="+mn-lt"/>
              </a:rPr>
              <a:t>  Computer computer;</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public Teacher(int tno, Computer computer)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this.tno = tno;</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this.computer = computer;</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public String getDetails()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return "教师编号：" + tno + "\t" + computer.getDetails();</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class Test{</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public static void main(String[] args)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Computer computer = new Computer(2.6,8,1024);</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Teacher teacher = new Teacher(</a:t>
            </a:r>
            <a:r>
              <a:rPr lang="en-US" altLang="zh-CN" sz="1700" dirty="0" smtClean="0">
                <a:solidFill>
                  <a:srgbClr val="FF0000"/>
                </a:solidFill>
                <a:ea typeface="宋体" panose="02010600030101010101" pitchFamily="2" charset="-122"/>
                <a:cs typeface="+mn-lt"/>
              </a:rPr>
              <a:t>1001,computer</a:t>
            </a: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System.out.println(teacher.getDetails());</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    }</a:t>
            </a:r>
            <a:endParaRPr lang="en-US" altLang="zh-CN" sz="1700" dirty="0" smtClean="0">
              <a:solidFill>
                <a:srgbClr val="002060"/>
              </a:solidFill>
              <a:ea typeface="宋体" panose="02010600030101010101" pitchFamily="2" charset="-122"/>
              <a:cs typeface="+mn-lt"/>
            </a:endParaRPr>
          </a:p>
          <a:p>
            <a:pPr marL="361950" indent="-361950" eaLnBrk="1" hangingPunct="1">
              <a:spcBef>
                <a:spcPts val="0"/>
              </a:spcBef>
              <a:buFont typeface="+mj-lt"/>
              <a:buAutoNum type="arabicPeriod"/>
              <a:defRPr/>
            </a:pPr>
            <a:r>
              <a:rPr lang="en-US" altLang="zh-CN" sz="1700" dirty="0" smtClean="0">
                <a:solidFill>
                  <a:srgbClr val="002060"/>
                </a:solidFill>
                <a:ea typeface="宋体" panose="02010600030101010101" pitchFamily="2" charset="-122"/>
                <a:cs typeface="+mn-lt"/>
              </a:rPr>
              <a:t>}</a:t>
            </a:r>
            <a:endParaRPr lang="en-US" altLang="zh-CN" sz="17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algn="l" eaLnBrk="1" hangingPunct="1">
              <a:lnSpc>
                <a:spcPct val="130000"/>
              </a:lnSpc>
              <a:buClr>
                <a:srgbClr val="ED7D31"/>
              </a:buClr>
              <a:buSzTx/>
              <a:buFont typeface="+mj-lt"/>
              <a:buAutoNum type="arabicPeriod"/>
            </a:pPr>
            <a:r>
              <a:rPr lang="zh-CN" altLang="en-US" dirty="0" smtClean="0">
                <a:ea typeface="宋体" panose="02010600030101010101" pitchFamily="2" charset="-122"/>
                <a:sym typeface="+mn-ea"/>
              </a:rPr>
              <a:t>编写Student类，其中包含Computer类型的属性，提供构造器及相关方法，以及say方法用于自我描述。</a:t>
            </a:r>
            <a:endParaRPr lang="zh-CN" altLang="en-US" dirty="0" smtClean="0">
              <a:ea typeface="宋体" panose="02010600030101010101" pitchFamily="2" charset="-122"/>
              <a:sym typeface="+mn-ea"/>
            </a:endParaRPr>
          </a:p>
          <a:p>
            <a:pPr marL="457200" indent="-457200" algn="l" eaLnBrk="1" hangingPunct="1">
              <a:lnSpc>
                <a:spcPct val="130000"/>
              </a:lnSpc>
              <a:buClr>
                <a:srgbClr val="ED7D31"/>
              </a:buClr>
              <a:buSzTx/>
              <a:buFont typeface="+mj-lt"/>
              <a:buAutoNum type="arabicPeriod"/>
            </a:pPr>
            <a:r>
              <a:rPr lang="zh-CN" altLang="en-US" dirty="0" smtClean="0">
                <a:ea typeface="宋体" panose="02010600030101010101" pitchFamily="2" charset="-122"/>
                <a:sym typeface="+mn-ea"/>
              </a:rPr>
              <a:t>编写Test类，在main方法中创建Student对象，调用say方法打印输出结果。</a:t>
            </a:r>
            <a:endParaRPr lang="zh-CN" altLang="en-US" dirty="0" smtClean="0">
              <a:ea typeface="宋体" panose="02010600030101010101" pitchFamily="2" charset="-122"/>
            </a:endParaRPr>
          </a:p>
          <a:p>
            <a:pPr marL="457200" indent="-457200" algn="l" eaLnBrk="1" hangingPunct="1">
              <a:lnSpc>
                <a:spcPct val="130000"/>
              </a:lnSpc>
              <a:buClr>
                <a:srgbClr val="ED7D31"/>
              </a:buClr>
              <a:buSzTx/>
              <a:buFont typeface="+mj-lt"/>
              <a:buAutoNum type="arabicPeriod"/>
            </a:pPr>
            <a:endParaRPr lang="en-US" altLang="zh-CN" dirty="0">
              <a:ea typeface="宋体" panose="02010600030101010101" pitchFamily="2" charset="-122"/>
              <a:cs typeface="+mn-lt"/>
            </a:endParaRPr>
          </a:p>
          <a:p>
            <a:pPr marL="457200" indent="-457200" eaLnBrk="1" hangingPunct="1">
              <a:lnSpc>
                <a:spcPct val="130000"/>
              </a:lnSpc>
              <a:buClr>
                <a:srgbClr val="ED7D31"/>
              </a:buClr>
              <a:buFont typeface="+mj-lt"/>
              <a:buAutoNum type="arabicPeriod"/>
            </a:pPr>
            <a:endParaRPr lang="zh-CN" altLang="en-US" dirty="0">
              <a:ea typeface="宋体" panose="02010600030101010101" pitchFamily="2" charset="-122"/>
            </a:endParaRPr>
          </a:p>
          <a:p>
            <a:pPr eaLnBrk="1" hangingPunct="1">
              <a:lnSpc>
                <a:spcPct val="130000"/>
              </a:lnSpc>
              <a:buClr>
                <a:srgbClr val="ED7D31"/>
              </a:buClr>
              <a:buFont typeface="Wingdings" panose="05000000000000000000" charset="0"/>
              <a:buChar char="Ø"/>
            </a:pPr>
            <a:endParaRPr lang="zh-CN" altLang="en-US" sz="2000" dirty="0">
              <a:ea typeface="宋体" panose="02010600030101010101" pitchFamily="2" charset="-122"/>
              <a:sym typeface="+mn-ea"/>
            </a:endParaRPr>
          </a:p>
          <a:p>
            <a:pPr marL="0" indent="0" eaLnBrk="1" hangingPunct="1">
              <a:lnSpc>
                <a:spcPct val="130000"/>
              </a:lnSpc>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1313815" y="3137535"/>
            <a:ext cx="964057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使用Object类</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Object类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906645"/>
          </a:xfrm>
        </p:spPr>
        <p:txBody>
          <a:bodyPr>
            <a:normAutofit lnSpcReduction="10000"/>
          </a:bodyPr>
          <a:p>
            <a:pPr marL="457200" indent="-457200" algn="l" eaLnBrk="1" hangingPunct="1">
              <a:lnSpc>
                <a:spcPct val="130000"/>
              </a:lnSpc>
              <a:buClr>
                <a:srgbClr val="ED7D31"/>
              </a:buClr>
              <a:buSzTx/>
              <a:buFont typeface="+mj-lt"/>
              <a:buAutoNum type="arabicPeriod"/>
            </a:pPr>
            <a:r>
              <a:rPr lang="en-US" altLang="zh-CN" dirty="0" smtClean="0">
                <a:ea typeface="宋体" panose="02010600030101010101" pitchFamily="2" charset="-122"/>
                <a:sym typeface="+mn-ea"/>
              </a:rPr>
              <a:t>Object</a:t>
            </a:r>
            <a:r>
              <a:rPr lang="zh-CN" altLang="en-US" dirty="0" smtClean="0">
                <a:ea typeface="宋体" panose="02010600030101010101" pitchFamily="2" charset="-122"/>
                <a:sym typeface="+mn-ea"/>
              </a:rPr>
              <a:t>类是所有类的根类或者称为父类。</a:t>
            </a:r>
            <a:endParaRPr lang="zh-CN" altLang="en-US" dirty="0" smtClean="0">
              <a:ea typeface="宋体" panose="02010600030101010101" pitchFamily="2" charset="-122"/>
              <a:sym typeface="+mn-ea"/>
            </a:endParaRPr>
          </a:p>
          <a:p>
            <a:pPr marL="457200" indent="-457200" algn="l" eaLnBrk="1" hangingPunct="1">
              <a:lnSpc>
                <a:spcPct val="130000"/>
              </a:lnSpc>
              <a:buClr>
                <a:srgbClr val="ED7D31"/>
              </a:buClr>
              <a:buSzTx/>
              <a:buFont typeface="+mj-lt"/>
              <a:buAutoNum type="arabicPeriod"/>
            </a:pPr>
            <a:r>
              <a:rPr lang="zh-CN" altLang="en-US" dirty="0" smtClean="0">
                <a:ea typeface="宋体" panose="02010600030101010101" pitchFamily="2" charset="-122"/>
                <a:sym typeface="+mn-ea"/>
              </a:rPr>
              <a:t>如果声明类时未使用</a:t>
            </a:r>
            <a:r>
              <a:rPr lang="en-US" altLang="zh-CN" dirty="0" smtClean="0">
                <a:ea typeface="宋体" panose="02010600030101010101" pitchFamily="2" charset="-122"/>
                <a:sym typeface="+mn-ea"/>
              </a:rPr>
              <a:t>extends</a:t>
            </a:r>
            <a:r>
              <a:rPr lang="zh-CN" altLang="en-US" dirty="0" smtClean="0">
                <a:ea typeface="宋体" panose="02010600030101010101" pitchFamily="2" charset="-122"/>
                <a:sym typeface="+mn-ea"/>
              </a:rPr>
              <a:t>，则该类缺省继承</a:t>
            </a:r>
            <a:r>
              <a:rPr lang="en-US" altLang="zh-CN" dirty="0" smtClean="0">
                <a:ea typeface="宋体" panose="02010600030101010101" pitchFamily="2" charset="-122"/>
                <a:sym typeface="+mn-ea"/>
              </a:rPr>
              <a:t>Object </a:t>
            </a:r>
            <a:r>
              <a:rPr lang="zh-CN" altLang="en-US" dirty="0" smtClean="0">
                <a:ea typeface="宋体" panose="02010600030101010101" pitchFamily="2" charset="-122"/>
                <a:sym typeface="+mn-ea"/>
              </a:rPr>
              <a:t>类。</a:t>
            </a:r>
            <a:endParaRPr lang="en-US" altLang="zh-CN" dirty="0" smtClean="0">
              <a:ea typeface="宋体" panose="02010600030101010101" pitchFamily="2" charset="-122"/>
            </a:endParaRPr>
          </a:p>
          <a:p>
            <a:pPr marL="819150" lvl="1" indent="-361950">
              <a:buFont typeface="Times" pitchFamily="18" charset="0"/>
              <a:buChar char="•"/>
              <a:defRPr/>
            </a:pPr>
            <a:r>
              <a:rPr lang="zh-CN" altLang="en-US" sz="2000" dirty="0" smtClean="0">
                <a:solidFill>
                  <a:srgbClr val="ED7D31"/>
                </a:solidFill>
                <a:ea typeface="宋体" panose="02010600030101010101" pitchFamily="2" charset="-122"/>
                <a:sym typeface="+mn-ea"/>
              </a:rPr>
              <a:t>例如：</a:t>
            </a:r>
            <a:endParaRPr lang="en-US" altLang="zh-CN" sz="2000" dirty="0" smtClean="0">
              <a:solidFill>
                <a:srgbClr val="ED7D31"/>
              </a:solidFill>
              <a:ea typeface="宋体" panose="02010600030101010101" pitchFamily="2" charset="-122"/>
            </a:endParaRPr>
          </a:p>
          <a:p>
            <a:pPr marL="1162050" lvl="2" indent="-361950">
              <a:buFont typeface="Times" pitchFamily="18" charset="0"/>
              <a:buNone/>
              <a:defRPr/>
            </a:pPr>
            <a:r>
              <a:rPr lang="en-US" altLang="zh-CN" sz="2160" dirty="0" smtClean="0">
                <a:solidFill>
                  <a:srgbClr val="ED7D31"/>
                </a:solidFill>
                <a:ea typeface="宋体" panose="02010600030101010101" pitchFamily="2" charset="-122"/>
                <a:sym typeface="+mn-ea"/>
              </a:rPr>
              <a:t>public class Student{</a:t>
            </a:r>
            <a:endParaRPr lang="en-US" altLang="zh-CN" sz="2160" dirty="0" smtClean="0">
              <a:solidFill>
                <a:srgbClr val="ED7D31"/>
              </a:solidFill>
              <a:ea typeface="宋体" panose="02010600030101010101" pitchFamily="2" charset="-122"/>
            </a:endParaRPr>
          </a:p>
          <a:p>
            <a:pPr marL="1162050" lvl="2" indent="-361950">
              <a:buFont typeface="Times" pitchFamily="18" charset="0"/>
              <a:buNone/>
              <a:defRPr/>
            </a:pPr>
            <a:r>
              <a:rPr lang="en-US" altLang="zh-CN" sz="2160" dirty="0" smtClean="0">
                <a:solidFill>
                  <a:srgbClr val="ED7D31"/>
                </a:solidFill>
                <a:ea typeface="宋体" panose="02010600030101010101" pitchFamily="2" charset="-122"/>
                <a:sym typeface="+mn-ea"/>
              </a:rPr>
              <a:t>	//……</a:t>
            </a:r>
            <a:endParaRPr lang="en-US" altLang="zh-CN" sz="2160" dirty="0" smtClean="0">
              <a:solidFill>
                <a:srgbClr val="ED7D31"/>
              </a:solidFill>
              <a:ea typeface="宋体" panose="02010600030101010101" pitchFamily="2" charset="-122"/>
            </a:endParaRPr>
          </a:p>
          <a:p>
            <a:pPr marL="1162050" lvl="2" indent="-361950">
              <a:buFont typeface="Times" pitchFamily="18" charset="0"/>
              <a:buNone/>
              <a:defRPr/>
            </a:pPr>
            <a:r>
              <a:rPr lang="en-US" altLang="zh-CN" sz="2160" dirty="0" smtClean="0">
                <a:solidFill>
                  <a:srgbClr val="ED7D31"/>
                </a:solidFill>
                <a:ea typeface="宋体" panose="02010600030101010101" pitchFamily="2" charset="-122"/>
                <a:sym typeface="+mn-ea"/>
              </a:rPr>
              <a:t>}</a:t>
            </a:r>
            <a:endParaRPr lang="en-US" altLang="zh-CN" sz="2160" dirty="0" smtClean="0">
              <a:solidFill>
                <a:srgbClr val="ED7D31"/>
              </a:solidFill>
              <a:ea typeface="宋体" panose="02010600030101010101" pitchFamily="2" charset="-122"/>
            </a:endParaRPr>
          </a:p>
          <a:p>
            <a:pPr marL="1162050" lvl="2" indent="-361950">
              <a:buFont typeface="Times" pitchFamily="18" charset="0"/>
              <a:buNone/>
              <a:defRPr/>
            </a:pPr>
            <a:r>
              <a:rPr lang="zh-CN" altLang="en-US" sz="2160" dirty="0" smtClean="0">
                <a:solidFill>
                  <a:srgbClr val="ED7D31"/>
                </a:solidFill>
                <a:ea typeface="宋体" panose="02010600030101010101" pitchFamily="2" charset="-122"/>
                <a:sym typeface="+mn-ea"/>
              </a:rPr>
              <a:t>等同于：</a:t>
            </a:r>
            <a:endParaRPr lang="zh-CN" altLang="en-US" sz="2160" dirty="0" smtClean="0">
              <a:solidFill>
                <a:srgbClr val="ED7D31"/>
              </a:solidFill>
              <a:ea typeface="宋体" panose="02010600030101010101" pitchFamily="2" charset="-122"/>
            </a:endParaRPr>
          </a:p>
          <a:p>
            <a:pPr marL="1162050" lvl="2" indent="-361950">
              <a:buFont typeface="Times" pitchFamily="18" charset="0"/>
              <a:buNone/>
              <a:defRPr/>
            </a:pPr>
            <a:r>
              <a:rPr lang="en-US" altLang="zh-CN" sz="2160" dirty="0" smtClean="0">
                <a:solidFill>
                  <a:srgbClr val="ED7D31"/>
                </a:solidFill>
                <a:ea typeface="宋体" panose="02010600030101010101" pitchFamily="2" charset="-122"/>
                <a:sym typeface="+mn-ea"/>
              </a:rPr>
              <a:t>public class Student</a:t>
            </a:r>
            <a:r>
              <a:rPr lang="en-US" altLang="zh-CN" sz="2160" dirty="0" smtClean="0">
                <a:solidFill>
                  <a:srgbClr val="FF0000"/>
                </a:solidFill>
                <a:ea typeface="宋体" panose="02010600030101010101" pitchFamily="2" charset="-122"/>
                <a:sym typeface="+mn-ea"/>
              </a:rPr>
              <a:t> </a:t>
            </a:r>
            <a:r>
              <a:rPr lang="en-US" altLang="zh-CN" sz="2160" b="1" dirty="0" smtClean="0">
                <a:solidFill>
                  <a:srgbClr val="FF0000"/>
                </a:solidFill>
                <a:ea typeface="宋体" panose="02010600030101010101" pitchFamily="2" charset="-122"/>
                <a:sym typeface="+mn-ea"/>
              </a:rPr>
              <a:t>extends Object </a:t>
            </a:r>
            <a:r>
              <a:rPr lang="en-US" altLang="zh-CN" sz="2160" dirty="0" smtClean="0">
                <a:solidFill>
                  <a:srgbClr val="ED7D31"/>
                </a:solidFill>
                <a:ea typeface="宋体" panose="02010600030101010101" pitchFamily="2" charset="-122"/>
                <a:sym typeface="+mn-ea"/>
              </a:rPr>
              <a:t>{</a:t>
            </a:r>
            <a:endParaRPr lang="en-US" altLang="zh-CN" sz="2160" dirty="0" smtClean="0">
              <a:solidFill>
                <a:srgbClr val="ED7D31"/>
              </a:solidFill>
              <a:ea typeface="宋体" panose="02010600030101010101" pitchFamily="2" charset="-122"/>
            </a:endParaRPr>
          </a:p>
          <a:p>
            <a:pPr marL="1162050" lvl="2" indent="-361950">
              <a:buFont typeface="Times" pitchFamily="18" charset="0"/>
              <a:buNone/>
              <a:defRPr/>
            </a:pPr>
            <a:r>
              <a:rPr lang="en-US" altLang="zh-CN" sz="2160" dirty="0" smtClean="0">
                <a:solidFill>
                  <a:srgbClr val="ED7D31"/>
                </a:solidFill>
                <a:ea typeface="宋体" panose="02010600030101010101" pitchFamily="2" charset="-122"/>
                <a:sym typeface="+mn-ea"/>
              </a:rPr>
              <a:t>	//……</a:t>
            </a:r>
            <a:endParaRPr lang="en-US" altLang="zh-CN" sz="2160" dirty="0" smtClean="0">
              <a:solidFill>
                <a:srgbClr val="ED7D31"/>
              </a:solidFill>
              <a:ea typeface="宋体" panose="02010600030101010101" pitchFamily="2" charset="-122"/>
            </a:endParaRPr>
          </a:p>
          <a:p>
            <a:pPr marL="1162050" lvl="2" indent="-361950">
              <a:buFont typeface="Times" pitchFamily="18" charset="0"/>
              <a:buNone/>
              <a:defRPr/>
            </a:pPr>
            <a:r>
              <a:rPr lang="en-US" altLang="zh-CN" sz="2160" dirty="0" smtClean="0">
                <a:solidFill>
                  <a:srgbClr val="ED7D31"/>
                </a:solidFill>
                <a:ea typeface="宋体" panose="02010600030101010101" pitchFamily="2" charset="-122"/>
                <a:sym typeface="+mn-ea"/>
              </a:rPr>
              <a:t>}</a:t>
            </a:r>
            <a:endParaRPr lang="en-US" altLang="zh-CN" sz="2160" dirty="0" smtClean="0">
              <a:solidFill>
                <a:srgbClr val="ED7D31"/>
              </a:solidFill>
              <a:ea typeface="宋体" panose="02010600030101010101" pitchFamily="2" charset="-122"/>
              <a:sym typeface="+mn-ea"/>
            </a:endParaRPr>
          </a:p>
          <a:p>
            <a:pPr marL="1162050" lvl="2" indent="-361950">
              <a:buFont typeface="Times" pitchFamily="18" charset="0"/>
              <a:buNone/>
              <a:defRPr/>
            </a:pPr>
            <a:endParaRPr lang="zh-CN" altLang="en-US" sz="1665"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zh-CN" altLang="en-US" sz="2000" dirty="0">
              <a:ea typeface="宋体" panose="02010600030101010101" pitchFamily="2" charset="-122"/>
            </a:endParaRPr>
          </a:p>
          <a:p>
            <a:pPr marL="704850" lvl="1" indent="-361950" eaLnBrk="1" hangingPunct="1">
              <a:lnSpc>
                <a:spcPct val="130000"/>
              </a:lnSpc>
              <a:buFont typeface="Times"/>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Object类</a:t>
            </a:r>
            <a:r>
              <a:rPr lang="zh-CN" altLang="en-US" sz="2400" smtClean="0">
                <a:ea typeface="宋体" panose="02010600030101010101" pitchFamily="2" charset="-122"/>
                <a:sym typeface="+mn-ea"/>
              </a:rPr>
              <a:t>的方法</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860425"/>
            <a:ext cx="10374630" cy="4906645"/>
          </a:xfrm>
        </p:spPr>
        <p:txBody>
          <a:bodyPr>
            <a:noAutofit/>
          </a:bodyPr>
          <a:p>
            <a:pPr marL="457200" indent="-457200" algn="l" eaLnBrk="1" hangingPunct="1">
              <a:lnSpc>
                <a:spcPct val="130000"/>
              </a:lnSpc>
              <a:buClr>
                <a:srgbClr val="ED7D31"/>
              </a:buClr>
              <a:buSzTx/>
              <a:buFont typeface="+mj-lt"/>
              <a:buAutoNum type="arabicPeriod"/>
            </a:pPr>
            <a:r>
              <a:rPr lang="zh-CN" altLang="en-US" sz="2000" dirty="0" smtClean="0">
                <a:ea typeface="宋体" panose="02010600030101010101" pitchFamily="2" charset="-122"/>
                <a:sym typeface="+mn-ea"/>
              </a:rPr>
              <a:t>Object类中</a:t>
            </a:r>
            <a:r>
              <a:rPr lang="zh-CN" altLang="en-US" sz="2000" dirty="0" smtClean="0">
                <a:ea typeface="宋体" panose="02010600030101010101" pitchFamily="2" charset="-122"/>
                <a:sym typeface="+mn-ea"/>
              </a:rPr>
              <a:t>toString和equals方法</a:t>
            </a:r>
            <a:r>
              <a:rPr lang="zh-CN" altLang="en-US" sz="2000" dirty="0" smtClean="0">
                <a:ea typeface="宋体" panose="02010600030101010101" pitchFamily="2" charset="-122"/>
                <a:sym typeface="+mn-ea"/>
              </a:rPr>
              <a:t>：</a:t>
            </a:r>
            <a:endParaRPr lang="zh-CN" altLang="en-US" sz="2000" dirty="0" smtClean="0">
              <a:ea typeface="宋体" panose="02010600030101010101" pitchFamily="2" charset="-122"/>
              <a:sym typeface="+mn-ea"/>
            </a:endParaRPr>
          </a:p>
          <a:p>
            <a:pPr marL="0" indent="457200" algn="l" eaLnBrk="1" hangingPunct="1">
              <a:lnSpc>
                <a:spcPct val="130000"/>
              </a:lnSpc>
              <a:buClr>
                <a:srgbClr val="ED7D31"/>
              </a:buClr>
              <a:buSzTx/>
              <a:buFont typeface="+mj-lt"/>
              <a:buNone/>
            </a:pPr>
            <a:r>
              <a:rPr lang="zh-CN" altLang="en-US" sz="2000" dirty="0" smtClean="0">
                <a:ea typeface="宋体" panose="02010600030101010101" pitchFamily="2" charset="-122"/>
                <a:sym typeface="+mn-ea"/>
              </a:rPr>
              <a:t>1. public String toString() 返回该对象的字符串表示。</a:t>
            </a:r>
            <a:endParaRPr lang="zh-CN" altLang="en-US" sz="2000" dirty="0" smtClean="0">
              <a:ea typeface="宋体" panose="02010600030101010101" pitchFamily="2" charset="-122"/>
              <a:sym typeface="+mn-ea"/>
            </a:endParaRPr>
          </a:p>
          <a:p>
            <a:pPr marL="0" indent="457200" algn="l" eaLnBrk="1" hangingPunct="1">
              <a:lnSpc>
                <a:spcPct val="130000"/>
              </a:lnSpc>
              <a:buClr>
                <a:srgbClr val="ED7D31"/>
              </a:buClr>
              <a:buSzTx/>
              <a:buFont typeface="+mj-lt"/>
              <a:buNone/>
            </a:pPr>
            <a:r>
              <a:rPr lang="zh-CN" altLang="en-US" sz="2000" dirty="0" smtClean="0">
                <a:ea typeface="宋体" panose="02010600030101010101" pitchFamily="2" charset="-122"/>
                <a:sym typeface="+mn-ea"/>
              </a:rPr>
              <a:t>2. public boolean equals(Object obj) 判断两个对象的地址是否相同。</a:t>
            </a:r>
            <a:endParaRPr lang="zh-CN" altLang="en-US" sz="2000" dirty="0" smtClean="0">
              <a:ea typeface="宋体" panose="02010600030101010101" pitchFamily="2" charset="-122"/>
              <a:sym typeface="+mn-ea"/>
            </a:endParaRPr>
          </a:p>
          <a:p>
            <a:pPr marL="1162050" lvl="2" indent="-361950">
              <a:buFont typeface="Times" pitchFamily="18" charset="0"/>
              <a:buNone/>
              <a:defRPr/>
            </a:pPr>
            <a:endParaRPr lang="en-US" altLang="zh-CN" sz="2000" dirty="0" smtClean="0">
              <a:solidFill>
                <a:srgbClr val="ED7D31"/>
              </a:solidFill>
              <a:ea typeface="宋体" panose="02010600030101010101" pitchFamily="2" charset="-122"/>
            </a:endParaRPr>
          </a:p>
          <a:p>
            <a:pPr marL="457200" indent="-457200" algn="l" eaLnBrk="1" hangingPunct="1">
              <a:lnSpc>
                <a:spcPct val="130000"/>
              </a:lnSpc>
              <a:buClr>
                <a:srgbClr val="ED7D31"/>
              </a:buClr>
              <a:buSzTx/>
              <a:buFont typeface="+mj-lt"/>
              <a:buAutoNum type="arabicPeriod"/>
            </a:pPr>
            <a:endParaRPr lang="en-US" altLang="zh-CN" sz="1400" dirty="0">
              <a:ea typeface="宋体" panose="02010600030101010101" pitchFamily="2" charset="-122"/>
              <a:cs typeface="+mn-lt"/>
            </a:endParaRPr>
          </a:p>
          <a:p>
            <a:pPr marL="0" indent="0" eaLnBrk="1" hangingPunct="1">
              <a:lnSpc>
                <a:spcPct val="130000"/>
              </a:lnSpc>
              <a:buClr>
                <a:srgbClr val="ED7D31"/>
              </a:buClr>
              <a:buFont typeface="+mj-lt"/>
              <a:buNone/>
            </a:pPr>
            <a:endParaRPr sz="1400"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sz="14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Object类</a:t>
            </a:r>
            <a:r>
              <a:rPr lang="zh-CN" altLang="en-US" sz="2400" smtClean="0">
                <a:ea typeface="宋体" panose="02010600030101010101" pitchFamily="2" charset="-122"/>
                <a:sym typeface="+mn-ea"/>
              </a:rPr>
              <a:t>的方法</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860425"/>
            <a:ext cx="9527540" cy="4906645"/>
          </a:xfrm>
        </p:spPr>
        <p:txBody>
          <a:bodyPr>
            <a:normAutofit/>
          </a:bodyPr>
          <a:p>
            <a:pPr marL="457200" indent="-457200" algn="l" eaLnBrk="1" hangingPunct="1">
              <a:lnSpc>
                <a:spcPct val="130000"/>
              </a:lnSpc>
              <a:buClr>
                <a:srgbClr val="ED7D31"/>
              </a:buClr>
              <a:buSzTx/>
              <a:buFont typeface="+mj-lt"/>
              <a:buAutoNum type="arabicPeriod"/>
            </a:pPr>
            <a:r>
              <a:rPr sz="3600" dirty="0" smtClean="0">
                <a:ea typeface="宋体" panose="02010600030101010101" pitchFamily="2" charset="-122"/>
                <a:sym typeface="+mn-ea"/>
              </a:rPr>
              <a:t>native</a:t>
            </a:r>
            <a:r>
              <a:rPr lang="zh-CN" sz="3600" dirty="0" smtClean="0">
                <a:ea typeface="宋体" panose="02010600030101010101" pitchFamily="2" charset="-122"/>
                <a:sym typeface="+mn-ea"/>
              </a:rPr>
              <a:t>和</a:t>
            </a:r>
            <a:r>
              <a:rPr lang="en-US" altLang="zh-CN" sz="3600" dirty="0" smtClean="0">
                <a:ea typeface="宋体" panose="02010600030101010101" pitchFamily="2" charset="-122"/>
                <a:sym typeface="+mn-ea"/>
              </a:rPr>
              <a:t>final</a:t>
            </a:r>
            <a:r>
              <a:rPr sz="3600" dirty="0" smtClean="0">
                <a:ea typeface="宋体" panose="02010600030101010101" pitchFamily="2" charset="-122"/>
                <a:sym typeface="+mn-ea"/>
              </a:rPr>
              <a:t>关键字</a:t>
            </a:r>
            <a:r>
              <a:rPr lang="zh-CN" sz="3600" dirty="0" smtClean="0">
                <a:ea typeface="宋体" panose="02010600030101010101" pitchFamily="2" charset="-122"/>
                <a:sym typeface="+mn-ea"/>
              </a:rPr>
              <a:t>的（简单理解</a:t>
            </a:r>
            <a:endParaRPr lang="zh-CN" sz="3600" dirty="0" smtClean="0">
              <a:ea typeface="宋体" panose="02010600030101010101" pitchFamily="2" charset="-122"/>
              <a:sym typeface="+mn-ea"/>
            </a:endParaRPr>
          </a:p>
          <a:p>
            <a:pPr lvl="1" algn="l" eaLnBrk="1" hangingPunct="1">
              <a:lnSpc>
                <a:spcPct val="130000"/>
              </a:lnSpc>
              <a:buClr>
                <a:srgbClr val="ED7D31"/>
              </a:buClr>
              <a:buSzTx/>
              <a:buFont typeface="Arial" panose="020B0604020202020204" pitchFamily="34" charset="0"/>
              <a:buChar char="•"/>
            </a:pPr>
            <a:r>
              <a:rPr lang="zh-CN" dirty="0" smtClean="0">
                <a:ea typeface="宋体" panose="02010600030101010101" pitchFamily="2" charset="-122"/>
                <a:sym typeface="+mn-ea"/>
              </a:rPr>
              <a:t>native代表本地方法，所有用native修饰的方法都没有方法体。Java不是完美的，Java的不足除了体现在运行速度上要比传统的C++慢之外，Java无法直接访问到操作系统底层（如系统硬件等)，为此Java使用native方法来扩展Java程序的功能。可以将native方法比作Java程序同C程序的接口，使用native修饰的方法来访问底层的操作系统。</a:t>
            </a:r>
            <a:endParaRPr lang="zh-CN" dirty="0" smtClean="0">
              <a:ea typeface="宋体" panose="02010600030101010101" pitchFamily="2" charset="-122"/>
              <a:sym typeface="+mn-ea"/>
            </a:endParaRPr>
          </a:p>
          <a:p>
            <a:pPr lvl="1" algn="l" eaLnBrk="1" hangingPunct="1">
              <a:lnSpc>
                <a:spcPct val="130000"/>
              </a:lnSpc>
              <a:buClr>
                <a:srgbClr val="ED7D31"/>
              </a:buClr>
              <a:buSzTx/>
              <a:buFont typeface="Arial" panose="020B0604020202020204" pitchFamily="34" charset="0"/>
              <a:buChar char="•"/>
            </a:pPr>
            <a:r>
              <a:rPr lang="zh-CN" dirty="0" smtClean="0">
                <a:ea typeface="宋体" panose="02010600030101010101" pitchFamily="2" charset="-122"/>
                <a:sym typeface="+mn-ea"/>
              </a:rPr>
              <a:t>Java中的任何类都继承了</a:t>
            </a:r>
            <a:r>
              <a:rPr lang="en-US" altLang="zh-CN" dirty="0" smtClean="0">
                <a:ea typeface="宋体" panose="02010600030101010101" pitchFamily="2" charset="-122"/>
                <a:sym typeface="+mn-ea"/>
              </a:rPr>
              <a:t>Object</a:t>
            </a:r>
            <a:r>
              <a:rPr lang="zh-CN" altLang="en-US" dirty="0" smtClean="0">
                <a:ea typeface="宋体" panose="02010600030101010101" pitchFamily="2" charset="-122"/>
                <a:sym typeface="+mn-ea"/>
              </a:rPr>
              <a:t>的</a:t>
            </a:r>
            <a:r>
              <a:rPr lang="zh-CN" dirty="0" smtClean="0">
                <a:ea typeface="宋体" panose="02010600030101010101" pitchFamily="2" charset="-122"/>
                <a:sym typeface="+mn-ea"/>
              </a:rPr>
              <a:t>方法，并且可以重写不被final修饰的方法（</a:t>
            </a:r>
            <a:r>
              <a:rPr lang="en-US" altLang="zh-CN" dirty="0" smtClean="0">
                <a:ea typeface="宋体" panose="02010600030101010101" pitchFamily="2" charset="-122"/>
                <a:sym typeface="+mn-ea"/>
              </a:rPr>
              <a:t>final</a:t>
            </a:r>
            <a:r>
              <a:rPr lang="zh-CN" altLang="en-US" dirty="0" smtClean="0">
                <a:ea typeface="宋体" panose="02010600030101010101" pitchFamily="2" charset="-122"/>
                <a:sym typeface="+mn-ea"/>
              </a:rPr>
              <a:t>后面专项讲解</a:t>
            </a:r>
            <a:r>
              <a:rPr lang="zh-CN" dirty="0" smtClean="0">
                <a:ea typeface="宋体" panose="02010600030101010101" pitchFamily="2" charset="-122"/>
                <a:sym typeface="+mn-ea"/>
              </a:rPr>
              <a:t>）</a:t>
            </a: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zh-CN" altLang="en-US" dirty="0">
              <a:ea typeface="宋体" panose="02010600030101010101" pitchFamily="2" charset="-122"/>
              <a:sym typeface="+mn-ea"/>
            </a:endParaRPr>
          </a:p>
          <a:p>
            <a:pPr marL="457200" indent="-457200" eaLnBrk="1" hangingPunct="1">
              <a:lnSpc>
                <a:spcPct val="130000"/>
              </a:lnSpc>
              <a:buClr>
                <a:srgbClr val="ED7D31"/>
              </a:buClr>
              <a:buFont typeface="+mj-lt"/>
              <a:buAutoNum type="arabicPeriod"/>
            </a:pPr>
            <a:endParaRPr dirty="0">
              <a:ea typeface="宋体" panose="02010600030101010101" pitchFamily="2" charset="-122"/>
              <a:sym typeface="+mn-ea"/>
            </a:endParaRPr>
          </a:p>
          <a:p>
            <a:pPr marL="0" indent="0" eaLnBrk="1" hangingPunct="1">
              <a:lnSpc>
                <a:spcPct val="140000"/>
              </a:lnSpc>
              <a:buClr>
                <a:srgbClr val="ED7D31"/>
              </a:buClr>
              <a:buFont typeface="+mj-lt"/>
              <a:buNone/>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toString</a:t>
            </a:r>
            <a:endParaRPr lang="en-US" altLang="zh-CN" sz="2400" smtClean="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1172210" y="882015"/>
            <a:ext cx="9011920" cy="5093970"/>
          </a:xfrm>
        </p:spPr>
        <p:txBody>
          <a:bodyPr>
            <a:noAutofit/>
          </a:bodyPr>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public class Cat {</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    private String name;</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    private int age;</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    public Cat(String name, int age) {</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        this.name = name;</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        this.age = age;</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    }</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    @Override</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    public String toString() {</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        return "名称：" + name + "age :" +age;</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    }</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700" dirty="0" smtClean="0">
                <a:solidFill>
                  <a:srgbClr val="002060"/>
                </a:solidFill>
                <a:ea typeface="宋体" panose="02010600030101010101" pitchFamily="2" charset="-122"/>
                <a:cs typeface="+mn-lt"/>
              </a:rPr>
              <a:t>}</a:t>
            </a:r>
            <a:endParaRPr lang="en-US" altLang="zh-CN" sz="7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class Test{</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public static void main(String[] args) {</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Cat cat = new Cat("小花",20);</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System.out.println(</a:t>
            </a:r>
            <a:r>
              <a:rPr lang="en-US" altLang="zh-CN" sz="1200" dirty="0" smtClean="0">
                <a:solidFill>
                  <a:srgbClr val="FF0000"/>
                </a:solidFill>
                <a:ea typeface="宋体" panose="02010600030101010101" pitchFamily="2" charset="-122"/>
                <a:cs typeface="+mn-lt"/>
              </a:rPr>
              <a:t>cat</a:t>
            </a:r>
            <a:r>
              <a:rPr lang="en-US" altLang="zh-CN" sz="1200" dirty="0" smtClean="0">
                <a:solidFill>
                  <a:srgbClr val="002060"/>
                </a:solidFill>
                <a:ea typeface="宋体" panose="02010600030101010101" pitchFamily="2" charset="-122"/>
                <a:cs typeface="+mn-lt"/>
              </a:rPr>
              <a:t>);//输出对象，就相当于调用了对象的toString方法</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System.out.println(cat.</a:t>
            </a:r>
            <a:r>
              <a:rPr lang="en-US" altLang="zh-CN" sz="1200" dirty="0" smtClean="0">
                <a:solidFill>
                  <a:srgbClr val="FF0000"/>
                </a:solidFill>
                <a:ea typeface="宋体" panose="02010600030101010101" pitchFamily="2" charset="-122"/>
                <a:cs typeface="+mn-lt"/>
              </a:rPr>
              <a:t>toString</a:t>
            </a:r>
            <a:r>
              <a:rPr lang="en-US" altLang="zh-CN" sz="1200" dirty="0" smtClean="0">
                <a:solidFill>
                  <a:srgbClr val="002060"/>
                </a:solidFill>
                <a:ea typeface="宋体" panose="02010600030101010101" pitchFamily="2" charset="-122"/>
                <a:cs typeface="+mn-lt"/>
              </a:rPr>
              <a:t>());</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Cat cat1 = new Cat("小花",20);</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System.out.println(cat == cat1);//对比的是引用地址是否相等</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//在实际的开发过程中，经常对比对象中的属性值是否相等</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a:t>
            </a:r>
            <a:endParaRPr lang="en-US" altLang="zh-CN" sz="12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equals</a:t>
            </a:r>
            <a:endParaRPr lang="en-US" altLang="zh-CN" sz="2400" smtClean="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1172210" y="882015"/>
            <a:ext cx="9011920" cy="5093970"/>
          </a:xfrm>
        </p:spPr>
        <p:txBody>
          <a:bodyPr>
            <a:noAutofit/>
          </a:bodyPr>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public class Cat {</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private String name;</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private int age;</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public Cat(String name, int age) {</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this.name = name;</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this.age = age;</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public boolean equals(Object o) {</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if (this == o) {return true;}//当前对象与传入对象地址是否相等</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if (o == null || o.getClass() != this.getClass()) {return false;}//等于null或字节码不相等</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if (o instanceof Cat) {</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Cat cat = (Cat)o;</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return this.name.equals(cat.name) &amp;&amp; this.age == cat.age;</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return false;</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@Override</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public String toString() {</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return "名称：" + name + "age :" +age;</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    }</a:t>
            </a:r>
            <a:endParaRPr lang="en-US" altLang="zh-CN" sz="12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200" dirty="0" smtClean="0">
                <a:solidFill>
                  <a:srgbClr val="002060"/>
                </a:solidFill>
                <a:ea typeface="宋体" panose="02010600030101010101" pitchFamily="2" charset="-122"/>
                <a:cs typeface="+mn-lt"/>
              </a:rPr>
              <a:t>}</a:t>
            </a:r>
            <a:endParaRPr lang="en-US" altLang="zh-CN" sz="12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equals</a:t>
            </a:r>
            <a:endParaRPr lang="en-US" altLang="zh-CN" sz="2400" smtClean="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1172210" y="1318895"/>
            <a:ext cx="9011920" cy="5093970"/>
          </a:xfrm>
        </p:spPr>
        <p:txBody>
          <a:bodyPr>
            <a:noAutofit/>
          </a:bodyPr>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class Test{</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public static void main(String[] args) {</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Cat cat = new Cat("小花",20);</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Cat cat1 = new Cat("小花",20);</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System.out.println(cat.equals(cat1));</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    }</a:t>
            </a:r>
            <a:endParaRPr lang="en-US" altLang="zh-CN" sz="16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600" dirty="0" smtClean="0">
                <a:solidFill>
                  <a:srgbClr val="002060"/>
                </a:solidFill>
                <a:ea typeface="宋体" panose="02010600030101010101" pitchFamily="2" charset="-122"/>
                <a:cs typeface="+mn-lt"/>
              </a:rPr>
              <a:t>}</a:t>
            </a:r>
            <a:endParaRPr lang="en-US" altLang="zh-CN" sz="16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hashCode</a:t>
            </a:r>
            <a:endParaRPr lang="en-US" altLang="zh-CN" sz="2400" smtClean="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1172210" y="882015"/>
            <a:ext cx="9011920" cy="5093970"/>
          </a:xfrm>
        </p:spPr>
        <p:txBody>
          <a:bodyPr>
            <a:noAutofit/>
          </a:bodyPr>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import java.util.Objects;</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public class Cat {</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private String name;</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private int age;</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public Cat(String name, int age) {</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this.name = name;</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this.age = age;</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@Override</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public boolean equals(Object obj) {</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if (this == obj) return true;//地址相等，一定是同一个对象</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 1:obj == null ,如果另一个对象为 null 那么一定为 false</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 2:this.getClass() != obj.getClass()  ，字节码不相等，那么就不是一个类，一定不相等</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if (obj == null || this.getClass() != obj.getClass()) {</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return false;</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Cat cat = (Cat) obj;</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return this.name.equals(cat.name) &amp;&amp; this.age == cat.age;</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@Override</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public int hashCode() {</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return Objects.hash(name, age);</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    }</a:t>
            </a:r>
            <a:endParaRPr lang="en-US" altLang="zh-CN" sz="5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500" dirty="0" smtClean="0">
                <a:solidFill>
                  <a:srgbClr val="002060"/>
                </a:solidFill>
                <a:ea typeface="宋体" panose="02010600030101010101" pitchFamily="2" charset="-122"/>
                <a:cs typeface="+mn-lt"/>
              </a:rPr>
              <a:t>}</a:t>
            </a:r>
            <a:endParaRPr lang="en-US" altLang="zh-CN" sz="5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hashCode</a:t>
            </a:r>
            <a:endParaRPr lang="en-US" altLang="zh-CN" sz="2400" smtClean="0">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1172210" y="882015"/>
            <a:ext cx="9011920" cy="5093970"/>
          </a:xfrm>
        </p:spPr>
        <p:txBody>
          <a:bodyPr>
            <a:noAutofit/>
          </a:bodyPr>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class Test{</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public static void main(String[] args) {</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Cat c1 = new Cat("小花",23);</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Cat c2 = new Cat("小花",23);</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 如果比较两个对象的内容是否相等，可以重写equals方法</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System.out.println(c1.equals(c2));</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 不重写，使用地址值作为hash码，所以不相等</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 重写，就可以自定义字段的值作为hash码，所以相等</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System.out.println("c1.hashCode() = " + c1.hashCode());</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System.out.println("c2.hashCode() = " + c2.hashCode());</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    }</a:t>
            </a:r>
            <a:endParaRPr lang="en-US" altLang="zh-CN" sz="1400" dirty="0" smtClean="0">
              <a:solidFill>
                <a:srgbClr val="002060"/>
              </a:solidFill>
              <a:ea typeface="宋体" panose="02010600030101010101" pitchFamily="2" charset="-122"/>
              <a:cs typeface="+mn-lt"/>
            </a:endParaRPr>
          </a:p>
          <a:p>
            <a:pPr marL="342900" indent="-342900">
              <a:buFont typeface="+mj-lt"/>
              <a:buAutoNum type="arabicPeriod"/>
              <a:defRPr/>
            </a:pPr>
            <a:r>
              <a:rPr lang="en-US" altLang="zh-CN" sz="1400" dirty="0" smtClean="0">
                <a:solidFill>
                  <a:srgbClr val="002060"/>
                </a:solidFill>
                <a:ea typeface="宋体" panose="02010600030101010101" pitchFamily="2" charset="-122"/>
                <a:cs typeface="+mn-lt"/>
              </a:rPr>
              <a:t>}</a:t>
            </a:r>
            <a:endParaRPr lang="en-US" altLang="zh-CN" sz="1400"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9527540" cy="4281170"/>
          </a:xfrm>
        </p:spPr>
        <p:txBody>
          <a:bodyPr>
            <a:normAutofit/>
          </a:bodyPr>
          <a:p>
            <a:pPr marL="457200" indent="-457200" algn="l" eaLnBrk="1" hangingPunct="1">
              <a:lnSpc>
                <a:spcPct val="130000"/>
              </a:lnSpc>
              <a:buClr>
                <a:srgbClr val="ED7D31"/>
              </a:buClr>
              <a:buSzTx/>
              <a:buFont typeface="+mj-lt"/>
              <a:buAutoNum type="arabicPeriod"/>
            </a:pPr>
            <a:r>
              <a:rPr lang="zh-CN" altLang="en-US" dirty="0" smtClean="0">
                <a:ea typeface="宋体" panose="02010600030101010101" pitchFamily="2" charset="-122"/>
                <a:sym typeface="+mn-ea"/>
              </a:rPr>
              <a:t>编写Student类，定义属性name、</a:t>
            </a:r>
            <a:r>
              <a:rPr lang="zh-CN" altLang="en-US" dirty="0" smtClean="0">
                <a:ea typeface="宋体" panose="02010600030101010101" pitchFamily="2" charset="-122"/>
                <a:sym typeface="+mn-ea"/>
              </a:rPr>
              <a:t>age和address</a:t>
            </a:r>
            <a:endParaRPr lang="zh-CN" altLang="en-US" dirty="0" smtClean="0">
              <a:ea typeface="宋体" panose="02010600030101010101" pitchFamily="2" charset="-122"/>
              <a:sym typeface="+mn-ea"/>
            </a:endParaRPr>
          </a:p>
          <a:p>
            <a:pPr marL="457200" indent="-457200" algn="l" eaLnBrk="1" hangingPunct="1">
              <a:lnSpc>
                <a:spcPct val="130000"/>
              </a:lnSpc>
              <a:buClr>
                <a:srgbClr val="ED7D31"/>
              </a:buClr>
              <a:buSzTx/>
              <a:buFont typeface="+mj-lt"/>
              <a:buAutoNum type="arabicPeriod"/>
            </a:pPr>
            <a:r>
              <a:rPr lang="zh-CN" altLang="en-US" dirty="0" smtClean="0">
                <a:ea typeface="宋体" panose="02010600030101010101" pitchFamily="2" charset="-122"/>
                <a:sym typeface="+mn-ea"/>
              </a:rPr>
              <a:t>覆盖Object的toString方法</a:t>
            </a:r>
            <a:r>
              <a:rPr lang="zh-CN" altLang="en-US" dirty="0" smtClean="0">
                <a:ea typeface="宋体" panose="02010600030101010101" pitchFamily="2" charset="-122"/>
                <a:sym typeface="+mn-ea"/>
              </a:rPr>
              <a:t>用于自我描述</a:t>
            </a:r>
            <a:endParaRPr lang="zh-CN" altLang="en-US" dirty="0" smtClean="0">
              <a:ea typeface="宋体" panose="02010600030101010101" pitchFamily="2" charset="-122"/>
              <a:sym typeface="+mn-ea"/>
            </a:endParaRPr>
          </a:p>
          <a:p>
            <a:pPr marL="457200" indent="-457200" algn="l" eaLnBrk="1" hangingPunct="1">
              <a:lnSpc>
                <a:spcPct val="130000"/>
              </a:lnSpc>
              <a:buClr>
                <a:srgbClr val="ED7D31"/>
              </a:buClr>
              <a:buSzTx/>
              <a:buFont typeface="+mj-lt"/>
              <a:buAutoNum type="arabicPeriod"/>
            </a:pPr>
            <a:r>
              <a:rPr lang="zh-CN" altLang="en-US" dirty="0" smtClean="0">
                <a:ea typeface="宋体" panose="02010600030101010101" pitchFamily="2" charset="-122"/>
                <a:sym typeface="+mn-ea"/>
              </a:rPr>
              <a:t>提供构造器为实例变量赋值。</a:t>
            </a:r>
            <a:endParaRPr lang="zh-CN" altLang="en-US" dirty="0" smtClean="0">
              <a:ea typeface="宋体" panose="02010600030101010101" pitchFamily="2" charset="-122"/>
              <a:sym typeface="+mn-ea"/>
            </a:endParaRPr>
          </a:p>
          <a:p>
            <a:pPr marL="457200" indent="-457200" algn="l" eaLnBrk="1" hangingPunct="1">
              <a:lnSpc>
                <a:spcPct val="130000"/>
              </a:lnSpc>
              <a:buClr>
                <a:srgbClr val="ED7D31"/>
              </a:buClr>
              <a:buSzTx/>
              <a:buFont typeface="+mj-lt"/>
              <a:buAutoNum type="arabicPeriod"/>
            </a:pPr>
            <a:r>
              <a:rPr lang="zh-CN" altLang="en-US" dirty="0" smtClean="0">
                <a:ea typeface="宋体" panose="02010600030101010101" pitchFamily="2" charset="-122"/>
                <a:sym typeface="+mn-ea"/>
              </a:rPr>
              <a:t>在Test类的main方法中，创建 Student 对象，并打印该对象。</a:t>
            </a:r>
            <a:endParaRPr lang="zh-CN" altLang="en-US" dirty="0" smtClean="0">
              <a:ea typeface="宋体" panose="02010600030101010101" pitchFamily="2" charset="-122"/>
            </a:endParaRPr>
          </a:p>
          <a:p>
            <a:pPr marL="457200" indent="-457200" algn="l" eaLnBrk="1" hangingPunct="1">
              <a:lnSpc>
                <a:spcPct val="130000"/>
              </a:lnSpc>
              <a:buClr>
                <a:srgbClr val="ED7D31"/>
              </a:buClr>
              <a:buSzTx/>
              <a:buFont typeface="+mj-lt"/>
              <a:buAutoNum type="arabicPeriod"/>
            </a:pPr>
            <a:r>
              <a:rPr lang="zh-CN" altLang="en-US" dirty="0" smtClean="0">
                <a:ea typeface="宋体" panose="02010600030101010101" pitchFamily="2" charset="-122"/>
                <a:sym typeface="+mn-ea"/>
              </a:rPr>
              <a:t>再打印调用toString方法的返回内容，比较两个输出结果是否相同。为什么？</a:t>
            </a:r>
            <a:endParaRPr lang="zh-CN" altLang="en-US" dirty="0" smtClean="0">
              <a:ea typeface="宋体" panose="02010600030101010101" pitchFamily="2" charset="-122"/>
            </a:endParaRPr>
          </a:p>
          <a:p>
            <a:pPr marL="0" indent="0" algn="l" eaLnBrk="1" hangingPunct="1">
              <a:lnSpc>
                <a:spcPct val="130000"/>
              </a:lnSpc>
              <a:buClr>
                <a:srgbClr val="ED7D31"/>
              </a:buClr>
              <a:buSzTx/>
              <a:buFont typeface="+mj-lt"/>
              <a:buNone/>
            </a:pPr>
            <a:endParaRPr lang="zh-CN" altLang="en-US" dirty="0">
              <a:ea typeface="宋体" panose="02010600030101010101" pitchFamily="2" charset="-122"/>
            </a:endParaRPr>
          </a:p>
          <a:p>
            <a:pPr marL="457200" indent="-457200" eaLnBrk="1" hangingPunct="1">
              <a:lnSpc>
                <a:spcPct val="130000"/>
              </a:lnSpc>
              <a:buClr>
                <a:srgbClr val="ED7D31"/>
              </a:buClr>
              <a:buFont typeface="+mj-lt"/>
              <a:buAutoNum type="arabicPeriod"/>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498725"/>
            <a:ext cx="3369310" cy="460375"/>
          </a:xfrm>
          <a:prstGeom prst="rect">
            <a:avLst/>
          </a:prstGeom>
          <a:noFill/>
        </p:spPr>
        <p:txBody>
          <a:bodyPr wrap="square" rtlCol="0">
            <a:spAutoFit/>
          </a:bodyPr>
          <a:lstStyle/>
          <a:p>
            <a:pPr lvl="0" algn="l">
              <a:spcBef>
                <a:spcPts val="0"/>
              </a:spcBef>
              <a:spcAft>
                <a:spcPts val="0"/>
              </a:spcAft>
              <a:buClrTx/>
              <a:buSzTx/>
              <a:buFont typeface="+mj-lt"/>
              <a:defRPr/>
            </a:pPr>
            <a:r>
              <a:rPr lang="en-US" altLang="zh-CN" sz="2400" noProof="0" dirty="0">
                <a:ln>
                  <a:noFill/>
                </a:ln>
                <a:solidFill>
                  <a:schemeClr val="tx1"/>
                </a:solidFill>
                <a:effectLst/>
                <a:uLnTx/>
                <a:uFillTx/>
                <a:latin typeface="+mj-ea"/>
                <a:ea typeface="+mj-ea"/>
                <a:cs typeface="+mj-ea"/>
                <a:sym typeface="思源黑体 CN Light" panose="020B0300000000000000" pitchFamily="34" charset="-122"/>
              </a:rPr>
              <a:t>1.</a:t>
            </a:r>
            <a:r>
              <a:rPr lang="en-US" altLang="zh-CN" sz="2400" noProof="0" dirty="0">
                <a:ln>
                  <a:noFill/>
                </a:ln>
                <a:solidFill>
                  <a:schemeClr val="tx1"/>
                </a:solidFill>
                <a:effectLst/>
                <a:uLnTx/>
                <a:uFillTx/>
                <a:latin typeface="+mj-ea"/>
                <a:ea typeface="+mj-ea"/>
                <a:cs typeface="+mj-ea"/>
                <a:sym typeface="+mn-ea"/>
              </a:rPr>
              <a:t>static</a:t>
            </a:r>
            <a:r>
              <a:rPr lang="en-US" altLang="zh-CN" sz="2400" noProof="0" dirty="0">
                <a:ln>
                  <a:noFill/>
                </a:ln>
                <a:solidFill>
                  <a:schemeClr val="tx1"/>
                </a:solidFill>
                <a:effectLst/>
                <a:uLnTx/>
                <a:uFillTx/>
                <a:latin typeface="+mj-ea"/>
                <a:ea typeface="+mj-ea"/>
                <a:cs typeface="+mj-ea"/>
                <a:sym typeface="+mn-ea"/>
              </a:rPr>
              <a:t>修饰</a:t>
            </a:r>
            <a:r>
              <a:rPr lang="en-US" altLang="zh-CN" sz="2400" noProof="0" dirty="0">
                <a:ln>
                  <a:noFill/>
                </a:ln>
                <a:solidFill>
                  <a:schemeClr val="tx1"/>
                </a:solidFill>
                <a:effectLst/>
                <a:uLnTx/>
                <a:uFillTx/>
                <a:latin typeface="+mj-ea"/>
                <a:ea typeface="+mj-ea"/>
                <a:cs typeface="+mj-ea"/>
                <a:sym typeface="+mn-ea"/>
              </a:rPr>
              <a:t>符</a:t>
            </a:r>
            <a:endParaRPr lang="en-US" altLang="zh-CN" sz="2400" noProof="0" dirty="0">
              <a:ln>
                <a:noFill/>
              </a:ln>
              <a:solidFill>
                <a:schemeClr val="tx1"/>
              </a:solidFill>
              <a:effectLst/>
              <a:uLnTx/>
              <a:uFillTx/>
              <a:latin typeface="+mj-ea"/>
              <a:ea typeface="+mj-ea"/>
              <a:cs typeface="+mj-ea"/>
              <a:sym typeface="+mn-ea"/>
            </a:endParaRPr>
          </a:p>
        </p:txBody>
      </p:sp>
      <p:sp>
        <p:nvSpPr>
          <p:cNvPr id="25" name="矩形 24"/>
          <p:cNvSpPr/>
          <p:nvPr/>
        </p:nvSpPr>
        <p:spPr>
          <a:xfrm>
            <a:off x="361315" y="2366010"/>
            <a:ext cx="3779520" cy="175323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第十一章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400" b="1" spc="300" noProof="0" dirty="0" smtClean="0">
                <a:ln>
                  <a:noFill/>
                </a:ln>
                <a:solidFill>
                  <a:srgbClr val="002060"/>
                </a:solidFill>
                <a:effectLst/>
                <a:uLnTx/>
                <a:uFillTx/>
                <a:latin typeface="Arial" panose="020B0604020202020204" pitchFamily="34" charset="0"/>
                <a:ea typeface="宋体" panose="02010600030101010101" pitchFamily="2" charset="-122"/>
                <a:sym typeface="+mn-ea"/>
              </a:rPr>
              <a:t>static与final修饰符</a:t>
            </a:r>
            <a:endParaRPr lang="zh-CN" altLang="en-US" sz="2400" b="1" spc="300" noProof="0" dirty="0" smtClean="0">
              <a:ln>
                <a:noFill/>
              </a:ln>
              <a:solidFill>
                <a:srgbClr val="002060"/>
              </a:solidFill>
              <a:effectLst/>
              <a:uLnTx/>
              <a:uFillTx/>
              <a:latin typeface="Arial" panose="020B0604020202020204" pitchFamily="34" charset="0"/>
              <a:ea typeface="宋体" panose="02010600030101010101" pitchFamily="2" charset="-122"/>
            </a:endParaRPr>
          </a:p>
          <a:p>
            <a:pPr marL="0" marR="0" lvl="0" indent="0" algn="dist"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37" name="矩形 36"/>
          <p:cNvSpPr/>
          <p:nvPr/>
        </p:nvSpPr>
        <p:spPr>
          <a:xfrm>
            <a:off x="4765675" y="3345180"/>
            <a:ext cx="3907155" cy="460375"/>
          </a:xfrm>
          <a:prstGeom prst="rect">
            <a:avLst/>
          </a:prstGeom>
          <a:noFill/>
        </p:spPr>
        <p:txBody>
          <a:bodyPr wrap="square" rtlCol="0">
            <a:spAutoFit/>
          </a:bodyPr>
          <a:lstStyle/>
          <a:p>
            <a:pPr lvl="0" algn="l">
              <a:spcBef>
                <a:spcPts val="0"/>
              </a:spcBef>
              <a:spcAft>
                <a:spcPts val="0"/>
              </a:spcAft>
              <a:buClrTx/>
              <a:buSzTx/>
              <a:buFont typeface="+mj-lt"/>
              <a:defRPr/>
            </a:pPr>
            <a:r>
              <a:rPr lang="en-US" altLang="zh-CN" sz="2400" noProof="0" dirty="0">
                <a:ln>
                  <a:noFill/>
                </a:ln>
                <a:solidFill>
                  <a:srgbClr val="ED7D31"/>
                </a:solidFill>
                <a:effectLst/>
                <a:uLnTx/>
                <a:uFillTx/>
                <a:latin typeface="+mj-ea"/>
                <a:ea typeface="+mj-ea"/>
                <a:cs typeface="+mj-ea"/>
                <a:sym typeface="思源黑体 CN Light" panose="020B0300000000000000" pitchFamily="34" charset="-122"/>
              </a:rPr>
              <a:t>2.</a:t>
            </a:r>
            <a:r>
              <a:rPr lang="en-US" altLang="zh-CN" sz="2400" noProof="0" dirty="0">
                <a:ln>
                  <a:noFill/>
                </a:ln>
                <a:solidFill>
                  <a:srgbClr val="ED7D31"/>
                </a:solidFill>
                <a:effectLst/>
                <a:uLnTx/>
                <a:uFillTx/>
                <a:latin typeface="+mj-ea"/>
                <a:ea typeface="+mj-ea"/>
                <a:cs typeface="+mj-ea"/>
                <a:sym typeface="+mn-ea"/>
              </a:rPr>
              <a:t> </a:t>
            </a:r>
            <a:r>
              <a:rPr lang="en-US" altLang="zh-CN" sz="2400" noProof="0" dirty="0">
                <a:ln>
                  <a:noFill/>
                </a:ln>
                <a:solidFill>
                  <a:srgbClr val="ED7D31"/>
                </a:solidFill>
                <a:effectLst/>
                <a:uLnTx/>
                <a:uFillTx/>
                <a:latin typeface="+mj-ea"/>
                <a:ea typeface="+mj-ea"/>
                <a:cs typeface="+mj-ea"/>
                <a:sym typeface="+mn-ea"/>
              </a:rPr>
              <a:t>final</a:t>
            </a:r>
            <a:r>
              <a:rPr lang="en-US" altLang="zh-CN" sz="2400" noProof="0" dirty="0">
                <a:ln>
                  <a:noFill/>
                </a:ln>
                <a:solidFill>
                  <a:srgbClr val="ED7D31"/>
                </a:solidFill>
                <a:effectLst/>
                <a:uLnTx/>
                <a:uFillTx/>
                <a:latin typeface="+mj-ea"/>
                <a:ea typeface="+mj-ea"/>
                <a:cs typeface="+mj-ea"/>
                <a:sym typeface="+mn-ea"/>
              </a:rPr>
              <a:t>修饰符</a:t>
            </a:r>
            <a:endParaRPr lang="en-US" altLang="zh-CN" sz="2400" noProof="0" dirty="0">
              <a:ln>
                <a:noFill/>
              </a:ln>
              <a:solidFill>
                <a:srgbClr val="ED7D31"/>
              </a:solidFill>
              <a:effectLst/>
              <a:uLnTx/>
              <a:uFillTx/>
              <a:latin typeface="+mj-ea"/>
              <a:ea typeface="+mj-ea"/>
              <a:cs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static修饰符</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静态变量</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16940" y="975360"/>
            <a:ext cx="9527540" cy="4906645"/>
          </a:xfrm>
        </p:spPr>
        <p:txBody>
          <a:bodyPr>
            <a:normAutofit lnSpcReduction="20000"/>
          </a:bodyPr>
          <a:p>
            <a:pPr marL="457200" indent="-457200" algn="l" eaLnBrk="1" hangingPunct="1">
              <a:lnSpc>
                <a:spcPct val="140000"/>
              </a:lnSpc>
              <a:buClr>
                <a:srgbClr val="ED7D31"/>
              </a:buClr>
              <a:buSzTx/>
              <a:buFont typeface="+mj-lt"/>
              <a:buAutoNum type="arabicPeriod"/>
            </a:pPr>
            <a:r>
              <a:rPr lang="zh-CN" altLang="en-US" sz="1800" dirty="0" smtClean="0">
                <a:ea typeface="宋体" panose="02010600030101010101" pitchFamily="2" charset="-122"/>
                <a:sym typeface="+mn-ea"/>
              </a:rPr>
              <a:t>静态变量：在类中（方法之外），用static修饰的变量我们称之为静态变量或类变量。</a:t>
            </a:r>
            <a:endParaRPr lang="zh-CN" altLang="en-US" sz="2000" dirty="0" smtClean="0">
              <a:ea typeface="宋体" panose="02010600030101010101" pitchFamily="2" charset="-122"/>
              <a:sym typeface="+mn-ea"/>
            </a:endParaRPr>
          </a:p>
          <a:p>
            <a:pPr marL="457200" indent="-457200" algn="l" eaLnBrk="1" hangingPunct="1">
              <a:lnSpc>
                <a:spcPct val="140000"/>
              </a:lnSpc>
              <a:buClr>
                <a:srgbClr val="ED7D31"/>
              </a:buClr>
              <a:buSzTx/>
              <a:buFont typeface="+mj-lt"/>
              <a:buAutoNum type="arabicPeriod"/>
            </a:pPr>
            <a:r>
              <a:rPr lang="zh-CN" altLang="en-US" sz="1800" dirty="0" smtClean="0">
                <a:ea typeface="宋体" panose="02010600030101010101" pitchFamily="2" charset="-122"/>
                <a:sym typeface="+mn-ea"/>
              </a:rPr>
              <a:t>静态变量特点：</a:t>
            </a:r>
            <a:endParaRPr lang="en-US" altLang="zh-CN" sz="1800" dirty="0" smtClean="0">
              <a:ea typeface="宋体" panose="02010600030101010101" pitchFamily="2" charset="-122"/>
              <a:sym typeface="+mn-ea"/>
            </a:endParaRPr>
          </a:p>
          <a:p>
            <a:pPr lvl="1" algn="l" eaLnBrk="1" hangingPunct="1">
              <a:lnSpc>
                <a:spcPct val="140000"/>
              </a:lnSpc>
              <a:buClr>
                <a:srgbClr val="ED7D31"/>
              </a:buClr>
              <a:buSzTx/>
              <a:buFont typeface="Arial" panose="020B0604020202020204" pitchFamily="34" charset="0"/>
              <a:buChar char="•"/>
            </a:pPr>
            <a:r>
              <a:rPr lang="zh-CN" altLang="en-US" sz="1600" dirty="0" smtClean="0">
                <a:ea typeface="宋体" panose="02010600030101010101" pitchFamily="2" charset="-122"/>
                <a:sym typeface="+mn-ea"/>
              </a:rPr>
              <a:t>创建时机：</a:t>
            </a:r>
            <a:r>
              <a:rPr lang="zh-CN" altLang="en-US" sz="1600" dirty="0" smtClean="0">
                <a:ea typeface="宋体" panose="02010600030101010101" pitchFamily="2" charset="-122"/>
                <a:sym typeface="+mn-ea"/>
              </a:rPr>
              <a:t>静态变量随着类的加载分配内存，</a:t>
            </a:r>
            <a:r>
              <a:rPr lang="zh-CN" altLang="en-US" sz="1600" dirty="0" smtClean="0">
                <a:ea typeface="宋体" panose="02010600030101010101" pitchFamily="2" charset="-122"/>
                <a:sym typeface="+mn-ea"/>
              </a:rPr>
              <a:t>优先于对象存在。</a:t>
            </a:r>
            <a:endParaRPr lang="zh-CN" altLang="en-US" sz="1600" dirty="0" smtClean="0">
              <a:ea typeface="宋体" panose="02010600030101010101" pitchFamily="2" charset="-122"/>
              <a:sym typeface="+mn-ea"/>
            </a:endParaRPr>
          </a:p>
          <a:p>
            <a:pPr lvl="1" algn="l" eaLnBrk="1" hangingPunct="1">
              <a:lnSpc>
                <a:spcPct val="140000"/>
              </a:lnSpc>
              <a:buClr>
                <a:srgbClr val="ED7D31"/>
              </a:buClr>
              <a:buSzTx/>
              <a:buFont typeface="Arial" panose="020B0604020202020204" pitchFamily="34" charset="0"/>
              <a:buChar char="•"/>
            </a:pPr>
            <a:r>
              <a:rPr lang="zh-CN" altLang="en-US" sz="1600" dirty="0" smtClean="0">
                <a:ea typeface="宋体" panose="02010600030101010101" pitchFamily="2" charset="-122"/>
                <a:sym typeface="+mn-ea"/>
              </a:rPr>
              <a:t>对象共享：一个类中，静态变量只有一份，可以被该类和该类的对象所共享。</a:t>
            </a:r>
            <a:endParaRPr lang="zh-CN" altLang="en-US" sz="1600" dirty="0" smtClean="0">
              <a:ea typeface="宋体" panose="02010600030101010101" pitchFamily="2" charset="-122"/>
              <a:sym typeface="+mn-ea"/>
            </a:endParaRPr>
          </a:p>
          <a:p>
            <a:pPr lvl="1" algn="l" eaLnBrk="1" hangingPunct="1">
              <a:lnSpc>
                <a:spcPct val="140000"/>
              </a:lnSpc>
              <a:buClr>
                <a:srgbClr val="ED7D31"/>
              </a:buClr>
              <a:buSzTx/>
              <a:buFont typeface="Arial" panose="020B0604020202020204" pitchFamily="34" charset="0"/>
              <a:buChar char="•"/>
            </a:pPr>
            <a:r>
              <a:rPr lang="zh-CN" altLang="en-US" sz="1600" dirty="0" smtClean="0">
                <a:ea typeface="宋体" panose="02010600030101010101" pitchFamily="2" charset="-122"/>
                <a:sym typeface="+mn-ea"/>
              </a:rPr>
              <a:t>访问方式：</a:t>
            </a:r>
            <a:r>
              <a:rPr lang="zh-CN" altLang="en-US" sz="1600" dirty="0" smtClean="0">
                <a:solidFill>
                  <a:srgbClr val="FF0000"/>
                </a:solidFill>
                <a:ea typeface="宋体" panose="02010600030101010101" pitchFamily="2" charset="-122"/>
                <a:sym typeface="+mn-ea"/>
              </a:rPr>
              <a:t>类名</a:t>
            </a:r>
            <a:r>
              <a:rPr lang="zh-CN" altLang="en-US" sz="1600" dirty="0" smtClean="0">
                <a:ea typeface="宋体" panose="02010600030101010101" pitchFamily="2" charset="-122"/>
                <a:sym typeface="+mn-ea"/>
              </a:rPr>
              <a:t>.静态变量 或 </a:t>
            </a:r>
            <a:r>
              <a:rPr lang="zh-CN" altLang="en-US" sz="1600" dirty="0" smtClean="0">
                <a:solidFill>
                  <a:srgbClr val="FF0000"/>
                </a:solidFill>
                <a:ea typeface="宋体" panose="02010600030101010101" pitchFamily="2" charset="-122"/>
                <a:sym typeface="+mn-ea"/>
              </a:rPr>
              <a:t>对象</a:t>
            </a:r>
            <a:r>
              <a:rPr lang="zh-CN" altLang="en-US" sz="1600" dirty="0" smtClean="0">
                <a:ea typeface="宋体" panose="02010600030101010101" pitchFamily="2" charset="-122"/>
                <a:sym typeface="+mn-ea"/>
              </a:rPr>
              <a:t>.静态变量 。</a:t>
            </a:r>
            <a:endParaRPr lang="en-US" altLang="zh-CN" sz="1600" dirty="0" err="1" smtClean="0">
              <a:ea typeface="宋体" panose="02010600030101010101" pitchFamily="2" charset="-122"/>
            </a:endParaRPr>
          </a:p>
          <a:p>
            <a:pPr marL="457200" indent="-457200" algn="l">
              <a:lnSpc>
                <a:spcPct val="140000"/>
              </a:lnSpc>
              <a:buClr>
                <a:srgbClr val="ED7D31"/>
              </a:buClr>
              <a:buSzTx/>
              <a:buFont typeface="+mj-lt"/>
              <a:buAutoNum type="arabicPeriod"/>
            </a:pPr>
            <a:r>
              <a:rPr lang="en-US" altLang="zh-CN" sz="1800" dirty="0" err="1" smtClean="0">
                <a:ea typeface="宋体" panose="02010600030101010101" pitchFamily="2" charset="-122"/>
                <a:sym typeface="+mn-ea"/>
              </a:rPr>
              <a:t>静态变量和</a:t>
            </a:r>
            <a:r>
              <a:rPr lang="zh-CN" altLang="en-US" sz="1800" dirty="0" err="1" smtClean="0">
                <a:ea typeface="宋体" panose="02010600030101010101" pitchFamily="2" charset="-122"/>
                <a:sym typeface="+mn-ea"/>
              </a:rPr>
              <a:t>实例</a:t>
            </a:r>
            <a:r>
              <a:rPr lang="en-US" altLang="zh-CN" sz="1800" dirty="0" err="1" smtClean="0">
                <a:ea typeface="宋体" panose="02010600030101010101" pitchFamily="2" charset="-122"/>
                <a:sym typeface="+mn-ea"/>
              </a:rPr>
              <a:t>变量区别</a:t>
            </a:r>
            <a:endParaRPr lang="en-US" altLang="zh-CN" sz="1800" dirty="0" err="1" smtClean="0">
              <a:ea typeface="宋体" panose="02010600030101010101" pitchFamily="2" charset="-122"/>
              <a:sym typeface="+mn-ea"/>
            </a:endParaRPr>
          </a:p>
          <a:p>
            <a:pPr lvl="1" algn="l">
              <a:lnSpc>
                <a:spcPct val="140000"/>
              </a:lnSpc>
              <a:buClr>
                <a:srgbClr val="ED7D31"/>
              </a:buClr>
              <a:buSzTx/>
            </a:pPr>
            <a:r>
              <a:rPr lang="zh-CN" altLang="en-US" sz="1600" b="1" dirty="0" smtClean="0">
                <a:ea typeface="宋体" panose="02010600030101010101" pitchFamily="2" charset="-122"/>
                <a:sym typeface="+mn-ea"/>
              </a:rPr>
              <a:t>生命周期不同</a:t>
            </a:r>
            <a:r>
              <a:rPr lang="en-US" altLang="zh-CN" sz="1600" dirty="0" smtClean="0">
                <a:ea typeface="宋体" panose="02010600030101010101" pitchFamily="2" charset="-122"/>
                <a:sym typeface="+mn-ea"/>
              </a:rPr>
              <a:t>:-</a:t>
            </a:r>
            <a:r>
              <a:rPr lang="zh-CN" altLang="en-US" sz="1600" dirty="0" smtClean="0">
                <a:ea typeface="宋体" panose="02010600030101010101" pitchFamily="2" charset="-122"/>
                <a:sym typeface="+mn-ea"/>
              </a:rPr>
              <a:t>实例</a:t>
            </a:r>
            <a:r>
              <a:rPr lang="zh-CN" altLang="en-US" sz="1440" dirty="0" smtClean="0">
                <a:solidFill>
                  <a:srgbClr val="ED7D31"/>
                </a:solidFill>
                <a:ea typeface="宋体" panose="02010600030101010101" pitchFamily="2" charset="-122"/>
                <a:sym typeface="+mn-ea"/>
              </a:rPr>
              <a:t>变量随着对象的创建而创建，随着对象的回收而释放</a:t>
            </a:r>
            <a:r>
              <a:rPr lang="en-US" altLang="zh-CN" sz="1440" dirty="0" smtClean="0">
                <a:solidFill>
                  <a:srgbClr val="ED7D31"/>
                </a:solidFill>
                <a:ea typeface="宋体" panose="02010600030101010101" pitchFamily="2" charset="-122"/>
                <a:sym typeface="+mn-ea"/>
              </a:rPr>
              <a:t>;</a:t>
            </a:r>
            <a:r>
              <a:rPr lang="zh-CN" altLang="en-US" sz="1440" dirty="0" smtClean="0">
                <a:solidFill>
                  <a:srgbClr val="ED7D31"/>
                </a:solidFill>
                <a:ea typeface="宋体" panose="02010600030101010101" pitchFamily="2" charset="-122"/>
                <a:sym typeface="+mn-ea"/>
              </a:rPr>
              <a:t>静态变量随着类的第一次加载而存在，随着类的消失而消失</a:t>
            </a:r>
            <a:r>
              <a:rPr lang="zh-CN" altLang="en-US" sz="1440" dirty="0" smtClean="0">
                <a:ea typeface="宋体" panose="02010600030101010101" pitchFamily="2" charset="-122"/>
                <a:sym typeface="+mn-ea"/>
              </a:rPr>
              <a:t>。</a:t>
            </a:r>
            <a:endParaRPr lang="zh-CN" altLang="en-US" sz="1440" dirty="0" smtClean="0">
              <a:ea typeface="宋体" panose="02010600030101010101" pitchFamily="2" charset="-122"/>
              <a:sym typeface="+mn-ea"/>
            </a:endParaRPr>
          </a:p>
          <a:p>
            <a:pPr lvl="1" algn="l" eaLnBrk="1" hangingPunct="1">
              <a:lnSpc>
                <a:spcPct val="140000"/>
              </a:lnSpc>
              <a:buClr>
                <a:srgbClr val="ED7D31"/>
              </a:buClr>
              <a:buSzTx/>
            </a:pPr>
            <a:r>
              <a:rPr lang="zh-CN" altLang="en-US" sz="1600" b="1" dirty="0" smtClean="0">
                <a:ea typeface="宋体" panose="02010600030101010101" pitchFamily="2" charset="-122"/>
                <a:sym typeface="+mn-ea"/>
              </a:rPr>
              <a:t>调用方式不同</a:t>
            </a:r>
            <a:r>
              <a:rPr lang="en-US" altLang="zh-CN" sz="1600" dirty="0" smtClean="0">
                <a:ea typeface="宋体" panose="02010600030101010101" pitchFamily="2" charset="-122"/>
                <a:sym typeface="+mn-ea"/>
              </a:rPr>
              <a:t>:-</a:t>
            </a:r>
            <a:r>
              <a:rPr lang="zh-CN" altLang="en-US" sz="1600" dirty="0" smtClean="0">
                <a:ea typeface="宋体" panose="02010600030101010101" pitchFamily="2" charset="-122"/>
                <a:sym typeface="+mn-ea"/>
              </a:rPr>
              <a:t>实例</a:t>
            </a:r>
            <a:r>
              <a:rPr lang="en-US" altLang="zh-CN" sz="1600" dirty="0" smtClean="0">
                <a:solidFill>
                  <a:srgbClr val="ED7D31"/>
                </a:solidFill>
                <a:ea typeface="宋体" panose="02010600030101010101" pitchFamily="2" charset="-122"/>
                <a:sym typeface="+mn-ea"/>
              </a:rPr>
              <a:t>变量只能被对象调用;</a:t>
            </a:r>
            <a:r>
              <a:rPr lang="zh-CN" altLang="en-US" sz="1600" dirty="0" smtClean="0">
                <a:solidFill>
                  <a:srgbClr val="ED7D31"/>
                </a:solidFill>
                <a:ea typeface="宋体" panose="02010600030101010101" pitchFamily="2" charset="-122"/>
                <a:sym typeface="+mn-ea"/>
              </a:rPr>
              <a:t>静态变量可以通过类名调用，也可以被对象调用。</a:t>
            </a:r>
            <a:endParaRPr lang="zh-CN" altLang="en-US" sz="1600" dirty="0" smtClean="0">
              <a:solidFill>
                <a:srgbClr val="ED7D31"/>
              </a:solidFill>
              <a:ea typeface="宋体" panose="02010600030101010101" pitchFamily="2" charset="-122"/>
              <a:sym typeface="+mn-ea"/>
            </a:endParaRPr>
          </a:p>
          <a:p>
            <a:pPr lvl="1" algn="l" eaLnBrk="1" hangingPunct="1">
              <a:lnSpc>
                <a:spcPct val="140000"/>
              </a:lnSpc>
              <a:buClr>
                <a:srgbClr val="ED7D31"/>
              </a:buClr>
              <a:buSzTx/>
            </a:pPr>
            <a:r>
              <a:rPr lang="zh-CN" altLang="en-US" sz="1600" b="1" dirty="0" smtClean="0">
                <a:ea typeface="宋体" panose="02010600030101010101" pitchFamily="2" charset="-122"/>
                <a:sym typeface="+mn-ea"/>
              </a:rPr>
              <a:t>存储位置不同</a:t>
            </a:r>
            <a:r>
              <a:rPr lang="en-US" altLang="zh-CN" sz="1600" dirty="0" smtClean="0">
                <a:ea typeface="宋体" panose="02010600030101010101" pitchFamily="2" charset="-122"/>
                <a:sym typeface="+mn-ea"/>
              </a:rPr>
              <a:t>:-</a:t>
            </a:r>
            <a:r>
              <a:rPr lang="zh-CN" altLang="en-US" sz="1600" dirty="0" smtClean="0">
                <a:ea typeface="宋体" panose="02010600030101010101" pitchFamily="2" charset="-122"/>
                <a:sym typeface="+mn-ea"/>
              </a:rPr>
              <a:t>实例</a:t>
            </a:r>
            <a:r>
              <a:rPr lang="en-US" altLang="zh-CN" sz="1600" dirty="0" smtClean="0">
                <a:solidFill>
                  <a:srgbClr val="ED7D31"/>
                </a:solidFill>
                <a:ea typeface="宋体" panose="02010600030101010101" pitchFamily="2" charset="-122"/>
                <a:sym typeface="+mn-ea"/>
              </a:rPr>
              <a:t>变量存储在堆中，也称为对象的特有数据;</a:t>
            </a:r>
            <a:r>
              <a:rPr lang="zh-CN" altLang="en-US" sz="1600" dirty="0" smtClean="0">
                <a:solidFill>
                  <a:srgbClr val="ED7D31"/>
                </a:solidFill>
                <a:ea typeface="宋体" panose="02010600030101010101" pitchFamily="2" charset="-122"/>
                <a:sym typeface="+mn-ea"/>
              </a:rPr>
              <a:t>静态变量存储在方法区（共享数据区）的静态区，也称为对象的共享数据。</a:t>
            </a:r>
            <a:endParaRPr lang="zh-CN" altLang="en-US" sz="1600" dirty="0" smtClean="0">
              <a:ea typeface="宋体" panose="02010600030101010101" pitchFamily="2" charset="-122"/>
              <a:sym typeface="+mn-ea"/>
            </a:endParaRPr>
          </a:p>
          <a:p>
            <a:pPr lvl="1" algn="l" eaLnBrk="1" hangingPunct="1">
              <a:lnSpc>
                <a:spcPct val="140000"/>
              </a:lnSpc>
              <a:buClr>
                <a:srgbClr val="ED7D31"/>
              </a:buClr>
              <a:buSzTx/>
            </a:pPr>
            <a:r>
              <a:rPr lang="zh-CN" altLang="en-US" sz="1600" b="1" dirty="0" smtClean="0">
                <a:ea typeface="宋体" panose="02010600030101010101" pitchFamily="2" charset="-122"/>
                <a:sym typeface="+mn-ea"/>
              </a:rPr>
              <a:t>创建次数不同</a:t>
            </a:r>
            <a:r>
              <a:rPr lang="en-US" altLang="zh-CN" sz="1600" dirty="0" smtClean="0">
                <a:ea typeface="宋体" panose="02010600030101010101" pitchFamily="2" charset="-122"/>
                <a:sym typeface="+mn-ea"/>
              </a:rPr>
              <a:t>:- </a:t>
            </a:r>
            <a:r>
              <a:rPr lang="zh-CN" altLang="en-US" sz="1600" dirty="0" smtClean="0">
                <a:ea typeface="宋体" panose="02010600030101010101" pitchFamily="2" charset="-122"/>
                <a:sym typeface="+mn-ea"/>
              </a:rPr>
              <a:t>实例</a:t>
            </a:r>
            <a:r>
              <a:rPr lang="en-US" altLang="zh-CN" sz="1600" dirty="0" smtClean="0">
                <a:solidFill>
                  <a:srgbClr val="ED7D31"/>
                </a:solidFill>
                <a:ea typeface="宋体" panose="02010600030101010101" pitchFamily="2" charset="-122"/>
                <a:sym typeface="+mn-ea"/>
              </a:rPr>
              <a:t>变量可以创建任意多次，每创建一次对象就创建了一次</a:t>
            </a:r>
            <a:r>
              <a:rPr lang="zh-CN" altLang="en-US" sz="1600" dirty="0" smtClean="0">
                <a:ea typeface="宋体" panose="02010600030101010101" pitchFamily="2" charset="-122"/>
                <a:sym typeface="+mn-ea"/>
              </a:rPr>
              <a:t>实例</a:t>
            </a:r>
            <a:r>
              <a:rPr lang="en-US" altLang="zh-CN" sz="1600" dirty="0" smtClean="0">
                <a:solidFill>
                  <a:srgbClr val="ED7D31"/>
                </a:solidFill>
                <a:ea typeface="宋体" panose="02010600030101010101" pitchFamily="2" charset="-122"/>
                <a:sym typeface="+mn-ea"/>
              </a:rPr>
              <a:t>变量;</a:t>
            </a:r>
            <a:r>
              <a:rPr lang="zh-CN" altLang="en-US" sz="1600" dirty="0" smtClean="0">
                <a:solidFill>
                  <a:srgbClr val="ED7D31"/>
                </a:solidFill>
                <a:ea typeface="宋体" panose="02010600030101010101" pitchFamily="2" charset="-122"/>
                <a:sym typeface="+mn-ea"/>
              </a:rPr>
              <a:t>静态变量只能创建一次，被该类和该类的对象所共享。</a:t>
            </a: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静态变量</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99331" name="内容占位符 2"/>
          <p:cNvSpPr>
            <a:spLocks noGrp="1"/>
          </p:cNvSpPr>
          <p:nvPr>
            <p:ph idx="1"/>
          </p:nvPr>
        </p:nvSpPr>
        <p:spPr>
          <a:xfrm>
            <a:off x="1008063" y="1041421"/>
            <a:ext cx="7537450" cy="5040312"/>
          </a:xfrm>
        </p:spPr>
        <p:txBody>
          <a:bodyPr>
            <a:normAutofit fontScale="90000" lnSpcReduction="20000"/>
          </a:bodyPr>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public class Teacher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a:t>
            </a:r>
            <a:r>
              <a:rPr lang="en-US" altLang="zh-CN" sz="1700" dirty="0" smtClean="0">
                <a:solidFill>
                  <a:srgbClr val="FF0000"/>
                </a:solidFill>
                <a:ea typeface="宋体" panose="02010600030101010101" pitchFamily="2" charset="-122"/>
                <a:cs typeface="+mn-lt"/>
              </a:rPr>
              <a:t>static </a:t>
            </a:r>
            <a:r>
              <a:rPr lang="en-US" altLang="zh-CN" sz="1700" dirty="0" smtClean="0">
                <a:ea typeface="宋体" panose="02010600030101010101" pitchFamily="2" charset="-122"/>
                <a:cs typeface="+mn-lt"/>
              </a:rPr>
              <a:t>int tno = 1001;//教师编号</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String professional;</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Teacher(String professional)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this.professional = professional;</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class Test{</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static void main(String[] args)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System.out.println(</a:t>
            </a:r>
            <a:r>
              <a:rPr lang="en-US" altLang="zh-CN" sz="1700" dirty="0" smtClean="0">
                <a:solidFill>
                  <a:srgbClr val="FF0000"/>
                </a:solidFill>
                <a:ea typeface="宋体" panose="02010600030101010101" pitchFamily="2" charset="-122"/>
                <a:cs typeface="+mn-lt"/>
              </a:rPr>
              <a:t>Teacher.tno</a:t>
            </a:r>
            <a:r>
              <a:rPr lang="en-US" altLang="zh-CN" sz="1700" dirty="0" smtClean="0">
                <a:ea typeface="宋体" panose="02010600030101010101" pitchFamily="2" charset="-122"/>
                <a:cs typeface="+mn-lt"/>
              </a:rPr>
              <a:t>);//类名直接访问</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Teacher teacher = new Teacher("高级讲师");</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System.out.println(</a:t>
            </a:r>
            <a:r>
              <a:rPr lang="en-US" altLang="zh-CN" sz="1700" dirty="0" smtClean="0">
                <a:solidFill>
                  <a:srgbClr val="FF0000"/>
                </a:solidFill>
                <a:ea typeface="宋体" panose="02010600030101010101" pitchFamily="2" charset="-122"/>
                <a:cs typeface="+mn-lt"/>
              </a:rPr>
              <a:t>teacher.tno</a:t>
            </a:r>
            <a:r>
              <a:rPr lang="en-US" altLang="zh-CN" sz="1700" dirty="0" smtClean="0">
                <a:ea typeface="宋体" panose="02010600030101010101" pitchFamily="2" charset="-122"/>
                <a:cs typeface="+mn-lt"/>
              </a:rPr>
              <a:t>);//对象访问</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Teacher teacher1 = new Teacher("高级讲师");</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System.out.println(teacher.tno == teacher1.tno);//对象共有的属性</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2009775" y="23876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理解静态变量属于类，实例变量属于对象</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151257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79170" y="1226185"/>
            <a:ext cx="10374630" cy="4281170"/>
          </a:xfrm>
        </p:spPr>
        <p:txBody>
          <a:bodyPr>
            <a:normAutofit fontScale="90000"/>
          </a:bodyPr>
          <a:p>
            <a:pPr marL="457200" indent="-457200" algn="l" eaLnBrk="1" hangingPunct="1">
              <a:lnSpc>
                <a:spcPct val="130000"/>
              </a:lnSpc>
              <a:buClr>
                <a:srgbClr val="ED7D31"/>
              </a:buClr>
              <a:buSzTx/>
              <a:buFont typeface="+mj-lt"/>
              <a:buAutoNum type="arabicPeriod"/>
            </a:pPr>
            <a:r>
              <a:rPr lang="zh-CN" altLang="en-US" sz="1800" dirty="0" smtClean="0">
                <a:ea typeface="宋体" panose="02010600030101010101" pitchFamily="2" charset="-122"/>
                <a:sym typeface="+mn-ea"/>
              </a:rPr>
              <a:t>在Studnet类中声明私有的静态属性currentStudnetNO，初始值为0，作为班级学生的起始值。</a:t>
            </a:r>
            <a:endParaRPr lang="zh-CN" altLang="en-US" sz="1800" dirty="0" smtClean="0">
              <a:ea typeface="宋体" panose="02010600030101010101" pitchFamily="2" charset="-122"/>
            </a:endParaRPr>
          </a:p>
          <a:p>
            <a:pPr marL="457200" indent="-457200" algn="l" eaLnBrk="1" hangingPunct="1">
              <a:lnSpc>
                <a:spcPct val="130000"/>
              </a:lnSpc>
              <a:buClr>
                <a:srgbClr val="ED7D31"/>
              </a:buClr>
              <a:buSzTx/>
              <a:buFont typeface="+mj-lt"/>
              <a:buAutoNum type="arabicPeriod"/>
            </a:pPr>
            <a:r>
              <a:rPr lang="zh-CN" altLang="en-US" sz="1800" dirty="0" smtClean="0">
                <a:ea typeface="宋体" panose="02010600030101010101" pitchFamily="2" charset="-122"/>
                <a:sym typeface="+mn-ea"/>
              </a:rPr>
              <a:t>声明公有的静态方法getCurrentStudnetNO ，作为生成学生唯一序列号的方法。每调用一次，将currentStudnetNO增加1，并作为返回值。</a:t>
            </a:r>
            <a:endParaRPr lang="zh-CN" altLang="en-US" sz="1800" dirty="0" smtClean="0">
              <a:ea typeface="宋体" panose="02010600030101010101" pitchFamily="2" charset="-122"/>
            </a:endParaRPr>
          </a:p>
          <a:p>
            <a:pPr marL="457200" indent="-457200" algn="l" eaLnBrk="1" hangingPunct="1">
              <a:lnSpc>
                <a:spcPct val="130000"/>
              </a:lnSpc>
              <a:buClr>
                <a:srgbClr val="ED7D31"/>
              </a:buClr>
              <a:buSzTx/>
              <a:buFont typeface="+mj-lt"/>
              <a:buAutoNum type="arabicPeriod"/>
            </a:pPr>
            <a:r>
              <a:rPr lang="zh-CN" altLang="en-US" sz="1800" dirty="0" smtClean="0">
                <a:ea typeface="宋体" panose="02010600030101010101" pitchFamily="2" charset="-122"/>
                <a:sym typeface="+mn-ea"/>
              </a:rPr>
              <a:t>在Test类的main方法中，分两次调用</a:t>
            </a:r>
            <a:r>
              <a:rPr lang="zh-CN" altLang="en-US" sz="1800" dirty="0" smtClean="0">
                <a:ea typeface="宋体" panose="02010600030101010101" pitchFamily="2" charset="-122"/>
                <a:sym typeface="+mn-ea"/>
              </a:rPr>
              <a:t>getCurrentStudnetNO </a:t>
            </a:r>
            <a:r>
              <a:rPr lang="zh-CN" altLang="en-US" sz="1800" dirty="0" smtClean="0">
                <a:ea typeface="宋体" panose="02010600030101010101" pitchFamily="2" charset="-122"/>
                <a:sym typeface="+mn-ea"/>
              </a:rPr>
              <a:t>方法，获取序列号并打印输出，</a:t>
            </a:r>
            <a:endParaRPr lang="zh-CN" altLang="en-US" sz="1800" dirty="0" smtClean="0">
              <a:ea typeface="宋体" panose="02010600030101010101" pitchFamily="2" charset="-122"/>
              <a:sym typeface="+mn-ea"/>
            </a:endParaRPr>
          </a:p>
          <a:p>
            <a:pPr marL="457200" indent="-457200" algn="l" eaLnBrk="1" hangingPunct="1">
              <a:lnSpc>
                <a:spcPct val="130000"/>
              </a:lnSpc>
              <a:buClr>
                <a:srgbClr val="ED7D31"/>
              </a:buClr>
              <a:buSzTx/>
              <a:buFont typeface="+mj-lt"/>
              <a:buAutoNum type="arabicPeriod"/>
            </a:pPr>
            <a:r>
              <a:rPr lang="zh-CN" altLang="en-US" sz="1800" dirty="0" smtClean="0">
                <a:ea typeface="宋体" panose="02010600030101010101" pitchFamily="2" charset="-122"/>
                <a:sym typeface="+mn-ea"/>
              </a:rPr>
              <a:t>创建</a:t>
            </a:r>
            <a:r>
              <a:rPr lang="en-US" altLang="zh-CN" sz="1800" dirty="0" smtClean="0">
                <a:ea typeface="宋体" panose="02010600030101010101" pitchFamily="2" charset="-122"/>
                <a:sym typeface="+mn-ea"/>
              </a:rPr>
              <a:t>Student</a:t>
            </a:r>
            <a:r>
              <a:rPr lang="zh-CN" altLang="en-US" sz="1800" dirty="0" smtClean="0">
                <a:ea typeface="宋体" panose="02010600030101010101" pitchFamily="2" charset="-122"/>
                <a:sym typeface="+mn-ea"/>
              </a:rPr>
              <a:t>对象，使用</a:t>
            </a:r>
            <a:r>
              <a:rPr lang="en-US" altLang="zh-CN" sz="1800" dirty="0" smtClean="0">
                <a:ea typeface="宋体" panose="02010600030101010101" pitchFamily="2" charset="-122"/>
                <a:sym typeface="+mn-ea"/>
              </a:rPr>
              <a:t>student</a:t>
            </a:r>
            <a:r>
              <a:rPr lang="zh-CN" altLang="en-US" sz="1800" dirty="0" smtClean="0">
                <a:ea typeface="宋体" panose="02010600030101010101" pitchFamily="2" charset="-122"/>
                <a:sym typeface="+mn-ea"/>
              </a:rPr>
              <a:t>对象再次调用</a:t>
            </a:r>
            <a:r>
              <a:rPr lang="zh-CN" altLang="en-US" sz="1800" dirty="0" smtClean="0">
                <a:ea typeface="宋体" panose="02010600030101010101" pitchFamily="2" charset="-122"/>
                <a:sym typeface="+mn-ea"/>
              </a:rPr>
              <a:t>getCurrentStudnetNO </a:t>
            </a:r>
            <a:r>
              <a:rPr lang="zh-CN" altLang="en-US" sz="1800" dirty="0" smtClean="0">
                <a:ea typeface="宋体" panose="02010600030101010101" pitchFamily="2" charset="-122"/>
                <a:sym typeface="+mn-ea"/>
              </a:rPr>
              <a:t>获取并打印。</a:t>
            </a:r>
            <a:endParaRPr lang="zh-CN" altLang="en-US" sz="1800" dirty="0" smtClean="0">
              <a:ea typeface="宋体" panose="02010600030101010101" pitchFamily="2" charset="-122"/>
              <a:sym typeface="+mn-ea"/>
            </a:endParaRPr>
          </a:p>
          <a:p>
            <a:pPr marL="457200" indent="-457200" algn="l" eaLnBrk="1" hangingPunct="1">
              <a:lnSpc>
                <a:spcPct val="130000"/>
              </a:lnSpc>
              <a:buClr>
                <a:srgbClr val="ED7D31"/>
              </a:buClr>
              <a:buSzTx/>
              <a:buFont typeface="+mj-lt"/>
              <a:buAutoNum type="arabicPeriod"/>
            </a:pPr>
            <a:r>
              <a:rPr lang="zh-CN" altLang="en-US" sz="1800" dirty="0" smtClean="0">
                <a:ea typeface="宋体" panose="02010600030101010101" pitchFamily="2" charset="-122"/>
                <a:sym typeface="+mn-ea"/>
              </a:rPr>
              <a:t>把</a:t>
            </a:r>
            <a:r>
              <a:rPr lang="en-US" altLang="zh-CN" sz="1800" dirty="0" smtClean="0">
                <a:ea typeface="宋体" panose="02010600030101010101" pitchFamily="2" charset="-122"/>
                <a:sym typeface="+mn-ea"/>
              </a:rPr>
              <a:t> </a:t>
            </a:r>
            <a:r>
              <a:rPr lang="zh-CN" altLang="en-US" sz="1800" dirty="0" smtClean="0">
                <a:ea typeface="宋体" panose="02010600030101010101" pitchFamily="2" charset="-122"/>
                <a:sym typeface="+mn-ea"/>
              </a:rPr>
              <a:t>currentStudnetNO，getCurrentStudnetNO 修改实例变量和实例方法</a:t>
            </a:r>
            <a:endParaRPr lang="zh-CN" altLang="en-US" sz="1800" dirty="0" smtClean="0">
              <a:ea typeface="宋体" panose="02010600030101010101" pitchFamily="2" charset="-122"/>
              <a:sym typeface="+mn-ea"/>
            </a:endParaRPr>
          </a:p>
          <a:p>
            <a:pPr marL="457200" indent="-457200" algn="l" eaLnBrk="1" hangingPunct="1">
              <a:lnSpc>
                <a:spcPct val="130000"/>
              </a:lnSpc>
              <a:buClr>
                <a:srgbClr val="ED7D31"/>
              </a:buClr>
              <a:buSzTx/>
              <a:buFont typeface="+mj-lt"/>
              <a:buAutoNum type="arabicPeriod"/>
            </a:pPr>
            <a:r>
              <a:rPr lang="zh-CN" altLang="en-US" sz="1800" dirty="0" smtClean="0">
                <a:ea typeface="宋体" panose="02010600030101010101" pitchFamily="2" charset="-122"/>
                <a:sym typeface="+mn-ea"/>
              </a:rPr>
              <a:t>把</a:t>
            </a:r>
            <a:r>
              <a:rPr lang="en-US" altLang="zh-CN" sz="1800" dirty="0" smtClean="0">
                <a:ea typeface="宋体" panose="02010600030101010101" pitchFamily="2" charset="-122"/>
                <a:sym typeface="+mn-ea"/>
              </a:rPr>
              <a:t>main</a:t>
            </a:r>
            <a:r>
              <a:rPr lang="zh-CN" altLang="en-US" sz="1800" dirty="0" smtClean="0">
                <a:ea typeface="宋体" panose="02010600030101010101" pitchFamily="2" charset="-122"/>
                <a:sym typeface="+mn-ea"/>
              </a:rPr>
              <a:t>方法内之前写的全注释掉</a:t>
            </a:r>
            <a:endParaRPr lang="zh-CN" altLang="en-US" sz="1800" dirty="0" smtClean="0">
              <a:ea typeface="宋体" panose="02010600030101010101" pitchFamily="2" charset="-122"/>
              <a:sym typeface="+mn-ea"/>
            </a:endParaRPr>
          </a:p>
          <a:p>
            <a:pPr marL="457200" indent="-457200" algn="l" eaLnBrk="1" hangingPunct="1">
              <a:lnSpc>
                <a:spcPct val="130000"/>
              </a:lnSpc>
              <a:buClr>
                <a:srgbClr val="ED7D31"/>
              </a:buClr>
              <a:buSzTx/>
              <a:buFont typeface="+mj-lt"/>
              <a:buAutoNum type="arabicPeriod"/>
            </a:pPr>
            <a:r>
              <a:rPr lang="zh-CN" altLang="en-US" sz="1800" dirty="0" smtClean="0">
                <a:ea typeface="宋体" panose="02010600030101010101" pitchFamily="2" charset="-122"/>
                <a:sym typeface="+mn-ea"/>
              </a:rPr>
              <a:t>在</a:t>
            </a:r>
            <a:r>
              <a:rPr lang="en-US" altLang="zh-CN" sz="1800" dirty="0" smtClean="0">
                <a:ea typeface="宋体" panose="02010600030101010101" pitchFamily="2" charset="-122"/>
                <a:sym typeface="+mn-ea"/>
              </a:rPr>
              <a:t>main</a:t>
            </a:r>
            <a:r>
              <a:rPr lang="zh-CN" altLang="en-US" sz="1800" dirty="0" smtClean="0">
                <a:ea typeface="宋体" panose="02010600030101010101" pitchFamily="2" charset="-122"/>
                <a:sym typeface="+mn-ea"/>
              </a:rPr>
              <a:t>方法中，创建</a:t>
            </a:r>
            <a:r>
              <a:rPr lang="en-US" altLang="zh-CN" sz="1800" dirty="0" smtClean="0">
                <a:ea typeface="宋体" panose="02010600030101010101" pitchFamily="2" charset="-122"/>
                <a:sym typeface="+mn-ea"/>
              </a:rPr>
              <a:t>Student </a:t>
            </a:r>
            <a:r>
              <a:rPr lang="zh-CN" altLang="en-US" sz="1800" dirty="0" smtClean="0">
                <a:ea typeface="宋体" panose="02010600030101010101" pitchFamily="2" charset="-122"/>
                <a:sym typeface="+mn-ea"/>
              </a:rPr>
              <a:t>对象</a:t>
            </a:r>
            <a:r>
              <a:rPr lang="en-US" altLang="zh-CN" sz="1800" dirty="0" smtClean="0">
                <a:ea typeface="宋体" panose="02010600030101010101" pitchFamily="2" charset="-122"/>
                <a:sym typeface="+mn-ea"/>
              </a:rPr>
              <a:t> stu </a:t>
            </a:r>
            <a:r>
              <a:rPr lang="zh-CN" altLang="en-US" sz="1800" dirty="0" smtClean="0">
                <a:ea typeface="宋体" panose="02010600030101010101" pitchFamily="2" charset="-122"/>
                <a:sym typeface="+mn-ea"/>
              </a:rPr>
              <a:t>，使用</a:t>
            </a:r>
            <a:r>
              <a:rPr lang="en-US" altLang="zh-CN" sz="1800" dirty="0" smtClean="0">
                <a:ea typeface="宋体" panose="02010600030101010101" pitchFamily="2" charset="-122"/>
                <a:sym typeface="+mn-ea"/>
              </a:rPr>
              <a:t>stu</a:t>
            </a:r>
            <a:r>
              <a:rPr lang="zh-CN" altLang="en-US" sz="1800" dirty="0" smtClean="0">
                <a:ea typeface="宋体" panose="02010600030101010101" pitchFamily="2" charset="-122"/>
                <a:sym typeface="+mn-ea"/>
              </a:rPr>
              <a:t>对象分两次调用getCurrentStudnetNO </a:t>
            </a:r>
            <a:r>
              <a:rPr lang="zh-CN" altLang="en-US" sz="1800" dirty="0" smtClean="0">
                <a:ea typeface="宋体" panose="02010600030101010101" pitchFamily="2" charset="-122"/>
                <a:sym typeface="+mn-ea"/>
              </a:rPr>
              <a:t>方法，获取序列号并打印输出</a:t>
            </a:r>
            <a:endParaRPr lang="zh-CN" altLang="en-US" sz="1800" dirty="0" smtClean="0">
              <a:ea typeface="宋体" panose="02010600030101010101" pitchFamily="2" charset="-122"/>
              <a:sym typeface="+mn-ea"/>
            </a:endParaRPr>
          </a:p>
          <a:p>
            <a:pPr marL="457200" indent="-457200" algn="l" eaLnBrk="1" hangingPunct="1">
              <a:lnSpc>
                <a:spcPct val="130000"/>
              </a:lnSpc>
              <a:buClr>
                <a:srgbClr val="ED7D31"/>
              </a:buClr>
              <a:buSzTx/>
              <a:buFont typeface="+mj-lt"/>
              <a:buAutoNum type="arabicPeriod"/>
            </a:pPr>
            <a:r>
              <a:rPr lang="zh-CN" altLang="en-US" sz="1800" dirty="0" smtClean="0">
                <a:ea typeface="宋体" panose="02010600030101010101" pitchFamily="2" charset="-122"/>
                <a:sym typeface="+mn-ea"/>
              </a:rPr>
              <a:t>继续创建</a:t>
            </a:r>
            <a:r>
              <a:rPr lang="en-US" altLang="zh-CN" sz="1800" dirty="0" smtClean="0">
                <a:ea typeface="宋体" panose="02010600030101010101" pitchFamily="2" charset="-122"/>
                <a:sym typeface="+mn-ea"/>
              </a:rPr>
              <a:t>Student </a:t>
            </a:r>
            <a:r>
              <a:rPr lang="zh-CN" altLang="en-US" sz="1800" dirty="0" smtClean="0">
                <a:ea typeface="宋体" panose="02010600030101010101" pitchFamily="2" charset="-122"/>
                <a:sym typeface="+mn-ea"/>
              </a:rPr>
              <a:t>对象</a:t>
            </a:r>
            <a:r>
              <a:rPr lang="en-US" altLang="zh-CN" sz="1800" dirty="0" smtClean="0">
                <a:ea typeface="宋体" panose="02010600030101010101" pitchFamily="2" charset="-122"/>
                <a:sym typeface="+mn-ea"/>
              </a:rPr>
              <a:t> newstu </a:t>
            </a:r>
            <a:r>
              <a:rPr lang="zh-CN" altLang="en-US" sz="1800" dirty="0" smtClean="0">
                <a:ea typeface="宋体" panose="02010600030101010101" pitchFamily="2" charset="-122"/>
                <a:sym typeface="+mn-ea"/>
              </a:rPr>
              <a:t>，使用</a:t>
            </a:r>
            <a:r>
              <a:rPr lang="en-US" altLang="zh-CN" sz="1800" dirty="0" smtClean="0">
                <a:ea typeface="宋体" panose="02010600030101010101" pitchFamily="2" charset="-122"/>
                <a:sym typeface="+mn-ea"/>
              </a:rPr>
              <a:t>newstu</a:t>
            </a:r>
            <a:r>
              <a:rPr lang="zh-CN" altLang="en-US" sz="1800" dirty="0" smtClean="0">
                <a:ea typeface="宋体" panose="02010600030101010101" pitchFamily="2" charset="-122"/>
                <a:sym typeface="+mn-ea"/>
              </a:rPr>
              <a:t>再次调用getCurrentStudnetNO 方法，获取序列号并打印输出</a:t>
            </a:r>
            <a:endParaRPr lang="zh-CN" altLang="en-US" sz="1800" dirty="0" smtClean="0">
              <a:ea typeface="宋体" panose="02010600030101010101" pitchFamily="2" charset="-122"/>
              <a:sym typeface="+mn-ea"/>
            </a:endParaRPr>
          </a:p>
          <a:p>
            <a:pPr marL="0" indent="0" algn="l" eaLnBrk="1" hangingPunct="1">
              <a:lnSpc>
                <a:spcPct val="130000"/>
              </a:lnSpc>
              <a:buClr>
                <a:srgbClr val="ED7D31"/>
              </a:buClr>
              <a:buSzTx/>
              <a:buFont typeface="+mj-lt"/>
              <a:buNone/>
            </a:pPr>
            <a:endParaRPr lang="en-US" altLang="zh-CN" sz="1800"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静态方法</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16940" y="975360"/>
            <a:ext cx="9527540" cy="4906645"/>
          </a:xfrm>
        </p:spPr>
        <p:txBody>
          <a:bodyPr>
            <a:normAutofit lnSpcReduction="20000"/>
          </a:bodyPr>
          <a:p>
            <a:pPr marL="457200" indent="-457200" algn="l" eaLnBrk="1" hangingPunct="1">
              <a:lnSpc>
                <a:spcPct val="140000"/>
              </a:lnSpc>
              <a:buClr>
                <a:srgbClr val="ED7D31"/>
              </a:buClr>
              <a:buSzTx/>
              <a:buFont typeface="+mj-lt"/>
              <a:buAutoNum type="arabicPeriod"/>
            </a:pPr>
            <a:r>
              <a:rPr lang="zh-CN" altLang="en-US" sz="1800" dirty="0" smtClean="0">
                <a:ea typeface="宋体" panose="02010600030101010101" pitchFamily="2" charset="-122"/>
                <a:sym typeface="+mn-ea"/>
              </a:rPr>
              <a:t>静态方法：在类中，用static修饰的方法我们称之为静态方法或类方法。</a:t>
            </a:r>
            <a:endParaRPr lang="zh-CN" altLang="en-US" sz="1800" dirty="0" smtClean="0">
              <a:ea typeface="宋体" panose="02010600030101010101" pitchFamily="2" charset="-122"/>
              <a:sym typeface="+mn-ea"/>
            </a:endParaRPr>
          </a:p>
          <a:p>
            <a:pPr marL="457200" indent="-457200" algn="l" eaLnBrk="1" hangingPunct="1">
              <a:lnSpc>
                <a:spcPct val="140000"/>
              </a:lnSpc>
              <a:buClr>
                <a:srgbClr val="ED7D31"/>
              </a:buClr>
              <a:buSzTx/>
              <a:buFont typeface="+mj-lt"/>
              <a:buAutoNum type="arabicPeriod"/>
            </a:pPr>
            <a:r>
              <a:rPr lang="zh-CN" altLang="en-US" sz="1800" dirty="0" smtClean="0">
                <a:ea typeface="宋体" panose="02010600030101010101" pitchFamily="2" charset="-122"/>
                <a:sym typeface="+mn-ea"/>
              </a:rPr>
              <a:t>静态方法特点：</a:t>
            </a:r>
            <a:endParaRPr lang="en-US" altLang="zh-CN" sz="1800" dirty="0" smtClean="0">
              <a:ea typeface="宋体" panose="02010600030101010101" pitchFamily="2" charset="-122"/>
              <a:sym typeface="+mn-ea"/>
            </a:endParaRPr>
          </a:p>
          <a:p>
            <a:pPr lvl="1" algn="l" eaLnBrk="1" hangingPunct="1">
              <a:lnSpc>
                <a:spcPct val="140000"/>
              </a:lnSpc>
              <a:buClr>
                <a:srgbClr val="ED7D31"/>
              </a:buClr>
              <a:buSzTx/>
              <a:buFont typeface="Arial" panose="020B0604020202020204" pitchFamily="34" charset="0"/>
              <a:buChar char="•"/>
            </a:pPr>
            <a:r>
              <a:rPr lang="zh-CN" altLang="en-US" sz="1600" dirty="0" smtClean="0">
                <a:ea typeface="宋体" panose="02010600030101010101" pitchFamily="2" charset="-122"/>
                <a:sym typeface="+mn-ea"/>
              </a:rPr>
              <a:t>创建时机：静态方法优先于对象存在，静态方法随着类的加载就已经存在了。</a:t>
            </a:r>
            <a:endParaRPr lang="zh-CN" altLang="en-US" sz="1600" dirty="0" smtClean="0">
              <a:ea typeface="宋体" panose="02010600030101010101" pitchFamily="2" charset="-122"/>
              <a:sym typeface="+mn-ea"/>
            </a:endParaRPr>
          </a:p>
          <a:p>
            <a:pPr lvl="1" algn="l" eaLnBrk="1" hangingPunct="1">
              <a:lnSpc>
                <a:spcPct val="140000"/>
              </a:lnSpc>
              <a:buClr>
                <a:srgbClr val="ED7D31"/>
              </a:buClr>
              <a:buSzTx/>
              <a:buFont typeface="Arial" panose="020B0604020202020204" pitchFamily="34" charset="0"/>
              <a:buChar char="•"/>
            </a:pPr>
            <a:r>
              <a:rPr lang="zh-CN" altLang="en-US" sz="1600" dirty="0" smtClean="0">
                <a:ea typeface="宋体" panose="02010600030101010101" pitchFamily="2" charset="-122"/>
                <a:sym typeface="+mn-ea"/>
              </a:rPr>
              <a:t>访问方式：</a:t>
            </a:r>
            <a:r>
              <a:rPr lang="zh-CN" altLang="en-US" sz="1600" dirty="0" smtClean="0">
                <a:solidFill>
                  <a:srgbClr val="FF0000"/>
                </a:solidFill>
                <a:ea typeface="宋体" panose="02010600030101010101" pitchFamily="2" charset="-122"/>
                <a:sym typeface="+mn-ea"/>
              </a:rPr>
              <a:t>类名</a:t>
            </a:r>
            <a:r>
              <a:rPr lang="zh-CN" altLang="en-US" sz="1600" dirty="0" smtClean="0">
                <a:ea typeface="宋体" panose="02010600030101010101" pitchFamily="2" charset="-122"/>
                <a:sym typeface="+mn-ea"/>
              </a:rPr>
              <a:t>.静态方法 或 </a:t>
            </a:r>
            <a:r>
              <a:rPr lang="zh-CN" altLang="en-US" sz="1600" dirty="0" smtClean="0">
                <a:solidFill>
                  <a:srgbClr val="FF0000"/>
                </a:solidFill>
                <a:ea typeface="宋体" panose="02010600030101010101" pitchFamily="2" charset="-122"/>
                <a:sym typeface="+mn-ea"/>
              </a:rPr>
              <a:t>对象</a:t>
            </a:r>
            <a:r>
              <a:rPr lang="zh-CN" altLang="en-US" sz="1600" dirty="0" smtClean="0">
                <a:ea typeface="宋体" panose="02010600030101010101" pitchFamily="2" charset="-122"/>
                <a:sym typeface="+mn-ea"/>
              </a:rPr>
              <a:t>.</a:t>
            </a:r>
            <a:r>
              <a:rPr lang="zh-CN" altLang="en-US" sz="1600" dirty="0" smtClean="0">
                <a:ea typeface="宋体" panose="02010600030101010101" pitchFamily="2" charset="-122"/>
                <a:sym typeface="+mn-ea"/>
              </a:rPr>
              <a:t>静态方法</a:t>
            </a:r>
            <a:r>
              <a:rPr lang="zh-CN" altLang="en-US" sz="1600" dirty="0" smtClean="0">
                <a:ea typeface="宋体" panose="02010600030101010101" pitchFamily="2" charset="-122"/>
                <a:sym typeface="+mn-ea"/>
              </a:rPr>
              <a:t> 。</a:t>
            </a:r>
            <a:endParaRPr lang="en-US" altLang="zh-CN" sz="1600" dirty="0" err="1" smtClean="0">
              <a:ea typeface="宋体" panose="02010600030101010101" pitchFamily="2" charset="-122"/>
            </a:endParaRPr>
          </a:p>
          <a:p>
            <a:pPr marL="457200" indent="-457200" algn="l">
              <a:lnSpc>
                <a:spcPct val="140000"/>
              </a:lnSpc>
              <a:buClr>
                <a:srgbClr val="ED7D31"/>
              </a:buClr>
              <a:buSzTx/>
              <a:buFont typeface="+mj-lt"/>
              <a:buAutoNum type="arabicPeriod"/>
            </a:pPr>
            <a:r>
              <a:rPr lang="en-US" altLang="zh-CN" sz="1800" dirty="0" err="1" smtClean="0">
                <a:ea typeface="宋体" panose="02010600030101010101" pitchFamily="2" charset="-122"/>
                <a:sym typeface="+mn-ea"/>
              </a:rPr>
              <a:t>静态</a:t>
            </a:r>
            <a:r>
              <a:rPr lang="zh-CN" altLang="en-US" sz="1800" dirty="0" err="1" smtClean="0">
                <a:ea typeface="宋体" panose="02010600030101010101" pitchFamily="2" charset="-122"/>
                <a:sym typeface="+mn-ea"/>
              </a:rPr>
              <a:t>方法</a:t>
            </a:r>
            <a:r>
              <a:rPr lang="en-US" altLang="zh-CN" sz="1800" dirty="0" err="1" smtClean="0">
                <a:ea typeface="宋体" panose="02010600030101010101" pitchFamily="2" charset="-122"/>
                <a:sym typeface="+mn-ea"/>
              </a:rPr>
              <a:t>和</a:t>
            </a:r>
            <a:r>
              <a:rPr lang="zh-CN" altLang="en-US" sz="1800" dirty="0" err="1" smtClean="0">
                <a:ea typeface="宋体" panose="02010600030101010101" pitchFamily="2" charset="-122"/>
                <a:sym typeface="+mn-ea"/>
              </a:rPr>
              <a:t>实例方法</a:t>
            </a:r>
            <a:r>
              <a:rPr lang="en-US" altLang="zh-CN" sz="1800" dirty="0" err="1" smtClean="0">
                <a:ea typeface="宋体" panose="02010600030101010101" pitchFamily="2" charset="-122"/>
                <a:sym typeface="+mn-ea"/>
              </a:rPr>
              <a:t>区别</a:t>
            </a:r>
            <a:endParaRPr lang="en-US" altLang="zh-CN" sz="1800" dirty="0" err="1" smtClean="0">
              <a:ea typeface="宋体" panose="02010600030101010101" pitchFamily="2" charset="-122"/>
              <a:sym typeface="+mn-ea"/>
            </a:endParaRPr>
          </a:p>
          <a:p>
            <a:pPr lvl="1" algn="l">
              <a:lnSpc>
                <a:spcPct val="140000"/>
              </a:lnSpc>
              <a:buClr>
                <a:srgbClr val="ED7D31"/>
              </a:buClr>
              <a:buSzTx/>
            </a:pPr>
            <a:r>
              <a:rPr lang="zh-CN" altLang="en-US" sz="1600" b="1" dirty="0" smtClean="0">
                <a:ea typeface="宋体" panose="02010600030101010101" pitchFamily="2" charset="-122"/>
                <a:sym typeface="+mn-ea"/>
              </a:rPr>
              <a:t>访问变量区别</a:t>
            </a:r>
            <a:r>
              <a:rPr lang="en-US" altLang="zh-CN" sz="1600" dirty="0" smtClean="0">
                <a:ea typeface="宋体" panose="02010600030101010101" pitchFamily="2" charset="-122"/>
                <a:sym typeface="+mn-ea"/>
              </a:rPr>
              <a:t>:-</a:t>
            </a:r>
            <a:r>
              <a:rPr sz="1440" dirty="0" smtClean="0">
                <a:solidFill>
                  <a:srgbClr val="ED7D31"/>
                </a:solidFill>
                <a:ea typeface="宋体" panose="02010600030101010101" pitchFamily="2" charset="-122"/>
                <a:sym typeface="+mn-ea"/>
              </a:rPr>
              <a:t>实例方法中既能访问</a:t>
            </a:r>
            <a:r>
              <a:rPr lang="zh-CN" sz="1440" dirty="0" smtClean="0">
                <a:solidFill>
                  <a:srgbClr val="ED7D31"/>
                </a:solidFill>
                <a:ea typeface="宋体" panose="02010600030101010101" pitchFamily="2" charset="-122"/>
                <a:sym typeface="+mn-ea"/>
              </a:rPr>
              <a:t>实例</a:t>
            </a:r>
            <a:r>
              <a:rPr sz="1440" dirty="0" smtClean="0">
                <a:solidFill>
                  <a:srgbClr val="ED7D31"/>
                </a:solidFill>
                <a:ea typeface="宋体" panose="02010600030101010101" pitchFamily="2" charset="-122"/>
                <a:sym typeface="+mn-ea"/>
              </a:rPr>
              <a:t>变量，又能访问静态变量</a:t>
            </a:r>
            <a:r>
              <a:rPr lang="zh-CN" sz="1440" dirty="0" smtClean="0">
                <a:solidFill>
                  <a:srgbClr val="ED7D31"/>
                </a:solidFill>
                <a:ea typeface="宋体" panose="02010600030101010101" pitchFamily="2" charset="-122"/>
                <a:sym typeface="+mn-ea"/>
              </a:rPr>
              <a:t>；</a:t>
            </a:r>
            <a:r>
              <a:rPr sz="1440" dirty="0" smtClean="0">
                <a:solidFill>
                  <a:srgbClr val="ED7D31"/>
                </a:solidFill>
                <a:ea typeface="宋体" panose="02010600030101010101" pitchFamily="2" charset="-122"/>
                <a:sym typeface="+mn-ea"/>
              </a:rPr>
              <a:t>静态方法中只能访问静态变量，不能访问</a:t>
            </a:r>
            <a:r>
              <a:rPr lang="zh-CN" sz="1440" dirty="0" smtClean="0">
                <a:solidFill>
                  <a:srgbClr val="ED7D31"/>
                </a:solidFill>
                <a:ea typeface="宋体" panose="02010600030101010101" pitchFamily="2" charset="-122"/>
                <a:sym typeface="+mn-ea"/>
              </a:rPr>
              <a:t>实例</a:t>
            </a:r>
            <a:r>
              <a:rPr sz="1440" dirty="0" smtClean="0">
                <a:solidFill>
                  <a:srgbClr val="ED7D31"/>
                </a:solidFill>
                <a:ea typeface="宋体" panose="02010600030101010101" pitchFamily="2" charset="-122"/>
                <a:sym typeface="+mn-ea"/>
              </a:rPr>
              <a:t>变量，因为对象可能还未初始化</a:t>
            </a:r>
            <a:r>
              <a:rPr lang="zh-CN" altLang="en-US" sz="1440" dirty="0" smtClean="0">
                <a:ea typeface="宋体" panose="02010600030101010101" pitchFamily="2" charset="-122"/>
                <a:sym typeface="+mn-ea"/>
              </a:rPr>
              <a:t>。</a:t>
            </a:r>
            <a:endParaRPr lang="zh-CN" altLang="en-US" sz="1440" dirty="0" smtClean="0">
              <a:ea typeface="宋体" panose="02010600030101010101" pitchFamily="2" charset="-122"/>
              <a:sym typeface="+mn-ea"/>
            </a:endParaRPr>
          </a:p>
          <a:p>
            <a:pPr lvl="1" algn="l" eaLnBrk="1" hangingPunct="1">
              <a:lnSpc>
                <a:spcPct val="140000"/>
              </a:lnSpc>
              <a:buClr>
                <a:srgbClr val="ED7D31"/>
              </a:buClr>
              <a:buSzTx/>
            </a:pPr>
            <a:r>
              <a:rPr lang="zh-CN" altLang="en-US" sz="1600" b="1" dirty="0" smtClean="0">
                <a:ea typeface="宋体" panose="02010600030101010101" pitchFamily="2" charset="-122"/>
                <a:sym typeface="+mn-ea"/>
              </a:rPr>
              <a:t>访问方法区别</a:t>
            </a:r>
            <a:r>
              <a:rPr lang="en-US" altLang="zh-CN" sz="1600" dirty="0" smtClean="0">
                <a:ea typeface="宋体" panose="02010600030101010101" pitchFamily="2" charset="-122"/>
                <a:sym typeface="+mn-ea"/>
              </a:rPr>
              <a:t>:-</a:t>
            </a:r>
            <a:r>
              <a:rPr sz="1600" dirty="0" smtClean="0">
                <a:ea typeface="宋体" panose="02010600030101010101" pitchFamily="2" charset="-122"/>
                <a:sym typeface="+mn-ea"/>
              </a:rPr>
              <a:t> </a:t>
            </a:r>
            <a:r>
              <a:rPr lang="zh-CN" sz="1600" dirty="0" smtClean="0">
                <a:solidFill>
                  <a:srgbClr val="ED7D31"/>
                </a:solidFill>
                <a:ea typeface="宋体" panose="02010600030101010101" pitchFamily="2" charset="-122"/>
                <a:sym typeface="+mn-ea"/>
              </a:rPr>
              <a:t>实例</a:t>
            </a:r>
            <a:r>
              <a:rPr sz="1600" dirty="0" smtClean="0">
                <a:solidFill>
                  <a:srgbClr val="ED7D31"/>
                </a:solidFill>
                <a:ea typeface="宋体" panose="02010600030101010101" pitchFamily="2" charset="-122"/>
                <a:sym typeface="+mn-ea"/>
              </a:rPr>
              <a:t>方法中既能访问</a:t>
            </a:r>
            <a:r>
              <a:rPr lang="zh-CN" sz="1600" dirty="0" smtClean="0">
                <a:solidFill>
                  <a:srgbClr val="ED7D31"/>
                </a:solidFill>
                <a:ea typeface="宋体" panose="02010600030101010101" pitchFamily="2" charset="-122"/>
                <a:sym typeface="+mn-ea"/>
              </a:rPr>
              <a:t>实例</a:t>
            </a:r>
            <a:r>
              <a:rPr sz="1600" dirty="0" smtClean="0">
                <a:solidFill>
                  <a:srgbClr val="ED7D31"/>
                </a:solidFill>
                <a:ea typeface="宋体" panose="02010600030101010101" pitchFamily="2" charset="-122"/>
                <a:sym typeface="+mn-ea"/>
              </a:rPr>
              <a:t>方法，又能访问静态方法</a:t>
            </a:r>
            <a:r>
              <a:rPr lang="zh-CN" sz="1600" dirty="0" smtClean="0">
                <a:solidFill>
                  <a:srgbClr val="ED7D31"/>
                </a:solidFill>
                <a:ea typeface="宋体" panose="02010600030101010101" pitchFamily="2" charset="-122"/>
                <a:sym typeface="+mn-ea"/>
              </a:rPr>
              <a:t>；</a:t>
            </a:r>
            <a:r>
              <a:rPr sz="1600" dirty="0" smtClean="0">
                <a:solidFill>
                  <a:srgbClr val="ED7D31"/>
                </a:solidFill>
                <a:ea typeface="宋体" panose="02010600030101010101" pitchFamily="2" charset="-122"/>
                <a:sym typeface="+mn-ea"/>
              </a:rPr>
              <a:t>静态方法中只能访问静态方法，不能访问</a:t>
            </a:r>
            <a:r>
              <a:rPr lang="zh-CN" sz="1600" dirty="0" smtClean="0">
                <a:solidFill>
                  <a:srgbClr val="ED7D31"/>
                </a:solidFill>
                <a:ea typeface="宋体" panose="02010600030101010101" pitchFamily="2" charset="-122"/>
                <a:sym typeface="+mn-ea"/>
              </a:rPr>
              <a:t>实例</a:t>
            </a:r>
            <a:r>
              <a:rPr sz="1600" dirty="0" smtClean="0">
                <a:solidFill>
                  <a:srgbClr val="ED7D31"/>
                </a:solidFill>
                <a:ea typeface="宋体" panose="02010600030101010101" pitchFamily="2" charset="-122"/>
                <a:sym typeface="+mn-ea"/>
              </a:rPr>
              <a:t>方法，因为对象可能还未初始化</a:t>
            </a:r>
            <a:r>
              <a:rPr lang="zh-CN" altLang="en-US" sz="1600" dirty="0" smtClean="0">
                <a:ea typeface="宋体" panose="02010600030101010101" pitchFamily="2" charset="-122"/>
                <a:sym typeface="+mn-ea"/>
              </a:rPr>
              <a:t>。</a:t>
            </a:r>
            <a:endParaRPr lang="zh-CN" altLang="en-US" sz="1600" dirty="0" smtClean="0">
              <a:ea typeface="宋体" panose="02010600030101010101" pitchFamily="2" charset="-122"/>
              <a:sym typeface="+mn-ea"/>
            </a:endParaRPr>
          </a:p>
          <a:p>
            <a:pPr lvl="1" algn="l" eaLnBrk="1" hangingPunct="1">
              <a:lnSpc>
                <a:spcPct val="140000"/>
              </a:lnSpc>
              <a:buClr>
                <a:srgbClr val="ED7D31"/>
              </a:buClr>
              <a:buSzTx/>
            </a:pPr>
            <a:r>
              <a:rPr lang="zh-CN" altLang="en-US" sz="1600" b="1" dirty="0" smtClean="0">
                <a:ea typeface="宋体" panose="02010600030101010101" pitchFamily="2" charset="-122"/>
                <a:sym typeface="+mn-ea"/>
              </a:rPr>
              <a:t>访问this区别</a:t>
            </a:r>
            <a:r>
              <a:rPr lang="en-US" altLang="zh-CN" sz="1600" dirty="0" smtClean="0">
                <a:ea typeface="宋体" panose="02010600030101010101" pitchFamily="2" charset="-122"/>
                <a:sym typeface="+mn-ea"/>
              </a:rPr>
              <a:t>:-</a:t>
            </a:r>
            <a:r>
              <a:rPr lang="zh-CN" altLang="en-US" sz="1600" dirty="0" smtClean="0">
                <a:solidFill>
                  <a:srgbClr val="ED7D31"/>
                </a:solidFill>
                <a:ea typeface="宋体" panose="02010600030101010101" pitchFamily="2" charset="-122"/>
                <a:sym typeface="+mn-ea"/>
              </a:rPr>
              <a:t>实例</a:t>
            </a:r>
            <a:r>
              <a:rPr sz="1600" dirty="0" smtClean="0">
                <a:solidFill>
                  <a:srgbClr val="ED7D31"/>
                </a:solidFill>
                <a:ea typeface="宋体" panose="02010600030101010101" pitchFamily="2" charset="-122"/>
                <a:sym typeface="+mn-ea"/>
              </a:rPr>
              <a:t>方法中可以访问this</a:t>
            </a:r>
            <a:r>
              <a:rPr lang="zh-CN" sz="1600" dirty="0" smtClean="0">
                <a:solidFill>
                  <a:srgbClr val="ED7D31"/>
                </a:solidFill>
                <a:ea typeface="宋体" panose="02010600030101010101" pitchFamily="2" charset="-122"/>
                <a:sym typeface="+mn-ea"/>
              </a:rPr>
              <a:t>；</a:t>
            </a:r>
            <a:r>
              <a:rPr sz="1600" dirty="0" smtClean="0">
                <a:solidFill>
                  <a:srgbClr val="ED7D31"/>
                </a:solidFill>
                <a:ea typeface="宋体" panose="02010600030101010101" pitchFamily="2" charset="-122"/>
                <a:sym typeface="+mn-ea"/>
              </a:rPr>
              <a:t>静态方法中不能访问this，因为对象可能还未初始化</a:t>
            </a:r>
            <a:r>
              <a:rPr lang="zh-CN" altLang="en-US" sz="1600" dirty="0" smtClean="0">
                <a:ea typeface="宋体" panose="02010600030101010101" pitchFamily="2" charset="-122"/>
                <a:sym typeface="+mn-ea"/>
              </a:rPr>
              <a:t>。</a:t>
            </a: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静态方法</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99331" name="内容占位符 2"/>
          <p:cNvSpPr>
            <a:spLocks noGrp="1"/>
          </p:cNvSpPr>
          <p:nvPr>
            <p:ph idx="1"/>
          </p:nvPr>
        </p:nvSpPr>
        <p:spPr>
          <a:xfrm>
            <a:off x="1008063" y="1041421"/>
            <a:ext cx="7537450" cy="5040312"/>
          </a:xfrm>
        </p:spPr>
        <p:txBody>
          <a:bodyPr>
            <a:normAutofit fontScale="90000" lnSpcReduction="20000"/>
          </a:bodyPr>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public class Teacher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a:t>
            </a:r>
            <a:r>
              <a:rPr lang="en-US" altLang="zh-CN" sz="1700" dirty="0" smtClean="0">
                <a:solidFill>
                  <a:srgbClr val="FF0000"/>
                </a:solidFill>
                <a:ea typeface="宋体" panose="02010600030101010101" pitchFamily="2" charset="-122"/>
                <a:cs typeface="+mn-lt"/>
              </a:rPr>
              <a:t>static </a:t>
            </a:r>
            <a:r>
              <a:rPr lang="en-US" altLang="zh-CN" sz="1700" dirty="0" smtClean="0">
                <a:ea typeface="宋体" panose="02010600030101010101" pitchFamily="2" charset="-122"/>
                <a:cs typeface="+mn-lt"/>
              </a:rPr>
              <a:t>int tno = 1001;//教师编号</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String professional;</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void testMethod(){</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System.out.println(tno);//实例方法可以访问，静态变量</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professional = "高级";//实例方法可以访问实例变量</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testStaticMethod();//实例方法可以访问静态方法</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System.out.println(this);//实例方法可以使用this</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a:t>
            </a:r>
            <a:r>
              <a:rPr lang="en-US" altLang="zh-CN" sz="1700" dirty="0" smtClean="0">
                <a:solidFill>
                  <a:srgbClr val="FF0000"/>
                </a:solidFill>
                <a:ea typeface="宋体" panose="02010600030101010101" pitchFamily="2" charset="-122"/>
                <a:cs typeface="+mn-lt"/>
              </a:rPr>
              <a:t>static </a:t>
            </a:r>
            <a:r>
              <a:rPr lang="en-US" altLang="zh-CN" sz="1700" dirty="0" smtClean="0">
                <a:ea typeface="宋体" panose="02010600030101010101" pitchFamily="2" charset="-122"/>
                <a:cs typeface="+mn-lt"/>
              </a:rPr>
              <a:t>void testStaticMethod(){</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System.out.println(tno);//静态方法可以访问，静态变量</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r>
              <a:rPr lang="en-US" altLang="zh-CN" sz="1700" dirty="0" smtClean="0">
                <a:solidFill>
                  <a:srgbClr val="FF0000"/>
                </a:solidFill>
                <a:ea typeface="宋体" panose="02010600030101010101" pitchFamily="2" charset="-122"/>
                <a:cs typeface="+mn-lt"/>
              </a:rPr>
              <a:t> professional = "高级";//报错：静态方法不可以访问实例变量</a:t>
            </a:r>
            <a:endParaRPr lang="en-US" altLang="zh-CN" sz="1700" dirty="0" smtClean="0">
              <a:solidFill>
                <a:srgbClr val="FF0000"/>
              </a:solidFill>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r>
              <a:rPr lang="en-US" altLang="zh-CN" sz="1700" dirty="0" smtClean="0">
                <a:solidFill>
                  <a:srgbClr val="FF0000"/>
                </a:solidFill>
                <a:ea typeface="宋体" panose="02010600030101010101" pitchFamily="2" charset="-122"/>
                <a:cs typeface="+mn-lt"/>
              </a:rPr>
              <a:t> testMethod();//报错：静态方法不可以访问实例方法</a:t>
            </a:r>
            <a:endParaRPr lang="en-US" altLang="zh-CN" sz="1700" dirty="0" smtClean="0">
              <a:solidFill>
                <a:srgbClr val="FF0000"/>
              </a:solidFill>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solidFill>
                  <a:srgbClr val="FF0000"/>
                </a:solidFill>
                <a:ea typeface="宋体" panose="02010600030101010101" pitchFamily="2" charset="-122"/>
                <a:cs typeface="+mn-lt"/>
              </a:rPr>
              <a:t>        System.out.println(this);//静态方法不可以使用this</a:t>
            </a:r>
            <a:endParaRPr lang="en-US" altLang="zh-CN" sz="1700" dirty="0" smtClean="0">
              <a:solidFill>
                <a:srgbClr val="FF0000"/>
              </a:solidFill>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静态方法和静态变量的应用场景</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99331" name="内容占位符 2"/>
          <p:cNvSpPr>
            <a:spLocks noGrp="1"/>
          </p:cNvSpPr>
          <p:nvPr>
            <p:ph idx="1"/>
          </p:nvPr>
        </p:nvSpPr>
        <p:spPr>
          <a:xfrm>
            <a:off x="1008063" y="1041421"/>
            <a:ext cx="7537450" cy="5040312"/>
          </a:xfrm>
        </p:spPr>
        <p:txBody>
          <a:bodyPr>
            <a:normAutofit/>
          </a:bodyPr>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public class Math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a:t>
            </a:r>
            <a:r>
              <a:rPr lang="en-US" altLang="zh-CN" sz="1700" dirty="0" smtClean="0">
                <a:solidFill>
                  <a:srgbClr val="FF0000"/>
                </a:solidFill>
                <a:ea typeface="宋体" panose="02010600030101010101" pitchFamily="2" charset="-122"/>
                <a:cs typeface="+mn-lt"/>
              </a:rPr>
              <a:t>static </a:t>
            </a:r>
            <a:r>
              <a:rPr lang="en-US" altLang="zh-CN" sz="1700" dirty="0" smtClean="0">
                <a:ea typeface="宋体" panose="02010600030101010101" pitchFamily="2" charset="-122"/>
                <a:cs typeface="+mn-lt"/>
              </a:rPr>
              <a:t>double PI = 3.1415926;</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//找出两个数中最大的那个</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a:t>
            </a:r>
            <a:r>
              <a:rPr lang="en-US" altLang="zh-CN" sz="1700" dirty="0" smtClean="0">
                <a:solidFill>
                  <a:srgbClr val="FF0000"/>
                </a:solidFill>
                <a:ea typeface="宋体" panose="02010600030101010101" pitchFamily="2" charset="-122"/>
                <a:cs typeface="+mn-lt"/>
              </a:rPr>
              <a:t>static </a:t>
            </a:r>
            <a:r>
              <a:rPr lang="en-US" altLang="zh-CN" sz="1700" dirty="0" smtClean="0">
                <a:ea typeface="宋体" panose="02010600030101010101" pitchFamily="2" charset="-122"/>
                <a:cs typeface="+mn-lt"/>
              </a:rPr>
              <a:t>int max(int x ,int y){</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return x &gt; y ? x : y;</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//计算圆的面积</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a:t>
            </a:r>
            <a:r>
              <a:rPr lang="en-US" altLang="zh-CN" sz="1700" dirty="0" smtClean="0">
                <a:solidFill>
                  <a:srgbClr val="FF0000"/>
                </a:solidFill>
                <a:ea typeface="宋体" panose="02010600030101010101" pitchFamily="2" charset="-122"/>
                <a:cs typeface="+mn-lt"/>
              </a:rPr>
              <a:t>static </a:t>
            </a:r>
            <a:r>
              <a:rPr lang="en-US" altLang="zh-CN" sz="1700" dirty="0" smtClean="0">
                <a:ea typeface="宋体" panose="02010600030101010101" pitchFamily="2" charset="-122"/>
                <a:cs typeface="+mn-lt"/>
              </a:rPr>
              <a:t>double getArea(double r){</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return PI*r*r;</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静态块</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7" name="内容占位符 6"/>
          <p:cNvSpPr>
            <a:spLocks noGrp="1"/>
          </p:cNvSpPr>
          <p:nvPr>
            <p:ph idx="4294967295"/>
          </p:nvPr>
        </p:nvSpPr>
        <p:spPr>
          <a:xfrm>
            <a:off x="916940" y="975360"/>
            <a:ext cx="9527540" cy="5431790"/>
          </a:xfrm>
        </p:spPr>
        <p:txBody>
          <a:bodyPr>
            <a:normAutofit/>
          </a:bodyPr>
          <a:p>
            <a:pPr marL="457200" indent="-457200" algn="l" eaLnBrk="1" hangingPunct="1">
              <a:lnSpc>
                <a:spcPct val="140000"/>
              </a:lnSpc>
              <a:buClr>
                <a:srgbClr val="ED7D31"/>
              </a:buClr>
              <a:buSzTx/>
              <a:buFont typeface="+mj-lt"/>
              <a:buAutoNum type="arabicPeriod"/>
            </a:pPr>
            <a:r>
              <a:rPr lang="zh-CN" altLang="en-US" sz="1800" dirty="0" smtClean="0">
                <a:ea typeface="宋体" panose="02010600030101010101" pitchFamily="2" charset="-122"/>
                <a:sym typeface="+mn-ea"/>
              </a:rPr>
              <a:t>静态</a:t>
            </a:r>
            <a:r>
              <a:rPr lang="zh-CN" altLang="en-US" sz="1800" dirty="0" smtClean="0">
                <a:ea typeface="宋体" panose="02010600030101010101" pitchFamily="2" charset="-122"/>
                <a:sym typeface="+mn-ea"/>
              </a:rPr>
              <a:t>块</a:t>
            </a:r>
            <a:r>
              <a:rPr lang="zh-CN" altLang="en-US" sz="1800" dirty="0" smtClean="0">
                <a:ea typeface="宋体" panose="02010600030101010101" pitchFamily="2" charset="-122"/>
                <a:sym typeface="+mn-ea"/>
              </a:rPr>
              <a:t>：</a:t>
            </a:r>
            <a:r>
              <a:rPr lang="zh-CN" altLang="en-US" sz="1600" dirty="0" smtClean="0">
                <a:ea typeface="宋体" panose="02010600030101010101" pitchFamily="2" charset="-122"/>
                <a:sym typeface="+mn-ea"/>
              </a:rPr>
              <a:t>用static修饰的代码块叫做静态代码块，主要用于给类做初始化操作！</a:t>
            </a:r>
            <a:endParaRPr lang="zh-CN" altLang="en-US" sz="1800" dirty="0" smtClean="0">
              <a:ea typeface="宋体" panose="02010600030101010101" pitchFamily="2" charset="-122"/>
              <a:sym typeface="+mn-ea"/>
            </a:endParaRPr>
          </a:p>
          <a:p>
            <a:pPr marL="457200" indent="-457200" algn="l" eaLnBrk="1" hangingPunct="1">
              <a:lnSpc>
                <a:spcPct val="140000"/>
              </a:lnSpc>
              <a:buClr>
                <a:srgbClr val="ED7D31"/>
              </a:buClr>
              <a:buSzTx/>
              <a:buFont typeface="+mj-lt"/>
              <a:buAutoNum type="arabicPeriod"/>
            </a:pPr>
            <a:r>
              <a:rPr lang="zh-CN" altLang="en-US" sz="1800" dirty="0" smtClean="0">
                <a:ea typeface="宋体" panose="02010600030101010101" pitchFamily="2" charset="-122"/>
                <a:sym typeface="+mn-ea"/>
              </a:rPr>
              <a:t>静态代码块特点：</a:t>
            </a:r>
            <a:endParaRPr lang="zh-CN" altLang="en-US" sz="1800" dirty="0" smtClean="0">
              <a:ea typeface="宋体" panose="02010600030101010101" pitchFamily="2" charset="-122"/>
              <a:sym typeface="+mn-ea"/>
            </a:endParaRPr>
          </a:p>
          <a:p>
            <a:pPr marL="800100" lvl="1" indent="-342900" algn="l" eaLnBrk="1" hangingPunct="1">
              <a:lnSpc>
                <a:spcPct val="140000"/>
              </a:lnSpc>
              <a:buClr>
                <a:srgbClr val="ED7D31"/>
              </a:buClr>
              <a:buSzTx/>
              <a:buFont typeface="+mj-ea"/>
              <a:buAutoNum type="circleNumDbPlain"/>
            </a:pPr>
            <a:r>
              <a:rPr lang="zh-CN" altLang="en-US" sz="1600" dirty="0" smtClean="0">
                <a:ea typeface="宋体" panose="02010600030101010101" pitchFamily="2" charset="-122"/>
                <a:sym typeface="+mn-ea"/>
              </a:rPr>
              <a:t>静态代码块只能定义在类里面，独立于任何方法，不能定义在方法里面。</a:t>
            </a:r>
            <a:endParaRPr lang="zh-CN" altLang="en-US" sz="1600" dirty="0" smtClean="0">
              <a:ea typeface="宋体" panose="02010600030101010101" pitchFamily="2" charset="-122"/>
              <a:sym typeface="+mn-ea"/>
            </a:endParaRPr>
          </a:p>
          <a:p>
            <a:pPr marL="800100" lvl="1" indent="-342900" algn="l" eaLnBrk="1" hangingPunct="1">
              <a:lnSpc>
                <a:spcPct val="140000"/>
              </a:lnSpc>
              <a:buClr>
                <a:srgbClr val="ED7D31"/>
              </a:buClr>
              <a:buSzTx/>
              <a:buFont typeface="+mj-ea"/>
              <a:buAutoNum type="circleNumDbPlain"/>
            </a:pPr>
            <a:r>
              <a:rPr lang="zh-CN" altLang="en-US" sz="1600" dirty="0" smtClean="0">
                <a:ea typeface="宋体" panose="02010600030101010101" pitchFamily="2" charset="-122"/>
                <a:sym typeface="+mn-ea"/>
              </a:rPr>
              <a:t>一个类中允许定义多个静态代码块，执行的顺序根据定义的顺序进行。</a:t>
            </a:r>
            <a:endParaRPr lang="zh-CN" altLang="en-US" sz="1600" dirty="0" smtClean="0">
              <a:ea typeface="宋体" panose="02010600030101010101" pitchFamily="2" charset="-122"/>
              <a:sym typeface="+mn-ea"/>
            </a:endParaRPr>
          </a:p>
          <a:p>
            <a:pPr marL="800100" lvl="1" indent="-342900" algn="l" eaLnBrk="1" hangingPunct="1">
              <a:lnSpc>
                <a:spcPct val="140000"/>
              </a:lnSpc>
              <a:buClr>
                <a:srgbClr val="ED7D31"/>
              </a:buClr>
              <a:buSzTx/>
              <a:buFont typeface="+mj-ea"/>
              <a:buAutoNum type="circleNumDbPlain"/>
            </a:pPr>
            <a:r>
              <a:rPr lang="zh-CN" altLang="en-US" sz="1600" dirty="0" smtClean="0">
                <a:ea typeface="宋体" panose="02010600030101010101" pitchFamily="2" charset="-122"/>
                <a:sym typeface="+mn-ea"/>
              </a:rPr>
              <a:t>静态代码块中的变量都是局部变量，只能访问类的静态变量，而不允许访问实例变量。</a:t>
            </a:r>
            <a:endParaRPr lang="zh-CN" altLang="en-US" sz="1600" dirty="0" smtClean="0">
              <a:ea typeface="宋体" panose="02010600030101010101" pitchFamily="2" charset="-122"/>
              <a:sym typeface="+mn-ea"/>
            </a:endParaRPr>
          </a:p>
          <a:p>
            <a:pPr marL="800100" lvl="1" indent="-342900" algn="l" eaLnBrk="1" hangingPunct="1">
              <a:lnSpc>
                <a:spcPct val="140000"/>
              </a:lnSpc>
              <a:buClr>
                <a:srgbClr val="ED7D31"/>
              </a:buClr>
              <a:buSzTx/>
              <a:buFont typeface="+mj-ea"/>
              <a:buAutoNum type="circleNumDbPlain"/>
            </a:pPr>
            <a:r>
              <a:rPr lang="zh-CN" altLang="en-US" sz="1600" dirty="0" smtClean="0">
                <a:ea typeface="宋体" panose="02010600030101010101" pitchFamily="2" charset="-122"/>
                <a:sym typeface="+mn-ea"/>
              </a:rPr>
              <a:t>静态代码块会在类被加载时自动执行，并且只执行一次！</a:t>
            </a:r>
            <a:endParaRPr lang="zh-CN" altLang="en-US" sz="1600" dirty="0" smtClean="0">
              <a:ea typeface="宋体" panose="02010600030101010101" pitchFamily="2" charset="-122"/>
              <a:sym typeface="+mn-ea"/>
            </a:endParaRPr>
          </a:p>
          <a:p>
            <a:pPr marL="457200" indent="-457200" algn="l" eaLnBrk="1" hangingPunct="1">
              <a:lnSpc>
                <a:spcPct val="140000"/>
              </a:lnSpc>
              <a:buClr>
                <a:srgbClr val="ED7D31"/>
              </a:buClr>
              <a:buSzTx/>
              <a:buFont typeface="+mj-lt"/>
              <a:buAutoNum type="arabicPeriod"/>
            </a:pPr>
            <a:r>
              <a:rPr lang="zh-CN" altLang="en-US" sz="1800" dirty="0" smtClean="0">
                <a:ea typeface="宋体" panose="02010600030101010101" pitchFamily="2" charset="-122"/>
                <a:sym typeface="+mn-ea"/>
              </a:rPr>
              <a:t>实例</a:t>
            </a:r>
            <a:r>
              <a:rPr lang="zh-CN" altLang="en-US" sz="1600" dirty="0" smtClean="0">
                <a:ea typeface="宋体" panose="02010600030101010101" pitchFamily="2" charset="-122"/>
                <a:sym typeface="+mn-ea"/>
              </a:rPr>
              <a:t>块（了解）：实例块或者叫构造块，主要用于给所有对象共性特点进行初始化操作！</a:t>
            </a:r>
            <a:endParaRPr lang="zh-CN" altLang="en-US" sz="1800" dirty="0" smtClean="0">
              <a:ea typeface="宋体" panose="02010600030101010101" pitchFamily="2" charset="-122"/>
              <a:sym typeface="+mn-ea"/>
            </a:endParaRPr>
          </a:p>
          <a:p>
            <a:pPr marL="457200" indent="-457200" algn="l" eaLnBrk="1" hangingPunct="1">
              <a:lnSpc>
                <a:spcPct val="140000"/>
              </a:lnSpc>
              <a:buClr>
                <a:srgbClr val="ED7D31"/>
              </a:buClr>
              <a:buSzTx/>
              <a:buFont typeface="+mj-lt"/>
              <a:buAutoNum type="arabicPeriod"/>
            </a:pPr>
            <a:r>
              <a:rPr lang="zh-CN" altLang="en-US" sz="1800" dirty="0" smtClean="0">
                <a:ea typeface="宋体" panose="02010600030101010101" pitchFamily="2" charset="-122"/>
                <a:sym typeface="+mn-ea"/>
              </a:rPr>
              <a:t>实例块特点：</a:t>
            </a:r>
            <a:endParaRPr lang="zh-CN" altLang="en-US" sz="1800" dirty="0" smtClean="0">
              <a:ea typeface="宋体" panose="02010600030101010101" pitchFamily="2" charset="-122"/>
              <a:sym typeface="+mn-ea"/>
            </a:endParaRPr>
          </a:p>
          <a:p>
            <a:pPr marL="914400" lvl="1" indent="-457200" algn="l" eaLnBrk="1" hangingPunct="1">
              <a:lnSpc>
                <a:spcPct val="140000"/>
              </a:lnSpc>
              <a:buClr>
                <a:srgbClr val="ED7D31"/>
              </a:buClr>
              <a:buSzTx/>
              <a:buFont typeface="+mj-ea"/>
              <a:buAutoNum type="circleNumDbPlain"/>
            </a:pPr>
            <a:r>
              <a:rPr lang="zh-CN" altLang="en-US" sz="1500" dirty="0" smtClean="0">
                <a:ea typeface="宋体" panose="02010600030101010101" pitchFamily="2" charset="-122"/>
                <a:sym typeface="+mn-ea"/>
              </a:rPr>
              <a:t>实例块只能定义在类里面，独立于任何方法，不能定义在方法里面。</a:t>
            </a:r>
            <a:endParaRPr lang="zh-CN" altLang="en-US" sz="1500" dirty="0" smtClean="0">
              <a:ea typeface="宋体" panose="02010600030101010101" pitchFamily="2" charset="-122"/>
              <a:sym typeface="+mn-ea"/>
            </a:endParaRPr>
          </a:p>
          <a:p>
            <a:pPr marL="914400" lvl="1" indent="-457200" algn="l" eaLnBrk="1" hangingPunct="1">
              <a:lnSpc>
                <a:spcPct val="140000"/>
              </a:lnSpc>
              <a:buClr>
                <a:srgbClr val="ED7D31"/>
              </a:buClr>
              <a:buSzTx/>
              <a:buFont typeface="+mj-ea"/>
              <a:buAutoNum type="circleNumDbPlain"/>
            </a:pPr>
            <a:r>
              <a:rPr lang="zh-CN" altLang="en-US" sz="1500" dirty="0" smtClean="0">
                <a:ea typeface="宋体" panose="02010600030101010101" pitchFamily="2" charset="-122"/>
                <a:sym typeface="+mn-ea"/>
              </a:rPr>
              <a:t>一个类中允许定义多个</a:t>
            </a:r>
            <a:r>
              <a:rPr lang="zh-CN" altLang="en-US" sz="1500" dirty="0" smtClean="0">
                <a:ea typeface="宋体" panose="02010600030101010101" pitchFamily="2" charset="-122"/>
                <a:sym typeface="+mn-ea"/>
              </a:rPr>
              <a:t>实例</a:t>
            </a:r>
            <a:r>
              <a:rPr lang="zh-CN" altLang="en-US" sz="1500" dirty="0" smtClean="0">
                <a:ea typeface="宋体" panose="02010600030101010101" pitchFamily="2" charset="-122"/>
                <a:sym typeface="+mn-ea"/>
              </a:rPr>
              <a:t>块，执行的顺序根据定义的顺序进行。</a:t>
            </a:r>
            <a:endParaRPr lang="zh-CN" altLang="en-US" sz="1500" dirty="0" smtClean="0">
              <a:ea typeface="宋体" panose="02010600030101010101" pitchFamily="2" charset="-122"/>
              <a:sym typeface="+mn-ea"/>
            </a:endParaRPr>
          </a:p>
          <a:p>
            <a:pPr marL="914400" lvl="1" indent="-457200" algn="l" eaLnBrk="1" hangingPunct="1">
              <a:lnSpc>
                <a:spcPct val="140000"/>
              </a:lnSpc>
              <a:buClr>
                <a:srgbClr val="ED7D31"/>
              </a:buClr>
              <a:buSzTx/>
              <a:buFont typeface="+mj-ea"/>
              <a:buAutoNum type="circleNumDbPlain"/>
            </a:pPr>
            <a:r>
              <a:rPr lang="zh-CN" altLang="en-US" sz="1500" dirty="0" smtClean="0">
                <a:ea typeface="宋体" panose="02010600030101010101" pitchFamily="2" charset="-122"/>
                <a:sym typeface="+mn-ea"/>
              </a:rPr>
              <a:t>实例</a:t>
            </a:r>
            <a:r>
              <a:rPr lang="zh-CN" altLang="en-US" sz="1500" dirty="0" smtClean="0">
                <a:ea typeface="宋体" panose="02010600030101010101" pitchFamily="2" charset="-122"/>
                <a:sym typeface="+mn-ea"/>
              </a:rPr>
              <a:t>块中的变量都是局部变量，既可以访问静态变量也可以访问实例变量。</a:t>
            </a:r>
            <a:endParaRPr lang="zh-CN" altLang="en-US" sz="1500" dirty="0" smtClean="0">
              <a:ea typeface="宋体" panose="02010600030101010101" pitchFamily="2" charset="-122"/>
              <a:sym typeface="+mn-ea"/>
            </a:endParaRPr>
          </a:p>
          <a:p>
            <a:pPr marL="914400" lvl="1" indent="-457200" algn="l" eaLnBrk="1" hangingPunct="1">
              <a:lnSpc>
                <a:spcPct val="140000"/>
              </a:lnSpc>
              <a:buClr>
                <a:srgbClr val="ED7D31"/>
              </a:buClr>
              <a:buSzTx/>
              <a:buFont typeface="+mj-ea"/>
              <a:buAutoNum type="circleNumDbPlain"/>
            </a:pPr>
            <a:r>
              <a:rPr lang="zh-CN" altLang="en-US" sz="1500" dirty="0" smtClean="0">
                <a:ea typeface="宋体" panose="02010600030101010101" pitchFamily="2" charset="-122"/>
                <a:sym typeface="+mn-ea"/>
              </a:rPr>
              <a:t>实例块</a:t>
            </a:r>
            <a:r>
              <a:rPr lang="zh-CN" altLang="en-US" sz="1500" dirty="0" smtClean="0">
                <a:ea typeface="宋体" panose="02010600030101010101" pitchFamily="2" charset="-122"/>
                <a:sym typeface="+mn-ea"/>
              </a:rPr>
              <a:t>随着对象的创建而加载，每创建对象一次就执行一次！</a:t>
            </a:r>
            <a:endParaRPr lang="zh-CN" altLang="en-US" sz="1500" dirty="0" smtClean="0">
              <a:ea typeface="宋体" panose="02010600030101010101" pitchFamily="2" charset="-122"/>
              <a:sym typeface="+mn-ea"/>
            </a:endParaRPr>
          </a:p>
          <a:p>
            <a:pPr marL="457200" lvl="1" indent="-457200" algn="l" eaLnBrk="1" hangingPunct="1">
              <a:lnSpc>
                <a:spcPct val="140000"/>
              </a:lnSpc>
              <a:spcBef>
                <a:spcPts val="1000"/>
              </a:spcBef>
              <a:buClr>
                <a:srgbClr val="ED7D31"/>
              </a:buClr>
              <a:buSzTx/>
              <a:buFont typeface="+mj-lt"/>
              <a:buAutoNum type="arabicPeriod" startAt="5"/>
            </a:pPr>
            <a:endParaRPr lang="en-US" altLang="zh-CN" dirty="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单例设计模式（饿汉式）</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99331" name="内容占位符 2"/>
          <p:cNvSpPr>
            <a:spLocks noGrp="1"/>
          </p:cNvSpPr>
          <p:nvPr>
            <p:ph idx="1"/>
          </p:nvPr>
        </p:nvSpPr>
        <p:spPr>
          <a:xfrm>
            <a:off x="1008380" y="1041400"/>
            <a:ext cx="10203815" cy="5039995"/>
          </a:xfrm>
        </p:spPr>
        <p:txBody>
          <a:bodyPr>
            <a:normAutofit lnSpcReduction="10000"/>
          </a:bodyPr>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public class Chairman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//董事长类只要有一个对象，可以通过静态块来实现，这就是所谓</a:t>
            </a:r>
            <a:r>
              <a:rPr lang="zh-CN" altLang="en-US" sz="1700" dirty="0" smtClean="0">
                <a:ea typeface="宋体" panose="02010600030101010101" pitchFamily="2" charset="-122"/>
                <a:cs typeface="+mn-lt"/>
              </a:rPr>
              <a:t>的</a:t>
            </a:r>
            <a:r>
              <a:rPr lang="en-US" altLang="zh-CN" sz="1700" dirty="0" smtClean="0">
                <a:ea typeface="宋体" panose="02010600030101010101" pitchFamily="2" charset="-122"/>
                <a:cs typeface="+mn-lt"/>
              </a:rPr>
              <a:t>单例设计模式--饿汉式</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private static Chairman chairman;</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r>
              <a:rPr lang="en-US" altLang="zh-CN" sz="1700" dirty="0" smtClean="0">
                <a:solidFill>
                  <a:srgbClr val="FF0000"/>
                </a:solidFill>
                <a:ea typeface="宋体" panose="02010600030101010101" pitchFamily="2" charset="-122"/>
                <a:cs typeface="+mn-lt"/>
              </a:rPr>
              <a:t>static </a:t>
            </a: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chairman = new Chairman();</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//获得一个董事长对象</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static  Chairman getInstanceChairman(){</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return chairman;</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单例设计模式（懒汉式）</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99331" name="内容占位符 2"/>
          <p:cNvSpPr>
            <a:spLocks noGrp="1"/>
          </p:cNvSpPr>
          <p:nvPr>
            <p:ph idx="1"/>
          </p:nvPr>
        </p:nvSpPr>
        <p:spPr>
          <a:xfrm>
            <a:off x="1008380" y="1041400"/>
            <a:ext cx="10203815" cy="5039995"/>
          </a:xfrm>
        </p:spPr>
        <p:txBody>
          <a:bodyPr>
            <a:normAutofit lnSpcReduction="10000"/>
          </a:bodyPr>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public class LazyChairman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//董事长类只要有一个对象，可以通过静态块来实现，这就是所谓</a:t>
            </a:r>
            <a:r>
              <a:rPr lang="zh-CN" altLang="en-US" sz="1700" dirty="0" smtClean="0">
                <a:ea typeface="宋体" panose="02010600030101010101" pitchFamily="2" charset="-122"/>
                <a:cs typeface="+mn-lt"/>
              </a:rPr>
              <a:t>的</a:t>
            </a:r>
            <a:r>
              <a:rPr lang="en-US" altLang="zh-CN" sz="1700" dirty="0" smtClean="0">
                <a:ea typeface="宋体" panose="02010600030101010101" pitchFamily="2" charset="-122"/>
                <a:cs typeface="+mn-lt"/>
              </a:rPr>
              <a:t>单例设计模式--懒汉式</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private static LazyChairman chairman;</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//获得一个董事长对象</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public static LazyChairman getInstanceChairman(){</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if (chairman == null)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chairman = new LazyChairman();</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return chairman;</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    }</a:t>
            </a:r>
            <a:endParaRPr lang="en-US" altLang="zh-CN" sz="1700" dirty="0" smtClean="0">
              <a:ea typeface="宋体" panose="02010600030101010101" pitchFamily="2" charset="-122"/>
              <a:cs typeface="+mn-lt"/>
            </a:endParaRPr>
          </a:p>
          <a:p>
            <a:pPr marL="361950" indent="-361950" eaLnBrk="1" hangingPunct="1">
              <a:buFont typeface="Times New Roman" panose="02020603050405020304" charset="0"/>
              <a:buAutoNum type="arabicPeriod"/>
            </a:pPr>
            <a:r>
              <a:rPr lang="en-US" altLang="zh-CN" sz="1700" dirty="0" smtClean="0">
                <a:ea typeface="宋体" panose="02010600030101010101" pitchFamily="2" charset="-122"/>
                <a:cs typeface="+mn-lt"/>
              </a:rPr>
              <a:t>}</a:t>
            </a:r>
            <a:endParaRPr lang="en-US" altLang="zh-CN" sz="1700" dirty="0" smtClean="0">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块的执行顺序（了解）</a:t>
            </a:r>
            <a:endParaRPr lang="zh-CN" altLang="en-US" sz="2400" b="1" spc="300" dirty="0" smtClean="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00355" name="内容占位符 2"/>
          <p:cNvSpPr>
            <a:spLocks noGrp="1"/>
          </p:cNvSpPr>
          <p:nvPr>
            <p:ph idx="1"/>
          </p:nvPr>
        </p:nvSpPr>
        <p:spPr>
          <a:xfrm>
            <a:off x="900113" y="1250019"/>
            <a:ext cx="7537450" cy="5040312"/>
          </a:xfrm>
        </p:spPr>
        <p:txBody>
          <a:bodyPr>
            <a:normAutofit fontScale="90000" lnSpcReduction="20000"/>
          </a:bodyPr>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public class TestPiece {</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static {</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System.out.println("我是静态块");</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System.out.println("我是实例块");</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public TestPiece() {</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System.out.println("我是构造器");</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public static void main(String[] args) {</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TestPiece testPiece = new TestPiece();//我是静态块,我是实例块,我是构造器</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    }</a:t>
            </a:r>
            <a:endParaRPr lang="en-US" altLang="zh-CN" sz="1700" smtClean="0">
              <a:solidFill>
                <a:srgbClr val="002060"/>
              </a:solidFill>
              <a:ea typeface="宋体" panose="02010600030101010101" pitchFamily="2" charset="-122"/>
            </a:endParaRPr>
          </a:p>
          <a:p>
            <a:pPr marL="361950" indent="-361950" eaLnBrk="1" hangingPunct="1">
              <a:buFont typeface="Times New Roman" panose="02020603050405020304" charset="0"/>
              <a:buAutoNum type="arabicPeriod"/>
            </a:pPr>
            <a:r>
              <a:rPr lang="en-US" altLang="zh-CN" sz="1700" smtClean="0">
                <a:solidFill>
                  <a:srgbClr val="002060"/>
                </a:solidFill>
                <a:ea typeface="宋体" panose="02010600030101010101" pitchFamily="2" charset="-122"/>
              </a:rPr>
              <a:t>}</a:t>
            </a:r>
            <a:endParaRPr lang="en-US" altLang="zh-CN" sz="1700" smtClean="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2120900" y="3137219"/>
            <a:ext cx="741680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final修饰符</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en-US" altLang="zh-CN" sz="2400" smtClean="0">
                <a:ea typeface="宋体" panose="02010600030101010101" pitchFamily="2" charset="-122"/>
                <a:sym typeface="+mn-ea"/>
              </a:rPr>
              <a:t>final</a:t>
            </a:r>
            <a:r>
              <a:rPr lang="zh-CN" altLang="en-US" sz="2400" smtClean="0">
                <a:ea typeface="宋体" panose="02010600030101010101" pitchFamily="2" charset="-122"/>
                <a:sym typeface="+mn-ea"/>
              </a:rPr>
              <a:t>修饰符</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987425" y="1021080"/>
            <a:ext cx="10069195" cy="5031105"/>
          </a:xfrm>
        </p:spPr>
        <p:txBody>
          <a:bodyPr>
            <a:normAutofit/>
          </a:bodyPr>
          <a:p>
            <a:pPr marL="457200" indent="-457200" eaLnBrk="1" hangingPunct="1">
              <a:buClr>
                <a:srgbClr val="ED7D31"/>
              </a:buClr>
              <a:buFont typeface="+mj-lt"/>
              <a:buAutoNum type="arabicPeriod"/>
            </a:pPr>
            <a:r>
              <a:rPr lang="en-US" altLang="zh-CN" dirty="0" smtClean="0">
                <a:ea typeface="宋体" panose="02010600030101010101" pitchFamily="2" charset="-122"/>
                <a:sym typeface="+mn-ea"/>
              </a:rPr>
              <a:t>final</a:t>
            </a:r>
            <a:r>
              <a:rPr lang="zh-CN" altLang="en-US" dirty="0" smtClean="0">
                <a:ea typeface="宋体" panose="02010600030101010101" pitchFamily="2" charset="-122"/>
                <a:sym typeface="+mn-ea"/>
              </a:rPr>
              <a:t>修饰符可用来修饰类或类中的成员</a:t>
            </a:r>
            <a:endParaRPr lang="zh-CN" altLang="en-US" dirty="0" smtClean="0">
              <a:ea typeface="宋体" panose="02010600030101010101" pitchFamily="2" charset="-122"/>
              <a:sym typeface="+mn-ea"/>
            </a:endParaRPr>
          </a:p>
          <a:p>
            <a:pPr marL="457200" indent="-457200" eaLnBrk="1" hangingPunct="1">
              <a:buClr>
                <a:srgbClr val="ED7D31"/>
              </a:buClr>
              <a:buFont typeface="+mj-lt"/>
              <a:buAutoNum type="arabicPeriod"/>
            </a:pPr>
            <a:r>
              <a:rPr lang="zh-CN" altLang="en-US" dirty="0" smtClean="0">
                <a:ea typeface="宋体" panose="02010600030101010101" pitchFamily="2" charset="-122"/>
                <a:sym typeface="+mn-ea"/>
              </a:rPr>
              <a:t>被</a:t>
            </a:r>
            <a:r>
              <a:rPr lang="en-US" altLang="zh-CN" dirty="0" smtClean="0">
                <a:ea typeface="宋体" panose="02010600030101010101" pitchFamily="2" charset="-122"/>
                <a:sym typeface="+mn-ea"/>
              </a:rPr>
              <a:t>final</a:t>
            </a:r>
            <a:r>
              <a:rPr lang="zh-CN" altLang="en-US" dirty="0" smtClean="0">
                <a:ea typeface="宋体" panose="02010600030101010101" pitchFamily="2" charset="-122"/>
                <a:sym typeface="+mn-ea"/>
              </a:rPr>
              <a:t>修饰的类成为最终类，不能再被子类所继承</a:t>
            </a:r>
            <a:endParaRPr lang="en-US" altLang="zh-CN" dirty="0" smtClean="0">
              <a:ea typeface="宋体" panose="02010600030101010101" pitchFamily="2" charset="-122"/>
            </a:endParaRPr>
          </a:p>
          <a:p>
            <a:pPr marL="361950" indent="-361950">
              <a:buFont typeface="Times" pitchFamily="18" charset="0"/>
              <a:buNone/>
              <a:defRPr/>
            </a:pPr>
            <a:r>
              <a:rPr lang="en-US" altLang="zh-CN" dirty="0" smtClean="0">
                <a:ea typeface="宋体" panose="02010600030101010101" pitchFamily="2" charset="-122"/>
                <a:sym typeface="+mn-ea"/>
              </a:rPr>
              <a:t>	 </a:t>
            </a:r>
            <a:r>
              <a:rPr lang="zh-CN" altLang="en-US" sz="2000" dirty="0" smtClean="0">
                <a:solidFill>
                  <a:srgbClr val="ED7D31"/>
                </a:solidFill>
                <a:ea typeface="宋体" panose="02010600030101010101" pitchFamily="2" charset="-122"/>
                <a:sym typeface="+mn-ea"/>
              </a:rPr>
              <a:t>例如：</a:t>
            </a:r>
            <a:r>
              <a:rPr lang="en-US" altLang="zh-CN" sz="2000" dirty="0" smtClean="0">
                <a:solidFill>
                  <a:srgbClr val="ED7D31"/>
                </a:solidFill>
                <a:ea typeface="宋体" panose="02010600030101010101" pitchFamily="2" charset="-122"/>
                <a:sym typeface="+mn-ea"/>
              </a:rPr>
              <a:t>public final class </a:t>
            </a:r>
            <a:r>
              <a:rPr lang="en-US" altLang="zh-CN" sz="2000" dirty="0" err="1" smtClean="0">
                <a:solidFill>
                  <a:srgbClr val="ED7D31"/>
                </a:solidFill>
                <a:ea typeface="宋体" panose="02010600030101010101" pitchFamily="2" charset="-122"/>
                <a:sym typeface="+mn-ea"/>
              </a:rPr>
              <a:t>FinalClass</a:t>
            </a:r>
            <a:r>
              <a:rPr lang="en-US" altLang="zh-CN" sz="2000" dirty="0" smtClean="0">
                <a:solidFill>
                  <a:srgbClr val="ED7D31"/>
                </a:solidFill>
                <a:ea typeface="宋体" panose="02010600030101010101" pitchFamily="2" charset="-122"/>
                <a:sym typeface="+mn-ea"/>
              </a:rPr>
              <a:t> { … }</a:t>
            </a:r>
            <a:endParaRPr lang="en-US" altLang="zh-CN" dirty="0" smtClean="0">
              <a:solidFill>
                <a:srgbClr val="ED7D31"/>
              </a:solidFill>
              <a:ea typeface="宋体" panose="02010600030101010101" pitchFamily="2" charset="-122"/>
            </a:endParaRPr>
          </a:p>
          <a:p>
            <a:pPr marL="457200" indent="-457200">
              <a:buClr>
                <a:srgbClr val="ED7D31"/>
              </a:buClr>
              <a:buFont typeface="+mj-lt"/>
              <a:buAutoNum type="arabicPeriod" startAt="3"/>
              <a:defRPr/>
            </a:pPr>
            <a:r>
              <a:rPr lang="zh-CN" altLang="en-US" dirty="0" smtClean="0">
                <a:ea typeface="宋体" panose="02010600030101010101" pitchFamily="2" charset="-122"/>
                <a:sym typeface="+mn-ea"/>
              </a:rPr>
              <a:t>被</a:t>
            </a:r>
            <a:r>
              <a:rPr lang="zh-CN" altLang="en-US" dirty="0" smtClean="0">
                <a:ea typeface="宋体" panose="02010600030101010101" pitchFamily="2" charset="-122"/>
              </a:rPr>
              <a:t>final修饰的方法成为最终方法，不能再被子类的方法所覆盖。</a:t>
            </a:r>
            <a:endParaRPr lang="zh-CN" altLang="en-US" dirty="0" smtClean="0">
              <a:ea typeface="宋体" panose="02010600030101010101" pitchFamily="2" charset="-122"/>
            </a:endParaRPr>
          </a:p>
          <a:p>
            <a:pPr marL="457200" lvl="1" indent="0">
              <a:buClr>
                <a:srgbClr val="ED7D31"/>
              </a:buClr>
              <a:buFont typeface="Arial" panose="020B0604020202020204" pitchFamily="34" charset="0"/>
              <a:buNone/>
              <a:defRPr/>
            </a:pPr>
            <a:r>
              <a:rPr lang="zh-CN" altLang="en-US" dirty="0" smtClean="0">
                <a:ea typeface="宋体" panose="02010600030101010101" pitchFamily="2" charset="-122"/>
                <a:sym typeface="+mn-ea"/>
              </a:rPr>
              <a:t>例如：</a:t>
            </a:r>
            <a:endParaRPr lang="en-US" altLang="zh-CN" dirty="0" smtClean="0">
              <a:ea typeface="宋体" panose="02010600030101010101" pitchFamily="2" charset="-122"/>
            </a:endParaRPr>
          </a:p>
          <a:p>
            <a:pPr marL="819150" lvl="1" indent="-361950">
              <a:buFont typeface="Times" pitchFamily="18" charset="0"/>
              <a:buNone/>
              <a:defRPr/>
            </a:pPr>
            <a:r>
              <a:rPr lang="en-US" altLang="zh-CN" dirty="0" smtClean="0">
                <a:ea typeface="宋体" panose="02010600030101010101" pitchFamily="2" charset="-122"/>
                <a:sym typeface="+mn-ea"/>
              </a:rPr>
              <a:t>	</a:t>
            </a:r>
            <a:r>
              <a:rPr lang="en-US" altLang="zh-CN" dirty="0" smtClean="0">
                <a:solidFill>
                  <a:srgbClr val="ED7D31"/>
                </a:solidFill>
                <a:ea typeface="宋体" panose="02010600030101010101" pitchFamily="2" charset="-122"/>
                <a:sym typeface="+mn-ea"/>
              </a:rPr>
              <a:t>public class </a:t>
            </a:r>
            <a:r>
              <a:rPr lang="en-US" altLang="zh-CN" dirty="0" err="1" smtClean="0">
                <a:solidFill>
                  <a:srgbClr val="ED7D31"/>
                </a:solidFill>
                <a:ea typeface="宋体" panose="02010600030101010101" pitchFamily="2" charset="-122"/>
                <a:sym typeface="+mn-ea"/>
              </a:rPr>
              <a:t>FinalMethodClass</a:t>
            </a:r>
            <a:r>
              <a:rPr lang="en-US" altLang="zh-CN" dirty="0" smtClean="0">
                <a:solidFill>
                  <a:srgbClr val="ED7D31"/>
                </a:solidFill>
                <a:ea typeface="宋体" panose="02010600030101010101" pitchFamily="2" charset="-122"/>
                <a:sym typeface="+mn-ea"/>
              </a:rPr>
              <a:t> {</a:t>
            </a:r>
            <a:endParaRPr lang="en-US" altLang="zh-CN" dirty="0" smtClean="0">
              <a:solidFill>
                <a:srgbClr val="ED7D31"/>
              </a:solidFill>
              <a:ea typeface="宋体" panose="02010600030101010101" pitchFamily="2" charset="-122"/>
            </a:endParaRPr>
          </a:p>
          <a:p>
            <a:pPr marL="819150" lvl="1" indent="-361950">
              <a:buFont typeface="Times" pitchFamily="18" charset="0"/>
              <a:buNone/>
              <a:defRPr/>
            </a:pPr>
            <a:r>
              <a:rPr lang="en-US" altLang="zh-CN" dirty="0" smtClean="0">
                <a:solidFill>
                  <a:srgbClr val="ED7D31"/>
                </a:solidFill>
                <a:ea typeface="宋体" panose="02010600030101010101" pitchFamily="2" charset="-122"/>
                <a:sym typeface="+mn-ea"/>
              </a:rPr>
              <a:t>		public final void method() { … }	</a:t>
            </a:r>
            <a:endParaRPr lang="en-US" altLang="zh-CN" dirty="0" smtClean="0">
              <a:solidFill>
                <a:srgbClr val="ED7D31"/>
              </a:solidFill>
              <a:ea typeface="宋体" panose="02010600030101010101" pitchFamily="2" charset="-122"/>
            </a:endParaRPr>
          </a:p>
          <a:p>
            <a:pPr marL="819150" lvl="1" indent="-361950">
              <a:buFont typeface="Times" pitchFamily="18" charset="0"/>
              <a:buNone/>
              <a:defRPr/>
            </a:pPr>
            <a:r>
              <a:rPr lang="en-US" altLang="zh-CN" dirty="0" smtClean="0">
                <a:solidFill>
                  <a:srgbClr val="ED7D31"/>
                </a:solidFill>
                <a:ea typeface="宋体" panose="02010600030101010101" pitchFamily="2" charset="-122"/>
                <a:sym typeface="+mn-ea"/>
              </a:rPr>
              <a:t>	}</a:t>
            </a:r>
            <a:endParaRPr lang="en-US" altLang="zh-CN" dirty="0" smtClean="0">
              <a:solidFill>
                <a:srgbClr val="ED7D31"/>
              </a:solidFill>
              <a:ea typeface="宋体" panose="02010600030101010101" pitchFamily="2" charset="-122"/>
            </a:endParaRPr>
          </a:p>
          <a:p>
            <a:pPr marL="457200" indent="-457200" algn="l">
              <a:buClr>
                <a:srgbClr val="ED7D31"/>
              </a:buClr>
              <a:buSzTx/>
              <a:buFont typeface="+mj-lt"/>
              <a:buAutoNum type="arabicPeriod" startAt="4"/>
              <a:defRPr/>
            </a:pPr>
            <a:r>
              <a:rPr lang="zh-CN" altLang="en-US" dirty="0" smtClean="0">
                <a:ea typeface="宋体" panose="02010600030101010101" pitchFamily="2" charset="-122"/>
                <a:sym typeface="+mn-ea"/>
              </a:rPr>
              <a:t>被</a:t>
            </a:r>
            <a:r>
              <a:rPr lang="zh-CN" altLang="en-US" dirty="0" smtClean="0">
                <a:ea typeface="宋体" panose="02010600030101010101" pitchFamily="2" charset="-122"/>
                <a:sym typeface="+mn-ea"/>
              </a:rPr>
              <a:t>final修饰的属性称为常量，其值一旦赋予，便不能再被修改。</a:t>
            </a:r>
            <a:endParaRPr lang="zh-CN" altLang="en-US" dirty="0" smtClean="0">
              <a:ea typeface="宋体" panose="02010600030101010101" pitchFamily="2" charset="-122"/>
              <a:sym typeface="+mn-ea"/>
            </a:endParaRPr>
          </a:p>
          <a:p>
            <a:pPr marL="457200" lvl="1" indent="0">
              <a:buFont typeface="Times" pitchFamily="18" charset="0"/>
              <a:buNone/>
              <a:defRPr/>
            </a:pPr>
            <a:r>
              <a:rPr lang="zh-CN" altLang="en-US" dirty="0" smtClean="0">
                <a:ea typeface="宋体" panose="02010600030101010101" pitchFamily="2" charset="-122"/>
                <a:sym typeface="+mn-ea"/>
              </a:rPr>
              <a:t>例如：</a:t>
            </a:r>
            <a:endParaRPr lang="en-US" altLang="zh-CN" dirty="0" smtClean="0">
              <a:ea typeface="宋体" panose="02010600030101010101" pitchFamily="2" charset="-122"/>
            </a:endParaRPr>
          </a:p>
          <a:p>
            <a:pPr marL="819150" lvl="1" indent="-361950">
              <a:buFont typeface="Times" pitchFamily="18" charset="0"/>
              <a:buNone/>
              <a:defRPr/>
            </a:pPr>
            <a:r>
              <a:rPr lang="en-US" altLang="zh-CN" dirty="0" smtClean="0">
                <a:ea typeface="宋体" panose="02010600030101010101" pitchFamily="2" charset="-122"/>
                <a:sym typeface="+mn-ea"/>
              </a:rPr>
              <a:t>	</a:t>
            </a:r>
            <a:r>
              <a:rPr lang="en-US" altLang="zh-CN" sz="1665" dirty="0" smtClean="0">
                <a:solidFill>
                  <a:srgbClr val="ED7D31"/>
                </a:solidFill>
                <a:ea typeface="宋体" panose="02010600030101010101" pitchFamily="2" charset="-122"/>
                <a:sym typeface="+mn-ea"/>
              </a:rPr>
              <a:t>public class </a:t>
            </a:r>
            <a:r>
              <a:rPr lang="en-US" altLang="zh-CN" sz="1665" dirty="0" err="1" smtClean="0">
                <a:solidFill>
                  <a:srgbClr val="ED7D31"/>
                </a:solidFill>
                <a:ea typeface="宋体" panose="02010600030101010101" pitchFamily="2" charset="-122"/>
                <a:sym typeface="+mn-ea"/>
              </a:rPr>
              <a:t>FinalFieldClass</a:t>
            </a:r>
            <a:r>
              <a:rPr lang="en-US" altLang="zh-CN" sz="1665" dirty="0" smtClean="0">
                <a:solidFill>
                  <a:srgbClr val="ED7D31"/>
                </a:solidFill>
                <a:ea typeface="宋体" panose="02010600030101010101" pitchFamily="2" charset="-122"/>
                <a:sym typeface="+mn-ea"/>
              </a:rPr>
              <a:t> {</a:t>
            </a:r>
            <a:endParaRPr lang="en-US" altLang="zh-CN" sz="1665" dirty="0" smtClean="0">
              <a:solidFill>
                <a:srgbClr val="ED7D31"/>
              </a:solidFill>
              <a:ea typeface="宋体" panose="02010600030101010101" pitchFamily="2" charset="-122"/>
            </a:endParaRPr>
          </a:p>
          <a:p>
            <a:pPr marL="819150" lvl="1" indent="-361950">
              <a:buFont typeface="Times" pitchFamily="18" charset="0"/>
              <a:buNone/>
              <a:defRPr/>
            </a:pPr>
            <a:r>
              <a:rPr lang="en-US" altLang="zh-CN" sz="1665" dirty="0" smtClean="0">
                <a:solidFill>
                  <a:srgbClr val="ED7D31"/>
                </a:solidFill>
                <a:ea typeface="宋体" panose="02010600030101010101" pitchFamily="2" charset="-122"/>
                <a:sym typeface="+mn-ea"/>
              </a:rPr>
              <a:t>		public final </a:t>
            </a:r>
            <a:r>
              <a:rPr lang="en-US" altLang="zh-CN" sz="1665" dirty="0" err="1" smtClean="0">
                <a:solidFill>
                  <a:srgbClr val="ED7D31"/>
                </a:solidFill>
                <a:ea typeface="宋体" panose="02010600030101010101" pitchFamily="2" charset="-122"/>
                <a:sym typeface="+mn-ea"/>
              </a:rPr>
              <a:t>int</a:t>
            </a:r>
            <a:r>
              <a:rPr lang="en-US" altLang="zh-CN" sz="1665" dirty="0" smtClean="0">
                <a:solidFill>
                  <a:srgbClr val="ED7D31"/>
                </a:solidFill>
                <a:ea typeface="宋体" panose="02010600030101010101" pitchFamily="2" charset="-122"/>
                <a:sym typeface="+mn-ea"/>
              </a:rPr>
              <a:t> COUNTER = 100;	//</a:t>
            </a:r>
            <a:r>
              <a:rPr lang="zh-CN" altLang="en-US" sz="1665" dirty="0" smtClean="0">
                <a:solidFill>
                  <a:srgbClr val="ED7D31"/>
                </a:solidFill>
                <a:ea typeface="宋体" panose="02010600030101010101" pitchFamily="2" charset="-122"/>
                <a:sym typeface="+mn-ea"/>
              </a:rPr>
              <a:t>常量的声明通常使用大写</a:t>
            </a:r>
            <a:endParaRPr lang="en-US" altLang="zh-CN" sz="1665" dirty="0" smtClean="0">
              <a:solidFill>
                <a:srgbClr val="ED7D31"/>
              </a:solidFill>
              <a:ea typeface="宋体" panose="02010600030101010101" pitchFamily="2" charset="-122"/>
            </a:endParaRPr>
          </a:p>
          <a:p>
            <a:pPr marL="819150" lvl="1" indent="-361950">
              <a:buFont typeface="Times" pitchFamily="18" charset="0"/>
              <a:buNone/>
              <a:defRPr/>
            </a:pPr>
            <a:r>
              <a:rPr lang="en-US" altLang="zh-CN" sz="1665" dirty="0" smtClean="0">
                <a:solidFill>
                  <a:srgbClr val="ED7D31"/>
                </a:solidFill>
                <a:ea typeface="宋体" panose="02010600030101010101" pitchFamily="2" charset="-122"/>
                <a:sym typeface="+mn-ea"/>
              </a:rPr>
              <a:t>	}</a:t>
            </a:r>
            <a:endParaRPr lang="en-US" altLang="zh-CN" sz="1665" dirty="0" smtClean="0">
              <a:solidFill>
                <a:srgbClr val="ED7D31"/>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声明静态常量</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eaLnBrk="1" hangingPunct="1">
              <a:lnSpc>
                <a:spcPct val="160000"/>
              </a:lnSpc>
              <a:buClr>
                <a:srgbClr val="ED7D31"/>
              </a:buClr>
              <a:buFont typeface="+mj-lt"/>
              <a:buAutoNum type="arabicPeriod"/>
            </a:pPr>
            <a:r>
              <a:rPr lang="zh-CN" altLang="en-US" sz="2000" smtClean="0">
                <a:ea typeface="宋体" panose="02010600030101010101" pitchFamily="2" charset="-122"/>
                <a:sym typeface="+mn-ea"/>
              </a:rPr>
              <a:t>大多数情况下，</a:t>
            </a:r>
            <a:r>
              <a:rPr lang="en-US" altLang="zh-CN" sz="2000" smtClean="0">
                <a:ea typeface="宋体" panose="02010600030101010101" pitchFamily="2" charset="-122"/>
                <a:sym typeface="+mn-ea"/>
              </a:rPr>
              <a:t>static</a:t>
            </a:r>
            <a:r>
              <a:rPr lang="zh-CN" altLang="en-US" sz="2000" smtClean="0">
                <a:ea typeface="宋体" panose="02010600030101010101" pitchFamily="2" charset="-122"/>
                <a:sym typeface="+mn-ea"/>
              </a:rPr>
              <a:t>与</a:t>
            </a:r>
            <a:r>
              <a:rPr lang="en-US" altLang="zh-CN" sz="2000" smtClean="0">
                <a:ea typeface="宋体" panose="02010600030101010101" pitchFamily="2" charset="-122"/>
                <a:sym typeface="+mn-ea"/>
              </a:rPr>
              <a:t>final</a:t>
            </a:r>
            <a:r>
              <a:rPr lang="zh-CN" altLang="en-US" sz="2000" smtClean="0">
                <a:ea typeface="宋体" panose="02010600030101010101" pitchFamily="2" charset="-122"/>
                <a:sym typeface="+mn-ea"/>
              </a:rPr>
              <a:t>一起使用以修饰一个公用常量，一般都是全大写。</a:t>
            </a:r>
            <a:endParaRPr lang="zh-CN" altLang="en-US" sz="2000" smtClean="0">
              <a:ea typeface="宋体" panose="02010600030101010101" pitchFamily="2" charset="-122"/>
              <a:sym typeface="+mn-ea"/>
            </a:endParaRPr>
          </a:p>
          <a:p>
            <a:pPr lvl="1" eaLnBrk="1" hangingPunct="1">
              <a:lnSpc>
                <a:spcPct val="160000"/>
              </a:lnSpc>
              <a:buClr>
                <a:srgbClr val="ED7D31"/>
              </a:buClr>
              <a:buFont typeface="Arial" panose="020B0604020202020204" pitchFamily="34" charset="0"/>
              <a:buChar char="•"/>
            </a:pPr>
            <a:r>
              <a:rPr lang="zh-CN" altLang="en-US" sz="1665" smtClean="0">
                <a:ea typeface="宋体" panose="02010600030101010101" pitchFamily="2" charset="-122"/>
                <a:sym typeface="+mn-ea"/>
              </a:rPr>
              <a:t>例如：</a:t>
            </a:r>
            <a:endParaRPr lang="en-US" altLang="zh-CN" sz="1665" smtClean="0">
              <a:ea typeface="宋体" panose="02010600030101010101" pitchFamily="2" charset="-122"/>
            </a:endParaRPr>
          </a:p>
          <a:p>
            <a:pPr marL="361950" indent="-361950">
              <a:lnSpc>
                <a:spcPct val="160000"/>
              </a:lnSpc>
              <a:buFont typeface="Times"/>
              <a:buNone/>
            </a:pPr>
            <a:r>
              <a:rPr lang="en-US" altLang="zh-CN" sz="2000" smtClean="0">
                <a:ea typeface="宋体" panose="02010600030101010101" pitchFamily="2" charset="-122"/>
                <a:sym typeface="+mn-ea"/>
              </a:rPr>
              <a:t>	 	public static </a:t>
            </a:r>
            <a:r>
              <a:rPr lang="en-US" altLang="zh-CN" sz="2000" smtClean="0">
                <a:solidFill>
                  <a:srgbClr val="ED7D31"/>
                </a:solidFill>
                <a:ea typeface="宋体" panose="02010600030101010101" pitchFamily="2" charset="-122"/>
                <a:sym typeface="+mn-ea"/>
              </a:rPr>
              <a:t>final </a:t>
            </a:r>
            <a:r>
              <a:rPr lang="en-US" altLang="zh-CN" sz="2000" smtClean="0">
                <a:ea typeface="宋体" panose="02010600030101010101" pitchFamily="2" charset="-122"/>
                <a:sym typeface="+mn-ea"/>
              </a:rPr>
              <a:t>double PI = 3.14;</a:t>
            </a:r>
            <a:endParaRPr lang="en-US" altLang="zh-CN" sz="2000" smtClean="0">
              <a:ea typeface="宋体" panose="02010600030101010101" pitchFamily="2" charset="-122"/>
            </a:endParaRPr>
          </a:p>
          <a:p>
            <a:pPr marL="457200" lvl="1" indent="0">
              <a:lnSpc>
                <a:spcPct val="160000"/>
              </a:lnSpc>
              <a:buNone/>
            </a:pPr>
            <a:r>
              <a:rPr lang="en-US" altLang="zh-CN" sz="1665" smtClean="0">
                <a:ea typeface="宋体" panose="02010600030101010101" pitchFamily="2" charset="-122"/>
                <a:sym typeface="+mn-ea"/>
              </a:rPr>
              <a:t>       </a:t>
            </a:r>
            <a:r>
              <a:rPr lang="zh-CN" altLang="en-US" sz="1665" smtClean="0">
                <a:ea typeface="宋体" panose="02010600030101010101" pitchFamily="2" charset="-122"/>
                <a:sym typeface="+mn-ea"/>
              </a:rPr>
              <a:t>这种常量可以在程序的任何位置被直接使用</a:t>
            </a:r>
            <a:endParaRPr lang="en-US" altLang="zh-CN" sz="1385" dirty="0" smtClean="0">
              <a:solidFill>
                <a:srgbClr val="ED7D31"/>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en-US" altLang="zh-CN" sz="2400" smtClean="0">
                <a:solidFill>
                  <a:srgbClr val="002060"/>
                </a:solidFill>
                <a:ea typeface="宋体" panose="02010600030101010101" pitchFamily="2" charset="-122"/>
                <a:sym typeface="+mn-ea"/>
              </a:rPr>
              <a:t>final </a:t>
            </a:r>
            <a:r>
              <a:rPr lang="en-US" altLang="zh-CN" sz="2400" smtClean="0">
                <a:ea typeface="宋体" panose="02010600030101010101" pitchFamily="2" charset="-122"/>
                <a:sym typeface="+mn-ea"/>
              </a:rPr>
              <a:t> 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1068705"/>
            <a:ext cx="10765790" cy="5039995"/>
          </a:xfrm>
        </p:spPr>
        <p:txBody>
          <a:bodyPr/>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public </a:t>
            </a:r>
            <a:r>
              <a:rPr lang="en-US" altLang="zh-CN" sz="1700" smtClean="0">
                <a:solidFill>
                  <a:srgbClr val="FF0000"/>
                </a:solidFill>
                <a:ea typeface="宋体" panose="02010600030101010101" pitchFamily="2" charset="-122"/>
              </a:rPr>
              <a:t>final </a:t>
            </a:r>
            <a:r>
              <a:rPr lang="en-US" altLang="zh-CN" sz="1700" smtClean="0">
                <a:solidFill>
                  <a:srgbClr val="002060"/>
                </a:solidFill>
                <a:ea typeface="宋体" panose="02010600030101010101" pitchFamily="2" charset="-122"/>
              </a:rPr>
              <a:t>class Person {//修饰类不可被继承</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public String name;</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public int age;</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//公务员不可以更改国籍</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public static </a:t>
            </a:r>
            <a:r>
              <a:rPr lang="en-US" altLang="zh-CN" sz="1700" smtClean="0">
                <a:solidFill>
                  <a:srgbClr val="FF0000"/>
                </a:solidFill>
                <a:ea typeface="宋体" panose="02010600030101010101" pitchFamily="2" charset="-122"/>
              </a:rPr>
              <a:t>final </a:t>
            </a:r>
            <a:r>
              <a:rPr lang="en-US" altLang="zh-CN" sz="1700" smtClean="0">
                <a:solidFill>
                  <a:srgbClr val="002060"/>
                </a:solidFill>
                <a:ea typeface="宋体" panose="02010600030101010101" pitchFamily="2" charset="-122"/>
              </a:rPr>
              <a:t>String COUNTRY = "中国";//修饰变量不可改变</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public  static </a:t>
            </a:r>
            <a:r>
              <a:rPr lang="en-US" altLang="zh-CN" sz="1700" smtClean="0">
                <a:solidFill>
                  <a:srgbClr val="FF0000"/>
                </a:solidFill>
                <a:ea typeface="宋体" panose="02010600030101010101" pitchFamily="2" charset="-122"/>
              </a:rPr>
              <a:t>final </a:t>
            </a:r>
            <a:r>
              <a:rPr lang="en-US" altLang="zh-CN" sz="1700" smtClean="0">
                <a:solidFill>
                  <a:srgbClr val="002060"/>
                </a:solidFill>
                <a:ea typeface="宋体" panose="02010600030101010101" pitchFamily="2" charset="-122"/>
              </a:rPr>
              <a:t>String getCountry(){//修饰方法不可以被重写</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return COUNTRY;</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class Teacher extends Person{//Cannot inherit from final 'Person'</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class Test{</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public static void main(String[] args)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Person person = new Person();</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person.name = "张三";</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System.out.println(person.COUNTRY);</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person.COUNTRY = "日本";//Cannot assign a value to final variable 'COUNTRY'</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002060"/>
                </a:solidFill>
                <a:ea typeface="宋体" panose="02010600030101010101" pitchFamily="2" charset="-122"/>
              </a:rPr>
              <a:t>}</a:t>
            </a:r>
            <a:endParaRPr lang="en-US" altLang="zh-CN" sz="1700" smtClean="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在MyMath 类中声明公有静态常量PI ，值为3.14 。</a:t>
            </a:r>
            <a:endParaRPr lang="zh-CN" altLang="en-US" sz="2000" smtClean="0">
              <a:ea typeface="宋体" panose="02010600030101010101" pitchFamily="2" charset="-122"/>
            </a:endParaRPr>
          </a:p>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设计一个类Circle， 至少包含实例变量半径（radius ），和实例方法获得面积</a:t>
            </a:r>
            <a:r>
              <a:rPr lang="en-US" altLang="zh-CN" sz="2000" smtClean="0">
                <a:ea typeface="宋体" panose="02010600030101010101" pitchFamily="2" charset="-122"/>
                <a:sym typeface="+mn-ea"/>
              </a:rPr>
              <a:t>getArea()</a:t>
            </a:r>
            <a:r>
              <a:rPr lang="zh-CN" altLang="en-US" sz="2000" smtClean="0">
                <a:ea typeface="宋体" panose="02010600030101010101" pitchFamily="2" charset="-122"/>
                <a:sym typeface="+mn-ea"/>
              </a:rPr>
              <a:t>。</a:t>
            </a:r>
            <a:endParaRPr lang="zh-CN" altLang="en-US" sz="2000" smtClean="0">
              <a:ea typeface="宋体" panose="02010600030101010101" pitchFamily="2" charset="-122"/>
            </a:endParaRPr>
          </a:p>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在Test类的main方法中计算半径为2.6的圆面积。</a:t>
            </a:r>
            <a:endParaRPr lang="zh-CN" altLang="en-US" sz="20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空</a:t>
            </a:r>
            <a:r>
              <a:rPr lang="en-US" altLang="zh-CN" sz="2400" smtClean="0">
                <a:ea typeface="宋体" panose="02010600030101010101" pitchFamily="2" charset="-122"/>
                <a:sym typeface="+mn-ea"/>
              </a:rPr>
              <a:t>final</a:t>
            </a:r>
            <a:r>
              <a:rPr lang="zh-CN" altLang="en-US" sz="2400" smtClean="0">
                <a:ea typeface="宋体" panose="02010600030101010101" pitchFamily="2" charset="-122"/>
                <a:sym typeface="+mn-ea"/>
              </a:rPr>
              <a:t>变量</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algn="l">
              <a:lnSpc>
                <a:spcPct val="160000"/>
              </a:lnSpc>
              <a:buClr>
                <a:srgbClr val="ED7D31"/>
              </a:buClr>
              <a:buSzTx/>
              <a:buFont typeface="+mj-lt"/>
              <a:buAutoNum type="arabicPeriod"/>
            </a:pPr>
            <a:r>
              <a:rPr lang="zh-CN" altLang="en-US" sz="2000" smtClean="0">
                <a:ea typeface="宋体" panose="02010600030101010101" pitchFamily="2" charset="-122"/>
                <a:sym typeface="+mn-ea"/>
              </a:rPr>
              <a:t>在声明常量时，可以暂时不为其指定初始值，称为空final变量。</a:t>
            </a:r>
            <a:endParaRPr lang="zh-CN" altLang="en-US" sz="2000" smtClean="0">
              <a:ea typeface="宋体" panose="02010600030101010101" pitchFamily="2" charset="-122"/>
            </a:endParaRPr>
          </a:p>
          <a:p>
            <a:pPr marL="457200" indent="-457200" algn="l">
              <a:lnSpc>
                <a:spcPct val="160000"/>
              </a:lnSpc>
              <a:buClr>
                <a:srgbClr val="ED7D31"/>
              </a:buClr>
              <a:buSzTx/>
              <a:buFont typeface="+mj-lt"/>
              <a:buAutoNum type="arabicPeriod"/>
            </a:pPr>
            <a:r>
              <a:rPr lang="zh-CN" altLang="en-US" sz="2000" smtClean="0">
                <a:ea typeface="宋体" panose="02010600030101010101" pitchFamily="2" charset="-122"/>
                <a:sym typeface="+mn-ea"/>
              </a:rPr>
              <a:t>空final变量的</a:t>
            </a:r>
            <a:r>
              <a:rPr lang="zh-CN" altLang="en-US" sz="2000" smtClean="0">
                <a:solidFill>
                  <a:srgbClr val="FF0000"/>
                </a:solidFill>
                <a:ea typeface="宋体" panose="02010600030101010101" pitchFamily="2" charset="-122"/>
                <a:sym typeface="+mn-ea"/>
              </a:rPr>
              <a:t>初始值必须在构造器中指定</a:t>
            </a:r>
            <a:r>
              <a:rPr lang="zh-CN" altLang="en-US" sz="2000" smtClean="0">
                <a:ea typeface="宋体" panose="02010600030101010101" pitchFamily="2" charset="-122"/>
                <a:sym typeface="+mn-ea"/>
              </a:rPr>
              <a:t>。例如：</a:t>
            </a:r>
            <a:endParaRPr lang="zh-CN" altLang="en-US" sz="2000" smtClean="0">
              <a:ea typeface="宋体" panose="02010600030101010101" pitchFamily="2" charset="-122"/>
            </a:endParaRPr>
          </a:p>
          <a:p>
            <a:pPr marL="1276350" lvl="2" indent="-361950">
              <a:lnSpc>
                <a:spcPct val="120000"/>
              </a:lnSpc>
              <a:buFont typeface="Times"/>
              <a:buNone/>
            </a:pPr>
            <a:r>
              <a:rPr lang="en-US" altLang="zh-CN" dirty="0" smtClean="0">
                <a:solidFill>
                  <a:srgbClr val="002060"/>
                </a:solidFill>
                <a:ea typeface="宋体" panose="02010600030101010101" pitchFamily="2" charset="-122"/>
                <a:sym typeface="+mn-ea"/>
              </a:rPr>
              <a:t>public class </a:t>
            </a:r>
            <a:r>
              <a:rPr lang="en-US" altLang="zh-CN" dirty="0" err="1" smtClean="0">
                <a:solidFill>
                  <a:srgbClr val="002060"/>
                </a:solidFill>
                <a:ea typeface="宋体" panose="02010600030101010101" pitchFamily="2" charset="-122"/>
                <a:sym typeface="+mn-ea"/>
              </a:rPr>
              <a:t>FinalFieldClass</a:t>
            </a:r>
            <a:r>
              <a:rPr lang="en-US" altLang="zh-CN" dirty="0" smtClean="0">
                <a:solidFill>
                  <a:srgbClr val="002060"/>
                </a:solidFill>
                <a:ea typeface="宋体" panose="02010600030101010101" pitchFamily="2" charset="-122"/>
                <a:sym typeface="+mn-ea"/>
              </a:rPr>
              <a:t> {</a:t>
            </a:r>
            <a:endParaRPr lang="en-US" altLang="zh-CN" dirty="0" smtClean="0">
              <a:solidFill>
                <a:srgbClr val="002060"/>
              </a:solidFill>
              <a:ea typeface="宋体" panose="02010600030101010101" pitchFamily="2" charset="-122"/>
            </a:endParaRPr>
          </a:p>
          <a:p>
            <a:pPr marL="1276350" lvl="2" indent="-361950">
              <a:lnSpc>
                <a:spcPct val="120000"/>
              </a:lnSpc>
              <a:buFont typeface="Times"/>
              <a:buNone/>
            </a:pPr>
            <a:r>
              <a:rPr lang="en-US" altLang="zh-CN" dirty="0" smtClean="0">
                <a:solidFill>
                  <a:srgbClr val="002060"/>
                </a:solidFill>
                <a:ea typeface="宋体" panose="02010600030101010101" pitchFamily="2" charset="-122"/>
                <a:sym typeface="+mn-ea"/>
              </a:rPr>
              <a:t>	    public final </a:t>
            </a:r>
            <a:r>
              <a:rPr lang="en-US" altLang="zh-CN" dirty="0" err="1" smtClean="0">
                <a:solidFill>
                  <a:srgbClr val="002060"/>
                </a:solidFill>
                <a:ea typeface="宋体" panose="02010600030101010101" pitchFamily="2" charset="-122"/>
                <a:sym typeface="+mn-ea"/>
              </a:rPr>
              <a:t>int</a:t>
            </a:r>
            <a:r>
              <a:rPr lang="en-US" altLang="zh-CN" dirty="0" smtClean="0">
                <a:solidFill>
                  <a:srgbClr val="002060"/>
                </a:solidFill>
                <a:ea typeface="宋体" panose="02010600030101010101" pitchFamily="2" charset="-122"/>
                <a:sym typeface="+mn-ea"/>
              </a:rPr>
              <a:t> counter;</a:t>
            </a:r>
            <a:endParaRPr lang="en-US" altLang="zh-CN" dirty="0" smtClean="0">
              <a:solidFill>
                <a:srgbClr val="002060"/>
              </a:solidFill>
              <a:ea typeface="宋体" panose="02010600030101010101" pitchFamily="2" charset="-122"/>
            </a:endParaRPr>
          </a:p>
          <a:p>
            <a:pPr marL="1276350" lvl="2" indent="-361950">
              <a:lnSpc>
                <a:spcPct val="120000"/>
              </a:lnSpc>
              <a:buFont typeface="Times"/>
              <a:buNone/>
            </a:pPr>
            <a:r>
              <a:rPr lang="en-US" altLang="zh-CN" dirty="0" smtClean="0">
                <a:solidFill>
                  <a:srgbClr val="002060"/>
                </a:solidFill>
                <a:ea typeface="宋体" panose="02010600030101010101" pitchFamily="2" charset="-122"/>
                <a:sym typeface="+mn-ea"/>
              </a:rPr>
              <a:t>	    public </a:t>
            </a:r>
            <a:r>
              <a:rPr lang="en-US" altLang="zh-CN" dirty="0" err="1" smtClean="0">
                <a:solidFill>
                  <a:srgbClr val="002060"/>
                </a:solidFill>
                <a:ea typeface="宋体" panose="02010600030101010101" pitchFamily="2" charset="-122"/>
                <a:sym typeface="+mn-ea"/>
              </a:rPr>
              <a:t>FinalFieldClass</a:t>
            </a:r>
            <a:r>
              <a:rPr lang="en-US" altLang="zh-CN" dirty="0" smtClean="0">
                <a:solidFill>
                  <a:srgbClr val="002060"/>
                </a:solidFill>
                <a:ea typeface="宋体" panose="02010600030101010101" pitchFamily="2" charset="-122"/>
                <a:sym typeface="+mn-ea"/>
              </a:rPr>
              <a:t>(</a:t>
            </a:r>
            <a:r>
              <a:rPr lang="en-US" altLang="zh-CN" dirty="0" err="1" smtClean="0">
                <a:solidFill>
                  <a:srgbClr val="002060"/>
                </a:solidFill>
                <a:ea typeface="宋体" panose="02010600030101010101" pitchFamily="2" charset="-122"/>
                <a:sym typeface="+mn-ea"/>
              </a:rPr>
              <a:t>int</a:t>
            </a:r>
            <a:r>
              <a:rPr lang="en-US" altLang="zh-CN" dirty="0" smtClean="0">
                <a:solidFill>
                  <a:srgbClr val="002060"/>
                </a:solidFill>
                <a:ea typeface="宋体" panose="02010600030101010101" pitchFamily="2" charset="-122"/>
                <a:sym typeface="+mn-ea"/>
              </a:rPr>
              <a:t> n) {</a:t>
            </a:r>
            <a:endParaRPr lang="en-US" altLang="zh-CN" dirty="0" smtClean="0">
              <a:solidFill>
                <a:srgbClr val="002060"/>
              </a:solidFill>
              <a:ea typeface="宋体" panose="02010600030101010101" pitchFamily="2" charset="-122"/>
            </a:endParaRPr>
          </a:p>
          <a:p>
            <a:pPr marL="1276350" lvl="2" indent="-361950">
              <a:lnSpc>
                <a:spcPct val="120000"/>
              </a:lnSpc>
              <a:buFont typeface="Times"/>
              <a:buNone/>
            </a:pPr>
            <a:r>
              <a:rPr lang="en-US" altLang="zh-CN" dirty="0" smtClean="0">
                <a:solidFill>
                  <a:srgbClr val="002060"/>
                </a:solidFill>
                <a:ea typeface="宋体" panose="02010600030101010101" pitchFamily="2" charset="-122"/>
                <a:sym typeface="+mn-ea"/>
              </a:rPr>
              <a:t>	        counter = n;</a:t>
            </a:r>
            <a:endParaRPr lang="en-US" altLang="zh-CN" dirty="0" smtClean="0">
              <a:solidFill>
                <a:srgbClr val="002060"/>
              </a:solidFill>
              <a:ea typeface="宋体" panose="02010600030101010101" pitchFamily="2" charset="-122"/>
            </a:endParaRPr>
          </a:p>
          <a:p>
            <a:pPr marL="1276350" lvl="2" indent="-361950">
              <a:lnSpc>
                <a:spcPct val="120000"/>
              </a:lnSpc>
              <a:buFont typeface="Times"/>
              <a:buNone/>
            </a:pPr>
            <a:r>
              <a:rPr lang="en-US" altLang="zh-CN" dirty="0" smtClean="0">
                <a:solidFill>
                  <a:srgbClr val="002060"/>
                </a:solidFill>
                <a:ea typeface="宋体" panose="02010600030101010101" pitchFamily="2" charset="-122"/>
                <a:sym typeface="+mn-ea"/>
              </a:rPr>
              <a:t>		…</a:t>
            </a:r>
            <a:endParaRPr lang="en-US" altLang="zh-CN" dirty="0" smtClean="0">
              <a:solidFill>
                <a:srgbClr val="002060"/>
              </a:solidFill>
              <a:ea typeface="宋体" panose="02010600030101010101" pitchFamily="2" charset="-122"/>
            </a:endParaRPr>
          </a:p>
          <a:p>
            <a:pPr marL="1276350" lvl="2" indent="-361950">
              <a:lnSpc>
                <a:spcPct val="120000"/>
              </a:lnSpc>
              <a:buFont typeface="Times"/>
              <a:buNone/>
            </a:pPr>
            <a:r>
              <a:rPr lang="en-US" altLang="zh-CN" dirty="0" smtClean="0">
                <a:solidFill>
                  <a:srgbClr val="002060"/>
                </a:solidFill>
                <a:ea typeface="宋体" panose="02010600030101010101" pitchFamily="2" charset="-122"/>
                <a:sym typeface="+mn-ea"/>
              </a:rPr>
              <a:t>	    }</a:t>
            </a:r>
            <a:endParaRPr lang="en-US" altLang="zh-CN" dirty="0" smtClean="0">
              <a:solidFill>
                <a:srgbClr val="002060"/>
              </a:solidFill>
              <a:ea typeface="宋体" panose="02010600030101010101" pitchFamily="2" charset="-122"/>
            </a:endParaRPr>
          </a:p>
          <a:p>
            <a:pPr marL="1276350" lvl="2" indent="-361950">
              <a:lnSpc>
                <a:spcPct val="120000"/>
              </a:lnSpc>
              <a:buFont typeface="Times"/>
              <a:buNone/>
            </a:pPr>
            <a:r>
              <a:rPr lang="en-US" altLang="zh-CN" dirty="0" smtClean="0">
                <a:solidFill>
                  <a:srgbClr val="002060"/>
                </a:solidFill>
                <a:ea typeface="宋体" panose="02010600030101010101" pitchFamily="2" charset="-122"/>
                <a:sym typeface="+mn-ea"/>
              </a:rPr>
              <a:t>}</a:t>
            </a:r>
            <a:endParaRPr lang="en-US" altLang="zh-CN" dirty="0" smtClean="0">
              <a:solidFill>
                <a:srgbClr val="002060"/>
              </a:solidFill>
              <a:ea typeface="宋体" panose="02010600030101010101" pitchFamily="2" charset="-122"/>
            </a:endParaRPr>
          </a:p>
          <a:p>
            <a:pPr marL="1371600" lvl="2" indent="-457200" algn="l" eaLnBrk="1" hangingPunct="1">
              <a:lnSpc>
                <a:spcPct val="120000"/>
              </a:lnSpc>
              <a:buClr>
                <a:srgbClr val="ED7D31"/>
              </a:buClr>
              <a:buSzTx/>
              <a:buFont typeface="+mj-lt"/>
              <a:buAutoNum type="arabicPeriod"/>
            </a:pPr>
            <a:endParaRPr lang="en-US" altLang="zh-CN" dirty="0" smtClean="0">
              <a:solidFill>
                <a:srgbClr val="002060"/>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561590"/>
            <a:ext cx="3369310" cy="460375"/>
          </a:xfrm>
          <a:prstGeom prst="rect">
            <a:avLst/>
          </a:prstGeom>
          <a:noFill/>
        </p:spPr>
        <p:txBody>
          <a:bodyPr wrap="square" rtlCol="0">
            <a:spAutoFit/>
          </a:bodyPr>
          <a:lstStyle/>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 </a:t>
            </a:r>
            <a:r>
              <a:rPr lang="en-US" altLang="zh-CN" sz="2400" dirty="0" err="1" smtClean="0">
                <a:latin typeface="+mj-lt"/>
                <a:ea typeface="宋体" panose="02010600030101010101" pitchFamily="2" charset="-122"/>
                <a:sym typeface="+mn-ea"/>
              </a:rPr>
              <a:t>抽象类</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95580" y="2648585"/>
            <a:ext cx="3884295"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第十二章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457200" marR="0" lvl="1" indent="0" algn="dist" defTabSz="914400" rtl="0" eaLnBrk="1" fontAlgn="auto" latinLnBrk="0" hangingPunct="1">
              <a:lnSpc>
                <a:spcPct val="100000"/>
              </a:lnSpc>
              <a:spcBef>
                <a:spcPts val="0"/>
              </a:spcBef>
              <a:spcAft>
                <a:spcPts val="0"/>
              </a:spcAft>
              <a:buClrTx/>
              <a:buSzTx/>
              <a:buFontTx/>
              <a:buNone/>
              <a:defRPr/>
            </a:pPr>
            <a:r>
              <a:rPr lang="zh-CN" altLang="en-US" sz="2400" b="1" dirty="0" smtClean="0">
                <a:solidFill>
                  <a:srgbClr val="002060"/>
                </a:solidFill>
                <a:latin typeface="Arial" panose="020B0604020202020204" pitchFamily="34" charset="0"/>
                <a:ea typeface="宋体" panose="02010600030101010101" pitchFamily="2" charset="-122"/>
                <a:sym typeface="+mn-ea"/>
              </a:rPr>
              <a:t>抽象类,接口</a:t>
            </a:r>
            <a:endParaRPr kumimoji="0" lang="zh-CN" altLang="en-US"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37" name="矩形 36"/>
          <p:cNvSpPr/>
          <p:nvPr/>
        </p:nvSpPr>
        <p:spPr>
          <a:xfrm>
            <a:off x="4765675" y="3408045"/>
            <a:ext cx="390715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2. </a:t>
            </a:r>
            <a:r>
              <a:rPr lang="zh-CN" altLang="en-US" sz="2400" dirty="0" smtClean="0">
                <a:solidFill>
                  <a:srgbClr val="ED7D31"/>
                </a:solidFill>
                <a:latin typeface="+mj-lt"/>
                <a:ea typeface="宋体" panose="02010600030101010101" pitchFamily="2" charset="-122"/>
                <a:sym typeface="+mn-ea"/>
              </a:rPr>
              <a:t>接  口</a:t>
            </a:r>
            <a:endParaRPr kumimoji="0" lang="zh-CN" altLang="en-US" sz="2400" b="0" i="0" u="none" strike="noStrike" kern="1200" cap="none" spc="0" normalizeH="0" baseline="0" noProof="0" dirty="0" smtClean="0">
              <a:ln>
                <a:noFill/>
              </a:ln>
              <a:solidFill>
                <a:srgbClr val="ED7D31"/>
              </a:solidFill>
              <a:effectLst/>
              <a:uLnTx/>
              <a:uFillTx/>
              <a:latin typeface="+mj-lt"/>
              <a:ea typeface="宋体" panose="02010600030101010101" pitchFamily="2" charset="-122"/>
              <a:cs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抽象类</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抽象类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algn="l" eaLnBrk="1" hangingPunct="1">
              <a:lnSpc>
                <a:spcPct val="160000"/>
              </a:lnSpc>
              <a:buClr>
                <a:srgbClr val="ED7D31"/>
              </a:buClr>
              <a:buSzTx/>
              <a:buFont typeface="+mj-lt"/>
              <a:buAutoNum type="arabicPeriod"/>
            </a:pPr>
            <a:r>
              <a:rPr lang="zh-CN" altLang="en-US" sz="2000" dirty="0" smtClean="0">
                <a:ea typeface="宋体" panose="02010600030101010101" pitchFamily="2" charset="-122"/>
                <a:sym typeface="+mn-ea"/>
              </a:rPr>
              <a:t>抽象类与具体类</a:t>
            </a:r>
            <a:endParaRPr lang="zh-CN" altLang="en-US" sz="2000" dirty="0" smtClean="0">
              <a:ea typeface="宋体" panose="02010600030101010101" pitchFamily="2" charset="-122"/>
              <a:sym typeface="+mn-ea"/>
            </a:endParaRPr>
          </a:p>
          <a:p>
            <a:pPr marL="704850" lvl="1" indent="-361950">
              <a:defRPr/>
            </a:pPr>
            <a:r>
              <a:rPr lang="zh-CN" altLang="en-US" sz="2000" dirty="0" smtClean="0">
                <a:ea typeface="宋体" panose="02010600030101010101" pitchFamily="2" charset="-122"/>
                <a:sym typeface="+mn-ea"/>
              </a:rPr>
              <a:t>具体类 </a:t>
            </a:r>
            <a:r>
              <a:rPr lang="en-US" altLang="zh-CN" sz="2000" dirty="0" smtClean="0">
                <a:ea typeface="宋体" panose="02010600030101010101" pitchFamily="2" charset="-122"/>
                <a:sym typeface="+mn-ea"/>
              </a:rPr>
              <a:t>— </a:t>
            </a:r>
            <a:r>
              <a:rPr lang="zh-CN" altLang="en-US" sz="2000" dirty="0" smtClean="0">
                <a:ea typeface="宋体" panose="02010600030101010101" pitchFamily="2" charset="-122"/>
                <a:sym typeface="+mn-ea"/>
              </a:rPr>
              <a:t>对现实世界一种实体的抽象定义。</a:t>
            </a:r>
            <a:endParaRPr lang="zh-CN" altLang="en-US" sz="2000" dirty="0" smtClean="0">
              <a:ea typeface="宋体" panose="02010600030101010101" pitchFamily="2" charset="-122"/>
            </a:endParaRPr>
          </a:p>
          <a:p>
            <a:pPr marL="704850" lvl="1" indent="-361950">
              <a:defRPr/>
            </a:pPr>
            <a:r>
              <a:rPr lang="zh-CN" altLang="en-US" sz="2000" dirty="0" smtClean="0">
                <a:ea typeface="宋体" panose="02010600030101010101" pitchFamily="2" charset="-122"/>
                <a:sym typeface="+mn-ea"/>
              </a:rPr>
              <a:t>抽象类 </a:t>
            </a:r>
            <a:r>
              <a:rPr lang="en-US" altLang="zh-CN" sz="2000" dirty="0" smtClean="0">
                <a:ea typeface="宋体" panose="02010600030101010101" pitchFamily="2" charset="-122"/>
                <a:sym typeface="+mn-ea"/>
              </a:rPr>
              <a:t>— </a:t>
            </a:r>
            <a:r>
              <a:rPr lang="zh-CN" altLang="en-US" sz="2000" dirty="0" smtClean="0">
                <a:ea typeface="宋体" panose="02010600030101010101" pitchFamily="2" charset="-122"/>
                <a:sym typeface="+mn-ea"/>
              </a:rPr>
              <a:t>对现实世界一种类型的多种实体的统一抽象定义。</a:t>
            </a:r>
            <a:endParaRPr lang="zh-CN" altLang="en-US" sz="2000" dirty="0" smtClean="0">
              <a:ea typeface="宋体" panose="02010600030101010101" pitchFamily="2" charset="-122"/>
              <a:sym typeface="+mn-ea"/>
            </a:endParaRPr>
          </a:p>
          <a:p>
            <a:pPr marL="704850" lvl="1" indent="-361950">
              <a:defRPr/>
            </a:pPr>
            <a:r>
              <a:rPr lang="zh-CN" altLang="en-US" sz="1665" dirty="0" smtClean="0">
                <a:ea typeface="宋体" panose="02010600030101010101" pitchFamily="2" charset="-122"/>
                <a:sym typeface="+mn-ea"/>
              </a:rPr>
              <a:t>例如：</a:t>
            </a:r>
            <a:r>
              <a:rPr lang="en-US" altLang="zh-CN" sz="1665" dirty="0" smtClean="0">
                <a:ea typeface="宋体" panose="02010600030101010101" pitchFamily="2" charset="-122"/>
                <a:sym typeface="+mn-ea"/>
              </a:rPr>
              <a:t> </a:t>
            </a:r>
            <a:endParaRPr lang="en-US" altLang="zh-CN" sz="1665" dirty="0" smtClean="0">
              <a:ea typeface="宋体" panose="02010600030101010101" pitchFamily="2" charset="-122"/>
            </a:endParaRPr>
          </a:p>
          <a:p>
            <a:pPr marL="1162050" lvl="2" indent="-361950">
              <a:defRPr/>
            </a:pPr>
            <a:r>
              <a:rPr lang="en-US" altLang="zh-CN" sz="1800" dirty="0" err="1" smtClean="0">
                <a:solidFill>
                  <a:srgbClr val="ED7D31"/>
                </a:solidFill>
                <a:ea typeface="宋体" panose="02010600030101010101" pitchFamily="2" charset="-122"/>
                <a:sym typeface="+mn-ea"/>
              </a:rPr>
              <a:t>Pet:</a:t>
            </a:r>
            <a:r>
              <a:rPr lang="zh-CN" altLang="en-US" sz="1800" dirty="0" err="1" smtClean="0">
                <a:solidFill>
                  <a:srgbClr val="ED7D31"/>
                </a:solidFill>
                <a:ea typeface="宋体" panose="02010600030101010101" pitchFamily="2" charset="-122"/>
                <a:sym typeface="+mn-ea"/>
              </a:rPr>
              <a:t>宠物</a:t>
            </a:r>
            <a:r>
              <a:rPr lang="en-US" altLang="zh-CN" sz="1800" dirty="0" err="1" smtClean="0">
                <a:solidFill>
                  <a:srgbClr val="ED7D31"/>
                </a:solidFill>
                <a:ea typeface="宋体" panose="02010600030101010101" pitchFamily="2" charset="-122"/>
                <a:sym typeface="+mn-ea"/>
              </a:rPr>
              <a:t>类应定义为抽象类</a:t>
            </a:r>
            <a:endParaRPr lang="en-US" altLang="zh-CN" sz="1800" dirty="0" smtClean="0">
              <a:solidFill>
                <a:srgbClr val="ED7D31"/>
              </a:solidFill>
              <a:ea typeface="宋体" panose="02010600030101010101" pitchFamily="2" charset="-122"/>
            </a:endParaRPr>
          </a:p>
          <a:p>
            <a:pPr marL="1162050" lvl="2" indent="-361950">
              <a:defRPr/>
            </a:pPr>
            <a:r>
              <a:rPr lang="en-US" altLang="zh-CN" sz="1800" dirty="0" err="1" smtClean="0">
                <a:solidFill>
                  <a:srgbClr val="ED7D31"/>
                </a:solidFill>
                <a:ea typeface="宋体" panose="02010600030101010101" pitchFamily="2" charset="-122"/>
                <a:sym typeface="+mn-ea"/>
              </a:rPr>
              <a:t>Bird类应定义为具体类</a:t>
            </a:r>
            <a:endParaRPr lang="en-US" altLang="zh-CN" sz="2000" dirty="0" smtClean="0">
              <a:solidFill>
                <a:srgbClr val="ED7D31"/>
              </a:solidFill>
              <a:ea typeface="宋体" panose="02010600030101010101" pitchFamily="2" charset="-122"/>
            </a:endParaRPr>
          </a:p>
          <a:p>
            <a:pPr marL="457200" indent="-457200" algn="l" eaLnBrk="1" hangingPunct="1">
              <a:lnSpc>
                <a:spcPct val="160000"/>
              </a:lnSpc>
              <a:buClr>
                <a:srgbClr val="ED7D31"/>
              </a:buClr>
              <a:buSzTx/>
              <a:buFont typeface="+mj-lt"/>
              <a:buAutoNum type="arabicPeriod"/>
            </a:pPr>
            <a:r>
              <a:rPr lang="zh-CN" altLang="en-US" sz="2000" dirty="0" smtClean="0">
                <a:ea typeface="宋体" panose="02010600030101010101" pitchFamily="2" charset="-122"/>
                <a:sym typeface="+mn-ea"/>
              </a:rPr>
              <a:t>抽象类中可声明抽象方法</a:t>
            </a:r>
            <a:endParaRPr lang="en-US" altLang="zh-CN" sz="2000" dirty="0" smtClean="0">
              <a:ea typeface="宋体" panose="02010600030101010101" pitchFamily="2" charset="-122"/>
            </a:endParaRPr>
          </a:p>
          <a:p>
            <a:pPr marL="819150" lvl="1" indent="-361950">
              <a:defRPr/>
            </a:pPr>
            <a:r>
              <a:rPr lang="zh-CN" altLang="en-US" sz="1665" dirty="0" smtClean="0">
                <a:ea typeface="宋体" panose="02010600030101010101" pitchFamily="2" charset="-122"/>
                <a:sym typeface="+mn-ea"/>
              </a:rPr>
              <a:t>示例：</a:t>
            </a:r>
            <a:endParaRPr lang="en-US" altLang="zh-CN" sz="1665" dirty="0" smtClean="0">
              <a:ea typeface="宋体" panose="02010600030101010101" pitchFamily="2" charset="-122"/>
            </a:endParaRPr>
          </a:p>
          <a:p>
            <a:pPr marL="819150" lvl="2" indent="-361950">
              <a:buClr>
                <a:schemeClr val="tx2"/>
              </a:buClr>
              <a:buFont typeface="Times" pitchFamily="18" charset="0"/>
              <a:buNone/>
              <a:defRPr/>
            </a:pPr>
            <a:r>
              <a:rPr lang="en-US" altLang="zh-CN" sz="1800" dirty="0" smtClean="0">
                <a:solidFill>
                  <a:srgbClr val="ED7D31"/>
                </a:solidFill>
                <a:ea typeface="宋体" panose="02010600030101010101" pitchFamily="2" charset="-122"/>
                <a:sym typeface="+mn-ea"/>
              </a:rPr>
              <a:t>	public abstract class Pet {</a:t>
            </a:r>
            <a:endParaRPr lang="en-US" altLang="zh-CN" sz="1800" dirty="0" smtClean="0">
              <a:solidFill>
                <a:srgbClr val="ED7D31"/>
              </a:solidFill>
              <a:ea typeface="宋体" panose="02010600030101010101" pitchFamily="2" charset="-122"/>
            </a:endParaRPr>
          </a:p>
          <a:p>
            <a:pPr marL="819150" lvl="2" indent="-361950">
              <a:buClr>
                <a:schemeClr val="tx2"/>
              </a:buClr>
              <a:buFont typeface="Times" pitchFamily="18" charset="0"/>
              <a:buNone/>
              <a:defRPr/>
            </a:pPr>
            <a:r>
              <a:rPr lang="en-US" altLang="zh-CN" sz="1800" dirty="0" smtClean="0">
                <a:solidFill>
                  <a:srgbClr val="ED7D31"/>
                </a:solidFill>
                <a:ea typeface="宋体" panose="02010600030101010101" pitchFamily="2" charset="-122"/>
                <a:sym typeface="+mn-ea"/>
              </a:rPr>
              <a:t>            public abstract void speak();</a:t>
            </a:r>
            <a:endParaRPr lang="en-US" altLang="zh-CN" sz="1800" dirty="0" smtClean="0">
              <a:solidFill>
                <a:srgbClr val="ED7D31"/>
              </a:solidFill>
              <a:ea typeface="宋体" panose="02010600030101010101" pitchFamily="2" charset="-122"/>
            </a:endParaRPr>
          </a:p>
          <a:p>
            <a:pPr marL="819150" lvl="2" indent="-361950">
              <a:buClr>
                <a:schemeClr val="tx2"/>
              </a:buClr>
              <a:buFont typeface="Times" pitchFamily="18" charset="0"/>
              <a:buNone/>
              <a:defRPr/>
            </a:pPr>
            <a:r>
              <a:rPr lang="en-US" altLang="zh-CN" sz="1800" dirty="0" smtClean="0">
                <a:solidFill>
                  <a:srgbClr val="ED7D31"/>
                </a:solidFill>
                <a:ea typeface="宋体" panose="02010600030101010101" pitchFamily="2" charset="-122"/>
                <a:sym typeface="+mn-ea"/>
              </a:rPr>
              <a:t>            ……</a:t>
            </a:r>
            <a:endParaRPr lang="en-US" altLang="zh-CN" sz="1800" dirty="0" smtClean="0">
              <a:solidFill>
                <a:srgbClr val="ED7D31"/>
              </a:solidFill>
              <a:ea typeface="宋体" panose="02010600030101010101" pitchFamily="2" charset="-122"/>
            </a:endParaRPr>
          </a:p>
          <a:p>
            <a:pPr marL="819150" lvl="2" indent="-361950">
              <a:buClr>
                <a:schemeClr val="tx2"/>
              </a:buClr>
              <a:buFont typeface="Times" pitchFamily="18" charset="0"/>
              <a:buNone/>
              <a:defRPr/>
            </a:pPr>
            <a:r>
              <a:rPr lang="en-US" altLang="zh-CN" sz="1800" dirty="0" smtClean="0">
                <a:solidFill>
                  <a:srgbClr val="ED7D31"/>
                </a:solidFill>
                <a:ea typeface="宋体" panose="02010600030101010101" pitchFamily="2" charset="-122"/>
                <a:sym typeface="+mn-ea"/>
              </a:rPr>
              <a:t>      }</a:t>
            </a:r>
            <a:endParaRPr lang="en-US" altLang="zh-CN" sz="1800" dirty="0" smtClean="0">
              <a:solidFill>
                <a:srgbClr val="ED7D31"/>
              </a:solidFill>
              <a:ea typeface="宋体" panose="02010600030101010101" pitchFamily="2" charset="-122"/>
            </a:endParaRPr>
          </a:p>
          <a:p>
            <a:pPr marL="457200" indent="-457200" algn="l" eaLnBrk="1" hangingPunct="1">
              <a:lnSpc>
                <a:spcPct val="160000"/>
              </a:lnSpc>
              <a:buClr>
                <a:srgbClr val="ED7D31"/>
              </a:buClr>
              <a:buSzTx/>
              <a:buFont typeface="+mj-lt"/>
              <a:buAutoNum type="arabicPeriod"/>
            </a:pPr>
            <a:endParaRPr lang="en-US" altLang="zh-CN" sz="1800" dirty="0" smtClean="0">
              <a:solidFill>
                <a:srgbClr val="ED7D31"/>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en-US" altLang="zh-CN" sz="2400" smtClean="0">
                <a:solidFill>
                  <a:srgbClr val="FF0000"/>
                </a:solidFill>
                <a:ea typeface="宋体" panose="02010600030101010101" pitchFamily="2" charset="-122"/>
                <a:sym typeface="+mn-ea"/>
              </a:rPr>
              <a:t>abstract </a:t>
            </a:r>
            <a:r>
              <a:rPr lang="en-US" altLang="zh-CN" sz="2400" smtClean="0">
                <a:ea typeface="宋体" panose="02010600030101010101" pitchFamily="2" charset="-122"/>
                <a:sym typeface="+mn-ea"/>
              </a:rPr>
              <a:t> </a:t>
            </a:r>
            <a:r>
              <a:rPr lang="en-US" altLang="zh-CN" sz="240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1068705"/>
            <a:ext cx="10765790" cy="5039995"/>
          </a:xfrm>
        </p:spPr>
        <p:txBody>
          <a:bodyPr>
            <a:normAutofit lnSpcReduction="10000"/>
          </a:bodyPr>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public </a:t>
            </a:r>
            <a:r>
              <a:rPr lang="en-US" altLang="zh-CN" sz="1700" smtClean="0">
                <a:solidFill>
                  <a:srgbClr val="FF0000"/>
                </a:solidFill>
                <a:ea typeface="宋体" panose="02010600030101010101" pitchFamily="2" charset="-122"/>
              </a:rPr>
              <a:t>abstract </a:t>
            </a:r>
            <a:r>
              <a:rPr lang="en-US" altLang="zh-CN" sz="1700" smtClean="0">
                <a:ea typeface="宋体" panose="02010600030101010101" pitchFamily="2" charset="-122"/>
              </a:rPr>
              <a:t>class Pet {</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String name;//包含实例变量</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a:t>
            </a:r>
            <a:r>
              <a:rPr lang="en-US" altLang="zh-CN" sz="1700" smtClean="0">
                <a:solidFill>
                  <a:srgbClr val="FF0000"/>
                </a:solidFill>
                <a:ea typeface="宋体" panose="02010600030101010101" pitchFamily="2" charset="-122"/>
              </a:rPr>
              <a:t>public abstract void eat();//抽象方法没有方法体</a:t>
            </a:r>
            <a:endParaRPr lang="en-US" altLang="zh-CN" sz="1700" smtClean="0">
              <a:solidFill>
                <a:srgbClr val="FF000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FF0000"/>
                </a:solidFill>
                <a:ea typeface="宋体" panose="02010600030101010101" pitchFamily="2" charset="-122"/>
              </a:rPr>
              <a:t>    public abstract void sleep();</a:t>
            </a:r>
            <a:endParaRPr lang="en-US" altLang="zh-CN" sz="1700" smtClean="0">
              <a:solidFill>
                <a:srgbClr val="FF000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solidFill>
                  <a:srgbClr val="FF0000"/>
                </a:solidFill>
                <a:ea typeface="宋体" panose="02010600030101010101" pitchFamily="2" charset="-122"/>
              </a:rPr>
              <a:t>    public Pet(){}</a:t>
            </a:r>
            <a:endParaRPr lang="en-US" altLang="zh-CN" sz="1700" smtClean="0">
              <a:solidFill>
                <a:srgbClr val="FF000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public void swimming(){//包含实例方法</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System.out.println("宠物都会游泳");</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//子类继承了抽象类必须实现所有的抽象方法</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class Cat extends Pet{</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@Override</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public void eat() {</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System.out.println("Cat.eat:猫吃鱼");</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@Override</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public void sleep() {</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System.out.println("Cat.sleep:猫游泳");</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    }</a:t>
            </a:r>
            <a:endParaRPr lang="en-US" altLang="zh-CN" sz="17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700" smtClean="0">
                <a:ea typeface="宋体" panose="02010600030101010101" pitchFamily="2" charset="-122"/>
              </a:rPr>
              <a:t>}</a:t>
            </a:r>
            <a:endParaRPr lang="en-US" altLang="zh-CN" sz="17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en-US" altLang="zh-CN" sz="2400" smtClean="0">
                <a:solidFill>
                  <a:srgbClr val="FF0000"/>
                </a:solidFill>
                <a:ea typeface="宋体" panose="02010600030101010101" pitchFamily="2" charset="-122"/>
                <a:sym typeface="+mn-ea"/>
              </a:rPr>
              <a:t>abstract </a:t>
            </a:r>
            <a:r>
              <a:rPr lang="en-US" altLang="zh-CN" sz="2400" smtClean="0">
                <a:ea typeface="宋体" panose="02010600030101010101" pitchFamily="2" charset="-122"/>
                <a:sym typeface="+mn-ea"/>
              </a:rPr>
              <a:t> </a:t>
            </a:r>
            <a:r>
              <a:rPr lang="en-US" altLang="zh-CN" sz="2400" smtClean="0">
                <a:ea typeface="宋体" panose="02010600030101010101" pitchFamily="2" charset="-122"/>
                <a:sym typeface="+mn-ea"/>
              </a:rPr>
              <a:t>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1160145"/>
            <a:ext cx="10765790" cy="5039995"/>
          </a:xfrm>
        </p:spPr>
        <p:txBody>
          <a:bodyPr/>
          <a:p>
            <a:pPr marL="361950" indent="-361950" eaLnBrk="1" hangingPunct="1">
              <a:spcBef>
                <a:spcPct val="0"/>
              </a:spcBef>
              <a:buFont typeface="Times New Roman" panose="02020603050405020304" charset="0"/>
              <a:buAutoNum type="arabicPeriod"/>
            </a:pPr>
            <a:r>
              <a:rPr lang="en-US" altLang="zh-CN" sz="2000" smtClean="0">
                <a:ea typeface="宋体" panose="02010600030101010101" pitchFamily="2" charset="-122"/>
              </a:rPr>
              <a:t>class Test{</a:t>
            </a:r>
            <a:endParaRPr lang="en-US" altLang="zh-CN"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2000" smtClean="0">
                <a:ea typeface="宋体" panose="02010600030101010101" pitchFamily="2" charset="-122"/>
              </a:rPr>
              <a:t>    public static void main(String[] args) {</a:t>
            </a:r>
            <a:endParaRPr lang="en-US" altLang="zh-CN"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2000" smtClean="0">
                <a:ea typeface="宋体" panose="02010600030101010101" pitchFamily="2" charset="-122"/>
              </a:rPr>
              <a:t>      </a:t>
            </a:r>
            <a:r>
              <a:rPr lang="en-US" altLang="zh-CN" sz="2000" smtClean="0">
                <a:solidFill>
                  <a:srgbClr val="FF0000"/>
                </a:solidFill>
                <a:ea typeface="宋体" panose="02010600030101010101" pitchFamily="2" charset="-122"/>
              </a:rPr>
              <a:t>  //Pet pet = new Pet();//抽象类不能实例化</a:t>
            </a:r>
            <a:endParaRPr lang="en-US" altLang="zh-CN" sz="2000" smtClean="0">
              <a:solidFill>
                <a:srgbClr val="FF000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2000" smtClean="0">
                <a:solidFill>
                  <a:srgbClr val="FF0000"/>
                </a:solidFill>
                <a:ea typeface="宋体" panose="02010600030101010101" pitchFamily="2" charset="-122"/>
              </a:rPr>
              <a:t>        Pet pet = new Cat();//抽象类适用于多态</a:t>
            </a:r>
            <a:endParaRPr lang="en-US" altLang="zh-CN" sz="2000" smtClean="0">
              <a:solidFill>
                <a:srgbClr val="FF000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2000" smtClean="0">
                <a:ea typeface="宋体" panose="02010600030101010101" pitchFamily="2" charset="-122"/>
              </a:rPr>
              <a:t>        pet.sleep();</a:t>
            </a:r>
            <a:endParaRPr lang="en-US" altLang="zh-CN"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2000" smtClean="0">
                <a:ea typeface="宋体" panose="02010600030101010101" pitchFamily="2" charset="-122"/>
              </a:rPr>
              <a:t>        pet.eat();</a:t>
            </a:r>
            <a:endParaRPr lang="en-US" altLang="zh-CN"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2000" smtClean="0">
                <a:ea typeface="宋体" panose="02010600030101010101" pitchFamily="2" charset="-122"/>
              </a:rPr>
              <a:t>        pet.swimming();</a:t>
            </a:r>
            <a:endParaRPr lang="en-US" altLang="zh-CN"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2000" smtClean="0">
                <a:ea typeface="宋体" panose="02010600030101010101" pitchFamily="2" charset="-122"/>
              </a:rPr>
              <a:t>    }</a:t>
            </a:r>
            <a:endParaRPr lang="en-US" altLang="zh-CN"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2000" smtClean="0">
                <a:ea typeface="宋体" panose="02010600030101010101" pitchFamily="2" charset="-122"/>
              </a:rPr>
              <a:t>}</a:t>
            </a:r>
            <a:endParaRPr lang="en-US" altLang="zh-CN" sz="20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具体类继承抽象类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抽象类不能被实例化</a:t>
            </a:r>
            <a:endParaRPr lang="zh-CN" altLang="en-US" sz="2000"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抽象类可以包含构造器，借助子类构造器来初始化父类的属性</a:t>
            </a:r>
            <a:endParaRPr lang="zh-CN" altLang="en-US" sz="2000"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子类（具体类）可继承</a:t>
            </a:r>
            <a:r>
              <a:rPr lang="en-US" altLang="zh-CN" sz="2000" smtClean="0">
                <a:ea typeface="宋体" panose="02010600030101010101" pitchFamily="2" charset="-122"/>
                <a:sym typeface="+mn-ea"/>
              </a:rPr>
              <a:t>抽象父类 ，</a:t>
            </a:r>
            <a:r>
              <a:rPr lang="zh-CN" altLang="en-US" sz="2000" smtClean="0">
                <a:ea typeface="宋体" panose="02010600030101010101" pitchFamily="2" charset="-122"/>
                <a:sym typeface="+mn-ea"/>
              </a:rPr>
              <a:t>必须</a:t>
            </a:r>
            <a:r>
              <a:rPr lang="en-US" altLang="zh-CN" sz="2000" smtClean="0">
                <a:ea typeface="宋体" panose="02010600030101010101" pitchFamily="2" charset="-122"/>
                <a:sym typeface="+mn-ea"/>
              </a:rPr>
              <a:t>实现抽象方法</a:t>
            </a:r>
            <a:endParaRPr lang="en-US" altLang="zh-CN" sz="2000"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具体子类适用抽象父类的多态</a:t>
            </a:r>
            <a:endParaRPr lang="en-US" altLang="zh-CN" sz="1800" dirty="0" smtClean="0">
              <a:solidFill>
                <a:srgbClr val="ED7D31"/>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sz="2400" smtClean="0">
                <a:ea typeface="宋体" panose="02010600030101010101" pitchFamily="2" charset="-122"/>
                <a:sym typeface="+mn-ea"/>
              </a:rPr>
              <a:t>练习</a:t>
            </a:r>
            <a:endParaRPr lang="zh-CN"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1539855" cy="5031105"/>
          </a:xfrm>
        </p:spPr>
        <p:txBody>
          <a:bodyPr>
            <a:normAutofit fontScale="90000"/>
          </a:bodyPr>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将</a:t>
            </a:r>
            <a:r>
              <a:rPr lang="en-US" altLang="zh-CN" sz="2000" smtClean="0">
                <a:ea typeface="宋体" panose="02010600030101010101" pitchFamily="2" charset="-122"/>
                <a:sym typeface="+mn-ea"/>
              </a:rPr>
              <a:t>Frock</a:t>
            </a:r>
            <a:r>
              <a:rPr lang="zh-CN" altLang="en-US" sz="2000" smtClean="0">
                <a:ea typeface="宋体" panose="02010600030101010101" pitchFamily="2" charset="-122"/>
                <a:sym typeface="+mn-ea"/>
              </a:rPr>
              <a:t>类声明为抽象类，在类中声明抽象方法</a:t>
            </a:r>
            <a:r>
              <a:rPr lang="en-US" altLang="zh-CN" sz="2000" smtClean="0">
                <a:ea typeface="宋体" panose="02010600030101010101" pitchFamily="2" charset="-122"/>
                <a:sym typeface="+mn-ea"/>
              </a:rPr>
              <a:t>calcArea(double size)方法，用来计算衣服的布料面积。</a:t>
            </a:r>
            <a:endParaRPr lang="en-US" altLang="zh-CN" sz="2000"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通过编写代码来验证抽象类中是否可包含实例属性</a:t>
            </a:r>
            <a:r>
              <a:rPr lang="en-US" altLang="zh-CN" sz="2000" smtClean="0">
                <a:ea typeface="宋体" panose="02010600030101010101" pitchFamily="2" charset="-122"/>
                <a:sym typeface="+mn-ea"/>
              </a:rPr>
              <a:t>color,</a:t>
            </a:r>
            <a:r>
              <a:rPr lang="zh-CN" altLang="en-US" sz="2000" smtClean="0">
                <a:ea typeface="宋体" panose="02010600030101010101" pitchFamily="2" charset="-122"/>
                <a:sym typeface="+mn-ea"/>
              </a:rPr>
              <a:t>具体方法</a:t>
            </a:r>
            <a:r>
              <a:rPr lang="en-US" altLang="zh-CN" sz="2000" smtClean="0">
                <a:ea typeface="宋体" panose="02010600030101010101" pitchFamily="2" charset="-122"/>
                <a:sym typeface="+mn-ea"/>
              </a:rPr>
              <a:t>setColor/getColor</a:t>
            </a:r>
            <a:r>
              <a:rPr lang="zh-CN" altLang="en-US" sz="2000" smtClean="0">
                <a:ea typeface="宋体" panose="02010600030101010101" pitchFamily="2" charset="-122"/>
                <a:sym typeface="+mn-ea"/>
              </a:rPr>
              <a:t>和构造器。</a:t>
            </a:r>
            <a:endParaRPr lang="zh-CN" altLang="en-US" sz="2000"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r>
              <a:rPr lang="zh-CN" altLang="en-US" sz="2000" dirty="0" smtClean="0">
                <a:ea typeface="宋体" panose="02010600030101010101" pitchFamily="2" charset="-122"/>
                <a:sym typeface="+mn-ea"/>
              </a:rPr>
              <a:t>定义一个Shirt类，声明一个</a:t>
            </a:r>
            <a:r>
              <a:rPr lang="en-US" altLang="zh-CN" sz="2000" dirty="0" smtClean="0">
                <a:ea typeface="宋体" panose="02010600030101010101" pitchFamily="2" charset="-122"/>
                <a:sym typeface="+mn-ea"/>
              </a:rPr>
              <a:t>price</a:t>
            </a:r>
            <a:r>
              <a:rPr lang="zh-CN" altLang="en-US" sz="2000" dirty="0" smtClean="0">
                <a:ea typeface="宋体" panose="02010600030101010101" pitchFamily="2" charset="-122"/>
                <a:sym typeface="+mn-ea"/>
              </a:rPr>
              <a:t>（价格）实例变量，</a:t>
            </a:r>
            <a:r>
              <a:rPr lang="zh-CN" altLang="en-US" sz="2000" dirty="0" smtClean="0">
                <a:solidFill>
                  <a:srgbClr val="FF0000"/>
                </a:solidFill>
                <a:ea typeface="宋体" panose="02010600030101010101" pitchFamily="2" charset="-122"/>
                <a:sym typeface="+mn-ea"/>
              </a:rPr>
              <a:t>创建构造器为</a:t>
            </a:r>
            <a:r>
              <a:rPr lang="en-US" altLang="zh-CN" sz="2000" dirty="0" smtClean="0">
                <a:solidFill>
                  <a:srgbClr val="FF0000"/>
                </a:solidFill>
                <a:ea typeface="宋体" panose="02010600030101010101" pitchFamily="2" charset="-122"/>
                <a:sym typeface="+mn-ea"/>
              </a:rPr>
              <a:t>price</a:t>
            </a:r>
            <a:r>
              <a:rPr lang="zh-CN" altLang="en-US" sz="2000" dirty="0" smtClean="0">
                <a:solidFill>
                  <a:srgbClr val="FF0000"/>
                </a:solidFill>
                <a:ea typeface="宋体" panose="02010600030101010101" pitchFamily="2" charset="-122"/>
                <a:sym typeface="+mn-ea"/>
              </a:rPr>
              <a:t>赋值</a:t>
            </a:r>
            <a:r>
              <a:rPr lang="zh-CN" altLang="en-US" sz="2000" dirty="0" smtClean="0">
                <a:ea typeface="宋体" panose="02010600030101010101" pitchFamily="2" charset="-122"/>
                <a:sym typeface="+mn-ea"/>
              </a:rPr>
              <a:t>，并提供</a:t>
            </a:r>
            <a:r>
              <a:rPr lang="en-US" altLang="zh-CN" sz="2000" dirty="0" smtClean="0">
                <a:ea typeface="宋体" panose="02010600030101010101" pitchFamily="2" charset="-122"/>
                <a:sym typeface="+mn-ea"/>
              </a:rPr>
              <a:t>get</a:t>
            </a:r>
            <a:r>
              <a:rPr lang="zh-CN" altLang="en-US" sz="2000" dirty="0" smtClean="0">
                <a:ea typeface="宋体" panose="02010600030101010101" pitchFamily="2" charset="-122"/>
                <a:sym typeface="+mn-ea"/>
              </a:rPr>
              <a:t>和</a:t>
            </a:r>
            <a:r>
              <a:rPr lang="en-US" altLang="zh-CN" sz="2000" dirty="0" smtClean="0">
                <a:ea typeface="宋体" panose="02010600030101010101" pitchFamily="2" charset="-122"/>
                <a:sym typeface="+mn-ea"/>
              </a:rPr>
              <a:t>set</a:t>
            </a:r>
            <a:r>
              <a:rPr lang="zh-CN" altLang="en-US" sz="2000" dirty="0" smtClean="0">
                <a:ea typeface="宋体" panose="02010600030101010101" pitchFamily="2" charset="-122"/>
                <a:sym typeface="+mn-ea"/>
              </a:rPr>
              <a:t>方法</a:t>
            </a:r>
            <a:endParaRPr lang="zh-CN" altLang="en-US" sz="2000" dirty="0"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r>
              <a:rPr lang="zh-CN" altLang="en-US" sz="2000" dirty="0" smtClean="0">
                <a:ea typeface="宋体" panose="02010600030101010101" pitchFamily="2" charset="-122"/>
                <a:sym typeface="+mn-ea"/>
              </a:rPr>
              <a:t>Shirt</a:t>
            </a:r>
            <a:r>
              <a:rPr lang="zh-CN" altLang="en-US" sz="2000" smtClean="0">
                <a:ea typeface="宋体" panose="02010600030101010101" pitchFamily="2" charset="-122"/>
                <a:sym typeface="+mn-ea"/>
              </a:rPr>
              <a:t>类继承Frock类，重写 calcArea方法，用来计算衬衣所需的布料面积（</a:t>
            </a:r>
            <a:r>
              <a:rPr lang="en-US" altLang="zh-CN" sz="2000" smtClean="0">
                <a:ea typeface="宋体" panose="02010600030101010101" pitchFamily="2" charset="-122"/>
                <a:sym typeface="+mn-ea"/>
              </a:rPr>
              <a:t>size</a:t>
            </a:r>
            <a:r>
              <a:rPr lang="zh-CN" altLang="en-US" sz="2000" smtClean="0">
                <a:ea typeface="宋体" panose="02010600030101010101" pitchFamily="2" charset="-122"/>
                <a:sym typeface="+mn-ea"/>
              </a:rPr>
              <a:t>*1.3）。</a:t>
            </a:r>
            <a:endParaRPr lang="zh-CN" altLang="en-US" sz="2000" smtClean="0">
              <a:ea typeface="宋体" panose="02010600030101010101" pitchFamily="2" charset="-122"/>
            </a:endParaRPr>
          </a:p>
          <a:p>
            <a:pPr marL="457200" indent="-457200" algn="l" eaLnBrk="1" hangingPunct="1">
              <a:lnSpc>
                <a:spcPct val="160000"/>
              </a:lnSpc>
              <a:buClr>
                <a:srgbClr val="ED7D31"/>
              </a:buClr>
              <a:buSzTx/>
              <a:buFont typeface="+mj-lt"/>
              <a:buAutoNum type="arabicPeriod"/>
            </a:pPr>
            <a:r>
              <a:rPr lang="zh-CN" altLang="en-US" sz="2000" smtClean="0">
                <a:ea typeface="宋体" panose="02010600030101010101" pitchFamily="2" charset="-122"/>
                <a:sym typeface="+mn-ea"/>
              </a:rPr>
              <a:t>在TestShirt类的main方法中：</a:t>
            </a:r>
            <a:endParaRPr lang="zh-CN" altLang="en-US" sz="2000" smtClean="0">
              <a:ea typeface="宋体" panose="02010600030101010101" pitchFamily="2" charset="-122"/>
            </a:endParaRPr>
          </a:p>
          <a:p>
            <a:pPr marL="914400" lvl="2" indent="-457200" algn="l" eaLnBrk="1" hangingPunct="1">
              <a:lnSpc>
                <a:spcPct val="160000"/>
              </a:lnSpc>
              <a:spcBef>
                <a:spcPts val="1000"/>
              </a:spcBef>
              <a:buClr>
                <a:srgbClr val="ED7D31"/>
              </a:buClr>
              <a:buSzTx/>
              <a:buFont typeface="+mj-ea"/>
              <a:buAutoNum type="circleNumDbPlain"/>
            </a:pPr>
            <a:r>
              <a:rPr lang="zh-CN" altLang="en-US" smtClean="0">
                <a:ea typeface="宋体" panose="02010600030101010101" pitchFamily="2" charset="-122"/>
                <a:sym typeface="+mn-ea"/>
              </a:rPr>
              <a:t>使用本态引用创建Shirt对象，并调用calcArea方法，打印计算结果。</a:t>
            </a:r>
            <a:endParaRPr lang="zh-CN" altLang="en-US" sz="1800" smtClean="0">
              <a:ea typeface="宋体" panose="02010600030101010101" pitchFamily="2" charset="-122"/>
            </a:endParaRPr>
          </a:p>
          <a:p>
            <a:pPr marL="914400" lvl="2" indent="-457200" algn="l" eaLnBrk="1" hangingPunct="1">
              <a:lnSpc>
                <a:spcPct val="160000"/>
              </a:lnSpc>
              <a:spcBef>
                <a:spcPts val="1000"/>
              </a:spcBef>
              <a:buClr>
                <a:srgbClr val="ED7D31"/>
              </a:buClr>
              <a:buSzTx/>
              <a:buFont typeface="+mj-ea"/>
              <a:buAutoNum type="circleNumDbPlain"/>
            </a:pPr>
            <a:r>
              <a:rPr lang="zh-CN" altLang="en-US" sz="1800" smtClean="0">
                <a:ea typeface="宋体" panose="02010600030101010101" pitchFamily="2" charset="-122"/>
                <a:sym typeface="+mn-ea"/>
              </a:rPr>
              <a:t>使用Frock 多态引用创建Shirt对象，并调用calcArea方法，打印计算结果。</a:t>
            </a:r>
            <a:endParaRPr lang="zh-CN" altLang="en-US" sz="1800" smtClean="0">
              <a:ea typeface="宋体" panose="02010600030101010101" pitchFamily="2" charset="-122"/>
            </a:endParaRPr>
          </a:p>
          <a:p>
            <a:pPr marL="457200" lvl="2" indent="0" algn="l" eaLnBrk="1" hangingPunct="1">
              <a:lnSpc>
                <a:spcPct val="160000"/>
              </a:lnSpc>
              <a:spcBef>
                <a:spcPts val="1000"/>
              </a:spcBef>
              <a:buClr>
                <a:srgbClr val="ED7D31"/>
              </a:buClr>
              <a:buSzTx/>
              <a:buFont typeface="+mj-ea"/>
              <a:buNone/>
            </a:pPr>
            <a:r>
              <a:rPr lang="zh-CN" altLang="en-US" sz="1800" smtClean="0">
                <a:ea typeface="宋体" panose="02010600030101010101" pitchFamily="2" charset="-122"/>
              </a:rPr>
              <a:t>备注：</a:t>
            </a:r>
            <a:r>
              <a:rPr lang="en-US" altLang="zh-CN" sz="1800" smtClean="0">
                <a:ea typeface="宋体" panose="02010600030101010101" pitchFamily="2" charset="-122"/>
              </a:rPr>
              <a:t>Frock</a:t>
            </a:r>
            <a:r>
              <a:rPr lang="zh-CN" altLang="en-US" sz="1800" smtClean="0">
                <a:ea typeface="宋体" panose="02010600030101010101" pitchFamily="2" charset="-122"/>
              </a:rPr>
              <a:t>（女装）</a:t>
            </a:r>
            <a:r>
              <a:rPr lang="en-US" altLang="zh-CN" sz="1800" smtClean="0">
                <a:ea typeface="宋体" panose="02010600030101010101" pitchFamily="2" charset="-122"/>
              </a:rPr>
              <a:t>,Shirt(</a:t>
            </a:r>
            <a:r>
              <a:rPr lang="zh-CN" altLang="en-US" sz="1800" smtClean="0">
                <a:ea typeface="宋体" panose="02010600030101010101" pitchFamily="2" charset="-122"/>
              </a:rPr>
              <a:t>衬衫</a:t>
            </a:r>
            <a:r>
              <a:rPr lang="en-US" altLang="zh-CN" sz="1800" smtClean="0">
                <a:ea typeface="宋体" panose="02010600030101010101" pitchFamily="2" charset="-122"/>
              </a:rPr>
              <a:t>)</a:t>
            </a:r>
            <a:endParaRPr lang="zh-CN" altLang="en-US" sz="1800" smtClean="0">
              <a:ea typeface="宋体" panose="02010600030101010101" pitchFamily="2" charset="-122"/>
            </a:endParaRPr>
          </a:p>
          <a:p>
            <a:pPr marL="457200" indent="-457200" algn="l" eaLnBrk="1" hangingPunct="1">
              <a:lnSpc>
                <a:spcPct val="160000"/>
              </a:lnSpc>
              <a:buClr>
                <a:srgbClr val="ED7D31"/>
              </a:buClr>
              <a:buSzTx/>
              <a:buFont typeface="+mj-lt"/>
              <a:buAutoNum type="arabicPeriod"/>
            </a:pPr>
            <a:endParaRPr lang="zh-CN" altLang="en-US" sz="2000"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endParaRPr lang="en-US" altLang="zh-CN" sz="1800" dirty="0" smtClean="0">
              <a:solidFill>
                <a:srgbClr val="ED7D31"/>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接口</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接口</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algn="l" eaLnBrk="1" hangingPunct="1">
              <a:lnSpc>
                <a:spcPct val="160000"/>
              </a:lnSpc>
              <a:buClr>
                <a:srgbClr val="ED7D31"/>
              </a:buClr>
              <a:buSzTx/>
              <a:buFont typeface="+mj-lt"/>
              <a:buAutoNum type="arabicPeriod"/>
            </a:pPr>
            <a:r>
              <a:rPr lang="zh-CN" altLang="en-US" sz="2000" dirty="0" smtClean="0">
                <a:ea typeface="宋体" panose="02010600030101010101" pitchFamily="2" charset="-122"/>
                <a:sym typeface="+mn-ea"/>
              </a:rPr>
              <a:t>接口用来定义现实世界不同类型事物的共同特征。</a:t>
            </a:r>
            <a:endParaRPr lang="zh-CN" altLang="en-US" sz="2000" dirty="0" smtClean="0">
              <a:ea typeface="宋体" panose="02010600030101010101" pitchFamily="2" charset="-122"/>
            </a:endParaRPr>
          </a:p>
          <a:p>
            <a:pPr marL="457200" indent="-457200" algn="l">
              <a:lnSpc>
                <a:spcPct val="160000"/>
              </a:lnSpc>
              <a:buClr>
                <a:srgbClr val="ED7D31"/>
              </a:buClr>
              <a:buSzTx/>
              <a:buFont typeface="+mj-lt"/>
              <a:buAutoNum type="arabicPeriod"/>
            </a:pPr>
            <a:r>
              <a:rPr lang="zh-CN" altLang="en-US" sz="2000" dirty="0" smtClean="0">
                <a:ea typeface="宋体" panose="02010600030101010101" pitchFamily="2" charset="-122"/>
                <a:sym typeface="+mn-ea"/>
              </a:rPr>
              <a:t>例如：</a:t>
            </a:r>
            <a:endParaRPr lang="zh-CN" altLang="en-US" sz="2000" dirty="0" smtClean="0">
              <a:ea typeface="宋体" panose="02010600030101010101" pitchFamily="2" charset="-122"/>
            </a:endParaRPr>
          </a:p>
          <a:p>
            <a:pPr marL="704850" lvl="1" indent="-361950">
              <a:buClr>
                <a:srgbClr val="ED7D31"/>
              </a:buClr>
              <a:defRPr/>
            </a:pPr>
            <a:r>
              <a:rPr lang="zh-CN" altLang="en-US" sz="2000" dirty="0" smtClean="0">
                <a:ea typeface="宋体" panose="02010600030101010101" pitchFamily="2" charset="-122"/>
                <a:sym typeface="+mn-ea"/>
              </a:rPr>
              <a:t>飞行特征（包括起飞，飞行、着陆等行为）是鸟和飞机所共有的。</a:t>
            </a:r>
            <a:endParaRPr lang="zh-CN" altLang="en-US" sz="2000" dirty="0" smtClean="0">
              <a:ea typeface="宋体" panose="02010600030101010101" pitchFamily="2" charset="-122"/>
            </a:endParaRPr>
          </a:p>
          <a:p>
            <a:pPr marL="704850" lvl="1" indent="-361950">
              <a:buClr>
                <a:srgbClr val="ED7D31"/>
              </a:buClr>
              <a:defRPr/>
            </a:pPr>
            <a:r>
              <a:rPr lang="zh-CN" altLang="en-US" sz="2000" dirty="0" smtClean="0">
                <a:ea typeface="宋体" panose="02010600030101010101" pitchFamily="2" charset="-122"/>
                <a:sym typeface="+mn-ea"/>
              </a:rPr>
              <a:t>鸟和飞机可定义为具体类</a:t>
            </a:r>
            <a:endParaRPr lang="zh-CN" altLang="en-US" sz="2000" dirty="0" smtClean="0">
              <a:ea typeface="宋体" panose="02010600030101010101" pitchFamily="2" charset="-122"/>
            </a:endParaRPr>
          </a:p>
          <a:p>
            <a:pPr marL="704850" lvl="1" indent="-361950">
              <a:buClr>
                <a:srgbClr val="ED7D31"/>
              </a:buClr>
              <a:defRPr/>
            </a:pPr>
            <a:r>
              <a:rPr lang="zh-CN" altLang="en-US" sz="2000" dirty="0" smtClean="0">
                <a:ea typeface="宋体" panose="02010600030101010101" pitchFamily="2" charset="-122"/>
                <a:sym typeface="+mn-ea"/>
              </a:rPr>
              <a:t>它们的共同特征飞行应被定义为接口</a:t>
            </a:r>
            <a:endParaRPr lang="en-US" altLang="zh-CN" sz="2000" dirty="0" smtClean="0">
              <a:ea typeface="宋体" panose="02010600030101010101" pitchFamily="2" charset="-122"/>
            </a:endParaRPr>
          </a:p>
          <a:p>
            <a:pPr marL="457200" indent="-457200" algn="l">
              <a:lnSpc>
                <a:spcPct val="160000"/>
              </a:lnSpc>
              <a:buClr>
                <a:srgbClr val="ED7D31"/>
              </a:buClr>
              <a:buSzTx/>
              <a:buFont typeface="+mj-lt"/>
              <a:buAutoNum type="arabicPeriod" startAt="3"/>
            </a:pPr>
            <a:r>
              <a:rPr lang="zh-CN" altLang="en-US" sz="2000" dirty="0" smtClean="0">
                <a:ea typeface="宋体" panose="02010600030101010101" pitchFamily="2" charset="-122"/>
                <a:sym typeface="+mn-ea"/>
              </a:rPr>
              <a:t>接口中所有方法均为抽象方法</a:t>
            </a:r>
            <a:endParaRPr lang="zh-CN" altLang="en-US" sz="2000" dirty="0" smtClean="0">
              <a:ea typeface="宋体" panose="02010600030101010101" pitchFamily="2" charset="-122"/>
            </a:endParaRPr>
          </a:p>
          <a:p>
            <a:pPr marL="819150" lvl="1" indent="-361950">
              <a:buClr>
                <a:srgbClr val="ED7D31"/>
              </a:buClr>
              <a:defRPr/>
            </a:pPr>
            <a:r>
              <a:rPr lang="zh-CN" altLang="en-US" sz="1665" dirty="0" smtClean="0">
                <a:ea typeface="宋体" panose="02010600030101010101" pitchFamily="2" charset="-122"/>
                <a:sym typeface="+mn-ea"/>
              </a:rPr>
              <a:t>示例：</a:t>
            </a:r>
            <a:endParaRPr lang="en-US" altLang="zh-CN" sz="1665" dirty="0" smtClean="0">
              <a:ea typeface="宋体" panose="02010600030101010101" pitchFamily="2" charset="-122"/>
            </a:endParaRPr>
          </a:p>
          <a:p>
            <a:pPr marL="819150" lvl="1" indent="-361950">
              <a:buFont typeface="Times" pitchFamily="18" charset="0"/>
              <a:buNone/>
              <a:defRPr/>
            </a:pPr>
            <a:r>
              <a:rPr lang="en-US" altLang="zh-CN" sz="1665" dirty="0" smtClean="0">
                <a:ea typeface="宋体" panose="02010600030101010101" pitchFamily="2" charset="-122"/>
                <a:sym typeface="+mn-ea"/>
              </a:rPr>
              <a:t>	</a:t>
            </a:r>
            <a:r>
              <a:rPr lang="en-US" altLang="zh-CN" sz="1665" dirty="0" smtClean="0">
                <a:solidFill>
                  <a:srgbClr val="ED7D31"/>
                </a:solidFill>
                <a:ea typeface="宋体" panose="02010600030101010101" pitchFamily="2" charset="-122"/>
                <a:sym typeface="+mn-ea"/>
              </a:rPr>
              <a:t>public interface Flyer {</a:t>
            </a:r>
            <a:endParaRPr lang="en-US" altLang="zh-CN" sz="1665" dirty="0" smtClean="0">
              <a:solidFill>
                <a:srgbClr val="ED7D31"/>
              </a:solidFill>
              <a:ea typeface="宋体" panose="02010600030101010101" pitchFamily="2" charset="-122"/>
            </a:endParaRPr>
          </a:p>
          <a:p>
            <a:pPr marL="819150" lvl="1" indent="-361950">
              <a:buFont typeface="Times" pitchFamily="18" charset="0"/>
              <a:buNone/>
              <a:defRPr/>
            </a:pPr>
            <a:r>
              <a:rPr lang="en-US" altLang="zh-CN" sz="1665" dirty="0" smtClean="0">
                <a:solidFill>
                  <a:srgbClr val="ED7D31"/>
                </a:solidFill>
                <a:ea typeface="宋体" panose="02010600030101010101" pitchFamily="2" charset="-122"/>
                <a:sym typeface="+mn-ea"/>
              </a:rPr>
              <a:t>		  public void takeoff();</a:t>
            </a:r>
            <a:endParaRPr lang="en-US" altLang="zh-CN" sz="1665" dirty="0" smtClean="0">
              <a:solidFill>
                <a:srgbClr val="ED7D31"/>
              </a:solidFill>
              <a:ea typeface="宋体" panose="02010600030101010101" pitchFamily="2" charset="-122"/>
            </a:endParaRPr>
          </a:p>
          <a:p>
            <a:pPr marL="819150" lvl="1" indent="-361950">
              <a:buFont typeface="Times" pitchFamily="18" charset="0"/>
              <a:buNone/>
              <a:defRPr/>
            </a:pPr>
            <a:r>
              <a:rPr lang="en-US" altLang="zh-CN" sz="1665" dirty="0" smtClean="0">
                <a:solidFill>
                  <a:srgbClr val="ED7D31"/>
                </a:solidFill>
                <a:ea typeface="宋体" panose="02010600030101010101" pitchFamily="2" charset="-122"/>
                <a:sym typeface="+mn-ea"/>
              </a:rPr>
              <a:t>		  ……</a:t>
            </a:r>
            <a:endParaRPr lang="en-US" altLang="zh-CN" sz="1665" dirty="0" smtClean="0">
              <a:solidFill>
                <a:srgbClr val="ED7D31"/>
              </a:solidFill>
              <a:ea typeface="宋体" panose="02010600030101010101" pitchFamily="2" charset="-122"/>
            </a:endParaRPr>
          </a:p>
          <a:p>
            <a:pPr marL="819150" lvl="1" indent="-361950">
              <a:buFont typeface="Times" pitchFamily="18" charset="0"/>
              <a:buNone/>
              <a:defRPr/>
            </a:pPr>
            <a:r>
              <a:rPr lang="en-US" altLang="zh-CN" sz="1665" dirty="0" smtClean="0">
                <a:solidFill>
                  <a:srgbClr val="ED7D31"/>
                </a:solidFill>
                <a:ea typeface="宋体" panose="02010600030101010101" pitchFamily="2" charset="-122"/>
                <a:sym typeface="+mn-ea"/>
              </a:rPr>
              <a:t>     }</a:t>
            </a:r>
            <a:endParaRPr lang="en-US" altLang="zh-CN" sz="1665" dirty="0" smtClean="0">
              <a:solidFill>
                <a:srgbClr val="ED7D31"/>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Flyer接口</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113" y="1398607"/>
            <a:ext cx="7537450" cy="4816475"/>
          </a:xfrm>
        </p:spPr>
        <p:txBody>
          <a:bodyPr>
            <a:normAutofit/>
          </a:bodyPr>
          <a:p>
            <a:pPr marL="361950" indent="-361950" eaLnBrk="1" hangingPunct="1">
              <a:buFont typeface="Times"/>
              <a:buNone/>
              <a:defRPr/>
            </a:pPr>
            <a:r>
              <a:rPr lang="en-US" altLang="zh-CN" dirty="0" smtClean="0">
                <a:solidFill>
                  <a:srgbClr val="002060"/>
                </a:solidFill>
                <a:ea typeface="宋体" panose="02010600030101010101" pitchFamily="2" charset="-122"/>
                <a:cs typeface="+mn-lt"/>
              </a:rPr>
              <a:t>1 public interface Flyer {</a:t>
            </a:r>
            <a:endParaRPr lang="en-US" altLang="zh-CN" dirty="0" smtClean="0">
              <a:solidFill>
                <a:srgbClr val="002060"/>
              </a:solidFill>
              <a:ea typeface="宋体" panose="02010600030101010101" pitchFamily="2" charset="-122"/>
              <a:cs typeface="+mn-lt"/>
            </a:endParaRPr>
          </a:p>
          <a:p>
            <a:pPr marL="361950" indent="-361950" eaLnBrk="1" hangingPunct="1">
              <a:buFont typeface="Times"/>
              <a:buNone/>
              <a:defRPr/>
            </a:pPr>
            <a:r>
              <a:rPr lang="en-US" altLang="zh-CN" dirty="0" smtClean="0">
                <a:solidFill>
                  <a:srgbClr val="002060"/>
                </a:solidFill>
                <a:ea typeface="宋体" panose="02010600030101010101" pitchFamily="2" charset="-122"/>
                <a:cs typeface="+mn-lt"/>
              </a:rPr>
              <a:t>2     public abstract void takeoff();</a:t>
            </a:r>
            <a:endParaRPr lang="en-US" altLang="zh-CN" dirty="0" smtClean="0">
              <a:solidFill>
                <a:srgbClr val="002060"/>
              </a:solidFill>
              <a:ea typeface="宋体" panose="02010600030101010101" pitchFamily="2" charset="-122"/>
              <a:cs typeface="+mn-lt"/>
            </a:endParaRPr>
          </a:p>
          <a:p>
            <a:pPr marL="361950" indent="-361950" eaLnBrk="1" hangingPunct="1">
              <a:buFont typeface="Times"/>
              <a:buNone/>
              <a:defRPr/>
            </a:pPr>
            <a:r>
              <a:rPr lang="en-US" altLang="zh-CN" dirty="0" smtClean="0">
                <a:solidFill>
                  <a:srgbClr val="002060"/>
                </a:solidFill>
                <a:ea typeface="宋体" panose="02010600030101010101" pitchFamily="2" charset="-122"/>
                <a:cs typeface="+mn-lt"/>
              </a:rPr>
              <a:t>3     public void land();</a:t>
            </a:r>
            <a:endParaRPr lang="en-US" altLang="zh-CN" dirty="0" smtClean="0">
              <a:solidFill>
                <a:srgbClr val="002060"/>
              </a:solidFill>
              <a:ea typeface="宋体" panose="02010600030101010101" pitchFamily="2" charset="-122"/>
              <a:cs typeface="+mn-lt"/>
            </a:endParaRPr>
          </a:p>
          <a:p>
            <a:pPr marL="361950" indent="-361950" eaLnBrk="1" hangingPunct="1">
              <a:buFont typeface="Times"/>
              <a:buNone/>
              <a:defRPr/>
            </a:pPr>
            <a:r>
              <a:rPr lang="en-US" altLang="zh-CN" dirty="0" smtClean="0">
                <a:solidFill>
                  <a:srgbClr val="002060"/>
                </a:solidFill>
                <a:ea typeface="宋体" panose="02010600030101010101" pitchFamily="2" charset="-122"/>
                <a:cs typeface="+mn-lt"/>
              </a:rPr>
              <a:t>4     public void fly();</a:t>
            </a:r>
            <a:endParaRPr lang="en-US" altLang="zh-CN" dirty="0" smtClean="0">
              <a:solidFill>
                <a:srgbClr val="002060"/>
              </a:solidFill>
              <a:ea typeface="宋体" panose="02010600030101010101" pitchFamily="2" charset="-122"/>
              <a:cs typeface="+mn-lt"/>
            </a:endParaRPr>
          </a:p>
          <a:p>
            <a:pPr marL="361950" indent="-361950" eaLnBrk="1" hangingPunct="1">
              <a:buFont typeface="Times"/>
              <a:buNone/>
              <a:defRPr/>
            </a:pPr>
            <a:r>
              <a:rPr lang="en-US" altLang="zh-CN" dirty="0" smtClean="0">
                <a:solidFill>
                  <a:srgbClr val="002060"/>
                </a:solidFill>
                <a:ea typeface="宋体" panose="02010600030101010101" pitchFamily="2" charset="-122"/>
                <a:cs typeface="+mn-lt"/>
              </a:rPr>
              <a:t>5 }</a:t>
            </a:r>
            <a:endParaRPr lang="en-US" altLang="zh-CN" dirty="0" smtClean="0">
              <a:solidFill>
                <a:srgbClr val="002060"/>
              </a:solidFill>
              <a:ea typeface="宋体" panose="02010600030101010101" pitchFamily="2" charset="-122"/>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具体类实现接口</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algn="l" eaLnBrk="1" hangingPunct="1">
              <a:lnSpc>
                <a:spcPct val="160000"/>
              </a:lnSpc>
              <a:buClr>
                <a:srgbClr val="ED7D31"/>
              </a:buClr>
              <a:buSzTx/>
              <a:buFont typeface="+mj-lt"/>
              <a:buAutoNum type="arabicPeriod"/>
            </a:pPr>
            <a:r>
              <a:rPr lang="zh-CN" altLang="en-US" sz="2000" dirty="0" smtClean="0">
                <a:ea typeface="宋体" panose="02010600030101010101" pitchFamily="2" charset="-122"/>
                <a:sym typeface="+mn-ea"/>
              </a:rPr>
              <a:t>接口不能被实例化</a:t>
            </a:r>
            <a:endParaRPr lang="zh-CN" altLang="en-US" sz="2000" dirty="0" smtClean="0">
              <a:ea typeface="宋体" panose="02010600030101010101" pitchFamily="2" charset="-122"/>
            </a:endParaRPr>
          </a:p>
          <a:p>
            <a:pPr marL="457200" indent="-457200" algn="l">
              <a:lnSpc>
                <a:spcPct val="160000"/>
              </a:lnSpc>
              <a:buClr>
                <a:srgbClr val="ED7D31"/>
              </a:buClr>
              <a:buSzTx/>
              <a:buFont typeface="+mj-lt"/>
              <a:buAutoNum type="arabicPeriod"/>
            </a:pPr>
            <a:r>
              <a:rPr lang="zh-CN" altLang="en-US" sz="2000" dirty="0" smtClean="0">
                <a:ea typeface="宋体" panose="02010600030101010101" pitchFamily="2" charset="-122"/>
                <a:sym typeface="+mn-ea"/>
              </a:rPr>
              <a:t>具体类（子类）可以实现接口（父类） ，并实现接口中的抽象方法</a:t>
            </a:r>
            <a:endParaRPr lang="zh-CN" altLang="en-US" sz="2000" dirty="0" smtClean="0">
              <a:ea typeface="宋体" panose="02010600030101010101" pitchFamily="2" charset="-122"/>
            </a:endParaRPr>
          </a:p>
          <a:p>
            <a:pPr marL="457200" indent="-457200" algn="l">
              <a:lnSpc>
                <a:spcPct val="160000"/>
              </a:lnSpc>
              <a:buClr>
                <a:srgbClr val="ED7D31"/>
              </a:buClr>
              <a:buSzTx/>
              <a:buFont typeface="+mj-lt"/>
              <a:buAutoNum type="arabicPeriod"/>
            </a:pPr>
            <a:r>
              <a:rPr lang="zh-CN" altLang="en-US" sz="2000" dirty="0" smtClean="0">
                <a:ea typeface="宋体" panose="02010600030101010101" pitchFamily="2" charset="-122"/>
                <a:sym typeface="+mn-ea"/>
              </a:rPr>
              <a:t>具体类适用父接口的多态</a:t>
            </a:r>
            <a:endParaRPr lang="zh-CN" altLang="en-US" sz="20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solidFill>
                  <a:srgbClr val="FF0000"/>
                </a:solidFill>
                <a:ea typeface="宋体" panose="02010600030101010101" pitchFamily="2" charset="-122"/>
                <a:sym typeface="+mn-ea"/>
              </a:rPr>
              <a:t>接口</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public </a:t>
            </a:r>
            <a:r>
              <a:rPr lang="en-US" altLang="zh-CN" sz="1400" smtClean="0">
                <a:solidFill>
                  <a:srgbClr val="FF0000"/>
                </a:solidFill>
                <a:ea typeface="宋体" panose="02010600030101010101" pitchFamily="2" charset="-122"/>
              </a:rPr>
              <a:t>interface </a:t>
            </a:r>
            <a:r>
              <a:rPr lang="en-US" altLang="zh-CN" sz="1400" smtClean="0">
                <a:ea typeface="宋体" panose="02010600030101010101" pitchFamily="2" charset="-122"/>
              </a:rPr>
              <a:t>Flyer {//</a:t>
            </a:r>
            <a:r>
              <a:rPr lang="zh-CN" altLang="en-US" sz="1400" smtClean="0">
                <a:ea typeface="宋体" panose="02010600030101010101" pitchFamily="2" charset="-122"/>
              </a:rPr>
              <a:t>定义接口用</a:t>
            </a:r>
            <a:r>
              <a:rPr lang="en-US" altLang="zh-CN" sz="1400" smtClean="0">
                <a:ea typeface="宋体" panose="02010600030101010101" pitchFamily="2" charset="-122"/>
              </a:rPr>
              <a:t>interface</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int speed = 100;</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public void takeOff();</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public void fly();</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public void land();</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class Bird </a:t>
            </a:r>
            <a:r>
              <a:rPr lang="en-US" altLang="zh-CN" sz="1400" smtClean="0">
                <a:solidFill>
                  <a:srgbClr val="FF0000"/>
                </a:solidFill>
                <a:ea typeface="宋体" panose="02010600030101010101" pitchFamily="2" charset="-122"/>
              </a:rPr>
              <a:t>implements </a:t>
            </a:r>
            <a:r>
              <a:rPr lang="en-US" altLang="zh-CN" sz="1400" smtClean="0">
                <a:ea typeface="宋体" panose="02010600030101010101" pitchFamily="2" charset="-122"/>
              </a:rPr>
              <a:t>Flyer{//</a:t>
            </a:r>
            <a:r>
              <a:rPr lang="zh-CN" altLang="en-US" sz="1400" smtClean="0">
                <a:ea typeface="宋体" panose="02010600030101010101" pitchFamily="2" charset="-122"/>
              </a:rPr>
              <a:t>实现接口用</a:t>
            </a:r>
            <a:r>
              <a:rPr lang="en-US" altLang="zh-CN" sz="1400" smtClean="0">
                <a:ea typeface="宋体" panose="02010600030101010101" pitchFamily="2" charset="-122"/>
              </a:rPr>
              <a:t>implement</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@Override</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public void takeOff() {}</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@Override</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public void fly() {</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System.out.println("Bird.fly:鸟飞行");</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@Override</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public void land() {}</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class Test{</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public static void main(String[] args) {</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a:t>
            </a:r>
            <a:r>
              <a:rPr lang="en-US" altLang="zh-CN" sz="1400" smtClean="0">
                <a:solidFill>
                  <a:srgbClr val="FF0000"/>
                </a:solidFill>
                <a:ea typeface="宋体" panose="02010600030101010101" pitchFamily="2" charset="-122"/>
              </a:rPr>
              <a:t> //变量都是public static final的</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System.out.println(</a:t>
            </a:r>
            <a:r>
              <a:rPr lang="en-US" altLang="zh-CN" sz="1400" smtClean="0">
                <a:solidFill>
                  <a:srgbClr val="FF0000"/>
                </a:solidFill>
                <a:ea typeface="宋体" panose="02010600030101010101" pitchFamily="2" charset="-122"/>
              </a:rPr>
              <a:t>Flyer.speed</a:t>
            </a:r>
            <a:r>
              <a:rPr lang="en-US" altLang="zh-CN" sz="1400" smtClean="0">
                <a:ea typeface="宋体" panose="02010600030101010101" pitchFamily="2" charset="-122"/>
              </a:rPr>
              <a:t>);//static的</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 Flyer.speed = 200;//Cannot assign a value to final variable 'speed’</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a:t>
            </a:r>
            <a:r>
              <a:rPr lang="en-US" altLang="zh-CN" sz="1400" smtClean="0">
                <a:solidFill>
                  <a:srgbClr val="FF0000"/>
                </a:solidFill>
                <a:ea typeface="宋体" panose="02010600030101010101" pitchFamily="2" charset="-122"/>
              </a:rPr>
              <a:t> Flyer flyer = new Bird();</a:t>
            </a:r>
            <a:r>
              <a:rPr lang="en-US" altLang="zh-CN" sz="1400" smtClean="0">
                <a:ea typeface="宋体" panose="02010600030101010101" pitchFamily="2" charset="-122"/>
              </a:rPr>
              <a:t>//接口多态</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flyer.fly();</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    }</a:t>
            </a:r>
            <a:endParaRPr lang="en-US" altLang="zh-CN" sz="14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lang="en-US" altLang="zh-CN" sz="1400" smtClean="0">
                <a:ea typeface="宋体" panose="02010600030101010101" pitchFamily="2" charset="-122"/>
              </a:rPr>
              <a:t>}</a:t>
            </a:r>
            <a:endParaRPr lang="en-US" altLang="zh-CN" sz="14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939790" cy="460375"/>
          </a:xfrm>
          <a:prstGeom prst="rect">
            <a:avLst/>
          </a:prstGeom>
          <a:noFill/>
        </p:spPr>
        <p:txBody>
          <a:bodyPr wrap="square" rtlCol="0">
            <a:spAutoFit/>
          </a:bodyPr>
          <a:lstStyle/>
          <a:p>
            <a:pPr eaLnBrk="1" hangingPunct="1"/>
            <a:r>
              <a:rPr lang="zh-CN" altLang="en-US" sz="2400" b="1" spc="300" dirty="0" smtClean="0">
                <a:solidFill>
                  <a:schemeClr val="bg2">
                    <a:lumMod val="10000"/>
                  </a:schemeClr>
                </a:solidFill>
                <a:latin typeface="思源黑体 CN Bold" panose="020B0800000000000000" pitchFamily="34" charset="-122"/>
                <a:ea typeface="宋体" panose="02010600030101010101" pitchFamily="2" charset="-122"/>
                <a:sym typeface="+mn-ea"/>
              </a:rPr>
              <a:t>具体类、抽象类和接口的通常用法</a:t>
            </a:r>
            <a:r>
              <a:rPr lang="en-US" altLang="zh-CN" sz="2400" b="1" spc="300" dirty="0" smtClean="0">
                <a:solidFill>
                  <a:schemeClr val="bg2">
                    <a:lumMod val="10000"/>
                  </a:schemeClr>
                </a:solidFill>
                <a:latin typeface="思源黑体 CN Bold" panose="020B0800000000000000" pitchFamily="34" charset="-122"/>
                <a:ea typeface="宋体" panose="02010600030101010101" pitchFamily="2" charset="-122"/>
                <a:sym typeface="+mn-ea"/>
              </a:rPr>
              <a:t> </a:t>
            </a:r>
            <a:endParaRPr lang="en-US" altLang="zh-CN" sz="2400" b="1" spc="300" dirty="0" smtClean="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lnSpcReduction="10000"/>
          </a:bodyPr>
          <a:p>
            <a:pPr marL="457200" indent="-457200" algn="l" eaLnBrk="1" hangingPunct="1">
              <a:lnSpc>
                <a:spcPct val="150000"/>
              </a:lnSpc>
              <a:buClr>
                <a:srgbClr val="ED7D31"/>
              </a:buClr>
              <a:buSzTx/>
              <a:buFont typeface="+mj-lt"/>
              <a:buAutoNum type="arabicPeriod"/>
            </a:pPr>
            <a:r>
              <a:rPr lang="zh-CN" altLang="en-US" sz="2000" smtClean="0">
                <a:ea typeface="宋体" panose="02010600030101010101" pitchFamily="2" charset="-122"/>
                <a:sym typeface="+mn-ea"/>
              </a:rPr>
              <a:t>一个类可以同时继承父类并实现接口</a:t>
            </a:r>
            <a:endParaRPr lang="en-US" altLang="zh-CN" sz="2000" smtClean="0">
              <a:ea typeface="宋体" panose="02010600030101010101" pitchFamily="2" charset="-122"/>
            </a:endParaRPr>
          </a:p>
          <a:p>
            <a:pPr marL="819150" lvl="1" indent="-361950">
              <a:lnSpc>
                <a:spcPct val="150000"/>
              </a:lnSpc>
            </a:pPr>
            <a:r>
              <a:rPr lang="zh-CN" altLang="en-US" sz="1665" smtClean="0">
                <a:ea typeface="宋体" panose="02010600030101010101" pitchFamily="2" charset="-122"/>
                <a:sym typeface="+mn-ea"/>
              </a:rPr>
              <a:t>例如：</a:t>
            </a:r>
            <a:endParaRPr lang="en-US" altLang="zh-CN" sz="1665" smtClean="0">
              <a:ea typeface="宋体" panose="02010600030101010101" pitchFamily="2" charset="-122"/>
            </a:endParaRPr>
          </a:p>
          <a:p>
            <a:pPr marL="819150" lvl="1" indent="-361950">
              <a:lnSpc>
                <a:spcPct val="150000"/>
              </a:lnSpc>
              <a:buFont typeface="Times"/>
              <a:buNone/>
            </a:pPr>
            <a:r>
              <a:rPr lang="en-US" altLang="zh-CN" sz="1665" smtClean="0">
                <a:ea typeface="宋体" panose="02010600030101010101" pitchFamily="2" charset="-122"/>
                <a:sym typeface="+mn-ea"/>
              </a:rPr>
              <a:t>	public class Bird </a:t>
            </a:r>
            <a:r>
              <a:rPr lang="en-US" altLang="zh-CN" sz="1665" smtClean="0">
                <a:solidFill>
                  <a:srgbClr val="FF0000"/>
                </a:solidFill>
                <a:ea typeface="宋体" panose="02010600030101010101" pitchFamily="2" charset="-122"/>
                <a:sym typeface="+mn-ea"/>
              </a:rPr>
              <a:t>extends </a:t>
            </a:r>
            <a:r>
              <a:rPr lang="en-US" altLang="zh-CN" sz="1665" smtClean="0">
                <a:ea typeface="宋体" panose="02010600030101010101" pitchFamily="2" charset="-122"/>
                <a:sym typeface="+mn-ea"/>
              </a:rPr>
              <a:t>Pet </a:t>
            </a:r>
            <a:r>
              <a:rPr lang="en-US" altLang="zh-CN" sz="1665" smtClean="0">
                <a:solidFill>
                  <a:srgbClr val="FF0000"/>
                </a:solidFill>
                <a:ea typeface="宋体" panose="02010600030101010101" pitchFamily="2" charset="-122"/>
                <a:sym typeface="+mn-ea"/>
              </a:rPr>
              <a:t>implements </a:t>
            </a:r>
            <a:r>
              <a:rPr lang="en-US" altLang="zh-CN" sz="1665" smtClean="0">
                <a:ea typeface="宋体" panose="02010600030101010101" pitchFamily="2" charset="-122"/>
                <a:sym typeface="+mn-ea"/>
              </a:rPr>
              <a:t>Flyer</a:t>
            </a:r>
            <a:endParaRPr lang="en-US" altLang="zh-CN" sz="1665" smtClean="0">
              <a:ea typeface="宋体" panose="02010600030101010101" pitchFamily="2" charset="-122"/>
              <a:sym typeface="+mn-ea"/>
            </a:endParaRPr>
          </a:p>
          <a:p>
            <a:pPr marL="457200" lvl="1" indent="-457200" algn="l">
              <a:lnSpc>
                <a:spcPct val="150000"/>
              </a:lnSpc>
              <a:spcBef>
                <a:spcPts val="1000"/>
              </a:spcBef>
              <a:buClr>
                <a:srgbClr val="ED7D31"/>
              </a:buClr>
              <a:buSzTx/>
              <a:buFont typeface="+mj-lt"/>
              <a:buAutoNum type="arabicPeriod" startAt="2"/>
            </a:pPr>
            <a:r>
              <a:rPr lang="zh-CN" altLang="en-US" sz="2000" smtClean="0">
                <a:ea typeface="宋体" panose="02010600030101010101" pitchFamily="2" charset="-122"/>
                <a:sym typeface="+mn-ea"/>
              </a:rPr>
              <a:t>一个类继承抽象类，抽象类实现接口</a:t>
            </a:r>
            <a:endParaRPr lang="zh-CN" altLang="en-US" sz="2000" smtClean="0">
              <a:ea typeface="宋体" panose="02010600030101010101" pitchFamily="2" charset="-122"/>
              <a:sym typeface="+mn-ea"/>
            </a:endParaRPr>
          </a:p>
          <a:p>
            <a:pPr marL="819150" lvl="1" indent="-361950">
              <a:lnSpc>
                <a:spcPct val="150000"/>
              </a:lnSpc>
            </a:pPr>
            <a:r>
              <a:rPr lang="zh-CN" altLang="en-US" sz="1500" smtClean="0">
                <a:ea typeface="宋体" panose="02010600030101010101" pitchFamily="2" charset="-122"/>
                <a:sym typeface="+mn-ea"/>
              </a:rPr>
              <a:t>例如：</a:t>
            </a:r>
            <a:endParaRPr lang="en-US" altLang="zh-CN" sz="1500" smtClean="0">
              <a:ea typeface="宋体" panose="02010600030101010101" pitchFamily="2" charset="-122"/>
            </a:endParaRPr>
          </a:p>
          <a:p>
            <a:pPr marL="819150" lvl="1" indent="-361950">
              <a:lnSpc>
                <a:spcPct val="150000"/>
              </a:lnSpc>
              <a:buFont typeface="Times"/>
              <a:buNone/>
            </a:pPr>
            <a:r>
              <a:rPr lang="en-US" altLang="zh-CN" sz="1500" smtClean="0">
                <a:ea typeface="宋体" panose="02010600030101010101" pitchFamily="2" charset="-122"/>
                <a:sym typeface="+mn-ea"/>
              </a:rPr>
              <a:t>	public class </a:t>
            </a:r>
            <a:r>
              <a:rPr lang="en-US" altLang="zh-CN" sz="1500" smtClean="0">
                <a:solidFill>
                  <a:srgbClr val="FF0000"/>
                </a:solidFill>
                <a:ea typeface="宋体" panose="02010600030101010101" pitchFamily="2" charset="-122"/>
                <a:sym typeface="+mn-ea"/>
              </a:rPr>
              <a:t> </a:t>
            </a:r>
            <a:r>
              <a:rPr lang="en-US" altLang="zh-CN" sz="1500" smtClean="0">
                <a:ea typeface="宋体" panose="02010600030101010101" pitchFamily="2" charset="-122"/>
                <a:sym typeface="+mn-ea"/>
              </a:rPr>
              <a:t>Pet </a:t>
            </a:r>
            <a:r>
              <a:rPr lang="en-US" altLang="zh-CN" sz="1500" smtClean="0">
                <a:solidFill>
                  <a:srgbClr val="FF0000"/>
                </a:solidFill>
                <a:ea typeface="宋体" panose="02010600030101010101" pitchFamily="2" charset="-122"/>
                <a:sym typeface="+mn-ea"/>
              </a:rPr>
              <a:t>implements </a:t>
            </a:r>
            <a:r>
              <a:rPr lang="en-US" altLang="zh-CN" sz="1500" smtClean="0">
                <a:ea typeface="宋体" panose="02010600030101010101" pitchFamily="2" charset="-122"/>
                <a:sym typeface="+mn-ea"/>
              </a:rPr>
              <a:t>Flyer</a:t>
            </a:r>
            <a:endParaRPr lang="en-US" altLang="zh-CN" sz="1500" smtClean="0">
              <a:ea typeface="宋体" panose="02010600030101010101" pitchFamily="2" charset="-122"/>
              <a:sym typeface="+mn-ea"/>
            </a:endParaRPr>
          </a:p>
          <a:p>
            <a:pPr marL="819150" lvl="1" indent="-361950">
              <a:lnSpc>
                <a:spcPct val="150000"/>
              </a:lnSpc>
              <a:buFont typeface="Times"/>
              <a:buNone/>
            </a:pPr>
            <a:r>
              <a:rPr lang="en-US" altLang="zh-CN" sz="1500" smtClean="0">
                <a:ea typeface="宋体" panose="02010600030101010101" pitchFamily="2" charset="-122"/>
                <a:sym typeface="+mn-ea"/>
              </a:rPr>
              <a:t>       public class Bird </a:t>
            </a:r>
            <a:r>
              <a:rPr lang="en-US" altLang="zh-CN" sz="1500" smtClean="0">
                <a:solidFill>
                  <a:srgbClr val="FF0000"/>
                </a:solidFill>
                <a:ea typeface="宋体" panose="02010600030101010101" pitchFamily="2" charset="-122"/>
                <a:sym typeface="+mn-ea"/>
              </a:rPr>
              <a:t>extends </a:t>
            </a:r>
            <a:r>
              <a:rPr lang="en-US" altLang="zh-CN" sz="1500" smtClean="0">
                <a:ea typeface="宋体" panose="02010600030101010101" pitchFamily="2" charset="-122"/>
                <a:sym typeface="+mn-ea"/>
              </a:rPr>
              <a:t>Pet </a:t>
            </a:r>
            <a:endParaRPr lang="en-US" altLang="zh-CN" sz="1500" smtClean="0">
              <a:ea typeface="宋体" panose="02010600030101010101" pitchFamily="2" charset="-122"/>
              <a:sym typeface="+mn-ea"/>
            </a:endParaRPr>
          </a:p>
          <a:p>
            <a:pPr marL="457200" lvl="1" indent="-457200" algn="l">
              <a:lnSpc>
                <a:spcPct val="150000"/>
              </a:lnSpc>
              <a:spcBef>
                <a:spcPts val="1000"/>
              </a:spcBef>
              <a:buClr>
                <a:srgbClr val="ED7D31"/>
              </a:buClr>
              <a:buSzTx/>
              <a:buFont typeface="+mj-lt"/>
              <a:buAutoNum type="arabicPeriod" startAt="3"/>
            </a:pPr>
            <a:r>
              <a:rPr lang="zh-CN" altLang="en-US" sz="2000" smtClean="0">
                <a:ea typeface="宋体" panose="02010600030101010101" pitchFamily="2" charset="-122"/>
                <a:sym typeface="+mn-ea"/>
              </a:rPr>
              <a:t>一个类实现多个接口</a:t>
            </a:r>
            <a:endParaRPr lang="zh-CN" altLang="en-US" sz="2000" smtClean="0">
              <a:ea typeface="宋体" panose="02010600030101010101" pitchFamily="2" charset="-122"/>
              <a:sym typeface="+mn-ea"/>
            </a:endParaRPr>
          </a:p>
          <a:p>
            <a:pPr marL="819150" lvl="1" indent="-361950">
              <a:lnSpc>
                <a:spcPct val="150000"/>
              </a:lnSpc>
            </a:pPr>
            <a:r>
              <a:rPr lang="zh-CN" altLang="en-US" sz="1500" smtClean="0">
                <a:ea typeface="宋体" panose="02010600030101010101" pitchFamily="2" charset="-122"/>
                <a:sym typeface="+mn-ea"/>
              </a:rPr>
              <a:t>例如：</a:t>
            </a:r>
            <a:endParaRPr lang="en-US" altLang="zh-CN" sz="1500" smtClean="0">
              <a:ea typeface="宋体" panose="02010600030101010101" pitchFamily="2" charset="-122"/>
            </a:endParaRPr>
          </a:p>
          <a:p>
            <a:pPr marL="819150" lvl="1" indent="-361950">
              <a:lnSpc>
                <a:spcPct val="150000"/>
              </a:lnSpc>
              <a:buFont typeface="Times"/>
              <a:buNone/>
            </a:pPr>
            <a:r>
              <a:rPr lang="en-US" altLang="zh-CN" sz="1500" smtClean="0">
                <a:ea typeface="宋体" panose="02010600030101010101" pitchFamily="2" charset="-122"/>
                <a:sym typeface="+mn-ea"/>
              </a:rPr>
              <a:t>	public class </a:t>
            </a:r>
            <a:r>
              <a:rPr lang="en-US" altLang="zh-CN" sz="1500" smtClean="0">
                <a:solidFill>
                  <a:srgbClr val="FF0000"/>
                </a:solidFill>
                <a:ea typeface="宋体" panose="02010600030101010101" pitchFamily="2" charset="-122"/>
                <a:sym typeface="+mn-ea"/>
              </a:rPr>
              <a:t> </a:t>
            </a:r>
            <a:r>
              <a:rPr lang="en-US" altLang="zh-CN" sz="1500" smtClean="0">
                <a:ea typeface="宋体" panose="02010600030101010101" pitchFamily="2" charset="-122"/>
                <a:sym typeface="+mn-ea"/>
              </a:rPr>
              <a:t>Pet </a:t>
            </a:r>
            <a:r>
              <a:rPr lang="en-US" altLang="zh-CN" sz="1500" smtClean="0">
                <a:solidFill>
                  <a:srgbClr val="FF0000"/>
                </a:solidFill>
                <a:ea typeface="宋体" panose="02010600030101010101" pitchFamily="2" charset="-122"/>
                <a:sym typeface="+mn-ea"/>
              </a:rPr>
              <a:t>implements </a:t>
            </a:r>
            <a:r>
              <a:rPr lang="en-US" altLang="zh-CN" sz="1500" smtClean="0">
                <a:ea typeface="宋体" panose="02010600030101010101" pitchFamily="2" charset="-122"/>
                <a:sym typeface="+mn-ea"/>
              </a:rPr>
              <a:t>Flyer,Runner</a:t>
            </a:r>
            <a:endParaRPr lang="en-US" altLang="zh-CN" sz="1500" smtClean="0">
              <a:ea typeface="宋体" panose="02010600030101010101" pitchFamily="2" charset="-122"/>
              <a:sym typeface="+mn-ea"/>
            </a:endParaRPr>
          </a:p>
          <a:p>
            <a:pPr marL="819150" lvl="1" indent="-361950">
              <a:lnSpc>
                <a:spcPct val="150000"/>
              </a:lnSpc>
              <a:buFont typeface="Times"/>
              <a:buNone/>
            </a:pPr>
            <a:r>
              <a:rPr lang="en-US" altLang="zh-CN" sz="1500" smtClean="0">
                <a:ea typeface="宋体" panose="02010600030101010101" pitchFamily="2" charset="-122"/>
                <a:sym typeface="+mn-ea"/>
              </a:rPr>
              <a:t>       public class Bird </a:t>
            </a:r>
            <a:r>
              <a:rPr lang="en-US" altLang="zh-CN" sz="1500" smtClean="0">
                <a:solidFill>
                  <a:srgbClr val="FF0000"/>
                </a:solidFill>
                <a:ea typeface="宋体" panose="02010600030101010101" pitchFamily="2" charset="-122"/>
                <a:sym typeface="+mn-ea"/>
              </a:rPr>
              <a:t>extends </a:t>
            </a:r>
            <a:r>
              <a:rPr lang="en-US" altLang="zh-CN" sz="1500" smtClean="0">
                <a:ea typeface="宋体" panose="02010600030101010101" pitchFamily="2" charset="-122"/>
                <a:sym typeface="+mn-ea"/>
              </a:rPr>
              <a:t>Pet </a:t>
            </a:r>
            <a:endParaRPr lang="en-US" altLang="zh-CN" sz="1500" smtClean="0">
              <a:ea typeface="宋体" panose="02010600030101010101" pitchFamily="2" charset="-122"/>
              <a:sym typeface="+mn-ea"/>
            </a:endParaRPr>
          </a:p>
          <a:p>
            <a:pPr marL="457200" lvl="1" indent="-457200" algn="l">
              <a:lnSpc>
                <a:spcPct val="150000"/>
              </a:lnSpc>
              <a:spcBef>
                <a:spcPts val="1000"/>
              </a:spcBef>
              <a:buClr>
                <a:srgbClr val="ED7D31"/>
              </a:buClr>
              <a:buSzTx/>
              <a:buFont typeface="+mj-lt"/>
              <a:buAutoNum type="arabicPeriod" startAt="3"/>
            </a:pPr>
            <a:endParaRPr lang="zh-CN" altLang="en-US" sz="15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82994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一个类可以同时继承父类并实现接口</a:t>
            </a:r>
            <a:endParaRPr lang="en-US" altLang="zh-CN" sz="2400" smtClean="0">
              <a:ea typeface="宋体" panose="02010600030101010101" pitchFamily="2" charset="-122"/>
            </a:endParaRPr>
          </a:p>
          <a:p>
            <a:pPr eaLnBrk="1" hangingPunct="1"/>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a:t>
            </a:r>
            <a:r>
              <a:rPr sz="1200" smtClean="0">
                <a:solidFill>
                  <a:srgbClr val="FF0000"/>
                </a:solidFill>
                <a:ea typeface="宋体" panose="02010600030101010101" pitchFamily="2" charset="-122"/>
              </a:rPr>
              <a:t>interface </a:t>
            </a:r>
            <a:r>
              <a:rPr sz="1200" smtClean="0">
                <a:ea typeface="宋体" panose="02010600030101010101" pitchFamily="2" charset="-122"/>
              </a:rPr>
              <a:t>Flyer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takeOff();</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fly();</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land();</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a:t>
            </a:r>
            <a:r>
              <a:rPr sz="1200" smtClean="0">
                <a:solidFill>
                  <a:srgbClr val="FF0000"/>
                </a:solidFill>
                <a:ea typeface="宋体" panose="02010600030101010101" pitchFamily="2" charset="-122"/>
              </a:rPr>
              <a:t>abstract </a:t>
            </a:r>
            <a:r>
              <a:rPr sz="1200" smtClean="0">
                <a:ea typeface="宋体" panose="02010600030101010101" pitchFamily="2" charset="-122"/>
              </a:rPr>
              <a:t>class Pet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String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int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Pet(String name, int age)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this.name =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this.age =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String getName()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setName(String name)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this.name =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int getAge()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setAge(int age)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this.age =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abstract void swimming();</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82994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一个类可以同时继承父类并实现接口</a:t>
            </a:r>
            <a:endParaRPr lang="en-US" altLang="zh-CN" sz="2400" smtClean="0">
              <a:ea typeface="宋体" panose="02010600030101010101" pitchFamily="2" charset="-122"/>
            </a:endParaRPr>
          </a:p>
          <a:p>
            <a:pPr eaLnBrk="1" hangingPunct="1"/>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class Bird </a:t>
            </a:r>
            <a:r>
              <a:rPr sz="1200" smtClean="0">
                <a:solidFill>
                  <a:srgbClr val="FF0000"/>
                </a:solidFill>
                <a:ea typeface="宋体" panose="02010600030101010101" pitchFamily="2" charset="-122"/>
              </a:rPr>
              <a:t>extends </a:t>
            </a:r>
            <a:r>
              <a:rPr sz="1200" smtClean="0">
                <a:ea typeface="宋体" panose="02010600030101010101" pitchFamily="2" charset="-122"/>
              </a:rPr>
              <a:t>Pet </a:t>
            </a:r>
            <a:r>
              <a:rPr sz="1200" smtClean="0">
                <a:solidFill>
                  <a:srgbClr val="FF0000"/>
                </a:solidFill>
                <a:ea typeface="宋体" panose="02010600030101010101" pitchFamily="2" charset="-122"/>
              </a:rPr>
              <a:t>implements </a:t>
            </a:r>
            <a:r>
              <a:rPr sz="1200" smtClean="0">
                <a:ea typeface="宋体" panose="02010600030101010101" pitchFamily="2" charset="-122"/>
              </a:rPr>
              <a:t>Flyer{</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String hireColor;</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Bird(String name, int age,String hireColor)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super(name,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this.hireColor = hireColor;</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String getHireColor()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hireColor;</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setHireColor(String hireColor)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this.hireColor = hireColor;</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@Override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swimming()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System.out.println(getName() + ":游泳");</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@Override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takeOff()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System.out.println(getName() + ":起飞");</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@Override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fly()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System.out.println(getName() + ":飞行");</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@Override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land()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System.out.println(getName() + ":着陆");</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82994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一个类可以同时继承父类并实现接口</a:t>
            </a:r>
            <a:endParaRPr lang="en-US" altLang="zh-CN" sz="2400" smtClean="0">
              <a:ea typeface="宋体" panose="02010600030101010101" pitchFamily="2" charset="-122"/>
            </a:endParaRPr>
          </a:p>
          <a:p>
            <a:pPr eaLnBrk="1" hangingPunct="1"/>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public class Test {</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public static void main(String[] args) {</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Bird bird = new Bird("布谷鸟",22,"red");</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bird.swimming();</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bird.fly();</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Pet pet = new Bird("小青",2,"red");</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pet.swimming();</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a:t>
            </a:r>
            <a:r>
              <a:rPr sz="2000" smtClean="0">
                <a:solidFill>
                  <a:srgbClr val="FF0000"/>
                </a:solidFill>
                <a:ea typeface="宋体" panose="02010600030101010101" pitchFamily="2" charset="-122"/>
              </a:rPr>
              <a:t> // pet.fly();//因为不是所有的宠物都会飞，所以没有实现飞行接口不能使用</a:t>
            </a:r>
            <a:endParaRPr sz="2000" smtClean="0">
              <a:solidFill>
                <a:srgbClr val="FF000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Flyer flyer = new Bird("小花",2,"red");</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flyer.fly();</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a:t>
            </a:r>
            <a:endParaRPr sz="20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一个类继承抽象类，抽象类实现接口</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a:t>
            </a:r>
            <a:r>
              <a:rPr sz="1200" smtClean="0">
                <a:solidFill>
                  <a:srgbClr val="FF0000"/>
                </a:solidFill>
                <a:ea typeface="宋体" panose="02010600030101010101" pitchFamily="2" charset="-122"/>
              </a:rPr>
              <a:t>interface </a:t>
            </a:r>
            <a:r>
              <a:rPr sz="1200" smtClean="0">
                <a:ea typeface="宋体" panose="02010600030101010101" pitchFamily="2" charset="-122"/>
              </a:rPr>
              <a:t>Flyer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takeOff();</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fly();</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land();</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abstract class Pet </a:t>
            </a:r>
            <a:r>
              <a:rPr sz="1200" smtClean="0">
                <a:solidFill>
                  <a:srgbClr val="FF0000"/>
                </a:solidFill>
                <a:ea typeface="宋体" panose="02010600030101010101" pitchFamily="2" charset="-122"/>
              </a:rPr>
              <a:t>implements </a:t>
            </a:r>
            <a:r>
              <a:rPr sz="1200" smtClean="0">
                <a:ea typeface="宋体" panose="02010600030101010101" pitchFamily="2" charset="-122"/>
              </a:rPr>
              <a:t>Flyer{</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String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int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Pet(String name, int age)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this.name =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this.age =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String getName()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setName(String name)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this.name =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int getAge()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setAge(int age)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this.age =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abstract void swimming();</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一个类继承抽象类，抽象类实现接口</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class Bird </a:t>
            </a:r>
            <a:r>
              <a:rPr sz="1200" smtClean="0">
                <a:solidFill>
                  <a:srgbClr val="FF0000"/>
                </a:solidFill>
                <a:ea typeface="宋体" panose="02010600030101010101" pitchFamily="2" charset="-122"/>
              </a:rPr>
              <a:t>extends </a:t>
            </a:r>
            <a:r>
              <a:rPr sz="1200" smtClean="0">
                <a:ea typeface="宋体" panose="02010600030101010101" pitchFamily="2" charset="-122"/>
              </a:rPr>
              <a:t>Pet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String hireColor;</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Bird(String name, int age,String hireColor)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super(name,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this.hireColor = hireColor;</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String getHireColor()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hireColor;</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setHireColor(String hireColor)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this.hireColor = hireColor;</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@Override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swimming()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System.out.println(getName() + ":游泳");</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@Override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takeOff()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System.out.println(getName() + ":起飞");</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@Override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fly()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System.out.println(getName() + ":飞行");</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@Override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land()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System.out.println(getName() + ":着陆");</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一个类继承抽象类，抽象类实现接口</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public class Test {</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public static void main(String[] args) {</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Bird bird = new Bird("布谷鸟",22,"red");</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bird.swimming();</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bird.fly();</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Pet pet = new Bird("小青",2,"red");</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pet.swimming();</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a:t>
            </a:r>
            <a:r>
              <a:rPr sz="2000" smtClean="0">
                <a:solidFill>
                  <a:srgbClr val="FF0000"/>
                </a:solidFill>
                <a:ea typeface="宋体" panose="02010600030101010101" pitchFamily="2" charset="-122"/>
              </a:rPr>
              <a:t> pet.fly();</a:t>
            </a:r>
            <a:r>
              <a:rPr lang="en-US" sz="2000" smtClean="0">
                <a:solidFill>
                  <a:srgbClr val="FF0000"/>
                </a:solidFill>
                <a:ea typeface="宋体" panose="02010600030101010101" pitchFamily="2" charset="-122"/>
              </a:rPr>
              <a:t>//</a:t>
            </a:r>
            <a:r>
              <a:rPr lang="zh-CN" altLang="en-US" sz="2000" smtClean="0">
                <a:solidFill>
                  <a:srgbClr val="FF0000"/>
                </a:solidFill>
                <a:ea typeface="宋体" panose="02010600030101010101" pitchFamily="2" charset="-122"/>
              </a:rPr>
              <a:t>宠物由于实现了飞行接口，所以也具备了飞行的方法</a:t>
            </a:r>
            <a:endParaRPr sz="2000" smtClean="0">
              <a:solidFill>
                <a:srgbClr val="FF0000"/>
              </a:solidFill>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Flyer flyer = new Bird("小花",2,"red");</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flyer.fly();</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    }</a:t>
            </a:r>
            <a:endParaRPr sz="20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2000" smtClean="0">
                <a:ea typeface="宋体" panose="02010600030101010101" pitchFamily="2" charset="-122"/>
              </a:rPr>
              <a:t>}</a:t>
            </a:r>
            <a:endParaRPr sz="20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marL="0" lvl="1"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一个类实现多个接口</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a:t>
            </a:r>
            <a:r>
              <a:rPr sz="1200" smtClean="0">
                <a:solidFill>
                  <a:srgbClr val="FF0000"/>
                </a:solidFill>
                <a:ea typeface="宋体" panose="02010600030101010101" pitchFamily="2" charset="-122"/>
              </a:rPr>
              <a:t>interface </a:t>
            </a:r>
            <a:r>
              <a:rPr sz="1200" smtClean="0">
                <a:ea typeface="宋体" panose="02010600030101010101" pitchFamily="2" charset="-122"/>
              </a:rPr>
              <a:t>Flyer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takeOff();</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fly();</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land();</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a:t>
            </a:r>
            <a:r>
              <a:rPr sz="1200" smtClean="0">
                <a:solidFill>
                  <a:srgbClr val="FF0000"/>
                </a:solidFill>
                <a:ea typeface="宋体" panose="02010600030101010101" pitchFamily="2" charset="-122"/>
              </a:rPr>
              <a:t>interface </a:t>
            </a:r>
            <a:r>
              <a:rPr sz="1200" smtClean="0">
                <a:ea typeface="宋体" panose="02010600030101010101" pitchFamily="2" charset="-122"/>
              </a:rPr>
              <a:t>Runner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run();</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abstract class Pet</a:t>
            </a:r>
            <a:r>
              <a:rPr sz="1200" smtClean="0">
                <a:solidFill>
                  <a:srgbClr val="FF0000"/>
                </a:solidFill>
                <a:ea typeface="宋体" panose="02010600030101010101" pitchFamily="2" charset="-122"/>
              </a:rPr>
              <a:t> implements Flyer,Runner</a:t>
            </a: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String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int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Pet(String name, int age)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this.name =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this.age =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String getName()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setName(String name)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this.name = 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int getAge()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setAge(int age)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this.age = age;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abstract void swimming();</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b="1" spc="300" dirty="0">
                <a:solidFill>
                  <a:srgbClr val="002060"/>
                </a:solidFill>
                <a:latin typeface="思源黑体 CN Bold" panose="020B0800000000000000" pitchFamily="34" charset="-122"/>
                <a:ea typeface="宋体" panose="02010600030101010101" pitchFamily="2" charset="-122"/>
                <a:sym typeface="+mn-ea"/>
              </a:rPr>
              <a:t>综合练习</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553085" y="861695"/>
            <a:ext cx="10897870" cy="5450205"/>
          </a:xfrm>
        </p:spPr>
        <p:txBody>
          <a:bodyPr>
            <a:normAutofit lnSpcReduction="20000"/>
          </a:bodyPr>
          <a:p>
            <a:pPr marL="457200" indent="-457200" algn="l" eaLnBrk="1" hangingPunct="1">
              <a:lnSpc>
                <a:spcPct val="160000"/>
              </a:lnSpc>
              <a:buClr>
                <a:srgbClr val="ED7D31"/>
              </a:buClr>
              <a:buSzTx/>
              <a:buFont typeface="+mj-lt"/>
              <a:buAutoNum type="arabicPeriod"/>
            </a:pPr>
            <a:r>
              <a:rPr lang="zh-CN" altLang="en-US" sz="2000" dirty="0" smtClean="0">
                <a:ea typeface="宋体" panose="02010600030101010101" pitchFamily="2" charset="-122"/>
                <a:sym typeface="+mn-ea"/>
              </a:rPr>
              <a:t>声明Clothing接口 ，在接口中声明 calcArea方法。</a:t>
            </a:r>
            <a:endParaRPr lang="zh-CN" altLang="en-US" sz="2000" dirty="0" smtClean="0">
              <a:ea typeface="宋体" panose="02010600030101010101" pitchFamily="2" charset="-122"/>
            </a:endParaRPr>
          </a:p>
          <a:p>
            <a:pPr marL="457200" indent="-457200" algn="l" eaLnBrk="1" hangingPunct="1">
              <a:lnSpc>
                <a:spcPct val="160000"/>
              </a:lnSpc>
              <a:buClr>
                <a:srgbClr val="ED7D31"/>
              </a:buClr>
              <a:buSzTx/>
              <a:buFont typeface="+mj-lt"/>
              <a:buAutoNum type="arabicPeriod"/>
            </a:pPr>
            <a:r>
              <a:rPr lang="zh-CN" altLang="en-US" sz="2000" dirty="0" smtClean="0">
                <a:ea typeface="宋体" panose="02010600030101010101" pitchFamily="2" charset="-122"/>
                <a:sym typeface="+mn-ea"/>
              </a:rPr>
              <a:t>声明一个抽象类</a:t>
            </a:r>
            <a:r>
              <a:rPr lang="en-US" altLang="zh-CN" sz="2000" smtClean="0">
                <a:ea typeface="宋体" panose="02010600030101010101" pitchFamily="2" charset="-122"/>
                <a:sym typeface="+mn-ea"/>
              </a:rPr>
              <a:t>Frock</a:t>
            </a:r>
            <a:r>
              <a:rPr lang="zh-CN" altLang="en-US" sz="2000" smtClean="0">
                <a:ea typeface="宋体" panose="02010600030101010101" pitchFamily="2" charset="-122"/>
                <a:sym typeface="+mn-ea"/>
              </a:rPr>
              <a:t>，定义变量</a:t>
            </a:r>
            <a:r>
              <a:rPr lang="en-US" altLang="zh-CN" sz="2000" smtClean="0">
                <a:ea typeface="宋体" panose="02010600030101010101" pitchFamily="2" charset="-122"/>
                <a:sym typeface="+mn-ea"/>
              </a:rPr>
              <a:t>color</a:t>
            </a:r>
            <a:r>
              <a:rPr lang="zh-CN" altLang="en-US" sz="2000" smtClean="0">
                <a:ea typeface="宋体" panose="02010600030101010101" pitchFamily="2" charset="-122"/>
                <a:sym typeface="+mn-ea"/>
              </a:rPr>
              <a:t>，创建构造器为</a:t>
            </a:r>
            <a:r>
              <a:rPr lang="en-US" altLang="zh-CN" sz="2000" smtClean="0">
                <a:ea typeface="宋体" panose="02010600030101010101" pitchFamily="2" charset="-122"/>
                <a:sym typeface="+mn-ea"/>
              </a:rPr>
              <a:t>color</a:t>
            </a:r>
            <a:r>
              <a:rPr lang="zh-CN" altLang="en-US" sz="2000" smtClean="0">
                <a:ea typeface="宋体" panose="02010600030101010101" pitchFamily="2" charset="-122"/>
                <a:sym typeface="+mn-ea"/>
              </a:rPr>
              <a:t>赋值，定义抽象方法</a:t>
            </a:r>
            <a:r>
              <a:rPr lang="en-US" altLang="zh-CN" sz="2000" smtClean="0">
                <a:ea typeface="宋体" panose="02010600030101010101" pitchFamily="2" charset="-122"/>
                <a:sym typeface="+mn-ea"/>
              </a:rPr>
              <a:t>getColor();</a:t>
            </a:r>
            <a:endParaRPr lang="en-US" altLang="zh-CN" sz="2000"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r>
              <a:rPr lang="zh-CN" altLang="en-US" sz="2000" dirty="0" smtClean="0">
                <a:ea typeface="宋体" panose="02010600030101010101" pitchFamily="2" charset="-122"/>
                <a:sym typeface="+mn-ea"/>
              </a:rPr>
              <a:t>定义一个Shirt类，声明一个</a:t>
            </a:r>
            <a:r>
              <a:rPr lang="en-US" altLang="zh-CN" sz="2000" dirty="0" smtClean="0">
                <a:ea typeface="宋体" panose="02010600030101010101" pitchFamily="2" charset="-122"/>
                <a:sym typeface="+mn-ea"/>
              </a:rPr>
              <a:t>price</a:t>
            </a:r>
            <a:r>
              <a:rPr lang="zh-CN" altLang="en-US" sz="2000" dirty="0" smtClean="0">
                <a:ea typeface="宋体" panose="02010600030101010101" pitchFamily="2" charset="-122"/>
                <a:sym typeface="+mn-ea"/>
              </a:rPr>
              <a:t>实例变量，</a:t>
            </a:r>
            <a:r>
              <a:rPr lang="zh-CN" altLang="en-US" sz="2000" dirty="0" smtClean="0">
                <a:solidFill>
                  <a:srgbClr val="FF0000"/>
                </a:solidFill>
                <a:ea typeface="宋体" panose="02010600030101010101" pitchFamily="2" charset="-122"/>
                <a:sym typeface="+mn-ea"/>
              </a:rPr>
              <a:t>创建构造器为</a:t>
            </a:r>
            <a:r>
              <a:rPr lang="en-US" altLang="zh-CN" sz="2000" dirty="0" smtClean="0">
                <a:solidFill>
                  <a:srgbClr val="FF0000"/>
                </a:solidFill>
                <a:ea typeface="宋体" panose="02010600030101010101" pitchFamily="2" charset="-122"/>
                <a:sym typeface="+mn-ea"/>
              </a:rPr>
              <a:t>price</a:t>
            </a:r>
            <a:r>
              <a:rPr lang="zh-CN" altLang="en-US" sz="2000" dirty="0" smtClean="0">
                <a:solidFill>
                  <a:srgbClr val="FF0000"/>
                </a:solidFill>
                <a:ea typeface="宋体" panose="02010600030101010101" pitchFamily="2" charset="-122"/>
                <a:sym typeface="+mn-ea"/>
              </a:rPr>
              <a:t>赋值</a:t>
            </a:r>
            <a:r>
              <a:rPr lang="zh-CN" altLang="en-US" sz="2000" dirty="0" smtClean="0">
                <a:ea typeface="宋体" panose="02010600030101010101" pitchFamily="2" charset="-122"/>
                <a:sym typeface="+mn-ea"/>
              </a:rPr>
              <a:t>，并提供</a:t>
            </a:r>
            <a:r>
              <a:rPr lang="en-US" altLang="zh-CN" sz="2000" dirty="0" smtClean="0">
                <a:ea typeface="宋体" panose="02010600030101010101" pitchFamily="2" charset="-122"/>
                <a:sym typeface="+mn-ea"/>
              </a:rPr>
              <a:t>get</a:t>
            </a:r>
            <a:r>
              <a:rPr lang="zh-CN" altLang="en-US" sz="2000" dirty="0" smtClean="0">
                <a:ea typeface="宋体" panose="02010600030101010101" pitchFamily="2" charset="-122"/>
                <a:sym typeface="+mn-ea"/>
              </a:rPr>
              <a:t>和</a:t>
            </a:r>
            <a:r>
              <a:rPr lang="en-US" altLang="zh-CN" sz="2000" dirty="0" smtClean="0">
                <a:ea typeface="宋体" panose="02010600030101010101" pitchFamily="2" charset="-122"/>
                <a:sym typeface="+mn-ea"/>
              </a:rPr>
              <a:t>set</a:t>
            </a:r>
            <a:r>
              <a:rPr lang="zh-CN" altLang="en-US" sz="2000" dirty="0" smtClean="0">
                <a:ea typeface="宋体" panose="02010600030101010101" pitchFamily="2" charset="-122"/>
                <a:sym typeface="+mn-ea"/>
              </a:rPr>
              <a:t>方法</a:t>
            </a:r>
            <a:endParaRPr lang="zh-CN" altLang="en-US" sz="2000" dirty="0"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r>
              <a:rPr lang="zh-CN" altLang="en-US" sz="2000" dirty="0" smtClean="0">
                <a:ea typeface="宋体" panose="02010600030101010101" pitchFamily="2" charset="-122"/>
                <a:sym typeface="+mn-ea"/>
              </a:rPr>
              <a:t>Shirt</a:t>
            </a:r>
            <a:r>
              <a:rPr lang="zh-CN" altLang="en-US" sz="2000" dirty="0" smtClean="0">
                <a:ea typeface="宋体" panose="02010600030101010101" pitchFamily="2" charset="-122"/>
                <a:sym typeface="+mn-ea"/>
              </a:rPr>
              <a:t>继承</a:t>
            </a:r>
            <a:r>
              <a:rPr lang="en-US" altLang="zh-CN" sz="2000" dirty="0" smtClean="0">
                <a:ea typeface="宋体" panose="02010600030101010101" pitchFamily="2" charset="-122"/>
                <a:sym typeface="+mn-ea"/>
              </a:rPr>
              <a:t>Frock</a:t>
            </a:r>
            <a:r>
              <a:rPr lang="zh-CN" altLang="en-US" sz="2000" dirty="0" smtClean="0">
                <a:ea typeface="宋体" panose="02010600030101010101" pitchFamily="2" charset="-122"/>
                <a:sym typeface="+mn-ea"/>
              </a:rPr>
              <a:t>抽象类并实现Clothing接口。</a:t>
            </a:r>
            <a:endParaRPr lang="zh-CN" altLang="en-US" sz="2000" dirty="0" smtClean="0">
              <a:ea typeface="宋体" panose="02010600030101010101" pitchFamily="2" charset="-122"/>
            </a:endParaRPr>
          </a:p>
          <a:p>
            <a:pPr marL="457200" indent="-457200" algn="l" eaLnBrk="1" hangingPunct="1">
              <a:lnSpc>
                <a:spcPct val="160000"/>
              </a:lnSpc>
              <a:buClr>
                <a:srgbClr val="ED7D31"/>
              </a:buClr>
              <a:buSzTx/>
              <a:buFont typeface="+mj-lt"/>
              <a:buAutoNum type="arabicPeriod"/>
            </a:pPr>
            <a:r>
              <a:rPr lang="zh-CN" altLang="en-US" sz="2000" dirty="0" smtClean="0">
                <a:ea typeface="宋体" panose="02010600030101010101" pitchFamily="2" charset="-122"/>
                <a:sym typeface="+mn-ea"/>
              </a:rPr>
              <a:t>在Test类的main方法中：</a:t>
            </a:r>
            <a:endParaRPr lang="zh-CN" altLang="en-US" sz="1800" dirty="0" smtClean="0">
              <a:ea typeface="宋体" panose="02010600030101010101" pitchFamily="2" charset="-122"/>
            </a:endParaRPr>
          </a:p>
          <a:p>
            <a:pPr marL="914400" lvl="2" indent="-457200" algn="l" eaLnBrk="1" hangingPunct="1">
              <a:lnSpc>
                <a:spcPct val="160000"/>
              </a:lnSpc>
              <a:spcBef>
                <a:spcPts val="1000"/>
              </a:spcBef>
              <a:buClr>
                <a:srgbClr val="ED7D31"/>
              </a:buClr>
              <a:buSzTx/>
              <a:buFont typeface="+mj-lt"/>
              <a:buAutoNum type="arabicPeriod"/>
            </a:pPr>
            <a:r>
              <a:rPr lang="zh-CN" altLang="en-US" sz="1800" dirty="0" smtClean="0">
                <a:ea typeface="宋体" panose="02010600030101010101" pitchFamily="2" charset="-122"/>
                <a:sym typeface="+mn-ea"/>
              </a:rPr>
              <a:t>使用本态引用创建Shirt对象，并调用calcArea方法，打印计算结果。</a:t>
            </a:r>
            <a:endParaRPr lang="zh-CN" altLang="en-US" sz="1800" dirty="0" smtClean="0">
              <a:ea typeface="宋体" panose="02010600030101010101" pitchFamily="2" charset="-122"/>
              <a:sym typeface="+mn-ea"/>
            </a:endParaRPr>
          </a:p>
          <a:p>
            <a:pPr marL="914400" lvl="2" indent="-457200" algn="l" eaLnBrk="1" hangingPunct="1">
              <a:lnSpc>
                <a:spcPct val="160000"/>
              </a:lnSpc>
              <a:spcBef>
                <a:spcPts val="1000"/>
              </a:spcBef>
              <a:buClr>
                <a:srgbClr val="ED7D31"/>
              </a:buClr>
              <a:buSzTx/>
              <a:buFont typeface="+mj-lt"/>
              <a:buAutoNum type="arabicPeriod"/>
            </a:pPr>
            <a:r>
              <a:rPr lang="zh-CN" altLang="en-US" dirty="0" smtClean="0">
                <a:ea typeface="宋体" panose="02010600030101010101" pitchFamily="2" charset="-122"/>
                <a:sym typeface="+mn-ea"/>
              </a:rPr>
              <a:t>使用</a:t>
            </a:r>
            <a:r>
              <a:rPr lang="en-US" altLang="zh-CN" smtClean="0">
                <a:ea typeface="宋体" panose="02010600030101010101" pitchFamily="2" charset="-122"/>
                <a:sym typeface="+mn-ea"/>
              </a:rPr>
              <a:t>Frock</a:t>
            </a:r>
            <a:r>
              <a:rPr lang="zh-CN" altLang="en-US" dirty="0" smtClean="0">
                <a:ea typeface="宋体" panose="02010600030101010101" pitchFamily="2" charset="-122"/>
                <a:sym typeface="+mn-ea"/>
              </a:rPr>
              <a:t>多态引用创建Shirt对象，并调用calcArea方法，打印计算结果。</a:t>
            </a:r>
            <a:endParaRPr lang="zh-CN" altLang="en-US" sz="1800" dirty="0" smtClean="0">
              <a:ea typeface="宋体" panose="02010600030101010101" pitchFamily="2" charset="-122"/>
            </a:endParaRPr>
          </a:p>
          <a:p>
            <a:pPr marL="914400" lvl="2" indent="-457200" algn="l" eaLnBrk="1" hangingPunct="1">
              <a:lnSpc>
                <a:spcPct val="160000"/>
              </a:lnSpc>
              <a:spcBef>
                <a:spcPts val="1000"/>
              </a:spcBef>
              <a:buClr>
                <a:srgbClr val="ED7D31"/>
              </a:buClr>
              <a:buSzTx/>
              <a:buFont typeface="+mj-lt"/>
              <a:buAutoNum type="arabicPeriod"/>
            </a:pPr>
            <a:r>
              <a:rPr lang="zh-CN" altLang="en-US" sz="1800" dirty="0" smtClean="0">
                <a:ea typeface="宋体" panose="02010600030101010101" pitchFamily="2" charset="-122"/>
                <a:sym typeface="+mn-ea"/>
              </a:rPr>
              <a:t>使用Clothing多态引用创建Shirt对象，并调用calcArea方法，打印计算结果。</a:t>
            </a:r>
            <a:endParaRPr lang="zh-CN" altLang="en-US" sz="2000" dirty="0" smtClean="0">
              <a:ea typeface="宋体" panose="02010600030101010101" pitchFamily="2" charset="-122"/>
              <a:sym typeface="+mn-ea"/>
            </a:endParaRPr>
          </a:p>
          <a:p>
            <a:pPr marL="0" lvl="2" indent="0" algn="l" eaLnBrk="1" hangingPunct="1">
              <a:lnSpc>
                <a:spcPct val="160000"/>
              </a:lnSpc>
              <a:spcBef>
                <a:spcPts val="1000"/>
              </a:spcBef>
              <a:buClr>
                <a:srgbClr val="ED7D31"/>
              </a:buClr>
              <a:buSzTx/>
              <a:buFont typeface="+mj-lt"/>
              <a:buNone/>
            </a:pPr>
            <a:r>
              <a:rPr lang="zh-CN" altLang="en-US" sz="2000" dirty="0" smtClean="0">
                <a:ea typeface="宋体" panose="02010600030101010101" pitchFamily="2" charset="-122"/>
                <a:sym typeface="+mn-ea"/>
              </a:rPr>
              <a:t>备注：</a:t>
            </a:r>
            <a:r>
              <a:rPr lang="zh-CN" altLang="en-US" dirty="0" smtClean="0">
                <a:ea typeface="宋体" panose="02010600030101010101" pitchFamily="2" charset="-122"/>
                <a:sym typeface="+mn-ea"/>
              </a:rPr>
              <a:t>Clothing（衣服）</a:t>
            </a:r>
            <a:r>
              <a:rPr lang="en-US" altLang="zh-CN" dirty="0" smtClean="0">
                <a:ea typeface="宋体" panose="02010600030101010101" pitchFamily="2" charset="-122"/>
                <a:sym typeface="+mn-ea"/>
              </a:rPr>
              <a:t>,</a:t>
            </a:r>
            <a:r>
              <a:rPr lang="en-US" altLang="zh-CN" sz="2000" smtClean="0">
                <a:ea typeface="宋体" panose="02010600030101010101" pitchFamily="2" charset="-122"/>
                <a:sym typeface="+mn-ea"/>
              </a:rPr>
              <a:t>Frock</a:t>
            </a:r>
            <a:r>
              <a:rPr lang="zh-CN" altLang="en-US" sz="2000" smtClean="0">
                <a:ea typeface="宋体" panose="02010600030101010101" pitchFamily="2" charset="-122"/>
                <a:sym typeface="+mn-ea"/>
              </a:rPr>
              <a:t>（女装）</a:t>
            </a:r>
            <a:r>
              <a:rPr lang="en-US" altLang="zh-CN" sz="2000" smtClean="0">
                <a:ea typeface="宋体" panose="02010600030101010101" pitchFamily="2" charset="-122"/>
                <a:sym typeface="+mn-ea"/>
              </a:rPr>
              <a:t>,Shirt(</a:t>
            </a:r>
            <a:r>
              <a:rPr lang="zh-CN" altLang="en-US" sz="2000" smtClean="0">
                <a:ea typeface="宋体" panose="02010600030101010101" pitchFamily="2" charset="-122"/>
                <a:sym typeface="+mn-ea"/>
              </a:rPr>
              <a:t>衬衫</a:t>
            </a:r>
            <a:r>
              <a:rPr lang="en-US" altLang="zh-CN" sz="2000" smtClean="0">
                <a:ea typeface="宋体" panose="02010600030101010101" pitchFamily="2" charset="-122"/>
                <a:sym typeface="+mn-ea"/>
              </a:rPr>
              <a:t>)</a:t>
            </a:r>
            <a:endParaRPr lang="zh-CN" altLang="en-US" sz="2000" smtClean="0">
              <a:ea typeface="宋体" panose="02010600030101010101" pitchFamily="2" charset="-122"/>
            </a:endParaRPr>
          </a:p>
          <a:p>
            <a:pPr marL="457200" lvl="1" indent="-457200" algn="l" eaLnBrk="1" hangingPunct="1">
              <a:lnSpc>
                <a:spcPct val="160000"/>
              </a:lnSpc>
              <a:spcBef>
                <a:spcPts val="1000"/>
              </a:spcBef>
              <a:buClr>
                <a:srgbClr val="ED7D31"/>
              </a:buClr>
              <a:buSzTx/>
              <a:buFont typeface="+mj-lt"/>
              <a:buAutoNum type="arabicPeriod"/>
            </a:pPr>
            <a:endParaRPr lang="zh-CN" altLang="en-US" sz="2000" dirty="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23825" y="-259715"/>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2108200"/>
            <a:ext cx="3907155" cy="460375"/>
          </a:xfrm>
          <a:prstGeom prst="rect">
            <a:avLst/>
          </a:prstGeom>
          <a:noFill/>
        </p:spPr>
        <p:txBody>
          <a:bodyPr wrap="square" rtlCol="0">
            <a:spAutoFit/>
          </a:bodyPr>
          <a:lstStyle/>
          <a:p>
            <a:pPr marL="361950" indent="-361950" eaLnBrk="1" hangingPunct="1">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 </a:t>
            </a:r>
            <a:r>
              <a:rPr lang="en-US" altLang="zh-CN" sz="2400" dirty="0" smtClean="0">
                <a:ea typeface="宋体" panose="02010600030101010101" pitchFamily="2" charset="-122"/>
                <a:sym typeface="+mn-ea"/>
              </a:rPr>
              <a:t>package</a:t>
            </a:r>
            <a:r>
              <a:rPr lang="zh-CN" altLang="en-US" sz="2400" dirty="0" smtClean="0">
                <a:ea typeface="宋体" panose="02010600030101010101" pitchFamily="2" charset="-122"/>
                <a:sym typeface="+mn-ea"/>
              </a:rPr>
              <a:t>与</a:t>
            </a:r>
            <a:r>
              <a:rPr lang="en-US" altLang="zh-CN" sz="2400" dirty="0" smtClean="0">
                <a:ea typeface="宋体" panose="02010600030101010101" pitchFamily="2" charset="-122"/>
                <a:sym typeface="+mn-ea"/>
              </a:rPr>
              <a:t>import</a:t>
            </a:r>
            <a:r>
              <a:rPr lang="zh-CN" altLang="en-US" sz="2400" dirty="0" smtClean="0">
                <a:ea typeface="宋体" panose="02010600030101010101" pitchFamily="2" charset="-122"/>
                <a:sym typeface="+mn-ea"/>
              </a:rPr>
              <a:t>语句</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95580" y="2648585"/>
            <a:ext cx="3884295"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第十三章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400" b="1" dirty="0" smtClean="0">
                <a:latin typeface="Arial" panose="020B0604020202020204" pitchFamily="34" charset="0"/>
                <a:ea typeface="宋体" panose="02010600030101010101" pitchFamily="2" charset="-122"/>
                <a:sym typeface="+mn-ea"/>
              </a:rPr>
              <a:t>包的管理</a:t>
            </a:r>
            <a:endParaRPr kumimoji="0" lang="zh-CN" altLang="en-US"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37" name="矩形 36"/>
          <p:cNvSpPr/>
          <p:nvPr/>
        </p:nvSpPr>
        <p:spPr>
          <a:xfrm>
            <a:off x="4765675" y="2954655"/>
            <a:ext cx="390715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2. </a:t>
            </a:r>
            <a:r>
              <a:rPr lang="zh-CN" altLang="en-US" sz="2400" dirty="0" smtClean="0">
                <a:solidFill>
                  <a:srgbClr val="ED7D31"/>
                </a:solidFill>
                <a:ea typeface="宋体" panose="02010600030101010101" pitchFamily="2" charset="-122"/>
                <a:sym typeface="+mn-ea"/>
              </a:rPr>
              <a:t>静态导入</a:t>
            </a:r>
            <a:endParaRPr kumimoji="0" lang="zh-CN" altLang="en-US" sz="2400" b="0" i="0" u="none" strike="noStrike" kern="1200" cap="none" spc="0" normalizeH="0" baseline="0" noProof="0" dirty="0" smtClean="0">
              <a:ln>
                <a:noFill/>
              </a:ln>
              <a:solidFill>
                <a:srgbClr val="ED7D31"/>
              </a:solidFill>
              <a:effectLst/>
              <a:uLnTx/>
              <a:uFillTx/>
              <a:latin typeface="+mj-ea"/>
              <a:ea typeface="宋体" panose="02010600030101010101" pitchFamily="2" charset="-122"/>
              <a:cs typeface="+mj-ea"/>
              <a:sym typeface="+mn-ea"/>
            </a:endParaRPr>
          </a:p>
        </p:txBody>
      </p:sp>
      <p:sp>
        <p:nvSpPr>
          <p:cNvPr id="39" name="矩形 38"/>
          <p:cNvSpPr/>
          <p:nvPr/>
        </p:nvSpPr>
        <p:spPr>
          <a:xfrm>
            <a:off x="4765675" y="3728720"/>
            <a:ext cx="460184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3. </a:t>
            </a:r>
            <a:r>
              <a:rPr lang="zh-CN" altLang="en-US" sz="2400" dirty="0" smtClean="0">
                <a:ea typeface="宋体" panose="02010600030101010101" pitchFamily="2" charset="-122"/>
                <a:sym typeface="+mn-ea"/>
              </a:rPr>
              <a:t>包的访问控制权限</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P spid="39" grpId="0"/>
      <p:bldP spid="39" grpId="1"/>
    </p:bld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package与import语句</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使用包管理多个类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algn="l" eaLnBrk="1" hangingPunct="1">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package语句</a:t>
            </a:r>
            <a:r>
              <a:rPr lang="en-US" altLang="zh-CN" sz="2000" dirty="0" smtClean="0">
                <a:ea typeface="宋体" panose="02010600030101010101" pitchFamily="2" charset="-122"/>
                <a:sym typeface="+mn-ea"/>
              </a:rPr>
              <a:t> — </a:t>
            </a:r>
            <a:r>
              <a:rPr lang="zh-CN" altLang="en-US" sz="2000" dirty="0" smtClean="0">
                <a:ea typeface="宋体" panose="02010600030101010101" pitchFamily="2" charset="-122"/>
                <a:sym typeface="+mn-ea"/>
              </a:rPr>
              <a:t>告诉编译器我（指所在类）属于哪个包</a:t>
            </a:r>
            <a:endParaRPr lang="zh-CN" altLang="en-US" sz="2000" dirty="0" smtClean="0">
              <a:ea typeface="宋体" panose="02010600030101010101" pitchFamily="2" charset="-122"/>
            </a:endParaRPr>
          </a:p>
          <a:p>
            <a:pPr marL="457200" indent="-457200" algn="l">
              <a:lnSpc>
                <a:spcPct val="160000"/>
              </a:lnSpc>
              <a:buClr>
                <a:srgbClr val="ED7D31"/>
              </a:buClr>
              <a:buSzTx/>
              <a:buFont typeface="+mj-lt"/>
              <a:buAutoNum type="arabicPeriod"/>
            </a:pPr>
            <a:r>
              <a:rPr lang="zh-CN" altLang="en-US" sz="2000" dirty="0" err="1" smtClean="0">
                <a:ea typeface="宋体" panose="02010600030101010101" pitchFamily="2" charset="-122"/>
                <a:sym typeface="+mn-ea"/>
              </a:rPr>
              <a:t>定义包</a:t>
            </a:r>
            <a:r>
              <a:rPr lang="en-US" altLang="zh-CN" sz="2000" dirty="0" err="1" smtClean="0">
                <a:ea typeface="宋体" panose="02010600030101010101" pitchFamily="2" charset="-122"/>
                <a:sym typeface="+mn-ea"/>
              </a:rPr>
              <a:t>：</a:t>
            </a:r>
            <a:endParaRPr lang="en-US" altLang="zh-CN" sz="2000" dirty="0" err="1" smtClean="0">
              <a:ea typeface="宋体" panose="02010600030101010101" pitchFamily="2" charset="-122"/>
            </a:endParaRPr>
          </a:p>
          <a:p>
            <a:pPr marL="361950" indent="-361950">
              <a:buFont typeface="Times"/>
              <a:buNone/>
            </a:pPr>
            <a:r>
              <a:rPr lang="en-US" altLang="zh-CN" sz="2000" dirty="0" smtClean="0">
                <a:ea typeface="宋体" panose="02010600030101010101" pitchFamily="2" charset="-122"/>
                <a:sym typeface="+mn-ea"/>
              </a:rPr>
              <a:t>	</a:t>
            </a:r>
            <a:r>
              <a:rPr lang="en-US" altLang="zh-CN" sz="2000" dirty="0" smtClean="0">
                <a:solidFill>
                  <a:srgbClr val="ED7D31"/>
                </a:solidFill>
                <a:ea typeface="宋体" panose="02010600030101010101" pitchFamily="2" charset="-122"/>
                <a:sym typeface="+mn-ea"/>
              </a:rPr>
              <a:t>package &lt; </a:t>
            </a:r>
            <a:r>
              <a:rPr lang="zh-CN" altLang="en-US" sz="2000" dirty="0" smtClean="0">
                <a:solidFill>
                  <a:srgbClr val="ED7D31"/>
                </a:solidFill>
                <a:ea typeface="宋体" panose="02010600030101010101" pitchFamily="2" charset="-122"/>
                <a:sym typeface="+mn-ea"/>
              </a:rPr>
              <a:t>顶层包名</a:t>
            </a:r>
            <a:r>
              <a:rPr lang="en-US" altLang="zh-CN" sz="2000" dirty="0" smtClean="0">
                <a:solidFill>
                  <a:srgbClr val="ED7D31"/>
                </a:solidFill>
                <a:ea typeface="宋体" panose="02010600030101010101" pitchFamily="2" charset="-122"/>
                <a:sym typeface="+mn-ea"/>
              </a:rPr>
              <a:t>&gt;[.&lt; </a:t>
            </a:r>
            <a:r>
              <a:rPr lang="zh-CN" altLang="en-US" sz="2000" dirty="0" smtClean="0">
                <a:solidFill>
                  <a:srgbClr val="ED7D31"/>
                </a:solidFill>
                <a:ea typeface="宋体" panose="02010600030101010101" pitchFamily="2" charset="-122"/>
                <a:sym typeface="+mn-ea"/>
              </a:rPr>
              <a:t>子包名</a:t>
            </a:r>
            <a:r>
              <a:rPr lang="en-US" altLang="zh-CN" sz="2000" dirty="0" smtClean="0">
                <a:solidFill>
                  <a:srgbClr val="ED7D31"/>
                </a:solidFill>
                <a:ea typeface="宋体" panose="02010600030101010101" pitchFamily="2" charset="-122"/>
                <a:sym typeface="+mn-ea"/>
              </a:rPr>
              <a:t>&gt;]*;</a:t>
            </a:r>
            <a:endParaRPr lang="en-US" altLang="zh-CN" sz="2000" dirty="0" smtClean="0">
              <a:solidFill>
                <a:srgbClr val="ED7D31"/>
              </a:solidFill>
              <a:ea typeface="宋体" panose="02010600030101010101" pitchFamily="2" charset="-122"/>
            </a:endParaRPr>
          </a:p>
          <a:p>
            <a:pPr marL="457200" indent="-457200" algn="l">
              <a:lnSpc>
                <a:spcPct val="160000"/>
              </a:lnSpc>
              <a:buClr>
                <a:srgbClr val="ED7D31"/>
              </a:buClr>
              <a:buSzTx/>
              <a:buFont typeface="+mj-lt"/>
              <a:buAutoNum type="arabicPeriod" startAt="3"/>
            </a:pPr>
            <a:r>
              <a:rPr lang="en-US" altLang="zh-CN" sz="2000" dirty="0" err="1" smtClean="0">
                <a:ea typeface="宋体" panose="02010600030101010101" pitchFamily="2" charset="-122"/>
                <a:sym typeface="+mn-ea"/>
              </a:rPr>
              <a:t>import 语句 — 告诉编译器我 （指所在类） 所用的类位于哪个包</a:t>
            </a:r>
            <a:endParaRPr lang="en-US" altLang="zh-CN" sz="2000" dirty="0" err="1" smtClean="0">
              <a:ea typeface="宋体" panose="02010600030101010101" pitchFamily="2" charset="-122"/>
            </a:endParaRPr>
          </a:p>
          <a:p>
            <a:pPr marL="457200" indent="-457200" algn="l">
              <a:lnSpc>
                <a:spcPct val="160000"/>
              </a:lnSpc>
              <a:buClr>
                <a:srgbClr val="ED7D31"/>
              </a:buClr>
              <a:buSzTx/>
              <a:buFont typeface="+mj-lt"/>
              <a:buAutoNum type="arabicPeriod" startAt="3"/>
            </a:pPr>
            <a:r>
              <a:rPr lang="zh-CN" altLang="en-US" sz="2000" dirty="0" err="1" smtClean="0">
                <a:ea typeface="宋体" panose="02010600030101010101" pitchFamily="2" charset="-122"/>
                <a:sym typeface="+mn-ea"/>
              </a:rPr>
              <a:t>引入包举例</a:t>
            </a:r>
            <a:r>
              <a:rPr lang="en-US" altLang="zh-CN" sz="2000" dirty="0" err="1" smtClean="0">
                <a:ea typeface="宋体" panose="02010600030101010101" pitchFamily="2" charset="-122"/>
                <a:sym typeface="+mn-ea"/>
              </a:rPr>
              <a:t>：</a:t>
            </a:r>
            <a:endParaRPr lang="en-US" altLang="zh-CN" sz="2000" dirty="0" err="1" smtClean="0">
              <a:ea typeface="宋体" panose="02010600030101010101" pitchFamily="2" charset="-122"/>
            </a:endParaRPr>
          </a:p>
          <a:p>
            <a:pPr marL="704850" lvl="1" indent="-361950">
              <a:buFont typeface="Times"/>
              <a:buNone/>
            </a:pPr>
            <a:r>
              <a:rPr lang="en-US" altLang="zh-CN" sz="2000" dirty="0" smtClean="0">
                <a:solidFill>
                  <a:srgbClr val="ED7D31"/>
                </a:solidFill>
                <a:ea typeface="宋体" panose="02010600030101010101" pitchFamily="2" charset="-122"/>
                <a:sym typeface="+mn-ea"/>
              </a:rPr>
              <a:t>import &lt; </a:t>
            </a:r>
            <a:r>
              <a:rPr lang="zh-CN" altLang="en-US" sz="2000" dirty="0" smtClean="0">
                <a:solidFill>
                  <a:srgbClr val="ED7D31"/>
                </a:solidFill>
                <a:ea typeface="宋体" panose="02010600030101010101" pitchFamily="2" charset="-122"/>
                <a:sym typeface="+mn-ea"/>
              </a:rPr>
              <a:t>包名</a:t>
            </a:r>
            <a:r>
              <a:rPr lang="en-US" altLang="zh-CN" sz="2000" dirty="0" smtClean="0">
                <a:solidFill>
                  <a:srgbClr val="ED7D31"/>
                </a:solidFill>
                <a:ea typeface="宋体" panose="02010600030101010101" pitchFamily="2" charset="-122"/>
                <a:sym typeface="+mn-ea"/>
              </a:rPr>
              <a:t>&gt;[.&lt; </a:t>
            </a:r>
            <a:r>
              <a:rPr lang="zh-CN" altLang="en-US" sz="2000" dirty="0" smtClean="0">
                <a:solidFill>
                  <a:srgbClr val="ED7D31"/>
                </a:solidFill>
                <a:ea typeface="宋体" panose="02010600030101010101" pitchFamily="2" charset="-122"/>
                <a:sym typeface="+mn-ea"/>
              </a:rPr>
              <a:t>子包名</a:t>
            </a:r>
            <a:r>
              <a:rPr lang="en-US" altLang="zh-CN" sz="2000" dirty="0" smtClean="0">
                <a:solidFill>
                  <a:srgbClr val="ED7D31"/>
                </a:solidFill>
                <a:ea typeface="宋体" panose="02010600030101010101" pitchFamily="2" charset="-122"/>
                <a:sym typeface="+mn-ea"/>
              </a:rPr>
              <a:t>&gt;]*.&lt; </a:t>
            </a:r>
            <a:r>
              <a:rPr lang="zh-CN" altLang="en-US" sz="2000" dirty="0" smtClean="0">
                <a:solidFill>
                  <a:srgbClr val="ED7D31"/>
                </a:solidFill>
                <a:ea typeface="宋体" panose="02010600030101010101" pitchFamily="2" charset="-122"/>
                <a:sym typeface="+mn-ea"/>
              </a:rPr>
              <a:t>类名</a:t>
            </a:r>
            <a:r>
              <a:rPr lang="en-US" altLang="zh-CN" sz="2000" dirty="0" smtClean="0">
                <a:solidFill>
                  <a:srgbClr val="ED7D31"/>
                </a:solidFill>
                <a:ea typeface="宋体" panose="02010600030101010101" pitchFamily="2" charset="-122"/>
                <a:sym typeface="+mn-ea"/>
              </a:rPr>
              <a:t>&gt;;</a:t>
            </a:r>
            <a:endParaRPr lang="en-US" altLang="zh-CN" sz="2000" dirty="0" smtClean="0">
              <a:solidFill>
                <a:srgbClr val="ED7D31"/>
              </a:solidFill>
              <a:ea typeface="宋体" panose="02010600030101010101" pitchFamily="2" charset="-122"/>
            </a:endParaRPr>
          </a:p>
          <a:p>
            <a:pPr marL="704850" lvl="1" indent="-361950">
              <a:buFont typeface="Times"/>
              <a:buNone/>
            </a:pPr>
            <a:r>
              <a:rPr lang="zh-CN" altLang="en-US" sz="2000" dirty="0" smtClean="0">
                <a:solidFill>
                  <a:srgbClr val="ED7D31"/>
                </a:solidFill>
                <a:ea typeface="宋体" panose="02010600030101010101" pitchFamily="2" charset="-122"/>
                <a:sym typeface="+mn-ea"/>
              </a:rPr>
              <a:t>或</a:t>
            </a:r>
            <a:endParaRPr lang="zh-CN" altLang="en-US" sz="2000" dirty="0" smtClean="0">
              <a:solidFill>
                <a:srgbClr val="ED7D31"/>
              </a:solidFill>
              <a:ea typeface="宋体" panose="02010600030101010101" pitchFamily="2" charset="-122"/>
            </a:endParaRPr>
          </a:p>
          <a:p>
            <a:pPr marL="704850" lvl="1" indent="-361950">
              <a:buFont typeface="Times"/>
              <a:buNone/>
            </a:pPr>
            <a:r>
              <a:rPr lang="en-US" altLang="zh-CN" sz="2000" dirty="0" smtClean="0">
                <a:solidFill>
                  <a:srgbClr val="ED7D31"/>
                </a:solidFill>
                <a:ea typeface="宋体" panose="02010600030101010101" pitchFamily="2" charset="-122"/>
                <a:sym typeface="+mn-ea"/>
              </a:rPr>
              <a:t>import &lt; </a:t>
            </a:r>
            <a:r>
              <a:rPr lang="zh-CN" altLang="en-US" sz="2000" dirty="0" smtClean="0">
                <a:solidFill>
                  <a:srgbClr val="ED7D31"/>
                </a:solidFill>
                <a:ea typeface="宋体" panose="02010600030101010101" pitchFamily="2" charset="-122"/>
                <a:sym typeface="+mn-ea"/>
              </a:rPr>
              <a:t>包名</a:t>
            </a:r>
            <a:r>
              <a:rPr lang="en-US" altLang="zh-CN" sz="2000" dirty="0" smtClean="0">
                <a:solidFill>
                  <a:srgbClr val="ED7D31"/>
                </a:solidFill>
                <a:ea typeface="宋体" panose="02010600030101010101" pitchFamily="2" charset="-122"/>
                <a:sym typeface="+mn-ea"/>
              </a:rPr>
              <a:t>&gt;[.&lt; </a:t>
            </a:r>
            <a:r>
              <a:rPr lang="zh-CN" altLang="en-US" sz="2000" dirty="0" smtClean="0">
                <a:solidFill>
                  <a:srgbClr val="ED7D31"/>
                </a:solidFill>
                <a:ea typeface="宋体" panose="02010600030101010101" pitchFamily="2" charset="-122"/>
                <a:sym typeface="+mn-ea"/>
              </a:rPr>
              <a:t>子包名</a:t>
            </a:r>
            <a:r>
              <a:rPr lang="en-US" altLang="zh-CN" sz="2000" dirty="0" smtClean="0">
                <a:solidFill>
                  <a:srgbClr val="ED7D31"/>
                </a:solidFill>
                <a:ea typeface="宋体" panose="02010600030101010101" pitchFamily="2" charset="-122"/>
                <a:sym typeface="+mn-ea"/>
              </a:rPr>
              <a:t>&gt;]*.*;</a:t>
            </a:r>
            <a:endParaRPr lang="en-US" altLang="zh-CN" sz="2000" dirty="0" smtClean="0">
              <a:solidFill>
                <a:srgbClr val="ED7D31"/>
              </a:solidFill>
              <a:ea typeface="宋体" panose="02010600030101010101" pitchFamily="2" charset="-122"/>
            </a:endParaRPr>
          </a:p>
          <a:p>
            <a:pPr marL="457200" indent="-457200">
              <a:buClr>
                <a:srgbClr val="ED7D31"/>
              </a:buClr>
              <a:buFont typeface="+mj-lt"/>
              <a:buAutoNum type="arabicPeriod" startAt="5"/>
            </a:pPr>
            <a:r>
              <a:rPr lang="zh-CN" altLang="en-US" sz="2000" dirty="0" smtClean="0">
                <a:ea typeface="宋体" panose="02010600030101010101" pitchFamily="2" charset="-122"/>
                <a:sym typeface="+mn-ea"/>
              </a:rPr>
              <a:t>包对应目录结构</a:t>
            </a:r>
            <a:endParaRPr lang="en-US" altLang="zh-CN" sz="2000" dirty="0" smtClean="0">
              <a:ea typeface="宋体" panose="02010600030101010101" pitchFamily="2" charset="-122"/>
            </a:endParaRPr>
          </a:p>
          <a:p>
            <a:pPr marL="361950" indent="-361950"/>
            <a:endParaRPr lang="en-US" altLang="zh-CN" sz="2000" dirty="0" err="1" smtClean="0">
              <a:solidFill>
                <a:srgbClr val="ED7D31"/>
              </a:solidFill>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82994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Flyer类</a:t>
            </a:r>
            <a:endParaRPr lang="zh-CN" altLang="en-US" sz="2400" smtClean="0">
              <a:ea typeface="宋体" panose="02010600030101010101" pitchFamily="2" charset="-122"/>
            </a:endParaRPr>
          </a:p>
          <a:p>
            <a:pPr eaLnBrk="1" hangingPunct="1"/>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113" y="1327169"/>
            <a:ext cx="7537450" cy="4816475"/>
          </a:xfrm>
        </p:spPr>
        <p:txBody>
          <a:bodyPr>
            <a:normAutofit/>
          </a:bodyPr>
          <a:p>
            <a:pPr marL="361950" indent="-361950" eaLnBrk="1" hangingPunct="1">
              <a:buFont typeface="Times"/>
              <a:buNone/>
            </a:pPr>
            <a:r>
              <a:rPr lang="en-US" altLang="zh-CN" sz="2500" b="1" dirty="0" smtClean="0">
                <a:solidFill>
                  <a:srgbClr val="002060"/>
                </a:solidFill>
                <a:ea typeface="宋体" panose="02010600030101010101" pitchFamily="2" charset="-122"/>
              </a:rPr>
              <a:t>1 </a:t>
            </a:r>
            <a:r>
              <a:rPr lang="en-US" altLang="zh-CN" sz="2500" b="1" dirty="0" smtClean="0">
                <a:solidFill>
                  <a:srgbClr val="FF0000"/>
                </a:solidFill>
                <a:ea typeface="宋体" panose="02010600030101010101" pitchFamily="2" charset="-122"/>
              </a:rPr>
              <a:t>package </a:t>
            </a:r>
            <a:r>
              <a:rPr lang="en-US" altLang="zh-CN" sz="2500" b="1" dirty="0" smtClean="0">
                <a:solidFill>
                  <a:srgbClr val="002060"/>
                </a:solidFill>
                <a:ea typeface="宋体" panose="02010600030101010101" pitchFamily="2" charset="-122"/>
              </a:rPr>
              <a:t>com.itf;</a:t>
            </a:r>
            <a:endParaRPr lang="en-US" altLang="zh-CN" sz="2500" b="1" dirty="0" smtClean="0">
              <a:solidFill>
                <a:srgbClr val="002060"/>
              </a:solidFill>
              <a:ea typeface="宋体" panose="02010600030101010101" pitchFamily="2" charset="-122"/>
            </a:endParaRPr>
          </a:p>
          <a:p>
            <a:pPr marL="361950" indent="-361950" eaLnBrk="1" hangingPunct="1">
              <a:buFont typeface="Times"/>
              <a:buNone/>
            </a:pPr>
            <a:r>
              <a:rPr lang="en-US" altLang="zh-CN" sz="2500" dirty="0" smtClean="0">
                <a:solidFill>
                  <a:srgbClr val="002060"/>
                </a:solidFill>
                <a:ea typeface="宋体" panose="02010600030101010101" pitchFamily="2" charset="-122"/>
              </a:rPr>
              <a:t>2 </a:t>
            </a:r>
            <a:endParaRPr lang="en-US" altLang="zh-CN" sz="2500" dirty="0" smtClean="0">
              <a:solidFill>
                <a:srgbClr val="002060"/>
              </a:solidFill>
              <a:ea typeface="宋体" panose="02010600030101010101" pitchFamily="2" charset="-122"/>
            </a:endParaRPr>
          </a:p>
          <a:p>
            <a:pPr marL="361950" indent="-361950" eaLnBrk="1" hangingPunct="1">
              <a:buFont typeface="Times"/>
              <a:buNone/>
            </a:pPr>
            <a:r>
              <a:rPr lang="en-US" altLang="zh-CN" sz="2500" dirty="0" smtClean="0">
                <a:solidFill>
                  <a:srgbClr val="002060"/>
                </a:solidFill>
                <a:ea typeface="宋体" panose="02010600030101010101" pitchFamily="2" charset="-122"/>
              </a:rPr>
              <a:t>3 public interface Flyer {</a:t>
            </a:r>
            <a:endParaRPr lang="en-US" altLang="zh-CN" sz="2500" dirty="0" smtClean="0">
              <a:solidFill>
                <a:srgbClr val="002060"/>
              </a:solidFill>
              <a:ea typeface="宋体" panose="02010600030101010101" pitchFamily="2" charset="-122"/>
            </a:endParaRPr>
          </a:p>
          <a:p>
            <a:pPr marL="361950" indent="-361950" eaLnBrk="1" hangingPunct="1">
              <a:buFont typeface="Times"/>
              <a:buNone/>
            </a:pPr>
            <a:r>
              <a:rPr lang="en-US" altLang="zh-CN" sz="2500" dirty="0" smtClean="0">
                <a:solidFill>
                  <a:srgbClr val="002060"/>
                </a:solidFill>
                <a:ea typeface="宋体" panose="02010600030101010101" pitchFamily="2" charset="-122"/>
              </a:rPr>
              <a:t>4     public abstract void takeoff();</a:t>
            </a:r>
            <a:endParaRPr lang="en-US" altLang="zh-CN" sz="2500" dirty="0" smtClean="0">
              <a:solidFill>
                <a:srgbClr val="002060"/>
              </a:solidFill>
              <a:ea typeface="宋体" panose="02010600030101010101" pitchFamily="2" charset="-122"/>
            </a:endParaRPr>
          </a:p>
          <a:p>
            <a:pPr marL="361950" indent="-361950" eaLnBrk="1" hangingPunct="1">
              <a:buFont typeface="Times"/>
              <a:buNone/>
            </a:pPr>
            <a:r>
              <a:rPr lang="en-US" altLang="zh-CN" sz="2500" dirty="0" smtClean="0">
                <a:solidFill>
                  <a:srgbClr val="002060"/>
                </a:solidFill>
                <a:ea typeface="宋体" panose="02010600030101010101" pitchFamily="2" charset="-122"/>
              </a:rPr>
              <a:t>5     public void land();</a:t>
            </a:r>
            <a:endParaRPr lang="en-US" altLang="zh-CN" sz="2500" dirty="0" smtClean="0">
              <a:solidFill>
                <a:srgbClr val="002060"/>
              </a:solidFill>
              <a:ea typeface="宋体" panose="02010600030101010101" pitchFamily="2" charset="-122"/>
            </a:endParaRPr>
          </a:p>
          <a:p>
            <a:pPr marL="361950" indent="-361950" eaLnBrk="1" hangingPunct="1">
              <a:buFont typeface="Times"/>
              <a:buNone/>
            </a:pPr>
            <a:r>
              <a:rPr lang="en-US" altLang="zh-CN" sz="2500" dirty="0" smtClean="0">
                <a:solidFill>
                  <a:srgbClr val="002060"/>
                </a:solidFill>
                <a:ea typeface="宋体" panose="02010600030101010101" pitchFamily="2" charset="-122"/>
              </a:rPr>
              <a:t>6     public void fly();</a:t>
            </a:r>
            <a:endParaRPr lang="en-US" altLang="zh-CN" sz="2500" dirty="0" smtClean="0">
              <a:solidFill>
                <a:srgbClr val="002060"/>
              </a:solidFill>
              <a:ea typeface="宋体" panose="02010600030101010101" pitchFamily="2" charset="-122"/>
            </a:endParaRPr>
          </a:p>
          <a:p>
            <a:pPr marL="361950" indent="-361950" eaLnBrk="1" hangingPunct="1">
              <a:buFont typeface="Times"/>
              <a:buNone/>
            </a:pPr>
            <a:r>
              <a:rPr lang="en-US" altLang="zh-CN" sz="2500" dirty="0" smtClean="0">
                <a:solidFill>
                  <a:srgbClr val="002060"/>
                </a:solidFill>
                <a:ea typeface="宋体" panose="02010600030101010101" pitchFamily="2" charset="-122"/>
              </a:rPr>
              <a:t>7 }</a:t>
            </a:r>
            <a:endParaRPr lang="en-US" altLang="zh-CN" sz="2500" dirty="0" smtClean="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Pet类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113" y="1099204"/>
            <a:ext cx="7537450" cy="4816475"/>
          </a:xfrm>
        </p:spPr>
        <p:txBody>
          <a:bodyPr>
            <a:noAutofit/>
          </a:bodyPr>
          <a:p>
            <a:pPr marL="361950" indent="-361950" eaLnBrk="1" hangingPunct="1">
              <a:lnSpc>
                <a:spcPct val="110000"/>
              </a:lnSpc>
              <a:spcBef>
                <a:spcPct val="0"/>
              </a:spcBef>
              <a:buFont typeface="Times"/>
              <a:buNone/>
            </a:pPr>
            <a:r>
              <a:rPr lang="en-US" altLang="zh-CN" sz="1700" b="1" smtClean="0">
                <a:solidFill>
                  <a:srgbClr val="002060"/>
                </a:solidFill>
                <a:ea typeface="宋体" panose="02010600030101010101" pitchFamily="2" charset="-122"/>
              </a:rPr>
              <a:t>1  package com.amodel;</a:t>
            </a:r>
            <a:endParaRPr lang="en-US" altLang="zh-CN" sz="1700" b="1"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2  </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3  public abstract class Pet {</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4      private String name;</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5      private int age;</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6      private int weight;</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7  </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8      public Pet(){}</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9  </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10     public Pet(String name, int age, int weight) {</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11         this.name = name;</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12         this.age = age;</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13         this.weight = weight;</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14     }</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15 </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16     ……</a:t>
            </a:r>
            <a:endParaRPr lang="en-US" altLang="zh-CN" sz="1700" smtClean="0">
              <a:solidFill>
                <a:srgbClr val="002060"/>
              </a:solidFill>
              <a:ea typeface="宋体" panose="02010600030101010101" pitchFamily="2" charset="-122"/>
            </a:endParaRPr>
          </a:p>
          <a:p>
            <a:pPr marL="361950" indent="-361950" eaLnBrk="1" hangingPunct="1">
              <a:lnSpc>
                <a:spcPct val="110000"/>
              </a:lnSpc>
              <a:spcBef>
                <a:spcPct val="0"/>
              </a:spcBef>
              <a:buFont typeface="Times"/>
              <a:buNone/>
            </a:pPr>
            <a:r>
              <a:rPr lang="en-US" altLang="zh-CN" sz="1700" smtClean="0">
                <a:solidFill>
                  <a:srgbClr val="002060"/>
                </a:solidFill>
                <a:ea typeface="宋体" panose="02010600030101010101" pitchFamily="2" charset="-122"/>
              </a:rPr>
              <a:t>17 }</a:t>
            </a:r>
            <a:endParaRPr lang="en-US" altLang="zh-CN" sz="1700" smtClean="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Bird类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内容占位符 2"/>
          <p:cNvSpPr>
            <a:spLocks noGrp="1"/>
          </p:cNvSpPr>
          <p:nvPr>
            <p:ph idx="1"/>
          </p:nvPr>
        </p:nvSpPr>
        <p:spPr>
          <a:xfrm>
            <a:off x="900113" y="1327169"/>
            <a:ext cx="7537450" cy="4816475"/>
          </a:xfrm>
        </p:spPr>
        <p:txBody>
          <a:bodyPr>
            <a:noAutofit/>
          </a:bodyPr>
          <a:p>
            <a:pPr marL="361950" indent="-361950" eaLnBrk="1" hangingPunct="1">
              <a:spcBef>
                <a:spcPct val="0"/>
              </a:spcBef>
              <a:buFont typeface="Times"/>
              <a:buNone/>
            </a:pPr>
            <a:r>
              <a:rPr lang="en-US" altLang="zh-CN" sz="1700" b="1" smtClean="0">
                <a:solidFill>
                  <a:srgbClr val="002060"/>
                </a:solidFill>
                <a:ea typeface="宋体" panose="02010600030101010101" pitchFamily="2" charset="-122"/>
              </a:rPr>
              <a:t>1  package com.model;</a:t>
            </a:r>
            <a:endParaRPr lang="en-US" altLang="zh-CN" sz="1700" b="1"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2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b="1" smtClean="0">
                <a:solidFill>
                  <a:srgbClr val="002060"/>
                </a:solidFill>
                <a:ea typeface="宋体" panose="02010600030101010101" pitchFamily="2" charset="-122"/>
              </a:rPr>
              <a:t>3  import com.itf.*;</a:t>
            </a:r>
            <a:endParaRPr lang="en-US" altLang="zh-CN" sz="1700" b="1"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4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5  public class Bird extends Pet implements Flyer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6      private String type;</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7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8      public Bird(String name, int age, int weight, String type)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9          super(name, age, weight);</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10         this.type = type;</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11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12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13     public String getType()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14         return type;</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15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16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17     ……</a:t>
            </a:r>
            <a:endParaRPr lang="en-US" altLang="zh-CN" sz="170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smtClean="0">
                <a:solidFill>
                  <a:srgbClr val="002060"/>
                </a:solidFill>
                <a:ea typeface="宋体" panose="02010600030101010101" pitchFamily="2" charset="-122"/>
              </a:rPr>
              <a:t>18 }</a:t>
            </a:r>
            <a:endParaRPr lang="en-US" altLang="zh-CN" sz="1700" smtClean="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82994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示例 </a:t>
            </a:r>
            <a:r>
              <a:rPr lang="en-US" altLang="zh-CN" sz="2400" dirty="0" smtClean="0">
                <a:ea typeface="宋体" panose="02010600030101010101" pitchFamily="2" charset="-122"/>
                <a:sym typeface="+mn-ea"/>
              </a:rPr>
              <a:t>— </a:t>
            </a:r>
            <a:r>
              <a:rPr lang="en-US" altLang="zh-CN" sz="2400" dirty="0" err="1" smtClean="0">
                <a:ea typeface="宋体" panose="02010600030101010101" pitchFamily="2" charset="-122"/>
                <a:sym typeface="+mn-ea"/>
              </a:rPr>
              <a:t>TestAbstractInterface类</a:t>
            </a:r>
            <a:endParaRPr lang="zh-CN" altLang="en-US" sz="2400" dirty="0" smtClean="0">
              <a:ea typeface="宋体" panose="02010600030101010101" pitchFamily="2" charset="-122"/>
            </a:endParaRPr>
          </a:p>
          <a:p>
            <a:pPr eaLnBrk="1" hangingPunct="1"/>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099" name="内容占位符 2"/>
          <p:cNvSpPr>
            <a:spLocks noGrp="1"/>
          </p:cNvSpPr>
          <p:nvPr>
            <p:ph idx="1"/>
          </p:nvPr>
        </p:nvSpPr>
        <p:spPr>
          <a:xfrm>
            <a:off x="900113" y="1327169"/>
            <a:ext cx="7537450" cy="4816475"/>
          </a:xfrm>
        </p:spPr>
        <p:txBody>
          <a:bodyPr>
            <a:noAutofit/>
          </a:bodyPr>
          <a:p>
            <a:pPr marL="361950" indent="-361950" eaLnBrk="1" hangingPunct="1">
              <a:spcBef>
                <a:spcPct val="0"/>
              </a:spcBef>
              <a:buFont typeface="Times"/>
              <a:buNone/>
            </a:pPr>
            <a:r>
              <a:rPr lang="en-US" altLang="zh-CN" sz="1700" b="1" dirty="0" smtClean="0">
                <a:solidFill>
                  <a:srgbClr val="002060"/>
                </a:solidFill>
                <a:ea typeface="宋体" panose="02010600030101010101" pitchFamily="2" charset="-122"/>
              </a:rPr>
              <a:t>1  package </a:t>
            </a:r>
            <a:r>
              <a:rPr lang="en-US" altLang="zh-CN" sz="1700" b="1" dirty="0" err="1" smtClean="0">
                <a:solidFill>
                  <a:srgbClr val="002060"/>
                </a:solidFill>
                <a:ea typeface="宋体" panose="02010600030101010101" pitchFamily="2" charset="-122"/>
              </a:rPr>
              <a:t>com.test</a:t>
            </a:r>
            <a:r>
              <a:rPr lang="en-US" altLang="zh-CN" sz="1700" b="1" dirty="0" smtClean="0">
                <a:solidFill>
                  <a:srgbClr val="002060"/>
                </a:solidFill>
                <a:ea typeface="宋体" panose="02010600030101010101" pitchFamily="2" charset="-122"/>
              </a:rPr>
              <a:t>;</a:t>
            </a:r>
            <a:endParaRPr lang="en-US" altLang="zh-CN" sz="1700" b="1"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b="1" dirty="0" smtClean="0">
                <a:solidFill>
                  <a:srgbClr val="002060"/>
                </a:solidFill>
                <a:ea typeface="宋体" panose="02010600030101010101" pitchFamily="2" charset="-122"/>
              </a:rPr>
              <a:t>3  import </a:t>
            </a:r>
            <a:r>
              <a:rPr lang="en-US" altLang="zh-CN" sz="1700" b="1" dirty="0" err="1" smtClean="0">
                <a:solidFill>
                  <a:srgbClr val="002060"/>
                </a:solidFill>
                <a:ea typeface="宋体" panose="02010600030101010101" pitchFamily="2" charset="-122"/>
              </a:rPr>
              <a:t>com.amodel</a:t>
            </a:r>
            <a:r>
              <a:rPr lang="en-US" altLang="zh-CN" sz="1700" b="1" dirty="0" smtClean="0">
                <a:solidFill>
                  <a:srgbClr val="002060"/>
                </a:solidFill>
                <a:ea typeface="宋体" panose="02010600030101010101" pitchFamily="2" charset="-122"/>
              </a:rPr>
              <a:t>.*;</a:t>
            </a:r>
            <a:endParaRPr lang="en-US" altLang="zh-CN" sz="1700" b="1"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b="1" dirty="0" smtClean="0">
                <a:solidFill>
                  <a:srgbClr val="002060"/>
                </a:solidFill>
                <a:ea typeface="宋体" panose="02010600030101010101" pitchFamily="2" charset="-122"/>
              </a:rPr>
              <a:t>4  import </a:t>
            </a:r>
            <a:r>
              <a:rPr lang="en-US" altLang="zh-CN" sz="1700" b="1" dirty="0" err="1" smtClean="0">
                <a:solidFill>
                  <a:srgbClr val="002060"/>
                </a:solidFill>
                <a:ea typeface="宋体" panose="02010600030101010101" pitchFamily="2" charset="-122"/>
              </a:rPr>
              <a:t>com.model</a:t>
            </a:r>
            <a:r>
              <a:rPr lang="en-US" altLang="zh-CN" sz="1700" b="1" dirty="0" smtClean="0">
                <a:solidFill>
                  <a:srgbClr val="002060"/>
                </a:solidFill>
                <a:ea typeface="宋体" panose="02010600030101010101" pitchFamily="2" charset="-122"/>
              </a:rPr>
              <a:t>.*;</a:t>
            </a:r>
            <a:endParaRPr lang="en-US" altLang="zh-CN" sz="1700" b="1"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5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6  public class </a:t>
            </a:r>
            <a:r>
              <a:rPr lang="en-US" altLang="zh-CN" sz="1700" dirty="0" err="1" smtClean="0">
                <a:solidFill>
                  <a:srgbClr val="002060"/>
                </a:solidFill>
                <a:ea typeface="宋体" panose="02010600030101010101" pitchFamily="2" charset="-122"/>
              </a:rPr>
              <a:t>TestAbstractInterface</a:t>
            </a:r>
            <a:r>
              <a:rPr lang="en-US" altLang="zh-CN" sz="1700" dirty="0" smtClean="0">
                <a:solidFill>
                  <a:srgbClr val="002060"/>
                </a:solidFill>
                <a:ea typeface="宋体" panose="02010600030101010101" pitchFamily="2" charset="-122"/>
              </a:rPr>
              <a:t>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7      public static void main(String </a:t>
            </a:r>
            <a:r>
              <a:rPr lang="en-US" altLang="zh-CN" sz="1700" dirty="0" err="1" smtClean="0">
                <a:solidFill>
                  <a:srgbClr val="002060"/>
                </a:solidFill>
                <a:ea typeface="宋体" panose="02010600030101010101" pitchFamily="2" charset="-122"/>
              </a:rPr>
              <a:t>args</a:t>
            </a:r>
            <a:r>
              <a:rPr lang="en-US" altLang="zh-CN" sz="1700" dirty="0" smtClean="0">
                <a:solidFill>
                  <a:srgbClr val="002060"/>
                </a:solidFill>
                <a:ea typeface="宋体" panose="02010600030101010101" pitchFamily="2" charset="-122"/>
              </a:rPr>
              <a:t>[])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8          Bird </a:t>
            </a:r>
            <a:r>
              <a:rPr lang="en-US" altLang="zh-CN" sz="1700" dirty="0" err="1" smtClean="0">
                <a:solidFill>
                  <a:srgbClr val="002060"/>
                </a:solidFill>
                <a:ea typeface="宋体" panose="02010600030101010101" pitchFamily="2" charset="-122"/>
              </a:rPr>
              <a:t>bird</a:t>
            </a:r>
            <a:r>
              <a:rPr lang="en-US" altLang="zh-CN" sz="1700" dirty="0" smtClean="0">
                <a:solidFill>
                  <a:srgbClr val="002060"/>
                </a:solidFill>
                <a:ea typeface="宋体" panose="02010600030101010101" pitchFamily="2" charset="-122"/>
              </a:rPr>
              <a:t> = new Bird("</a:t>
            </a:r>
            <a:r>
              <a:rPr lang="zh-CN" altLang="en-US" sz="1700" dirty="0" smtClean="0">
                <a:solidFill>
                  <a:srgbClr val="002060"/>
                </a:solidFill>
                <a:ea typeface="宋体" panose="02010600030101010101" pitchFamily="2" charset="-122"/>
              </a:rPr>
              <a:t>小布</a:t>
            </a:r>
            <a:r>
              <a:rPr lang="en-US" altLang="zh-CN" sz="1700" dirty="0" smtClean="0">
                <a:solidFill>
                  <a:srgbClr val="002060"/>
                </a:solidFill>
                <a:ea typeface="宋体" panose="02010600030101010101" pitchFamily="2" charset="-122"/>
              </a:rPr>
              <a:t>", 1, 500, "</a:t>
            </a:r>
            <a:r>
              <a:rPr lang="zh-CN" altLang="en-US" sz="1700" dirty="0" smtClean="0">
                <a:solidFill>
                  <a:srgbClr val="002060"/>
                </a:solidFill>
                <a:ea typeface="宋体" panose="02010600030101010101" pitchFamily="2" charset="-122"/>
              </a:rPr>
              <a:t>布谷鸟</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9          </a:t>
            </a:r>
            <a:r>
              <a:rPr lang="en-US" altLang="zh-CN" sz="1700" dirty="0" err="1" smtClean="0">
                <a:solidFill>
                  <a:srgbClr val="002060"/>
                </a:solidFill>
                <a:ea typeface="宋体" panose="02010600030101010101" pitchFamily="2" charset="-122"/>
              </a:rPr>
              <a:t>bird.takeoff</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10         </a:t>
            </a:r>
            <a:r>
              <a:rPr lang="en-US" altLang="zh-CN" sz="1700" dirty="0" err="1" smtClean="0">
                <a:solidFill>
                  <a:srgbClr val="002060"/>
                </a:solidFill>
                <a:ea typeface="宋体" panose="02010600030101010101" pitchFamily="2" charset="-122"/>
              </a:rPr>
              <a:t>bird.speak</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11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12         Pet </a:t>
            </a:r>
            <a:r>
              <a:rPr lang="en-US" altLang="zh-CN" sz="1700" dirty="0" err="1" smtClean="0">
                <a:solidFill>
                  <a:srgbClr val="002060"/>
                </a:solidFill>
                <a:ea typeface="宋体" panose="02010600030101010101" pitchFamily="2" charset="-122"/>
              </a:rPr>
              <a:t>pet</a:t>
            </a:r>
            <a:r>
              <a:rPr lang="en-US" altLang="zh-CN" sz="1700" dirty="0" smtClean="0">
                <a:solidFill>
                  <a:srgbClr val="002060"/>
                </a:solidFill>
                <a:ea typeface="宋体" panose="02010600030101010101" pitchFamily="2" charset="-122"/>
              </a:rPr>
              <a:t> = new Bird("</a:t>
            </a:r>
            <a:r>
              <a:rPr lang="zh-CN" altLang="en-US" sz="1700" dirty="0" smtClean="0">
                <a:solidFill>
                  <a:srgbClr val="002060"/>
                </a:solidFill>
                <a:ea typeface="宋体" panose="02010600030101010101" pitchFamily="2" charset="-122"/>
              </a:rPr>
              <a:t>小英</a:t>
            </a:r>
            <a:r>
              <a:rPr lang="en-US" altLang="zh-CN" sz="1700" dirty="0" smtClean="0">
                <a:solidFill>
                  <a:srgbClr val="002060"/>
                </a:solidFill>
                <a:ea typeface="宋体" panose="02010600030101010101" pitchFamily="2" charset="-122"/>
              </a:rPr>
              <a:t>", 2, 1500, "</a:t>
            </a:r>
            <a:r>
              <a:rPr lang="zh-CN" altLang="en-US" sz="1700" dirty="0" smtClean="0">
                <a:solidFill>
                  <a:srgbClr val="002060"/>
                </a:solidFill>
                <a:ea typeface="宋体" panose="02010600030101010101" pitchFamily="2" charset="-122"/>
              </a:rPr>
              <a:t>鹰</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13         //</a:t>
            </a:r>
            <a:r>
              <a:rPr lang="en-US" altLang="zh-CN" sz="1700" dirty="0" err="1" smtClean="0">
                <a:solidFill>
                  <a:srgbClr val="002060"/>
                </a:solidFill>
                <a:ea typeface="宋体" panose="02010600030101010101" pitchFamily="2" charset="-122"/>
              </a:rPr>
              <a:t>pet.takeoff</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14         </a:t>
            </a:r>
            <a:r>
              <a:rPr lang="en-US" altLang="zh-CN" sz="1700" dirty="0" err="1" smtClean="0">
                <a:solidFill>
                  <a:srgbClr val="002060"/>
                </a:solidFill>
                <a:ea typeface="宋体" panose="02010600030101010101" pitchFamily="2" charset="-122"/>
              </a:rPr>
              <a:t>pet.speak</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15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16         </a:t>
            </a:r>
            <a:r>
              <a:rPr lang="en-US" altLang="zh-CN" sz="1700" b="1" dirty="0" err="1" smtClean="0">
                <a:solidFill>
                  <a:srgbClr val="002060"/>
                </a:solidFill>
                <a:ea typeface="宋体" panose="02010600030101010101" pitchFamily="2" charset="-122"/>
                <a:sym typeface="+mn-ea"/>
              </a:rPr>
              <a:t>com.itf.</a:t>
            </a:r>
            <a:r>
              <a:rPr lang="en-US" altLang="zh-CN" sz="1700" dirty="0" smtClean="0">
                <a:solidFill>
                  <a:srgbClr val="002060"/>
                </a:solidFill>
                <a:ea typeface="宋体" panose="02010600030101010101" pitchFamily="2" charset="-122"/>
              </a:rPr>
              <a:t>Flyer </a:t>
            </a:r>
            <a:r>
              <a:rPr lang="en-US" altLang="zh-CN" sz="1700" dirty="0" err="1" smtClean="0">
                <a:solidFill>
                  <a:srgbClr val="002060"/>
                </a:solidFill>
                <a:ea typeface="宋体" panose="02010600030101010101" pitchFamily="2" charset="-122"/>
              </a:rPr>
              <a:t>flyer</a:t>
            </a:r>
            <a:r>
              <a:rPr lang="en-US" altLang="zh-CN" sz="1700" dirty="0" smtClean="0">
                <a:solidFill>
                  <a:srgbClr val="002060"/>
                </a:solidFill>
                <a:ea typeface="宋体" panose="02010600030101010101" pitchFamily="2" charset="-122"/>
              </a:rPr>
              <a:t> = new Bird("</a:t>
            </a:r>
            <a:r>
              <a:rPr lang="zh-CN" altLang="en-US" sz="1700" dirty="0" smtClean="0">
                <a:solidFill>
                  <a:srgbClr val="002060"/>
                </a:solidFill>
                <a:ea typeface="宋体" panose="02010600030101010101" pitchFamily="2" charset="-122"/>
              </a:rPr>
              <a:t>小马</a:t>
            </a:r>
            <a:r>
              <a:rPr lang="en-US" altLang="zh-CN" sz="1700" dirty="0" smtClean="0">
                <a:solidFill>
                  <a:srgbClr val="002060"/>
                </a:solidFill>
                <a:ea typeface="宋体" panose="02010600030101010101" pitchFamily="2" charset="-122"/>
              </a:rPr>
              <a:t>", 3, 300, "</a:t>
            </a:r>
            <a:r>
              <a:rPr lang="zh-CN" altLang="en-US" sz="1700" dirty="0" smtClean="0">
                <a:solidFill>
                  <a:srgbClr val="002060"/>
                </a:solidFill>
                <a:ea typeface="宋体" panose="02010600030101010101" pitchFamily="2" charset="-122"/>
              </a:rPr>
              <a:t>麻雀</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17         </a:t>
            </a:r>
            <a:r>
              <a:rPr lang="en-US" altLang="zh-CN" sz="1700" dirty="0" err="1" smtClean="0">
                <a:solidFill>
                  <a:srgbClr val="002060"/>
                </a:solidFill>
                <a:ea typeface="宋体" panose="02010600030101010101" pitchFamily="2" charset="-122"/>
              </a:rPr>
              <a:t>flyer.takeoff</a:t>
            </a:r>
            <a:r>
              <a:rPr lang="en-US" altLang="zh-CN" sz="1700" dirty="0" smtClean="0">
                <a:solidFill>
                  <a:srgbClr val="002060"/>
                </a:solidFill>
                <a:ea typeface="宋体" panose="02010600030101010101" pitchFamily="2" charset="-122"/>
              </a:rPr>
              <a:t>();</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18     }</a:t>
            </a:r>
            <a:endParaRPr lang="en-US" altLang="zh-CN" sz="1700" dirty="0" smtClean="0">
              <a:solidFill>
                <a:srgbClr val="002060"/>
              </a:solidFill>
              <a:ea typeface="宋体" panose="02010600030101010101" pitchFamily="2" charset="-122"/>
            </a:endParaRPr>
          </a:p>
          <a:p>
            <a:pPr marL="361950" indent="-361950" eaLnBrk="1" hangingPunct="1">
              <a:spcBef>
                <a:spcPct val="0"/>
              </a:spcBef>
              <a:buFont typeface="Times"/>
              <a:buNone/>
            </a:pPr>
            <a:r>
              <a:rPr lang="en-US" altLang="zh-CN" sz="1700" dirty="0" smtClean="0">
                <a:solidFill>
                  <a:srgbClr val="002060"/>
                </a:solidFill>
                <a:ea typeface="宋体" panose="02010600030101010101" pitchFamily="2" charset="-122"/>
              </a:rPr>
              <a:t>19 }</a:t>
            </a:r>
            <a:endParaRPr lang="en-US" altLang="zh-CN" sz="1700" dirty="0" smtClean="0">
              <a:solidFill>
                <a:srgbClr val="00206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algn="l" eaLnBrk="1" hangingPunct="1">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将前面练习的Clothing接口归到com.superclass包中；将Frock类和Shirt类归到com.subclass包中；将TestShirt类归到test包中。</a:t>
            </a:r>
            <a:endParaRPr lang="en-US" altLang="zh-CN" sz="2000" dirty="0" err="1" smtClean="0">
              <a:ea typeface="宋体" panose="02010600030101010101" pitchFamily="2" charset="-122"/>
            </a:endParaRPr>
          </a:p>
          <a:p>
            <a:pPr marL="457200" indent="-457200" algn="l" eaLnBrk="1" hangingPunct="1">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运行该程序。</a:t>
            </a:r>
            <a:endParaRPr lang="en-US" altLang="zh-CN" sz="2000" dirty="0" err="1"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静态导入</a:t>
            </a:r>
            <a:endParaRPr lang="en-US" altLang="zh-CN"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静态导入</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lnSpcReduction="10000"/>
          </a:bodyPr>
          <a:p>
            <a:pPr marL="457200" indent="-457200" algn="l">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静态导入(import static )  — 告诉编译器我（指所在类）所使用静态成员从哪个类中导入。</a:t>
            </a:r>
            <a:endParaRPr lang="en-US" altLang="zh-CN" sz="2000" dirty="0" err="1" smtClean="0">
              <a:ea typeface="宋体" panose="02010600030101010101" pitchFamily="2" charset="-122"/>
            </a:endParaRPr>
          </a:p>
          <a:p>
            <a:pPr marL="361950" indent="-361950">
              <a:buClr>
                <a:srgbClr val="ED7D31"/>
              </a:buClr>
            </a:pPr>
            <a:r>
              <a:rPr lang="zh-CN" altLang="en-US" sz="2000" smtClean="0">
                <a:ea typeface="宋体" panose="02010600030101010101" pitchFamily="2" charset="-122"/>
                <a:sym typeface="+mn-ea"/>
              </a:rPr>
              <a:t>语法：</a:t>
            </a:r>
            <a:endParaRPr lang="zh-CN" altLang="en-US" sz="2000" smtClean="0">
              <a:ea typeface="宋体" panose="02010600030101010101" pitchFamily="2" charset="-122"/>
            </a:endParaRPr>
          </a:p>
          <a:p>
            <a:pPr marL="704850" lvl="1" indent="-361950">
              <a:buFont typeface="Times"/>
              <a:buNone/>
            </a:pPr>
            <a:r>
              <a:rPr lang="en-US" altLang="zh-CN" sz="2000" smtClean="0">
                <a:solidFill>
                  <a:srgbClr val="ED7D31"/>
                </a:solidFill>
                <a:ea typeface="宋体" panose="02010600030101010101" pitchFamily="2" charset="-122"/>
                <a:sym typeface="+mn-ea"/>
              </a:rPr>
              <a:t>import static &lt;</a:t>
            </a:r>
            <a:r>
              <a:rPr lang="zh-CN" altLang="en-US" sz="2000" smtClean="0">
                <a:solidFill>
                  <a:srgbClr val="ED7D31"/>
                </a:solidFill>
                <a:ea typeface="宋体" panose="02010600030101010101" pitchFamily="2" charset="-122"/>
                <a:sym typeface="+mn-ea"/>
              </a:rPr>
              <a:t>包名</a:t>
            </a:r>
            <a:r>
              <a:rPr lang="en-US" altLang="zh-CN" sz="2000" smtClean="0">
                <a:solidFill>
                  <a:srgbClr val="ED7D31"/>
                </a:solidFill>
                <a:ea typeface="宋体" panose="02010600030101010101" pitchFamily="2" charset="-122"/>
                <a:sym typeface="+mn-ea"/>
              </a:rPr>
              <a:t>&gt;.&lt;</a:t>
            </a:r>
            <a:r>
              <a:rPr lang="zh-CN" altLang="en-US" sz="2000" smtClean="0">
                <a:solidFill>
                  <a:srgbClr val="ED7D31"/>
                </a:solidFill>
                <a:ea typeface="宋体" panose="02010600030101010101" pitchFamily="2" charset="-122"/>
                <a:sym typeface="+mn-ea"/>
              </a:rPr>
              <a:t>类名</a:t>
            </a:r>
            <a:r>
              <a:rPr lang="en-US" altLang="zh-CN" sz="2000" smtClean="0">
                <a:solidFill>
                  <a:srgbClr val="ED7D31"/>
                </a:solidFill>
                <a:ea typeface="宋体" panose="02010600030101010101" pitchFamily="2" charset="-122"/>
                <a:sym typeface="+mn-ea"/>
              </a:rPr>
              <a:t>&gt;.&lt;</a:t>
            </a:r>
            <a:r>
              <a:rPr lang="zh-CN" altLang="en-US" sz="2000" smtClean="0">
                <a:solidFill>
                  <a:srgbClr val="ED7D31"/>
                </a:solidFill>
                <a:ea typeface="宋体" panose="02010600030101010101" pitchFamily="2" charset="-122"/>
                <a:sym typeface="+mn-ea"/>
              </a:rPr>
              <a:t>静态成员名</a:t>
            </a:r>
            <a:r>
              <a:rPr lang="en-US" altLang="zh-CN" sz="2000" smtClean="0">
                <a:solidFill>
                  <a:srgbClr val="ED7D31"/>
                </a:solidFill>
                <a:ea typeface="宋体" panose="02010600030101010101" pitchFamily="2" charset="-122"/>
                <a:sym typeface="+mn-ea"/>
              </a:rPr>
              <a:t>&gt;;</a:t>
            </a:r>
            <a:endParaRPr lang="en-US" altLang="zh-CN" sz="2000" smtClean="0">
              <a:solidFill>
                <a:srgbClr val="ED7D31"/>
              </a:solidFill>
              <a:ea typeface="宋体" panose="02010600030101010101" pitchFamily="2" charset="-122"/>
            </a:endParaRPr>
          </a:p>
          <a:p>
            <a:pPr marL="704850" lvl="1" indent="-361950">
              <a:buFont typeface="Times"/>
              <a:buNone/>
            </a:pPr>
            <a:r>
              <a:rPr lang="zh-CN" altLang="en-US" sz="2000" smtClean="0">
                <a:solidFill>
                  <a:srgbClr val="ED7D31"/>
                </a:solidFill>
                <a:ea typeface="宋体" panose="02010600030101010101" pitchFamily="2" charset="-122"/>
                <a:sym typeface="+mn-ea"/>
              </a:rPr>
              <a:t>或</a:t>
            </a:r>
            <a:endParaRPr lang="zh-CN" altLang="en-US" sz="2000" smtClean="0">
              <a:solidFill>
                <a:srgbClr val="ED7D31"/>
              </a:solidFill>
              <a:ea typeface="宋体" panose="02010600030101010101" pitchFamily="2" charset="-122"/>
            </a:endParaRPr>
          </a:p>
          <a:p>
            <a:pPr marL="704850" lvl="1" indent="-361950">
              <a:buFont typeface="Times"/>
              <a:buNone/>
            </a:pPr>
            <a:r>
              <a:rPr lang="en-US" altLang="zh-CN" sz="2000" smtClean="0">
                <a:solidFill>
                  <a:srgbClr val="ED7D31"/>
                </a:solidFill>
                <a:ea typeface="宋体" panose="02010600030101010101" pitchFamily="2" charset="-122"/>
                <a:sym typeface="+mn-ea"/>
              </a:rPr>
              <a:t>import static &lt; </a:t>
            </a:r>
            <a:r>
              <a:rPr lang="zh-CN" altLang="en-US" sz="2000" smtClean="0">
                <a:solidFill>
                  <a:srgbClr val="ED7D31"/>
                </a:solidFill>
                <a:ea typeface="宋体" panose="02010600030101010101" pitchFamily="2" charset="-122"/>
                <a:sym typeface="+mn-ea"/>
              </a:rPr>
              <a:t>包名 </a:t>
            </a:r>
            <a:r>
              <a:rPr lang="en-US" altLang="zh-CN" sz="2000" smtClean="0">
                <a:solidFill>
                  <a:srgbClr val="ED7D31"/>
                </a:solidFill>
                <a:ea typeface="宋体" panose="02010600030101010101" pitchFamily="2" charset="-122"/>
                <a:sym typeface="+mn-ea"/>
              </a:rPr>
              <a:t>&gt;.&lt; </a:t>
            </a:r>
            <a:r>
              <a:rPr lang="zh-CN" altLang="en-US" sz="2000" smtClean="0">
                <a:solidFill>
                  <a:srgbClr val="ED7D31"/>
                </a:solidFill>
                <a:ea typeface="宋体" panose="02010600030101010101" pitchFamily="2" charset="-122"/>
                <a:sym typeface="+mn-ea"/>
              </a:rPr>
              <a:t>类名 </a:t>
            </a:r>
            <a:r>
              <a:rPr lang="en-US" altLang="zh-CN" sz="2000" smtClean="0">
                <a:solidFill>
                  <a:srgbClr val="ED7D31"/>
                </a:solidFill>
                <a:ea typeface="宋体" panose="02010600030101010101" pitchFamily="2" charset="-122"/>
                <a:sym typeface="+mn-ea"/>
              </a:rPr>
              <a:t>&gt;.*;</a:t>
            </a:r>
            <a:endParaRPr lang="en-US" altLang="zh-CN" sz="2000" smtClean="0">
              <a:solidFill>
                <a:srgbClr val="ED7D31"/>
              </a:solidFill>
              <a:ea typeface="宋体" panose="02010600030101010101" pitchFamily="2" charset="-122"/>
            </a:endParaRPr>
          </a:p>
          <a:p>
            <a:pPr marL="361950" indent="-361950">
              <a:buClr>
                <a:srgbClr val="ED7D31"/>
              </a:buClr>
            </a:pPr>
            <a:r>
              <a:rPr lang="zh-CN" altLang="en-US" sz="2000" smtClean="0">
                <a:ea typeface="宋体" panose="02010600030101010101" pitchFamily="2" charset="-122"/>
                <a:sym typeface="+mn-ea"/>
              </a:rPr>
              <a:t>例如：</a:t>
            </a:r>
            <a:endParaRPr lang="zh-CN" altLang="en-US" sz="2000" smtClean="0">
              <a:ea typeface="宋体" panose="02010600030101010101" pitchFamily="2" charset="-122"/>
            </a:endParaRPr>
          </a:p>
          <a:p>
            <a:pPr marL="361950" indent="-361950">
              <a:buFont typeface="Times"/>
              <a:buNone/>
            </a:pPr>
            <a:r>
              <a:rPr lang="en-US" altLang="zh-CN" sz="2000" smtClean="0">
                <a:sym typeface="+mn-ea"/>
              </a:rPr>
              <a:t>     </a:t>
            </a:r>
            <a:r>
              <a:rPr lang="en-US" altLang="zh-CN" sz="2000" smtClean="0">
                <a:solidFill>
                  <a:srgbClr val="ED7D31"/>
                </a:solidFill>
                <a:sym typeface="+mn-ea"/>
              </a:rPr>
              <a:t>    </a:t>
            </a:r>
            <a:r>
              <a:rPr lang="en-US" altLang="zh-CN" sz="2000" smtClean="0">
                <a:solidFill>
                  <a:srgbClr val="ED7D31"/>
                </a:solidFill>
                <a:ea typeface="宋体" panose="02010600030101010101" pitchFamily="2" charset="-122"/>
                <a:sym typeface="+mn-ea"/>
              </a:rPr>
              <a:t>import static java.lang.Integer.*; </a:t>
            </a:r>
            <a:endParaRPr lang="en-US" altLang="zh-CN" sz="2000" smtClean="0">
              <a:ea typeface="宋体" panose="02010600030101010101" pitchFamily="2" charset="-122"/>
            </a:endParaRPr>
          </a:p>
          <a:p>
            <a:pPr marL="457200" indent="-457200" algn="l">
              <a:lnSpc>
                <a:spcPct val="160000"/>
              </a:lnSpc>
              <a:buClr>
                <a:srgbClr val="ED7D31"/>
              </a:buClr>
              <a:buSzTx/>
              <a:buFont typeface="+mj-lt"/>
              <a:buAutoNum type="arabicPeriod" startAt="2"/>
            </a:pPr>
            <a:r>
              <a:rPr lang="en-US" altLang="zh-CN" sz="2000" dirty="0" err="1" smtClean="0">
                <a:ea typeface="宋体" panose="02010600030101010101" pitchFamily="2" charset="-122"/>
                <a:sym typeface="+mn-ea"/>
              </a:rPr>
              <a:t>不应过度使用，因为它会降低程序的可读性。</a:t>
            </a:r>
            <a:endParaRPr lang="en-US" altLang="zh-CN" sz="2000" dirty="0" err="1" smtClean="0">
              <a:ea typeface="宋体" panose="02010600030101010101" pitchFamily="2" charset="-122"/>
            </a:endParaRPr>
          </a:p>
          <a:p>
            <a:pPr marL="704850" lvl="1" indent="-361950">
              <a:buFont typeface="Times"/>
              <a:buNone/>
            </a:pPr>
            <a:r>
              <a:rPr lang="zh-CN" altLang="en-US" sz="2000" smtClean="0">
                <a:ea typeface="宋体" panose="02010600030101010101" pitchFamily="2" charset="-122"/>
                <a:sym typeface="+mn-ea"/>
              </a:rPr>
              <a:t>提防含糊不清的命名</a:t>
            </a:r>
            <a:r>
              <a:rPr lang="en-US" altLang="en-US" sz="2000" smtClean="0">
                <a:ea typeface="宋体" panose="02010600030101010101" pitchFamily="2" charset="-122"/>
                <a:sym typeface="+mn-ea"/>
              </a:rPr>
              <a:t>static</a:t>
            </a:r>
            <a:r>
              <a:rPr lang="zh-CN" altLang="en-US" sz="2000" smtClean="0">
                <a:ea typeface="宋体" panose="02010600030101010101" pitchFamily="2" charset="-122"/>
                <a:sym typeface="+mn-ea"/>
              </a:rPr>
              <a:t>成员。</a:t>
            </a:r>
            <a:endParaRPr lang="en-US" altLang="zh-CN" sz="2000" dirty="0" err="1"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solidFill>
                  <a:srgbClr val="002060"/>
                </a:solidFill>
                <a:sym typeface="+mn-ea"/>
              </a:rPr>
              <a:t>正常导入</a:t>
            </a:r>
            <a:r>
              <a:rPr lang="en-US" altLang="zh-CN" sz="2400" smtClean="0">
                <a:solidFill>
                  <a:srgbClr val="002060"/>
                </a:solidFill>
                <a:sym typeface="+mn-ea"/>
              </a:rPr>
              <a:t> </a:t>
            </a:r>
            <a:r>
              <a:rPr lang="en-US" altLang="zh-CN" sz="2400" smtClean="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74083" name="内容占位符 2"/>
          <p:cNvSpPr>
            <a:spLocks noGrp="1"/>
          </p:cNvSpPr>
          <p:nvPr>
            <p:ph idx="1"/>
          </p:nvPr>
        </p:nvSpPr>
        <p:spPr>
          <a:xfrm>
            <a:off x="811213" y="1088409"/>
            <a:ext cx="7537450" cy="4816475"/>
          </a:xfrm>
        </p:spPr>
        <p:txBody>
          <a:bodyPr>
            <a:normAutofit lnSpcReduction="20000"/>
          </a:bodyPr>
          <a:p>
            <a:pPr marL="457200" indent="-457200">
              <a:buFont typeface="Times New Roman" panose="02020603050405020304" charset="0"/>
              <a:buAutoNum type="arabicPeriod"/>
            </a:pPr>
            <a:r>
              <a:rPr lang="en-US" altLang="zh-CN" sz="1800" smtClean="0">
                <a:solidFill>
                  <a:srgbClr val="002060"/>
                </a:solidFill>
              </a:rPr>
              <a:t>public class StaticClass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public static final double PI = 3.14;</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public static double getArea(double r){</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return PI * r * r;</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import p325.StaticClass;</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public class Test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public static void main(String[] args)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System.out.println(</a:t>
            </a:r>
            <a:r>
              <a:rPr lang="en-US" altLang="zh-CN" sz="1800" smtClean="0">
                <a:solidFill>
                  <a:srgbClr val="FF0000"/>
                </a:solidFill>
              </a:rPr>
              <a:t>StaticClass.PI</a:t>
            </a:r>
            <a:r>
              <a:rPr lang="en-US" altLang="zh-CN" sz="1800" smtClean="0">
                <a:solidFill>
                  <a:srgbClr val="002060"/>
                </a:solidFill>
              </a:rPr>
              <a:t>);</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a:t>
            </a:r>
            <a:r>
              <a:rPr lang="en-US" altLang="zh-CN" sz="1800" smtClean="0">
                <a:solidFill>
                  <a:srgbClr val="FF0000"/>
                </a:solidFill>
              </a:rPr>
              <a:t>StaticClass.getArea</a:t>
            </a:r>
            <a:r>
              <a:rPr lang="en-US" altLang="zh-CN" sz="1800" smtClean="0">
                <a:solidFill>
                  <a:srgbClr val="002060"/>
                </a:solidFill>
              </a:rPr>
              <a:t>(2.3);</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a:t>
            </a:r>
            <a:endParaRPr lang="en-US" altLang="zh-CN" sz="1800" smtClean="0">
              <a:solidFill>
                <a:srgbClr val="002060"/>
              </a:solidFill>
            </a:endParaRPr>
          </a:p>
          <a:p>
            <a:pPr marL="457200" indent="-457200">
              <a:buFont typeface="Times New Roman" panose="02020603050405020304" charset="0"/>
              <a:buAutoNum type="arabicPeriod"/>
            </a:pPr>
            <a:endParaRPr lang="en-US" altLang="zh-CN" sz="1800" smtClean="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solidFill>
                  <a:srgbClr val="002060"/>
                </a:solidFill>
                <a:sym typeface="+mn-ea"/>
              </a:rPr>
              <a:t>静态导入</a:t>
            </a:r>
            <a:r>
              <a:rPr lang="en-US" altLang="zh-CN" sz="2400" smtClean="0">
                <a:solidFill>
                  <a:srgbClr val="002060"/>
                </a:solidFill>
                <a:sym typeface="+mn-ea"/>
              </a:rPr>
              <a:t> </a:t>
            </a:r>
            <a:r>
              <a:rPr lang="en-US" altLang="zh-CN" sz="2400" smtClean="0">
                <a:ea typeface="宋体" panose="02010600030101010101" pitchFamily="2" charset="-122"/>
                <a:sym typeface="+mn-ea"/>
              </a:rPr>
              <a:t>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75107" name="内容占位符 2"/>
          <p:cNvSpPr>
            <a:spLocks noGrp="1"/>
          </p:cNvSpPr>
          <p:nvPr>
            <p:ph idx="1"/>
          </p:nvPr>
        </p:nvSpPr>
        <p:spPr>
          <a:xfrm>
            <a:off x="900113" y="1088409"/>
            <a:ext cx="7537450" cy="4816475"/>
          </a:xfrm>
        </p:spPr>
        <p:txBody>
          <a:bodyPr/>
          <a:p>
            <a:pPr marL="457200" indent="-457200">
              <a:buFont typeface="Times New Roman" panose="02020603050405020304" charset="0"/>
              <a:buAutoNum type="arabicPeriod"/>
            </a:pPr>
            <a:r>
              <a:rPr lang="en-US" altLang="zh-CN" sz="1800" smtClean="0">
                <a:solidFill>
                  <a:srgbClr val="002060"/>
                </a:solidFill>
              </a:rPr>
              <a:t>/*</a:t>
            </a:r>
            <a:r>
              <a:rPr lang="en-US" altLang="zh-CN" sz="1800" smtClean="0">
                <a:solidFill>
                  <a:srgbClr val="FF0000"/>
                </a:solidFill>
              </a:rPr>
              <a:t>import static p325.StaticClass.PI;</a:t>
            </a:r>
            <a:endParaRPr lang="en-US" altLang="zh-CN" sz="1800" smtClean="0">
              <a:solidFill>
                <a:srgbClr val="FF0000"/>
              </a:solidFill>
            </a:endParaRPr>
          </a:p>
          <a:p>
            <a:pPr marL="457200" indent="-457200">
              <a:buFont typeface="Times New Roman" panose="02020603050405020304" charset="0"/>
              <a:buAutoNum type="arabicPeriod"/>
            </a:pPr>
            <a:r>
              <a:rPr lang="en-US" altLang="zh-CN" sz="1800" smtClean="0">
                <a:solidFill>
                  <a:srgbClr val="FF0000"/>
                </a:solidFill>
              </a:rPr>
              <a:t>import static p325.StaticClass.getArea;*/</a:t>
            </a:r>
            <a:endParaRPr lang="en-US" altLang="zh-CN" sz="1800" smtClean="0">
              <a:solidFill>
                <a:srgbClr val="FF0000"/>
              </a:solidFill>
            </a:endParaRPr>
          </a:p>
          <a:p>
            <a:pPr marL="457200" indent="-457200">
              <a:buFont typeface="Times New Roman" panose="02020603050405020304" charset="0"/>
              <a:buAutoNum type="arabicPeriod"/>
            </a:pPr>
            <a:r>
              <a:rPr lang="en-US" altLang="zh-CN" sz="1800" smtClean="0">
                <a:solidFill>
                  <a:srgbClr val="FF0000"/>
                </a:solidFill>
              </a:rPr>
              <a:t>import static p325.StaticClass.*</a:t>
            </a:r>
            <a:r>
              <a:rPr lang="en-US" altLang="zh-CN" sz="1800" smtClean="0">
                <a:solidFill>
                  <a:srgbClr val="002060"/>
                </a:solidFill>
              </a:rPr>
              <a:t>;</a:t>
            </a:r>
            <a:endParaRPr lang="en-US" altLang="zh-CN" sz="1800" smtClean="0">
              <a:solidFill>
                <a:srgbClr val="002060"/>
              </a:solidFill>
            </a:endParaRPr>
          </a:p>
          <a:p>
            <a:pPr marL="457200" indent="-457200">
              <a:buFont typeface="Times New Roman" panose="02020603050405020304" charset="0"/>
              <a:buAutoNum type="arabicPeriod"/>
            </a:pP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public class TestStatic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public static void main(String[] args)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System.out.println(</a:t>
            </a:r>
            <a:r>
              <a:rPr lang="en-US" altLang="zh-CN" sz="1800" smtClean="0">
                <a:solidFill>
                  <a:srgbClr val="FF0000"/>
                </a:solidFill>
              </a:rPr>
              <a:t>PI</a:t>
            </a:r>
            <a:r>
              <a:rPr lang="en-US" altLang="zh-CN" sz="1800" smtClean="0">
                <a:solidFill>
                  <a:srgbClr val="002060"/>
                </a:solidFill>
              </a:rPr>
              <a:t>);</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System.out.println(</a:t>
            </a:r>
            <a:r>
              <a:rPr lang="en-US" altLang="zh-CN" sz="1800" smtClean="0">
                <a:solidFill>
                  <a:srgbClr val="FF0000"/>
                </a:solidFill>
              </a:rPr>
              <a:t>getArea</a:t>
            </a:r>
            <a:r>
              <a:rPr lang="en-US" altLang="zh-CN" sz="1800" smtClean="0">
                <a:solidFill>
                  <a:srgbClr val="002060"/>
                </a:solidFill>
              </a:rPr>
              <a:t>(2.3));</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a:t>
            </a:r>
            <a:endParaRPr lang="en-US" altLang="zh-CN" sz="1800" smtClean="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练  习</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514330" cy="5031105"/>
          </a:xfrm>
        </p:spPr>
        <p:txBody>
          <a:bodyPr>
            <a:normAutofit lnSpcReduction="10000"/>
          </a:bodyPr>
          <a:p>
            <a:pPr marL="457200" indent="-457200" algn="l">
              <a:lnSpc>
                <a:spcPct val="160000"/>
              </a:lnSpc>
              <a:buClr>
                <a:srgbClr val="ED7D31"/>
              </a:buClr>
              <a:buSzTx/>
              <a:buFont typeface="+mj-lt"/>
              <a:buAutoNum type="arabicPeriod"/>
            </a:pPr>
            <a:r>
              <a:rPr lang="zh-CN" altLang="en-US" sz="2000" dirty="0" smtClean="0">
                <a:ea typeface="宋体" panose="02010600030101010101" pitchFamily="2" charset="-122"/>
                <a:sym typeface="+mn-ea"/>
              </a:rPr>
              <a:t>在</a:t>
            </a:r>
            <a:r>
              <a:rPr lang="en-US" altLang="zh-CN" sz="2000" dirty="0" err="1" smtClean="0">
                <a:ea typeface="宋体" panose="02010600030101010101" pitchFamily="2" charset="-122"/>
                <a:sym typeface="+mn-ea"/>
              </a:rPr>
              <a:t>com.oneclass包中</a:t>
            </a:r>
            <a:r>
              <a:rPr lang="zh-CN" altLang="en-US" sz="2000" dirty="0" err="1" smtClean="0">
                <a:ea typeface="宋体" panose="02010600030101010101" pitchFamily="2" charset="-122"/>
                <a:sym typeface="+mn-ea"/>
              </a:rPr>
              <a:t>定义一个类</a:t>
            </a:r>
            <a:r>
              <a:rPr lang="en-US" altLang="zh-CN" sz="2000" dirty="0" smtClean="0">
                <a:ea typeface="宋体" panose="02010600030101010101" pitchFamily="2" charset="-122"/>
                <a:sym typeface="+mn-ea"/>
              </a:rPr>
              <a:t>Circle</a:t>
            </a:r>
            <a:r>
              <a:rPr lang="zh-CN" altLang="en-US" sz="2000" dirty="0" smtClean="0">
                <a:ea typeface="宋体" panose="02010600030101010101" pitchFamily="2" charset="-122"/>
                <a:sym typeface="+mn-ea"/>
              </a:rPr>
              <a:t>，在类中声明静态常量</a:t>
            </a:r>
            <a:r>
              <a:rPr lang="en-US" altLang="zh-CN" sz="2000" dirty="0" smtClean="0">
                <a:ea typeface="宋体" panose="02010600030101010101" pitchFamily="2" charset="-122"/>
                <a:sym typeface="+mn-ea"/>
              </a:rPr>
              <a:t>PI=3.14159</a:t>
            </a:r>
            <a:r>
              <a:rPr lang="zh-CN" altLang="en-US" sz="2000" dirty="0" smtClean="0">
                <a:ea typeface="宋体" panose="02010600030101010101" pitchFamily="2" charset="-122"/>
                <a:sym typeface="+mn-ea"/>
              </a:rPr>
              <a:t>；再声明静态方法</a:t>
            </a:r>
            <a:r>
              <a:rPr lang="en-US" altLang="zh-CN" sz="2000" dirty="0" smtClean="0">
                <a:ea typeface="宋体" panose="02010600030101010101" pitchFamily="2" charset="-122"/>
                <a:sym typeface="+mn-ea"/>
              </a:rPr>
              <a:t>double </a:t>
            </a:r>
            <a:r>
              <a:rPr lang="en-US" altLang="zh-CN" sz="2000" dirty="0" err="1" smtClean="0">
                <a:ea typeface="宋体" panose="02010600030101010101" pitchFamily="2" charset="-122"/>
                <a:sym typeface="+mn-ea"/>
              </a:rPr>
              <a:t>calcArea</a:t>
            </a:r>
            <a:r>
              <a:rPr lang="en-US" altLang="zh-CN" sz="2000" dirty="0" smtClean="0">
                <a:ea typeface="宋体" panose="02010600030101010101" pitchFamily="2" charset="-122"/>
                <a:sym typeface="+mn-ea"/>
              </a:rPr>
              <a:t>(</a:t>
            </a:r>
            <a:r>
              <a:rPr lang="en-US" altLang="zh-CN" sz="2000" dirty="0" err="1" smtClean="0">
                <a:ea typeface="宋体" panose="02010600030101010101" pitchFamily="2" charset="-122"/>
                <a:sym typeface="+mn-ea"/>
              </a:rPr>
              <a:t>double </a:t>
            </a:r>
            <a:r>
              <a:rPr lang="en-US" altLang="zh-CN" sz="2000" dirty="0" smtClean="0">
                <a:ea typeface="宋体" panose="02010600030101010101" pitchFamily="2" charset="-122"/>
                <a:sym typeface="+mn-ea"/>
              </a:rPr>
              <a:t>r)</a:t>
            </a:r>
            <a:r>
              <a:rPr lang="zh-CN" altLang="en-US" sz="2000" dirty="0" smtClean="0">
                <a:ea typeface="宋体" panose="02010600030101010101" pitchFamily="2" charset="-122"/>
                <a:sym typeface="+mn-ea"/>
              </a:rPr>
              <a:t>，该方法根据参数半径计算圆面积并作为方法的返回值。</a:t>
            </a:r>
            <a:endParaRPr lang="zh-CN" altLang="en-US" sz="2000" dirty="0" smtClean="0">
              <a:ea typeface="宋体" panose="02010600030101010101" pitchFamily="2" charset="-122"/>
              <a:sym typeface="+mn-ea"/>
            </a:endParaRPr>
          </a:p>
          <a:p>
            <a:pPr marL="457200" indent="-457200" algn="l">
              <a:lnSpc>
                <a:spcPct val="160000"/>
              </a:lnSpc>
              <a:buClr>
                <a:srgbClr val="ED7D31"/>
              </a:buClr>
              <a:buSzTx/>
              <a:buFont typeface="+mj-lt"/>
              <a:buAutoNum type="arabicPeriod"/>
            </a:pPr>
            <a:r>
              <a:rPr lang="zh-CN" altLang="en-US" sz="2000" dirty="0" smtClean="0">
                <a:ea typeface="宋体" panose="02010600030101010101" pitchFamily="2" charset="-122"/>
                <a:sym typeface="+mn-ea"/>
              </a:rPr>
              <a:t>在</a:t>
            </a:r>
            <a:r>
              <a:rPr lang="en-US" altLang="zh-CN" sz="2000" dirty="0" err="1" smtClean="0">
                <a:ea typeface="宋体" panose="02010600030101010101" pitchFamily="2" charset="-122"/>
                <a:sym typeface="+mn-ea"/>
              </a:rPr>
              <a:t>com.otherclass</a:t>
            </a:r>
            <a:r>
              <a:rPr lang="zh-CN" altLang="en-US" sz="2000" dirty="0" smtClean="0">
                <a:ea typeface="宋体" panose="02010600030101010101" pitchFamily="2" charset="-122"/>
                <a:sym typeface="+mn-ea"/>
              </a:rPr>
              <a:t>包中定义一个</a:t>
            </a:r>
            <a:r>
              <a:rPr lang="en-US" altLang="zh-CN" sz="2000" dirty="0" smtClean="0">
                <a:ea typeface="宋体" panose="02010600030101010101" pitchFamily="2" charset="-122"/>
                <a:sym typeface="+mn-ea"/>
              </a:rPr>
              <a:t>Test</a:t>
            </a:r>
            <a:r>
              <a:rPr lang="zh-CN" altLang="en-US" sz="2000" dirty="0" smtClean="0">
                <a:ea typeface="宋体" panose="02010600030101010101" pitchFamily="2" charset="-122"/>
                <a:sym typeface="+mn-ea"/>
              </a:rPr>
              <a:t>类，在</a:t>
            </a:r>
            <a:r>
              <a:rPr lang="en-US" altLang="zh-CN" sz="2000" dirty="0" smtClean="0">
                <a:ea typeface="宋体" panose="02010600030101010101" pitchFamily="2" charset="-122"/>
                <a:sym typeface="+mn-ea"/>
              </a:rPr>
              <a:t>main</a:t>
            </a:r>
            <a:r>
              <a:rPr lang="zh-CN" altLang="en-US" sz="2000" dirty="0" smtClean="0">
                <a:ea typeface="宋体" panose="02010600030101010101" pitchFamily="2" charset="-122"/>
                <a:sym typeface="+mn-ea"/>
              </a:rPr>
              <a:t>方法中调用</a:t>
            </a:r>
            <a:r>
              <a:rPr lang="en-US" altLang="zh-CN" sz="2000" dirty="0" err="1" smtClean="0">
                <a:ea typeface="宋体" panose="02010600030101010101" pitchFamily="2" charset="-122"/>
                <a:sym typeface="+mn-ea"/>
              </a:rPr>
              <a:t>calcArea</a:t>
            </a:r>
            <a:r>
              <a:rPr lang="zh-CN" altLang="en-US" sz="2000" dirty="0" smtClean="0">
                <a:ea typeface="宋体" panose="02010600030101010101" pitchFamily="2" charset="-122"/>
                <a:sym typeface="+mn-ea"/>
              </a:rPr>
              <a:t>方法计算半径为</a:t>
            </a:r>
            <a:r>
              <a:rPr lang="en-US" altLang="zh-CN" sz="2000" dirty="0" smtClean="0">
                <a:ea typeface="宋体" panose="02010600030101010101" pitchFamily="2" charset="-122"/>
                <a:sym typeface="+mn-ea"/>
              </a:rPr>
              <a:t>15</a:t>
            </a:r>
            <a:r>
              <a:rPr lang="zh-CN" altLang="en-US" sz="2000" dirty="0" smtClean="0">
                <a:ea typeface="宋体" panose="02010600030101010101" pitchFamily="2" charset="-122"/>
                <a:sym typeface="+mn-ea"/>
              </a:rPr>
              <a:t>的圆面积，并用</a:t>
            </a:r>
            <a:r>
              <a:rPr lang="en-US" altLang="zh-CN" sz="2000" dirty="0" smtClean="0">
                <a:ea typeface="宋体" panose="02010600030101010101" pitchFamily="2" charset="-122"/>
                <a:sym typeface="+mn-ea"/>
              </a:rPr>
              <a:t>PI</a:t>
            </a:r>
            <a:r>
              <a:rPr lang="zh-CN" altLang="en-US" sz="2000" dirty="0" smtClean="0">
                <a:ea typeface="宋体" panose="02010600030101010101" pitchFamily="2" charset="-122"/>
                <a:sym typeface="+mn-ea"/>
              </a:rPr>
              <a:t>计算半径为</a:t>
            </a:r>
            <a:r>
              <a:rPr lang="en-US" altLang="zh-CN" sz="2000" dirty="0" smtClean="0">
                <a:ea typeface="宋体" panose="02010600030101010101" pitchFamily="2" charset="-122"/>
                <a:sym typeface="+mn-ea"/>
              </a:rPr>
              <a:t>25</a:t>
            </a:r>
            <a:r>
              <a:rPr lang="zh-CN" altLang="en-US" sz="2000" dirty="0" smtClean="0">
                <a:ea typeface="宋体" panose="02010600030101010101" pitchFamily="2" charset="-122"/>
                <a:sym typeface="+mn-ea"/>
              </a:rPr>
              <a:t>的圆的周长。要求使用静态导入</a:t>
            </a:r>
            <a:endParaRPr lang="en-US" altLang="zh-CN" sz="2000" dirty="0" err="1"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包的访问控制权限</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888355" cy="460375"/>
          </a:xfrm>
          <a:prstGeom prst="rect">
            <a:avLst/>
          </a:prstGeom>
          <a:noFill/>
        </p:spPr>
        <p:txBody>
          <a:bodyPr wrap="square" rtlCol="0">
            <a:spAutoFit/>
          </a:bodyPr>
          <a:lstStyle/>
          <a:p>
            <a:pPr eaLnBrk="1" hangingPunct="1"/>
            <a:r>
              <a:rPr lang="en-US" altLang="zh-CN" sz="2400" dirty="0" smtClean="0">
                <a:ea typeface="宋体" panose="02010600030101010101" pitchFamily="2" charset="-122"/>
                <a:sym typeface="+mn-ea"/>
              </a:rPr>
              <a:t>protected</a:t>
            </a:r>
            <a:r>
              <a:rPr lang="zh-CN" altLang="en-US" sz="2400" dirty="0" smtClean="0">
                <a:ea typeface="宋体" panose="02010600030101010101" pitchFamily="2" charset="-122"/>
                <a:sym typeface="+mn-ea"/>
              </a:rPr>
              <a:t>与</a:t>
            </a:r>
            <a:r>
              <a:rPr lang="en-US" altLang="zh-CN" sz="2400" i="1" dirty="0" smtClean="0">
                <a:ea typeface="宋体" panose="02010600030101010101" pitchFamily="2" charset="-122"/>
                <a:sym typeface="+mn-ea"/>
              </a:rPr>
              <a:t>default</a:t>
            </a:r>
            <a:r>
              <a:rPr lang="zh-CN" altLang="en-US" sz="2400" dirty="0" smtClean="0">
                <a:ea typeface="宋体" panose="02010600030101010101" pitchFamily="2" charset="-122"/>
                <a:sym typeface="+mn-ea"/>
              </a:rPr>
              <a:t>访问控制修饰符</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indent="-457200" algn="l" eaLnBrk="1" hangingPunct="1">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除了public和private之外，Java还支持以下访问控制修饰符：</a:t>
            </a:r>
            <a:endParaRPr lang="en-US" altLang="zh-CN" sz="2000" dirty="0" err="1" smtClean="0">
              <a:ea typeface="宋体" panose="02010600030101010101" pitchFamily="2" charset="-122"/>
            </a:endParaRPr>
          </a:p>
          <a:p>
            <a:pPr marL="704850" lvl="1" indent="-361950" eaLnBrk="1" hangingPunct="1">
              <a:buClr>
                <a:srgbClr val="ED7D31"/>
              </a:buClr>
              <a:defRPr/>
            </a:pPr>
            <a:r>
              <a:rPr lang="en-US" altLang="zh-CN" sz="2000" dirty="0" err="1" smtClean="0">
                <a:ea typeface="宋体" panose="02010600030101010101" pitchFamily="2" charset="-122"/>
                <a:sym typeface="+mn-ea"/>
              </a:rPr>
              <a:t>protected — 被protected修饰的成员，允许在子类中访问</a:t>
            </a:r>
            <a:endParaRPr lang="en-US" altLang="zh-CN" sz="2000" dirty="0" err="1" smtClean="0">
              <a:ea typeface="宋体" panose="02010600030101010101" pitchFamily="2" charset="-122"/>
            </a:endParaRPr>
          </a:p>
          <a:p>
            <a:pPr marL="704850" lvl="1" indent="-361950" eaLnBrk="1" hangingPunct="1">
              <a:buClr>
                <a:srgbClr val="ED7D31"/>
              </a:buClr>
              <a:defRPr/>
            </a:pPr>
            <a:r>
              <a:rPr lang="en-US" altLang="zh-CN" sz="2000" dirty="0" err="1" smtClean="0">
                <a:ea typeface="宋体" panose="02010600030101010101" pitchFamily="2" charset="-122"/>
                <a:sym typeface="+mn-ea"/>
              </a:rPr>
              <a:t>default — 缺省修饰符，即无修饰。无修饰的成员，允许被同包中的其他类或对象所访问</a:t>
            </a:r>
            <a:endParaRPr lang="en-US" altLang="zh-CN" sz="2000" dirty="0" err="1" smtClean="0">
              <a:ea typeface="宋体" panose="02010600030101010101" pitchFamily="2" charset="-122"/>
            </a:endParaRPr>
          </a:p>
          <a:p>
            <a:pPr marL="704850" lvl="1" indent="-361950" eaLnBrk="1" hangingPunct="1">
              <a:buClr>
                <a:srgbClr val="ED7D31"/>
              </a:buClr>
              <a:defRPr/>
            </a:pPr>
            <a:r>
              <a:rPr lang="en-US" altLang="zh-CN" sz="2000" dirty="0" err="1" smtClean="0">
                <a:ea typeface="宋体" panose="02010600030101010101" pitchFamily="2" charset="-122"/>
                <a:sym typeface="+mn-ea"/>
              </a:rPr>
              <a:t>通常情况下，不建议使用它们修饰类的成员</a:t>
            </a:r>
            <a:endParaRPr lang="en-US" altLang="zh-CN" sz="2000" dirty="0" err="1"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同包访问</a:t>
            </a:r>
            <a:endParaRPr lang="zh-CN" altLang="en-US" sz="2400" b="1" spc="300" dirty="0" smtClean="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74083" name="内容占位符 2"/>
          <p:cNvSpPr>
            <a:spLocks noGrp="1"/>
          </p:cNvSpPr>
          <p:nvPr>
            <p:ph idx="1"/>
          </p:nvPr>
        </p:nvSpPr>
        <p:spPr>
          <a:xfrm>
            <a:off x="811213" y="1088409"/>
            <a:ext cx="7537450" cy="4816475"/>
          </a:xfrm>
        </p:spPr>
        <p:txBody>
          <a:bodyPr>
            <a:normAutofit lnSpcReduction="20000"/>
          </a:bodyPr>
          <a:p>
            <a:pPr marL="457200" indent="-457200">
              <a:buFont typeface="Times New Roman" panose="02020603050405020304" charset="0"/>
              <a:buAutoNum type="arabicPeriod"/>
            </a:pPr>
            <a:r>
              <a:rPr lang="en-US" altLang="zh-CN" sz="1800" smtClean="0">
                <a:solidFill>
                  <a:srgbClr val="FF0000"/>
                </a:solidFill>
              </a:rPr>
              <a:t>package p328;</a:t>
            </a:r>
            <a:endParaRPr lang="en-US" altLang="zh-CN" sz="1800" smtClean="0">
              <a:solidFill>
                <a:srgbClr val="FF0000"/>
              </a:solidFill>
            </a:endParaRPr>
          </a:p>
          <a:p>
            <a:pPr marL="457200" indent="-457200">
              <a:buFont typeface="Times New Roman" panose="02020603050405020304" charset="0"/>
              <a:buAutoNum type="arabicPeriod"/>
            </a:pPr>
            <a:r>
              <a:rPr lang="en-US" altLang="zh-CN" sz="1800" smtClean="0">
                <a:solidFill>
                  <a:srgbClr val="002060"/>
                </a:solidFill>
              </a:rPr>
              <a:t>public class Pet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a:t>
            </a:r>
            <a:r>
              <a:rPr lang="en-US" altLang="zh-CN" sz="1800" smtClean="0">
                <a:solidFill>
                  <a:srgbClr val="FF0000"/>
                </a:solidFill>
              </a:rPr>
              <a:t>private </a:t>
            </a:r>
            <a:r>
              <a:rPr lang="en-US" altLang="zh-CN" sz="1800" smtClean="0">
                <a:solidFill>
                  <a:srgbClr val="002060"/>
                </a:solidFill>
              </a:rPr>
              <a:t>int speed = 120;</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a:t>
            </a:r>
            <a:r>
              <a:rPr lang="en-US" altLang="zh-CN" sz="1800" smtClean="0">
                <a:solidFill>
                  <a:srgbClr val="FF0000"/>
                </a:solidFill>
              </a:rPr>
              <a:t>protected </a:t>
            </a:r>
            <a:r>
              <a:rPr lang="en-US" altLang="zh-CN" sz="1800" smtClean="0">
                <a:solidFill>
                  <a:srgbClr val="002060"/>
                </a:solidFill>
              </a:rPr>
              <a:t>String name = "小宠";</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int age;</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a:t>
            </a:r>
            <a:r>
              <a:rPr lang="en-US" altLang="zh-CN" sz="1800" smtClean="0">
                <a:solidFill>
                  <a:srgbClr val="FF0000"/>
                </a:solidFill>
              </a:rPr>
              <a:t>public </a:t>
            </a:r>
            <a:r>
              <a:rPr lang="en-US" altLang="zh-CN" sz="1800" smtClean="0">
                <a:solidFill>
                  <a:srgbClr val="002060"/>
                </a:solidFill>
              </a:rPr>
              <a:t>String address = "北京";</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public class Test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public static void main(String[] args)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Pet pet = new Pet();</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System.out.println(pet.name);</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System.out.println(pet.address);</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System.out.println(pet.age);</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a:t>
            </a:r>
            <a:endParaRPr lang="en-US" altLang="zh-CN" sz="1800" smtClean="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463296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smtClean="0">
                <a:ea typeface="宋体" panose="02010600030101010101" pitchFamily="2" charset="-122"/>
                <a:sym typeface="+mn-ea"/>
              </a:rPr>
              <a:t>不同包访问</a:t>
            </a:r>
            <a:endParaRPr lang="zh-CN" altLang="en-US" sz="2400" b="1" spc="300" dirty="0" smtClean="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74083" name="内容占位符 2"/>
          <p:cNvSpPr>
            <a:spLocks noGrp="1"/>
          </p:cNvSpPr>
          <p:nvPr>
            <p:ph idx="1"/>
          </p:nvPr>
        </p:nvSpPr>
        <p:spPr>
          <a:xfrm>
            <a:off x="811530" y="1088390"/>
            <a:ext cx="10560685" cy="4816475"/>
          </a:xfrm>
        </p:spPr>
        <p:txBody>
          <a:bodyPr>
            <a:normAutofit/>
          </a:bodyPr>
          <a:p>
            <a:pPr marL="457200" indent="-457200">
              <a:buFont typeface="Times New Roman" panose="02020603050405020304" charset="0"/>
              <a:buAutoNum type="arabicPeriod"/>
            </a:pPr>
            <a:r>
              <a:rPr lang="en-US" altLang="zh-CN" sz="1800" smtClean="0">
                <a:solidFill>
                  <a:srgbClr val="FF0000"/>
                </a:solidFill>
              </a:rPr>
              <a:t>package p329;</a:t>
            </a:r>
            <a:endParaRPr lang="en-US" altLang="zh-CN" sz="1800" smtClean="0">
              <a:solidFill>
                <a:srgbClr val="FF0000"/>
              </a:solidFill>
            </a:endParaRPr>
          </a:p>
          <a:p>
            <a:pPr marL="457200" indent="-457200">
              <a:buFont typeface="Times New Roman" panose="02020603050405020304" charset="0"/>
              <a:buAutoNum type="arabicPeriod"/>
            </a:pPr>
            <a:r>
              <a:rPr lang="en-US" altLang="zh-CN" sz="1800" smtClean="0">
                <a:solidFill>
                  <a:schemeClr val="tx1"/>
                </a:solidFill>
              </a:rPr>
              <a:t>import p328.Pet;</a:t>
            </a:r>
            <a:endParaRPr lang="en-US" altLang="zh-CN" sz="1800" smtClean="0">
              <a:solidFill>
                <a:schemeClr val="tx1"/>
              </a:solidFill>
            </a:endParaRPr>
          </a:p>
          <a:p>
            <a:pPr marL="457200" indent="-457200">
              <a:buFont typeface="Times New Roman" panose="02020603050405020304" charset="0"/>
              <a:buAutoNum type="arabicPeriod"/>
            </a:pPr>
            <a:r>
              <a:rPr lang="en-US" altLang="zh-CN" sz="1800" smtClean="0">
                <a:solidFill>
                  <a:srgbClr val="002060"/>
                </a:solidFill>
              </a:rPr>
              <a:t>public class Test extends Pet{</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public static void main(String[] args)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Pet pet = new Pet();</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 System.out.println(pet.name);//protected</a:t>
            </a:r>
            <a:r>
              <a:rPr lang="zh-CN" altLang="en-US" sz="1800" smtClean="0">
                <a:solidFill>
                  <a:srgbClr val="002060"/>
                </a:solidFill>
              </a:rPr>
              <a:t>：报错</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System.out.println(pet.address);</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 System.out.println(pet.age);//default</a:t>
            </a:r>
            <a:r>
              <a:rPr lang="zh-CN" altLang="en-US" sz="1800" smtClean="0">
                <a:solidFill>
                  <a:srgbClr val="002060"/>
                </a:solidFill>
              </a:rPr>
              <a:t>：报错</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System.out.println(new Test().name);//</a:t>
            </a:r>
            <a:r>
              <a:rPr lang="zh-CN" altLang="en-US" sz="1800" smtClean="0">
                <a:solidFill>
                  <a:srgbClr val="002060"/>
                </a:solidFill>
              </a:rPr>
              <a:t>正常访问，因为继承了</a:t>
            </a:r>
            <a:r>
              <a:rPr lang="en-US" altLang="zh-CN" sz="1800" smtClean="0">
                <a:solidFill>
                  <a:srgbClr val="002060"/>
                </a:solidFill>
              </a:rPr>
              <a:t>Pet</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    }</a:t>
            </a:r>
            <a:endParaRPr lang="en-US" altLang="zh-CN" sz="1800" smtClean="0">
              <a:solidFill>
                <a:srgbClr val="002060"/>
              </a:solidFill>
            </a:endParaRPr>
          </a:p>
          <a:p>
            <a:pPr marL="457200" indent="-457200">
              <a:buFont typeface="Times New Roman" panose="02020603050405020304" charset="0"/>
              <a:buAutoNum type="arabicPeriod"/>
            </a:pPr>
            <a:r>
              <a:rPr lang="en-US" altLang="zh-CN" sz="1800" smtClean="0">
                <a:solidFill>
                  <a:srgbClr val="002060"/>
                </a:solidFill>
              </a:rPr>
              <a:t>}</a:t>
            </a:r>
            <a:endParaRPr lang="en-US" altLang="zh-CN" sz="1800" smtClean="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888355"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访问控制修饰符的总结</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a:lnSpc>
                <a:spcPct val="110000"/>
              </a:lnSpc>
              <a:buClr>
                <a:srgbClr val="ED7D31"/>
              </a:buClr>
              <a:buFont typeface="Wingdings" panose="05000000000000000000" charset="0"/>
              <a:buChar char="l"/>
            </a:pPr>
            <a:r>
              <a:rPr lang="zh-CN" altLang="en-US" sz="2000" smtClean="0">
                <a:ea typeface="宋体" panose="02010600030101010101" pitchFamily="2" charset="-122"/>
                <a:sym typeface="+mn-ea"/>
              </a:rPr>
              <a:t>四种访问控制修饰符影响成员不同的访问范围：</a:t>
            </a:r>
            <a:endParaRPr lang="zh-CN" altLang="en-US" sz="2000" smtClean="0">
              <a:ea typeface="宋体" panose="02010600030101010101" pitchFamily="2" charset="-122"/>
            </a:endParaRPr>
          </a:p>
          <a:p>
            <a:pPr marL="704850" lvl="1" indent="-361950">
              <a:lnSpc>
                <a:spcPct val="110000"/>
              </a:lnSpc>
              <a:buClr>
                <a:srgbClr val="ED7D31"/>
              </a:buClr>
            </a:pPr>
            <a:r>
              <a:rPr lang="en-US" altLang="zh-CN" sz="2000" smtClean="0">
                <a:solidFill>
                  <a:srgbClr val="ED7D31"/>
                </a:solidFill>
                <a:ea typeface="宋体" panose="02010600030101010101" pitchFamily="2" charset="-122"/>
                <a:sym typeface="+mn-ea"/>
              </a:rPr>
              <a:t>private  = </a:t>
            </a:r>
            <a:r>
              <a:rPr lang="zh-CN" altLang="en-US" sz="2000" smtClean="0">
                <a:solidFill>
                  <a:srgbClr val="ED7D31"/>
                </a:solidFill>
                <a:ea typeface="宋体" panose="02010600030101010101" pitchFamily="2" charset="-122"/>
                <a:sym typeface="+mn-ea"/>
              </a:rPr>
              <a:t>仅能被同类中的成员访问</a:t>
            </a:r>
            <a:endParaRPr lang="zh-CN" altLang="en-US" sz="2000" smtClean="0">
              <a:solidFill>
                <a:srgbClr val="ED7D31"/>
              </a:solidFill>
              <a:ea typeface="宋体" panose="02010600030101010101" pitchFamily="2" charset="-122"/>
            </a:endParaRPr>
          </a:p>
          <a:p>
            <a:pPr marL="704850" lvl="1" indent="-361950">
              <a:lnSpc>
                <a:spcPct val="110000"/>
              </a:lnSpc>
              <a:buClr>
                <a:srgbClr val="ED7D31"/>
              </a:buClr>
            </a:pPr>
            <a:r>
              <a:rPr lang="en-US" altLang="zh-CN" sz="2000" i="1" smtClean="0">
                <a:solidFill>
                  <a:srgbClr val="ED7D31"/>
                </a:solidFill>
                <a:ea typeface="宋体" panose="02010600030101010101" pitchFamily="2" charset="-122"/>
                <a:sym typeface="+mn-ea"/>
              </a:rPr>
              <a:t>default</a:t>
            </a:r>
            <a:r>
              <a:rPr lang="en-US" altLang="zh-CN" sz="2000" smtClean="0">
                <a:solidFill>
                  <a:srgbClr val="ED7D31"/>
                </a:solidFill>
                <a:ea typeface="宋体" panose="02010600030101010101" pitchFamily="2" charset="-122"/>
                <a:sym typeface="+mn-ea"/>
              </a:rPr>
              <a:t>  = private + </a:t>
            </a:r>
            <a:r>
              <a:rPr lang="zh-CN" altLang="en-US" sz="2000" smtClean="0">
                <a:solidFill>
                  <a:srgbClr val="ED7D31"/>
                </a:solidFill>
                <a:ea typeface="宋体" panose="02010600030101010101" pitchFamily="2" charset="-122"/>
                <a:sym typeface="+mn-ea"/>
              </a:rPr>
              <a:t>能被同包的其他类访问</a:t>
            </a:r>
            <a:endParaRPr lang="zh-CN" altLang="en-US" sz="2000" smtClean="0">
              <a:solidFill>
                <a:srgbClr val="ED7D31"/>
              </a:solidFill>
              <a:ea typeface="宋体" panose="02010600030101010101" pitchFamily="2" charset="-122"/>
            </a:endParaRPr>
          </a:p>
          <a:p>
            <a:pPr marL="704850" lvl="1" indent="-361950">
              <a:lnSpc>
                <a:spcPct val="110000"/>
              </a:lnSpc>
              <a:buClr>
                <a:srgbClr val="ED7D31"/>
              </a:buClr>
            </a:pPr>
            <a:r>
              <a:rPr lang="en-US" altLang="zh-CN" sz="2000" smtClean="0">
                <a:solidFill>
                  <a:srgbClr val="ED7D31"/>
                </a:solidFill>
                <a:ea typeface="宋体" panose="02010600030101010101" pitchFamily="2" charset="-122"/>
                <a:sym typeface="+mn-ea"/>
              </a:rPr>
              <a:t>protected  = </a:t>
            </a:r>
            <a:r>
              <a:rPr lang="en-US" altLang="zh-CN" sz="2000" i="1" smtClean="0">
                <a:solidFill>
                  <a:srgbClr val="ED7D31"/>
                </a:solidFill>
                <a:ea typeface="宋体" panose="02010600030101010101" pitchFamily="2" charset="-122"/>
                <a:sym typeface="+mn-ea"/>
              </a:rPr>
              <a:t>default</a:t>
            </a:r>
            <a:r>
              <a:rPr lang="en-US" altLang="zh-CN" sz="2000" smtClean="0">
                <a:solidFill>
                  <a:srgbClr val="ED7D31"/>
                </a:solidFill>
                <a:ea typeface="宋体" panose="02010600030101010101" pitchFamily="2" charset="-122"/>
                <a:sym typeface="+mn-ea"/>
              </a:rPr>
              <a:t> + </a:t>
            </a:r>
            <a:r>
              <a:rPr lang="zh-CN" altLang="en-US" sz="2000" smtClean="0">
                <a:solidFill>
                  <a:srgbClr val="ED7D31"/>
                </a:solidFill>
                <a:ea typeface="宋体" panose="02010600030101010101" pitchFamily="2" charset="-122"/>
                <a:sym typeface="+mn-ea"/>
              </a:rPr>
              <a:t>能被不同包的子类访问</a:t>
            </a:r>
            <a:endParaRPr lang="zh-CN" altLang="en-US" sz="2000" smtClean="0">
              <a:solidFill>
                <a:srgbClr val="ED7D31"/>
              </a:solidFill>
              <a:ea typeface="宋体" panose="02010600030101010101" pitchFamily="2" charset="-122"/>
            </a:endParaRPr>
          </a:p>
          <a:p>
            <a:pPr marL="704850" lvl="1" indent="-361950">
              <a:lnSpc>
                <a:spcPct val="110000"/>
              </a:lnSpc>
              <a:buClr>
                <a:srgbClr val="ED7D31"/>
              </a:buClr>
            </a:pPr>
            <a:r>
              <a:rPr lang="en-US" altLang="zh-CN" sz="2000" smtClean="0">
                <a:solidFill>
                  <a:srgbClr val="ED7D31"/>
                </a:solidFill>
                <a:ea typeface="宋体" panose="02010600030101010101" pitchFamily="2" charset="-122"/>
                <a:sym typeface="+mn-ea"/>
              </a:rPr>
              <a:t>public = </a:t>
            </a:r>
            <a:r>
              <a:rPr lang="zh-CN" altLang="en-US" sz="2000" smtClean="0">
                <a:solidFill>
                  <a:srgbClr val="ED7D31"/>
                </a:solidFill>
                <a:ea typeface="宋体" panose="02010600030101010101" pitchFamily="2" charset="-122"/>
                <a:sym typeface="+mn-ea"/>
              </a:rPr>
              <a:t>被任意访问</a:t>
            </a:r>
            <a:endParaRPr lang="zh-CN" altLang="en-US" sz="2000" smtClean="0">
              <a:solidFill>
                <a:srgbClr val="ED7D31"/>
              </a:solidFill>
              <a:ea typeface="宋体" panose="02010600030101010101" pitchFamily="2" charset="-122"/>
              <a:sym typeface="+mn-ea"/>
            </a:endParaRPr>
          </a:p>
          <a:p>
            <a:pPr marL="704850" lvl="1" indent="-361950">
              <a:lnSpc>
                <a:spcPct val="110000"/>
              </a:lnSpc>
              <a:buClr>
                <a:srgbClr val="ED7D31"/>
              </a:buClr>
            </a:pPr>
            <a:endParaRPr lang="zh-CN" altLang="en-US" sz="2000" smtClean="0">
              <a:solidFill>
                <a:srgbClr val="ED7D31"/>
              </a:solidFill>
              <a:ea typeface="宋体" panose="02010600030101010101" pitchFamily="2" charset="-122"/>
              <a:sym typeface="+mn-ea"/>
            </a:endParaRPr>
          </a:p>
          <a:p>
            <a:pPr marL="342900" lvl="1" indent="0">
              <a:buClr>
                <a:srgbClr val="ED7D31"/>
              </a:buClr>
              <a:buNone/>
            </a:pPr>
            <a:endParaRPr lang="zh-CN" altLang="en-US" sz="2000" dirty="0" err="1" smtClean="0">
              <a:solidFill>
                <a:srgbClr val="ED7D31"/>
              </a:solidFill>
              <a:ea typeface="宋体" panose="02010600030101010101" pitchFamily="2" charset="-122"/>
              <a:sym typeface="+mn-ea"/>
            </a:endParaRPr>
          </a:p>
        </p:txBody>
      </p:sp>
      <p:graphicFrame>
        <p:nvGraphicFramePr>
          <p:cNvPr id="3" name="表格 2"/>
          <p:cNvGraphicFramePr>
            <a:graphicFrameLocks noGrp="1"/>
          </p:cNvGraphicFramePr>
          <p:nvPr/>
        </p:nvGraphicFramePr>
        <p:xfrm>
          <a:off x="1394778" y="3185812"/>
          <a:ext cx="6769100" cy="2738757"/>
        </p:xfrm>
        <a:graphic>
          <a:graphicData uri="http://schemas.openxmlformats.org/drawingml/2006/table">
            <a:tbl>
              <a:tblPr/>
              <a:tblGrid>
                <a:gridCol w="1512887"/>
                <a:gridCol w="1295400"/>
                <a:gridCol w="1368425"/>
                <a:gridCol w="1296988"/>
                <a:gridCol w="1295400"/>
              </a:tblGrid>
              <a:tr h="548005">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rPr>
                        <a:t>修饰符</a:t>
                      </a:r>
                      <a:endPar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rPr>
                        <a:t>同类</a:t>
                      </a:r>
                      <a:endParaRPr kumimoji="0" lang="zh-CN" altLang="en-US" sz="1800" b="1" i="0" u="none" strike="noStrike" cap="none" normalizeH="0" baseline="0" dirty="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同包</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子类</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rPr>
                        <a:t>全局</a:t>
                      </a:r>
                      <a:endParaRPr kumimoji="0" lang="zh-CN" altLang="en-US" sz="1800" b="1" i="0" u="none" strike="noStrike" cap="none" normalizeH="0" baseline="0" smtClean="0">
                        <a:ln>
                          <a:noFill/>
                        </a:ln>
                        <a:solidFill>
                          <a:srgbClr val="FFFFFF"/>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547688">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charset="0"/>
                          <a:ea typeface="Gulim" pitchFamily="34" charset="-127"/>
                        </a:rPr>
                        <a:t>private </a:t>
                      </a:r>
                      <a:endParaRPr kumimoji="0" lang="zh-CN" alt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rPr>
                        <a:t>是</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547688">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00"/>
                          </a:solidFill>
                          <a:effectLst/>
                          <a:latin typeface="Times New Roman" panose="02020603050405020304" charset="0"/>
                          <a:ea typeface="Gulim" pitchFamily="34" charset="-127"/>
                        </a:rPr>
                        <a:t>default </a:t>
                      </a:r>
                      <a:endParaRPr kumimoji="0" lang="zh-CN" altLang="en-US" sz="1800" b="0" i="1"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rPr>
                        <a:t>是</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rPr>
                        <a:t>是</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r h="547688">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charset="0"/>
                          <a:ea typeface="Gulim" pitchFamily="34" charset="-127"/>
                        </a:rPr>
                        <a:t>protected </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rPr>
                        <a:t>是</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rPr>
                        <a:t>是</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rPr>
                        <a:t>是</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3D5D3"/>
                    </a:solidFill>
                  </a:tcPr>
                </a:tc>
              </a:tr>
              <a:tr h="547688">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charset="0"/>
                          <a:ea typeface="Gulim" pitchFamily="34" charset="-127"/>
                        </a:rPr>
                        <a:t>public </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rPr>
                        <a:t>是</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rPr>
                        <a:t>是</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rPr>
                        <a:t>是</a:t>
                      </a:r>
                      <a:endParaRPr kumimoji="0" lang="zh-CN" altLang="en-US" sz="1800" b="0" i="0" u="none" strike="noStrike" cap="none" normalizeH="0" baseline="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charset="0"/>
                          <a:ea typeface="Gulim" pitchFamily="34" charset="-127"/>
                        </a:rPr>
                        <a:t>是</a:t>
                      </a:r>
                      <a:endParaRPr kumimoji="0" lang="zh-CN" altLang="en-US" sz="1800" b="0" i="0" u="none" strike="noStrike" cap="none" normalizeH="0" baseline="0" dirty="0" smtClean="0">
                        <a:ln>
                          <a:noFill/>
                        </a:ln>
                        <a:solidFill>
                          <a:srgbClr val="000000"/>
                        </a:solidFill>
                        <a:effectLst/>
                        <a:latin typeface="Times New Roman" panose="02020603050405020304" charset="0"/>
                        <a:ea typeface="Gulim" pitchFamily="34" charset="-127"/>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BEA"/>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pic>
        <p:nvPicPr>
          <p:cNvPr id="6" name="图片 5" descr="5d0495981e06a4beefc1a7ac3c41024d"/>
          <p:cNvPicPr>
            <a:picLocks noChangeAspect="1"/>
          </p:cNvPicPr>
          <p:nvPr>
            <p:custDataLst>
              <p:tags r:id="rId1"/>
            </p:custDataLst>
          </p:nvPr>
        </p:nvPicPr>
        <p:blipFill>
          <a:blip r:embed="rId2"/>
          <a:srcRect r="68758"/>
          <a:stretch>
            <a:fillRect/>
          </a:stretch>
        </p:blipFill>
        <p:spPr>
          <a:xfrm>
            <a:off x="-114935" y="-242570"/>
            <a:ext cx="2454275" cy="1564005"/>
          </a:xfrm>
          <a:prstGeom prst="rect">
            <a:avLst/>
          </a:prstGeom>
        </p:spPr>
      </p:pic>
      <p:pic>
        <p:nvPicPr>
          <p:cNvPr id="2" name="图片 1" descr="5d0495981e06a4beefc1a7ac3c41024d"/>
          <p:cNvPicPr>
            <a:picLocks noChangeAspect="1"/>
          </p:cNvPicPr>
          <p:nvPr>
            <p:custDataLst>
              <p:tags r:id="rId3"/>
            </p:custDataLst>
          </p:nvPr>
        </p:nvPicPr>
        <p:blipFill>
          <a:blip r:embed="rId2"/>
          <a:srcRect l="30697"/>
          <a:stretch>
            <a:fillRect/>
          </a:stretch>
        </p:blipFill>
        <p:spPr>
          <a:xfrm>
            <a:off x="8673465" y="-348615"/>
            <a:ext cx="5215255" cy="1497965"/>
          </a:xfrm>
          <a:prstGeom prst="rect">
            <a:avLst/>
          </a:prstGeom>
        </p:spPr>
      </p:pic>
      <p:sp>
        <p:nvSpPr>
          <p:cNvPr id="24" name="直角三角形 23"/>
          <p:cNvSpPr/>
          <p:nvPr>
            <p:custDataLst>
              <p:tags r:id="rId4"/>
            </p:custDataLst>
          </p:nvPr>
        </p:nvSpPr>
        <p:spPr>
          <a:xfrm>
            <a:off x="-3175" y="6280785"/>
            <a:ext cx="10090150" cy="570865"/>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直角三角形 45"/>
          <p:cNvSpPr/>
          <p:nvPr>
            <p:custDataLst>
              <p:tags r:id="rId5"/>
            </p:custDataLst>
          </p:nvPr>
        </p:nvSpPr>
        <p:spPr>
          <a:xfrm flipH="1">
            <a:off x="1883410" y="6280785"/>
            <a:ext cx="10308590" cy="577215"/>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1" name="直接连接符 20"/>
          <p:cNvCxnSpPr/>
          <p:nvPr/>
        </p:nvCxnSpPr>
        <p:spPr>
          <a:xfrm>
            <a:off x="4209415" y="1847215"/>
            <a:ext cx="0" cy="315595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765675" y="1903730"/>
            <a:ext cx="3907155" cy="460375"/>
          </a:xfrm>
          <a:prstGeom prst="rect">
            <a:avLst/>
          </a:prstGeom>
          <a:noFill/>
        </p:spPr>
        <p:txBody>
          <a:bodyPr wrap="square" rtlCol="0">
            <a:spAutoFit/>
          </a:bodyPr>
          <a:lstStyle/>
          <a:p>
            <a:pPr marL="361950" indent="-361950" eaLnBrk="1" hangingPunct="1">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1.</a:t>
            </a:r>
            <a:r>
              <a:rPr lang="zh-CN" altLang="en-US" sz="2400" dirty="0" smtClean="0">
                <a:latin typeface="+mj-lt"/>
                <a:ea typeface="宋体" panose="02010600030101010101" pitchFamily="2" charset="-122"/>
                <a:sym typeface="+mn-ea"/>
              </a:rPr>
              <a:t>实例内部类</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25" name="矩形 24"/>
          <p:cNvSpPr/>
          <p:nvPr/>
        </p:nvSpPr>
        <p:spPr>
          <a:xfrm>
            <a:off x="195580" y="2648585"/>
            <a:ext cx="3884295" cy="1383665"/>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第十四章</a:t>
            </a:r>
            <a:endPar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rPr>
              <a:t>内部类</a:t>
            </a:r>
            <a:endParaRPr kumimoji="0" lang="zh-CN" altLang="en-US" sz="2400" b="1" i="0" u="none" strike="noStrike" kern="1200" cap="none" spc="300" normalizeH="0" baseline="0" noProof="0" dirty="0" smtClean="0">
              <a:ln>
                <a:noFill/>
              </a:ln>
              <a:solidFill>
                <a:srgbClr val="002060"/>
              </a:solidFill>
              <a:effectLst/>
              <a:uLnTx/>
              <a:uFillTx/>
              <a:latin typeface="Arial" panose="020B0604020202020204" pitchFamily="34" charset="0"/>
              <a:ea typeface="宋体" panose="02010600030101010101" pitchFamily="2" charset="-122"/>
              <a:sym typeface="+mn-ea"/>
            </a:endParaRPr>
          </a:p>
        </p:txBody>
      </p:sp>
      <p:sp>
        <p:nvSpPr>
          <p:cNvPr id="37" name="矩形 36"/>
          <p:cNvSpPr/>
          <p:nvPr/>
        </p:nvSpPr>
        <p:spPr>
          <a:xfrm>
            <a:off x="4765675" y="2750185"/>
            <a:ext cx="390715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2. </a:t>
            </a:r>
            <a:r>
              <a:rPr lang="zh-CN" altLang="en-US" sz="2400" dirty="0" smtClean="0">
                <a:solidFill>
                  <a:srgbClr val="ED7D31"/>
                </a:solidFill>
                <a:ea typeface="宋体" panose="02010600030101010101" pitchFamily="2" charset="-122"/>
                <a:sym typeface="+mn-ea"/>
              </a:rPr>
              <a:t>静态内部类</a:t>
            </a:r>
            <a:endParaRPr kumimoji="0" lang="zh-CN" altLang="en-US" sz="2400" b="0" i="0" u="none" strike="noStrike" kern="1200" cap="none" spc="0" normalizeH="0" baseline="0" noProof="0" dirty="0" smtClean="0">
              <a:ln>
                <a:noFill/>
              </a:ln>
              <a:solidFill>
                <a:srgbClr val="ED7D31"/>
              </a:solidFill>
              <a:effectLst/>
              <a:uLnTx/>
              <a:uFillTx/>
              <a:latin typeface="+mj-ea"/>
              <a:ea typeface="宋体" panose="02010600030101010101" pitchFamily="2" charset="-122"/>
              <a:cs typeface="+mj-ea"/>
              <a:sym typeface="+mn-ea"/>
            </a:endParaRPr>
          </a:p>
        </p:txBody>
      </p:sp>
      <p:sp>
        <p:nvSpPr>
          <p:cNvPr id="39" name="矩形 38"/>
          <p:cNvSpPr/>
          <p:nvPr/>
        </p:nvSpPr>
        <p:spPr>
          <a:xfrm>
            <a:off x="4765675" y="3524250"/>
            <a:ext cx="460184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rPr>
              <a:t>3. </a:t>
            </a:r>
            <a:r>
              <a:rPr lang="zh-CN" altLang="en-US" sz="2400" dirty="0" smtClean="0">
                <a:ea typeface="宋体" panose="02010600030101010101" pitchFamily="2" charset="-122"/>
                <a:sym typeface="+mn-ea"/>
              </a:rPr>
              <a:t>局部内部类</a:t>
            </a:r>
            <a:endParaRPr kumimoji="0" lang="zh-CN" altLang="en-US" sz="2400" b="0" i="0" u="none" strike="noStrike" kern="1200" cap="none" spc="0" normalizeH="0" baseline="0" noProof="0" dirty="0">
              <a:ln>
                <a:noFill/>
              </a:ln>
              <a:effectLst/>
              <a:uLnTx/>
              <a:uFillTx/>
              <a:latin typeface="+mj-ea"/>
              <a:ea typeface="+mj-ea"/>
              <a:cs typeface="+mj-ea"/>
              <a:sym typeface="思源黑体 CN Light" panose="020B0300000000000000" pitchFamily="34" charset="-122"/>
            </a:endParaRPr>
          </a:p>
        </p:txBody>
      </p:sp>
      <p:sp>
        <p:nvSpPr>
          <p:cNvPr id="4" name="矩形 3"/>
          <p:cNvSpPr/>
          <p:nvPr/>
        </p:nvSpPr>
        <p:spPr>
          <a:xfrm>
            <a:off x="4807585" y="4209415"/>
            <a:ext cx="4601845" cy="460375"/>
          </a:xfrm>
          <a:prstGeom prst="rect">
            <a:avLst/>
          </a:prstGeom>
          <a:noFill/>
        </p:spPr>
        <p:txBody>
          <a:bodyPr wrap="square" rtlCol="0">
            <a:spAutoFit/>
          </a:bodyPr>
          <a:p>
            <a:pPr marR="0" lvl="0" indent="0" algn="l" defTabSz="914400" rtl="0" eaLnBrk="1" fontAlgn="auto" latinLnBrk="0" hangingPunct="1">
              <a:lnSpc>
                <a:spcPct val="100000"/>
              </a:lnSpc>
              <a:spcBef>
                <a:spcPts val="0"/>
              </a:spcBef>
              <a:spcAft>
                <a:spcPts val="0"/>
              </a:spcAft>
              <a:buClrTx/>
              <a:buSzTx/>
              <a:buFont typeface="+mj-lt"/>
              <a:buNone/>
              <a:defRPr/>
            </a:pPr>
            <a:r>
              <a:rPr kumimoji="0" lang="en-US" altLang="zh-CN" sz="2400" b="0" i="0" u="none" strike="noStrike" kern="1200" cap="none" spc="0" normalizeH="0" baseline="0" noProof="0" dirty="0">
                <a:ln>
                  <a:noFill/>
                </a:ln>
                <a:solidFill>
                  <a:srgbClr val="ED7D31"/>
                </a:solidFill>
                <a:effectLst/>
                <a:uLnTx/>
                <a:uFillTx/>
                <a:latin typeface="+mj-ea"/>
                <a:ea typeface="+mj-ea"/>
                <a:cs typeface="+mj-ea"/>
                <a:sym typeface="思源黑体 CN Light" panose="020B0300000000000000" pitchFamily="34" charset="-122"/>
              </a:rPr>
              <a:t>4. </a:t>
            </a:r>
            <a:r>
              <a:rPr lang="zh-CN" altLang="en-US" sz="2400" dirty="0" smtClean="0">
                <a:solidFill>
                  <a:srgbClr val="ED7D31"/>
                </a:solidFill>
                <a:latin typeface="+mj-lt"/>
                <a:ea typeface="宋体" panose="02010600030101010101" pitchFamily="2" charset="-122"/>
                <a:sym typeface="+mn-ea"/>
              </a:rPr>
              <a:t>匿名内部类</a:t>
            </a:r>
            <a:endParaRPr kumimoji="0" lang="zh-CN" altLang="en-US" sz="2400" b="0" i="0" u="none" strike="noStrike" kern="1200" cap="none" spc="0" normalizeH="0" baseline="0" noProof="0" dirty="0" smtClean="0">
              <a:ln>
                <a:noFill/>
              </a:ln>
              <a:solidFill>
                <a:srgbClr val="ED7D31"/>
              </a:solidFill>
              <a:effectLst/>
              <a:uLnTx/>
              <a:uFillTx/>
              <a:latin typeface="+mj-lt"/>
              <a:ea typeface="宋体" panose="02010600030101010101" pitchFamily="2" charset="-122"/>
              <a:cs typeface="+mj-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23" grpId="0"/>
      <p:bldP spid="23" grpId="1"/>
      <p:bldP spid="25" grpId="0"/>
      <p:bldP spid="25" grpId="1" bldLvl="0" animBg="1"/>
      <p:bldP spid="37" grpId="0"/>
      <p:bldP spid="37" grpId="1"/>
      <p:bldP spid="39" grpId="0"/>
      <p:bldP spid="39" grpId="1"/>
    </p:bldLst>
  </p:timing>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第一节 </a:t>
            </a:r>
            <a:r>
              <a:rPr lang="zh-CN" altLang="en-US" sz="6665" dirty="0">
                <a:solidFill>
                  <a:schemeClr val="bg1"/>
                </a:solidFill>
                <a:latin typeface="Arial" panose="020B0604020202020204" pitchFamily="34" charset="0"/>
                <a:ea typeface="宋体" panose="02010600030101010101" pitchFamily="2" charset="-122"/>
                <a:sym typeface="+mn-ea"/>
              </a:rPr>
              <a:t>实例内部类</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888355"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实例内部类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lnSpcReduction="20000"/>
          </a:bodyPr>
          <a:p>
            <a:pPr marL="457200" indent="-457200" algn="l" eaLnBrk="1" hangingPunct="1">
              <a:lnSpc>
                <a:spcPct val="160000"/>
              </a:lnSpc>
              <a:buClr>
                <a:srgbClr val="ED7D31"/>
              </a:buClr>
              <a:buSzTx/>
              <a:buFont typeface="+mj-lt"/>
              <a:buAutoNum type="arabicPeriod"/>
            </a:pPr>
            <a:r>
              <a:rPr lang="zh-CN" altLang="en-US" sz="2000" dirty="0" err="1" smtClean="0">
                <a:ea typeface="宋体" panose="02010600030101010101" pitchFamily="2" charset="-122"/>
                <a:sym typeface="+mn-ea"/>
              </a:rPr>
              <a:t>内部类：就是类中又写了一个类，一般内部类是对外部类提供服务的，如果内部类还想对其他外部类提供服务，则不建议编写为内部类</a:t>
            </a:r>
            <a:endParaRPr lang="zh-CN" altLang="en-US" sz="2000" dirty="0" err="1" smtClean="0">
              <a:ea typeface="宋体" panose="02010600030101010101" pitchFamily="2" charset="-122"/>
              <a:sym typeface="+mn-ea"/>
            </a:endParaRPr>
          </a:p>
          <a:p>
            <a:pPr marL="457200" lvl="1" indent="0" algn="l" eaLnBrk="1" hangingPunct="1">
              <a:lnSpc>
                <a:spcPct val="160000"/>
              </a:lnSpc>
              <a:buClr>
                <a:srgbClr val="ED7D31"/>
              </a:buClr>
              <a:buSzTx/>
              <a:buFont typeface="+mj-lt"/>
              <a:buNone/>
            </a:pPr>
            <a:r>
              <a:rPr lang="en-US" altLang="zh-CN" sz="1200" dirty="0" err="1" smtClean="0">
                <a:ea typeface="宋体" panose="02010600030101010101" pitchFamily="2" charset="-122"/>
                <a:sym typeface="+mn-ea"/>
              </a:rPr>
              <a:t> </a:t>
            </a:r>
            <a:r>
              <a:rPr lang="en-US" altLang="zh-CN" sz="1600" dirty="0" err="1" smtClean="0">
                <a:ea typeface="宋体" panose="02010600030101010101" pitchFamily="2" charset="-122"/>
                <a:sym typeface="+mn-ea"/>
              </a:rPr>
              <a:t>class  </a:t>
            </a:r>
            <a:r>
              <a:rPr lang="zh-CN" altLang="en-US" sz="1600" dirty="0" err="1" smtClean="0">
                <a:ea typeface="宋体" panose="02010600030101010101" pitchFamily="2" charset="-122"/>
                <a:sym typeface="+mn-ea"/>
              </a:rPr>
              <a:t>外部类</a:t>
            </a:r>
            <a:r>
              <a:rPr lang="en-US" altLang="zh-CN" sz="1600" dirty="0" err="1" smtClean="0">
                <a:ea typeface="宋体" panose="02010600030101010101" pitchFamily="2" charset="-122"/>
                <a:sym typeface="+mn-ea"/>
              </a:rPr>
              <a:t>{</a:t>
            </a:r>
            <a:endParaRPr lang="en-US" altLang="zh-CN" sz="1600" dirty="0" err="1" smtClean="0">
              <a:ea typeface="宋体" panose="02010600030101010101" pitchFamily="2" charset="-122"/>
              <a:sym typeface="+mn-ea"/>
            </a:endParaRPr>
          </a:p>
          <a:p>
            <a:pPr marL="457200" lvl="1" indent="457200" algn="l" eaLnBrk="1" hangingPunct="1">
              <a:lnSpc>
                <a:spcPct val="160000"/>
              </a:lnSpc>
              <a:buClr>
                <a:srgbClr val="ED7D31"/>
              </a:buClr>
              <a:buSzTx/>
              <a:buFont typeface="+mj-lt"/>
              <a:buNone/>
            </a:pPr>
            <a:r>
              <a:rPr lang="en-US" altLang="zh-CN" sz="1600" dirty="0" err="1" smtClean="0">
                <a:ea typeface="宋体" panose="02010600030101010101" pitchFamily="2" charset="-122"/>
                <a:sym typeface="+mn-ea"/>
              </a:rPr>
              <a:t>class </a:t>
            </a:r>
            <a:r>
              <a:rPr lang="zh-CN" altLang="en-US" sz="1600" dirty="0" err="1" smtClean="0">
                <a:ea typeface="宋体" panose="02010600030101010101" pitchFamily="2" charset="-122"/>
                <a:sym typeface="+mn-ea"/>
              </a:rPr>
              <a:t>内部类</a:t>
            </a:r>
            <a:r>
              <a:rPr lang="en-US" altLang="zh-CN" sz="1600" dirty="0" err="1" smtClean="0">
                <a:ea typeface="宋体" panose="02010600030101010101" pitchFamily="2" charset="-122"/>
                <a:sym typeface="+mn-ea"/>
              </a:rPr>
              <a:t>{</a:t>
            </a:r>
            <a:endParaRPr lang="en-US" altLang="zh-CN" sz="1600" dirty="0" err="1" smtClean="0">
              <a:ea typeface="宋体" panose="02010600030101010101" pitchFamily="2" charset="-122"/>
              <a:sym typeface="+mn-ea"/>
            </a:endParaRPr>
          </a:p>
          <a:p>
            <a:pPr marL="457200" lvl="1" indent="457200" algn="l" eaLnBrk="1" hangingPunct="1">
              <a:lnSpc>
                <a:spcPct val="160000"/>
              </a:lnSpc>
              <a:buClr>
                <a:srgbClr val="ED7D31"/>
              </a:buClr>
              <a:buSzTx/>
              <a:buFont typeface="+mj-lt"/>
              <a:buNone/>
            </a:pPr>
            <a:r>
              <a:rPr lang="en-US" altLang="zh-CN" sz="1600" dirty="0" err="1" smtClean="0">
                <a:ea typeface="宋体" panose="02010600030101010101" pitchFamily="2" charset="-122"/>
                <a:sym typeface="+mn-ea"/>
              </a:rPr>
              <a:t>}</a:t>
            </a:r>
            <a:endParaRPr lang="en-US" altLang="zh-CN" sz="1600" dirty="0" err="1" smtClean="0">
              <a:ea typeface="宋体" panose="02010600030101010101" pitchFamily="2" charset="-122"/>
              <a:sym typeface="+mn-ea"/>
            </a:endParaRPr>
          </a:p>
          <a:p>
            <a:pPr marL="457200" lvl="1" indent="0" algn="l" eaLnBrk="1" hangingPunct="1">
              <a:lnSpc>
                <a:spcPct val="160000"/>
              </a:lnSpc>
              <a:buClr>
                <a:srgbClr val="ED7D31"/>
              </a:buClr>
              <a:buSzTx/>
              <a:buFont typeface="+mj-lt"/>
              <a:buNone/>
            </a:pPr>
            <a:r>
              <a:rPr lang="en-US" altLang="zh-CN" sz="1600" dirty="0" err="1" smtClean="0">
                <a:ea typeface="宋体" panose="02010600030101010101" pitchFamily="2" charset="-122"/>
                <a:sym typeface="+mn-ea"/>
              </a:rPr>
              <a:t>}</a:t>
            </a:r>
            <a:endParaRPr lang="en-US" altLang="zh-CN" sz="1600" dirty="0" err="1" smtClean="0">
              <a:ea typeface="宋体" panose="02010600030101010101" pitchFamily="2" charset="-122"/>
              <a:sym typeface="+mn-ea"/>
            </a:endParaRPr>
          </a:p>
          <a:p>
            <a:pPr marL="457200" indent="-457200" algn="l" eaLnBrk="1" hangingPunct="1">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创建实例内部类，外部类的实例必须已经创建</a:t>
            </a:r>
            <a:endParaRPr lang="en-US" altLang="zh-CN" sz="2000" dirty="0" err="1" smtClean="0">
              <a:ea typeface="宋体" panose="02010600030101010101" pitchFamily="2" charset="-122"/>
            </a:endParaRPr>
          </a:p>
          <a:p>
            <a:pPr marL="457200" lvl="0" indent="-457200" algn="l">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实例内部类会持有外部类的引用(this)</a:t>
            </a:r>
            <a:r>
              <a:rPr lang="zh-CN" altLang="en-US" sz="2000" dirty="0" err="1" smtClean="0">
                <a:ea typeface="宋体" panose="02010600030101010101" pitchFamily="2" charset="-122"/>
                <a:sym typeface="+mn-ea"/>
              </a:rPr>
              <a:t>，可以访问外部类的属性（成员变量和方法）</a:t>
            </a:r>
            <a:endParaRPr lang="zh-CN" altLang="en-US" sz="2000" dirty="0" err="1" smtClean="0">
              <a:ea typeface="宋体" panose="02010600030101010101" pitchFamily="2" charset="-122"/>
              <a:sym typeface="+mn-ea"/>
            </a:endParaRPr>
          </a:p>
          <a:p>
            <a:pPr marL="457200" lvl="0" indent="-457200" algn="l">
              <a:lnSpc>
                <a:spcPct val="160000"/>
              </a:lnSpc>
              <a:buClr>
                <a:srgbClr val="ED7D31"/>
              </a:buClr>
              <a:buSzTx/>
              <a:buFont typeface="+mj-lt"/>
              <a:buAutoNum type="arabicPeriod"/>
            </a:pPr>
            <a:r>
              <a:rPr lang="zh-CN" altLang="en-US" sz="2000" dirty="0" err="1" smtClean="0">
                <a:ea typeface="宋体" panose="02010600030101010101" pitchFamily="2" charset="-122"/>
                <a:sym typeface="+mn-ea"/>
              </a:rPr>
              <a:t>外部类不能直接访问内部类的属性，必须要创建一个内部类的对象来访问</a:t>
            </a:r>
            <a:endParaRPr lang="en-US" altLang="zh-CN" sz="2000" dirty="0" err="1" smtClean="0">
              <a:ea typeface="宋体" panose="02010600030101010101" pitchFamily="2" charset="-122"/>
            </a:endParaRPr>
          </a:p>
          <a:p>
            <a:pPr marL="457200" lvl="0" indent="-457200" algn="l">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实例内部</a:t>
            </a:r>
            <a:r>
              <a:rPr lang="zh-CN" altLang="en-US" sz="2000" dirty="0" err="1" smtClean="0">
                <a:ea typeface="宋体" panose="02010600030101010101" pitchFamily="2" charset="-122"/>
                <a:sym typeface="+mn-ea"/>
              </a:rPr>
              <a:t>类中可以</a:t>
            </a:r>
            <a:r>
              <a:rPr lang="en-US" altLang="zh-CN" sz="2000" dirty="0" err="1" smtClean="0">
                <a:ea typeface="宋体" panose="02010600030101010101" pitchFamily="2" charset="-122"/>
                <a:sym typeface="+mn-ea"/>
              </a:rPr>
              <a:t>定义static成员</a:t>
            </a:r>
            <a:endParaRPr lang="en-US" altLang="zh-CN" sz="2000" dirty="0" err="1"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82994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dirty="0" smtClean="0">
                <a:ea typeface="宋体" panose="02010600030101010101" pitchFamily="2" charset="-122"/>
                <a:sym typeface="+mn-ea"/>
              </a:rPr>
              <a:t>实例内部类</a:t>
            </a:r>
            <a:endParaRPr lang="en-US" altLang="zh-CN" sz="2400" smtClean="0">
              <a:ea typeface="宋体" panose="02010600030101010101" pitchFamily="2" charset="-122"/>
            </a:endParaRPr>
          </a:p>
          <a:p>
            <a:pPr eaLnBrk="1" hangingPunct="1"/>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class OuterClass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int x = 20;</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int y = 30;</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OuterClass(int x, int y)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this.x = x;</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this.y = y;</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 1：实例内部类</a:t>
            </a:r>
            <a:r>
              <a:rPr lang="zh-CN" sz="1200" smtClean="0">
                <a:ea typeface="宋体" panose="02010600030101010101" pitchFamily="2" charset="-122"/>
              </a:rPr>
              <a:t>可以</a:t>
            </a:r>
            <a:r>
              <a:rPr sz="1200" smtClean="0">
                <a:ea typeface="宋体" panose="02010600030101010101" pitchFamily="2" charset="-122"/>
              </a:rPr>
              <a:t>包含静态的属性</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 2：内部类持有外部类的引用</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 3:内部类可以直接访问私有属性</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a:t>
            </a:r>
            <a:r>
              <a:rPr sz="1200" smtClean="0">
                <a:solidFill>
                  <a:srgbClr val="FF0000"/>
                </a:solidFill>
                <a:ea typeface="宋体" panose="02010600030101010101" pitchFamily="2" charset="-122"/>
              </a:rPr>
              <a:t>class </a:t>
            </a:r>
            <a:r>
              <a:rPr sz="1200" smtClean="0">
                <a:ea typeface="宋体" panose="02010600030101010101" pitchFamily="2" charset="-122"/>
              </a:rPr>
              <a:t>InnerClass{</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int max(){</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x &gt; y ? x:y;</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int x = 60;</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int max(){//内部类持有外部类的引用</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OuterClass.this.x &gt; y ? OuterClass.this.x:y;</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class Test{</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static void main(String[] args)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  OuterClass outerClass = new OuterClass(20,30);</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OuterClass.InnerClass innerClass = outerClass.new InnerClass();*/</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OuterClass.InnerClass innerClass  = </a:t>
            </a:r>
            <a:r>
              <a:rPr sz="1200" smtClean="0">
                <a:solidFill>
                  <a:srgbClr val="FF0000"/>
                </a:solidFill>
                <a:ea typeface="宋体" panose="02010600030101010101" pitchFamily="2" charset="-122"/>
              </a:rPr>
              <a:t>new OuterClass(20,30).new InnerClass()</a:t>
            </a:r>
            <a:r>
              <a:rPr sz="1200" smtClean="0">
                <a:ea typeface="宋体" panose="02010600030101010101" pitchFamily="2" charset="-122"/>
              </a:rPr>
              <a:t>;</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System.out.println(innerClass.max());</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第二节 </a:t>
            </a:r>
            <a:r>
              <a:rPr lang="zh-CN" altLang="en-US" sz="6665" dirty="0">
                <a:solidFill>
                  <a:schemeClr val="bg1"/>
                </a:solidFill>
                <a:latin typeface="Arial" panose="020B0604020202020204" pitchFamily="34" charset="0"/>
                <a:ea typeface="宋体" panose="02010600030101010101" pitchFamily="2" charset="-122"/>
                <a:sym typeface="+mn-ea"/>
              </a:rPr>
              <a:t>静态内部类</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888355"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静态内部类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lvl="0" indent="-457200" algn="l">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 </a:t>
            </a:r>
            <a:r>
              <a:rPr lang="zh-CN" altLang="en-US" sz="2000" dirty="0" err="1" smtClean="0">
                <a:ea typeface="宋体" panose="02010600030101010101" pitchFamily="2" charset="-122"/>
                <a:sym typeface="+mn-ea"/>
              </a:rPr>
              <a:t>在实例内部类前使用</a:t>
            </a:r>
            <a:r>
              <a:rPr lang="en-US" altLang="zh-CN" sz="2000" dirty="0" err="1" smtClean="0">
                <a:ea typeface="宋体" panose="02010600030101010101" pitchFamily="2" charset="-122"/>
                <a:sym typeface="+mn-ea"/>
              </a:rPr>
              <a:t>static</a:t>
            </a:r>
            <a:r>
              <a:rPr lang="zh-CN" altLang="en-US" sz="2000" dirty="0" err="1" smtClean="0">
                <a:ea typeface="宋体" panose="02010600030101010101" pitchFamily="2" charset="-122"/>
                <a:sym typeface="+mn-ea"/>
              </a:rPr>
              <a:t>修饰</a:t>
            </a:r>
            <a:endParaRPr lang="en-US" altLang="zh-CN" sz="2000" dirty="0" err="1" smtClean="0">
              <a:ea typeface="宋体" panose="02010600030101010101" pitchFamily="2" charset="-122"/>
              <a:sym typeface="+mn-ea"/>
            </a:endParaRPr>
          </a:p>
          <a:p>
            <a:pPr marL="457200" lvl="0" indent="-457200" algn="l">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静态内部类不会持有外部的类的引用，创建时可以不用创建外部类</a:t>
            </a:r>
            <a:endParaRPr lang="en-US" altLang="zh-CN" sz="2000" dirty="0" err="1" smtClean="0">
              <a:ea typeface="宋体" panose="02010600030101010101" pitchFamily="2" charset="-122"/>
              <a:sym typeface="+mn-ea"/>
            </a:endParaRPr>
          </a:p>
          <a:p>
            <a:pPr marL="0" lvl="0" indent="457200" algn="l">
              <a:lnSpc>
                <a:spcPct val="160000"/>
              </a:lnSpc>
              <a:buClr>
                <a:srgbClr val="ED7D31"/>
              </a:buClr>
              <a:buSzTx/>
              <a:buFont typeface="+mj-lt"/>
              <a:buNone/>
            </a:pPr>
            <a:r>
              <a:rPr lang="en-US" altLang="zh-CN" sz="2000" dirty="0" err="1" smtClean="0">
                <a:ea typeface="宋体" panose="02010600030101010101" pitchFamily="2" charset="-122"/>
              </a:rPr>
              <a:t>OuterClass.InnerClass innerClass = new OuterClass.InnerClass();</a:t>
            </a:r>
            <a:endParaRPr lang="en-US" altLang="zh-CN" sz="2000" dirty="0" err="1" smtClean="0">
              <a:ea typeface="宋体" panose="02010600030101010101" pitchFamily="2" charset="-122"/>
            </a:endParaRPr>
          </a:p>
          <a:p>
            <a:pPr marL="457200" lvl="0" indent="-457200" algn="l">
              <a:lnSpc>
                <a:spcPct val="160000"/>
              </a:lnSpc>
              <a:buClr>
                <a:srgbClr val="ED7D31"/>
              </a:buClr>
              <a:buSzTx/>
              <a:buFont typeface="+mj-lt"/>
              <a:buAutoNum type="arabicPeriod" startAt="3"/>
            </a:pPr>
            <a:r>
              <a:rPr lang="en-US" altLang="zh-CN" sz="2000" dirty="0" err="1" smtClean="0">
                <a:ea typeface="宋体" panose="02010600030101010101" pitchFamily="2" charset="-122"/>
                <a:sym typeface="+mn-ea"/>
              </a:rPr>
              <a:t>静态内部类可以访问外部的静态变量，</a:t>
            </a:r>
            <a:endParaRPr lang="en-US" altLang="zh-CN" sz="2000" dirty="0" err="1" smtClean="0">
              <a:ea typeface="宋体" panose="02010600030101010101" pitchFamily="2" charset="-122"/>
              <a:sym typeface="+mn-ea"/>
            </a:endParaRPr>
          </a:p>
          <a:p>
            <a:pPr marL="457200" lvl="0" indent="-457200" algn="l">
              <a:lnSpc>
                <a:spcPct val="160000"/>
              </a:lnSpc>
              <a:buClr>
                <a:srgbClr val="ED7D31"/>
              </a:buClr>
              <a:buSzTx/>
              <a:buFont typeface="+mj-lt"/>
              <a:buAutoNum type="arabicPeriod" startAt="3"/>
            </a:pPr>
            <a:r>
              <a:rPr lang="en-US" altLang="zh-CN" sz="2000" dirty="0" err="1" smtClean="0">
                <a:ea typeface="宋体" panose="02010600030101010101" pitchFamily="2" charset="-122"/>
                <a:sym typeface="+mn-ea"/>
              </a:rPr>
              <a:t>静态内部类</a:t>
            </a:r>
            <a:r>
              <a:rPr lang="en-US" altLang="zh-CN" sz="2000" dirty="0" err="1" smtClean="0">
                <a:ea typeface="宋体" panose="02010600030101010101" pitchFamily="2" charset="-122"/>
                <a:sym typeface="+mn-ea"/>
              </a:rPr>
              <a:t>如果访问外部类的</a:t>
            </a:r>
            <a:r>
              <a:rPr lang="en-US" altLang="zh-CN" sz="2000" dirty="0" err="1" smtClean="0">
                <a:ea typeface="宋体" panose="02010600030101010101" pitchFamily="2" charset="-122"/>
                <a:sym typeface="+mn-ea"/>
              </a:rPr>
              <a:t>实例变量必须通过外部类的实例访问</a:t>
            </a:r>
            <a:endParaRPr lang="en-US" altLang="zh-CN" sz="2000" dirty="0" err="1"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82994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dirty="0" smtClean="0">
                <a:ea typeface="宋体" panose="02010600030101010101" pitchFamily="2" charset="-122"/>
                <a:sym typeface="+mn-ea"/>
              </a:rPr>
              <a:t>静态内部类</a:t>
            </a:r>
            <a:endParaRPr lang="en-US" altLang="zh-CN" sz="2400" smtClean="0">
              <a:ea typeface="宋体" panose="02010600030101010101" pitchFamily="2" charset="-122"/>
            </a:endParaRPr>
          </a:p>
          <a:p>
            <a:pPr eaLnBrk="1" hangingPunct="1"/>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class OuterClass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static int x = 20;</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private  int y = 30;</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static class InnerClass{</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 静态内部类，不可以直接访问外部类的实例变量,</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 可以访问实例内部类的静态变量</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 @return</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int getX(){</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System.out.println(new OuterClass().y);//静态内部类如果访问外部类的实例变量必须通过外部类的实例访问</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x;//静态内部类可以访问外部的静态变量，</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class Test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static void main(String[] args)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OuterClass.InnerClass innerClass = new OuterClass.InnerClass();</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System.out.println(innerClass.getX());</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第三节 </a:t>
            </a:r>
            <a:r>
              <a:rPr lang="zh-CN" altLang="en-US" sz="6665" dirty="0">
                <a:solidFill>
                  <a:schemeClr val="bg1"/>
                </a:solidFill>
                <a:latin typeface="Arial" panose="020B0604020202020204" pitchFamily="34" charset="0"/>
                <a:ea typeface="宋体" panose="02010600030101010101" pitchFamily="2" charset="-122"/>
                <a:sym typeface="+mn-ea"/>
              </a:rPr>
              <a:t>局部内部类</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888355"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局部内部类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lvl="0" indent="-457200" algn="l">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局部内部类是在方法中定义的，它只能在当前方法中使用。和局部变量的作用一样</a:t>
            </a:r>
            <a:endParaRPr lang="en-US" altLang="zh-CN" sz="2000" dirty="0" err="1" smtClean="0">
              <a:ea typeface="宋体" panose="02010600030101010101" pitchFamily="2" charset="-122"/>
            </a:endParaRPr>
          </a:p>
          <a:p>
            <a:pPr marL="457200" lvl="0" indent="-457200" algn="l">
              <a:lnSpc>
                <a:spcPct val="160000"/>
              </a:lnSpc>
              <a:buClr>
                <a:srgbClr val="ED7D31"/>
              </a:buClr>
              <a:buSzTx/>
              <a:buFont typeface="+mj-lt"/>
              <a:buAutoNum type="arabicPeriod"/>
            </a:pPr>
            <a:r>
              <a:rPr lang="zh-CN" altLang="en-US" sz="2000" dirty="0" err="1" smtClean="0">
                <a:ea typeface="宋体" panose="02010600030101010101" pitchFamily="2" charset="-122"/>
                <a:sym typeface="+mn-ea"/>
              </a:rPr>
              <a:t>类</a:t>
            </a:r>
            <a:r>
              <a:rPr lang="en-US" altLang="zh-CN" sz="2000" dirty="0" err="1" smtClean="0">
                <a:ea typeface="宋体" panose="02010600030101010101" pitchFamily="2" charset="-122"/>
                <a:sym typeface="+mn-ea"/>
              </a:rPr>
              <a:t>不可以使用权限修饰（public，protected，private）修饰符修饰</a:t>
            </a:r>
            <a:endParaRPr lang="en-US" altLang="zh-CN" sz="2000" dirty="0" err="1" smtClean="0">
              <a:ea typeface="宋体" panose="02010600030101010101" pitchFamily="2" charset="-122"/>
              <a:sym typeface="+mn-ea"/>
            </a:endParaRPr>
          </a:p>
          <a:p>
            <a:pPr marL="457200" lvl="0" indent="-457200" algn="l">
              <a:lnSpc>
                <a:spcPct val="160000"/>
              </a:lnSpc>
              <a:buClr>
                <a:srgbClr val="ED7D31"/>
              </a:buClr>
              <a:buSzTx/>
              <a:buFont typeface="+mj-lt"/>
              <a:buAutoNum type="arabicPeriod"/>
            </a:pPr>
            <a:r>
              <a:rPr lang="zh-CN" altLang="en-US" sz="2000" dirty="0" err="1" smtClean="0">
                <a:ea typeface="宋体" panose="02010600030101010101" pitchFamily="2" charset="-122"/>
                <a:sym typeface="+mn-ea"/>
              </a:rPr>
              <a:t>类</a:t>
            </a:r>
            <a:r>
              <a:rPr lang="en-US" altLang="zh-CN" sz="2000" dirty="0" err="1" smtClean="0">
                <a:ea typeface="宋体" panose="02010600030101010101" pitchFamily="2" charset="-122"/>
                <a:sym typeface="+mn-ea"/>
              </a:rPr>
              <a:t>可以用final修饰</a:t>
            </a:r>
            <a:r>
              <a:rPr lang="zh-CN" altLang="en-US" sz="2000" dirty="0" err="1" smtClean="0">
                <a:ea typeface="宋体" panose="02010600030101010101" pitchFamily="2" charset="-122"/>
                <a:sym typeface="+mn-ea"/>
              </a:rPr>
              <a:t>，不可以使用</a:t>
            </a:r>
            <a:r>
              <a:rPr lang="en-US" altLang="zh-CN" sz="2000" dirty="0" err="1" smtClean="0">
                <a:ea typeface="宋体" panose="02010600030101010101" pitchFamily="2" charset="-122"/>
                <a:sym typeface="+mn-ea"/>
              </a:rPr>
              <a:t>static</a:t>
            </a:r>
            <a:r>
              <a:rPr lang="zh-CN" altLang="en-US" sz="2000" dirty="0" err="1" smtClean="0">
                <a:ea typeface="宋体" panose="02010600030101010101" pitchFamily="2" charset="-122"/>
                <a:sym typeface="+mn-ea"/>
              </a:rPr>
              <a:t>修饰</a:t>
            </a:r>
            <a:endParaRPr lang="en-US" altLang="zh-CN" sz="2000" dirty="0" err="1" smtClean="0">
              <a:ea typeface="宋体" panose="02010600030101010101" pitchFamily="2" charset="-122"/>
              <a:sym typeface="+mn-ea"/>
            </a:endParaRPr>
          </a:p>
          <a:p>
            <a:pPr marL="457200" lvl="0" indent="-457200" algn="l">
              <a:lnSpc>
                <a:spcPct val="160000"/>
              </a:lnSpc>
              <a:buClr>
                <a:srgbClr val="ED7D31"/>
              </a:buClr>
              <a:buSzTx/>
              <a:buFont typeface="+mj-lt"/>
              <a:buAutoNum type="arabicPeriod"/>
            </a:pPr>
            <a:r>
              <a:rPr lang="en-US" altLang="zh-CN" sz="2000" dirty="0" err="1" smtClean="0">
                <a:ea typeface="宋体" panose="02010600030101010101" pitchFamily="2" charset="-122"/>
                <a:sym typeface="+mn-ea"/>
              </a:rPr>
              <a:t>局部类别类中可以包含静态属性</a:t>
            </a:r>
            <a:endParaRPr lang="en-US" altLang="zh-CN" sz="2000" dirty="0" err="1"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dirty="0" smtClean="0">
                <a:ea typeface="宋体" panose="02010600030101010101" pitchFamily="2" charset="-122"/>
                <a:sym typeface="+mn-ea"/>
              </a:rPr>
              <a:t>局部内部类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public class OuterClass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OuterClass()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void printMax(int x , int y){</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 局部内部类:</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      1：不可以使用权限修饰（public，protected，private）修饰符修饰</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      2：可以用final修饰</a:t>
            </a:r>
            <a:r>
              <a:rPr lang="en-US" sz="1200" smtClean="0">
                <a:ea typeface="宋体" panose="02010600030101010101" pitchFamily="2" charset="-122"/>
              </a:rPr>
              <a:t>,</a:t>
            </a:r>
            <a:r>
              <a:rPr lang="zh-CN" altLang="en-US" sz="1200" smtClean="0">
                <a:ea typeface="宋体" panose="02010600030101010101" pitchFamily="2" charset="-122"/>
              </a:rPr>
              <a:t>不可以使用</a:t>
            </a:r>
            <a:r>
              <a:rPr lang="en-US" altLang="zh-CN" sz="1200" smtClean="0">
                <a:ea typeface="宋体" panose="02010600030101010101" pitchFamily="2" charset="-122"/>
              </a:rPr>
              <a:t>static</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      3：局部类别类中可以包含静态属性</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class InnerClass{</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static String  name = "张三";</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r>
              <a:rPr lang="en-US" sz="1200" smtClean="0">
                <a:ea typeface="宋体" panose="02010600030101010101" pitchFamily="2" charset="-122"/>
              </a:rPr>
              <a:t> </a:t>
            </a:r>
            <a:r>
              <a:rPr sz="1200" smtClean="0">
                <a:ea typeface="宋体" panose="02010600030101010101" pitchFamily="2" charset="-122"/>
              </a:rPr>
              <a:t> public int max(){</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return x &gt; y ? x :y;</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r>
              <a:rPr lang="en-US" sz="1200" smtClean="0">
                <a:ea typeface="宋体" panose="02010600030101010101" pitchFamily="2" charset="-122"/>
              </a:rPr>
              <a:t> </a:t>
            </a: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System.out.println(new InnerClass().max());</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System.out.println(InnerClass.name);</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class Test{</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public static void main(String[] args)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new OuterClass().printMax(20,30);</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    }</a:t>
            </a:r>
            <a:endParaRPr sz="1200" smtClean="0">
              <a:ea typeface="宋体" panose="02010600030101010101" pitchFamily="2" charset="-122"/>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rPr>
              <a:t>}</a:t>
            </a:r>
            <a:endParaRPr sz="120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
          <a:stretch>
            <a:fillRect/>
          </a:stretch>
        </p:blipFill>
        <p:spPr>
          <a:xfrm rot="10800000">
            <a:off x="-175895" y="-695325"/>
            <a:ext cx="7391400" cy="1781175"/>
          </a:xfrm>
          <a:prstGeom prst="rect">
            <a:avLst/>
          </a:prstGeom>
        </p:spPr>
      </p:pic>
      <p:cxnSp>
        <p:nvCxnSpPr>
          <p:cNvPr id="6" name="图形"/>
          <p:cNvCxnSpPr/>
          <p:nvPr/>
        </p:nvCxnSpPr>
        <p:spPr>
          <a:xfrm>
            <a:off x="10724254" y="4732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图形"/>
          <p:cNvCxnSpPr/>
          <p:nvPr/>
        </p:nvCxnSpPr>
        <p:spPr>
          <a:xfrm>
            <a:off x="10851254" y="4859020"/>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1"/>
          <p:cNvSpPr>
            <a:spLocks noChangeArrowheads="1"/>
          </p:cNvSpPr>
          <p:nvPr/>
        </p:nvSpPr>
        <p:spPr bwMode="auto">
          <a:xfrm rot="16200000">
            <a:off x="5100320" y="-2667000"/>
            <a:ext cx="1991360" cy="12192000"/>
          </a:xfrm>
          <a:prstGeom prst="rect">
            <a:avLst/>
          </a:prstGeom>
          <a:solidFill>
            <a:srgbClr val="ED7D31"/>
          </a:solidFill>
          <a:ln>
            <a:solidFill>
              <a:schemeClr val="bg1">
                <a:lumMod val="75000"/>
              </a:schemeClr>
            </a:solidFill>
          </a:ln>
        </p:spPr>
        <p:txBody>
          <a:bodyPr vert="horz" wrap="square" lIns="68573" tIns="34286" rIns="68573" bIns="34286" numCol="1" anchor="t" anchorCtr="0" compatLnSpc="1"/>
          <a:p>
            <a:endParaRPr lang="zh-CN" altLang="en-US" sz="1000" dirty="0">
              <a:solidFill>
                <a:schemeClr val="tx1">
                  <a:lumMod val="75000"/>
                  <a:lumOff val="25000"/>
                </a:schemeClr>
              </a:solidFill>
              <a:latin typeface="思源黑体 CN Normal" panose="020B0400000000000000" pitchFamily="34" charset="-122"/>
              <a:ea typeface="思源黑体 CN Normal" panose="020B0400000000000000" pitchFamily="34" charset="-122"/>
              <a:cs typeface="+mn-ea"/>
              <a:sym typeface="+mn-lt"/>
            </a:endParaRPr>
          </a:p>
        </p:txBody>
      </p:sp>
      <p:pic>
        <p:nvPicPr>
          <p:cNvPr id="28" name="图片 27" descr="5d0495981e06a4beefc1a7ac3c41024d"/>
          <p:cNvPicPr>
            <a:picLocks noChangeAspect="1"/>
          </p:cNvPicPr>
          <p:nvPr>
            <p:custDataLst>
              <p:tags r:id="rId2"/>
            </p:custDataLst>
          </p:nvPr>
        </p:nvPicPr>
        <p:blipFill>
          <a:blip r:embed="rId3"/>
          <a:srcRect r="68758"/>
          <a:stretch>
            <a:fillRect/>
          </a:stretch>
        </p:blipFill>
        <p:spPr>
          <a:xfrm>
            <a:off x="-86995" y="-185420"/>
            <a:ext cx="2454275" cy="1564005"/>
          </a:xfrm>
          <a:prstGeom prst="rect">
            <a:avLst/>
          </a:prstGeom>
        </p:spPr>
      </p:pic>
      <p:pic>
        <p:nvPicPr>
          <p:cNvPr id="29" name="图片 28" descr="5d0495981e06a4beefc1a7ac3c41024d"/>
          <p:cNvPicPr>
            <a:picLocks noChangeAspect="1"/>
          </p:cNvPicPr>
          <p:nvPr>
            <p:custDataLst>
              <p:tags r:id="rId4"/>
            </p:custDataLst>
          </p:nvPr>
        </p:nvPicPr>
        <p:blipFill>
          <a:blip r:embed="rId3"/>
          <a:srcRect l="30697"/>
          <a:stretch>
            <a:fillRect/>
          </a:stretch>
        </p:blipFill>
        <p:spPr>
          <a:xfrm>
            <a:off x="9156700" y="-318135"/>
            <a:ext cx="5215255" cy="1497965"/>
          </a:xfrm>
          <a:prstGeom prst="rect">
            <a:avLst/>
          </a:prstGeom>
        </p:spPr>
      </p:pic>
      <p:cxnSp>
        <p:nvCxnSpPr>
          <p:cNvPr id="30" name="直接连接符 29"/>
          <p:cNvCxnSpPr/>
          <p:nvPr>
            <p:custDataLst>
              <p:tags r:id="rId5"/>
            </p:custDataLst>
          </p:nvPr>
        </p:nvCxnSpPr>
        <p:spPr>
          <a:xfrm>
            <a:off x="2390775" y="596900"/>
            <a:ext cx="9801225" cy="2095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9218" name="标题 1"/>
          <p:cNvSpPr>
            <a:spLocks noGrp="1"/>
          </p:cNvSpPr>
          <p:nvPr>
            <p:ph type="ctrTitle" sz="quarter" idx="4294967295"/>
          </p:nvPr>
        </p:nvSpPr>
        <p:spPr>
          <a:xfrm>
            <a:off x="0" y="3137535"/>
            <a:ext cx="12305030" cy="860425"/>
          </a:xfrm>
        </p:spPr>
        <p:txBody>
          <a:bodyPr anchor="b">
            <a:normAutofit fontScale="90000"/>
          </a:bodyPr>
          <a:p>
            <a:pPr algn="ctr"/>
            <a:r>
              <a:rPr lang="zh-CN" altLang="en-US" sz="6665" dirty="0">
                <a:solidFill>
                  <a:schemeClr val="bg1"/>
                </a:solidFill>
                <a:latin typeface="Arial" panose="020B0604020202020204" pitchFamily="34" charset="0"/>
                <a:ea typeface="宋体" panose="02010600030101010101" pitchFamily="2" charset="-122"/>
              </a:rPr>
              <a:t>第四节 </a:t>
            </a:r>
            <a:r>
              <a:rPr lang="zh-CN" altLang="en-US" sz="6665" dirty="0">
                <a:solidFill>
                  <a:schemeClr val="bg1"/>
                </a:solidFill>
                <a:latin typeface="Arial" panose="020B0604020202020204" pitchFamily="34" charset="0"/>
                <a:ea typeface="宋体" panose="02010600030101010101" pitchFamily="2" charset="-122"/>
                <a:sym typeface="+mn-ea"/>
              </a:rPr>
              <a:t>匿名内部类</a:t>
            </a:r>
            <a:endParaRPr lang="zh-CN" altLang="en-US" sz="6665" dirty="0">
              <a:solidFill>
                <a:schemeClr val="bg1"/>
              </a:solidFill>
              <a:latin typeface="Arial" panose="020B0604020202020204" pitchFamily="34" charset="0"/>
              <a:ea typeface="宋体" panose="02010600030101010101" pitchFamily="2"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5888355" cy="460375"/>
          </a:xfrm>
          <a:prstGeom prst="rect">
            <a:avLst/>
          </a:prstGeom>
          <a:noFill/>
        </p:spPr>
        <p:txBody>
          <a:bodyPr wrap="square" rtlCol="0">
            <a:spAutoFit/>
          </a:bodyPr>
          <a:lstStyle/>
          <a:p>
            <a:pPr eaLnBrk="1" hangingPunct="1"/>
            <a:r>
              <a:rPr lang="zh-CN" altLang="en-US" sz="2400" dirty="0" smtClean="0">
                <a:ea typeface="宋体" panose="02010600030101010101" pitchFamily="2" charset="-122"/>
                <a:sym typeface="+mn-ea"/>
              </a:rPr>
              <a:t>匿名内部类</a:t>
            </a:r>
            <a:endParaRPr lang="zh-CN" altLang="en-US" sz="2400" b="1" spc="300" dirty="0">
              <a:solidFill>
                <a:schemeClr val="bg2">
                  <a:lumMod val="10000"/>
                </a:schemeClr>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27651" name="内容占位符 2"/>
          <p:cNvSpPr>
            <a:spLocks noGrp="1"/>
          </p:cNvSpPr>
          <p:nvPr>
            <p:ph idx="4294967295"/>
          </p:nvPr>
        </p:nvSpPr>
        <p:spPr>
          <a:xfrm>
            <a:off x="816610" y="1160145"/>
            <a:ext cx="10069195" cy="5031105"/>
          </a:xfrm>
        </p:spPr>
        <p:txBody>
          <a:bodyPr>
            <a:normAutofit/>
          </a:bodyPr>
          <a:p>
            <a:pPr marL="457200" lvl="0" indent="-457200" algn="l">
              <a:lnSpc>
                <a:spcPct val="160000"/>
              </a:lnSpc>
              <a:buClr>
                <a:srgbClr val="ED7D31"/>
              </a:buClr>
              <a:buSzTx/>
              <a:buFont typeface="+mj-lt"/>
              <a:buAutoNum type="arabicPeriod"/>
            </a:pPr>
            <a:r>
              <a:rPr lang="zh-CN" altLang="en-US" sz="2000" dirty="0" err="1" smtClean="0">
                <a:ea typeface="宋体" panose="02010600030101010101" pitchFamily="2" charset="-122"/>
                <a:sym typeface="+mn-ea"/>
              </a:rPr>
              <a:t>编写匿名内部类的前提，必须继承父类或者实现接口</a:t>
            </a:r>
            <a:endParaRPr lang="zh-CN" altLang="en-US" sz="2000" dirty="0" err="1" smtClean="0">
              <a:ea typeface="宋体" panose="02010600030101010101" pitchFamily="2" charset="-122"/>
              <a:sym typeface="+mn-ea"/>
            </a:endParaRPr>
          </a:p>
          <a:p>
            <a:pPr marL="457200" lvl="0" indent="-457200" algn="l">
              <a:lnSpc>
                <a:spcPct val="160000"/>
              </a:lnSpc>
              <a:buClr>
                <a:srgbClr val="ED7D31"/>
              </a:buClr>
              <a:buSzTx/>
              <a:buFont typeface="+mj-lt"/>
              <a:buAutoNum type="arabicPeriod"/>
            </a:pPr>
            <a:r>
              <a:rPr lang="zh-CN" altLang="en-US" sz="2000" dirty="0" err="1" smtClean="0">
                <a:ea typeface="宋体" panose="02010600030101010101" pitchFamily="2" charset="-122"/>
                <a:sym typeface="+mn-ea"/>
              </a:rPr>
              <a:t>匿名内部类，就是内部类的一种简写形式</a:t>
            </a:r>
            <a:endParaRPr lang="zh-CN" altLang="en-US" sz="2000" dirty="0" err="1" smtClean="0">
              <a:ea typeface="宋体" panose="02010600030101010101" pitchFamily="2" charset="-122"/>
              <a:sym typeface="+mn-ea"/>
            </a:endParaRPr>
          </a:p>
          <a:p>
            <a:pPr marL="457200" lvl="0" indent="-457200" algn="l">
              <a:lnSpc>
                <a:spcPct val="160000"/>
              </a:lnSpc>
              <a:buClr>
                <a:srgbClr val="ED7D31"/>
              </a:buClr>
              <a:buSzTx/>
              <a:buFont typeface="+mj-lt"/>
              <a:buAutoNum type="arabicPeriod"/>
            </a:pPr>
            <a:r>
              <a:rPr lang="zh-CN" altLang="en-US" sz="2000" dirty="0" err="1" smtClean="0">
                <a:ea typeface="宋体" panose="02010600030101010101" pitchFamily="2" charset="-122"/>
                <a:sym typeface="+mn-ea"/>
              </a:rPr>
              <a:t>什么时候编写匿名内部类</a:t>
            </a:r>
            <a:endParaRPr lang="zh-CN" altLang="en-US" sz="2000" dirty="0" err="1" smtClean="0">
              <a:ea typeface="宋体" panose="02010600030101010101" pitchFamily="2" charset="-122"/>
              <a:sym typeface="+mn-ea"/>
            </a:endParaRPr>
          </a:p>
          <a:p>
            <a:pPr marL="914400" lvl="1" indent="-457200" algn="l">
              <a:lnSpc>
                <a:spcPct val="160000"/>
              </a:lnSpc>
              <a:buClr>
                <a:srgbClr val="ED7D31"/>
              </a:buClr>
              <a:buSzTx/>
              <a:buFont typeface="+mj-lt"/>
              <a:buAutoNum type="arabicPeriod"/>
            </a:pPr>
            <a:r>
              <a:rPr lang="zh-CN" altLang="en-US" sz="1665" dirty="0" err="1" smtClean="0">
                <a:ea typeface="宋体" panose="02010600030101010101" pitchFamily="2" charset="-122"/>
                <a:sym typeface="+mn-ea"/>
              </a:rPr>
              <a:t>当这个类只创建一次对象时可以写匿名内部类</a:t>
            </a:r>
            <a:endParaRPr lang="zh-CN" altLang="en-US" sz="1665" dirty="0" err="1" smtClean="0">
              <a:ea typeface="宋体" panose="02010600030101010101" pitchFamily="2" charset="-122"/>
              <a:sym typeface="+mn-ea"/>
            </a:endParaRPr>
          </a:p>
          <a:p>
            <a:pPr marL="914400" lvl="1" indent="-457200" algn="l">
              <a:lnSpc>
                <a:spcPct val="160000"/>
              </a:lnSpc>
              <a:buClr>
                <a:srgbClr val="ED7D31"/>
              </a:buClr>
              <a:buSzTx/>
              <a:buFont typeface="+mj-lt"/>
              <a:buAutoNum type="arabicPeriod"/>
            </a:pPr>
            <a:r>
              <a:rPr lang="zh-CN" altLang="en-US" sz="1665" dirty="0" err="1" smtClean="0">
                <a:ea typeface="宋体" panose="02010600030101010101" pitchFamily="2" charset="-122"/>
                <a:sym typeface="+mn-ea"/>
              </a:rPr>
              <a:t>匿名内部类可是另一种形势的多继承</a:t>
            </a:r>
            <a:endParaRPr lang="zh-CN" altLang="en-US" sz="1665" dirty="0" err="1" smtClean="0">
              <a:ea typeface="宋体" panose="02010600030101010101" pitchFamily="2" charset="-122"/>
              <a:sym typeface="+mn-ea"/>
            </a:endParaRPr>
          </a:p>
          <a:p>
            <a:pPr marL="457200" lvl="0" indent="-457200" algn="l">
              <a:lnSpc>
                <a:spcPct val="160000"/>
              </a:lnSpc>
              <a:buClr>
                <a:srgbClr val="ED7D31"/>
              </a:buClr>
              <a:buSzTx/>
              <a:buFont typeface="+mj-lt"/>
              <a:buAutoNum type="arabicPeriod" startAt="4"/>
            </a:pPr>
            <a:r>
              <a:rPr lang="zh-CN" altLang="en-US" sz="2000" dirty="0" err="1" smtClean="0">
                <a:ea typeface="宋体" panose="02010600030101010101" pitchFamily="2" charset="-122"/>
                <a:sym typeface="+mn-ea"/>
              </a:rPr>
              <a:t>匿名内部类的场景</a:t>
            </a:r>
            <a:endParaRPr lang="zh-CN" altLang="en-US" sz="2000" dirty="0" err="1" smtClean="0">
              <a:ea typeface="宋体" panose="02010600030101010101" pitchFamily="2" charset="-122"/>
              <a:sym typeface="+mn-ea"/>
            </a:endParaRPr>
          </a:p>
          <a:p>
            <a:pPr marL="914400" lvl="1" indent="-457200" algn="l">
              <a:lnSpc>
                <a:spcPct val="160000"/>
              </a:lnSpc>
              <a:buClr>
                <a:srgbClr val="ED7D31"/>
              </a:buClr>
              <a:buSzTx/>
              <a:buFont typeface="+mj-lt"/>
              <a:buAutoNum type="arabicPeriod"/>
            </a:pPr>
            <a:r>
              <a:rPr lang="zh-CN" altLang="en-US" sz="1665" dirty="0" err="1" smtClean="0">
                <a:ea typeface="宋体" panose="02010600030101010101" pitchFamily="2" charset="-122"/>
                <a:sym typeface="+mn-ea"/>
              </a:rPr>
              <a:t>一般使用匿名内部类对象使用参数进行传递</a:t>
            </a:r>
            <a:endParaRPr lang="zh-CN" altLang="en-US" sz="1665" dirty="0" err="1" smtClean="0">
              <a:ea typeface="宋体" panose="02010600030101010101" pitchFamily="2" charset="-122"/>
              <a:sym typeface="+mn-ea"/>
            </a:endParaRPr>
          </a:p>
          <a:p>
            <a:pPr marL="914400" lvl="1" indent="-457200" algn="l">
              <a:lnSpc>
                <a:spcPct val="160000"/>
              </a:lnSpc>
              <a:buClr>
                <a:srgbClr val="ED7D31"/>
              </a:buClr>
              <a:buSzTx/>
              <a:buFont typeface="+mj-lt"/>
              <a:buAutoNum type="arabicPeriod"/>
            </a:pPr>
            <a:endParaRPr lang="zh-CN" altLang="en-US" sz="1665" dirty="0" err="1"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69240" y="272415"/>
            <a:ext cx="464820" cy="387350"/>
            <a:chOff x="541" y="471"/>
            <a:chExt cx="979" cy="852"/>
          </a:xfrm>
        </p:grpSpPr>
        <p:sp>
          <p:nvSpPr>
            <p:cNvPr id="9" name="圆角矩形 8"/>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10" name="圆角矩形 9"/>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5"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 name="文本框 5"/>
          <p:cNvSpPr txBox="1"/>
          <p:nvPr/>
        </p:nvSpPr>
        <p:spPr>
          <a:xfrm>
            <a:off x="1545590" y="242570"/>
            <a:ext cx="6463030" cy="460375"/>
          </a:xfrm>
          <a:prstGeom prst="rect">
            <a:avLst/>
          </a:prstGeom>
          <a:noFill/>
        </p:spPr>
        <p:txBody>
          <a:bodyPr wrap="square" rtlCol="0">
            <a:spAutoFit/>
          </a:bodyPr>
          <a:lstStyle/>
          <a:p>
            <a:pPr eaLnBrk="1" hangingPunct="1"/>
            <a:r>
              <a:rPr lang="zh-CN" altLang="en-US" sz="2400" smtClean="0">
                <a:ea typeface="宋体" panose="02010600030101010101" pitchFamily="2" charset="-122"/>
                <a:sym typeface="+mn-ea"/>
              </a:rPr>
              <a:t>示例 </a:t>
            </a:r>
            <a:r>
              <a:rPr lang="en-US" altLang="zh-CN" sz="2400" smtClean="0">
                <a:ea typeface="宋体" panose="02010600030101010101" pitchFamily="2" charset="-122"/>
                <a:sym typeface="+mn-ea"/>
              </a:rPr>
              <a:t>— </a:t>
            </a:r>
            <a:r>
              <a:rPr lang="zh-CN" altLang="en-US" sz="2400" dirty="0" smtClean="0">
                <a:ea typeface="宋体" panose="02010600030101010101" pitchFamily="2" charset="-122"/>
                <a:sym typeface="+mn-ea"/>
              </a:rPr>
              <a:t>匿名内部类</a:t>
            </a:r>
            <a:endParaRPr lang="zh-CN" altLang="en-US" sz="2400" b="1" spc="300" dirty="0">
              <a:solidFill>
                <a:srgbClr val="002060"/>
              </a:solidFill>
              <a:latin typeface="思源黑体 CN Bold" panose="020B0800000000000000" pitchFamily="34" charset="-122"/>
              <a:ea typeface="宋体" panose="02010600030101010101" pitchFamily="2" charset="-122"/>
              <a:sym typeface="+mn-ea"/>
            </a:endParaRPr>
          </a:p>
        </p:txBody>
      </p:sp>
      <p:sp>
        <p:nvSpPr>
          <p:cNvPr id="32" name="直角三角形 31"/>
          <p:cNvSpPr/>
          <p:nvPr>
            <p:custDataLst>
              <p:tags r:id="rId1"/>
            </p:custDataLst>
          </p:nvPr>
        </p:nvSpPr>
        <p:spPr>
          <a:xfrm>
            <a:off x="-3175" y="6311900"/>
            <a:ext cx="10012680" cy="539750"/>
          </a:xfrm>
          <a:prstGeom prst="rtTriangl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直角三角形 32"/>
          <p:cNvSpPr/>
          <p:nvPr>
            <p:custDataLst>
              <p:tags r:id="rId2"/>
            </p:custDataLst>
          </p:nvPr>
        </p:nvSpPr>
        <p:spPr>
          <a:xfrm flipH="1">
            <a:off x="1883410" y="6290310"/>
            <a:ext cx="10308590" cy="567690"/>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5d0495981e06a4beefc1a7ac3c41024d"/>
          <p:cNvPicPr>
            <a:picLocks noChangeAspect="1"/>
          </p:cNvPicPr>
          <p:nvPr>
            <p:custDataLst>
              <p:tags r:id="rId3"/>
            </p:custDataLst>
          </p:nvPr>
        </p:nvPicPr>
        <p:blipFill>
          <a:blip r:embed="rId4"/>
          <a:stretch>
            <a:fillRect/>
          </a:stretch>
        </p:blipFill>
        <p:spPr>
          <a:xfrm>
            <a:off x="8100060" y="-285115"/>
            <a:ext cx="5913120" cy="1445260"/>
          </a:xfrm>
          <a:prstGeom prst="rect">
            <a:avLst/>
          </a:prstGeom>
        </p:spPr>
      </p:pic>
      <p:sp>
        <p:nvSpPr>
          <p:cNvPr id="12" name="文本框 11"/>
          <p:cNvSpPr txBox="1"/>
          <p:nvPr/>
        </p:nvSpPr>
        <p:spPr>
          <a:xfrm>
            <a:off x="816610" y="220980"/>
            <a:ext cx="728980" cy="521970"/>
          </a:xfrm>
          <a:prstGeom prst="rect">
            <a:avLst/>
          </a:prstGeom>
          <a:noFill/>
        </p:spPr>
        <p:txBody>
          <a:bodyPr wrap="square" rtlCol="0" anchor="t">
            <a:noAutofit/>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lang="en-US" altLang="zh-CN" sz="2800" spc="30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116739" name="内容占位符 2"/>
          <p:cNvSpPr>
            <a:spLocks noGrp="1"/>
          </p:cNvSpPr>
          <p:nvPr>
            <p:ph idx="1"/>
          </p:nvPr>
        </p:nvSpPr>
        <p:spPr>
          <a:xfrm>
            <a:off x="1008380" y="909320"/>
            <a:ext cx="10765790" cy="5039995"/>
          </a:xfrm>
        </p:spPr>
        <p:txBody>
          <a:bodyPr>
            <a:noAutofit/>
          </a:bodyPr>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public  interface Pet {</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void eat();</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public  class Admin {</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//喂养</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public void feed(Pet pet){</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pet.eat();</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public class Test {</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public static void main(String[] args) {</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Admin admin = new Admin();</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admin.feed(new Pet() {//一般使用匿名内部类对象作为参数进行传递比较多</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@Override</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public void eat() {</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System.out.println("正在吃XX");</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    }</a:t>
            </a:r>
            <a:endParaRPr sz="1200" smtClean="0">
              <a:ea typeface="宋体" panose="02010600030101010101" pitchFamily="2" charset="-122"/>
              <a:sym typeface="+mn-ea"/>
            </a:endParaRPr>
          </a:p>
          <a:p>
            <a:pPr marL="361950" indent="-361950" eaLnBrk="1" hangingPunct="1">
              <a:spcBef>
                <a:spcPct val="0"/>
              </a:spcBef>
              <a:buFont typeface="Times New Roman" panose="02020603050405020304" charset="0"/>
              <a:buAutoNum type="arabicPeriod"/>
            </a:pPr>
            <a:r>
              <a:rPr sz="1200" smtClean="0">
                <a:ea typeface="宋体" panose="02010600030101010101" pitchFamily="2" charset="-122"/>
                <a:sym typeface="+mn-ea"/>
              </a:rPr>
              <a:t>}</a:t>
            </a:r>
            <a:endParaRPr sz="1200" smtClean="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直角三角形 79"/>
          <p:cNvSpPr/>
          <p:nvPr/>
        </p:nvSpPr>
        <p:spPr>
          <a:xfrm flipV="1">
            <a:off x="0" y="0"/>
            <a:ext cx="1537639" cy="1537639"/>
          </a:xfrm>
          <a:prstGeom prst="rtTriangle">
            <a:avLst/>
          </a:prstGeom>
          <a:solidFill>
            <a:srgbClr val="2C3173">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flipH="1">
            <a:off x="3412274" y="0"/>
            <a:ext cx="8132956" cy="68580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flipH="1">
            <a:off x="4059044" y="0"/>
            <a:ext cx="8132956" cy="68580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7627434" y="2283274"/>
            <a:ext cx="4564566" cy="4564566"/>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632575" y="1537335"/>
            <a:ext cx="4479290" cy="4239260"/>
          </a:xfrm>
          <a:prstGeom prst="ellipse">
            <a:avLst/>
          </a:prstGeom>
          <a:solidFill>
            <a:schemeClr val="bg1"/>
          </a:solidFill>
          <a:ln w="22225" cap="flat" cmpd="sng" algn="ctr">
            <a:noFill/>
            <a:prstDash val="solid"/>
            <a:miter lim="800000"/>
          </a:ln>
          <a:effectLst>
            <a:outerShdw blurRad="939800" dist="266700" sx="99000" sy="99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ea typeface="思源黑体 CN Medium" panose="020B0600000000000000" pitchFamily="34" charset="-122"/>
              <a:sym typeface="思源黑体 CN Medium" panose="020B0600000000000000" pitchFamily="34" charset="-122"/>
            </a:endParaRPr>
          </a:p>
        </p:txBody>
      </p:sp>
      <p:sp>
        <p:nvSpPr>
          <p:cNvPr id="14" name="椭圆 13"/>
          <p:cNvSpPr/>
          <p:nvPr/>
        </p:nvSpPr>
        <p:spPr>
          <a:xfrm>
            <a:off x="6837680" y="1727200"/>
            <a:ext cx="4105910" cy="3859530"/>
          </a:xfrm>
          <a:prstGeom prst="ellipse">
            <a:avLst/>
          </a:prstGeom>
          <a:noFill/>
          <a:ln>
            <a:solidFill>
              <a:srgbClr val="2C3173">
                <a:alpha val="32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1459B"/>
              </a:solidFill>
            </a:endParaRPr>
          </a:p>
        </p:txBody>
      </p:sp>
      <p:grpSp>
        <p:nvGrpSpPr>
          <p:cNvPr id="32" name="组合 31"/>
          <p:cNvGrpSpPr/>
          <p:nvPr/>
        </p:nvGrpSpPr>
        <p:grpSpPr>
          <a:xfrm>
            <a:off x="5434330" y="2151380"/>
            <a:ext cx="586105" cy="245110"/>
            <a:chOff x="8225" y="1632"/>
            <a:chExt cx="923" cy="386"/>
          </a:xfrm>
          <a:solidFill>
            <a:srgbClr val="002562"/>
          </a:solidFill>
        </p:grpSpPr>
        <p:grpSp>
          <p:nvGrpSpPr>
            <p:cNvPr id="6" name="组合 5"/>
            <p:cNvGrpSpPr/>
            <p:nvPr/>
          </p:nvGrpSpPr>
          <p:grpSpPr>
            <a:xfrm>
              <a:off x="8225" y="1632"/>
              <a:ext cx="416" cy="387"/>
              <a:chOff x="4218240" y="1782762"/>
              <a:chExt cx="525790" cy="489777"/>
            </a:xfrm>
            <a:grpFill/>
          </p:grpSpPr>
          <p:sp>
            <p:nvSpPr>
              <p:cNvPr id="77" name="椭圆 76"/>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8732" y="1632"/>
              <a:ext cx="416" cy="387"/>
              <a:chOff x="4218240" y="1782762"/>
              <a:chExt cx="525790" cy="489777"/>
            </a:xfrm>
            <a:grpFill/>
          </p:grpSpPr>
          <p:sp>
            <p:nvSpPr>
              <p:cNvPr id="3" name="椭圆 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1" name="组合 50"/>
          <p:cNvGrpSpPr/>
          <p:nvPr/>
        </p:nvGrpSpPr>
        <p:grpSpPr>
          <a:xfrm>
            <a:off x="10789920" y="5880100"/>
            <a:ext cx="586105" cy="245110"/>
            <a:chOff x="8225" y="1632"/>
            <a:chExt cx="923" cy="386"/>
          </a:xfrm>
          <a:solidFill>
            <a:srgbClr val="ED7D31"/>
          </a:solidFill>
        </p:grpSpPr>
        <p:grpSp>
          <p:nvGrpSpPr>
            <p:cNvPr id="52" name="组合 51"/>
            <p:cNvGrpSpPr/>
            <p:nvPr/>
          </p:nvGrpSpPr>
          <p:grpSpPr>
            <a:xfrm>
              <a:off x="8225" y="1632"/>
              <a:ext cx="416" cy="387"/>
              <a:chOff x="4218240" y="1782762"/>
              <a:chExt cx="525790" cy="489777"/>
            </a:xfrm>
            <a:grpFill/>
          </p:grpSpPr>
          <p:sp>
            <p:nvSpPr>
              <p:cNvPr id="53" name="椭圆 5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2" name="组合 61"/>
            <p:cNvGrpSpPr/>
            <p:nvPr/>
          </p:nvGrpSpPr>
          <p:grpSpPr>
            <a:xfrm>
              <a:off x="8732" y="1632"/>
              <a:ext cx="416" cy="387"/>
              <a:chOff x="4218240" y="1782762"/>
              <a:chExt cx="525790" cy="489777"/>
            </a:xfrm>
            <a:grpFill/>
          </p:grpSpPr>
          <p:sp>
            <p:nvSpPr>
              <p:cNvPr id="63" name="椭圆 6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83" name="PA_矩形 29"/>
          <p:cNvSpPr/>
          <p:nvPr>
            <p:custDataLst>
              <p:tags r:id="rId1"/>
            </p:custDataLst>
          </p:nvPr>
        </p:nvSpPr>
        <p:spPr>
          <a:xfrm>
            <a:off x="570123" y="2582387"/>
            <a:ext cx="5490317" cy="2062103"/>
          </a:xfrm>
          <a:prstGeom prst="rect">
            <a:avLst/>
          </a:prstGeom>
          <a:ln>
            <a:noFill/>
          </a:ln>
          <a:effectLst/>
        </p:spPr>
        <p:txBody>
          <a:bodyPr wrap="square">
            <a:spAutoFit/>
          </a:bodyPr>
          <a:lstStyle/>
          <a:p>
            <a:pPr algn="dist"/>
            <a:r>
              <a:rPr lang="zh-CN" altLang="en-US"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口口相传的</a:t>
            </a:r>
            <a:r>
              <a:rPr lang="en-US" altLang="zh-CN"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Java</a:t>
            </a:r>
            <a:r>
              <a:rPr lang="zh-CN" altLang="en-US"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黄埔军校</a:t>
            </a:r>
            <a:endParaRPr lang="zh-CN" altLang="en-US" sz="6400" b="1" dirty="0">
              <a:latin typeface="思源黑体 CN Bold" panose="020B0800000000000000" pitchFamily="34" charset="-122"/>
              <a:ea typeface="思源黑体 CN Bold" panose="020B0800000000000000" pitchFamily="34" charset="-122"/>
              <a:cs typeface="Open Sans" panose="020B0606030504020204" pitchFamily="34" charset="0"/>
            </a:endParaRPr>
          </a:p>
        </p:txBody>
      </p:sp>
      <p:sp>
        <p:nvSpPr>
          <p:cNvPr id="84" name="PA_圆角矩形 31"/>
          <p:cNvSpPr/>
          <p:nvPr>
            <p:custDataLst>
              <p:tags r:id="rId2"/>
            </p:custDataLst>
          </p:nvPr>
        </p:nvSpPr>
        <p:spPr>
          <a:xfrm>
            <a:off x="632213" y="5080777"/>
            <a:ext cx="1351751" cy="338839"/>
          </a:xfrm>
          <a:prstGeom prst="roundRect">
            <a:avLst/>
          </a:prstGeom>
          <a:solidFill>
            <a:srgbClr val="00235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a:t>
            </a:r>
            <a:endParaRPr lang="en-US" altLang="zh-CN" sz="1200" dirty="0">
              <a:solidFill>
                <a:schemeClr val="bg1"/>
              </a:solidFill>
              <a:latin typeface="思源黑体 CN Regular" panose="020B0500000000000000" pitchFamily="34" charset="-122"/>
              <a:ea typeface="思源黑体 CN Regular" panose="020B0500000000000000" pitchFamily="34" charset="-122"/>
            </a:endParaRPr>
          </a:p>
        </p:txBody>
      </p:sp>
      <p:sp>
        <p:nvSpPr>
          <p:cNvPr id="86" name="PA_圆角矩形 31"/>
          <p:cNvSpPr/>
          <p:nvPr>
            <p:custDataLst>
              <p:tags r:id="rId3"/>
            </p:custDataLst>
          </p:nvPr>
        </p:nvSpPr>
        <p:spPr>
          <a:xfrm>
            <a:off x="2720523" y="5080777"/>
            <a:ext cx="1351751" cy="338839"/>
          </a:xfrm>
          <a:prstGeom prst="roundRect">
            <a:avLst/>
          </a:prstGeom>
          <a:solidFill>
            <a:srgbClr val="ED7D3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a:t>
            </a:r>
            <a:endParaRPr lang="en-US" altLang="zh-CN" sz="1200" dirty="0">
              <a:solidFill>
                <a:schemeClr val="bg1"/>
              </a:solidFill>
              <a:latin typeface="思源黑体 CN Regular" panose="020B0500000000000000" pitchFamily="34" charset="-122"/>
              <a:ea typeface="思源黑体 CN Regular" panose="020B0500000000000000" pitchFamily="34" charset="-122"/>
            </a:endParaRPr>
          </a:p>
        </p:txBody>
      </p:sp>
      <p:grpSp>
        <p:nvGrpSpPr>
          <p:cNvPr id="89" name="组合 88"/>
          <p:cNvGrpSpPr/>
          <p:nvPr/>
        </p:nvGrpSpPr>
        <p:grpSpPr>
          <a:xfrm>
            <a:off x="695960" y="416560"/>
            <a:ext cx="1627505" cy="390525"/>
            <a:chOff x="7621368" y="4710754"/>
            <a:chExt cx="2609603" cy="626238"/>
          </a:xfrm>
          <a:solidFill>
            <a:schemeClr val="accent2"/>
          </a:solidFill>
        </p:grpSpPr>
        <p:sp>
          <p:nvSpPr>
            <p:cNvPr id="90" name="check-mark_2431"/>
            <p:cNvSpPr/>
            <p:nvPr/>
          </p:nvSpPr>
          <p:spPr>
            <a:xfrm>
              <a:off x="8621327" y="4727994"/>
              <a:ext cx="609685" cy="608998"/>
            </a:xfrm>
            <a:custGeom>
              <a:avLst/>
              <a:gdLst>
                <a:gd name="T0" fmla="*/ 213 w 427"/>
                <a:gd name="T1" fmla="*/ 0 h 427"/>
                <a:gd name="T2" fmla="*/ 0 w 427"/>
                <a:gd name="T3" fmla="*/ 213 h 427"/>
                <a:gd name="T4" fmla="*/ 213 w 427"/>
                <a:gd name="T5" fmla="*/ 427 h 427"/>
                <a:gd name="T6" fmla="*/ 427 w 427"/>
                <a:gd name="T7" fmla="*/ 213 h 427"/>
                <a:gd name="T8" fmla="*/ 213 w 427"/>
                <a:gd name="T9" fmla="*/ 0 h 427"/>
                <a:gd name="T10" fmla="*/ 180 w 427"/>
                <a:gd name="T11" fmla="*/ 312 h 427"/>
                <a:gd name="T12" fmla="*/ 82 w 427"/>
                <a:gd name="T13" fmla="*/ 214 h 427"/>
                <a:gd name="T14" fmla="*/ 120 w 427"/>
                <a:gd name="T15" fmla="*/ 176 h 427"/>
                <a:gd name="T16" fmla="*/ 180 w 427"/>
                <a:gd name="T17" fmla="*/ 236 h 427"/>
                <a:gd name="T18" fmla="*/ 308 w 427"/>
                <a:gd name="T19" fmla="*/ 108 h 427"/>
                <a:gd name="T20" fmla="*/ 346 w 427"/>
                <a:gd name="T21" fmla="*/ 146 h 427"/>
                <a:gd name="T22" fmla="*/ 180 w 427"/>
                <a:gd name="T23" fmla="*/ 312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7" h="427">
                  <a:moveTo>
                    <a:pt x="213" y="0"/>
                  </a:moveTo>
                  <a:cubicBezTo>
                    <a:pt x="96" y="0"/>
                    <a:pt x="0" y="96"/>
                    <a:pt x="0" y="213"/>
                  </a:cubicBezTo>
                  <a:cubicBezTo>
                    <a:pt x="0" y="331"/>
                    <a:pt x="96" y="427"/>
                    <a:pt x="213" y="427"/>
                  </a:cubicBezTo>
                  <a:cubicBezTo>
                    <a:pt x="331" y="427"/>
                    <a:pt x="427" y="331"/>
                    <a:pt x="427" y="213"/>
                  </a:cubicBezTo>
                  <a:cubicBezTo>
                    <a:pt x="427" y="96"/>
                    <a:pt x="331" y="0"/>
                    <a:pt x="213" y="0"/>
                  </a:cubicBezTo>
                  <a:close/>
                  <a:moveTo>
                    <a:pt x="180" y="312"/>
                  </a:moveTo>
                  <a:lnTo>
                    <a:pt x="82" y="214"/>
                  </a:lnTo>
                  <a:lnTo>
                    <a:pt x="120" y="176"/>
                  </a:lnTo>
                  <a:lnTo>
                    <a:pt x="180" y="236"/>
                  </a:lnTo>
                  <a:lnTo>
                    <a:pt x="308" y="108"/>
                  </a:lnTo>
                  <a:lnTo>
                    <a:pt x="346" y="146"/>
                  </a:lnTo>
                  <a:lnTo>
                    <a:pt x="180" y="312"/>
                  </a:lnTo>
                  <a:close/>
                </a:path>
              </a:pathLst>
            </a:cu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confont-1191-866891"/>
            <p:cNvSpPr/>
            <p:nvPr/>
          </p:nvSpPr>
          <p:spPr>
            <a:xfrm>
              <a:off x="7621368" y="4710754"/>
              <a:ext cx="609685" cy="609522"/>
            </a:xfrm>
            <a:custGeom>
              <a:avLst/>
              <a:gdLst>
                <a:gd name="T0" fmla="*/ 3884 w 7768"/>
                <a:gd name="T1" fmla="*/ 0 h 7766"/>
                <a:gd name="T2" fmla="*/ 0 w 7768"/>
                <a:gd name="T3" fmla="*/ 3883 h 7766"/>
                <a:gd name="T4" fmla="*/ 3884 w 7768"/>
                <a:gd name="T5" fmla="*/ 7766 h 7766"/>
                <a:gd name="T6" fmla="*/ 7768 w 7768"/>
                <a:gd name="T7" fmla="*/ 3883 h 7766"/>
                <a:gd name="T8" fmla="*/ 3884 w 7768"/>
                <a:gd name="T9" fmla="*/ 0 h 7766"/>
                <a:gd name="T10" fmla="*/ 3884 w 7768"/>
                <a:gd name="T11" fmla="*/ 6041 h 7766"/>
                <a:gd name="T12" fmla="*/ 3453 w 7768"/>
                <a:gd name="T13" fmla="*/ 5609 h 7766"/>
                <a:gd name="T14" fmla="*/ 3884 w 7768"/>
                <a:gd name="T15" fmla="*/ 5178 h 7766"/>
                <a:gd name="T16" fmla="*/ 4315 w 7768"/>
                <a:gd name="T17" fmla="*/ 5609 h 7766"/>
                <a:gd name="T18" fmla="*/ 3884 w 7768"/>
                <a:gd name="T19" fmla="*/ 6041 h 7766"/>
                <a:gd name="T20" fmla="*/ 4295 w 7768"/>
                <a:gd name="T21" fmla="*/ 4313 h 7766"/>
                <a:gd name="T22" fmla="*/ 3888 w 7768"/>
                <a:gd name="T23" fmla="*/ 4737 h 7766"/>
                <a:gd name="T24" fmla="*/ 3933 w 7768"/>
                <a:gd name="T25" fmla="*/ 4746 h 7766"/>
                <a:gd name="T26" fmla="*/ 3843 w 7768"/>
                <a:gd name="T27" fmla="*/ 4746 h 7766"/>
                <a:gd name="T28" fmla="*/ 3888 w 7768"/>
                <a:gd name="T29" fmla="*/ 4737 h 7766"/>
                <a:gd name="T30" fmla="*/ 3485 w 7768"/>
                <a:gd name="T31" fmla="*/ 4313 h 7766"/>
                <a:gd name="T32" fmla="*/ 3386 w 7768"/>
                <a:gd name="T33" fmla="*/ 2158 h 7766"/>
                <a:gd name="T34" fmla="*/ 3800 w 7768"/>
                <a:gd name="T35" fmla="*/ 1725 h 7766"/>
                <a:gd name="T36" fmla="*/ 3999 w 7768"/>
                <a:gd name="T37" fmla="*/ 1725 h 7766"/>
                <a:gd name="T38" fmla="*/ 4410 w 7768"/>
                <a:gd name="T39" fmla="*/ 2158 h 7766"/>
                <a:gd name="T40" fmla="*/ 4295 w 7768"/>
                <a:gd name="T41" fmla="*/ 4313 h 7766"/>
                <a:gd name="T42" fmla="*/ 4295 w 7768"/>
                <a:gd name="T43" fmla="*/ 4313 h 7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768" h="7766">
                  <a:moveTo>
                    <a:pt x="3884" y="0"/>
                  </a:moveTo>
                  <a:cubicBezTo>
                    <a:pt x="1739" y="0"/>
                    <a:pt x="0" y="1738"/>
                    <a:pt x="0" y="3883"/>
                  </a:cubicBezTo>
                  <a:cubicBezTo>
                    <a:pt x="0" y="6028"/>
                    <a:pt x="1739" y="7766"/>
                    <a:pt x="3884" y="7766"/>
                  </a:cubicBezTo>
                  <a:cubicBezTo>
                    <a:pt x="6029" y="7766"/>
                    <a:pt x="7768" y="6028"/>
                    <a:pt x="7768" y="3883"/>
                  </a:cubicBezTo>
                  <a:cubicBezTo>
                    <a:pt x="7768" y="1738"/>
                    <a:pt x="6029" y="0"/>
                    <a:pt x="3884" y="0"/>
                  </a:cubicBezTo>
                  <a:close/>
                  <a:moveTo>
                    <a:pt x="3884" y="6041"/>
                  </a:moveTo>
                  <a:cubicBezTo>
                    <a:pt x="3646" y="6041"/>
                    <a:pt x="3453" y="5847"/>
                    <a:pt x="3453" y="5609"/>
                  </a:cubicBezTo>
                  <a:cubicBezTo>
                    <a:pt x="3453" y="5371"/>
                    <a:pt x="3646" y="5178"/>
                    <a:pt x="3884" y="5178"/>
                  </a:cubicBezTo>
                  <a:cubicBezTo>
                    <a:pt x="4122" y="5178"/>
                    <a:pt x="4315" y="5371"/>
                    <a:pt x="4315" y="5609"/>
                  </a:cubicBezTo>
                  <a:cubicBezTo>
                    <a:pt x="4315" y="5847"/>
                    <a:pt x="4122" y="6041"/>
                    <a:pt x="3884" y="6041"/>
                  </a:cubicBezTo>
                  <a:close/>
                  <a:moveTo>
                    <a:pt x="4295" y="4313"/>
                  </a:moveTo>
                  <a:cubicBezTo>
                    <a:pt x="4284" y="4537"/>
                    <a:pt x="4103" y="4714"/>
                    <a:pt x="3888" y="4737"/>
                  </a:cubicBezTo>
                  <a:cubicBezTo>
                    <a:pt x="3904" y="4739"/>
                    <a:pt x="3917" y="4746"/>
                    <a:pt x="3933" y="4746"/>
                  </a:cubicBezTo>
                  <a:lnTo>
                    <a:pt x="3843" y="4746"/>
                  </a:lnTo>
                  <a:cubicBezTo>
                    <a:pt x="3859" y="4746"/>
                    <a:pt x="3873" y="4739"/>
                    <a:pt x="3888" y="4737"/>
                  </a:cubicBezTo>
                  <a:cubicBezTo>
                    <a:pt x="3672" y="4714"/>
                    <a:pt x="3495" y="4541"/>
                    <a:pt x="3485" y="4313"/>
                  </a:cubicBezTo>
                  <a:lnTo>
                    <a:pt x="3386" y="2158"/>
                  </a:lnTo>
                  <a:cubicBezTo>
                    <a:pt x="3375" y="1919"/>
                    <a:pt x="3562" y="1725"/>
                    <a:pt x="3800" y="1725"/>
                  </a:cubicBezTo>
                  <a:lnTo>
                    <a:pt x="3999" y="1725"/>
                  </a:lnTo>
                  <a:cubicBezTo>
                    <a:pt x="4239" y="1725"/>
                    <a:pt x="4424" y="1914"/>
                    <a:pt x="4410" y="2158"/>
                  </a:cubicBezTo>
                  <a:lnTo>
                    <a:pt x="4295" y="4313"/>
                  </a:lnTo>
                  <a:close/>
                  <a:moveTo>
                    <a:pt x="4295" y="4313"/>
                  </a:move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play-button_91268"/>
            <p:cNvSpPr/>
            <p:nvPr/>
          </p:nvSpPr>
          <p:spPr>
            <a:xfrm>
              <a:off x="9621286" y="4727994"/>
              <a:ext cx="609685" cy="608766"/>
            </a:xfrm>
            <a:custGeom>
              <a:avLst/>
              <a:gdLst>
                <a:gd name="T0" fmla="*/ 267 w 533"/>
                <a:gd name="T1" fmla="*/ 0 h 533"/>
                <a:gd name="T2" fmla="*/ 0 w 533"/>
                <a:gd name="T3" fmla="*/ 267 h 533"/>
                <a:gd name="T4" fmla="*/ 267 w 533"/>
                <a:gd name="T5" fmla="*/ 533 h 533"/>
                <a:gd name="T6" fmla="*/ 533 w 533"/>
                <a:gd name="T7" fmla="*/ 267 h 533"/>
                <a:gd name="T8" fmla="*/ 267 w 533"/>
                <a:gd name="T9" fmla="*/ 0 h 533"/>
                <a:gd name="T10" fmla="*/ 356 w 533"/>
                <a:gd name="T11" fmla="*/ 285 h 533"/>
                <a:gd name="T12" fmla="*/ 199 w 533"/>
                <a:gd name="T13" fmla="*/ 376 h 533"/>
                <a:gd name="T14" fmla="*/ 167 w 533"/>
                <a:gd name="T15" fmla="*/ 357 h 533"/>
                <a:gd name="T16" fmla="*/ 167 w 533"/>
                <a:gd name="T17" fmla="*/ 176 h 533"/>
                <a:gd name="T18" fmla="*/ 199 w 533"/>
                <a:gd name="T19" fmla="*/ 157 h 533"/>
                <a:gd name="T20" fmla="*/ 356 w 533"/>
                <a:gd name="T21" fmla="*/ 248 h 533"/>
                <a:gd name="T22" fmla="*/ 356 w 533"/>
                <a:gd name="T23" fmla="*/ 285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3" h="533">
                  <a:moveTo>
                    <a:pt x="267" y="0"/>
                  </a:moveTo>
                  <a:cubicBezTo>
                    <a:pt x="119" y="0"/>
                    <a:pt x="0" y="119"/>
                    <a:pt x="0" y="267"/>
                  </a:cubicBezTo>
                  <a:cubicBezTo>
                    <a:pt x="0" y="414"/>
                    <a:pt x="119" y="533"/>
                    <a:pt x="267" y="533"/>
                  </a:cubicBezTo>
                  <a:cubicBezTo>
                    <a:pt x="414" y="533"/>
                    <a:pt x="533" y="414"/>
                    <a:pt x="533" y="267"/>
                  </a:cubicBezTo>
                  <a:cubicBezTo>
                    <a:pt x="533" y="119"/>
                    <a:pt x="414" y="0"/>
                    <a:pt x="267" y="0"/>
                  </a:cubicBezTo>
                  <a:close/>
                  <a:moveTo>
                    <a:pt x="356" y="285"/>
                  </a:moveTo>
                  <a:lnTo>
                    <a:pt x="199" y="376"/>
                  </a:lnTo>
                  <a:cubicBezTo>
                    <a:pt x="185" y="384"/>
                    <a:pt x="167" y="374"/>
                    <a:pt x="167" y="357"/>
                  </a:cubicBezTo>
                  <a:lnTo>
                    <a:pt x="167" y="176"/>
                  </a:lnTo>
                  <a:cubicBezTo>
                    <a:pt x="167" y="160"/>
                    <a:pt x="185" y="149"/>
                    <a:pt x="199" y="157"/>
                  </a:cubicBezTo>
                  <a:lnTo>
                    <a:pt x="356" y="248"/>
                  </a:lnTo>
                  <a:cubicBezTo>
                    <a:pt x="370" y="256"/>
                    <a:pt x="370" y="277"/>
                    <a:pt x="356" y="285"/>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组合 95"/>
          <p:cNvGrpSpPr/>
          <p:nvPr/>
        </p:nvGrpSpPr>
        <p:grpSpPr>
          <a:xfrm>
            <a:off x="695960" y="2163445"/>
            <a:ext cx="482600" cy="145415"/>
            <a:chOff x="1339" y="8078"/>
            <a:chExt cx="760" cy="229"/>
          </a:xfrm>
        </p:grpSpPr>
        <p:sp>
          <p:nvSpPr>
            <p:cNvPr id="97" name="椭圆 96"/>
            <p:cNvSpPr/>
            <p:nvPr>
              <p:custDataLst>
                <p:tags r:id="rId4"/>
              </p:custDataLst>
            </p:nvPr>
          </p:nvSpPr>
          <p:spPr>
            <a:xfrm rot="16200000">
              <a:off x="133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98" name="椭圆 97"/>
            <p:cNvSpPr/>
            <p:nvPr>
              <p:custDataLst>
                <p:tags r:id="rId5"/>
              </p:custDataLst>
            </p:nvPr>
          </p:nvSpPr>
          <p:spPr>
            <a:xfrm rot="16200000">
              <a:off x="195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99" name="椭圆 98"/>
            <p:cNvSpPr/>
            <p:nvPr>
              <p:custDataLst>
                <p:tags r:id="rId6"/>
              </p:custDataLst>
            </p:nvPr>
          </p:nvSpPr>
          <p:spPr>
            <a:xfrm rot="16200000">
              <a:off x="1609" y="8078"/>
              <a:ext cx="229" cy="229"/>
            </a:xfrm>
            <a:prstGeom prst="ellipse">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grpSp>
      <p:pic>
        <p:nvPicPr>
          <p:cNvPr id="16" name="图片 15"/>
          <p:cNvPicPr>
            <a:picLocks noChangeAspect="1"/>
          </p:cNvPicPr>
          <p:nvPr>
            <p:custDataLst>
              <p:tags r:id="rId7"/>
            </p:custDataLst>
          </p:nvPr>
        </p:nvPicPr>
        <p:blipFill>
          <a:blip r:embed="rId8"/>
          <a:stretch>
            <a:fillRect/>
          </a:stretch>
        </p:blipFill>
        <p:spPr>
          <a:xfrm>
            <a:off x="7499985" y="2397125"/>
            <a:ext cx="2743835" cy="257048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bldLst>
      <p:bldP spid="83" grpId="0" bldLvl="0" animBg="1"/>
      <p:bldP spid="84" grpId="0" bldLvl="0" animBg="1"/>
      <p:bldP spid="86" grpId="0" bldLvl="0" animBg="1"/>
    </p:bldLst>
  </p:timing>
</p:sld>
</file>

<file path=ppt/tags/tag1.xml><?xml version="1.0" encoding="utf-8"?>
<p:tagLst xmlns:p="http://schemas.openxmlformats.org/presentationml/2006/main">
  <p:tag name="PA" val="v5.2.11"/>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PA" val="v5.2.11"/>
</p:tagLst>
</file>

<file path=ppt/tags/tag5.xml><?xml version="1.0" encoding="utf-8"?>
<p:tagLst xmlns:p="http://schemas.openxmlformats.org/presentationml/2006/main">
  <p:tag name="PA" val="v5.2.11"/>
</p:tagLst>
</file>

<file path=ppt/tags/tag6.xml><?xml version="1.0" encoding="utf-8"?>
<p:tagLst xmlns:p="http://schemas.openxmlformats.org/presentationml/2006/main">
  <p:tag name="PA" val="v5.2.11"/>
</p:tagLst>
</file>

<file path=ppt/tags/tag7.xml><?xml version="1.0" encoding="utf-8"?>
<p:tagLst xmlns:p="http://schemas.openxmlformats.org/presentationml/2006/main">
  <p:tag name="ISLIDE.ICON" val="#176715;"/>
</p:tagLst>
</file>

<file path=ppt/tags/tag8.xml><?xml version="1.0" encoding="utf-8"?>
<p:tagLst xmlns:p="http://schemas.openxmlformats.org/presentationml/2006/main">
  <p:tag name="KSO_WM_DIAGRAM_VIRTUALLY_FRAME" val="{&quot;height&quot;:269.68858267716536,&quot;left&quot;:18.45,&quot;top&quot;:199.81141732283464,&quot;width&quot;:918.65}"/>
</p:tagLst>
</file>

<file path=ppt/tags/tag9.xml><?xml version="1.0" encoding="utf-8"?>
<p:tagLst xmlns:p="http://schemas.openxmlformats.org/presentationml/2006/main">
  <p:tag name="KSO_WM_DIAGRAM_VIRTUALLY_FRAME" val="{&quot;height&quot;:269.68858267716536,&quot;left&quot;:18.45,&quot;top&quot;:199.81141732283464,&quot;width&quot;:918.65}"/>
</p:tagLst>
</file>

<file path=ppt/tags/tag10.xml><?xml version="1.0" encoding="utf-8"?>
<p:tagLst xmlns:p="http://schemas.openxmlformats.org/presentationml/2006/main">
  <p:tag name="KSO_WM_DIAGRAM_VIRTUALLY_FRAME" val="{&quot;height&quot;:269.68858267716536,&quot;left&quot;:18.45,&quot;top&quot;:199.81141732283464,&quot;width&quot;:918.65}"/>
</p:tagLst>
</file>

<file path=ppt/tags/tag11.xml><?xml version="1.0" encoding="utf-8"?>
<p:tagLst xmlns:p="http://schemas.openxmlformats.org/presentationml/2006/main">
  <p:tag name="KSO_WM_DIAGRAM_VIRTUALLY_FRAME" val="{&quot;height&quot;:269.68858267716536,&quot;left&quot;:18.45,&quot;top&quot;:199.81141732283464,&quot;width&quot;:918.65}"/>
</p:tagLst>
</file>

<file path=ppt/tags/tag12.xml><?xml version="1.0" encoding="utf-8"?>
<p:tagLst xmlns:p="http://schemas.openxmlformats.org/presentationml/2006/main">
  <p:tag name="KSO_WM_DIAGRAM_VIRTUALLY_FRAME" val="{&quot;height&quot;:269.68858267716536,&quot;left&quot;:18.45,&quot;top&quot;:199.81141732283464,&quot;width&quot;:918.65}"/>
</p:tagLst>
</file>

<file path=ppt/tags/tag13.xml><?xml version="1.0" encoding="utf-8"?>
<p:tagLst xmlns:p="http://schemas.openxmlformats.org/presentationml/2006/main">
  <p:tag name="KSO_WM_DIAGRAM_VIRTUALLY_FRAME" val="{&quot;height&quot;:269.68858267716536,&quot;left&quot;:18.45,&quot;top&quot;:199.81141732283464,&quot;width&quot;:918.65}"/>
</p:tagLst>
</file>

<file path=ppt/tags/tag14.xml><?xml version="1.0" encoding="utf-8"?>
<p:tagLst xmlns:p="http://schemas.openxmlformats.org/presentationml/2006/main">
  <p:tag name="KSO_WM_DIAGRAM_VIRTUALLY_FRAME" val="{&quot;height&quot;:269.68858267716536,&quot;left&quot;:18.45,&quot;top&quot;:199.81141732283464,&quot;width&quot;:918.65}"/>
</p:tagLst>
</file>

<file path=ppt/tags/tag15.xml><?xml version="1.0" encoding="utf-8"?>
<p:tagLst xmlns:p="http://schemas.openxmlformats.org/presentationml/2006/main">
  <p:tag name="KSO_WM_DIAGRAM_VIRTUALLY_FRAME" val="{&quot;height&quot;:269.68858267716536,&quot;left&quot;:18.45,&quot;top&quot;:199.81141732283464,&quot;width&quot;:918.65}"/>
</p:tagLst>
</file>

<file path=ppt/tags/tag16.xml><?xml version="1.0" encoding="utf-8"?>
<p:tagLst xmlns:p="http://schemas.openxmlformats.org/presentationml/2006/main">
  <p:tag name="KSO_WM_DIAGRAM_VIRTUALLY_FRAME" val="{&quot;height&quot;:269.68858267716536,&quot;left&quot;:18.45,&quot;top&quot;:199.81141732283464,&quot;width&quot;:918.65}"/>
</p:tagLst>
</file>

<file path=ppt/tags/tag17.xml><?xml version="1.0" encoding="utf-8"?>
<p:tagLst xmlns:p="http://schemas.openxmlformats.org/presentationml/2006/main">
  <p:tag name="KSO_WM_DIAGRAM_VIRTUALLY_FRAME" val="{&quot;height&quot;:269.68858267716536,&quot;left&quot;:18.45,&quot;top&quot;:199.81141732283464,&quot;width&quot;:918.65}"/>
</p:tagLst>
</file>

<file path=ppt/tags/tag18.xml><?xml version="1.0" encoding="utf-8"?>
<p:tagLst xmlns:p="http://schemas.openxmlformats.org/presentationml/2006/main">
  <p:tag name="KSO_WM_DIAGRAM_VIRTUALLY_FRAME" val="{&quot;height&quot;:269.68858267716536,&quot;left&quot;:18.45,&quot;top&quot;:199.81141732283464,&quot;width&quot;:918.65}"/>
</p:tagLst>
</file>

<file path=ppt/tags/tag19.xml><?xml version="1.0" encoding="utf-8"?>
<p:tagLst xmlns:p="http://schemas.openxmlformats.org/presentationml/2006/main">
  <p:tag name="KSO_WM_DIAGRAM_VIRTUALLY_FRAME" val="{&quot;height&quot;:269.68858267716536,&quot;left&quot;:18.45,&quot;top&quot;:199.81141732283464,&quot;width&quot;:918.65}"/>
</p:tagLst>
</file>

<file path=ppt/tags/tag20.xml><?xml version="1.0" encoding="utf-8"?>
<p:tagLst xmlns:p="http://schemas.openxmlformats.org/presentationml/2006/main">
  <p:tag name="KSO_WM_DIAGRAM_VIRTUALLY_FRAME" val="{&quot;height&quot;:269.68858267716536,&quot;left&quot;:18.45,&quot;top&quot;:199.81141732283464,&quot;width&quot;:918.65}"/>
</p:tagLst>
</file>

<file path=ppt/tags/tag21.xml><?xml version="1.0" encoding="utf-8"?>
<p:tagLst xmlns:p="http://schemas.openxmlformats.org/presentationml/2006/main">
  <p:tag name="KSO_WM_DIAGRAM_VIRTUALLY_FRAME" val="{&quot;height&quot;:269.68858267716536,&quot;left&quot;:18.45,&quot;top&quot;:199.81141732283464,&quot;width&quot;:918.65}"/>
</p:tagLst>
</file>

<file path=ppt/tags/tag22.xml><?xml version="1.0" encoding="utf-8"?>
<p:tagLst xmlns:p="http://schemas.openxmlformats.org/presentationml/2006/main">
  <p:tag name="KSO_WM_DIAGRAM_VIRTUALLY_FRAME" val="{&quot;height&quot;:269.68858267716536,&quot;left&quot;:18.45,&quot;top&quot;:199.81141732283464,&quot;width&quot;:918.65}"/>
</p:tagLst>
</file>

<file path=ppt/tags/tag23.xml><?xml version="1.0" encoding="utf-8"?>
<p:tagLst xmlns:p="http://schemas.openxmlformats.org/presentationml/2006/main">
  <p:tag name="KSO_WM_DIAGRAM_VIRTUALLY_FRAME" val="{&quot;height&quot;:269.68858267716536,&quot;left&quot;:18.45,&quot;top&quot;:199.81141732283464,&quot;width&quot;:918.65}"/>
</p:tagLst>
</file>

<file path=ppt/tags/tag24.xml><?xml version="1.0" encoding="utf-8"?>
<p:tagLst xmlns:p="http://schemas.openxmlformats.org/presentationml/2006/main">
  <p:tag name="KSO_WM_DIAGRAM_VIRTUALLY_FRAME" val="{&quot;height&quot;:269.68858267716536,&quot;left&quot;:18.45,&quot;top&quot;:199.81141732283464,&quot;width&quot;:918.65}"/>
</p:tagLst>
</file>

<file path=ppt/tags/tag25.xml><?xml version="1.0" encoding="utf-8"?>
<p:tagLst xmlns:p="http://schemas.openxmlformats.org/presentationml/2006/main">
  <p:tag name="KSO_WM_DIAGRAM_VIRTUALLY_FRAME" val="{&quot;height&quot;:269.68858267716536,&quot;left&quot;:18.45,&quot;top&quot;:199.81141732283464,&quot;width&quot;:918.65}"/>
</p:tagLst>
</file>

<file path=ppt/tags/tag26.xml><?xml version="1.0" encoding="utf-8"?>
<p:tagLst xmlns:p="http://schemas.openxmlformats.org/presentationml/2006/main">
  <p:tag name="KSO_WM_DIAGRAM_VIRTUALLY_FRAME" val="{&quot;height&quot;:269.68858267716536,&quot;left&quot;:18.45,&quot;top&quot;:199.81141732283464,&quot;width&quot;:918.65}"/>
</p:tagLst>
</file>

<file path=ppt/tags/tag27.xml><?xml version="1.0" encoding="utf-8"?>
<p:tagLst xmlns:p="http://schemas.openxmlformats.org/presentationml/2006/main">
  <p:tag name="KSO_WM_DIAGRAM_VIRTUALLY_FRAME" val="{&quot;height&quot;:269.68858267716536,&quot;left&quot;:18.45,&quot;top&quot;:199.81141732283464,&quot;width&quot;:918.65}"/>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DIAGRAM_VIRTUALLY_FRAME" val="{&quot;height&quot;:248.4982677165354,&quot;left&quot;:31.95,&quot;top&quot;:199.81141732283464,&quot;width&quot;:894.05}"/>
</p:tagLst>
</file>

<file path=ppt/tags/tag33.xml><?xml version="1.0" encoding="utf-8"?>
<p:tagLst xmlns:p="http://schemas.openxmlformats.org/presentationml/2006/main">
  <p:tag name="KSO_WM_DIAGRAM_VIRTUALLY_FRAME" val="{&quot;height&quot;:248.4982677165354,&quot;left&quot;:31.95,&quot;top&quot;:199.81141732283464,&quot;width&quot;:894.05}"/>
</p:tagLst>
</file>

<file path=ppt/tags/tag34.xml><?xml version="1.0" encoding="utf-8"?>
<p:tagLst xmlns:p="http://schemas.openxmlformats.org/presentationml/2006/main">
  <p:tag name="KSO_WM_DIAGRAM_VIRTUALLY_FRAME" val="{&quot;height&quot;:248.4982677165354,&quot;left&quot;:31.95,&quot;top&quot;:199.81141732283464,&quot;width&quot;:894.05}"/>
</p:tagLst>
</file>

<file path=ppt/tags/tag35.xml><?xml version="1.0" encoding="utf-8"?>
<p:tagLst xmlns:p="http://schemas.openxmlformats.org/presentationml/2006/main">
  <p:tag name="KSO_WM_DIAGRAM_VIRTUALLY_FRAME" val="{&quot;height&quot;:248.4982677165354,&quot;left&quot;:31.95,&quot;top&quot;:199.81141732283464,&quot;width&quot;:894.05}"/>
</p:tagLst>
</file>

<file path=ppt/tags/tag36.xml><?xml version="1.0" encoding="utf-8"?>
<p:tagLst xmlns:p="http://schemas.openxmlformats.org/presentationml/2006/main">
  <p:tag name="KSO_WM_DIAGRAM_VIRTUALLY_FRAME" val="{&quot;height&quot;:248.4982677165354,&quot;left&quot;:31.95,&quot;top&quot;:199.81141732283464,&quot;width&quot;:894.05}"/>
</p:tagLst>
</file>

<file path=ppt/tags/tag37.xml><?xml version="1.0" encoding="utf-8"?>
<p:tagLst xmlns:p="http://schemas.openxmlformats.org/presentationml/2006/main">
  <p:tag name="KSO_WM_DIAGRAM_VIRTUALLY_FRAME" val="{&quot;height&quot;:248.4982677165354,&quot;left&quot;:31.95,&quot;top&quot;:199.81141732283464,&quot;width&quot;:894.05}"/>
</p:tagLst>
</file>

<file path=ppt/tags/tag38.xml><?xml version="1.0" encoding="utf-8"?>
<p:tagLst xmlns:p="http://schemas.openxmlformats.org/presentationml/2006/main">
  <p:tag name="KSO_WM_DIAGRAM_VIRTUALLY_FRAME" val="{&quot;height&quot;:248.4982677165354,&quot;left&quot;:31.95,&quot;top&quot;:199.81141732283464,&quot;width&quot;:894.05}"/>
</p:tagLst>
</file>

<file path=ppt/tags/tag39.xml><?xml version="1.0" encoding="utf-8"?>
<p:tagLst xmlns:p="http://schemas.openxmlformats.org/presentationml/2006/main">
  <p:tag name="KSO_WM_DIAGRAM_VIRTUALLY_FRAME" val="{&quot;height&quot;:248.4982677165354,&quot;left&quot;:31.95,&quot;top&quot;:199.81141732283464,&quot;width&quot;:894.05}"/>
</p:tagLst>
</file>

<file path=ppt/tags/tag40.xml><?xml version="1.0" encoding="utf-8"?>
<p:tagLst xmlns:p="http://schemas.openxmlformats.org/presentationml/2006/main">
  <p:tag name="KSO_WM_DIAGRAM_VIRTUALLY_FRAME" val="{&quot;height&quot;:248.4982677165354,&quot;left&quot;:31.95,&quot;top&quot;:199.81141732283464,&quot;width&quot;:894.05}"/>
</p:tagLst>
</file>

<file path=ppt/tags/tag41.xml><?xml version="1.0" encoding="utf-8"?>
<p:tagLst xmlns:p="http://schemas.openxmlformats.org/presentationml/2006/main">
  <p:tag name="KSO_WM_DIAGRAM_VIRTUALLY_FRAME" val="{&quot;height&quot;:248.4982677165354,&quot;left&quot;:31.95,&quot;top&quot;:199.81141732283464,&quot;width&quot;:894.05}"/>
</p:tagLst>
</file>

<file path=ppt/tags/tag42.xml><?xml version="1.0" encoding="utf-8"?>
<p:tagLst xmlns:p="http://schemas.openxmlformats.org/presentationml/2006/main">
  <p:tag name="KSO_WM_DIAGRAM_VIRTUALLY_FRAME" val="{&quot;height&quot;:248.4982677165354,&quot;left&quot;:31.95,&quot;top&quot;:199.81141732283464,&quot;width&quot;:894.05}"/>
</p:tagLst>
</file>

<file path=ppt/tags/tag43.xml><?xml version="1.0" encoding="utf-8"?>
<p:tagLst xmlns:p="http://schemas.openxmlformats.org/presentationml/2006/main">
  <p:tag name="KSO_WM_DIAGRAM_VIRTUALLY_FRAME" val="{&quot;height&quot;:248.4982677165354,&quot;left&quot;:31.95,&quot;top&quot;:199.81141732283464,&quot;width&quot;:894.05}"/>
</p:tagLst>
</file>

<file path=ppt/tags/tag44.xml><?xml version="1.0" encoding="utf-8"?>
<p:tagLst xmlns:p="http://schemas.openxmlformats.org/presentationml/2006/main">
  <p:tag name="KSO_WM_DIAGRAM_VIRTUALLY_FRAME" val="{&quot;height&quot;:248.4982677165354,&quot;left&quot;:31.95,&quot;top&quot;:199.81141732283464,&quot;width&quot;:894.05}"/>
</p:tagLst>
</file>

<file path=ppt/tags/tag45.xml><?xml version="1.0" encoding="utf-8"?>
<p:tagLst xmlns:p="http://schemas.openxmlformats.org/presentationml/2006/main">
  <p:tag name="KSO_WM_DIAGRAM_VIRTUALLY_FRAME" val="{&quot;height&quot;:248.4982677165354,&quot;left&quot;:31.95,&quot;top&quot;:199.81141732283464,&quot;width&quot;:894.05}"/>
</p:tagLst>
</file>

<file path=ppt/tags/tag46.xml><?xml version="1.0" encoding="utf-8"?>
<p:tagLst xmlns:p="http://schemas.openxmlformats.org/presentationml/2006/main">
  <p:tag name="KSO_WM_DIAGRAM_VIRTUALLY_FRAME" val="{&quot;height&quot;:248.4982677165354,&quot;left&quot;:31.95,&quot;top&quot;:199.81141732283464,&quot;width&quot;:894.05}"/>
</p:tagLst>
</file>

<file path=ppt/tags/tag47.xml><?xml version="1.0" encoding="utf-8"?>
<p:tagLst xmlns:p="http://schemas.openxmlformats.org/presentationml/2006/main">
  <p:tag name="KSO_WM_DIAGRAM_VIRTUALLY_FRAME" val="{&quot;height&quot;:248.4982677165354,&quot;left&quot;:31.95,&quot;top&quot;:199.81141732283464,&quot;width&quot;:894.05}"/>
</p:tagLst>
</file>

<file path=ppt/tags/tag48.xml><?xml version="1.0" encoding="utf-8"?>
<p:tagLst xmlns:p="http://schemas.openxmlformats.org/presentationml/2006/main">
  <p:tag name="KSO_WM_DIAGRAM_VIRTUALLY_FRAME" val="{&quot;height&quot;:248.4982677165354,&quot;left&quot;:31.95,&quot;top&quot;:199.81141732283464,&quot;width&quot;:894.05}"/>
</p:tagLst>
</file>

<file path=ppt/tags/tag49.xml><?xml version="1.0" encoding="utf-8"?>
<p:tagLst xmlns:p="http://schemas.openxmlformats.org/presentationml/2006/main">
  <p:tag name="KSO_WM_DIAGRAM_VIRTUALLY_FRAME" val="{&quot;height&quot;:248.4982677165354,&quot;left&quot;:31.95,&quot;top&quot;:199.81141732283464,&quot;width&quot;:894.05}"/>
</p:tagLst>
</file>

<file path=ppt/tags/tag50.xml><?xml version="1.0" encoding="utf-8"?>
<p:tagLst xmlns:p="http://schemas.openxmlformats.org/presentationml/2006/main">
  <p:tag name="KSO_WM_DIAGRAM_VIRTUALLY_FRAME" val="{&quot;height&quot;:248.4982677165354,&quot;left&quot;:31.95,&quot;top&quot;:199.81141732283464,&quot;width&quot;:894.05}"/>
</p:tagLst>
</file>

<file path=ppt/tags/tag51.xml><?xml version="1.0" encoding="utf-8"?>
<p:tagLst xmlns:p="http://schemas.openxmlformats.org/presentationml/2006/main">
  <p:tag name="KSO_WM_DIAGRAM_VIRTUALLY_FRAME" val="{&quot;height&quot;:248.4982677165354,&quot;left&quot;:31.95,&quot;top&quot;:199.81141732283464,&quot;width&quot;:894.05}"/>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DIAGRAM_VIRTUALLY_FRAME" val="{&quot;height&quot;:248.4982677165354,&quot;left&quot;:31.95,&quot;top&quot;:199.81141732283464,&quot;width&quot;:894.05}"/>
</p:tagLst>
</file>

<file path=ppt/tags/tag57.xml><?xml version="1.0" encoding="utf-8"?>
<p:tagLst xmlns:p="http://schemas.openxmlformats.org/presentationml/2006/main">
  <p:tag name="KSO_WM_DIAGRAM_VIRTUALLY_FRAME" val="{&quot;height&quot;:248.4982677165354,&quot;left&quot;:31.95,&quot;top&quot;:199.81141732283464,&quot;width&quot;:894.05}"/>
</p:tagLst>
</file>

<file path=ppt/tags/tag58.xml><?xml version="1.0" encoding="utf-8"?>
<p:tagLst xmlns:p="http://schemas.openxmlformats.org/presentationml/2006/main">
  <p:tag name="KSO_WM_DIAGRAM_VIRTUALLY_FRAME" val="{&quot;height&quot;:248.4982677165354,&quot;left&quot;:31.95,&quot;top&quot;:199.81141732283464,&quot;width&quot;:894.05}"/>
</p:tagLst>
</file>

<file path=ppt/tags/tag59.xml><?xml version="1.0" encoding="utf-8"?>
<p:tagLst xmlns:p="http://schemas.openxmlformats.org/presentationml/2006/main">
  <p:tag name="KSO_WM_DIAGRAM_VIRTUALLY_FRAME" val="{&quot;height&quot;:248.4982677165354,&quot;left&quot;:31.95,&quot;top&quot;:199.81141732283464,&quot;width&quot;:894.05}"/>
</p:tagLst>
</file>

<file path=ppt/tags/tag60.xml><?xml version="1.0" encoding="utf-8"?>
<p:tagLst xmlns:p="http://schemas.openxmlformats.org/presentationml/2006/main">
  <p:tag name="KSO_WM_DIAGRAM_VIRTUALLY_FRAME" val="{&quot;height&quot;:248.4982677165354,&quot;left&quot;:31.95,&quot;top&quot;:199.81141732283464,&quot;width&quot;:894.05}"/>
</p:tagLst>
</file>

<file path=ppt/tags/tag61.xml><?xml version="1.0" encoding="utf-8"?>
<p:tagLst xmlns:p="http://schemas.openxmlformats.org/presentationml/2006/main">
  <p:tag name="KSO_WM_DIAGRAM_VIRTUALLY_FRAME" val="{&quot;height&quot;:248.4982677165354,&quot;left&quot;:31.95,&quot;top&quot;:199.81141732283464,&quot;width&quot;:894.05}"/>
</p:tagLst>
</file>

<file path=ppt/tags/tag62.xml><?xml version="1.0" encoding="utf-8"?>
<p:tagLst xmlns:p="http://schemas.openxmlformats.org/presentationml/2006/main">
  <p:tag name="KSO_WM_DIAGRAM_VIRTUALLY_FRAME" val="{&quot;height&quot;:248.4982677165354,&quot;left&quot;:31.95,&quot;top&quot;:199.81141732283464,&quot;width&quot;:894.05}"/>
</p:tagLst>
</file>

<file path=ppt/tags/tag63.xml><?xml version="1.0" encoding="utf-8"?>
<p:tagLst xmlns:p="http://schemas.openxmlformats.org/presentationml/2006/main">
  <p:tag name="KSO_WM_DIAGRAM_VIRTUALLY_FRAME" val="{&quot;height&quot;:248.4982677165354,&quot;left&quot;:31.95,&quot;top&quot;:199.81141732283464,&quot;width&quot;:894.05}"/>
</p:tagLst>
</file>

<file path=ppt/tags/tag64.xml><?xml version="1.0" encoding="utf-8"?>
<p:tagLst xmlns:p="http://schemas.openxmlformats.org/presentationml/2006/main">
  <p:tag name="KSO_WM_DIAGRAM_VIRTUALLY_FRAME" val="{&quot;height&quot;:248.4982677165354,&quot;left&quot;:31.95,&quot;top&quot;:199.81141732283464,&quot;width&quot;:894.05}"/>
</p:tagLst>
</file>

<file path=ppt/tags/tag65.xml><?xml version="1.0" encoding="utf-8"?>
<p:tagLst xmlns:p="http://schemas.openxmlformats.org/presentationml/2006/main">
  <p:tag name="KSO_WM_DIAGRAM_VIRTUALLY_FRAME" val="{&quot;height&quot;:248.4982677165354,&quot;left&quot;:31.95,&quot;top&quot;:199.81141732283464,&quot;width&quot;:894.05}"/>
</p:tagLst>
</file>

<file path=ppt/tags/tag66.xml><?xml version="1.0" encoding="utf-8"?>
<p:tagLst xmlns:p="http://schemas.openxmlformats.org/presentationml/2006/main">
  <p:tag name="KSO_WM_DIAGRAM_VIRTUALLY_FRAME" val="{&quot;height&quot;:248.4982677165354,&quot;left&quot;:31.95,&quot;top&quot;:199.81141732283464,&quot;width&quot;:894.05}"/>
</p:tagLst>
</file>

<file path=ppt/tags/tag67.xml><?xml version="1.0" encoding="utf-8"?>
<p:tagLst xmlns:p="http://schemas.openxmlformats.org/presentationml/2006/main">
  <p:tag name="KSO_WM_DIAGRAM_VIRTUALLY_FRAME" val="{&quot;height&quot;:248.4982677165354,&quot;left&quot;:31.95,&quot;top&quot;:199.81141732283464,&quot;width&quot;:894.05}"/>
</p:tagLst>
</file>

<file path=ppt/tags/tag68.xml><?xml version="1.0" encoding="utf-8"?>
<p:tagLst xmlns:p="http://schemas.openxmlformats.org/presentationml/2006/main">
  <p:tag name="KSO_WM_DIAGRAM_VIRTUALLY_FRAME" val="{&quot;height&quot;:248.4982677165354,&quot;left&quot;:31.95,&quot;top&quot;:199.81141732283464,&quot;width&quot;:894.05}"/>
</p:tagLst>
</file>

<file path=ppt/tags/tag69.xml><?xml version="1.0" encoding="utf-8"?>
<p:tagLst xmlns:p="http://schemas.openxmlformats.org/presentationml/2006/main">
  <p:tag name="KSO_WM_DIAGRAM_VIRTUALLY_FRAME" val="{&quot;height&quot;:248.4982677165354,&quot;left&quot;:31.95,&quot;top&quot;:199.81141732283464,&quot;width&quot;:894.05}"/>
</p:tagLst>
</file>

<file path=ppt/tags/tag70.xml><?xml version="1.0" encoding="utf-8"?>
<p:tagLst xmlns:p="http://schemas.openxmlformats.org/presentationml/2006/main">
  <p:tag name="KSO_WM_DIAGRAM_VIRTUALLY_FRAME" val="{&quot;height&quot;:248.4982677165354,&quot;left&quot;:31.95,&quot;top&quot;:199.81141732283464,&quot;width&quot;:894.05}"/>
</p:tagLst>
</file>

<file path=ppt/tags/tag71.xml><?xml version="1.0" encoding="utf-8"?>
<p:tagLst xmlns:p="http://schemas.openxmlformats.org/presentationml/2006/main">
  <p:tag name="KSO_WM_DIAGRAM_VIRTUALLY_FRAME" val="{&quot;height&quot;:248.4982677165354,&quot;left&quot;:31.95,&quot;top&quot;:199.81141732283464,&quot;width&quot;:894.05}"/>
</p:tagLst>
</file>

<file path=ppt/tags/tag72.xml><?xml version="1.0" encoding="utf-8"?>
<p:tagLst xmlns:p="http://schemas.openxmlformats.org/presentationml/2006/main">
  <p:tag name="KSO_WM_DIAGRAM_VIRTUALLY_FRAME" val="{&quot;height&quot;:248.4982677165354,&quot;left&quot;:31.95,&quot;top&quot;:199.81141732283464,&quot;width&quot;:894.05}"/>
</p:tagLst>
</file>

<file path=ppt/tags/tag73.xml><?xml version="1.0" encoding="utf-8"?>
<p:tagLst xmlns:p="http://schemas.openxmlformats.org/presentationml/2006/main">
  <p:tag name="KSO_WM_DIAGRAM_VIRTUALLY_FRAME" val="{&quot;height&quot;:248.4982677165354,&quot;left&quot;:31.95,&quot;top&quot;:199.81141732283464,&quot;width&quot;:894.05}"/>
</p:tagLst>
</file>

<file path=ppt/tags/tag74.xml><?xml version="1.0" encoding="utf-8"?>
<p:tagLst xmlns:p="http://schemas.openxmlformats.org/presentationml/2006/main">
  <p:tag name="KSO_WM_DIAGRAM_VIRTUALLY_FRAME" val="{&quot;height&quot;:248.4982677165354,&quot;left&quot;:31.95,&quot;top&quot;:199.81141732283464,&quot;width&quot;:894.05}"/>
</p:tagLst>
</file>

<file path=ppt/tags/tag75.xml><?xml version="1.0" encoding="utf-8"?>
<p:tagLst xmlns:p="http://schemas.openxmlformats.org/presentationml/2006/main">
  <p:tag name="KSO_WM_DIAGRAM_VIRTUALLY_FRAME" val="{&quot;height&quot;:248.4982677165354,&quot;left&quot;:31.95,&quot;top&quot;:199.81141732283464,&quot;width&quot;:894.05}"/>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DIAGRAM_VIRTUALLY_FRAME" val="{&quot;height&quot;:248.4982677165354,&quot;left&quot;:31.95,&quot;top&quot;:199.81141732283464,&quot;width&quot;:894.05}"/>
</p:tagLst>
</file>

<file path=ppt/tags/tag81.xml><?xml version="1.0" encoding="utf-8"?>
<p:tagLst xmlns:p="http://schemas.openxmlformats.org/presentationml/2006/main">
  <p:tag name="KSO_WM_DIAGRAM_VIRTUALLY_FRAME" val="{&quot;height&quot;:248.4982677165354,&quot;left&quot;:31.95,&quot;top&quot;:199.81141732283464,&quot;width&quot;:894.05}"/>
</p:tagLst>
</file>

<file path=ppt/tags/tag82.xml><?xml version="1.0" encoding="utf-8"?>
<p:tagLst xmlns:p="http://schemas.openxmlformats.org/presentationml/2006/main">
  <p:tag name="KSO_WM_DIAGRAM_VIRTUALLY_FRAME" val="{&quot;height&quot;:248.4982677165354,&quot;left&quot;:31.95,&quot;top&quot;:199.81141732283464,&quot;width&quot;:894.05}"/>
</p:tagLst>
</file>

<file path=ppt/tags/tag83.xml><?xml version="1.0" encoding="utf-8"?>
<p:tagLst xmlns:p="http://schemas.openxmlformats.org/presentationml/2006/main">
  <p:tag name="KSO_WM_DIAGRAM_VIRTUALLY_FRAME" val="{&quot;height&quot;:248.4982677165354,&quot;left&quot;:31.95,&quot;top&quot;:199.81141732283464,&quot;width&quot;:894.05}"/>
</p:tagLst>
</file>

<file path=ppt/tags/tag84.xml><?xml version="1.0" encoding="utf-8"?>
<p:tagLst xmlns:p="http://schemas.openxmlformats.org/presentationml/2006/main">
  <p:tag name="KSO_WM_DIAGRAM_VIRTUALLY_FRAME" val="{&quot;height&quot;:248.4982677165354,&quot;left&quot;:31.95,&quot;top&quot;:199.81141732283464,&quot;width&quot;:894.05}"/>
</p:tagLst>
</file>

<file path=ppt/tags/tag85.xml><?xml version="1.0" encoding="utf-8"?>
<p:tagLst xmlns:p="http://schemas.openxmlformats.org/presentationml/2006/main">
  <p:tag name="KSO_WM_DIAGRAM_VIRTUALLY_FRAME" val="{&quot;height&quot;:248.4982677165354,&quot;left&quot;:31.95,&quot;top&quot;:199.81141732283464,&quot;width&quot;:894.05}"/>
</p:tagLst>
</file>

<file path=ppt/tags/tag86.xml><?xml version="1.0" encoding="utf-8"?>
<p:tagLst xmlns:p="http://schemas.openxmlformats.org/presentationml/2006/main">
  <p:tag name="KSO_WM_DIAGRAM_VIRTUALLY_FRAME" val="{&quot;height&quot;:248.4982677165354,&quot;left&quot;:31.95,&quot;top&quot;:199.81141732283464,&quot;width&quot;:894.05}"/>
</p:tagLst>
</file>

<file path=ppt/tags/tag87.xml><?xml version="1.0" encoding="utf-8"?>
<p:tagLst xmlns:p="http://schemas.openxmlformats.org/presentationml/2006/main">
  <p:tag name="KSO_WM_DIAGRAM_VIRTUALLY_FRAME" val="{&quot;height&quot;:248.4982677165354,&quot;left&quot;:31.95,&quot;top&quot;:199.81141732283464,&quot;width&quot;:894.05}"/>
</p:tagLst>
</file>

<file path=ppt/tags/tag88.xml><?xml version="1.0" encoding="utf-8"?>
<p:tagLst xmlns:p="http://schemas.openxmlformats.org/presentationml/2006/main">
  <p:tag name="KSO_WM_DIAGRAM_VIRTUALLY_FRAME" val="{&quot;height&quot;:248.4982677165354,&quot;left&quot;:31.95,&quot;top&quot;:199.81141732283464,&quot;width&quot;:894.05}"/>
</p:tagLst>
</file>

<file path=ppt/tags/tag89.xml><?xml version="1.0" encoding="utf-8"?>
<p:tagLst xmlns:p="http://schemas.openxmlformats.org/presentationml/2006/main">
  <p:tag name="KSO_WM_DIAGRAM_VIRTUALLY_FRAME" val="{&quot;height&quot;:248.4982677165354,&quot;left&quot;:31.95,&quot;top&quot;:199.81141732283464,&quot;width&quot;:894.05}"/>
</p:tagLst>
</file>

<file path=ppt/tags/tag90.xml><?xml version="1.0" encoding="utf-8"?>
<p:tagLst xmlns:p="http://schemas.openxmlformats.org/presentationml/2006/main">
  <p:tag name="KSO_WM_DIAGRAM_VIRTUALLY_FRAME" val="{&quot;height&quot;:248.4982677165354,&quot;left&quot;:31.95,&quot;top&quot;:199.81141732283464,&quot;width&quot;:894.05}"/>
</p:tagLst>
</file>

<file path=ppt/tags/tag91.xml><?xml version="1.0" encoding="utf-8"?>
<p:tagLst xmlns:p="http://schemas.openxmlformats.org/presentationml/2006/main">
  <p:tag name="KSO_WM_DIAGRAM_VIRTUALLY_FRAME" val="{&quot;height&quot;:248.4982677165354,&quot;left&quot;:31.95,&quot;top&quot;:199.81141732283464,&quot;width&quot;:894.05}"/>
</p:tagLst>
</file>

<file path=ppt/tags/tag92.xml><?xml version="1.0" encoding="utf-8"?>
<p:tagLst xmlns:p="http://schemas.openxmlformats.org/presentationml/2006/main">
  <p:tag name="KSO_WM_DIAGRAM_VIRTUALLY_FRAME" val="{&quot;height&quot;:248.4982677165354,&quot;left&quot;:31.95,&quot;top&quot;:199.81141732283464,&quot;width&quot;:894.05}"/>
</p:tagLst>
</file>

<file path=ppt/tags/tag93.xml><?xml version="1.0" encoding="utf-8"?>
<p:tagLst xmlns:p="http://schemas.openxmlformats.org/presentationml/2006/main">
  <p:tag name="KSO_WM_DIAGRAM_VIRTUALLY_FRAME" val="{&quot;height&quot;:248.4982677165354,&quot;left&quot;:31.95,&quot;top&quot;:199.81141732283464,&quot;width&quot;:894.05}"/>
</p:tagLst>
</file>

<file path=ppt/tags/tag94.xml><?xml version="1.0" encoding="utf-8"?>
<p:tagLst xmlns:p="http://schemas.openxmlformats.org/presentationml/2006/main">
  <p:tag name="KSO_WM_DIAGRAM_VIRTUALLY_FRAME" val="{&quot;height&quot;:248.4982677165354,&quot;left&quot;:31.95,&quot;top&quot;:199.81141732283464,&quot;width&quot;:894.05}"/>
</p:tagLst>
</file>

<file path=ppt/tags/tag95.xml><?xml version="1.0" encoding="utf-8"?>
<p:tagLst xmlns:p="http://schemas.openxmlformats.org/presentationml/2006/main">
  <p:tag name="KSO_WM_DIAGRAM_VIRTUALLY_FRAME" val="{&quot;height&quot;:248.4982677165354,&quot;left&quot;:31.95,&quot;top&quot;:199.81141732283464,&quot;width&quot;:894.05}"/>
</p:tagLst>
</file>

<file path=ppt/tags/tag96.xml><?xml version="1.0" encoding="utf-8"?>
<p:tagLst xmlns:p="http://schemas.openxmlformats.org/presentationml/2006/main">
  <p:tag name="KSO_WM_DIAGRAM_VIRTUALLY_FRAME" val="{&quot;height&quot;:248.4982677165354,&quot;left&quot;:31.95,&quot;top&quot;:199.81141732283464,&quot;width&quot;:894.05}"/>
</p:tagLst>
</file>

<file path=ppt/tags/tag97.xml><?xml version="1.0" encoding="utf-8"?>
<p:tagLst xmlns:p="http://schemas.openxmlformats.org/presentationml/2006/main">
  <p:tag name="KSO_WM_DIAGRAM_VIRTUALLY_FRAME" val="{&quot;height&quot;:248.4982677165354,&quot;left&quot;:31.95,&quot;top&quot;:199.81141732283464,&quot;width&quot;:894.05}"/>
</p:tagLst>
</file>

<file path=ppt/tags/tag98.xml><?xml version="1.0" encoding="utf-8"?>
<p:tagLst xmlns:p="http://schemas.openxmlformats.org/presentationml/2006/main">
  <p:tag name="KSO_WM_DIAGRAM_VIRTUALLY_FRAME" val="{&quot;height&quot;:248.4982677165354,&quot;left&quot;:31.95,&quot;top&quot;:199.81141732283464,&quot;width&quot;:894.05}"/>
</p:tagLst>
</file>

<file path=ppt/tags/tag99.xml><?xml version="1.0" encoding="utf-8"?>
<p:tagLst xmlns:p="http://schemas.openxmlformats.org/presentationml/2006/main">
  <p:tag name="KSO_WM_DIAGRAM_VIRTUALLY_FRAME" val="{&quot;height&quot;:248.4982677165354,&quot;left&quot;:31.95,&quot;top&quot;:199.81141732283464,&quot;width&quot;:894.05}"/>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ISLIDE.ICON" val="#176715;"/>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ISLIDE.ICON" val="#176715;"/>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ISLIDE.ICON" val="#176715;"/>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ISLIDE.ICON" val="#176715;"/>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ISLIDE.ICON" val="#176715;"/>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ISLIDE.ICON" val="#176715;"/>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ISLIDE.ICON" val="#176715;"/>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TABLE_ENDDRAG_ORIGIN_RECT" val="648*368"/>
  <p:tag name="TABLE_ENDDRAG_RECT" val="121*103*648*368"/>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TABLE_ENDDRAG_ORIGIN_RECT" val="658*368"/>
  <p:tag name="TABLE_ENDDRAG_RECT" val="111*121*658*368"/>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TABLE_ENDDRAG_ORIGIN_RECT" val="638*368"/>
  <p:tag name="TABLE_ENDDRAG_RECT" val="121*98*638*368"/>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TABLE_ENDDRAG_ORIGIN_RECT" val="681*219"/>
  <p:tag name="TABLE_ENDDRAG_RECT" val="82*122*681*219"/>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ISLIDE.ICON" val="#176715;"/>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TABLE_ENDDRAG_ORIGIN_RECT" val="658*368"/>
  <p:tag name="TABLE_ENDDRAG_RECT" val="111*121*658*368"/>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TABLE_ENDDRAG_ORIGIN_RECT" val="658*368"/>
  <p:tag name="TABLE_ENDDRAG_RECT" val="111*121*658*368"/>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ISLIDE.ICON" val="#176715;"/>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ISLIDE.ICON" val="#176715;"/>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ISLIDE.ICON" val="#176715;"/>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ISLIDE.ICON" val="#176715;"/>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ISLIDE.ICON" val="#176715;"/>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ISLIDE.ICON" val="#176715;"/>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ISLIDE.ICON" val="#176715;"/>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ISLIDE.ICON" val="#176715;"/>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ISLIDE.ICON" val="#176715;"/>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ISLIDE.ICON" val="#176715;"/>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ISLIDE.ICON" val="#176715;"/>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BEAUTIFY_FLAG" val=""/>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M_BEAUTIFY_FLAG" val=""/>
</p:tagLst>
</file>

<file path=ppt/tags/tag615.xml><?xml version="1.0" encoding="utf-8"?>
<p:tagLst xmlns:p="http://schemas.openxmlformats.org/presentationml/2006/main">
  <p:tag name="KSO_WM_BEAUTIFY_FLAG" val=""/>
</p:tagLst>
</file>

<file path=ppt/tags/tag616.xml><?xml version="1.0" encoding="utf-8"?>
<p:tagLst xmlns:p="http://schemas.openxmlformats.org/presentationml/2006/main">
  <p:tag name="KSO_WM_BEAUTIFY_FLAG" val=""/>
</p:tagLst>
</file>

<file path=ppt/tags/tag617.xml><?xml version="1.0" encoding="utf-8"?>
<p:tagLst xmlns:p="http://schemas.openxmlformats.org/presentationml/2006/main">
  <p:tag name="KSO_WM_BEAUTIFY_FLAG" val=""/>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BEAUTIFY_FLAG" val=""/>
</p:tagLst>
</file>

<file path=ppt/tags/tag620.xml><?xml version="1.0" encoding="utf-8"?>
<p:tagLst xmlns:p="http://schemas.openxmlformats.org/presentationml/2006/main">
  <p:tag name="KSO_WM_BEAUTIFY_FLAG" val=""/>
</p:tagLst>
</file>

<file path=ppt/tags/tag621.xml><?xml version="1.0" encoding="utf-8"?>
<p:tagLst xmlns:p="http://schemas.openxmlformats.org/presentationml/2006/main">
  <p:tag name="KSO_WM_BEAUTIFY_FLAG" val=""/>
</p:tagLst>
</file>

<file path=ppt/tags/tag622.xml><?xml version="1.0" encoding="utf-8"?>
<p:tagLst xmlns:p="http://schemas.openxmlformats.org/presentationml/2006/main">
  <p:tag name="KSO_WM_BEAUTIFY_FLAG" val=""/>
</p:tagLst>
</file>

<file path=ppt/tags/tag623.xml><?xml version="1.0" encoding="utf-8"?>
<p:tagLst xmlns:p="http://schemas.openxmlformats.org/presentationml/2006/main">
  <p:tag name="KSO_WM_BEAUTIFY_FLAG" val=""/>
</p:tagLst>
</file>

<file path=ppt/tags/tag624.xml><?xml version="1.0" encoding="utf-8"?>
<p:tagLst xmlns:p="http://schemas.openxmlformats.org/presentationml/2006/main">
  <p:tag name="KSO_WM_BEAUTIFY_FLAG" val=""/>
</p:tagLst>
</file>

<file path=ppt/tags/tag625.xml><?xml version="1.0" encoding="utf-8"?>
<p:tagLst xmlns:p="http://schemas.openxmlformats.org/presentationml/2006/main">
  <p:tag name="ISLIDE.ICON" val="#176715;"/>
</p:tagLst>
</file>

<file path=ppt/tags/tag626.xml><?xml version="1.0" encoding="utf-8"?>
<p:tagLst xmlns:p="http://schemas.openxmlformats.org/presentationml/2006/main">
  <p:tag name="KSO_WM_BEAUTIFY_FLAG" val=""/>
</p:tagLst>
</file>

<file path=ppt/tags/tag627.xml><?xml version="1.0" encoding="utf-8"?>
<p:tagLst xmlns:p="http://schemas.openxmlformats.org/presentationml/2006/main">
  <p:tag name="KSO_WM_BEAUTIFY_FLAG" val=""/>
</p:tagLst>
</file>

<file path=ppt/tags/tag628.xml><?xml version="1.0" encoding="utf-8"?>
<p:tagLst xmlns:p="http://schemas.openxmlformats.org/presentationml/2006/main">
  <p:tag name="KSO_WM_BEAUTIFY_FLAG" val=""/>
</p:tagLst>
</file>

<file path=ppt/tags/tag629.xml><?xml version="1.0" encoding="utf-8"?>
<p:tagLst xmlns:p="http://schemas.openxmlformats.org/presentationml/2006/main">
  <p:tag name="KSO_WM_BEAUTIFY_FLAG" val=""/>
</p:tagLst>
</file>

<file path=ppt/tags/tag630.xml><?xml version="1.0" encoding="utf-8"?>
<p:tagLst xmlns:p="http://schemas.openxmlformats.org/presentationml/2006/main">
  <p:tag name="KSO_WM_BEAUTIFY_FLAG" val=""/>
</p:tagLst>
</file>

<file path=ppt/tags/tag631.xml><?xml version="1.0" encoding="utf-8"?>
<p:tagLst xmlns:p="http://schemas.openxmlformats.org/presentationml/2006/main">
  <p:tag name="KSO_WM_BEAUTIFY_FLAG" val=""/>
</p:tagLst>
</file>

<file path=ppt/tags/tag632.xml><?xml version="1.0" encoding="utf-8"?>
<p:tagLst xmlns:p="http://schemas.openxmlformats.org/presentationml/2006/main">
  <p:tag name="KSO_WM_BEAUTIFY_FLAG" val=""/>
</p:tagLst>
</file>

<file path=ppt/tags/tag633.xml><?xml version="1.0" encoding="utf-8"?>
<p:tagLst xmlns:p="http://schemas.openxmlformats.org/presentationml/2006/main">
  <p:tag name="KSO_WM_BEAUTIFY_FLAG" val=""/>
</p:tagLst>
</file>

<file path=ppt/tags/tag634.xml><?xml version="1.0" encoding="utf-8"?>
<p:tagLst xmlns:p="http://schemas.openxmlformats.org/presentationml/2006/main">
  <p:tag name="KSO_WM_BEAUTIFY_FLAG" val=""/>
</p:tagLst>
</file>

<file path=ppt/tags/tag635.xml><?xml version="1.0" encoding="utf-8"?>
<p:tagLst xmlns:p="http://schemas.openxmlformats.org/presentationml/2006/main">
  <p:tag name="KSO_WM_BEAUTIFY_FLAG" val=""/>
</p:tagLst>
</file>

<file path=ppt/tags/tag636.xml><?xml version="1.0" encoding="utf-8"?>
<p:tagLst xmlns:p="http://schemas.openxmlformats.org/presentationml/2006/main">
  <p:tag name="KSO_WM_BEAUTIFY_FLAG" val=""/>
</p:tagLst>
</file>

<file path=ppt/tags/tag637.xml><?xml version="1.0" encoding="utf-8"?>
<p:tagLst xmlns:p="http://schemas.openxmlformats.org/presentationml/2006/main">
  <p:tag name="KSO_WM_BEAUTIFY_FLAG" val=""/>
</p:tagLst>
</file>

<file path=ppt/tags/tag638.xml><?xml version="1.0" encoding="utf-8"?>
<p:tagLst xmlns:p="http://schemas.openxmlformats.org/presentationml/2006/main">
  <p:tag name="KSO_WM_BEAUTIFY_FLAG" val=""/>
</p:tagLst>
</file>

<file path=ppt/tags/tag639.xml><?xml version="1.0" encoding="utf-8"?>
<p:tagLst xmlns:p="http://schemas.openxmlformats.org/presentationml/2006/main">
  <p:tag name="KSO_WM_BEAUTIFY_FLAG" val=""/>
</p:tagLst>
</file>

<file path=ppt/tags/tag640.xml><?xml version="1.0" encoding="utf-8"?>
<p:tagLst xmlns:p="http://schemas.openxmlformats.org/presentationml/2006/main">
  <p:tag name="KSO_WM_BEAUTIFY_FLAG" val=""/>
</p:tagLst>
</file>

<file path=ppt/tags/tag641.xml><?xml version="1.0" encoding="utf-8"?>
<p:tagLst xmlns:p="http://schemas.openxmlformats.org/presentationml/2006/main">
  <p:tag name="KSO_WM_BEAUTIFY_FLAG" val=""/>
</p:tagLst>
</file>

<file path=ppt/tags/tag642.xml><?xml version="1.0" encoding="utf-8"?>
<p:tagLst xmlns:p="http://schemas.openxmlformats.org/presentationml/2006/main">
  <p:tag name="KSO_WM_BEAUTIFY_FLAG" val=""/>
</p:tagLst>
</file>

<file path=ppt/tags/tag643.xml><?xml version="1.0" encoding="utf-8"?>
<p:tagLst xmlns:p="http://schemas.openxmlformats.org/presentationml/2006/main">
  <p:tag name="KSO_WM_BEAUTIFY_FLAG" val=""/>
</p:tagLst>
</file>

<file path=ppt/tags/tag644.xml><?xml version="1.0" encoding="utf-8"?>
<p:tagLst xmlns:p="http://schemas.openxmlformats.org/presentationml/2006/main">
  <p:tag name="KSO_WM_BEAUTIFY_FLAG" val=""/>
</p:tagLst>
</file>

<file path=ppt/tags/tag645.xml><?xml version="1.0" encoding="utf-8"?>
<p:tagLst xmlns:p="http://schemas.openxmlformats.org/presentationml/2006/main">
  <p:tag name="KSO_WM_BEAUTIFY_FLAG" val=""/>
</p:tagLst>
</file>

<file path=ppt/tags/tag646.xml><?xml version="1.0" encoding="utf-8"?>
<p:tagLst xmlns:p="http://schemas.openxmlformats.org/presentationml/2006/main">
  <p:tag name="KSO_WM_BEAUTIFY_FLAG" val=""/>
</p:tagLst>
</file>

<file path=ppt/tags/tag647.xml><?xml version="1.0" encoding="utf-8"?>
<p:tagLst xmlns:p="http://schemas.openxmlformats.org/presentationml/2006/main">
  <p:tag name="KSO_WM_BEAUTIFY_FLAG" val=""/>
</p:tagLst>
</file>

<file path=ppt/tags/tag648.xml><?xml version="1.0" encoding="utf-8"?>
<p:tagLst xmlns:p="http://schemas.openxmlformats.org/presentationml/2006/main">
  <p:tag name="KSO_WM_BEAUTIFY_FLAG" val=""/>
</p:tagLst>
</file>

<file path=ppt/tags/tag649.xml><?xml version="1.0" encoding="utf-8"?>
<p:tagLst xmlns:p="http://schemas.openxmlformats.org/presentationml/2006/main">
  <p:tag name="KSO_WM_BEAUTIFY_FLAG" val=""/>
</p:tagLst>
</file>

<file path=ppt/tags/tag650.xml><?xml version="1.0" encoding="utf-8"?>
<p:tagLst xmlns:p="http://schemas.openxmlformats.org/presentationml/2006/main">
  <p:tag name="KSO_WM_BEAUTIFY_FLAG" val=""/>
</p:tagLst>
</file>

<file path=ppt/tags/tag651.xml><?xml version="1.0" encoding="utf-8"?>
<p:tagLst xmlns:p="http://schemas.openxmlformats.org/presentationml/2006/main">
  <p:tag name="KSO_WM_BEAUTIFY_FLAG" val=""/>
</p:tagLst>
</file>

<file path=ppt/tags/tag652.xml><?xml version="1.0" encoding="utf-8"?>
<p:tagLst xmlns:p="http://schemas.openxmlformats.org/presentationml/2006/main">
  <p:tag name="KSO_WM_BEAUTIFY_FLAG" val=""/>
</p:tagLst>
</file>

<file path=ppt/tags/tag653.xml><?xml version="1.0" encoding="utf-8"?>
<p:tagLst xmlns:p="http://schemas.openxmlformats.org/presentationml/2006/main">
  <p:tag name="KSO_WM_BEAUTIFY_FLAG" val=""/>
</p:tagLst>
</file>

<file path=ppt/tags/tag654.xml><?xml version="1.0" encoding="utf-8"?>
<p:tagLst xmlns:p="http://schemas.openxmlformats.org/presentationml/2006/main">
  <p:tag name="KSO_WM_BEAUTIFY_FLAG" val=""/>
</p:tagLst>
</file>

<file path=ppt/tags/tag655.xml><?xml version="1.0" encoding="utf-8"?>
<p:tagLst xmlns:p="http://schemas.openxmlformats.org/presentationml/2006/main">
  <p:tag name="KSO_WM_BEAUTIFY_FLAG" val=""/>
</p:tagLst>
</file>

<file path=ppt/tags/tag656.xml><?xml version="1.0" encoding="utf-8"?>
<p:tagLst xmlns:p="http://schemas.openxmlformats.org/presentationml/2006/main">
  <p:tag name="KSO_WM_BEAUTIFY_FLAG" val=""/>
</p:tagLst>
</file>

<file path=ppt/tags/tag657.xml><?xml version="1.0" encoding="utf-8"?>
<p:tagLst xmlns:p="http://schemas.openxmlformats.org/presentationml/2006/main">
  <p:tag name="KSO_WM_BEAUTIFY_FLAG" val=""/>
</p:tagLst>
</file>

<file path=ppt/tags/tag658.xml><?xml version="1.0" encoding="utf-8"?>
<p:tagLst xmlns:p="http://schemas.openxmlformats.org/presentationml/2006/main">
  <p:tag name="KSO_WM_BEAUTIFY_FLAG" val=""/>
</p:tagLst>
</file>

<file path=ppt/tags/tag659.xml><?xml version="1.0" encoding="utf-8"?>
<p:tagLst xmlns:p="http://schemas.openxmlformats.org/presentationml/2006/main">
  <p:tag name="KSO_WM_BEAUTIFY_FLAG" val=""/>
</p:tagLst>
</file>

<file path=ppt/tags/tag660.xml><?xml version="1.0" encoding="utf-8"?>
<p:tagLst xmlns:p="http://schemas.openxmlformats.org/presentationml/2006/main">
  <p:tag name="KSO_WM_BEAUTIFY_FLAG" val=""/>
</p:tagLst>
</file>

<file path=ppt/tags/tag661.xml><?xml version="1.0" encoding="utf-8"?>
<p:tagLst xmlns:p="http://schemas.openxmlformats.org/presentationml/2006/main">
  <p:tag name="KSO_WM_BEAUTIFY_FLAG" val=""/>
</p:tagLst>
</file>

<file path=ppt/tags/tag662.xml><?xml version="1.0" encoding="utf-8"?>
<p:tagLst xmlns:p="http://schemas.openxmlformats.org/presentationml/2006/main">
  <p:tag name="KSO_WM_BEAUTIFY_FLAG" val=""/>
</p:tagLst>
</file>

<file path=ppt/tags/tag663.xml><?xml version="1.0" encoding="utf-8"?>
<p:tagLst xmlns:p="http://schemas.openxmlformats.org/presentationml/2006/main">
  <p:tag name="KSO_WM_BEAUTIFY_FLAG" val=""/>
</p:tagLst>
</file>

<file path=ppt/tags/tag664.xml><?xml version="1.0" encoding="utf-8"?>
<p:tagLst xmlns:p="http://schemas.openxmlformats.org/presentationml/2006/main">
  <p:tag name="KSO_WM_BEAUTIFY_FLAG" val=""/>
</p:tagLst>
</file>

<file path=ppt/tags/tag665.xml><?xml version="1.0" encoding="utf-8"?>
<p:tagLst xmlns:p="http://schemas.openxmlformats.org/presentationml/2006/main">
  <p:tag name="KSO_WM_BEAUTIFY_FLAG" val=""/>
</p:tagLst>
</file>

<file path=ppt/tags/tag666.xml><?xml version="1.0" encoding="utf-8"?>
<p:tagLst xmlns:p="http://schemas.openxmlformats.org/presentationml/2006/main">
  <p:tag name="KSO_WM_BEAUTIFY_FLAG" val=""/>
</p:tagLst>
</file>

<file path=ppt/tags/tag667.xml><?xml version="1.0" encoding="utf-8"?>
<p:tagLst xmlns:p="http://schemas.openxmlformats.org/presentationml/2006/main">
  <p:tag name="KSO_WM_BEAUTIFY_FLAG" val=""/>
</p:tagLst>
</file>

<file path=ppt/tags/tag668.xml><?xml version="1.0" encoding="utf-8"?>
<p:tagLst xmlns:p="http://schemas.openxmlformats.org/presentationml/2006/main">
  <p:tag name="KSO_WM_BEAUTIFY_FLAG" val=""/>
</p:tagLst>
</file>

<file path=ppt/tags/tag669.xml><?xml version="1.0" encoding="utf-8"?>
<p:tagLst xmlns:p="http://schemas.openxmlformats.org/presentationml/2006/main">
  <p:tag name="KSO_WM_BEAUTIFY_FLAG" val=""/>
</p:tagLst>
</file>

<file path=ppt/tags/tag670.xml><?xml version="1.0" encoding="utf-8"?>
<p:tagLst xmlns:p="http://schemas.openxmlformats.org/presentationml/2006/main">
  <p:tag name="KSO_WM_BEAUTIFY_FLAG" val=""/>
</p:tagLst>
</file>

<file path=ppt/tags/tag671.xml><?xml version="1.0" encoding="utf-8"?>
<p:tagLst xmlns:p="http://schemas.openxmlformats.org/presentationml/2006/main">
  <p:tag name="KSO_WM_BEAUTIFY_FLAG" val=""/>
</p:tagLst>
</file>

<file path=ppt/tags/tag672.xml><?xml version="1.0" encoding="utf-8"?>
<p:tagLst xmlns:p="http://schemas.openxmlformats.org/presentationml/2006/main">
  <p:tag name="KSO_WM_BEAUTIFY_FLAG" val=""/>
</p:tagLst>
</file>

<file path=ppt/tags/tag673.xml><?xml version="1.0" encoding="utf-8"?>
<p:tagLst xmlns:p="http://schemas.openxmlformats.org/presentationml/2006/main">
  <p:tag name="KSO_WM_BEAUTIFY_FLAG" val=""/>
</p:tagLst>
</file>

<file path=ppt/tags/tag674.xml><?xml version="1.0" encoding="utf-8"?>
<p:tagLst xmlns:p="http://schemas.openxmlformats.org/presentationml/2006/main">
  <p:tag name="KSO_WM_BEAUTIFY_FLAG" val=""/>
</p:tagLst>
</file>

<file path=ppt/tags/tag675.xml><?xml version="1.0" encoding="utf-8"?>
<p:tagLst xmlns:p="http://schemas.openxmlformats.org/presentationml/2006/main">
  <p:tag name="KSO_WM_BEAUTIFY_FLAG" val=""/>
</p:tagLst>
</file>

<file path=ppt/tags/tag676.xml><?xml version="1.0" encoding="utf-8"?>
<p:tagLst xmlns:p="http://schemas.openxmlformats.org/presentationml/2006/main">
  <p:tag name="KSO_WM_BEAUTIFY_FLAG" val=""/>
</p:tagLst>
</file>

<file path=ppt/tags/tag677.xml><?xml version="1.0" encoding="utf-8"?>
<p:tagLst xmlns:p="http://schemas.openxmlformats.org/presentationml/2006/main">
  <p:tag name="KSO_WM_BEAUTIFY_FLAG" val=""/>
</p:tagLst>
</file>

<file path=ppt/tags/tag678.xml><?xml version="1.0" encoding="utf-8"?>
<p:tagLst xmlns:p="http://schemas.openxmlformats.org/presentationml/2006/main">
  <p:tag name="KSO_WM_BEAUTIFY_FLAG" val=""/>
</p:tagLst>
</file>

<file path=ppt/tags/tag679.xml><?xml version="1.0" encoding="utf-8"?>
<p:tagLst xmlns:p="http://schemas.openxmlformats.org/presentationml/2006/main">
  <p:tag name="KSO_WM_BEAUTIFY_FLAG" val=""/>
</p:tagLst>
</file>

<file path=ppt/tags/tag680.xml><?xml version="1.0" encoding="utf-8"?>
<p:tagLst xmlns:p="http://schemas.openxmlformats.org/presentationml/2006/main">
  <p:tag name="KSO_WM_BEAUTIFY_FLAG" val=""/>
</p:tagLst>
</file>

<file path=ppt/tags/tag681.xml><?xml version="1.0" encoding="utf-8"?>
<p:tagLst xmlns:p="http://schemas.openxmlformats.org/presentationml/2006/main">
  <p:tag name="KSO_WM_BEAUTIFY_FLAG" val=""/>
</p:tagLst>
</file>

<file path=ppt/tags/tag682.xml><?xml version="1.0" encoding="utf-8"?>
<p:tagLst xmlns:p="http://schemas.openxmlformats.org/presentationml/2006/main">
  <p:tag name="KSO_WM_BEAUTIFY_FLAG" val=""/>
</p:tagLst>
</file>

<file path=ppt/tags/tag683.xml><?xml version="1.0" encoding="utf-8"?>
<p:tagLst xmlns:p="http://schemas.openxmlformats.org/presentationml/2006/main">
  <p:tag name="ISLIDE.ICON" val="#176715;"/>
</p:tagLst>
</file>

<file path=ppt/tags/tag684.xml><?xml version="1.0" encoding="utf-8"?>
<p:tagLst xmlns:p="http://schemas.openxmlformats.org/presentationml/2006/main">
  <p:tag name="KSO_WM_BEAUTIFY_FLAG" val=""/>
</p:tagLst>
</file>

<file path=ppt/tags/tag685.xml><?xml version="1.0" encoding="utf-8"?>
<p:tagLst xmlns:p="http://schemas.openxmlformats.org/presentationml/2006/main">
  <p:tag name="KSO_WM_BEAUTIFY_FLAG" val=""/>
</p:tagLst>
</file>

<file path=ppt/tags/tag686.xml><?xml version="1.0" encoding="utf-8"?>
<p:tagLst xmlns:p="http://schemas.openxmlformats.org/presentationml/2006/main">
  <p:tag name="KSO_WM_BEAUTIFY_FLAG" val=""/>
</p:tagLst>
</file>

<file path=ppt/tags/tag687.xml><?xml version="1.0" encoding="utf-8"?>
<p:tagLst xmlns:p="http://schemas.openxmlformats.org/presentationml/2006/main">
  <p:tag name="KSO_WM_BEAUTIFY_FLAG" val=""/>
</p:tagLst>
</file>

<file path=ppt/tags/tag688.xml><?xml version="1.0" encoding="utf-8"?>
<p:tagLst xmlns:p="http://schemas.openxmlformats.org/presentationml/2006/main">
  <p:tag name="KSO_WM_BEAUTIFY_FLAG" val=""/>
</p:tagLst>
</file>

<file path=ppt/tags/tag689.xml><?xml version="1.0" encoding="utf-8"?>
<p:tagLst xmlns:p="http://schemas.openxmlformats.org/presentationml/2006/main">
  <p:tag name="KSO_WM_BEAUTIFY_FLAG" val=""/>
</p:tagLst>
</file>

<file path=ppt/tags/tag690.xml><?xml version="1.0" encoding="utf-8"?>
<p:tagLst xmlns:p="http://schemas.openxmlformats.org/presentationml/2006/main">
  <p:tag name="KSO_WM_BEAUTIFY_FLAG" val=""/>
</p:tagLst>
</file>

<file path=ppt/tags/tag691.xml><?xml version="1.0" encoding="utf-8"?>
<p:tagLst xmlns:p="http://schemas.openxmlformats.org/presentationml/2006/main">
  <p:tag name="KSO_WM_BEAUTIFY_FLAG" val=""/>
</p:tagLst>
</file>

<file path=ppt/tags/tag692.xml><?xml version="1.0" encoding="utf-8"?>
<p:tagLst xmlns:p="http://schemas.openxmlformats.org/presentationml/2006/main">
  <p:tag name="KSO_WM_BEAUTIFY_FLAG" val=""/>
</p:tagLst>
</file>

<file path=ppt/tags/tag693.xml><?xml version="1.0" encoding="utf-8"?>
<p:tagLst xmlns:p="http://schemas.openxmlformats.org/presentationml/2006/main">
  <p:tag name="KSO_WM_BEAUTIFY_FLAG" val=""/>
</p:tagLst>
</file>

<file path=ppt/tags/tag694.xml><?xml version="1.0" encoding="utf-8"?>
<p:tagLst xmlns:p="http://schemas.openxmlformats.org/presentationml/2006/main">
  <p:tag name="KSO_WM_BEAUTIFY_FLAG" val=""/>
</p:tagLst>
</file>

<file path=ppt/tags/tag695.xml><?xml version="1.0" encoding="utf-8"?>
<p:tagLst xmlns:p="http://schemas.openxmlformats.org/presentationml/2006/main">
  <p:tag name="KSO_WM_BEAUTIFY_FLAG" val=""/>
</p:tagLst>
</file>

<file path=ppt/tags/tag696.xml><?xml version="1.0" encoding="utf-8"?>
<p:tagLst xmlns:p="http://schemas.openxmlformats.org/presentationml/2006/main">
  <p:tag name="KSO_WM_BEAUTIFY_FLAG" val=""/>
</p:tagLst>
</file>

<file path=ppt/tags/tag697.xml><?xml version="1.0" encoding="utf-8"?>
<p:tagLst xmlns:p="http://schemas.openxmlformats.org/presentationml/2006/main">
  <p:tag name="KSO_WM_BEAUTIFY_FLAG" val=""/>
</p:tagLst>
</file>

<file path=ppt/tags/tag698.xml><?xml version="1.0" encoding="utf-8"?>
<p:tagLst xmlns:p="http://schemas.openxmlformats.org/presentationml/2006/main">
  <p:tag name="KSO_WM_BEAUTIFY_FLAG" val=""/>
</p:tagLst>
</file>

<file path=ppt/tags/tag699.xml><?xml version="1.0" encoding="utf-8"?>
<p:tagLst xmlns:p="http://schemas.openxmlformats.org/presentationml/2006/main">
  <p:tag name="KSO_WM_BEAUTIFY_FLAG" val=""/>
</p:tagLst>
</file>

<file path=ppt/tags/tag700.xml><?xml version="1.0" encoding="utf-8"?>
<p:tagLst xmlns:p="http://schemas.openxmlformats.org/presentationml/2006/main">
  <p:tag name="KSO_WM_BEAUTIFY_FLAG" val=""/>
</p:tagLst>
</file>

<file path=ppt/tags/tag701.xml><?xml version="1.0" encoding="utf-8"?>
<p:tagLst xmlns:p="http://schemas.openxmlformats.org/presentationml/2006/main">
  <p:tag name="KSO_WM_BEAUTIFY_FLAG" val=""/>
</p:tagLst>
</file>

<file path=ppt/tags/tag702.xml><?xml version="1.0" encoding="utf-8"?>
<p:tagLst xmlns:p="http://schemas.openxmlformats.org/presentationml/2006/main">
  <p:tag name="KSO_WM_BEAUTIFY_FLAG" val=""/>
</p:tagLst>
</file>

<file path=ppt/tags/tag703.xml><?xml version="1.0" encoding="utf-8"?>
<p:tagLst xmlns:p="http://schemas.openxmlformats.org/presentationml/2006/main">
  <p:tag name="KSO_WM_BEAUTIFY_FLAG" val=""/>
</p:tagLst>
</file>

<file path=ppt/tags/tag704.xml><?xml version="1.0" encoding="utf-8"?>
<p:tagLst xmlns:p="http://schemas.openxmlformats.org/presentationml/2006/main">
  <p:tag name="KSO_WM_BEAUTIFY_FLAG" val=""/>
</p:tagLst>
</file>

<file path=ppt/tags/tag705.xml><?xml version="1.0" encoding="utf-8"?>
<p:tagLst xmlns:p="http://schemas.openxmlformats.org/presentationml/2006/main">
  <p:tag name="KSO_WM_BEAUTIFY_FLAG" val=""/>
</p:tagLst>
</file>

<file path=ppt/tags/tag706.xml><?xml version="1.0" encoding="utf-8"?>
<p:tagLst xmlns:p="http://schemas.openxmlformats.org/presentationml/2006/main">
  <p:tag name="KSO_WM_BEAUTIFY_FLAG" val=""/>
</p:tagLst>
</file>

<file path=ppt/tags/tag707.xml><?xml version="1.0" encoding="utf-8"?>
<p:tagLst xmlns:p="http://schemas.openxmlformats.org/presentationml/2006/main">
  <p:tag name="KSO_WM_BEAUTIFY_FLAG" val=""/>
</p:tagLst>
</file>

<file path=ppt/tags/tag708.xml><?xml version="1.0" encoding="utf-8"?>
<p:tagLst xmlns:p="http://schemas.openxmlformats.org/presentationml/2006/main">
  <p:tag name="KSO_WM_BEAUTIFY_FLAG" val=""/>
</p:tagLst>
</file>

<file path=ppt/tags/tag709.xml><?xml version="1.0" encoding="utf-8"?>
<p:tagLst xmlns:p="http://schemas.openxmlformats.org/presentationml/2006/main">
  <p:tag name="KSO_WM_BEAUTIFY_FLAG" val=""/>
</p:tagLst>
</file>

<file path=ppt/tags/tag710.xml><?xml version="1.0" encoding="utf-8"?>
<p:tagLst xmlns:p="http://schemas.openxmlformats.org/presentationml/2006/main">
  <p:tag name="KSO_WM_BEAUTIFY_FLAG" val=""/>
</p:tagLst>
</file>

<file path=ppt/tags/tag711.xml><?xml version="1.0" encoding="utf-8"?>
<p:tagLst xmlns:p="http://schemas.openxmlformats.org/presentationml/2006/main">
  <p:tag name="KSO_WM_BEAUTIFY_FLAG" val=""/>
</p:tagLst>
</file>

<file path=ppt/tags/tag712.xml><?xml version="1.0" encoding="utf-8"?>
<p:tagLst xmlns:p="http://schemas.openxmlformats.org/presentationml/2006/main">
  <p:tag name="KSO_WM_BEAUTIFY_FLAG" val=""/>
</p:tagLst>
</file>

<file path=ppt/tags/tag713.xml><?xml version="1.0" encoding="utf-8"?>
<p:tagLst xmlns:p="http://schemas.openxmlformats.org/presentationml/2006/main">
  <p:tag name="KSO_WM_BEAUTIFY_FLAG" val=""/>
</p:tagLst>
</file>

<file path=ppt/tags/tag714.xml><?xml version="1.0" encoding="utf-8"?>
<p:tagLst xmlns:p="http://schemas.openxmlformats.org/presentationml/2006/main">
  <p:tag name="KSO_WM_BEAUTIFY_FLAG" val=""/>
</p:tagLst>
</file>

<file path=ppt/tags/tag715.xml><?xml version="1.0" encoding="utf-8"?>
<p:tagLst xmlns:p="http://schemas.openxmlformats.org/presentationml/2006/main">
  <p:tag name="KSO_WM_BEAUTIFY_FLAG" val=""/>
</p:tagLst>
</file>

<file path=ppt/tags/tag716.xml><?xml version="1.0" encoding="utf-8"?>
<p:tagLst xmlns:p="http://schemas.openxmlformats.org/presentationml/2006/main">
  <p:tag name="KSO_WM_BEAUTIFY_FLAG" val=""/>
</p:tagLst>
</file>

<file path=ppt/tags/tag717.xml><?xml version="1.0" encoding="utf-8"?>
<p:tagLst xmlns:p="http://schemas.openxmlformats.org/presentationml/2006/main">
  <p:tag name="KSO_WM_BEAUTIFY_FLAG" val=""/>
</p:tagLst>
</file>

<file path=ppt/tags/tag718.xml><?xml version="1.0" encoding="utf-8"?>
<p:tagLst xmlns:p="http://schemas.openxmlformats.org/presentationml/2006/main">
  <p:tag name="KSO_WM_BEAUTIFY_FLAG" val=""/>
</p:tagLst>
</file>

<file path=ppt/tags/tag719.xml><?xml version="1.0" encoding="utf-8"?>
<p:tagLst xmlns:p="http://schemas.openxmlformats.org/presentationml/2006/main">
  <p:tag name="KSO_WM_BEAUTIFY_FLAG" val=""/>
</p:tagLst>
</file>

<file path=ppt/tags/tag720.xml><?xml version="1.0" encoding="utf-8"?>
<p:tagLst xmlns:p="http://schemas.openxmlformats.org/presentationml/2006/main">
  <p:tag name="ISLIDE.ICON" val="#176715;"/>
</p:tagLst>
</file>

<file path=ppt/tags/tag721.xml><?xml version="1.0" encoding="utf-8"?>
<p:tagLst xmlns:p="http://schemas.openxmlformats.org/presentationml/2006/main">
  <p:tag name="KSO_WM_BEAUTIFY_FLAG" val=""/>
</p:tagLst>
</file>

<file path=ppt/tags/tag722.xml><?xml version="1.0" encoding="utf-8"?>
<p:tagLst xmlns:p="http://schemas.openxmlformats.org/presentationml/2006/main">
  <p:tag name="KSO_WM_BEAUTIFY_FLAG" val=""/>
</p:tagLst>
</file>

<file path=ppt/tags/tag723.xml><?xml version="1.0" encoding="utf-8"?>
<p:tagLst xmlns:p="http://schemas.openxmlformats.org/presentationml/2006/main">
  <p:tag name="KSO_WM_BEAUTIFY_FLAG" val=""/>
</p:tagLst>
</file>

<file path=ppt/tags/tag724.xml><?xml version="1.0" encoding="utf-8"?>
<p:tagLst xmlns:p="http://schemas.openxmlformats.org/presentationml/2006/main">
  <p:tag name="KSO_WM_BEAUTIFY_FLAG" val=""/>
</p:tagLst>
</file>

<file path=ppt/tags/tag725.xml><?xml version="1.0" encoding="utf-8"?>
<p:tagLst xmlns:p="http://schemas.openxmlformats.org/presentationml/2006/main">
  <p:tag name="KSO_WM_BEAUTIFY_FLAG" val=""/>
</p:tagLst>
</file>

<file path=ppt/tags/tag726.xml><?xml version="1.0" encoding="utf-8"?>
<p:tagLst xmlns:p="http://schemas.openxmlformats.org/presentationml/2006/main">
  <p:tag name="KSO_WM_BEAUTIFY_FLAG" val=""/>
</p:tagLst>
</file>

<file path=ppt/tags/tag727.xml><?xml version="1.0" encoding="utf-8"?>
<p:tagLst xmlns:p="http://schemas.openxmlformats.org/presentationml/2006/main">
  <p:tag name="KSO_WM_BEAUTIFY_FLAG" val=""/>
</p:tagLst>
</file>

<file path=ppt/tags/tag728.xml><?xml version="1.0" encoding="utf-8"?>
<p:tagLst xmlns:p="http://schemas.openxmlformats.org/presentationml/2006/main">
  <p:tag name="KSO_WM_BEAUTIFY_FLAG" val=""/>
</p:tagLst>
</file>

<file path=ppt/tags/tag729.xml><?xml version="1.0" encoding="utf-8"?>
<p:tagLst xmlns:p="http://schemas.openxmlformats.org/presentationml/2006/main">
  <p:tag name="KSO_WM_BEAUTIFY_FLAG" val=""/>
</p:tagLst>
</file>

<file path=ppt/tags/tag730.xml><?xml version="1.0" encoding="utf-8"?>
<p:tagLst xmlns:p="http://schemas.openxmlformats.org/presentationml/2006/main">
  <p:tag name="KSO_WM_BEAUTIFY_FLAG" val=""/>
</p:tagLst>
</file>

<file path=ppt/tags/tag731.xml><?xml version="1.0" encoding="utf-8"?>
<p:tagLst xmlns:p="http://schemas.openxmlformats.org/presentationml/2006/main">
  <p:tag name="KSO_WM_BEAUTIFY_FLAG" val=""/>
</p:tagLst>
</file>

<file path=ppt/tags/tag732.xml><?xml version="1.0" encoding="utf-8"?>
<p:tagLst xmlns:p="http://schemas.openxmlformats.org/presentationml/2006/main">
  <p:tag name="KSO_WM_BEAUTIFY_FLAG" val=""/>
</p:tagLst>
</file>

<file path=ppt/tags/tag733.xml><?xml version="1.0" encoding="utf-8"?>
<p:tagLst xmlns:p="http://schemas.openxmlformats.org/presentationml/2006/main">
  <p:tag name="KSO_WM_BEAUTIFY_FLAG" val=""/>
</p:tagLst>
</file>

<file path=ppt/tags/tag734.xml><?xml version="1.0" encoding="utf-8"?>
<p:tagLst xmlns:p="http://schemas.openxmlformats.org/presentationml/2006/main">
  <p:tag name="KSO_WM_BEAUTIFY_FLAG" val=""/>
</p:tagLst>
</file>

<file path=ppt/tags/tag735.xml><?xml version="1.0" encoding="utf-8"?>
<p:tagLst xmlns:p="http://schemas.openxmlformats.org/presentationml/2006/main">
  <p:tag name="KSO_WM_BEAUTIFY_FLAG" val=""/>
</p:tagLst>
</file>

<file path=ppt/tags/tag736.xml><?xml version="1.0" encoding="utf-8"?>
<p:tagLst xmlns:p="http://schemas.openxmlformats.org/presentationml/2006/main">
  <p:tag name="KSO_WM_BEAUTIFY_FLAG" val=""/>
</p:tagLst>
</file>

<file path=ppt/tags/tag737.xml><?xml version="1.0" encoding="utf-8"?>
<p:tagLst xmlns:p="http://schemas.openxmlformats.org/presentationml/2006/main">
  <p:tag name="KSO_WM_BEAUTIFY_FLAG" val=""/>
</p:tagLst>
</file>

<file path=ppt/tags/tag738.xml><?xml version="1.0" encoding="utf-8"?>
<p:tagLst xmlns:p="http://schemas.openxmlformats.org/presentationml/2006/main">
  <p:tag name="KSO_WM_BEAUTIFY_FLAG" val=""/>
</p:tagLst>
</file>

<file path=ppt/tags/tag739.xml><?xml version="1.0" encoding="utf-8"?>
<p:tagLst xmlns:p="http://schemas.openxmlformats.org/presentationml/2006/main">
  <p:tag name="KSO_WM_BEAUTIFY_FLAG" val=""/>
</p:tagLst>
</file>

<file path=ppt/tags/tag740.xml><?xml version="1.0" encoding="utf-8"?>
<p:tagLst xmlns:p="http://schemas.openxmlformats.org/presentationml/2006/main">
  <p:tag name="KSO_WM_BEAUTIFY_FLAG" val=""/>
</p:tagLst>
</file>

<file path=ppt/tags/tag741.xml><?xml version="1.0" encoding="utf-8"?>
<p:tagLst xmlns:p="http://schemas.openxmlformats.org/presentationml/2006/main">
  <p:tag name="KSO_WM_BEAUTIFY_FLAG" val=""/>
</p:tagLst>
</file>

<file path=ppt/tags/tag742.xml><?xml version="1.0" encoding="utf-8"?>
<p:tagLst xmlns:p="http://schemas.openxmlformats.org/presentationml/2006/main">
  <p:tag name="KSO_WM_BEAUTIFY_FLAG" val=""/>
</p:tagLst>
</file>

<file path=ppt/tags/tag743.xml><?xml version="1.0" encoding="utf-8"?>
<p:tagLst xmlns:p="http://schemas.openxmlformats.org/presentationml/2006/main">
  <p:tag name="KSO_WM_BEAUTIFY_FLAG" val=""/>
</p:tagLst>
</file>

<file path=ppt/tags/tag744.xml><?xml version="1.0" encoding="utf-8"?>
<p:tagLst xmlns:p="http://schemas.openxmlformats.org/presentationml/2006/main">
  <p:tag name="KSO_WM_BEAUTIFY_FLAG" val=""/>
</p:tagLst>
</file>

<file path=ppt/tags/tag745.xml><?xml version="1.0" encoding="utf-8"?>
<p:tagLst xmlns:p="http://schemas.openxmlformats.org/presentationml/2006/main">
  <p:tag name="KSO_WM_BEAUTIFY_FLAG" val=""/>
</p:tagLst>
</file>

<file path=ppt/tags/tag746.xml><?xml version="1.0" encoding="utf-8"?>
<p:tagLst xmlns:p="http://schemas.openxmlformats.org/presentationml/2006/main">
  <p:tag name="KSO_WM_BEAUTIFY_FLAG" val=""/>
</p:tagLst>
</file>

<file path=ppt/tags/tag747.xml><?xml version="1.0" encoding="utf-8"?>
<p:tagLst xmlns:p="http://schemas.openxmlformats.org/presentationml/2006/main">
  <p:tag name="KSO_WM_BEAUTIFY_FLAG" val=""/>
</p:tagLst>
</file>

<file path=ppt/tags/tag748.xml><?xml version="1.0" encoding="utf-8"?>
<p:tagLst xmlns:p="http://schemas.openxmlformats.org/presentationml/2006/main">
  <p:tag name="KSO_WM_BEAUTIFY_FLAG" val=""/>
</p:tagLst>
</file>

<file path=ppt/tags/tag749.xml><?xml version="1.0" encoding="utf-8"?>
<p:tagLst xmlns:p="http://schemas.openxmlformats.org/presentationml/2006/main">
  <p:tag name="KSO_WM_BEAUTIFY_FLAG" val=""/>
</p:tagLst>
</file>

<file path=ppt/tags/tag750.xml><?xml version="1.0" encoding="utf-8"?>
<p:tagLst xmlns:p="http://schemas.openxmlformats.org/presentationml/2006/main">
  <p:tag name="KSO_WM_BEAUTIFY_FLAG" val=""/>
</p:tagLst>
</file>

<file path=ppt/tags/tag751.xml><?xml version="1.0" encoding="utf-8"?>
<p:tagLst xmlns:p="http://schemas.openxmlformats.org/presentationml/2006/main">
  <p:tag name="KSO_WM_BEAUTIFY_FLAG" val=""/>
</p:tagLst>
</file>

<file path=ppt/tags/tag752.xml><?xml version="1.0" encoding="utf-8"?>
<p:tagLst xmlns:p="http://schemas.openxmlformats.org/presentationml/2006/main">
  <p:tag name="KSO_WM_BEAUTIFY_FLAG" val=""/>
</p:tagLst>
</file>

<file path=ppt/tags/tag753.xml><?xml version="1.0" encoding="utf-8"?>
<p:tagLst xmlns:p="http://schemas.openxmlformats.org/presentationml/2006/main">
  <p:tag name="KSO_WM_BEAUTIFY_FLAG" val=""/>
</p:tagLst>
</file>

<file path=ppt/tags/tag754.xml><?xml version="1.0" encoding="utf-8"?>
<p:tagLst xmlns:p="http://schemas.openxmlformats.org/presentationml/2006/main">
  <p:tag name="KSO_WM_BEAUTIFY_FLAG" val=""/>
</p:tagLst>
</file>

<file path=ppt/tags/tag755.xml><?xml version="1.0" encoding="utf-8"?>
<p:tagLst xmlns:p="http://schemas.openxmlformats.org/presentationml/2006/main">
  <p:tag name="KSO_WM_BEAUTIFY_FLAG" val=""/>
</p:tagLst>
</file>

<file path=ppt/tags/tag756.xml><?xml version="1.0" encoding="utf-8"?>
<p:tagLst xmlns:p="http://schemas.openxmlformats.org/presentationml/2006/main">
  <p:tag name="KSO_WM_BEAUTIFY_FLAG" val=""/>
</p:tagLst>
</file>

<file path=ppt/tags/tag757.xml><?xml version="1.0" encoding="utf-8"?>
<p:tagLst xmlns:p="http://schemas.openxmlformats.org/presentationml/2006/main">
  <p:tag name="KSO_WM_BEAUTIFY_FLAG" val=""/>
</p:tagLst>
</file>

<file path=ppt/tags/tag758.xml><?xml version="1.0" encoding="utf-8"?>
<p:tagLst xmlns:p="http://schemas.openxmlformats.org/presentationml/2006/main">
  <p:tag name="ISLIDE.ICON" val="#176715;"/>
</p:tagLst>
</file>

<file path=ppt/tags/tag759.xml><?xml version="1.0" encoding="utf-8"?>
<p:tagLst xmlns:p="http://schemas.openxmlformats.org/presentationml/2006/main">
  <p:tag name="KSO_WM_BEAUTIFY_FLAG" val=""/>
</p:tagLst>
</file>

<file path=ppt/tags/tag760.xml><?xml version="1.0" encoding="utf-8"?>
<p:tagLst xmlns:p="http://schemas.openxmlformats.org/presentationml/2006/main">
  <p:tag name="KSO_WM_BEAUTIFY_FLAG" val=""/>
</p:tagLst>
</file>

<file path=ppt/tags/tag761.xml><?xml version="1.0" encoding="utf-8"?>
<p:tagLst xmlns:p="http://schemas.openxmlformats.org/presentationml/2006/main">
  <p:tag name="KSO_WM_BEAUTIFY_FLAG" val=""/>
</p:tagLst>
</file>

<file path=ppt/tags/tag762.xml><?xml version="1.0" encoding="utf-8"?>
<p:tagLst xmlns:p="http://schemas.openxmlformats.org/presentationml/2006/main">
  <p:tag name="KSO_WM_BEAUTIFY_FLAG" val=""/>
</p:tagLst>
</file>

<file path=ppt/tags/tag763.xml><?xml version="1.0" encoding="utf-8"?>
<p:tagLst xmlns:p="http://schemas.openxmlformats.org/presentationml/2006/main">
  <p:tag name="KSO_WM_BEAUTIFY_FLAG" val=""/>
</p:tagLst>
</file>

<file path=ppt/tags/tag764.xml><?xml version="1.0" encoding="utf-8"?>
<p:tagLst xmlns:p="http://schemas.openxmlformats.org/presentationml/2006/main">
  <p:tag name="KSO_WM_BEAUTIFY_FLAG" val=""/>
</p:tagLst>
</file>

<file path=ppt/tags/tag765.xml><?xml version="1.0" encoding="utf-8"?>
<p:tagLst xmlns:p="http://schemas.openxmlformats.org/presentationml/2006/main">
  <p:tag name="KSO_WM_BEAUTIFY_FLAG" val=""/>
</p:tagLst>
</file>

<file path=ppt/tags/tag766.xml><?xml version="1.0" encoding="utf-8"?>
<p:tagLst xmlns:p="http://schemas.openxmlformats.org/presentationml/2006/main">
  <p:tag name="KSO_WM_BEAUTIFY_FLAG" val=""/>
</p:tagLst>
</file>

<file path=ppt/tags/tag767.xml><?xml version="1.0" encoding="utf-8"?>
<p:tagLst xmlns:p="http://schemas.openxmlformats.org/presentationml/2006/main">
  <p:tag name="KSO_WM_BEAUTIFY_FLAG" val=""/>
</p:tagLst>
</file>

<file path=ppt/tags/tag768.xml><?xml version="1.0" encoding="utf-8"?>
<p:tagLst xmlns:p="http://schemas.openxmlformats.org/presentationml/2006/main">
  <p:tag name="KSO_WM_BEAUTIFY_FLAG" val=""/>
</p:tagLst>
</file>

<file path=ppt/tags/tag769.xml><?xml version="1.0" encoding="utf-8"?>
<p:tagLst xmlns:p="http://schemas.openxmlformats.org/presentationml/2006/main">
  <p:tag name="KSO_WM_BEAUTIFY_FLAG" val=""/>
</p:tagLst>
</file>

<file path=ppt/tags/tag770.xml><?xml version="1.0" encoding="utf-8"?>
<p:tagLst xmlns:p="http://schemas.openxmlformats.org/presentationml/2006/main">
  <p:tag name="KSO_WM_BEAUTIFY_FLAG" val=""/>
</p:tagLst>
</file>

<file path=ppt/tags/tag771.xml><?xml version="1.0" encoding="utf-8"?>
<p:tagLst xmlns:p="http://schemas.openxmlformats.org/presentationml/2006/main">
  <p:tag name="KSO_WM_BEAUTIFY_FLAG" val=""/>
</p:tagLst>
</file>

<file path=ppt/tags/tag772.xml><?xml version="1.0" encoding="utf-8"?>
<p:tagLst xmlns:p="http://schemas.openxmlformats.org/presentationml/2006/main">
  <p:tag name="KSO_WM_BEAUTIFY_FLAG" val=""/>
</p:tagLst>
</file>

<file path=ppt/tags/tag773.xml><?xml version="1.0" encoding="utf-8"?>
<p:tagLst xmlns:p="http://schemas.openxmlformats.org/presentationml/2006/main">
  <p:tag name="KSO_WM_BEAUTIFY_FLAG" val=""/>
</p:tagLst>
</file>

<file path=ppt/tags/tag774.xml><?xml version="1.0" encoding="utf-8"?>
<p:tagLst xmlns:p="http://schemas.openxmlformats.org/presentationml/2006/main">
  <p:tag name="KSO_WM_BEAUTIFY_FLAG" val=""/>
</p:tagLst>
</file>

<file path=ppt/tags/tag775.xml><?xml version="1.0" encoding="utf-8"?>
<p:tagLst xmlns:p="http://schemas.openxmlformats.org/presentationml/2006/main">
  <p:tag name="KSO_WM_BEAUTIFY_FLAG" val=""/>
</p:tagLst>
</file>

<file path=ppt/tags/tag776.xml><?xml version="1.0" encoding="utf-8"?>
<p:tagLst xmlns:p="http://schemas.openxmlformats.org/presentationml/2006/main">
  <p:tag name="KSO_WM_BEAUTIFY_FLAG" val=""/>
</p:tagLst>
</file>

<file path=ppt/tags/tag777.xml><?xml version="1.0" encoding="utf-8"?>
<p:tagLst xmlns:p="http://schemas.openxmlformats.org/presentationml/2006/main">
  <p:tag name="KSO_WM_BEAUTIFY_FLAG" val=""/>
</p:tagLst>
</file>

<file path=ppt/tags/tag778.xml><?xml version="1.0" encoding="utf-8"?>
<p:tagLst xmlns:p="http://schemas.openxmlformats.org/presentationml/2006/main">
  <p:tag name="KSO_WM_BEAUTIFY_FLAG" val=""/>
</p:tagLst>
</file>

<file path=ppt/tags/tag779.xml><?xml version="1.0" encoding="utf-8"?>
<p:tagLst xmlns:p="http://schemas.openxmlformats.org/presentationml/2006/main">
  <p:tag name="KSO_WM_BEAUTIFY_FLAG" val=""/>
</p:tagLst>
</file>

<file path=ppt/tags/tag780.xml><?xml version="1.0" encoding="utf-8"?>
<p:tagLst xmlns:p="http://schemas.openxmlformats.org/presentationml/2006/main">
  <p:tag name="KSO_WM_BEAUTIFY_FLAG" val=""/>
</p:tagLst>
</file>

<file path=ppt/tags/tag781.xml><?xml version="1.0" encoding="utf-8"?>
<p:tagLst xmlns:p="http://schemas.openxmlformats.org/presentationml/2006/main">
  <p:tag name="KSO_WM_BEAUTIFY_FLAG" val=""/>
</p:tagLst>
</file>

<file path=ppt/tags/tag782.xml><?xml version="1.0" encoding="utf-8"?>
<p:tagLst xmlns:p="http://schemas.openxmlformats.org/presentationml/2006/main">
  <p:tag name="KSO_WM_BEAUTIFY_FLAG" val=""/>
</p:tagLst>
</file>

<file path=ppt/tags/tag783.xml><?xml version="1.0" encoding="utf-8"?>
<p:tagLst xmlns:p="http://schemas.openxmlformats.org/presentationml/2006/main">
  <p:tag name="KSO_WM_BEAUTIFY_FLAG" val=""/>
</p:tagLst>
</file>

<file path=ppt/tags/tag784.xml><?xml version="1.0" encoding="utf-8"?>
<p:tagLst xmlns:p="http://schemas.openxmlformats.org/presentationml/2006/main">
  <p:tag name="KSO_WM_BEAUTIFY_FLAG" val=""/>
</p:tagLst>
</file>

<file path=ppt/tags/tag785.xml><?xml version="1.0" encoding="utf-8"?>
<p:tagLst xmlns:p="http://schemas.openxmlformats.org/presentationml/2006/main">
  <p:tag name="KSO_WM_BEAUTIFY_FLAG" val=""/>
</p:tagLst>
</file>

<file path=ppt/tags/tag786.xml><?xml version="1.0" encoding="utf-8"?>
<p:tagLst xmlns:p="http://schemas.openxmlformats.org/presentationml/2006/main">
  <p:tag name="KSO_WM_BEAUTIFY_FLAG" val=""/>
</p:tagLst>
</file>

<file path=ppt/tags/tag787.xml><?xml version="1.0" encoding="utf-8"?>
<p:tagLst xmlns:p="http://schemas.openxmlformats.org/presentationml/2006/main">
  <p:tag name="KSO_WM_BEAUTIFY_FLAG" val=""/>
</p:tagLst>
</file>

<file path=ppt/tags/tag788.xml><?xml version="1.0" encoding="utf-8"?>
<p:tagLst xmlns:p="http://schemas.openxmlformats.org/presentationml/2006/main">
  <p:tag name="KSO_WM_BEAUTIFY_FLAG" val=""/>
</p:tagLst>
</file>

<file path=ppt/tags/tag789.xml><?xml version="1.0" encoding="utf-8"?>
<p:tagLst xmlns:p="http://schemas.openxmlformats.org/presentationml/2006/main">
  <p:tag name="KSO_WM_BEAUTIFY_FLAG" val=""/>
</p:tagLst>
</file>

<file path=ppt/tags/tag790.xml><?xml version="1.0" encoding="utf-8"?>
<p:tagLst xmlns:p="http://schemas.openxmlformats.org/presentationml/2006/main">
  <p:tag name="KSO_WM_BEAUTIFY_FLAG" val=""/>
</p:tagLst>
</file>

<file path=ppt/tags/tag791.xml><?xml version="1.0" encoding="utf-8"?>
<p:tagLst xmlns:p="http://schemas.openxmlformats.org/presentationml/2006/main">
  <p:tag name="KSO_WM_BEAUTIFY_FLAG" val=""/>
</p:tagLst>
</file>

<file path=ppt/tags/tag792.xml><?xml version="1.0" encoding="utf-8"?>
<p:tagLst xmlns:p="http://schemas.openxmlformats.org/presentationml/2006/main">
  <p:tag name="KSO_WM_BEAUTIFY_FLAG" val=""/>
</p:tagLst>
</file>

<file path=ppt/tags/tag793.xml><?xml version="1.0" encoding="utf-8"?>
<p:tagLst xmlns:p="http://schemas.openxmlformats.org/presentationml/2006/main">
  <p:tag name="KSO_WM_BEAUTIFY_FLAG" val=""/>
</p:tagLst>
</file>

<file path=ppt/tags/tag794.xml><?xml version="1.0" encoding="utf-8"?>
<p:tagLst xmlns:p="http://schemas.openxmlformats.org/presentationml/2006/main">
  <p:tag name="KSO_WM_BEAUTIFY_FLAG" val=""/>
</p:tagLst>
</file>

<file path=ppt/tags/tag795.xml><?xml version="1.0" encoding="utf-8"?>
<p:tagLst xmlns:p="http://schemas.openxmlformats.org/presentationml/2006/main">
  <p:tag name="KSO_WM_BEAUTIFY_FLAG" val=""/>
</p:tagLst>
</file>

<file path=ppt/tags/tag796.xml><?xml version="1.0" encoding="utf-8"?>
<p:tagLst xmlns:p="http://schemas.openxmlformats.org/presentationml/2006/main">
  <p:tag name="KSO_WM_BEAUTIFY_FLAG" val=""/>
</p:tagLst>
</file>

<file path=ppt/tags/tag797.xml><?xml version="1.0" encoding="utf-8"?>
<p:tagLst xmlns:p="http://schemas.openxmlformats.org/presentationml/2006/main">
  <p:tag name="KSO_WM_BEAUTIFY_FLAG" val=""/>
</p:tagLst>
</file>

<file path=ppt/tags/tag798.xml><?xml version="1.0" encoding="utf-8"?>
<p:tagLst xmlns:p="http://schemas.openxmlformats.org/presentationml/2006/main">
  <p:tag name="KSO_WM_BEAUTIFY_FLAG" val=""/>
</p:tagLst>
</file>

<file path=ppt/tags/tag799.xml><?xml version="1.0" encoding="utf-8"?>
<p:tagLst xmlns:p="http://schemas.openxmlformats.org/presentationml/2006/main">
  <p:tag name="KSO_WM_BEAUTIFY_FLAG" val=""/>
</p:tagLst>
</file>

<file path=ppt/tags/tag800.xml><?xml version="1.0" encoding="utf-8"?>
<p:tagLst xmlns:p="http://schemas.openxmlformats.org/presentationml/2006/main">
  <p:tag name="KSO_WM_BEAUTIFY_FLAG" val=""/>
</p:tagLst>
</file>

<file path=ppt/tags/tag801.xml><?xml version="1.0" encoding="utf-8"?>
<p:tagLst xmlns:p="http://schemas.openxmlformats.org/presentationml/2006/main">
  <p:tag name="KSO_WM_BEAUTIFY_FLAG" val=""/>
</p:tagLst>
</file>

<file path=ppt/tags/tag802.xml><?xml version="1.0" encoding="utf-8"?>
<p:tagLst xmlns:p="http://schemas.openxmlformats.org/presentationml/2006/main">
  <p:tag name="KSO_WM_BEAUTIFY_FLAG" val=""/>
</p:tagLst>
</file>

<file path=ppt/tags/tag803.xml><?xml version="1.0" encoding="utf-8"?>
<p:tagLst xmlns:p="http://schemas.openxmlformats.org/presentationml/2006/main">
  <p:tag name="KSO_WM_BEAUTIFY_FLAG" val=""/>
</p:tagLst>
</file>

<file path=ppt/tags/tag804.xml><?xml version="1.0" encoding="utf-8"?>
<p:tagLst xmlns:p="http://schemas.openxmlformats.org/presentationml/2006/main">
  <p:tag name="KSO_WM_BEAUTIFY_FLAG" val=""/>
</p:tagLst>
</file>

<file path=ppt/tags/tag805.xml><?xml version="1.0" encoding="utf-8"?>
<p:tagLst xmlns:p="http://schemas.openxmlformats.org/presentationml/2006/main">
  <p:tag name="KSO_WM_BEAUTIFY_FLAG" val=""/>
</p:tagLst>
</file>

<file path=ppt/tags/tag806.xml><?xml version="1.0" encoding="utf-8"?>
<p:tagLst xmlns:p="http://schemas.openxmlformats.org/presentationml/2006/main">
  <p:tag name="KSO_WM_BEAUTIFY_FLAG" val=""/>
</p:tagLst>
</file>

<file path=ppt/tags/tag807.xml><?xml version="1.0" encoding="utf-8"?>
<p:tagLst xmlns:p="http://schemas.openxmlformats.org/presentationml/2006/main">
  <p:tag name="ISLIDE.ICON" val="#176715;"/>
</p:tagLst>
</file>

<file path=ppt/tags/tag808.xml><?xml version="1.0" encoding="utf-8"?>
<p:tagLst xmlns:p="http://schemas.openxmlformats.org/presentationml/2006/main">
  <p:tag name="KSO_WM_BEAUTIFY_FLAG" val=""/>
</p:tagLst>
</file>

<file path=ppt/tags/tag809.xml><?xml version="1.0" encoding="utf-8"?>
<p:tagLst xmlns:p="http://schemas.openxmlformats.org/presentationml/2006/main">
  <p:tag name="KSO_WM_BEAUTIFY_FLAG" val=""/>
</p:tagLst>
</file>

<file path=ppt/tags/tag810.xml><?xml version="1.0" encoding="utf-8"?>
<p:tagLst xmlns:p="http://schemas.openxmlformats.org/presentationml/2006/main">
  <p:tag name="KSO_WM_BEAUTIFY_FLAG" val=""/>
</p:tagLst>
</file>

<file path=ppt/tags/tag811.xml><?xml version="1.0" encoding="utf-8"?>
<p:tagLst xmlns:p="http://schemas.openxmlformats.org/presentationml/2006/main">
  <p:tag name="KSO_WM_BEAUTIFY_FLAG" val=""/>
</p:tagLst>
</file>

<file path=ppt/tags/tag812.xml><?xml version="1.0" encoding="utf-8"?>
<p:tagLst xmlns:p="http://schemas.openxmlformats.org/presentationml/2006/main">
  <p:tag name="KSO_WM_BEAUTIFY_FLAG" val=""/>
</p:tagLst>
</file>

<file path=ppt/tags/tag813.xml><?xml version="1.0" encoding="utf-8"?>
<p:tagLst xmlns:p="http://schemas.openxmlformats.org/presentationml/2006/main">
  <p:tag name="KSO_WM_BEAUTIFY_FLAG" val=""/>
</p:tagLst>
</file>

<file path=ppt/tags/tag814.xml><?xml version="1.0" encoding="utf-8"?>
<p:tagLst xmlns:p="http://schemas.openxmlformats.org/presentationml/2006/main">
  <p:tag name="TABLE_ENDDRAG_ORIGIN_RECT" val="672*242"/>
  <p:tag name="TABLE_ENDDRAG_RECT" val="107*134*672*242"/>
</p:tagLst>
</file>

<file path=ppt/tags/tag815.xml><?xml version="1.0" encoding="utf-8"?>
<p:tagLst xmlns:p="http://schemas.openxmlformats.org/presentationml/2006/main">
  <p:tag name="KSO_WM_BEAUTIFY_FLAG" val=""/>
</p:tagLst>
</file>

<file path=ppt/tags/tag816.xml><?xml version="1.0" encoding="utf-8"?>
<p:tagLst xmlns:p="http://schemas.openxmlformats.org/presentationml/2006/main">
  <p:tag name="KSO_WM_BEAUTIFY_FLAG" val=""/>
</p:tagLst>
</file>

<file path=ppt/tags/tag817.xml><?xml version="1.0" encoding="utf-8"?>
<p:tagLst xmlns:p="http://schemas.openxmlformats.org/presentationml/2006/main">
  <p:tag name="KSO_WM_BEAUTIFY_FLAG" val=""/>
</p:tagLst>
</file>

<file path=ppt/tags/tag818.xml><?xml version="1.0" encoding="utf-8"?>
<p:tagLst xmlns:p="http://schemas.openxmlformats.org/presentationml/2006/main">
  <p:tag name="KSO_WM_BEAUTIFY_FLAG" val=""/>
</p:tagLst>
</file>

<file path=ppt/tags/tag819.xml><?xml version="1.0" encoding="utf-8"?>
<p:tagLst xmlns:p="http://schemas.openxmlformats.org/presentationml/2006/main">
  <p:tag name="KSO_WM_BEAUTIFY_FLAG" val=""/>
</p:tagLst>
</file>

<file path=ppt/tags/tag820.xml><?xml version="1.0" encoding="utf-8"?>
<p:tagLst xmlns:p="http://schemas.openxmlformats.org/presentationml/2006/main">
  <p:tag name="KSO_WM_BEAUTIFY_FLAG" val=""/>
</p:tagLst>
</file>

<file path=ppt/tags/tag821.xml><?xml version="1.0" encoding="utf-8"?>
<p:tagLst xmlns:p="http://schemas.openxmlformats.org/presentationml/2006/main">
  <p:tag name="KSO_WM_BEAUTIFY_FLAG" val=""/>
</p:tagLst>
</file>

<file path=ppt/tags/tag822.xml><?xml version="1.0" encoding="utf-8"?>
<p:tagLst xmlns:p="http://schemas.openxmlformats.org/presentationml/2006/main">
  <p:tag name="KSO_WM_BEAUTIFY_FLAG" val=""/>
</p:tagLst>
</file>

<file path=ppt/tags/tag823.xml><?xml version="1.0" encoding="utf-8"?>
<p:tagLst xmlns:p="http://schemas.openxmlformats.org/presentationml/2006/main">
  <p:tag name="KSO_WM_BEAUTIFY_FLAG" val=""/>
</p:tagLst>
</file>

<file path=ppt/tags/tag824.xml><?xml version="1.0" encoding="utf-8"?>
<p:tagLst xmlns:p="http://schemas.openxmlformats.org/presentationml/2006/main">
  <p:tag name="KSO_WM_BEAUTIFY_FLAG" val=""/>
</p:tagLst>
</file>

<file path=ppt/tags/tag825.xml><?xml version="1.0" encoding="utf-8"?>
<p:tagLst xmlns:p="http://schemas.openxmlformats.org/presentationml/2006/main">
  <p:tag name="KSO_WM_BEAUTIFY_FLAG" val=""/>
</p:tagLst>
</file>

<file path=ppt/tags/tag826.xml><?xml version="1.0" encoding="utf-8"?>
<p:tagLst xmlns:p="http://schemas.openxmlformats.org/presentationml/2006/main">
  <p:tag name="KSO_WM_BEAUTIFY_FLAG" val=""/>
</p:tagLst>
</file>

<file path=ppt/tags/tag827.xml><?xml version="1.0" encoding="utf-8"?>
<p:tagLst xmlns:p="http://schemas.openxmlformats.org/presentationml/2006/main">
  <p:tag name="KSO_WM_BEAUTIFY_FLAG" val=""/>
</p:tagLst>
</file>

<file path=ppt/tags/tag828.xml><?xml version="1.0" encoding="utf-8"?>
<p:tagLst xmlns:p="http://schemas.openxmlformats.org/presentationml/2006/main">
  <p:tag name="KSO_WM_BEAUTIFY_FLAG" val=""/>
</p:tagLst>
</file>

<file path=ppt/tags/tag829.xml><?xml version="1.0" encoding="utf-8"?>
<p:tagLst xmlns:p="http://schemas.openxmlformats.org/presentationml/2006/main">
  <p:tag name="KSO_WM_BEAUTIFY_FLAG" val=""/>
</p:tagLst>
</file>

<file path=ppt/tags/tag830.xml><?xml version="1.0" encoding="utf-8"?>
<p:tagLst xmlns:p="http://schemas.openxmlformats.org/presentationml/2006/main">
  <p:tag name="KSO_WM_BEAUTIFY_FLAG" val=""/>
</p:tagLst>
</file>

<file path=ppt/tags/tag831.xml><?xml version="1.0" encoding="utf-8"?>
<p:tagLst xmlns:p="http://schemas.openxmlformats.org/presentationml/2006/main">
  <p:tag name="KSO_WM_BEAUTIFY_FLAG" val=""/>
</p:tagLst>
</file>

<file path=ppt/tags/tag832.xml><?xml version="1.0" encoding="utf-8"?>
<p:tagLst xmlns:p="http://schemas.openxmlformats.org/presentationml/2006/main">
  <p:tag name="KSO_WM_BEAUTIFY_FLAG" val=""/>
</p:tagLst>
</file>

<file path=ppt/tags/tag833.xml><?xml version="1.0" encoding="utf-8"?>
<p:tagLst xmlns:p="http://schemas.openxmlformats.org/presentationml/2006/main">
  <p:tag name="KSO_WM_BEAUTIFY_FLAG" val=""/>
</p:tagLst>
</file>

<file path=ppt/tags/tag834.xml><?xml version="1.0" encoding="utf-8"?>
<p:tagLst xmlns:p="http://schemas.openxmlformats.org/presentationml/2006/main">
  <p:tag name="KSO_WM_BEAUTIFY_FLAG" val=""/>
</p:tagLst>
</file>

<file path=ppt/tags/tag835.xml><?xml version="1.0" encoding="utf-8"?>
<p:tagLst xmlns:p="http://schemas.openxmlformats.org/presentationml/2006/main">
  <p:tag name="KSO_WM_BEAUTIFY_FLAG" val=""/>
</p:tagLst>
</file>

<file path=ppt/tags/tag836.xml><?xml version="1.0" encoding="utf-8"?>
<p:tagLst xmlns:p="http://schemas.openxmlformats.org/presentationml/2006/main">
  <p:tag name="KSO_WM_BEAUTIFY_FLAG" val=""/>
</p:tagLst>
</file>

<file path=ppt/tags/tag837.xml><?xml version="1.0" encoding="utf-8"?>
<p:tagLst xmlns:p="http://schemas.openxmlformats.org/presentationml/2006/main">
  <p:tag name="KSO_WM_BEAUTIFY_FLAG" val=""/>
</p:tagLst>
</file>

<file path=ppt/tags/tag838.xml><?xml version="1.0" encoding="utf-8"?>
<p:tagLst xmlns:p="http://schemas.openxmlformats.org/presentationml/2006/main">
  <p:tag name="KSO_WM_BEAUTIFY_FLAG" val=""/>
</p:tagLst>
</file>

<file path=ppt/tags/tag839.xml><?xml version="1.0" encoding="utf-8"?>
<p:tagLst xmlns:p="http://schemas.openxmlformats.org/presentationml/2006/main">
  <p:tag name="KSO_WM_BEAUTIFY_FLAG" val=""/>
</p:tagLst>
</file>

<file path=ppt/tags/tag840.xml><?xml version="1.0" encoding="utf-8"?>
<p:tagLst xmlns:p="http://schemas.openxmlformats.org/presentationml/2006/main">
  <p:tag name="KSO_WM_BEAUTIFY_FLAG" val=""/>
</p:tagLst>
</file>

<file path=ppt/tags/tag841.xml><?xml version="1.0" encoding="utf-8"?>
<p:tagLst xmlns:p="http://schemas.openxmlformats.org/presentationml/2006/main">
  <p:tag name="KSO_WM_BEAUTIFY_FLAG" val=""/>
</p:tagLst>
</file>

<file path=ppt/tags/tag842.xml><?xml version="1.0" encoding="utf-8"?>
<p:tagLst xmlns:p="http://schemas.openxmlformats.org/presentationml/2006/main">
  <p:tag name="KSO_WM_BEAUTIFY_FLAG" val=""/>
</p:tagLst>
</file>

<file path=ppt/tags/tag843.xml><?xml version="1.0" encoding="utf-8"?>
<p:tagLst xmlns:p="http://schemas.openxmlformats.org/presentationml/2006/main">
  <p:tag name="KSO_WM_BEAUTIFY_FLAG" val=""/>
</p:tagLst>
</file>

<file path=ppt/tags/tag844.xml><?xml version="1.0" encoding="utf-8"?>
<p:tagLst xmlns:p="http://schemas.openxmlformats.org/presentationml/2006/main">
  <p:tag name="KSO_WM_BEAUTIFY_FLAG" val=""/>
</p:tagLst>
</file>

<file path=ppt/tags/tag845.xml><?xml version="1.0" encoding="utf-8"?>
<p:tagLst xmlns:p="http://schemas.openxmlformats.org/presentationml/2006/main">
  <p:tag name="ISLIDE.ICON" val="#176715;"/>
</p:tagLst>
</file>

<file path=ppt/tags/tag846.xml><?xml version="1.0" encoding="utf-8"?>
<p:tagLst xmlns:p="http://schemas.openxmlformats.org/presentationml/2006/main">
  <p:tag name="KSO_WM_BEAUTIFY_FLAG" val=""/>
</p:tagLst>
</file>

<file path=ppt/tags/tag847.xml><?xml version="1.0" encoding="utf-8"?>
<p:tagLst xmlns:p="http://schemas.openxmlformats.org/presentationml/2006/main">
  <p:tag name="KSO_WM_BEAUTIFY_FLAG" val=""/>
</p:tagLst>
</file>

<file path=ppt/tags/tag848.xml><?xml version="1.0" encoding="utf-8"?>
<p:tagLst xmlns:p="http://schemas.openxmlformats.org/presentationml/2006/main">
  <p:tag name="KSO_WM_BEAUTIFY_FLAG" val=""/>
</p:tagLst>
</file>

<file path=ppt/tags/tag849.xml><?xml version="1.0" encoding="utf-8"?>
<p:tagLst xmlns:p="http://schemas.openxmlformats.org/presentationml/2006/main">
  <p:tag name="KSO_WM_BEAUTIFY_FLAG" val=""/>
</p:tagLst>
</file>

<file path=ppt/tags/tag850.xml><?xml version="1.0" encoding="utf-8"?>
<p:tagLst xmlns:p="http://schemas.openxmlformats.org/presentationml/2006/main">
  <p:tag name="KSO_WM_BEAUTIFY_FLAG" val=""/>
</p:tagLst>
</file>

<file path=ppt/tags/tag851.xml><?xml version="1.0" encoding="utf-8"?>
<p:tagLst xmlns:p="http://schemas.openxmlformats.org/presentationml/2006/main">
  <p:tag name="KSO_WM_BEAUTIFY_FLAG" val=""/>
</p:tagLst>
</file>

<file path=ppt/tags/tag852.xml><?xml version="1.0" encoding="utf-8"?>
<p:tagLst xmlns:p="http://schemas.openxmlformats.org/presentationml/2006/main">
  <p:tag name="KSO_WM_BEAUTIFY_FLAG" val=""/>
</p:tagLst>
</file>

<file path=ppt/tags/tag853.xml><?xml version="1.0" encoding="utf-8"?>
<p:tagLst xmlns:p="http://schemas.openxmlformats.org/presentationml/2006/main">
  <p:tag name="KSO_WM_BEAUTIFY_FLAG" val=""/>
</p:tagLst>
</file>

<file path=ppt/tags/tag854.xml><?xml version="1.0" encoding="utf-8"?>
<p:tagLst xmlns:p="http://schemas.openxmlformats.org/presentationml/2006/main">
  <p:tag name="KSO_WM_BEAUTIFY_FLAG" val=""/>
</p:tagLst>
</file>

<file path=ppt/tags/tag855.xml><?xml version="1.0" encoding="utf-8"?>
<p:tagLst xmlns:p="http://schemas.openxmlformats.org/presentationml/2006/main">
  <p:tag name="KSO_WM_BEAUTIFY_FLAG" val=""/>
</p:tagLst>
</file>

<file path=ppt/tags/tag856.xml><?xml version="1.0" encoding="utf-8"?>
<p:tagLst xmlns:p="http://schemas.openxmlformats.org/presentationml/2006/main">
  <p:tag name="KSO_WM_BEAUTIFY_FLAG" val=""/>
</p:tagLst>
</file>

<file path=ppt/tags/tag857.xml><?xml version="1.0" encoding="utf-8"?>
<p:tagLst xmlns:p="http://schemas.openxmlformats.org/presentationml/2006/main">
  <p:tag name="KSO_WM_BEAUTIFY_FLAG" val=""/>
</p:tagLst>
</file>

<file path=ppt/tags/tag858.xml><?xml version="1.0" encoding="utf-8"?>
<p:tagLst xmlns:p="http://schemas.openxmlformats.org/presentationml/2006/main">
  <p:tag name="KSO_WM_BEAUTIFY_FLAG" val=""/>
</p:tagLst>
</file>

<file path=ppt/tags/tag859.xml><?xml version="1.0" encoding="utf-8"?>
<p:tagLst xmlns:p="http://schemas.openxmlformats.org/presentationml/2006/main">
  <p:tag name="KSO_WM_BEAUTIFY_FLAG" val=""/>
</p:tagLst>
</file>

<file path=ppt/tags/tag860.xml><?xml version="1.0" encoding="utf-8"?>
<p:tagLst xmlns:p="http://schemas.openxmlformats.org/presentationml/2006/main">
  <p:tag name="KSO_WM_BEAUTIFY_FLAG" val=""/>
</p:tagLst>
</file>

<file path=ppt/tags/tag861.xml><?xml version="1.0" encoding="utf-8"?>
<p:tagLst xmlns:p="http://schemas.openxmlformats.org/presentationml/2006/main">
  <p:tag name="KSO_WM_BEAUTIFY_FLAG" val=""/>
</p:tagLst>
</file>

<file path=ppt/tags/tag862.xml><?xml version="1.0" encoding="utf-8"?>
<p:tagLst xmlns:p="http://schemas.openxmlformats.org/presentationml/2006/main">
  <p:tag name="KSO_WM_BEAUTIFY_FLAG" val=""/>
</p:tagLst>
</file>

<file path=ppt/tags/tag863.xml><?xml version="1.0" encoding="utf-8"?>
<p:tagLst xmlns:p="http://schemas.openxmlformats.org/presentationml/2006/main">
  <p:tag name="KSO_WM_BEAUTIFY_FLAG" val=""/>
</p:tagLst>
</file>

<file path=ppt/tags/tag864.xml><?xml version="1.0" encoding="utf-8"?>
<p:tagLst xmlns:p="http://schemas.openxmlformats.org/presentationml/2006/main">
  <p:tag name="KSO_WM_BEAUTIFY_FLAG" val=""/>
</p:tagLst>
</file>

<file path=ppt/tags/tag865.xml><?xml version="1.0" encoding="utf-8"?>
<p:tagLst xmlns:p="http://schemas.openxmlformats.org/presentationml/2006/main">
  <p:tag name="KSO_WM_BEAUTIFY_FLAG" val=""/>
</p:tagLst>
</file>

<file path=ppt/tags/tag866.xml><?xml version="1.0" encoding="utf-8"?>
<p:tagLst xmlns:p="http://schemas.openxmlformats.org/presentationml/2006/main">
  <p:tag name="KSO_WM_BEAUTIFY_FLAG" val=""/>
</p:tagLst>
</file>

<file path=ppt/tags/tag867.xml><?xml version="1.0" encoding="utf-8"?>
<p:tagLst xmlns:p="http://schemas.openxmlformats.org/presentationml/2006/main">
  <p:tag name="KSO_WM_BEAUTIFY_FLAG" val=""/>
</p:tagLst>
</file>

<file path=ppt/tags/tag868.xml><?xml version="1.0" encoding="utf-8"?>
<p:tagLst xmlns:p="http://schemas.openxmlformats.org/presentationml/2006/main">
  <p:tag name="KSO_WM_BEAUTIFY_FLAG" val=""/>
</p:tagLst>
</file>

<file path=ppt/tags/tag869.xml><?xml version="1.0" encoding="utf-8"?>
<p:tagLst xmlns:p="http://schemas.openxmlformats.org/presentationml/2006/main">
  <p:tag name="KSO_WM_BEAUTIFY_FLAG" val=""/>
</p:tagLst>
</file>

<file path=ppt/tags/tag870.xml><?xml version="1.0" encoding="utf-8"?>
<p:tagLst xmlns:p="http://schemas.openxmlformats.org/presentationml/2006/main">
  <p:tag name="KSO_WM_BEAUTIFY_FLAG" val=""/>
</p:tagLst>
</file>

<file path=ppt/tags/tag871.xml><?xml version="1.0" encoding="utf-8"?>
<p:tagLst xmlns:p="http://schemas.openxmlformats.org/presentationml/2006/main">
  <p:tag name="KSO_WM_BEAUTIFY_FLAG" val=""/>
</p:tagLst>
</file>

<file path=ppt/tags/tag872.xml><?xml version="1.0" encoding="utf-8"?>
<p:tagLst xmlns:p="http://schemas.openxmlformats.org/presentationml/2006/main">
  <p:tag name="KSO_WM_BEAUTIFY_FLAG" val=""/>
</p:tagLst>
</file>

<file path=ppt/tags/tag873.xml><?xml version="1.0" encoding="utf-8"?>
<p:tagLst xmlns:p="http://schemas.openxmlformats.org/presentationml/2006/main">
  <p:tag name="KSO_WM_BEAUTIFY_FLAG" val=""/>
</p:tagLst>
</file>

<file path=ppt/tags/tag874.xml><?xml version="1.0" encoding="utf-8"?>
<p:tagLst xmlns:p="http://schemas.openxmlformats.org/presentationml/2006/main">
  <p:tag name="KSO_WM_BEAUTIFY_FLAG" val=""/>
</p:tagLst>
</file>

<file path=ppt/tags/tag875.xml><?xml version="1.0" encoding="utf-8"?>
<p:tagLst xmlns:p="http://schemas.openxmlformats.org/presentationml/2006/main">
  <p:tag name="KSO_WM_BEAUTIFY_FLAG" val=""/>
</p:tagLst>
</file>

<file path=ppt/tags/tag876.xml><?xml version="1.0" encoding="utf-8"?>
<p:tagLst xmlns:p="http://schemas.openxmlformats.org/presentationml/2006/main">
  <p:tag name="KSO_WM_BEAUTIFY_FLAG" val=""/>
</p:tagLst>
</file>

<file path=ppt/tags/tag877.xml><?xml version="1.0" encoding="utf-8"?>
<p:tagLst xmlns:p="http://schemas.openxmlformats.org/presentationml/2006/main">
  <p:tag name="KSO_WM_BEAUTIFY_FLAG" val=""/>
</p:tagLst>
</file>

<file path=ppt/tags/tag878.xml><?xml version="1.0" encoding="utf-8"?>
<p:tagLst xmlns:p="http://schemas.openxmlformats.org/presentationml/2006/main">
  <p:tag name="KSO_WM_BEAUTIFY_FLAG" val=""/>
</p:tagLst>
</file>

<file path=ppt/tags/tag879.xml><?xml version="1.0" encoding="utf-8"?>
<p:tagLst xmlns:p="http://schemas.openxmlformats.org/presentationml/2006/main">
  <p:tag name="KSO_WM_BEAUTIFY_FLAG" val=""/>
</p:tagLst>
</file>

<file path=ppt/tags/tag880.xml><?xml version="1.0" encoding="utf-8"?>
<p:tagLst xmlns:p="http://schemas.openxmlformats.org/presentationml/2006/main">
  <p:tag name="KSO_WM_BEAUTIFY_FLAG" val=""/>
</p:tagLst>
</file>

<file path=ppt/tags/tag881.xml><?xml version="1.0" encoding="utf-8"?>
<p:tagLst xmlns:p="http://schemas.openxmlformats.org/presentationml/2006/main">
  <p:tag name="KSO_WM_BEAUTIFY_FLAG" val=""/>
</p:tagLst>
</file>

<file path=ppt/tags/tag882.xml><?xml version="1.0" encoding="utf-8"?>
<p:tagLst xmlns:p="http://schemas.openxmlformats.org/presentationml/2006/main">
  <p:tag name="KSO_WM_BEAUTIFY_FLAG" val=""/>
</p:tagLst>
</file>

<file path=ppt/tags/tag883.xml><?xml version="1.0" encoding="utf-8"?>
<p:tagLst xmlns:p="http://schemas.openxmlformats.org/presentationml/2006/main">
  <p:tag name="KSO_WM_BEAUTIFY_FLAG" val=""/>
</p:tagLst>
</file>

<file path=ppt/tags/tag884.xml><?xml version="1.0" encoding="utf-8"?>
<p:tagLst xmlns:p="http://schemas.openxmlformats.org/presentationml/2006/main">
  <p:tag name="KSO_WM_BEAUTIFY_FLAG" val=""/>
</p:tagLst>
</file>

<file path=ppt/tags/tag885.xml><?xml version="1.0" encoding="utf-8"?>
<p:tagLst xmlns:p="http://schemas.openxmlformats.org/presentationml/2006/main">
  <p:tag name="KSO_WM_BEAUTIFY_FLAG" val=""/>
</p:tagLst>
</file>

<file path=ppt/tags/tag886.xml><?xml version="1.0" encoding="utf-8"?>
<p:tagLst xmlns:p="http://schemas.openxmlformats.org/presentationml/2006/main">
  <p:tag name="KSO_WM_BEAUTIFY_FLAG" val=""/>
</p:tagLst>
</file>

<file path=ppt/tags/tag887.xml><?xml version="1.0" encoding="utf-8"?>
<p:tagLst xmlns:p="http://schemas.openxmlformats.org/presentationml/2006/main">
  <p:tag name="KSO_WM_BEAUTIFY_FLAG" val=""/>
</p:tagLst>
</file>

<file path=ppt/tags/tag888.xml><?xml version="1.0" encoding="utf-8"?>
<p:tagLst xmlns:p="http://schemas.openxmlformats.org/presentationml/2006/main">
  <p:tag name="KSO_WM_BEAUTIFY_FLAG" val=""/>
</p:tagLst>
</file>

<file path=ppt/tags/tag889.xml><?xml version="1.0" encoding="utf-8"?>
<p:tagLst xmlns:p="http://schemas.openxmlformats.org/presentationml/2006/main">
  <p:tag name="ISLIDE.ICON" val="#176715;"/>
</p:tagLst>
</file>

<file path=ppt/tags/tag890.xml><?xml version="1.0" encoding="utf-8"?>
<p:tagLst xmlns:p="http://schemas.openxmlformats.org/presentationml/2006/main">
  <p:tag name="KSO_WM_BEAUTIFY_FLAG" val=""/>
</p:tagLst>
</file>

<file path=ppt/tags/tag891.xml><?xml version="1.0" encoding="utf-8"?>
<p:tagLst xmlns:p="http://schemas.openxmlformats.org/presentationml/2006/main">
  <p:tag name="KSO_WM_BEAUTIFY_FLAG" val=""/>
</p:tagLst>
</file>

<file path=ppt/tags/tag892.xml><?xml version="1.0" encoding="utf-8"?>
<p:tagLst xmlns:p="http://schemas.openxmlformats.org/presentationml/2006/main">
  <p:tag name="KSO_WM_BEAUTIFY_FLAG" val=""/>
</p:tagLst>
</file>

<file path=ppt/tags/tag893.xml><?xml version="1.0" encoding="utf-8"?>
<p:tagLst xmlns:p="http://schemas.openxmlformats.org/presentationml/2006/main">
  <p:tag name="KSO_WM_BEAUTIFY_FLAG" val=""/>
</p:tagLst>
</file>

<file path=ppt/tags/tag894.xml><?xml version="1.0" encoding="utf-8"?>
<p:tagLst xmlns:p="http://schemas.openxmlformats.org/presentationml/2006/main">
  <p:tag name="KSO_WM_BEAUTIFY_FLAG" val=""/>
</p:tagLst>
</file>

<file path=ppt/tags/tag895.xml><?xml version="1.0" encoding="utf-8"?>
<p:tagLst xmlns:p="http://schemas.openxmlformats.org/presentationml/2006/main">
  <p:tag name="KSO_WM_BEAUTIFY_FLAG" val=""/>
</p:tagLst>
</file>

<file path=ppt/tags/tag896.xml><?xml version="1.0" encoding="utf-8"?>
<p:tagLst xmlns:p="http://schemas.openxmlformats.org/presentationml/2006/main">
  <p:tag name="KSO_WM_BEAUTIFY_FLAG" val=""/>
</p:tagLst>
</file>

<file path=ppt/tags/tag897.xml><?xml version="1.0" encoding="utf-8"?>
<p:tagLst xmlns:p="http://schemas.openxmlformats.org/presentationml/2006/main">
  <p:tag name="KSO_WM_BEAUTIFY_FLAG" val=""/>
</p:tagLst>
</file>

<file path=ppt/tags/tag898.xml><?xml version="1.0" encoding="utf-8"?>
<p:tagLst xmlns:p="http://schemas.openxmlformats.org/presentationml/2006/main">
  <p:tag name="KSO_WM_BEAUTIFY_FLAG" val=""/>
</p:tagLst>
</file>

<file path=ppt/tags/tag899.xml><?xml version="1.0" encoding="utf-8"?>
<p:tagLst xmlns:p="http://schemas.openxmlformats.org/presentationml/2006/main">
  <p:tag name="KSO_WM_BEAUTIFY_FLAG" val=""/>
</p:tagLst>
</file>

<file path=ppt/tags/tag900.xml><?xml version="1.0" encoding="utf-8"?>
<p:tagLst xmlns:p="http://schemas.openxmlformats.org/presentationml/2006/main">
  <p:tag name="KSO_WM_BEAUTIFY_FLAG" val=""/>
</p:tagLst>
</file>

<file path=ppt/tags/tag901.xml><?xml version="1.0" encoding="utf-8"?>
<p:tagLst xmlns:p="http://schemas.openxmlformats.org/presentationml/2006/main">
  <p:tag name="KSO_WM_BEAUTIFY_FLAG" val=""/>
</p:tagLst>
</file>

<file path=ppt/tags/tag902.xml><?xml version="1.0" encoding="utf-8"?>
<p:tagLst xmlns:p="http://schemas.openxmlformats.org/presentationml/2006/main">
  <p:tag name="KSO_WM_BEAUTIFY_FLAG" val=""/>
</p:tagLst>
</file>

<file path=ppt/tags/tag903.xml><?xml version="1.0" encoding="utf-8"?>
<p:tagLst xmlns:p="http://schemas.openxmlformats.org/presentationml/2006/main">
  <p:tag name="KSO_WM_BEAUTIFY_FLAG" val=""/>
</p:tagLst>
</file>

<file path=ppt/tags/tag904.xml><?xml version="1.0" encoding="utf-8"?>
<p:tagLst xmlns:p="http://schemas.openxmlformats.org/presentationml/2006/main">
  <p:tag name="KSO_WM_BEAUTIFY_FLAG" val=""/>
</p:tagLst>
</file>

<file path=ppt/tags/tag905.xml><?xml version="1.0" encoding="utf-8"?>
<p:tagLst xmlns:p="http://schemas.openxmlformats.org/presentationml/2006/main">
  <p:tag name="ISLIDE.ICON" val="#176715;"/>
</p:tagLst>
</file>

<file path=ppt/tags/tag906.xml><?xml version="1.0" encoding="utf-8"?>
<p:tagLst xmlns:p="http://schemas.openxmlformats.org/presentationml/2006/main">
  <p:tag name="KSO_WM_BEAUTIFY_FLAG" val=""/>
</p:tagLst>
</file>

<file path=ppt/tags/tag907.xml><?xml version="1.0" encoding="utf-8"?>
<p:tagLst xmlns:p="http://schemas.openxmlformats.org/presentationml/2006/main">
  <p:tag name="KSO_WM_BEAUTIFY_FLAG" val=""/>
</p:tagLst>
</file>

<file path=ppt/tags/tag908.xml><?xml version="1.0" encoding="utf-8"?>
<p:tagLst xmlns:p="http://schemas.openxmlformats.org/presentationml/2006/main">
  <p:tag name="KSO_WM_BEAUTIFY_FLAG" val=""/>
</p:tagLst>
</file>

<file path=ppt/tags/tag909.xml><?xml version="1.0" encoding="utf-8"?>
<p:tagLst xmlns:p="http://schemas.openxmlformats.org/presentationml/2006/main">
  <p:tag name="KSO_WM_BEAUTIFY_FLAG" val=""/>
</p:tagLst>
</file>

<file path=ppt/tags/tag910.xml><?xml version="1.0" encoding="utf-8"?>
<p:tagLst xmlns:p="http://schemas.openxmlformats.org/presentationml/2006/main">
  <p:tag name="KSO_WM_BEAUTIFY_FLAG" val=""/>
</p:tagLst>
</file>

<file path=ppt/tags/tag911.xml><?xml version="1.0" encoding="utf-8"?>
<p:tagLst xmlns:p="http://schemas.openxmlformats.org/presentationml/2006/main">
  <p:tag name="KSO_WM_BEAUTIFY_FLAG" val=""/>
</p:tagLst>
</file>

<file path=ppt/tags/tag912.xml><?xml version="1.0" encoding="utf-8"?>
<p:tagLst xmlns:p="http://schemas.openxmlformats.org/presentationml/2006/main">
  <p:tag name="KSO_WM_BEAUTIFY_FLAG" val=""/>
</p:tagLst>
</file>

<file path=ppt/tags/tag913.xml><?xml version="1.0" encoding="utf-8"?>
<p:tagLst xmlns:p="http://schemas.openxmlformats.org/presentationml/2006/main">
  <p:tag name="KSO_WM_BEAUTIFY_FLAG" val=""/>
</p:tagLst>
</file>

<file path=ppt/tags/tag914.xml><?xml version="1.0" encoding="utf-8"?>
<p:tagLst xmlns:p="http://schemas.openxmlformats.org/presentationml/2006/main">
  <p:tag name="KSO_WM_BEAUTIFY_FLAG" val=""/>
</p:tagLst>
</file>

<file path=ppt/tags/tag915.xml><?xml version="1.0" encoding="utf-8"?>
<p:tagLst xmlns:p="http://schemas.openxmlformats.org/presentationml/2006/main">
  <p:tag name="KSO_WM_BEAUTIFY_FLAG" val=""/>
</p:tagLst>
</file>

<file path=ppt/tags/tag916.xml><?xml version="1.0" encoding="utf-8"?>
<p:tagLst xmlns:p="http://schemas.openxmlformats.org/presentationml/2006/main">
  <p:tag name="KSO_WM_BEAUTIFY_FLAG" val=""/>
</p:tagLst>
</file>

<file path=ppt/tags/tag917.xml><?xml version="1.0" encoding="utf-8"?>
<p:tagLst xmlns:p="http://schemas.openxmlformats.org/presentationml/2006/main">
  <p:tag name="KSO_WM_BEAUTIFY_FLAG" val=""/>
</p:tagLst>
</file>

<file path=ppt/tags/tag918.xml><?xml version="1.0" encoding="utf-8"?>
<p:tagLst xmlns:p="http://schemas.openxmlformats.org/presentationml/2006/main">
  <p:tag name="KSO_WM_BEAUTIFY_FLAG" val=""/>
</p:tagLst>
</file>

<file path=ppt/tags/tag919.xml><?xml version="1.0" encoding="utf-8"?>
<p:tagLst xmlns:p="http://schemas.openxmlformats.org/presentationml/2006/main">
  <p:tag name="KSO_WM_BEAUTIFY_FLAG" val=""/>
</p:tagLst>
</file>

<file path=ppt/tags/tag920.xml><?xml version="1.0" encoding="utf-8"?>
<p:tagLst xmlns:p="http://schemas.openxmlformats.org/presentationml/2006/main">
  <p:tag name="KSO_WM_BEAUTIFY_FLAG" val=""/>
</p:tagLst>
</file>

<file path=ppt/tags/tag921.xml><?xml version="1.0" encoding="utf-8"?>
<p:tagLst xmlns:p="http://schemas.openxmlformats.org/presentationml/2006/main">
  <p:tag name="ISLIDE.ICON" val="#176715;"/>
</p:tagLst>
</file>

<file path=ppt/tags/tag922.xml><?xml version="1.0" encoding="utf-8"?>
<p:tagLst xmlns:p="http://schemas.openxmlformats.org/presentationml/2006/main">
  <p:tag name="KSO_WM_BEAUTIFY_FLAG" val=""/>
</p:tagLst>
</file>

<file path=ppt/tags/tag923.xml><?xml version="1.0" encoding="utf-8"?>
<p:tagLst xmlns:p="http://schemas.openxmlformats.org/presentationml/2006/main">
  <p:tag name="KSO_WM_BEAUTIFY_FLAG" val=""/>
</p:tagLst>
</file>

<file path=ppt/tags/tag924.xml><?xml version="1.0" encoding="utf-8"?>
<p:tagLst xmlns:p="http://schemas.openxmlformats.org/presentationml/2006/main">
  <p:tag name="KSO_WM_BEAUTIFY_FLAG" val=""/>
</p:tagLst>
</file>

<file path=ppt/tags/tag925.xml><?xml version="1.0" encoding="utf-8"?>
<p:tagLst xmlns:p="http://schemas.openxmlformats.org/presentationml/2006/main">
  <p:tag name="KSO_WM_BEAUTIFY_FLAG" val=""/>
</p:tagLst>
</file>

<file path=ppt/tags/tag926.xml><?xml version="1.0" encoding="utf-8"?>
<p:tagLst xmlns:p="http://schemas.openxmlformats.org/presentationml/2006/main">
  <p:tag name="KSO_WM_BEAUTIFY_FLAG" val=""/>
</p:tagLst>
</file>

<file path=ppt/tags/tag927.xml><?xml version="1.0" encoding="utf-8"?>
<p:tagLst xmlns:p="http://schemas.openxmlformats.org/presentationml/2006/main">
  <p:tag name="KSO_WM_BEAUTIFY_FLAG" val=""/>
</p:tagLst>
</file>

<file path=ppt/tags/tag928.xml><?xml version="1.0" encoding="utf-8"?>
<p:tagLst xmlns:p="http://schemas.openxmlformats.org/presentationml/2006/main">
  <p:tag name="KSO_WM_BEAUTIFY_FLAG" val=""/>
</p:tagLst>
</file>

<file path=ppt/tags/tag929.xml><?xml version="1.0" encoding="utf-8"?>
<p:tagLst xmlns:p="http://schemas.openxmlformats.org/presentationml/2006/main">
  <p:tag name="KSO_WM_BEAUTIFY_FLAG" val=""/>
</p:tagLst>
</file>

<file path=ppt/tags/tag930.xml><?xml version="1.0" encoding="utf-8"?>
<p:tagLst xmlns:p="http://schemas.openxmlformats.org/presentationml/2006/main">
  <p:tag name="KSO_WM_BEAUTIFY_FLAG" val=""/>
</p:tagLst>
</file>

<file path=ppt/tags/tag931.xml><?xml version="1.0" encoding="utf-8"?>
<p:tagLst xmlns:p="http://schemas.openxmlformats.org/presentationml/2006/main">
  <p:tag name="KSO_WM_BEAUTIFY_FLAG" val=""/>
</p:tagLst>
</file>

<file path=ppt/tags/tag932.xml><?xml version="1.0" encoding="utf-8"?>
<p:tagLst xmlns:p="http://schemas.openxmlformats.org/presentationml/2006/main">
  <p:tag name="KSO_WM_BEAUTIFY_FLAG" val=""/>
</p:tagLst>
</file>

<file path=ppt/tags/tag933.xml><?xml version="1.0" encoding="utf-8"?>
<p:tagLst xmlns:p="http://schemas.openxmlformats.org/presentationml/2006/main">
  <p:tag name="KSO_WM_BEAUTIFY_FLAG" val=""/>
</p:tagLst>
</file>

<file path=ppt/tags/tag934.xml><?xml version="1.0" encoding="utf-8"?>
<p:tagLst xmlns:p="http://schemas.openxmlformats.org/presentationml/2006/main">
  <p:tag name="KSO_WM_BEAUTIFY_FLAG" val=""/>
</p:tagLst>
</file>

<file path=ppt/tags/tag935.xml><?xml version="1.0" encoding="utf-8"?>
<p:tagLst xmlns:p="http://schemas.openxmlformats.org/presentationml/2006/main">
  <p:tag name="ISLIDE.ICON" val="#176715;"/>
</p:tagLst>
</file>

<file path=ppt/tags/tag936.xml><?xml version="1.0" encoding="utf-8"?>
<p:tagLst xmlns:p="http://schemas.openxmlformats.org/presentationml/2006/main">
  <p:tag name="KSO_WM_BEAUTIFY_FLAG" val=""/>
</p:tagLst>
</file>

<file path=ppt/tags/tag937.xml><?xml version="1.0" encoding="utf-8"?>
<p:tagLst xmlns:p="http://schemas.openxmlformats.org/presentationml/2006/main">
  <p:tag name="KSO_WM_BEAUTIFY_FLAG" val=""/>
</p:tagLst>
</file>

<file path=ppt/tags/tag938.xml><?xml version="1.0" encoding="utf-8"?>
<p:tagLst xmlns:p="http://schemas.openxmlformats.org/presentationml/2006/main">
  <p:tag name="KSO_WM_BEAUTIFY_FLAG" val=""/>
</p:tagLst>
</file>

<file path=ppt/tags/tag939.xml><?xml version="1.0" encoding="utf-8"?>
<p:tagLst xmlns:p="http://schemas.openxmlformats.org/presentationml/2006/main">
  <p:tag name="KSO_WM_BEAUTIFY_FLAG" val=""/>
</p:tagLst>
</file>

<file path=ppt/tags/tag940.xml><?xml version="1.0" encoding="utf-8"?>
<p:tagLst xmlns:p="http://schemas.openxmlformats.org/presentationml/2006/main">
  <p:tag name="KSO_WM_BEAUTIFY_FLAG" val=""/>
</p:tagLst>
</file>

<file path=ppt/tags/tag941.xml><?xml version="1.0" encoding="utf-8"?>
<p:tagLst xmlns:p="http://schemas.openxmlformats.org/presentationml/2006/main">
  <p:tag name="KSO_WM_BEAUTIFY_FLAG" val=""/>
</p:tagLst>
</file>

<file path=ppt/tags/tag942.xml><?xml version="1.0" encoding="utf-8"?>
<p:tagLst xmlns:p="http://schemas.openxmlformats.org/presentationml/2006/main">
  <p:tag name="KSO_WM_BEAUTIFY_FLAG" val=""/>
</p:tagLst>
</file>

<file path=ppt/tags/tag943.xml><?xml version="1.0" encoding="utf-8"?>
<p:tagLst xmlns:p="http://schemas.openxmlformats.org/presentationml/2006/main">
  <p:tag name="KSO_WM_BEAUTIFY_FLAG" val=""/>
</p:tagLst>
</file>

<file path=ppt/tags/tag944.xml><?xml version="1.0" encoding="utf-8"?>
<p:tagLst xmlns:p="http://schemas.openxmlformats.org/presentationml/2006/main">
  <p:tag name="KSO_WM_BEAUTIFY_FLAG" val=""/>
</p:tagLst>
</file>

<file path=ppt/tags/tag945.xml><?xml version="1.0" encoding="utf-8"?>
<p:tagLst xmlns:p="http://schemas.openxmlformats.org/presentationml/2006/main">
  <p:tag name="ISLIDE.ICON" val="#176715;"/>
</p:tagLst>
</file>

<file path=ppt/tags/tag946.xml><?xml version="1.0" encoding="utf-8"?>
<p:tagLst xmlns:p="http://schemas.openxmlformats.org/presentationml/2006/main">
  <p:tag name="KSO_WM_BEAUTIFY_FLAG" val=""/>
</p:tagLst>
</file>

<file path=ppt/tags/tag947.xml><?xml version="1.0" encoding="utf-8"?>
<p:tagLst xmlns:p="http://schemas.openxmlformats.org/presentationml/2006/main">
  <p:tag name="KSO_WM_BEAUTIFY_FLAG" val=""/>
</p:tagLst>
</file>

<file path=ppt/tags/tag948.xml><?xml version="1.0" encoding="utf-8"?>
<p:tagLst xmlns:p="http://schemas.openxmlformats.org/presentationml/2006/main">
  <p:tag name="KSO_WM_BEAUTIFY_FLAG" val=""/>
</p:tagLst>
</file>

<file path=ppt/tags/tag949.xml><?xml version="1.0" encoding="utf-8"?>
<p:tagLst xmlns:p="http://schemas.openxmlformats.org/presentationml/2006/main">
  <p:tag name="KSO_WM_BEAUTIFY_FLAG" val=""/>
</p:tagLst>
</file>

<file path=ppt/tags/tag950.xml><?xml version="1.0" encoding="utf-8"?>
<p:tagLst xmlns:p="http://schemas.openxmlformats.org/presentationml/2006/main">
  <p:tag name="KSO_WM_BEAUTIFY_FLAG" val=""/>
</p:tagLst>
</file>

<file path=ppt/tags/tag951.xml><?xml version="1.0" encoding="utf-8"?>
<p:tagLst xmlns:p="http://schemas.openxmlformats.org/presentationml/2006/main">
  <p:tag name="KSO_WM_BEAUTIFY_FLAG" val=""/>
</p:tagLst>
</file>

<file path=ppt/tags/tag952.xml><?xml version="1.0" encoding="utf-8"?>
<p:tagLst xmlns:p="http://schemas.openxmlformats.org/presentationml/2006/main">
  <p:tag name="KSO_WM_BEAUTIFY_FLAG" val=""/>
</p:tagLst>
</file>

<file path=ppt/tags/tag953.xml><?xml version="1.0" encoding="utf-8"?>
<p:tagLst xmlns:p="http://schemas.openxmlformats.org/presentationml/2006/main">
  <p:tag name="KSO_WM_BEAUTIFY_FLAG" val=""/>
</p:tagLst>
</file>

<file path=ppt/tags/tag954.xml><?xml version="1.0" encoding="utf-8"?>
<p:tagLst xmlns:p="http://schemas.openxmlformats.org/presentationml/2006/main">
  <p:tag name="KSO_WM_BEAUTIFY_FLAG" val=""/>
</p:tagLst>
</file>

<file path=ppt/tags/tag955.xml><?xml version="1.0" encoding="utf-8"?>
<p:tagLst xmlns:p="http://schemas.openxmlformats.org/presentationml/2006/main">
  <p:tag name="KSO_WM_BEAUTIFY_FLAG" val=""/>
</p:tagLst>
</file>

<file path=ppt/tags/tag956.xml><?xml version="1.0" encoding="utf-8"?>
<p:tagLst xmlns:p="http://schemas.openxmlformats.org/presentationml/2006/main">
  <p:tag name="KSO_WM_BEAUTIFY_FLAG" val=""/>
</p:tagLst>
</file>

<file path=ppt/tags/tag957.xml><?xml version="1.0" encoding="utf-8"?>
<p:tagLst xmlns:p="http://schemas.openxmlformats.org/presentationml/2006/main">
  <p:tag name="KSO_WM_BEAUTIFY_FLAG" val=""/>
</p:tagLst>
</file>

<file path=ppt/tags/tag958.xml><?xml version="1.0" encoding="utf-8"?>
<p:tagLst xmlns:p="http://schemas.openxmlformats.org/presentationml/2006/main">
  <p:tag name="KSO_WM_BEAUTIFY_FLAG" val=""/>
</p:tagLst>
</file>

<file path=ppt/tags/tag959.xml><?xml version="1.0" encoding="utf-8"?>
<p:tagLst xmlns:p="http://schemas.openxmlformats.org/presentationml/2006/main">
  <p:tag name="KSO_WM_BEAUTIFY_FLAG" val=""/>
</p:tagLst>
</file>

<file path=ppt/tags/tag960.xml><?xml version="1.0" encoding="utf-8"?>
<p:tagLst xmlns:p="http://schemas.openxmlformats.org/presentationml/2006/main">
  <p:tag name="KSO_WM_BEAUTIFY_FLAG" val=""/>
</p:tagLst>
</file>

<file path=ppt/tags/tag961.xml><?xml version="1.0" encoding="utf-8"?>
<p:tagLst xmlns:p="http://schemas.openxmlformats.org/presentationml/2006/main">
  <p:tag name="ISLIDE.ICON" val="#176715;"/>
</p:tagLst>
</file>

<file path=ppt/tags/tag962.xml><?xml version="1.0" encoding="utf-8"?>
<p:tagLst xmlns:p="http://schemas.openxmlformats.org/presentationml/2006/main">
  <p:tag name="KSO_WM_BEAUTIFY_FLAG" val=""/>
</p:tagLst>
</file>

<file path=ppt/tags/tag963.xml><?xml version="1.0" encoding="utf-8"?>
<p:tagLst xmlns:p="http://schemas.openxmlformats.org/presentationml/2006/main">
  <p:tag name="KSO_WM_BEAUTIFY_FLAG" val=""/>
</p:tagLst>
</file>

<file path=ppt/tags/tag964.xml><?xml version="1.0" encoding="utf-8"?>
<p:tagLst xmlns:p="http://schemas.openxmlformats.org/presentationml/2006/main">
  <p:tag name="KSO_WM_BEAUTIFY_FLAG" val=""/>
</p:tagLst>
</file>

<file path=ppt/tags/tag965.xml><?xml version="1.0" encoding="utf-8"?>
<p:tagLst xmlns:p="http://schemas.openxmlformats.org/presentationml/2006/main">
  <p:tag name="KSO_WM_BEAUTIFY_FLAG" val=""/>
</p:tagLst>
</file>

<file path=ppt/tags/tag966.xml><?xml version="1.0" encoding="utf-8"?>
<p:tagLst xmlns:p="http://schemas.openxmlformats.org/presentationml/2006/main">
  <p:tag name="KSO_WM_BEAUTIFY_FLAG" val=""/>
</p:tagLst>
</file>

<file path=ppt/tags/tag967.xml><?xml version="1.0" encoding="utf-8"?>
<p:tagLst xmlns:p="http://schemas.openxmlformats.org/presentationml/2006/main">
  <p:tag name="KSO_WM_BEAUTIFY_FLAG" val=""/>
</p:tagLst>
</file>

<file path=ppt/tags/tag968.xml><?xml version="1.0" encoding="utf-8"?>
<p:tagLst xmlns:p="http://schemas.openxmlformats.org/presentationml/2006/main">
  <p:tag name="KSO_WM_BEAUTIFY_FLAG" val=""/>
</p:tagLst>
</file>

<file path=ppt/tags/tag969.xml><?xml version="1.0" encoding="utf-8"?>
<p:tagLst xmlns:p="http://schemas.openxmlformats.org/presentationml/2006/main">
  <p:tag name="KSO_WM_BEAUTIFY_FLAG" val=""/>
</p:tagLst>
</file>

<file path=ppt/tags/tag970.xml><?xml version="1.0" encoding="utf-8"?>
<p:tagLst xmlns:p="http://schemas.openxmlformats.org/presentationml/2006/main">
  <p:tag name="KSO_WM_BEAUTIFY_FLAG" val=""/>
</p:tagLst>
</file>

<file path=ppt/tags/tag971.xml><?xml version="1.0" encoding="utf-8"?>
<p:tagLst xmlns:p="http://schemas.openxmlformats.org/presentationml/2006/main">
  <p:tag name="KSO_WM_BEAUTIFY_FLAG" val=""/>
</p:tagLst>
</file>

<file path=ppt/tags/tag972.xml><?xml version="1.0" encoding="utf-8"?>
<p:tagLst xmlns:p="http://schemas.openxmlformats.org/presentationml/2006/main">
  <p:tag name="KSO_WM_BEAUTIFY_FLAG" val=""/>
</p:tagLst>
</file>

<file path=ppt/tags/tag973.xml><?xml version="1.0" encoding="utf-8"?>
<p:tagLst xmlns:p="http://schemas.openxmlformats.org/presentationml/2006/main">
  <p:tag name="KSO_WM_BEAUTIFY_FLAG" val=""/>
</p:tagLst>
</file>

<file path=ppt/tags/tag974.xml><?xml version="1.0" encoding="utf-8"?>
<p:tagLst xmlns:p="http://schemas.openxmlformats.org/presentationml/2006/main">
  <p:tag name="KSO_WM_BEAUTIFY_FLAG" val=""/>
</p:tagLst>
</file>

<file path=ppt/tags/tag975.xml><?xml version="1.0" encoding="utf-8"?>
<p:tagLst xmlns:p="http://schemas.openxmlformats.org/presentationml/2006/main">
  <p:tag name="KSO_WM_BEAUTIFY_FLAG" val=""/>
</p:tagLst>
</file>

<file path=ppt/tags/tag976.xml><?xml version="1.0" encoding="utf-8"?>
<p:tagLst xmlns:p="http://schemas.openxmlformats.org/presentationml/2006/main">
  <p:tag name="KSO_WM_BEAUTIFY_FLAG" val=""/>
</p:tagLst>
</file>

<file path=ppt/tags/tag977.xml><?xml version="1.0" encoding="utf-8"?>
<p:tagLst xmlns:p="http://schemas.openxmlformats.org/presentationml/2006/main">
  <p:tag name="KSO_WM_BEAUTIFY_FLAG" val=""/>
</p:tagLst>
</file>

<file path=ppt/tags/tag978.xml><?xml version="1.0" encoding="utf-8"?>
<p:tagLst xmlns:p="http://schemas.openxmlformats.org/presentationml/2006/main">
  <p:tag name="KSO_WM_BEAUTIFY_FLAG" val=""/>
</p:tagLst>
</file>

<file path=ppt/tags/tag979.xml><?xml version="1.0" encoding="utf-8"?>
<p:tagLst xmlns:p="http://schemas.openxmlformats.org/presentationml/2006/main">
  <p:tag name="KSO_WM_BEAUTIFY_FLAG" val=""/>
</p:tagLst>
</file>

<file path=ppt/tags/tag980.xml><?xml version="1.0" encoding="utf-8"?>
<p:tagLst xmlns:p="http://schemas.openxmlformats.org/presentationml/2006/main">
  <p:tag name="KSO_WM_BEAUTIFY_FLAG" val=""/>
</p:tagLst>
</file>

<file path=ppt/tags/tag981.xml><?xml version="1.0" encoding="utf-8"?>
<p:tagLst xmlns:p="http://schemas.openxmlformats.org/presentationml/2006/main">
  <p:tag name="KSO_WM_BEAUTIFY_FLAG" val=""/>
</p:tagLst>
</file>

<file path=ppt/tags/tag982.xml><?xml version="1.0" encoding="utf-8"?>
<p:tagLst xmlns:p="http://schemas.openxmlformats.org/presentationml/2006/main">
  <p:tag name="KSO_WM_BEAUTIFY_FLAG" val=""/>
</p:tagLst>
</file>

<file path=ppt/tags/tag983.xml><?xml version="1.0" encoding="utf-8"?>
<p:tagLst xmlns:p="http://schemas.openxmlformats.org/presentationml/2006/main">
  <p:tag name="KSO_WM_BEAUTIFY_FLAG" val=""/>
</p:tagLst>
</file>

<file path=ppt/tags/tag984.xml><?xml version="1.0" encoding="utf-8"?>
<p:tagLst xmlns:p="http://schemas.openxmlformats.org/presentationml/2006/main">
  <p:tag name="KSO_WM_BEAUTIFY_FLAG" val=""/>
</p:tagLst>
</file>

<file path=ppt/tags/tag985.xml><?xml version="1.0" encoding="utf-8"?>
<p:tagLst xmlns:p="http://schemas.openxmlformats.org/presentationml/2006/main">
  <p:tag name="KSO_WM_BEAUTIFY_FLAG" val=""/>
</p:tagLst>
</file>

<file path=ppt/tags/tag986.xml><?xml version="1.0" encoding="utf-8"?>
<p:tagLst xmlns:p="http://schemas.openxmlformats.org/presentationml/2006/main">
  <p:tag name="KSO_WM_BEAUTIFY_FLAG" val=""/>
</p:tagLst>
</file>

<file path=ppt/tags/tag987.xml><?xml version="1.0" encoding="utf-8"?>
<p:tagLst xmlns:p="http://schemas.openxmlformats.org/presentationml/2006/main">
  <p:tag name="KSO_WM_BEAUTIFY_FLAG" val=""/>
</p:tagLst>
</file>

<file path=ppt/tags/tag988.xml><?xml version="1.0" encoding="utf-8"?>
<p:tagLst xmlns:p="http://schemas.openxmlformats.org/presentationml/2006/main">
  <p:tag name="KSO_WM_BEAUTIFY_FLAG" val=""/>
</p:tagLst>
</file>

<file path=ppt/tags/tag989.xml><?xml version="1.0" encoding="utf-8"?>
<p:tagLst xmlns:p="http://schemas.openxmlformats.org/presentationml/2006/main">
  <p:tag name="KSO_WM_BEAUTIFY_FLAG" val=""/>
</p:tagLst>
</file>

<file path=ppt/tags/tag990.xml><?xml version="1.0" encoding="utf-8"?>
<p:tagLst xmlns:p="http://schemas.openxmlformats.org/presentationml/2006/main">
  <p:tag name="KSO_WM_BEAUTIFY_FLAG" val=""/>
</p:tagLst>
</file>

<file path=ppt/tags/tag991.xml><?xml version="1.0" encoding="utf-8"?>
<p:tagLst xmlns:p="http://schemas.openxmlformats.org/presentationml/2006/main">
  <p:tag name="KSO_WM_BEAUTIFY_FLAG" val=""/>
</p:tagLst>
</file>

<file path=ppt/tags/tag992.xml><?xml version="1.0" encoding="utf-8"?>
<p:tagLst xmlns:p="http://schemas.openxmlformats.org/presentationml/2006/main">
  <p:tag name="KSO_WM_BEAUTIFY_FLAG" val=""/>
</p:tagLst>
</file>

<file path=ppt/tags/tag993.xml><?xml version="1.0" encoding="utf-8"?>
<p:tagLst xmlns:p="http://schemas.openxmlformats.org/presentationml/2006/main">
  <p:tag name="KSO_WM_BEAUTIFY_FLAG" val=""/>
</p:tagLst>
</file>

<file path=ppt/tags/tag994.xml><?xml version="1.0" encoding="utf-8"?>
<p:tagLst xmlns:p="http://schemas.openxmlformats.org/presentationml/2006/main">
  <p:tag name="KSO_WM_BEAUTIFY_FLAG" val=""/>
</p:tagLst>
</file>

<file path=ppt/tags/tag995.xml><?xml version="1.0" encoding="utf-8"?>
<p:tagLst xmlns:p="http://schemas.openxmlformats.org/presentationml/2006/main">
  <p:tag name="KSO_WM_BEAUTIFY_FLAG" val=""/>
</p:tagLst>
</file>

<file path=ppt/tags/tag996.xml><?xml version="1.0" encoding="utf-8"?>
<p:tagLst xmlns:p="http://schemas.openxmlformats.org/presentationml/2006/main">
  <p:tag name="ISLIDE.ICON" val="#176715;"/>
</p:tagLst>
</file>

<file path=ppt/tags/tag997.xml><?xml version="1.0" encoding="utf-8"?>
<p:tagLst xmlns:p="http://schemas.openxmlformats.org/presentationml/2006/main">
  <p:tag name="KSO_WM_BEAUTIFY_FLAG" val=""/>
</p:tagLst>
</file>

<file path=ppt/tags/tag998.xml><?xml version="1.0" encoding="utf-8"?>
<p:tagLst xmlns:p="http://schemas.openxmlformats.org/presentationml/2006/main">
  <p:tag name="KSO_WM_BEAUTIFY_FLAG" val=""/>
</p:tagLst>
</file>

<file path=ppt/tags/tag999.xml><?xml version="1.0" encoding="utf-8"?>
<p:tagLst xmlns:p="http://schemas.openxmlformats.org/presentationml/2006/main">
  <p:tag name="KSO_WM_BEAUTIFY_FLAG" val=""/>
</p:tagLst>
</file>

<file path=ppt/tags/tag1000.xml><?xml version="1.0" encoding="utf-8"?>
<p:tagLst xmlns:p="http://schemas.openxmlformats.org/presentationml/2006/main">
  <p:tag name="KSO_WM_BEAUTIFY_FLAG" val=""/>
</p:tagLst>
</file>

<file path=ppt/tags/tag1001.xml><?xml version="1.0" encoding="utf-8"?>
<p:tagLst xmlns:p="http://schemas.openxmlformats.org/presentationml/2006/main">
  <p:tag name="KSO_WM_BEAUTIFY_FLAG" val=""/>
</p:tagLst>
</file>

<file path=ppt/tags/tag1002.xml><?xml version="1.0" encoding="utf-8"?>
<p:tagLst xmlns:p="http://schemas.openxmlformats.org/presentationml/2006/main">
  <p:tag name="KSO_WM_BEAUTIFY_FLAG" val=""/>
</p:tagLst>
</file>

<file path=ppt/tags/tag1003.xml><?xml version="1.0" encoding="utf-8"?>
<p:tagLst xmlns:p="http://schemas.openxmlformats.org/presentationml/2006/main">
  <p:tag name="KSO_WM_BEAUTIFY_FLAG" val=""/>
</p:tagLst>
</file>

<file path=ppt/tags/tag1004.xml><?xml version="1.0" encoding="utf-8"?>
<p:tagLst xmlns:p="http://schemas.openxmlformats.org/presentationml/2006/main">
  <p:tag name="KSO_WM_BEAUTIFY_FLAG" val=""/>
</p:tagLst>
</file>

<file path=ppt/tags/tag1005.xml><?xml version="1.0" encoding="utf-8"?>
<p:tagLst xmlns:p="http://schemas.openxmlformats.org/presentationml/2006/main">
  <p:tag name="KSO_WM_BEAUTIFY_FLAG" val=""/>
</p:tagLst>
</file>

<file path=ppt/tags/tag1006.xml><?xml version="1.0" encoding="utf-8"?>
<p:tagLst xmlns:p="http://schemas.openxmlformats.org/presentationml/2006/main">
  <p:tag name="KSO_WM_BEAUTIFY_FLAG" val=""/>
</p:tagLst>
</file>

<file path=ppt/tags/tag1007.xml><?xml version="1.0" encoding="utf-8"?>
<p:tagLst xmlns:p="http://schemas.openxmlformats.org/presentationml/2006/main">
  <p:tag name="KSO_WM_BEAUTIFY_FLAG" val=""/>
</p:tagLst>
</file>

<file path=ppt/tags/tag1008.xml><?xml version="1.0" encoding="utf-8"?>
<p:tagLst xmlns:p="http://schemas.openxmlformats.org/presentationml/2006/main">
  <p:tag name="KSO_WM_BEAUTIFY_FLAG" val=""/>
</p:tagLst>
</file>

<file path=ppt/tags/tag1009.xml><?xml version="1.0" encoding="utf-8"?>
<p:tagLst xmlns:p="http://schemas.openxmlformats.org/presentationml/2006/main">
  <p:tag name="KSO_WM_BEAUTIFY_FLAG" val=""/>
</p:tagLst>
</file>

<file path=ppt/tags/tag1010.xml><?xml version="1.0" encoding="utf-8"?>
<p:tagLst xmlns:p="http://schemas.openxmlformats.org/presentationml/2006/main">
  <p:tag name="KSO_WM_BEAUTIFY_FLAG" val=""/>
</p:tagLst>
</file>

<file path=ppt/tags/tag1011.xml><?xml version="1.0" encoding="utf-8"?>
<p:tagLst xmlns:p="http://schemas.openxmlformats.org/presentationml/2006/main">
  <p:tag name="KSO_WM_BEAUTIFY_FLAG" val=""/>
</p:tagLst>
</file>

<file path=ppt/tags/tag1012.xml><?xml version="1.0" encoding="utf-8"?>
<p:tagLst xmlns:p="http://schemas.openxmlformats.org/presentationml/2006/main">
  <p:tag name="KSO_WM_BEAUTIFY_FLAG" val=""/>
</p:tagLst>
</file>

<file path=ppt/tags/tag1013.xml><?xml version="1.0" encoding="utf-8"?>
<p:tagLst xmlns:p="http://schemas.openxmlformats.org/presentationml/2006/main">
  <p:tag name="KSO_WM_BEAUTIFY_FLAG" val=""/>
</p:tagLst>
</file>

<file path=ppt/tags/tag1014.xml><?xml version="1.0" encoding="utf-8"?>
<p:tagLst xmlns:p="http://schemas.openxmlformats.org/presentationml/2006/main">
  <p:tag name="KSO_WM_BEAUTIFY_FLAG" val=""/>
</p:tagLst>
</file>

<file path=ppt/tags/tag1015.xml><?xml version="1.0" encoding="utf-8"?>
<p:tagLst xmlns:p="http://schemas.openxmlformats.org/presentationml/2006/main">
  <p:tag name="KSO_WM_BEAUTIFY_FLAG" val=""/>
</p:tagLst>
</file>

<file path=ppt/tags/tag1016.xml><?xml version="1.0" encoding="utf-8"?>
<p:tagLst xmlns:p="http://schemas.openxmlformats.org/presentationml/2006/main">
  <p:tag name="KSO_WM_BEAUTIFY_FLAG" val=""/>
</p:tagLst>
</file>

<file path=ppt/tags/tag1017.xml><?xml version="1.0" encoding="utf-8"?>
<p:tagLst xmlns:p="http://schemas.openxmlformats.org/presentationml/2006/main">
  <p:tag name="KSO_WM_BEAUTIFY_FLAG" val=""/>
</p:tagLst>
</file>

<file path=ppt/tags/tag1018.xml><?xml version="1.0" encoding="utf-8"?>
<p:tagLst xmlns:p="http://schemas.openxmlformats.org/presentationml/2006/main">
  <p:tag name="KSO_WM_BEAUTIFY_FLAG" val=""/>
</p:tagLst>
</file>

<file path=ppt/tags/tag1019.xml><?xml version="1.0" encoding="utf-8"?>
<p:tagLst xmlns:p="http://schemas.openxmlformats.org/presentationml/2006/main">
  <p:tag name="KSO_WM_BEAUTIFY_FLAG" val=""/>
</p:tagLst>
</file>

<file path=ppt/tags/tag1020.xml><?xml version="1.0" encoding="utf-8"?>
<p:tagLst xmlns:p="http://schemas.openxmlformats.org/presentationml/2006/main">
  <p:tag name="KSO_WM_BEAUTIFY_FLAG" val=""/>
</p:tagLst>
</file>

<file path=ppt/tags/tag1021.xml><?xml version="1.0" encoding="utf-8"?>
<p:tagLst xmlns:p="http://schemas.openxmlformats.org/presentationml/2006/main">
  <p:tag name="KSO_WM_BEAUTIFY_FLAG" val=""/>
</p:tagLst>
</file>

<file path=ppt/tags/tag1022.xml><?xml version="1.0" encoding="utf-8"?>
<p:tagLst xmlns:p="http://schemas.openxmlformats.org/presentationml/2006/main">
  <p:tag name="KSO_WM_BEAUTIFY_FLAG" val=""/>
</p:tagLst>
</file>

<file path=ppt/tags/tag1023.xml><?xml version="1.0" encoding="utf-8"?>
<p:tagLst xmlns:p="http://schemas.openxmlformats.org/presentationml/2006/main">
  <p:tag name="KSO_WM_BEAUTIFY_FLAG" val=""/>
</p:tagLst>
</file>

<file path=ppt/tags/tag1024.xml><?xml version="1.0" encoding="utf-8"?>
<p:tagLst xmlns:p="http://schemas.openxmlformats.org/presentationml/2006/main">
  <p:tag name="KSO_WM_BEAUTIFY_FLAG" val=""/>
</p:tagLst>
</file>

<file path=ppt/tags/tag1025.xml><?xml version="1.0" encoding="utf-8"?>
<p:tagLst xmlns:p="http://schemas.openxmlformats.org/presentationml/2006/main">
  <p:tag name="KSO_WM_BEAUTIFY_FLAG" val=""/>
</p:tagLst>
</file>

<file path=ppt/tags/tag1026.xml><?xml version="1.0" encoding="utf-8"?>
<p:tagLst xmlns:p="http://schemas.openxmlformats.org/presentationml/2006/main">
  <p:tag name="KSO_WM_BEAUTIFY_FLAG" val=""/>
</p:tagLst>
</file>

<file path=ppt/tags/tag1027.xml><?xml version="1.0" encoding="utf-8"?>
<p:tagLst xmlns:p="http://schemas.openxmlformats.org/presentationml/2006/main">
  <p:tag name="KSO_WM_BEAUTIFY_FLAG" val=""/>
</p:tagLst>
</file>

<file path=ppt/tags/tag1028.xml><?xml version="1.0" encoding="utf-8"?>
<p:tagLst xmlns:p="http://schemas.openxmlformats.org/presentationml/2006/main">
  <p:tag name="KSO_WM_BEAUTIFY_FLAG" val=""/>
</p:tagLst>
</file>

<file path=ppt/tags/tag1029.xml><?xml version="1.0" encoding="utf-8"?>
<p:tagLst xmlns:p="http://schemas.openxmlformats.org/presentationml/2006/main">
  <p:tag name="KSO_WM_BEAUTIFY_FLAG" val=""/>
</p:tagLst>
</file>

<file path=ppt/tags/tag1030.xml><?xml version="1.0" encoding="utf-8"?>
<p:tagLst xmlns:p="http://schemas.openxmlformats.org/presentationml/2006/main">
  <p:tag name="ISLIDE.ICON" val="#176715;"/>
</p:tagLst>
</file>

<file path=ppt/tags/tag1031.xml><?xml version="1.0" encoding="utf-8"?>
<p:tagLst xmlns:p="http://schemas.openxmlformats.org/presentationml/2006/main">
  <p:tag name="KSO_WM_BEAUTIFY_FLAG" val=""/>
</p:tagLst>
</file>

<file path=ppt/tags/tag1032.xml><?xml version="1.0" encoding="utf-8"?>
<p:tagLst xmlns:p="http://schemas.openxmlformats.org/presentationml/2006/main">
  <p:tag name="KSO_WM_BEAUTIFY_FLAG" val=""/>
</p:tagLst>
</file>

<file path=ppt/tags/tag1033.xml><?xml version="1.0" encoding="utf-8"?>
<p:tagLst xmlns:p="http://schemas.openxmlformats.org/presentationml/2006/main">
  <p:tag name="KSO_WM_BEAUTIFY_FLAG" val=""/>
</p:tagLst>
</file>

<file path=ppt/tags/tag1034.xml><?xml version="1.0" encoding="utf-8"?>
<p:tagLst xmlns:p="http://schemas.openxmlformats.org/presentationml/2006/main">
  <p:tag name="KSO_WM_BEAUTIFY_FLAG" val=""/>
</p:tagLst>
</file>

<file path=ppt/tags/tag1035.xml><?xml version="1.0" encoding="utf-8"?>
<p:tagLst xmlns:p="http://schemas.openxmlformats.org/presentationml/2006/main">
  <p:tag name="KSO_WM_BEAUTIFY_FLAG" val=""/>
</p:tagLst>
</file>

<file path=ppt/tags/tag1036.xml><?xml version="1.0" encoding="utf-8"?>
<p:tagLst xmlns:p="http://schemas.openxmlformats.org/presentationml/2006/main">
  <p:tag name="KSO_WM_BEAUTIFY_FLAG" val=""/>
</p:tagLst>
</file>

<file path=ppt/tags/tag1037.xml><?xml version="1.0" encoding="utf-8"?>
<p:tagLst xmlns:p="http://schemas.openxmlformats.org/presentationml/2006/main">
  <p:tag name="KSO_WM_BEAUTIFY_FLAG" val=""/>
</p:tagLst>
</file>

<file path=ppt/tags/tag1038.xml><?xml version="1.0" encoding="utf-8"?>
<p:tagLst xmlns:p="http://schemas.openxmlformats.org/presentationml/2006/main">
  <p:tag name="KSO_WM_BEAUTIFY_FLAG" val=""/>
</p:tagLst>
</file>

<file path=ppt/tags/tag1039.xml><?xml version="1.0" encoding="utf-8"?>
<p:tagLst xmlns:p="http://schemas.openxmlformats.org/presentationml/2006/main">
  <p:tag name="KSO_WM_BEAUTIFY_FLAG" val=""/>
</p:tagLst>
</file>

<file path=ppt/tags/tag1040.xml><?xml version="1.0" encoding="utf-8"?>
<p:tagLst xmlns:p="http://schemas.openxmlformats.org/presentationml/2006/main">
  <p:tag name="KSO_WM_BEAUTIFY_FLAG" val=""/>
</p:tagLst>
</file>

<file path=ppt/tags/tag1041.xml><?xml version="1.0" encoding="utf-8"?>
<p:tagLst xmlns:p="http://schemas.openxmlformats.org/presentationml/2006/main">
  <p:tag name="KSO_WM_BEAUTIFY_FLAG" val=""/>
</p:tagLst>
</file>

<file path=ppt/tags/tag1042.xml><?xml version="1.0" encoding="utf-8"?>
<p:tagLst xmlns:p="http://schemas.openxmlformats.org/presentationml/2006/main">
  <p:tag name="KSO_WM_BEAUTIFY_FLAG" val=""/>
</p:tagLst>
</file>

<file path=ppt/tags/tag1043.xml><?xml version="1.0" encoding="utf-8"?>
<p:tagLst xmlns:p="http://schemas.openxmlformats.org/presentationml/2006/main">
  <p:tag name="KSO_WM_BEAUTIFY_FLAG" val=""/>
</p:tagLst>
</file>

<file path=ppt/tags/tag1044.xml><?xml version="1.0" encoding="utf-8"?>
<p:tagLst xmlns:p="http://schemas.openxmlformats.org/presentationml/2006/main">
  <p:tag name="KSO_WM_BEAUTIFY_FLAG" val=""/>
</p:tagLst>
</file>

<file path=ppt/tags/tag1045.xml><?xml version="1.0" encoding="utf-8"?>
<p:tagLst xmlns:p="http://schemas.openxmlformats.org/presentationml/2006/main">
  <p:tag name="KSO_WM_BEAUTIFY_FLAG" val=""/>
</p:tagLst>
</file>

<file path=ppt/tags/tag1046.xml><?xml version="1.0" encoding="utf-8"?>
<p:tagLst xmlns:p="http://schemas.openxmlformats.org/presentationml/2006/main">
  <p:tag name="KSO_WM_BEAUTIFY_FLAG" val=""/>
</p:tagLst>
</file>

<file path=ppt/tags/tag1047.xml><?xml version="1.0" encoding="utf-8"?>
<p:tagLst xmlns:p="http://schemas.openxmlformats.org/presentationml/2006/main">
  <p:tag name="KSO_WM_BEAUTIFY_FLAG" val=""/>
</p:tagLst>
</file>

<file path=ppt/tags/tag1048.xml><?xml version="1.0" encoding="utf-8"?>
<p:tagLst xmlns:p="http://schemas.openxmlformats.org/presentationml/2006/main">
  <p:tag name="KSO_WM_BEAUTIFY_FLAG" val=""/>
</p:tagLst>
</file>

<file path=ppt/tags/tag1049.xml><?xml version="1.0" encoding="utf-8"?>
<p:tagLst xmlns:p="http://schemas.openxmlformats.org/presentationml/2006/main">
  <p:tag name="KSO_WM_BEAUTIFY_FLAG" val=""/>
</p:tagLst>
</file>

<file path=ppt/tags/tag1050.xml><?xml version="1.0" encoding="utf-8"?>
<p:tagLst xmlns:p="http://schemas.openxmlformats.org/presentationml/2006/main">
  <p:tag name="KSO_WM_BEAUTIFY_FLAG" val=""/>
</p:tagLst>
</file>

<file path=ppt/tags/tag1051.xml><?xml version="1.0" encoding="utf-8"?>
<p:tagLst xmlns:p="http://schemas.openxmlformats.org/presentationml/2006/main">
  <p:tag name="KSO_WM_BEAUTIFY_FLAG" val=""/>
</p:tagLst>
</file>

<file path=ppt/tags/tag1052.xml><?xml version="1.0" encoding="utf-8"?>
<p:tagLst xmlns:p="http://schemas.openxmlformats.org/presentationml/2006/main">
  <p:tag name="KSO_WM_BEAUTIFY_FLAG" val=""/>
</p:tagLst>
</file>

<file path=ppt/tags/tag1053.xml><?xml version="1.0" encoding="utf-8"?>
<p:tagLst xmlns:p="http://schemas.openxmlformats.org/presentationml/2006/main">
  <p:tag name="ISLIDE.ICON" val="#176715;"/>
</p:tagLst>
</file>

<file path=ppt/tags/tag1054.xml><?xml version="1.0" encoding="utf-8"?>
<p:tagLst xmlns:p="http://schemas.openxmlformats.org/presentationml/2006/main">
  <p:tag name="KSO_WM_BEAUTIFY_FLAG" val=""/>
</p:tagLst>
</file>

<file path=ppt/tags/tag1055.xml><?xml version="1.0" encoding="utf-8"?>
<p:tagLst xmlns:p="http://schemas.openxmlformats.org/presentationml/2006/main">
  <p:tag name="KSO_WM_BEAUTIFY_FLAG" val=""/>
</p:tagLst>
</file>

<file path=ppt/tags/tag1056.xml><?xml version="1.0" encoding="utf-8"?>
<p:tagLst xmlns:p="http://schemas.openxmlformats.org/presentationml/2006/main">
  <p:tag name="KSO_WM_BEAUTIFY_FLAG" val=""/>
</p:tagLst>
</file>

<file path=ppt/tags/tag1057.xml><?xml version="1.0" encoding="utf-8"?>
<p:tagLst xmlns:p="http://schemas.openxmlformats.org/presentationml/2006/main">
  <p:tag name="KSO_WM_BEAUTIFY_FLAG" val=""/>
</p:tagLst>
</file>

<file path=ppt/tags/tag1058.xml><?xml version="1.0" encoding="utf-8"?>
<p:tagLst xmlns:p="http://schemas.openxmlformats.org/presentationml/2006/main">
  <p:tag name="KSO_WM_BEAUTIFY_FLAG" val=""/>
</p:tagLst>
</file>

<file path=ppt/tags/tag1059.xml><?xml version="1.0" encoding="utf-8"?>
<p:tagLst xmlns:p="http://schemas.openxmlformats.org/presentationml/2006/main">
  <p:tag name="KSO_WM_BEAUTIFY_FLAG" val=""/>
</p:tagLst>
</file>

<file path=ppt/tags/tag1060.xml><?xml version="1.0" encoding="utf-8"?>
<p:tagLst xmlns:p="http://schemas.openxmlformats.org/presentationml/2006/main">
  <p:tag name="KSO_WM_BEAUTIFY_FLAG" val=""/>
</p:tagLst>
</file>

<file path=ppt/tags/tag1061.xml><?xml version="1.0" encoding="utf-8"?>
<p:tagLst xmlns:p="http://schemas.openxmlformats.org/presentationml/2006/main">
  <p:tag name="KSO_WM_BEAUTIFY_FLAG" val=""/>
</p:tagLst>
</file>

<file path=ppt/tags/tag1062.xml><?xml version="1.0" encoding="utf-8"?>
<p:tagLst xmlns:p="http://schemas.openxmlformats.org/presentationml/2006/main">
  <p:tag name="KSO_WM_BEAUTIFY_FLAG" val=""/>
</p:tagLst>
</file>

<file path=ppt/tags/tag1063.xml><?xml version="1.0" encoding="utf-8"?>
<p:tagLst xmlns:p="http://schemas.openxmlformats.org/presentationml/2006/main">
  <p:tag name="KSO_WM_BEAUTIFY_FLAG" val=""/>
</p:tagLst>
</file>

<file path=ppt/tags/tag1064.xml><?xml version="1.0" encoding="utf-8"?>
<p:tagLst xmlns:p="http://schemas.openxmlformats.org/presentationml/2006/main">
  <p:tag name="KSO_WM_BEAUTIFY_FLAG" val=""/>
</p:tagLst>
</file>

<file path=ppt/tags/tag1065.xml><?xml version="1.0" encoding="utf-8"?>
<p:tagLst xmlns:p="http://schemas.openxmlformats.org/presentationml/2006/main">
  <p:tag name="KSO_WM_BEAUTIFY_FLAG" val=""/>
</p:tagLst>
</file>

<file path=ppt/tags/tag1066.xml><?xml version="1.0" encoding="utf-8"?>
<p:tagLst xmlns:p="http://schemas.openxmlformats.org/presentationml/2006/main">
  <p:tag name="KSO_WM_BEAUTIFY_FLAG" val=""/>
</p:tagLst>
</file>

<file path=ppt/tags/tag1067.xml><?xml version="1.0" encoding="utf-8"?>
<p:tagLst xmlns:p="http://schemas.openxmlformats.org/presentationml/2006/main">
  <p:tag name="KSO_WM_BEAUTIFY_FLAG" val=""/>
</p:tagLst>
</file>

<file path=ppt/tags/tag1068.xml><?xml version="1.0" encoding="utf-8"?>
<p:tagLst xmlns:p="http://schemas.openxmlformats.org/presentationml/2006/main">
  <p:tag name="KSO_WM_BEAUTIFY_FLAG" val=""/>
</p:tagLst>
</file>

<file path=ppt/tags/tag1069.xml><?xml version="1.0" encoding="utf-8"?>
<p:tagLst xmlns:p="http://schemas.openxmlformats.org/presentationml/2006/main">
  <p:tag name="KSO_WM_BEAUTIFY_FLAG" val=""/>
</p:tagLst>
</file>

<file path=ppt/tags/tag1070.xml><?xml version="1.0" encoding="utf-8"?>
<p:tagLst xmlns:p="http://schemas.openxmlformats.org/presentationml/2006/main">
  <p:tag name="KSO_WM_BEAUTIFY_FLAG" val=""/>
</p:tagLst>
</file>

<file path=ppt/tags/tag1071.xml><?xml version="1.0" encoding="utf-8"?>
<p:tagLst xmlns:p="http://schemas.openxmlformats.org/presentationml/2006/main">
  <p:tag name="KSO_WM_BEAUTIFY_FLAG" val=""/>
</p:tagLst>
</file>

<file path=ppt/tags/tag1072.xml><?xml version="1.0" encoding="utf-8"?>
<p:tagLst xmlns:p="http://schemas.openxmlformats.org/presentationml/2006/main">
  <p:tag name="ISLIDE.ICON" val="#176715;"/>
</p:tagLst>
</file>

<file path=ppt/tags/tag1073.xml><?xml version="1.0" encoding="utf-8"?>
<p:tagLst xmlns:p="http://schemas.openxmlformats.org/presentationml/2006/main">
  <p:tag name="KSO_WM_BEAUTIFY_FLAG" val=""/>
</p:tagLst>
</file>

<file path=ppt/tags/tag1074.xml><?xml version="1.0" encoding="utf-8"?>
<p:tagLst xmlns:p="http://schemas.openxmlformats.org/presentationml/2006/main">
  <p:tag name="KSO_WM_BEAUTIFY_FLAG" val=""/>
</p:tagLst>
</file>

<file path=ppt/tags/tag1075.xml><?xml version="1.0" encoding="utf-8"?>
<p:tagLst xmlns:p="http://schemas.openxmlformats.org/presentationml/2006/main">
  <p:tag name="KSO_WM_BEAUTIFY_FLAG" val=""/>
</p:tagLst>
</file>

<file path=ppt/tags/tag1076.xml><?xml version="1.0" encoding="utf-8"?>
<p:tagLst xmlns:p="http://schemas.openxmlformats.org/presentationml/2006/main">
  <p:tag name="KSO_WM_BEAUTIFY_FLAG" val=""/>
</p:tagLst>
</file>

<file path=ppt/tags/tag1077.xml><?xml version="1.0" encoding="utf-8"?>
<p:tagLst xmlns:p="http://schemas.openxmlformats.org/presentationml/2006/main">
  <p:tag name="KSO_WM_BEAUTIFY_FLAG" val=""/>
</p:tagLst>
</file>

<file path=ppt/tags/tag1078.xml><?xml version="1.0" encoding="utf-8"?>
<p:tagLst xmlns:p="http://schemas.openxmlformats.org/presentationml/2006/main">
  <p:tag name="KSO_WM_BEAUTIFY_FLAG" val=""/>
</p:tagLst>
</file>

<file path=ppt/tags/tag1079.xml><?xml version="1.0" encoding="utf-8"?>
<p:tagLst xmlns:p="http://schemas.openxmlformats.org/presentationml/2006/main">
  <p:tag name="KSO_WM_BEAUTIFY_FLAG" val=""/>
</p:tagLst>
</file>

<file path=ppt/tags/tag1080.xml><?xml version="1.0" encoding="utf-8"?>
<p:tagLst xmlns:p="http://schemas.openxmlformats.org/presentationml/2006/main">
  <p:tag name="KSO_WM_BEAUTIFY_FLAG" val=""/>
</p:tagLst>
</file>

<file path=ppt/tags/tag1081.xml><?xml version="1.0" encoding="utf-8"?>
<p:tagLst xmlns:p="http://schemas.openxmlformats.org/presentationml/2006/main">
  <p:tag name="KSO_WM_BEAUTIFY_FLAG" val=""/>
</p:tagLst>
</file>

<file path=ppt/tags/tag1082.xml><?xml version="1.0" encoding="utf-8"?>
<p:tagLst xmlns:p="http://schemas.openxmlformats.org/presentationml/2006/main">
  <p:tag name="KSO_WM_BEAUTIFY_FLAG" val=""/>
</p:tagLst>
</file>

<file path=ppt/tags/tag1083.xml><?xml version="1.0" encoding="utf-8"?>
<p:tagLst xmlns:p="http://schemas.openxmlformats.org/presentationml/2006/main">
  <p:tag name="KSO_WM_BEAUTIFY_FLAG" val=""/>
</p:tagLst>
</file>

<file path=ppt/tags/tag1084.xml><?xml version="1.0" encoding="utf-8"?>
<p:tagLst xmlns:p="http://schemas.openxmlformats.org/presentationml/2006/main">
  <p:tag name="KSO_WM_BEAUTIFY_FLAG" val=""/>
</p:tagLst>
</file>

<file path=ppt/tags/tag1085.xml><?xml version="1.0" encoding="utf-8"?>
<p:tagLst xmlns:p="http://schemas.openxmlformats.org/presentationml/2006/main">
  <p:tag name="KSO_WM_BEAUTIFY_FLAG" val=""/>
</p:tagLst>
</file>

<file path=ppt/tags/tag1086.xml><?xml version="1.0" encoding="utf-8"?>
<p:tagLst xmlns:p="http://schemas.openxmlformats.org/presentationml/2006/main">
  <p:tag name="KSO_WM_BEAUTIFY_FLAG" val=""/>
</p:tagLst>
</file>

<file path=ppt/tags/tag1087.xml><?xml version="1.0" encoding="utf-8"?>
<p:tagLst xmlns:p="http://schemas.openxmlformats.org/presentationml/2006/main">
  <p:tag name="KSO_WM_BEAUTIFY_FLAG" val=""/>
</p:tagLst>
</file>

<file path=ppt/tags/tag1088.xml><?xml version="1.0" encoding="utf-8"?>
<p:tagLst xmlns:p="http://schemas.openxmlformats.org/presentationml/2006/main">
  <p:tag name="KSO_WM_BEAUTIFY_FLAG" val=""/>
</p:tagLst>
</file>

<file path=ppt/tags/tag1089.xml><?xml version="1.0" encoding="utf-8"?>
<p:tagLst xmlns:p="http://schemas.openxmlformats.org/presentationml/2006/main">
  <p:tag name="KSO_WM_BEAUTIFY_FLAG" val=""/>
</p:tagLst>
</file>

<file path=ppt/tags/tag1090.xml><?xml version="1.0" encoding="utf-8"?>
<p:tagLst xmlns:p="http://schemas.openxmlformats.org/presentationml/2006/main">
  <p:tag name="KSO_WM_BEAUTIFY_FLAG" val=""/>
</p:tagLst>
</file>

<file path=ppt/tags/tag1091.xml><?xml version="1.0" encoding="utf-8"?>
<p:tagLst xmlns:p="http://schemas.openxmlformats.org/presentationml/2006/main">
  <p:tag name="KSO_WM_BEAUTIFY_FLAG" val=""/>
</p:tagLst>
</file>

<file path=ppt/tags/tag1092.xml><?xml version="1.0" encoding="utf-8"?>
<p:tagLst xmlns:p="http://schemas.openxmlformats.org/presentationml/2006/main">
  <p:tag name="KSO_WM_BEAUTIFY_FLAG" val=""/>
</p:tagLst>
</file>

<file path=ppt/tags/tag1093.xml><?xml version="1.0" encoding="utf-8"?>
<p:tagLst xmlns:p="http://schemas.openxmlformats.org/presentationml/2006/main">
  <p:tag name="KSO_WM_BEAUTIFY_FLAG" val=""/>
</p:tagLst>
</file>

<file path=ppt/tags/tag1094.xml><?xml version="1.0" encoding="utf-8"?>
<p:tagLst xmlns:p="http://schemas.openxmlformats.org/presentationml/2006/main">
  <p:tag name="KSO_WM_BEAUTIFY_FLAG" val=""/>
</p:tagLst>
</file>

<file path=ppt/tags/tag1095.xml><?xml version="1.0" encoding="utf-8"?>
<p:tagLst xmlns:p="http://schemas.openxmlformats.org/presentationml/2006/main">
  <p:tag name="KSO_WM_BEAUTIFY_FLAG" val=""/>
</p:tagLst>
</file>

<file path=ppt/tags/tag1096.xml><?xml version="1.0" encoding="utf-8"?>
<p:tagLst xmlns:p="http://schemas.openxmlformats.org/presentationml/2006/main">
  <p:tag name="KSO_WM_BEAUTIFY_FLAG" val=""/>
</p:tagLst>
</file>

<file path=ppt/tags/tag1097.xml><?xml version="1.0" encoding="utf-8"?>
<p:tagLst xmlns:p="http://schemas.openxmlformats.org/presentationml/2006/main">
  <p:tag name="KSO_WM_BEAUTIFY_FLAG" val=""/>
</p:tagLst>
</file>

<file path=ppt/tags/tag1098.xml><?xml version="1.0" encoding="utf-8"?>
<p:tagLst xmlns:p="http://schemas.openxmlformats.org/presentationml/2006/main">
  <p:tag name="KSO_WM_BEAUTIFY_FLAG" val=""/>
</p:tagLst>
</file>

<file path=ppt/tags/tag1099.xml><?xml version="1.0" encoding="utf-8"?>
<p:tagLst xmlns:p="http://schemas.openxmlformats.org/presentationml/2006/main">
  <p:tag name="KSO_WM_BEAUTIFY_FLAG" val=""/>
</p:tagLst>
</file>

<file path=ppt/tags/tag1100.xml><?xml version="1.0" encoding="utf-8"?>
<p:tagLst xmlns:p="http://schemas.openxmlformats.org/presentationml/2006/main">
  <p:tag name="KSO_WM_BEAUTIFY_FLAG" val=""/>
</p:tagLst>
</file>

<file path=ppt/tags/tag1101.xml><?xml version="1.0" encoding="utf-8"?>
<p:tagLst xmlns:p="http://schemas.openxmlformats.org/presentationml/2006/main">
  <p:tag name="KSO_WM_BEAUTIFY_FLAG" val=""/>
</p:tagLst>
</file>

<file path=ppt/tags/tag1102.xml><?xml version="1.0" encoding="utf-8"?>
<p:tagLst xmlns:p="http://schemas.openxmlformats.org/presentationml/2006/main">
  <p:tag name="KSO_WM_BEAUTIFY_FLAG" val=""/>
</p:tagLst>
</file>

<file path=ppt/tags/tag1103.xml><?xml version="1.0" encoding="utf-8"?>
<p:tagLst xmlns:p="http://schemas.openxmlformats.org/presentationml/2006/main">
  <p:tag name="KSO_WM_BEAUTIFY_FLAG" val=""/>
</p:tagLst>
</file>

<file path=ppt/tags/tag1104.xml><?xml version="1.0" encoding="utf-8"?>
<p:tagLst xmlns:p="http://schemas.openxmlformats.org/presentationml/2006/main">
  <p:tag name="KSO_WM_BEAUTIFY_FLAG" val=""/>
</p:tagLst>
</file>

<file path=ppt/tags/tag1105.xml><?xml version="1.0" encoding="utf-8"?>
<p:tagLst xmlns:p="http://schemas.openxmlformats.org/presentationml/2006/main">
  <p:tag name="KSO_WM_BEAUTIFY_FLAG" val=""/>
</p:tagLst>
</file>

<file path=ppt/tags/tag1106.xml><?xml version="1.0" encoding="utf-8"?>
<p:tagLst xmlns:p="http://schemas.openxmlformats.org/presentationml/2006/main">
  <p:tag name="KSO_WM_BEAUTIFY_FLAG" val=""/>
</p:tagLst>
</file>

<file path=ppt/tags/tag1107.xml><?xml version="1.0" encoding="utf-8"?>
<p:tagLst xmlns:p="http://schemas.openxmlformats.org/presentationml/2006/main">
  <p:tag name="KSO_WM_BEAUTIFY_FLAG" val=""/>
</p:tagLst>
</file>

<file path=ppt/tags/tag1108.xml><?xml version="1.0" encoding="utf-8"?>
<p:tagLst xmlns:p="http://schemas.openxmlformats.org/presentationml/2006/main">
  <p:tag name="KSO_WM_BEAUTIFY_FLAG" val=""/>
</p:tagLst>
</file>

<file path=ppt/tags/tag1109.xml><?xml version="1.0" encoding="utf-8"?>
<p:tagLst xmlns:p="http://schemas.openxmlformats.org/presentationml/2006/main">
  <p:tag name="KSO_WM_BEAUTIFY_FLAG" val=""/>
</p:tagLst>
</file>

<file path=ppt/tags/tag1110.xml><?xml version="1.0" encoding="utf-8"?>
<p:tagLst xmlns:p="http://schemas.openxmlformats.org/presentationml/2006/main">
  <p:tag name="KSO_WM_BEAUTIFY_FLAG" val=""/>
</p:tagLst>
</file>

<file path=ppt/tags/tag1111.xml><?xml version="1.0" encoding="utf-8"?>
<p:tagLst xmlns:p="http://schemas.openxmlformats.org/presentationml/2006/main">
  <p:tag name="KSO_WM_BEAUTIFY_FLAG" val=""/>
</p:tagLst>
</file>

<file path=ppt/tags/tag1112.xml><?xml version="1.0" encoding="utf-8"?>
<p:tagLst xmlns:p="http://schemas.openxmlformats.org/presentationml/2006/main">
  <p:tag name="KSO_WM_BEAUTIFY_FLAG" val=""/>
</p:tagLst>
</file>

<file path=ppt/tags/tag1113.xml><?xml version="1.0" encoding="utf-8"?>
<p:tagLst xmlns:p="http://schemas.openxmlformats.org/presentationml/2006/main">
  <p:tag name="KSO_WM_BEAUTIFY_FLAG" val=""/>
</p:tagLst>
</file>

<file path=ppt/tags/tag1114.xml><?xml version="1.0" encoding="utf-8"?>
<p:tagLst xmlns:p="http://schemas.openxmlformats.org/presentationml/2006/main">
  <p:tag name="KSO_WM_BEAUTIFY_FLAG" val=""/>
</p:tagLst>
</file>

<file path=ppt/tags/tag1115.xml><?xml version="1.0" encoding="utf-8"?>
<p:tagLst xmlns:p="http://schemas.openxmlformats.org/presentationml/2006/main">
  <p:tag name="KSO_WM_BEAUTIFY_FLAG" val=""/>
</p:tagLst>
</file>

<file path=ppt/tags/tag1116.xml><?xml version="1.0" encoding="utf-8"?>
<p:tagLst xmlns:p="http://schemas.openxmlformats.org/presentationml/2006/main">
  <p:tag name="KSO_WM_BEAUTIFY_FLAG" val=""/>
</p:tagLst>
</file>

<file path=ppt/tags/tag1117.xml><?xml version="1.0" encoding="utf-8"?>
<p:tagLst xmlns:p="http://schemas.openxmlformats.org/presentationml/2006/main">
  <p:tag name="KSO_WM_BEAUTIFY_FLAG" val=""/>
</p:tagLst>
</file>

<file path=ppt/tags/tag1118.xml><?xml version="1.0" encoding="utf-8"?>
<p:tagLst xmlns:p="http://schemas.openxmlformats.org/presentationml/2006/main">
  <p:tag name="KSO_WM_BEAUTIFY_FLAG" val=""/>
</p:tagLst>
</file>

<file path=ppt/tags/tag1119.xml><?xml version="1.0" encoding="utf-8"?>
<p:tagLst xmlns:p="http://schemas.openxmlformats.org/presentationml/2006/main">
  <p:tag name="ISLIDE.ICON" val="#176715;"/>
</p:tagLst>
</file>

<file path=ppt/tags/tag1120.xml><?xml version="1.0" encoding="utf-8"?>
<p:tagLst xmlns:p="http://schemas.openxmlformats.org/presentationml/2006/main">
  <p:tag name="KSO_WM_BEAUTIFY_FLAG" val=""/>
</p:tagLst>
</file>

<file path=ppt/tags/tag1121.xml><?xml version="1.0" encoding="utf-8"?>
<p:tagLst xmlns:p="http://schemas.openxmlformats.org/presentationml/2006/main">
  <p:tag name="KSO_WM_BEAUTIFY_FLAG" val=""/>
</p:tagLst>
</file>

<file path=ppt/tags/tag1122.xml><?xml version="1.0" encoding="utf-8"?>
<p:tagLst xmlns:p="http://schemas.openxmlformats.org/presentationml/2006/main">
  <p:tag name="KSO_WM_BEAUTIFY_FLAG" val=""/>
</p:tagLst>
</file>

<file path=ppt/tags/tag1123.xml><?xml version="1.0" encoding="utf-8"?>
<p:tagLst xmlns:p="http://schemas.openxmlformats.org/presentationml/2006/main">
  <p:tag name="KSO_WM_BEAUTIFY_FLAG" val=""/>
</p:tagLst>
</file>

<file path=ppt/tags/tag1124.xml><?xml version="1.0" encoding="utf-8"?>
<p:tagLst xmlns:p="http://schemas.openxmlformats.org/presentationml/2006/main">
  <p:tag name="KSO_WM_BEAUTIFY_FLAG" val=""/>
</p:tagLst>
</file>

<file path=ppt/tags/tag1125.xml><?xml version="1.0" encoding="utf-8"?>
<p:tagLst xmlns:p="http://schemas.openxmlformats.org/presentationml/2006/main">
  <p:tag name="KSO_WM_BEAUTIFY_FLAG" val=""/>
</p:tagLst>
</file>

<file path=ppt/tags/tag1126.xml><?xml version="1.0" encoding="utf-8"?>
<p:tagLst xmlns:p="http://schemas.openxmlformats.org/presentationml/2006/main">
  <p:tag name="KSO_WM_BEAUTIFY_FLAG" val=""/>
</p:tagLst>
</file>

<file path=ppt/tags/tag1127.xml><?xml version="1.0" encoding="utf-8"?>
<p:tagLst xmlns:p="http://schemas.openxmlformats.org/presentationml/2006/main">
  <p:tag name="KSO_WM_BEAUTIFY_FLAG" val=""/>
</p:tagLst>
</file>

<file path=ppt/tags/tag1128.xml><?xml version="1.0" encoding="utf-8"?>
<p:tagLst xmlns:p="http://schemas.openxmlformats.org/presentationml/2006/main">
  <p:tag name="KSO_WM_BEAUTIFY_FLAG" val=""/>
</p:tagLst>
</file>

<file path=ppt/tags/tag1129.xml><?xml version="1.0" encoding="utf-8"?>
<p:tagLst xmlns:p="http://schemas.openxmlformats.org/presentationml/2006/main">
  <p:tag name="KSO_WM_BEAUTIFY_FLAG" val=""/>
</p:tagLst>
</file>

<file path=ppt/tags/tag1130.xml><?xml version="1.0" encoding="utf-8"?>
<p:tagLst xmlns:p="http://schemas.openxmlformats.org/presentationml/2006/main">
  <p:tag name="KSO_WM_BEAUTIFY_FLAG" val=""/>
</p:tagLst>
</file>

<file path=ppt/tags/tag1131.xml><?xml version="1.0" encoding="utf-8"?>
<p:tagLst xmlns:p="http://schemas.openxmlformats.org/presentationml/2006/main">
  <p:tag name="KSO_WM_BEAUTIFY_FLAG" val=""/>
</p:tagLst>
</file>

<file path=ppt/tags/tag1132.xml><?xml version="1.0" encoding="utf-8"?>
<p:tagLst xmlns:p="http://schemas.openxmlformats.org/presentationml/2006/main">
  <p:tag name="KSO_WM_BEAUTIFY_FLAG" val=""/>
</p:tagLst>
</file>

<file path=ppt/tags/tag1133.xml><?xml version="1.0" encoding="utf-8"?>
<p:tagLst xmlns:p="http://schemas.openxmlformats.org/presentationml/2006/main">
  <p:tag name="KSO_WM_BEAUTIFY_FLAG" val=""/>
</p:tagLst>
</file>

<file path=ppt/tags/tag1134.xml><?xml version="1.0" encoding="utf-8"?>
<p:tagLst xmlns:p="http://schemas.openxmlformats.org/presentationml/2006/main">
  <p:tag name="KSO_WM_BEAUTIFY_FLAG" val=""/>
</p:tagLst>
</file>

<file path=ppt/tags/tag1135.xml><?xml version="1.0" encoding="utf-8"?>
<p:tagLst xmlns:p="http://schemas.openxmlformats.org/presentationml/2006/main">
  <p:tag name="KSO_WM_BEAUTIFY_FLAG" val=""/>
</p:tagLst>
</file>

<file path=ppt/tags/tag1136.xml><?xml version="1.0" encoding="utf-8"?>
<p:tagLst xmlns:p="http://schemas.openxmlformats.org/presentationml/2006/main">
  <p:tag name="KSO_WM_BEAUTIFY_FLAG" val=""/>
</p:tagLst>
</file>

<file path=ppt/tags/tag1137.xml><?xml version="1.0" encoding="utf-8"?>
<p:tagLst xmlns:p="http://schemas.openxmlformats.org/presentationml/2006/main">
  <p:tag name="KSO_WM_BEAUTIFY_FLAG" val=""/>
</p:tagLst>
</file>

<file path=ppt/tags/tag1138.xml><?xml version="1.0" encoding="utf-8"?>
<p:tagLst xmlns:p="http://schemas.openxmlformats.org/presentationml/2006/main">
  <p:tag name="KSO_WM_BEAUTIFY_FLAG" val=""/>
</p:tagLst>
</file>

<file path=ppt/tags/tag1139.xml><?xml version="1.0" encoding="utf-8"?>
<p:tagLst xmlns:p="http://schemas.openxmlformats.org/presentationml/2006/main">
  <p:tag name="KSO_WM_BEAUTIFY_FLAG" val=""/>
</p:tagLst>
</file>

<file path=ppt/tags/tag1140.xml><?xml version="1.0" encoding="utf-8"?>
<p:tagLst xmlns:p="http://schemas.openxmlformats.org/presentationml/2006/main">
  <p:tag name="KSO_WM_BEAUTIFY_FLAG" val=""/>
</p:tagLst>
</file>

<file path=ppt/tags/tag1141.xml><?xml version="1.0" encoding="utf-8"?>
<p:tagLst xmlns:p="http://schemas.openxmlformats.org/presentationml/2006/main">
  <p:tag name="ISLIDE.ICON" val="#176715;"/>
</p:tagLst>
</file>

<file path=ppt/tags/tag1142.xml><?xml version="1.0" encoding="utf-8"?>
<p:tagLst xmlns:p="http://schemas.openxmlformats.org/presentationml/2006/main">
  <p:tag name="KSO_WM_BEAUTIFY_FLAG" val=""/>
</p:tagLst>
</file>

<file path=ppt/tags/tag1143.xml><?xml version="1.0" encoding="utf-8"?>
<p:tagLst xmlns:p="http://schemas.openxmlformats.org/presentationml/2006/main">
  <p:tag name="KSO_WM_BEAUTIFY_FLAG" val=""/>
</p:tagLst>
</file>

<file path=ppt/tags/tag1144.xml><?xml version="1.0" encoding="utf-8"?>
<p:tagLst xmlns:p="http://schemas.openxmlformats.org/presentationml/2006/main">
  <p:tag name="KSO_WM_BEAUTIFY_FLAG" val=""/>
</p:tagLst>
</file>

<file path=ppt/tags/tag1145.xml><?xml version="1.0" encoding="utf-8"?>
<p:tagLst xmlns:p="http://schemas.openxmlformats.org/presentationml/2006/main">
  <p:tag name="KSO_WM_BEAUTIFY_FLAG" val=""/>
</p:tagLst>
</file>

<file path=ppt/tags/tag1146.xml><?xml version="1.0" encoding="utf-8"?>
<p:tagLst xmlns:p="http://schemas.openxmlformats.org/presentationml/2006/main">
  <p:tag name="KSO_WM_BEAUTIFY_FLAG" val=""/>
</p:tagLst>
</file>

<file path=ppt/tags/tag1147.xml><?xml version="1.0" encoding="utf-8"?>
<p:tagLst xmlns:p="http://schemas.openxmlformats.org/presentationml/2006/main">
  <p:tag name="KSO_WM_BEAUTIFY_FLAG" val=""/>
</p:tagLst>
</file>

<file path=ppt/tags/tag1148.xml><?xml version="1.0" encoding="utf-8"?>
<p:tagLst xmlns:p="http://schemas.openxmlformats.org/presentationml/2006/main">
  <p:tag name="KSO_WM_BEAUTIFY_FLAG" val=""/>
</p:tagLst>
</file>

<file path=ppt/tags/tag1149.xml><?xml version="1.0" encoding="utf-8"?>
<p:tagLst xmlns:p="http://schemas.openxmlformats.org/presentationml/2006/main">
  <p:tag name="KSO_WM_BEAUTIFY_FLAG" val=""/>
</p:tagLst>
</file>

<file path=ppt/tags/tag1150.xml><?xml version="1.0" encoding="utf-8"?>
<p:tagLst xmlns:p="http://schemas.openxmlformats.org/presentationml/2006/main">
  <p:tag name="KSO_WM_BEAUTIFY_FLAG" val=""/>
</p:tagLst>
</file>

<file path=ppt/tags/tag1151.xml><?xml version="1.0" encoding="utf-8"?>
<p:tagLst xmlns:p="http://schemas.openxmlformats.org/presentationml/2006/main">
  <p:tag name="KSO_WM_BEAUTIFY_FLAG" val=""/>
</p:tagLst>
</file>

<file path=ppt/tags/tag1152.xml><?xml version="1.0" encoding="utf-8"?>
<p:tagLst xmlns:p="http://schemas.openxmlformats.org/presentationml/2006/main">
  <p:tag name="KSO_WM_BEAUTIFY_FLAG" val=""/>
</p:tagLst>
</file>

<file path=ppt/tags/tag1153.xml><?xml version="1.0" encoding="utf-8"?>
<p:tagLst xmlns:p="http://schemas.openxmlformats.org/presentationml/2006/main">
  <p:tag name="KSO_WM_BEAUTIFY_FLAG" val=""/>
</p:tagLst>
</file>

<file path=ppt/tags/tag1154.xml><?xml version="1.0" encoding="utf-8"?>
<p:tagLst xmlns:p="http://schemas.openxmlformats.org/presentationml/2006/main">
  <p:tag name="KSO_WM_BEAUTIFY_FLAG" val=""/>
</p:tagLst>
</file>

<file path=ppt/tags/tag1155.xml><?xml version="1.0" encoding="utf-8"?>
<p:tagLst xmlns:p="http://schemas.openxmlformats.org/presentationml/2006/main">
  <p:tag name="KSO_WM_BEAUTIFY_FLAG" val=""/>
</p:tagLst>
</file>

<file path=ppt/tags/tag1156.xml><?xml version="1.0" encoding="utf-8"?>
<p:tagLst xmlns:p="http://schemas.openxmlformats.org/presentationml/2006/main">
  <p:tag name="KSO_WM_BEAUTIFY_FLAG" val=""/>
</p:tagLst>
</file>

<file path=ppt/tags/tag1157.xml><?xml version="1.0" encoding="utf-8"?>
<p:tagLst xmlns:p="http://schemas.openxmlformats.org/presentationml/2006/main">
  <p:tag name="ISLIDE.ICON" val="#176715;"/>
</p:tagLst>
</file>

<file path=ppt/tags/tag1158.xml><?xml version="1.0" encoding="utf-8"?>
<p:tagLst xmlns:p="http://schemas.openxmlformats.org/presentationml/2006/main">
  <p:tag name="KSO_WM_BEAUTIFY_FLAG" val=""/>
</p:tagLst>
</file>

<file path=ppt/tags/tag1159.xml><?xml version="1.0" encoding="utf-8"?>
<p:tagLst xmlns:p="http://schemas.openxmlformats.org/presentationml/2006/main">
  <p:tag name="KSO_WM_BEAUTIFY_FLAG" val=""/>
</p:tagLst>
</file>

<file path=ppt/tags/tag1160.xml><?xml version="1.0" encoding="utf-8"?>
<p:tagLst xmlns:p="http://schemas.openxmlformats.org/presentationml/2006/main">
  <p:tag name="KSO_WM_BEAUTIFY_FLAG" val=""/>
</p:tagLst>
</file>

<file path=ppt/tags/tag1161.xml><?xml version="1.0" encoding="utf-8"?>
<p:tagLst xmlns:p="http://schemas.openxmlformats.org/presentationml/2006/main">
  <p:tag name="KSO_WM_BEAUTIFY_FLAG" val=""/>
</p:tagLst>
</file>

<file path=ppt/tags/tag1162.xml><?xml version="1.0" encoding="utf-8"?>
<p:tagLst xmlns:p="http://schemas.openxmlformats.org/presentationml/2006/main">
  <p:tag name="KSO_WM_BEAUTIFY_FLAG" val=""/>
</p:tagLst>
</file>

<file path=ppt/tags/tag1163.xml><?xml version="1.0" encoding="utf-8"?>
<p:tagLst xmlns:p="http://schemas.openxmlformats.org/presentationml/2006/main">
  <p:tag name="KSO_WM_BEAUTIFY_FLAG" val=""/>
</p:tagLst>
</file>

<file path=ppt/tags/tag1164.xml><?xml version="1.0" encoding="utf-8"?>
<p:tagLst xmlns:p="http://schemas.openxmlformats.org/presentationml/2006/main">
  <p:tag name="KSO_WM_BEAUTIFY_FLAG" val=""/>
</p:tagLst>
</file>

<file path=ppt/tags/tag1165.xml><?xml version="1.0" encoding="utf-8"?>
<p:tagLst xmlns:p="http://schemas.openxmlformats.org/presentationml/2006/main">
  <p:tag name="KSO_WM_BEAUTIFY_FLAG" val=""/>
</p:tagLst>
</file>

<file path=ppt/tags/tag1166.xml><?xml version="1.0" encoding="utf-8"?>
<p:tagLst xmlns:p="http://schemas.openxmlformats.org/presentationml/2006/main">
  <p:tag name="KSO_WM_BEAUTIFY_FLAG" val=""/>
</p:tagLst>
</file>

<file path=ppt/tags/tag1167.xml><?xml version="1.0" encoding="utf-8"?>
<p:tagLst xmlns:p="http://schemas.openxmlformats.org/presentationml/2006/main">
  <p:tag name="KSO_WM_BEAUTIFY_FLAG" val=""/>
</p:tagLst>
</file>

<file path=ppt/tags/tag1168.xml><?xml version="1.0" encoding="utf-8"?>
<p:tagLst xmlns:p="http://schemas.openxmlformats.org/presentationml/2006/main">
  <p:tag name="KSO_WM_BEAUTIFY_FLAG" val=""/>
</p:tagLst>
</file>

<file path=ppt/tags/tag1169.xml><?xml version="1.0" encoding="utf-8"?>
<p:tagLst xmlns:p="http://schemas.openxmlformats.org/presentationml/2006/main">
  <p:tag name="KSO_WM_BEAUTIFY_FLAG" val=""/>
</p:tagLst>
</file>

<file path=ppt/tags/tag1170.xml><?xml version="1.0" encoding="utf-8"?>
<p:tagLst xmlns:p="http://schemas.openxmlformats.org/presentationml/2006/main">
  <p:tag name="KSO_WM_BEAUTIFY_FLAG" val=""/>
</p:tagLst>
</file>

<file path=ppt/tags/tag1171.xml><?xml version="1.0" encoding="utf-8"?>
<p:tagLst xmlns:p="http://schemas.openxmlformats.org/presentationml/2006/main">
  <p:tag name="KSO_WM_BEAUTIFY_FLAG" val=""/>
</p:tagLst>
</file>

<file path=ppt/tags/tag1172.xml><?xml version="1.0" encoding="utf-8"?>
<p:tagLst xmlns:p="http://schemas.openxmlformats.org/presentationml/2006/main">
  <p:tag name="KSO_WM_BEAUTIFY_FLAG" val=""/>
</p:tagLst>
</file>

<file path=ppt/tags/tag1173.xml><?xml version="1.0" encoding="utf-8"?>
<p:tagLst xmlns:p="http://schemas.openxmlformats.org/presentationml/2006/main">
  <p:tag name="KSO_WM_BEAUTIFY_FLAG" val=""/>
</p:tagLst>
</file>

<file path=ppt/tags/tag1174.xml><?xml version="1.0" encoding="utf-8"?>
<p:tagLst xmlns:p="http://schemas.openxmlformats.org/presentationml/2006/main">
  <p:tag name="KSO_WM_BEAUTIFY_FLAG" val=""/>
</p:tagLst>
</file>

<file path=ppt/tags/tag1175.xml><?xml version="1.0" encoding="utf-8"?>
<p:tagLst xmlns:p="http://schemas.openxmlformats.org/presentationml/2006/main">
  <p:tag name="KSO_WM_BEAUTIFY_FLAG" val=""/>
</p:tagLst>
</file>

<file path=ppt/tags/tag1176.xml><?xml version="1.0" encoding="utf-8"?>
<p:tagLst xmlns:p="http://schemas.openxmlformats.org/presentationml/2006/main">
  <p:tag name="KSO_WM_BEAUTIFY_FLAG" val=""/>
</p:tagLst>
</file>

<file path=ppt/tags/tag1177.xml><?xml version="1.0" encoding="utf-8"?>
<p:tagLst xmlns:p="http://schemas.openxmlformats.org/presentationml/2006/main">
  <p:tag name="ISLIDE.ICON" val="#176715;"/>
</p:tagLst>
</file>

<file path=ppt/tags/tag1178.xml><?xml version="1.0" encoding="utf-8"?>
<p:tagLst xmlns:p="http://schemas.openxmlformats.org/presentationml/2006/main">
  <p:tag name="KSO_WM_BEAUTIFY_FLAG" val=""/>
</p:tagLst>
</file>

<file path=ppt/tags/tag1179.xml><?xml version="1.0" encoding="utf-8"?>
<p:tagLst xmlns:p="http://schemas.openxmlformats.org/presentationml/2006/main">
  <p:tag name="KSO_WM_BEAUTIFY_FLAG" val=""/>
</p:tagLst>
</file>

<file path=ppt/tags/tag1180.xml><?xml version="1.0" encoding="utf-8"?>
<p:tagLst xmlns:p="http://schemas.openxmlformats.org/presentationml/2006/main">
  <p:tag name="KSO_WM_BEAUTIFY_FLAG" val=""/>
</p:tagLst>
</file>

<file path=ppt/tags/tag1181.xml><?xml version="1.0" encoding="utf-8"?>
<p:tagLst xmlns:p="http://schemas.openxmlformats.org/presentationml/2006/main">
  <p:tag name="KSO_WM_BEAUTIFY_FLAG" val=""/>
</p:tagLst>
</file>

<file path=ppt/tags/tag1182.xml><?xml version="1.0" encoding="utf-8"?>
<p:tagLst xmlns:p="http://schemas.openxmlformats.org/presentationml/2006/main">
  <p:tag name="KSO_WM_BEAUTIFY_FLAG" val=""/>
</p:tagLst>
</file>

<file path=ppt/tags/tag1183.xml><?xml version="1.0" encoding="utf-8"?>
<p:tagLst xmlns:p="http://schemas.openxmlformats.org/presentationml/2006/main">
  <p:tag name="KSO_WM_BEAUTIFY_FLAG" val=""/>
</p:tagLst>
</file>

<file path=ppt/tags/tag1184.xml><?xml version="1.0" encoding="utf-8"?>
<p:tagLst xmlns:p="http://schemas.openxmlformats.org/presentationml/2006/main">
  <p:tag name="KSO_WM_BEAUTIFY_FLAG" val=""/>
</p:tagLst>
</file>

<file path=ppt/tags/tag1185.xml><?xml version="1.0" encoding="utf-8"?>
<p:tagLst xmlns:p="http://schemas.openxmlformats.org/presentationml/2006/main">
  <p:tag name="KSO_WM_BEAUTIFY_FLAG" val=""/>
</p:tagLst>
</file>

<file path=ppt/tags/tag1186.xml><?xml version="1.0" encoding="utf-8"?>
<p:tagLst xmlns:p="http://schemas.openxmlformats.org/presentationml/2006/main">
  <p:tag name="KSO_WM_BEAUTIFY_FLAG" val=""/>
</p:tagLst>
</file>

<file path=ppt/tags/tag1187.xml><?xml version="1.0" encoding="utf-8"?>
<p:tagLst xmlns:p="http://schemas.openxmlformats.org/presentationml/2006/main">
  <p:tag name="ISLIDE.ICON" val="#176715;"/>
</p:tagLst>
</file>

<file path=ppt/tags/tag1188.xml><?xml version="1.0" encoding="utf-8"?>
<p:tagLst xmlns:p="http://schemas.openxmlformats.org/presentationml/2006/main">
  <p:tag name="KSO_WM_BEAUTIFY_FLAG" val=""/>
</p:tagLst>
</file>

<file path=ppt/tags/tag1189.xml><?xml version="1.0" encoding="utf-8"?>
<p:tagLst xmlns:p="http://schemas.openxmlformats.org/presentationml/2006/main">
  <p:tag name="KSO_WM_BEAUTIFY_FLAG" val=""/>
</p:tagLst>
</file>

<file path=ppt/tags/tag1190.xml><?xml version="1.0" encoding="utf-8"?>
<p:tagLst xmlns:p="http://schemas.openxmlformats.org/presentationml/2006/main">
  <p:tag name="KSO_WM_BEAUTIFY_FLAG" val=""/>
</p:tagLst>
</file>

<file path=ppt/tags/tag1191.xml><?xml version="1.0" encoding="utf-8"?>
<p:tagLst xmlns:p="http://schemas.openxmlformats.org/presentationml/2006/main">
  <p:tag name="KSO_WM_BEAUTIFY_FLAG" val=""/>
</p:tagLst>
</file>

<file path=ppt/tags/tag1192.xml><?xml version="1.0" encoding="utf-8"?>
<p:tagLst xmlns:p="http://schemas.openxmlformats.org/presentationml/2006/main">
  <p:tag name="KSO_WM_BEAUTIFY_FLAG" val=""/>
</p:tagLst>
</file>

<file path=ppt/tags/tag1193.xml><?xml version="1.0" encoding="utf-8"?>
<p:tagLst xmlns:p="http://schemas.openxmlformats.org/presentationml/2006/main">
  <p:tag name="KSO_WM_BEAUTIFY_FLAG" val=""/>
</p:tagLst>
</file>

<file path=ppt/tags/tag1194.xml><?xml version="1.0" encoding="utf-8"?>
<p:tagLst xmlns:p="http://schemas.openxmlformats.org/presentationml/2006/main">
  <p:tag name="KSO_WM_BEAUTIFY_FLAG" val=""/>
</p:tagLst>
</file>

<file path=ppt/tags/tag1195.xml><?xml version="1.0" encoding="utf-8"?>
<p:tagLst xmlns:p="http://schemas.openxmlformats.org/presentationml/2006/main">
  <p:tag name="KSO_WM_BEAUTIFY_FLAG" val=""/>
</p:tagLst>
</file>

<file path=ppt/tags/tag1196.xml><?xml version="1.0" encoding="utf-8"?>
<p:tagLst xmlns:p="http://schemas.openxmlformats.org/presentationml/2006/main">
  <p:tag name="KSO_WM_BEAUTIFY_FLAG" val=""/>
</p:tagLst>
</file>

<file path=ppt/tags/tag1197.xml><?xml version="1.0" encoding="utf-8"?>
<p:tagLst xmlns:p="http://schemas.openxmlformats.org/presentationml/2006/main">
  <p:tag name="ISLIDE.ICON" val="#176715;"/>
</p:tagLst>
</file>

<file path=ppt/tags/tag1198.xml><?xml version="1.0" encoding="utf-8"?>
<p:tagLst xmlns:p="http://schemas.openxmlformats.org/presentationml/2006/main">
  <p:tag name="KSO_WM_BEAUTIFY_FLAG" val=""/>
</p:tagLst>
</file>

<file path=ppt/tags/tag1199.xml><?xml version="1.0" encoding="utf-8"?>
<p:tagLst xmlns:p="http://schemas.openxmlformats.org/presentationml/2006/main">
  <p:tag name="KSO_WM_BEAUTIFY_FLAG" val=""/>
</p:tagLst>
</file>

<file path=ppt/tags/tag1200.xml><?xml version="1.0" encoding="utf-8"?>
<p:tagLst xmlns:p="http://schemas.openxmlformats.org/presentationml/2006/main">
  <p:tag name="KSO_WM_BEAUTIFY_FLAG" val=""/>
</p:tagLst>
</file>

<file path=ppt/tags/tag1201.xml><?xml version="1.0" encoding="utf-8"?>
<p:tagLst xmlns:p="http://schemas.openxmlformats.org/presentationml/2006/main">
  <p:tag name="KSO_WM_BEAUTIFY_FLAG" val=""/>
</p:tagLst>
</file>

<file path=ppt/tags/tag1202.xml><?xml version="1.0" encoding="utf-8"?>
<p:tagLst xmlns:p="http://schemas.openxmlformats.org/presentationml/2006/main">
  <p:tag name="KSO_WM_BEAUTIFY_FLAG" val=""/>
</p:tagLst>
</file>

<file path=ppt/tags/tag1203.xml><?xml version="1.0" encoding="utf-8"?>
<p:tagLst xmlns:p="http://schemas.openxmlformats.org/presentationml/2006/main">
  <p:tag name="KSO_WM_BEAUTIFY_FLAG" val=""/>
</p:tagLst>
</file>

<file path=ppt/tags/tag1204.xml><?xml version="1.0" encoding="utf-8"?>
<p:tagLst xmlns:p="http://schemas.openxmlformats.org/presentationml/2006/main">
  <p:tag name="KSO_WM_BEAUTIFY_FLAG" val=""/>
</p:tagLst>
</file>

<file path=ppt/tags/tag1205.xml><?xml version="1.0" encoding="utf-8"?>
<p:tagLst xmlns:p="http://schemas.openxmlformats.org/presentationml/2006/main">
  <p:tag name="KSO_WM_BEAUTIFY_FLAG" val=""/>
</p:tagLst>
</file>

<file path=ppt/tags/tag1206.xml><?xml version="1.0" encoding="utf-8"?>
<p:tagLst xmlns:p="http://schemas.openxmlformats.org/presentationml/2006/main">
  <p:tag name="KSO_WM_BEAUTIFY_FLAG" val=""/>
</p:tagLst>
</file>

<file path=ppt/tags/tag1207.xml><?xml version="1.0" encoding="utf-8"?>
<p:tagLst xmlns:p="http://schemas.openxmlformats.org/presentationml/2006/main">
  <p:tag name="ISLIDE.ICON" val="#176715;"/>
</p:tagLst>
</file>

<file path=ppt/tags/tag1208.xml><?xml version="1.0" encoding="utf-8"?>
<p:tagLst xmlns:p="http://schemas.openxmlformats.org/presentationml/2006/main">
  <p:tag name="KSO_WM_BEAUTIFY_FLAG" val=""/>
</p:tagLst>
</file>

<file path=ppt/tags/tag1209.xml><?xml version="1.0" encoding="utf-8"?>
<p:tagLst xmlns:p="http://schemas.openxmlformats.org/presentationml/2006/main">
  <p:tag name="KSO_WM_BEAUTIFY_FLAG" val=""/>
</p:tagLst>
</file>

<file path=ppt/tags/tag1210.xml><?xml version="1.0" encoding="utf-8"?>
<p:tagLst xmlns:p="http://schemas.openxmlformats.org/presentationml/2006/main">
  <p:tag name="KSO_WM_BEAUTIFY_FLAG" val=""/>
</p:tagLst>
</file>

<file path=ppt/tags/tag1211.xml><?xml version="1.0" encoding="utf-8"?>
<p:tagLst xmlns:p="http://schemas.openxmlformats.org/presentationml/2006/main">
  <p:tag name="KSO_WM_BEAUTIFY_FLAG" val=""/>
</p:tagLst>
</file>

<file path=ppt/tags/tag1212.xml><?xml version="1.0" encoding="utf-8"?>
<p:tagLst xmlns:p="http://schemas.openxmlformats.org/presentationml/2006/main">
  <p:tag name="KSO_WM_BEAUTIFY_FLAG" val=""/>
</p:tagLst>
</file>

<file path=ppt/tags/tag1213.xml><?xml version="1.0" encoding="utf-8"?>
<p:tagLst xmlns:p="http://schemas.openxmlformats.org/presentationml/2006/main">
  <p:tag name="KSO_WM_BEAUTIFY_FLAG" val=""/>
</p:tagLst>
</file>

<file path=ppt/tags/tag1214.xml><?xml version="1.0" encoding="utf-8"?>
<p:tagLst xmlns:p="http://schemas.openxmlformats.org/presentationml/2006/main">
  <p:tag name="PA" val="v5.2.11"/>
  <p:tag name="RESOURCELIBID_ANIM" val="439"/>
</p:tagLst>
</file>

<file path=ppt/tags/tag1215.xml><?xml version="1.0" encoding="utf-8"?>
<p:tagLst xmlns:p="http://schemas.openxmlformats.org/presentationml/2006/main">
  <p:tag name="PA" val="v3.0.1"/>
</p:tagLst>
</file>

<file path=ppt/tags/tag1216.xml><?xml version="1.0" encoding="utf-8"?>
<p:tagLst xmlns:p="http://schemas.openxmlformats.org/presentationml/2006/main">
  <p:tag name="PA" val="v3.0.1"/>
</p:tagLst>
</file>

<file path=ppt/tags/tag1217.xml><?xml version="1.0" encoding="utf-8"?>
<p:tagLst xmlns:p="http://schemas.openxmlformats.org/presentationml/2006/main">
  <p:tag name="PA" val="v5.2.11"/>
</p:tagLst>
</file>

<file path=ppt/tags/tag1218.xml><?xml version="1.0" encoding="utf-8"?>
<p:tagLst xmlns:p="http://schemas.openxmlformats.org/presentationml/2006/main">
  <p:tag name="PA" val="v5.2.11"/>
</p:tagLst>
</file>

<file path=ppt/tags/tag1219.xml><?xml version="1.0" encoding="utf-8"?>
<p:tagLst xmlns:p="http://schemas.openxmlformats.org/presentationml/2006/main">
  <p:tag name="PA" val="v5.2.11"/>
</p:tagLst>
</file>

<file path=ppt/tags/tag1220.xml><?xml version="1.0" encoding="utf-8"?>
<p:tagLst xmlns:p="http://schemas.openxmlformats.org/presentationml/2006/main">
  <p:tag name="KSO_WM_BEAUTIFY_FLAG" val=""/>
</p:tagLst>
</file>

<file path=ppt/tags/tag1221.xml><?xml version="1.0" encoding="utf-8"?>
<p:tagLst xmlns:p="http://schemas.openxmlformats.org/presentationml/2006/main">
  <p:tag name="ISLIDE.ICON" val="#176715;"/>
</p:tagLst>
</file>

<file path=ppt/tags/tag1222.xml><?xml version="1.0" encoding="utf-8"?>
<p:tagLst xmlns:p="http://schemas.openxmlformats.org/presentationml/2006/main">
  <p:tag name="COMMONDATA" val="eyJoZGlkIjoiYTcyYmVjMTcwOWFmNjA4YzMzMmY4MjU1YmU4YjVjNjcifQ=="/>
  <p:tag name="commondata" val="eyJoZGlkIjoiMTU4OTZhZjc1ZDdkODZlNGE4NzFkYWZhYjAxM2IzZW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76265</Words>
  <Application>WPS 演示</Application>
  <PresentationFormat>宽屏</PresentationFormat>
  <Paragraphs>5498</Paragraphs>
  <Slides>355</Slides>
  <Notes>0</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355</vt:i4>
      </vt:variant>
    </vt:vector>
  </HeadingPairs>
  <TitlesOfParts>
    <vt:vector size="382" baseType="lpstr">
      <vt:lpstr>Arial</vt:lpstr>
      <vt:lpstr>宋体</vt:lpstr>
      <vt:lpstr>Wingdings</vt:lpstr>
      <vt:lpstr>思源黑体 CN Normal</vt:lpstr>
      <vt:lpstr>思源黑体 CN Medium</vt:lpstr>
      <vt:lpstr>黑体</vt:lpstr>
      <vt:lpstr>思源黑体 CN Light</vt:lpstr>
      <vt:lpstr>思源黑体 CN Regular</vt:lpstr>
      <vt:lpstr>思源黑体 CN Bold</vt:lpstr>
      <vt:lpstr>思源宋体 CN Light</vt:lpstr>
      <vt:lpstr>Times</vt:lpstr>
      <vt:lpstr>微软雅黑</vt:lpstr>
      <vt:lpstr>Arial Unicode MS</vt:lpstr>
      <vt:lpstr>Arial Black</vt:lpstr>
      <vt:lpstr>Wingdings</vt:lpstr>
      <vt:lpstr>Verdana</vt:lpstr>
      <vt:lpstr>Gulim</vt:lpstr>
      <vt:lpstr>Times New Roman</vt:lpstr>
      <vt:lpstr>Batang</vt:lpstr>
      <vt:lpstr>等线</vt:lpstr>
      <vt:lpstr>Times</vt:lpstr>
      <vt:lpstr>Open Sans</vt:lpstr>
      <vt:lpstr>Calibri</vt:lpstr>
      <vt:lpstr>Malgun Gothic</vt:lpstr>
      <vt:lpstr>Constantia</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第一节 Java概述</vt:lpstr>
      <vt:lpstr>PowerPoint 演示文稿</vt:lpstr>
      <vt:lpstr>PowerPoint 演示文稿</vt:lpstr>
      <vt:lpstr>PowerPoint 演示文稿</vt:lpstr>
      <vt:lpstr>PowerPoint 演示文稿</vt:lpstr>
      <vt:lpstr>PowerPoint 演示文稿</vt:lpstr>
      <vt:lpstr>第二节 Java应用程序与开发环境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开发简单的Java应用程序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第四节 标识符与注释</vt:lpstr>
      <vt:lpstr>PowerPoint 演示文稿</vt:lpstr>
      <vt:lpstr>PowerPoint 演示文稿</vt:lpstr>
      <vt:lpstr>PowerPoint 演示文稿</vt:lpstr>
      <vt:lpstr>PowerPoint 演示文稿</vt:lpstr>
      <vt:lpstr>PowerPoint 演示文稿</vt:lpstr>
      <vt:lpstr>PowerPoint 演示文稿</vt:lpstr>
      <vt:lpstr>第一节 变量与运算符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进制与位（了解）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八种基本数据类型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第四节 使用字符串</vt:lpstr>
      <vt:lpstr>PowerPoint 演示文稿</vt:lpstr>
      <vt:lpstr>PowerPoint 演示文稿</vt:lpstr>
      <vt:lpstr>PowerPoint 演示文稿</vt:lpstr>
      <vt:lpstr>PowerPoint 演示文稿</vt:lpstr>
      <vt:lpstr>第一节 分支语句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循环语句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第一节 方法的声明和调用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参数的值传递</vt:lpstr>
      <vt:lpstr>PowerPoint 演示文稿</vt:lpstr>
      <vt:lpstr>PowerPoint 演示文稿</vt:lpstr>
      <vt:lpstr>PowerPoint 演示文稿</vt:lpstr>
      <vt:lpstr>第三节 方法重载</vt:lpstr>
      <vt:lpstr>PowerPoint 演示文稿</vt:lpstr>
      <vt:lpstr>PowerPoint 演示文稿</vt:lpstr>
      <vt:lpstr>PowerPoint 演示文稿</vt:lpstr>
      <vt:lpstr>PowerPoint 演示文稿</vt:lpstr>
      <vt:lpstr>PowerPoint 演示文稿</vt:lpstr>
      <vt:lpstr>PowerPoint 演示文稿</vt:lpstr>
      <vt:lpstr>第一节 使用类和对象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对象属性的初始化</vt:lpstr>
      <vt:lpstr>PowerPoint 演示文稿</vt:lpstr>
      <vt:lpstr>PowerPoint 演示文稿</vt:lpstr>
      <vt:lpstr>PowerPoint 演示文稿</vt:lpstr>
      <vt:lpstr>PowerPoint 演示文稿</vt:lpstr>
      <vt:lpstr>PowerPoint 演示文稿</vt:lpstr>
      <vt:lpstr>第三节 Java内存管理与垃圾回收</vt:lpstr>
      <vt:lpstr>PowerPoint 演示文稿</vt:lpstr>
      <vt:lpstr>PowerPoint 演示文稿</vt:lpstr>
      <vt:lpstr>PowerPoint 演示文稿</vt:lpstr>
      <vt:lpstr>PowerPoint 演示文稿</vt:lpstr>
      <vt:lpstr>第一节 访问权限修饰符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this关键字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第一节 声明和使用构造器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调用重载构造器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对象在内存中的结构模型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第一节 继承extends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方法覆盖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调用父类构造器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第一节 多态的概述与实现</vt:lpstr>
      <vt:lpstr>PowerPoint 演示文稿</vt:lpstr>
      <vt:lpstr>PowerPoint 演示文稿</vt:lpstr>
      <vt:lpstr>PowerPoint 演示文稿</vt:lpstr>
      <vt:lpstr>PowerPoint 演示文稿</vt:lpstr>
      <vt:lpstr>第二节 引用数据类型转换</vt:lpstr>
      <vt:lpstr>PowerPoint 演示文稿</vt:lpstr>
      <vt:lpstr>PowerPoint 演示文稿</vt:lpstr>
      <vt:lpstr>PowerPoint 演示文稿</vt:lpstr>
      <vt:lpstr>PowerPoint 演示文稿</vt:lpstr>
      <vt:lpstr>第三节 多态的变量和方法特点</vt:lpstr>
      <vt:lpstr>PowerPoint 演示文稿</vt:lpstr>
      <vt:lpstr>PowerPoint 演示文稿</vt:lpstr>
      <vt:lpstr>PowerPoint 演示文稿</vt:lpstr>
      <vt:lpstr>第一节 对象的引用传递</vt:lpstr>
      <vt:lpstr>PowerPoint 演示文稿</vt:lpstr>
      <vt:lpstr>PowerPoint 演示文稿</vt:lpstr>
      <vt:lpstr>第二节 对象的关联</vt:lpstr>
      <vt:lpstr>PowerPoint 演示文稿</vt:lpstr>
      <vt:lpstr>PowerPoint 演示文稿</vt:lpstr>
      <vt:lpstr>PowerPoint 演示文稿</vt:lpstr>
      <vt:lpstr>PowerPoint 演示文稿</vt:lpstr>
      <vt:lpstr>第二节 使用Object类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第一节 static修饰符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final修饰符</vt:lpstr>
      <vt:lpstr>PowerPoint 演示文稿</vt:lpstr>
      <vt:lpstr>PowerPoint 演示文稿</vt:lpstr>
      <vt:lpstr>PowerPoint 演示文稿</vt:lpstr>
      <vt:lpstr>PowerPoint 演示文稿</vt:lpstr>
      <vt:lpstr>PowerPoint 演示文稿</vt:lpstr>
      <vt:lpstr>PowerPoint 演示文稿</vt:lpstr>
      <vt:lpstr>第一节 抽象类</vt:lpstr>
      <vt:lpstr>PowerPoint 演示文稿</vt:lpstr>
      <vt:lpstr>PowerPoint 演示文稿</vt:lpstr>
      <vt:lpstr>PowerPoint 演示文稿</vt:lpstr>
      <vt:lpstr>PowerPoint 演示文稿</vt:lpstr>
      <vt:lpstr>PowerPoint 演示文稿</vt:lpstr>
      <vt:lpstr>第二节 接口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第一节 package与import语句</vt:lpstr>
      <vt:lpstr>PowerPoint 演示文稿</vt:lpstr>
      <vt:lpstr>PowerPoint 演示文稿</vt:lpstr>
      <vt:lpstr>PowerPoint 演示文稿</vt:lpstr>
      <vt:lpstr>PowerPoint 演示文稿</vt:lpstr>
      <vt:lpstr>PowerPoint 演示文稿</vt:lpstr>
      <vt:lpstr>PowerPoint 演示文稿</vt:lpstr>
      <vt:lpstr>第二节 静态导入</vt:lpstr>
      <vt:lpstr>PowerPoint 演示文稿</vt:lpstr>
      <vt:lpstr>PowerPoint 演示文稿</vt:lpstr>
      <vt:lpstr>PowerPoint 演示文稿</vt:lpstr>
      <vt:lpstr>PowerPoint 演示文稿</vt:lpstr>
      <vt:lpstr>第三节 包的访问控制权限</vt:lpstr>
      <vt:lpstr>PowerPoint 演示文稿</vt:lpstr>
      <vt:lpstr>PowerPoint 演示文稿</vt:lpstr>
      <vt:lpstr>PowerPoint 演示文稿</vt:lpstr>
      <vt:lpstr>PowerPoint 演示文稿</vt:lpstr>
      <vt:lpstr>PowerPoint 演示文稿</vt:lpstr>
      <vt:lpstr>第一节 实例内部类</vt:lpstr>
      <vt:lpstr>PowerPoint 演示文稿</vt:lpstr>
      <vt:lpstr>PowerPoint 演示文稿</vt:lpstr>
      <vt:lpstr>第二节 静态内部类</vt:lpstr>
      <vt:lpstr>PowerPoint 演示文稿</vt:lpstr>
      <vt:lpstr>PowerPoint 演示文稿</vt:lpstr>
      <vt:lpstr>第三节 局部内部类</vt:lpstr>
      <vt:lpstr>PowerPoint 演示文稿</vt:lpstr>
      <vt:lpstr>PowerPoint 演示文稿</vt:lpstr>
      <vt:lpstr>第四节 匿名内部类</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柯媛媛</dc:creator>
  <cp:lastModifiedBy>Administrator</cp:lastModifiedBy>
  <cp:revision>3138</cp:revision>
  <dcterms:created xsi:type="dcterms:W3CDTF">2019-09-19T02:01:00Z</dcterms:created>
  <dcterms:modified xsi:type="dcterms:W3CDTF">2024-10-09T06:27:01Z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6D88039E787E4BB4AFD8E8A21E678F56_12</vt:lpwstr>
  </property>
</Properties>
</file>